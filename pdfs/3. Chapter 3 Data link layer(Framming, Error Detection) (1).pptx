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8" r:id="rId1"/>
  </p:sldMasterIdLst>
  <p:notesMasterIdLst>
    <p:notesMasterId r:id="rId54"/>
  </p:notesMasterIdLst>
  <p:sldIdLst>
    <p:sldId id="256" r:id="rId2"/>
    <p:sldId id="259" r:id="rId3"/>
    <p:sldId id="260" r:id="rId4"/>
    <p:sldId id="257" r:id="rId5"/>
    <p:sldId id="340" r:id="rId6"/>
    <p:sldId id="261" r:id="rId7"/>
    <p:sldId id="342" r:id="rId8"/>
    <p:sldId id="341" r:id="rId9"/>
    <p:sldId id="339" r:id="rId10"/>
    <p:sldId id="264" r:id="rId11"/>
    <p:sldId id="343" r:id="rId12"/>
    <p:sldId id="338" r:id="rId13"/>
    <p:sldId id="265" r:id="rId14"/>
    <p:sldId id="266" r:id="rId15"/>
    <p:sldId id="267" r:id="rId16"/>
    <p:sldId id="268" r:id="rId17"/>
    <p:sldId id="324" r:id="rId18"/>
    <p:sldId id="325" r:id="rId19"/>
    <p:sldId id="326" r:id="rId20"/>
    <p:sldId id="327" r:id="rId21"/>
    <p:sldId id="328" r:id="rId22"/>
    <p:sldId id="329" r:id="rId23"/>
    <p:sldId id="330" r:id="rId24"/>
    <p:sldId id="270" r:id="rId25"/>
    <p:sldId id="271" r:id="rId26"/>
    <p:sldId id="331" r:id="rId27"/>
    <p:sldId id="345" r:id="rId28"/>
    <p:sldId id="346" r:id="rId29"/>
    <p:sldId id="274" r:id="rId30"/>
    <p:sldId id="275" r:id="rId31"/>
    <p:sldId id="332" r:id="rId32"/>
    <p:sldId id="336" r:id="rId33"/>
    <p:sldId id="287" r:id="rId34"/>
    <p:sldId id="347" r:id="rId35"/>
    <p:sldId id="289" r:id="rId36"/>
    <p:sldId id="334" r:id="rId37"/>
    <p:sldId id="292" r:id="rId38"/>
    <p:sldId id="293" r:id="rId39"/>
    <p:sldId id="335" r:id="rId40"/>
    <p:sldId id="294" r:id="rId41"/>
    <p:sldId id="348" r:id="rId42"/>
    <p:sldId id="295" r:id="rId43"/>
    <p:sldId id="297" r:id="rId44"/>
    <p:sldId id="298" r:id="rId45"/>
    <p:sldId id="299" r:id="rId46"/>
    <p:sldId id="300" r:id="rId47"/>
    <p:sldId id="352" r:id="rId48"/>
    <p:sldId id="301" r:id="rId49"/>
    <p:sldId id="304" r:id="rId50"/>
    <p:sldId id="350" r:id="rId51"/>
    <p:sldId id="351" r:id="rId52"/>
    <p:sldId id="349" r:id="rId53"/>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22893D-649B-4324-9F7B-9D59E14221F3}">
          <p14:sldIdLst>
            <p14:sldId id="256"/>
            <p14:sldId id="259"/>
            <p14:sldId id="260"/>
            <p14:sldId id="257"/>
            <p14:sldId id="340"/>
            <p14:sldId id="261"/>
            <p14:sldId id="342"/>
            <p14:sldId id="341"/>
            <p14:sldId id="339"/>
            <p14:sldId id="264"/>
            <p14:sldId id="343"/>
            <p14:sldId id="338"/>
            <p14:sldId id="265"/>
            <p14:sldId id="266"/>
            <p14:sldId id="267"/>
            <p14:sldId id="268"/>
            <p14:sldId id="324"/>
            <p14:sldId id="325"/>
            <p14:sldId id="326"/>
            <p14:sldId id="327"/>
            <p14:sldId id="328"/>
            <p14:sldId id="329"/>
            <p14:sldId id="330"/>
            <p14:sldId id="270"/>
            <p14:sldId id="271"/>
            <p14:sldId id="331"/>
            <p14:sldId id="345"/>
            <p14:sldId id="346"/>
            <p14:sldId id="274"/>
            <p14:sldId id="275"/>
            <p14:sldId id="332"/>
            <p14:sldId id="336"/>
            <p14:sldId id="287"/>
            <p14:sldId id="347"/>
            <p14:sldId id="289"/>
            <p14:sldId id="334"/>
            <p14:sldId id="292"/>
            <p14:sldId id="293"/>
            <p14:sldId id="335"/>
            <p14:sldId id="294"/>
            <p14:sldId id="348"/>
            <p14:sldId id="295"/>
            <p14:sldId id="297"/>
            <p14:sldId id="298"/>
            <p14:sldId id="299"/>
            <p14:sldId id="300"/>
            <p14:sldId id="352"/>
            <p14:sldId id="301"/>
            <p14:sldId id="304"/>
            <p14:sldId id="350"/>
            <p14:sldId id="351"/>
            <p14:sldId id="34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smia Jannat" initials="TJ" lastIdx="1" clrIdx="0">
    <p:extLst>
      <p:ext uri="{19B8F6BF-5375-455C-9EA6-DF929625EA0E}">
        <p15:presenceInfo xmlns:p15="http://schemas.microsoft.com/office/powerpoint/2012/main" userId="8d7201eaaa12f15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5020" autoAdjust="0"/>
  </p:normalViewPr>
  <p:slideViewPr>
    <p:cSldViewPr>
      <p:cViewPr varScale="1">
        <p:scale>
          <a:sx n="76" d="100"/>
          <a:sy n="76" d="100"/>
        </p:scale>
        <p:origin x="1272"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D23267D9-87E2-450C-9E7C-78E31F8AAD4A}" type="datetimeFigureOut">
              <a:rPr lang="en-US" smtClean="0"/>
              <a:t>11/16/2023</a:t>
            </a:fld>
            <a:endParaRPr lang="en-US"/>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2C9C1634-A149-4600-9252-78D7A173301F}" type="slidenum">
              <a:rPr lang="en-US" smtClean="0"/>
              <a:t>‹#›</a:t>
            </a:fld>
            <a:endParaRPr lang="en-US"/>
          </a:p>
        </p:txBody>
      </p:sp>
    </p:spTree>
    <p:extLst>
      <p:ext uri="{BB962C8B-B14F-4D97-AF65-F5344CB8AC3E}">
        <p14:creationId xmlns:p14="http://schemas.microsoft.com/office/powerpoint/2010/main" val="421576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receiving a frame, the receiver counts the number of 1s in it. In case of even parity check, if the count of 1s is even, the frame is accepted, otherwise, it is rejected. A similar rule is adopted for odd parity check.</a:t>
            </a:r>
          </a:p>
          <a:p>
            <a:endParaRPr lang="en-US" dirty="0"/>
          </a:p>
        </p:txBody>
      </p:sp>
      <p:sp>
        <p:nvSpPr>
          <p:cNvPr id="4" name="Slide Number Placeholder 3"/>
          <p:cNvSpPr>
            <a:spLocks noGrp="1"/>
          </p:cNvSpPr>
          <p:nvPr>
            <p:ph type="sldNum" sz="quarter" idx="5"/>
          </p:nvPr>
        </p:nvSpPr>
        <p:spPr/>
        <p:txBody>
          <a:bodyPr/>
          <a:lstStyle/>
          <a:p>
            <a:fld id="{2C9C1634-A149-4600-9252-78D7A173301F}" type="slidenum">
              <a:rPr lang="en-US" smtClean="0"/>
              <a:t>19</a:t>
            </a:fld>
            <a:endParaRPr lang="en-US"/>
          </a:p>
        </p:txBody>
      </p:sp>
    </p:spTree>
    <p:extLst>
      <p:ext uri="{BB962C8B-B14F-4D97-AF65-F5344CB8AC3E}">
        <p14:creationId xmlns:p14="http://schemas.microsoft.com/office/powerpoint/2010/main" val="3302483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0EBAE-5816-CC0A-CC19-6A6C8A8D2688}"/>
              </a:ext>
            </a:extLst>
          </p:cNvPr>
          <p:cNvSpPr>
            <a:spLocks noGrp="1"/>
          </p:cNvSpPr>
          <p:nvPr>
            <p:ph type="ctrTitle"/>
          </p:nvPr>
        </p:nvSpPr>
        <p:spPr>
          <a:xfrm>
            <a:off x="1257300" y="1272011"/>
            <a:ext cx="7543800" cy="2705947"/>
          </a:xfrm>
        </p:spPr>
        <p:txBody>
          <a:bodyPr anchor="b"/>
          <a:lstStyle>
            <a:lvl1pPr algn="ctr">
              <a:defRPr sz="4950"/>
            </a:lvl1pPr>
          </a:lstStyle>
          <a:p>
            <a:r>
              <a:rPr lang="en-US"/>
              <a:t>Click to edit Master title style</a:t>
            </a:r>
          </a:p>
        </p:txBody>
      </p:sp>
      <p:sp>
        <p:nvSpPr>
          <p:cNvPr id="3" name="Subtitle 2">
            <a:extLst>
              <a:ext uri="{FF2B5EF4-FFF2-40B4-BE49-F238E27FC236}">
                <a16:creationId xmlns:a16="http://schemas.microsoft.com/office/drawing/2014/main" id="{3CD8F54B-B502-A665-73E6-E70783EB6100}"/>
              </a:ext>
            </a:extLst>
          </p:cNvPr>
          <p:cNvSpPr>
            <a:spLocks noGrp="1"/>
          </p:cNvSpPr>
          <p:nvPr>
            <p:ph type="subTitle" idx="1"/>
          </p:nvPr>
        </p:nvSpPr>
        <p:spPr>
          <a:xfrm>
            <a:off x="1257300" y="4082310"/>
            <a:ext cx="7543800" cy="1876530"/>
          </a:xfrm>
        </p:spPr>
        <p:txBody>
          <a:bodyPr/>
          <a:lstStyle>
            <a:lvl1pPr marL="0" indent="0" algn="ctr">
              <a:buNone/>
              <a:defRPr sz="1980"/>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p>
        </p:txBody>
      </p:sp>
      <p:sp>
        <p:nvSpPr>
          <p:cNvPr id="4" name="Date Placeholder 3">
            <a:extLst>
              <a:ext uri="{FF2B5EF4-FFF2-40B4-BE49-F238E27FC236}">
                <a16:creationId xmlns:a16="http://schemas.microsoft.com/office/drawing/2014/main" id="{F76D76E2-C3B7-19A9-D7A5-B96DD699168A}"/>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5" name="Footer Placeholder 4">
            <a:extLst>
              <a:ext uri="{FF2B5EF4-FFF2-40B4-BE49-F238E27FC236}">
                <a16:creationId xmlns:a16="http://schemas.microsoft.com/office/drawing/2014/main" id="{B141F269-CCCD-E898-72A3-280BE0950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256A5-A2F8-BCBA-AE7F-446574873A65}"/>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400302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5125C-437D-127E-005D-225E68236D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0E291F-0452-65C1-CD8E-9FED4714D6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3547CC-1A3B-9139-96D4-EBFBF6E20D94}"/>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5" name="Footer Placeholder 4">
            <a:extLst>
              <a:ext uri="{FF2B5EF4-FFF2-40B4-BE49-F238E27FC236}">
                <a16:creationId xmlns:a16="http://schemas.microsoft.com/office/drawing/2014/main" id="{57BA839B-3C7A-8AA8-74AB-5792894DC7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37063-DDBD-2D81-4C09-DF4B8EAF5568}"/>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350845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52BE-D92F-A9F2-4265-D6349DD52EEF}"/>
              </a:ext>
            </a:extLst>
          </p:cNvPr>
          <p:cNvSpPr>
            <a:spLocks noGrp="1"/>
          </p:cNvSpPr>
          <p:nvPr>
            <p:ph type="title"/>
          </p:nvPr>
        </p:nvSpPr>
        <p:spPr>
          <a:xfrm>
            <a:off x="686276" y="1937704"/>
            <a:ext cx="8675370" cy="3233102"/>
          </a:xfrm>
        </p:spPr>
        <p:txBody>
          <a:bodyPr anchor="b"/>
          <a:lstStyle>
            <a:lvl1pPr>
              <a:defRPr sz="4950"/>
            </a:lvl1pPr>
          </a:lstStyle>
          <a:p>
            <a:r>
              <a:rPr lang="en-US"/>
              <a:t>Click to edit Master title style</a:t>
            </a:r>
          </a:p>
        </p:txBody>
      </p:sp>
      <p:sp>
        <p:nvSpPr>
          <p:cNvPr id="3" name="Text Placeholder 2">
            <a:extLst>
              <a:ext uri="{FF2B5EF4-FFF2-40B4-BE49-F238E27FC236}">
                <a16:creationId xmlns:a16="http://schemas.microsoft.com/office/drawing/2014/main" id="{F284FEFB-494A-E29B-D01D-0F3B2A012AD0}"/>
              </a:ext>
            </a:extLst>
          </p:cNvPr>
          <p:cNvSpPr>
            <a:spLocks noGrp="1"/>
          </p:cNvSpPr>
          <p:nvPr>
            <p:ph type="body" idx="1"/>
          </p:nvPr>
        </p:nvSpPr>
        <p:spPr>
          <a:xfrm>
            <a:off x="686276" y="5201392"/>
            <a:ext cx="8675370" cy="1700212"/>
          </a:xfrm>
        </p:spPr>
        <p:txBody>
          <a:bodyPr/>
          <a:lstStyle>
            <a:lvl1pPr marL="0" indent="0">
              <a:buNone/>
              <a:defRPr sz="1980">
                <a:solidFill>
                  <a:schemeClr val="tx1">
                    <a:tint val="75000"/>
                  </a:schemeClr>
                </a:solidFill>
              </a:defRPr>
            </a:lvl1pPr>
            <a:lvl2pPr marL="377190" indent="0">
              <a:buNone/>
              <a:defRPr sz="1650">
                <a:solidFill>
                  <a:schemeClr val="tx1">
                    <a:tint val="75000"/>
                  </a:schemeClr>
                </a:solidFill>
              </a:defRPr>
            </a:lvl2pPr>
            <a:lvl3pPr marL="754380" indent="0">
              <a:buNone/>
              <a:defRPr sz="1485">
                <a:solidFill>
                  <a:schemeClr val="tx1">
                    <a:tint val="75000"/>
                  </a:schemeClr>
                </a:solidFill>
              </a:defRPr>
            </a:lvl3pPr>
            <a:lvl4pPr marL="1131570" indent="0">
              <a:buNone/>
              <a:defRPr sz="1320">
                <a:solidFill>
                  <a:schemeClr val="tx1">
                    <a:tint val="75000"/>
                  </a:schemeClr>
                </a:solidFill>
              </a:defRPr>
            </a:lvl4pPr>
            <a:lvl5pPr marL="1508760" indent="0">
              <a:buNone/>
              <a:defRPr sz="1320">
                <a:solidFill>
                  <a:schemeClr val="tx1">
                    <a:tint val="75000"/>
                  </a:schemeClr>
                </a:solidFill>
              </a:defRPr>
            </a:lvl5pPr>
            <a:lvl6pPr marL="1885950" indent="0">
              <a:buNone/>
              <a:defRPr sz="1320">
                <a:solidFill>
                  <a:schemeClr val="tx1">
                    <a:tint val="75000"/>
                  </a:schemeClr>
                </a:solidFill>
              </a:defRPr>
            </a:lvl6pPr>
            <a:lvl7pPr marL="2263140" indent="0">
              <a:buNone/>
              <a:defRPr sz="1320">
                <a:solidFill>
                  <a:schemeClr val="tx1">
                    <a:tint val="75000"/>
                  </a:schemeClr>
                </a:solidFill>
              </a:defRPr>
            </a:lvl7pPr>
            <a:lvl8pPr marL="2640330" indent="0">
              <a:buNone/>
              <a:defRPr sz="1320">
                <a:solidFill>
                  <a:schemeClr val="tx1">
                    <a:tint val="75000"/>
                  </a:schemeClr>
                </a:solidFill>
              </a:defRPr>
            </a:lvl8pPr>
            <a:lvl9pPr marL="3017520" indent="0">
              <a:buNone/>
              <a:defRPr sz="13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678FFE-A613-AD30-17FB-B2CD6C7C9D8A}"/>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5" name="Footer Placeholder 4">
            <a:extLst>
              <a:ext uri="{FF2B5EF4-FFF2-40B4-BE49-F238E27FC236}">
                <a16:creationId xmlns:a16="http://schemas.microsoft.com/office/drawing/2014/main" id="{ED344AB4-CA8A-E308-2BB7-C2753E269F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57DDC5-0C42-6413-C238-3133DAC2C32E}"/>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205926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AA119-83BD-E03F-806E-025F16BCAC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A4398D-8B23-FA22-78F3-BF9659B5F2BD}"/>
              </a:ext>
            </a:extLst>
          </p:cNvPr>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DB4CEC-378F-29E7-74D5-B222C8ECB63C}"/>
              </a:ext>
            </a:extLst>
          </p:cNvPr>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7A1B4F-9C26-E4C9-130A-293D4B0AB9C1}"/>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6" name="Footer Placeholder 5">
            <a:extLst>
              <a:ext uri="{FF2B5EF4-FFF2-40B4-BE49-F238E27FC236}">
                <a16:creationId xmlns:a16="http://schemas.microsoft.com/office/drawing/2014/main" id="{45CB46B4-4496-0270-9019-8D27A3C16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F77CF-EEB9-223D-C8D1-3C16F6312C52}"/>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936204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F1DC7-A3FB-7F9E-D505-412F5D028E88}"/>
              </a:ext>
            </a:extLst>
          </p:cNvPr>
          <p:cNvSpPr>
            <a:spLocks noGrp="1"/>
          </p:cNvSpPr>
          <p:nvPr>
            <p:ph type="title"/>
          </p:nvPr>
        </p:nvSpPr>
        <p:spPr>
          <a:xfrm>
            <a:off x="692825" y="413809"/>
            <a:ext cx="8675370" cy="1502305"/>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06F348-EC4C-9895-D711-057B6EFEC206}"/>
              </a:ext>
            </a:extLst>
          </p:cNvPr>
          <p:cNvSpPr>
            <a:spLocks noGrp="1"/>
          </p:cNvSpPr>
          <p:nvPr>
            <p:ph type="body" idx="1"/>
          </p:nvPr>
        </p:nvSpPr>
        <p:spPr>
          <a:xfrm>
            <a:off x="692826" y="1905318"/>
            <a:ext cx="4255174" cy="933767"/>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4" name="Content Placeholder 3">
            <a:extLst>
              <a:ext uri="{FF2B5EF4-FFF2-40B4-BE49-F238E27FC236}">
                <a16:creationId xmlns:a16="http://schemas.microsoft.com/office/drawing/2014/main" id="{26BE6C2F-5522-1885-741E-560F02835A39}"/>
              </a:ext>
            </a:extLst>
          </p:cNvPr>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8FA205-B05D-231D-EE90-BFA062DE33CD}"/>
              </a:ext>
            </a:extLst>
          </p:cNvPr>
          <p:cNvSpPr>
            <a:spLocks noGrp="1"/>
          </p:cNvSpPr>
          <p:nvPr>
            <p:ph type="body" sz="quarter" idx="3"/>
          </p:nvPr>
        </p:nvSpPr>
        <p:spPr>
          <a:xfrm>
            <a:off x="5092065" y="1905318"/>
            <a:ext cx="4276130" cy="933767"/>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6" name="Content Placeholder 5">
            <a:extLst>
              <a:ext uri="{FF2B5EF4-FFF2-40B4-BE49-F238E27FC236}">
                <a16:creationId xmlns:a16="http://schemas.microsoft.com/office/drawing/2014/main" id="{D58DF5B5-2B31-2877-696E-1FD0EF801904}"/>
              </a:ext>
            </a:extLst>
          </p:cNvPr>
          <p:cNvSpPr>
            <a:spLocks noGrp="1"/>
          </p:cNvSpPr>
          <p:nvPr>
            <p:ph sz="quarter" idx="4"/>
          </p:nvPr>
        </p:nvSpPr>
        <p:spPr>
          <a:xfrm>
            <a:off x="5092065"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D0E2D9-FF2B-0AF6-588A-55DE89ED9303}"/>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8" name="Footer Placeholder 7">
            <a:extLst>
              <a:ext uri="{FF2B5EF4-FFF2-40B4-BE49-F238E27FC236}">
                <a16:creationId xmlns:a16="http://schemas.microsoft.com/office/drawing/2014/main" id="{6FFB27EF-051B-52B6-F12B-58428865DE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800C33-A5BB-51A8-D760-7FC63FBDFE7A}"/>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3539555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A3C7B-5DAE-70F7-991E-797FA7AD50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8EA81B-B3E4-EE24-BC68-11C2BA736081}"/>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4" name="Footer Placeholder 3">
            <a:extLst>
              <a:ext uri="{FF2B5EF4-FFF2-40B4-BE49-F238E27FC236}">
                <a16:creationId xmlns:a16="http://schemas.microsoft.com/office/drawing/2014/main" id="{106647C9-7763-92F9-78D5-45889933D3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929645-5AF6-7905-AA44-3B16BFF7CCE2}"/>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262481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BFAE55-12E3-77FC-5D8F-BD2DBE4AC30D}"/>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3" name="Footer Placeholder 2">
            <a:extLst>
              <a:ext uri="{FF2B5EF4-FFF2-40B4-BE49-F238E27FC236}">
                <a16:creationId xmlns:a16="http://schemas.microsoft.com/office/drawing/2014/main" id="{803C1888-8AAA-A562-C86B-27C4D1F63F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326D60-1425-227E-AF35-81099D7AD91D}"/>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4210725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E42E9-CBDB-35B2-2E44-6EED2771C301}"/>
              </a:ext>
            </a:extLst>
          </p:cNvPr>
          <p:cNvSpPr>
            <a:spLocks noGrp="1"/>
          </p:cNvSpPr>
          <p:nvPr>
            <p:ph type="title"/>
          </p:nvPr>
        </p:nvSpPr>
        <p:spPr>
          <a:xfrm>
            <a:off x="692825" y="518160"/>
            <a:ext cx="3244096" cy="1813560"/>
          </a:xfrm>
        </p:spPr>
        <p:txBody>
          <a:bodyPr anchor="b"/>
          <a:lstStyle>
            <a:lvl1pPr>
              <a:defRPr sz="2640"/>
            </a:lvl1pPr>
          </a:lstStyle>
          <a:p>
            <a:r>
              <a:rPr lang="en-US"/>
              <a:t>Click to edit Master title style</a:t>
            </a:r>
          </a:p>
        </p:txBody>
      </p:sp>
      <p:sp>
        <p:nvSpPr>
          <p:cNvPr id="3" name="Content Placeholder 2">
            <a:extLst>
              <a:ext uri="{FF2B5EF4-FFF2-40B4-BE49-F238E27FC236}">
                <a16:creationId xmlns:a16="http://schemas.microsoft.com/office/drawing/2014/main" id="{E368E02B-F626-2DA2-3125-734522F07E51}"/>
              </a:ext>
            </a:extLst>
          </p:cNvPr>
          <p:cNvSpPr>
            <a:spLocks noGrp="1"/>
          </p:cNvSpPr>
          <p:nvPr>
            <p:ph idx="1"/>
          </p:nvPr>
        </p:nvSpPr>
        <p:spPr>
          <a:xfrm>
            <a:off x="4276130" y="1119082"/>
            <a:ext cx="5092065" cy="5523442"/>
          </a:xfrm>
        </p:spPr>
        <p:txBody>
          <a:bodyPr/>
          <a:lstStyle>
            <a:lvl1pPr>
              <a:defRPr sz="2640"/>
            </a:lvl1pPr>
            <a:lvl2pPr>
              <a:defRPr sz="2310"/>
            </a:lvl2pPr>
            <a:lvl3pPr>
              <a:defRPr sz="1980"/>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33991D-59E3-F6B6-97EC-79082DC22B21}"/>
              </a:ext>
            </a:extLst>
          </p:cNvPr>
          <p:cNvSpPr>
            <a:spLocks noGrp="1"/>
          </p:cNvSpPr>
          <p:nvPr>
            <p:ph type="body" sz="half" idx="2"/>
          </p:nvPr>
        </p:nvSpPr>
        <p:spPr>
          <a:xfrm>
            <a:off x="692825" y="2331720"/>
            <a:ext cx="3244096" cy="4319800"/>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Click to edit Master text styles</a:t>
            </a:r>
          </a:p>
        </p:txBody>
      </p:sp>
      <p:sp>
        <p:nvSpPr>
          <p:cNvPr id="5" name="Date Placeholder 4">
            <a:extLst>
              <a:ext uri="{FF2B5EF4-FFF2-40B4-BE49-F238E27FC236}">
                <a16:creationId xmlns:a16="http://schemas.microsoft.com/office/drawing/2014/main" id="{42CD80F5-1DD6-F8A2-8FE5-0A8A198CAC52}"/>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6" name="Footer Placeholder 5">
            <a:extLst>
              <a:ext uri="{FF2B5EF4-FFF2-40B4-BE49-F238E27FC236}">
                <a16:creationId xmlns:a16="http://schemas.microsoft.com/office/drawing/2014/main" id="{90788D1A-91B6-01F2-B966-8209F94F73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81DB96-DA7E-0EAF-6C60-DDB27592C8C1}"/>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4131218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E03DE-EEA4-097E-777B-2507A8B098E2}"/>
              </a:ext>
            </a:extLst>
          </p:cNvPr>
          <p:cNvSpPr>
            <a:spLocks noGrp="1"/>
          </p:cNvSpPr>
          <p:nvPr>
            <p:ph type="title"/>
          </p:nvPr>
        </p:nvSpPr>
        <p:spPr>
          <a:xfrm>
            <a:off x="692825" y="518160"/>
            <a:ext cx="3244096" cy="1813560"/>
          </a:xfrm>
        </p:spPr>
        <p:txBody>
          <a:bodyPr anchor="b"/>
          <a:lstStyle>
            <a:lvl1pPr>
              <a:defRPr sz="2640"/>
            </a:lvl1pPr>
          </a:lstStyle>
          <a:p>
            <a:r>
              <a:rPr lang="en-US"/>
              <a:t>Click to edit Master title style</a:t>
            </a:r>
          </a:p>
        </p:txBody>
      </p:sp>
      <p:sp>
        <p:nvSpPr>
          <p:cNvPr id="3" name="Picture Placeholder 2">
            <a:extLst>
              <a:ext uri="{FF2B5EF4-FFF2-40B4-BE49-F238E27FC236}">
                <a16:creationId xmlns:a16="http://schemas.microsoft.com/office/drawing/2014/main" id="{71F5B577-E745-1891-6A5D-A1F940FA655C}"/>
              </a:ext>
            </a:extLst>
          </p:cNvPr>
          <p:cNvSpPr>
            <a:spLocks noGrp="1"/>
          </p:cNvSpPr>
          <p:nvPr>
            <p:ph type="pic" idx="1"/>
          </p:nvPr>
        </p:nvSpPr>
        <p:spPr>
          <a:xfrm>
            <a:off x="4276130" y="1119082"/>
            <a:ext cx="5092065" cy="5523442"/>
          </a:xfrm>
        </p:spPr>
        <p:txBody>
          <a:bodyPr/>
          <a:lstStyle>
            <a:lvl1pPr marL="0" indent="0">
              <a:buNone/>
              <a:defRPr sz="264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endParaRPr lang="en-US"/>
          </a:p>
        </p:txBody>
      </p:sp>
      <p:sp>
        <p:nvSpPr>
          <p:cNvPr id="4" name="Text Placeholder 3">
            <a:extLst>
              <a:ext uri="{FF2B5EF4-FFF2-40B4-BE49-F238E27FC236}">
                <a16:creationId xmlns:a16="http://schemas.microsoft.com/office/drawing/2014/main" id="{BBE81BBB-FA97-974F-2DB3-7F77E4D98CCB}"/>
              </a:ext>
            </a:extLst>
          </p:cNvPr>
          <p:cNvSpPr>
            <a:spLocks noGrp="1"/>
          </p:cNvSpPr>
          <p:nvPr>
            <p:ph type="body" sz="half" idx="2"/>
          </p:nvPr>
        </p:nvSpPr>
        <p:spPr>
          <a:xfrm>
            <a:off x="692825" y="2331720"/>
            <a:ext cx="3244096" cy="4319800"/>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Click to edit Master text styles</a:t>
            </a:r>
          </a:p>
        </p:txBody>
      </p:sp>
      <p:sp>
        <p:nvSpPr>
          <p:cNvPr id="5" name="Date Placeholder 4">
            <a:extLst>
              <a:ext uri="{FF2B5EF4-FFF2-40B4-BE49-F238E27FC236}">
                <a16:creationId xmlns:a16="http://schemas.microsoft.com/office/drawing/2014/main" id="{3EBA5594-3951-EF68-7E30-ED14EDFA5DE9}"/>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6" name="Footer Placeholder 5">
            <a:extLst>
              <a:ext uri="{FF2B5EF4-FFF2-40B4-BE49-F238E27FC236}">
                <a16:creationId xmlns:a16="http://schemas.microsoft.com/office/drawing/2014/main" id="{3548D008-87A9-58A4-FD3B-E943455CA3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AE96A1-98EC-B933-E6D3-D796C865453D}"/>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1576484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3EC3-407D-AC4D-F1A6-D20FF438E0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C3A6A7-7187-D8BE-E20C-608B931F13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10477C-203C-574B-3700-B76ACAEE509A}"/>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5" name="Footer Placeholder 4">
            <a:extLst>
              <a:ext uri="{FF2B5EF4-FFF2-40B4-BE49-F238E27FC236}">
                <a16:creationId xmlns:a16="http://schemas.microsoft.com/office/drawing/2014/main" id="{FD73DB01-C5CA-B2A4-44B6-56C769CBBC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03B23-AE44-09D5-4923-29BEE259FE59}"/>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3556501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20C669-1271-309C-5704-0005A92B2450}"/>
              </a:ext>
            </a:extLst>
          </p:cNvPr>
          <p:cNvSpPr>
            <a:spLocks noGrp="1"/>
          </p:cNvSpPr>
          <p:nvPr>
            <p:ph type="title" orient="vert"/>
          </p:nvPr>
        </p:nvSpPr>
        <p:spPr>
          <a:xfrm>
            <a:off x="7198042" y="413808"/>
            <a:ext cx="2168843" cy="65867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9EBDCA-E4B9-4996-CB20-5CC774BA1CD5}"/>
              </a:ext>
            </a:extLst>
          </p:cNvPr>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90E949-89DF-5792-82F6-E237D8783298}"/>
              </a:ext>
            </a:extLst>
          </p:cNvPr>
          <p:cNvSpPr>
            <a:spLocks noGrp="1"/>
          </p:cNvSpPr>
          <p:nvPr>
            <p:ph type="dt" sz="half" idx="10"/>
          </p:nvPr>
        </p:nvSpPr>
        <p:spPr/>
        <p:txBody>
          <a:bodyPr/>
          <a:lstStyle/>
          <a:p>
            <a:fld id="{1D8BD707-D9CF-40AE-B4C6-C98DA3205C09}" type="datetimeFigureOut">
              <a:rPr lang="en-US" smtClean="0"/>
              <a:t>11/16/2023</a:t>
            </a:fld>
            <a:endParaRPr lang="en-US"/>
          </a:p>
        </p:txBody>
      </p:sp>
      <p:sp>
        <p:nvSpPr>
          <p:cNvPr id="5" name="Footer Placeholder 4">
            <a:extLst>
              <a:ext uri="{FF2B5EF4-FFF2-40B4-BE49-F238E27FC236}">
                <a16:creationId xmlns:a16="http://schemas.microsoft.com/office/drawing/2014/main" id="{2B7DF7DF-4CD9-EDF6-158F-466EED937D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F1DD27-D587-252D-585B-B1AFAAD70386}"/>
              </a:ext>
            </a:extLst>
          </p:cNvPr>
          <p:cNvSpPr>
            <a:spLocks noGrp="1"/>
          </p:cNvSpPr>
          <p:nvPr>
            <p:ph type="sldNum" sz="quarter" idx="12"/>
          </p:nvPr>
        </p:nvSpPr>
        <p:spPr/>
        <p:txBody>
          <a:body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3839070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0" i="0">
                <a:solidFill>
                  <a:srgbClr val="006699"/>
                </a:solidFill>
                <a:latin typeface="Arial MT"/>
                <a:cs typeface="Arial MT"/>
              </a:defRPr>
            </a:lvl1pPr>
          </a:lstStyle>
          <a:p>
            <a:endParaRPr/>
          </a:p>
        </p:txBody>
      </p:sp>
      <p:sp>
        <p:nvSpPr>
          <p:cNvPr id="3" name="Holder 3"/>
          <p:cNvSpPr>
            <a:spLocks noGrp="1"/>
          </p:cNvSpPr>
          <p:nvPr>
            <p:ph sz="half" idx="2"/>
          </p:nvPr>
        </p:nvSpPr>
        <p:spPr>
          <a:xfrm>
            <a:off x="1592072" y="1927646"/>
            <a:ext cx="3788410" cy="4965065"/>
          </a:xfrm>
          <a:prstGeom prst="rect">
            <a:avLst/>
          </a:prstGeom>
        </p:spPr>
        <p:txBody>
          <a:bodyPr wrap="square" lIns="0" tIns="0" rIns="0" bIns="0">
            <a:spAutoFit/>
          </a:bodyPr>
          <a:lstStyle>
            <a:lvl1pPr>
              <a:defRPr sz="2200" b="0" i="0">
                <a:solidFill>
                  <a:srgbClr val="9B0707"/>
                </a:solidFill>
                <a:latin typeface="Arial MT"/>
                <a:cs typeface="Arial MT"/>
              </a:defRPr>
            </a:lvl1pPr>
          </a:lstStyle>
          <a:p>
            <a:endParaRPr/>
          </a:p>
        </p:txBody>
      </p:sp>
      <p:sp>
        <p:nvSpPr>
          <p:cNvPr id="4" name="Holder 4"/>
          <p:cNvSpPr>
            <a:spLocks noGrp="1"/>
          </p:cNvSpPr>
          <p:nvPr>
            <p:ph sz="half" idx="3"/>
          </p:nvPr>
        </p:nvSpPr>
        <p:spPr>
          <a:xfrm>
            <a:off x="6132068" y="1927655"/>
            <a:ext cx="3693795" cy="4516755"/>
          </a:xfrm>
          <a:prstGeom prst="rect">
            <a:avLst/>
          </a:prstGeom>
        </p:spPr>
        <p:txBody>
          <a:bodyPr wrap="square" lIns="0" tIns="0" rIns="0" bIns="0">
            <a:spAutoFit/>
          </a:bodyPr>
          <a:lstStyle>
            <a:lvl1pPr>
              <a:defRPr sz="2200" b="0" i="0">
                <a:solidFill>
                  <a:srgbClr val="9B0707"/>
                </a:solidFill>
                <a:latin typeface="Arial MT"/>
                <a:cs typeface="Arial MT"/>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11/16/2023</a:t>
            </a:fld>
            <a:endParaRPr lang="en-US"/>
          </a:p>
        </p:txBody>
      </p:sp>
      <p:sp>
        <p:nvSpPr>
          <p:cNvPr id="7" name="Holder 7"/>
          <p:cNvSpPr>
            <a:spLocks noGrp="1"/>
          </p:cNvSpPr>
          <p:nvPr>
            <p:ph type="sldNum" sz="quarter" idx="7"/>
          </p:nvPr>
        </p:nvSpPr>
        <p:spPr/>
        <p:txBody>
          <a:bodyPr lIns="0" tIns="0" rIns="0" bIns="0"/>
          <a:lstStyle>
            <a:lvl1pPr>
              <a:defRPr sz="1000" b="0" i="0">
                <a:solidFill>
                  <a:srgbClr val="0099CC"/>
                </a:solidFill>
                <a:latin typeface="Times New Roman"/>
                <a:cs typeface="Times New Roman"/>
              </a:defRPr>
            </a:lvl1p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a:t>
            </a:fld>
            <a:r>
              <a:rPr spc="10" dirty="0"/>
              <a:t>/69</a:t>
            </a:r>
          </a:p>
        </p:txBody>
      </p:sp>
    </p:spTree>
    <p:extLst>
      <p:ext uri="{BB962C8B-B14F-4D97-AF65-F5344CB8AC3E}">
        <p14:creationId xmlns:p14="http://schemas.microsoft.com/office/powerpoint/2010/main" val="2194934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4D2331-28E2-6F41-F9C9-F9EAC171D128}"/>
              </a:ext>
            </a:extLst>
          </p:cNvPr>
          <p:cNvSpPr>
            <a:spLocks noGrp="1"/>
          </p:cNvSpPr>
          <p:nvPr>
            <p:ph type="title"/>
          </p:nvPr>
        </p:nvSpPr>
        <p:spPr>
          <a:xfrm>
            <a:off x="691515" y="413809"/>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8A16D8-D577-8D51-107D-611D2B391560}"/>
              </a:ext>
            </a:extLst>
          </p:cNvPr>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6BC34-51FE-28ED-3E7A-87FE4A3E35B5}"/>
              </a:ext>
            </a:extLst>
          </p:cNvPr>
          <p:cNvSpPr>
            <a:spLocks noGrp="1"/>
          </p:cNvSpPr>
          <p:nvPr>
            <p:ph type="dt" sz="half" idx="2"/>
          </p:nvPr>
        </p:nvSpPr>
        <p:spPr>
          <a:xfrm>
            <a:off x="691515" y="7203864"/>
            <a:ext cx="2263140" cy="413808"/>
          </a:xfrm>
          <a:prstGeom prst="rect">
            <a:avLst/>
          </a:prstGeom>
        </p:spPr>
        <p:txBody>
          <a:bodyPr vert="horz" lIns="91440" tIns="45720" rIns="91440" bIns="45720" rtlCol="0" anchor="ctr"/>
          <a:lstStyle>
            <a:lvl1pPr algn="l">
              <a:defRPr sz="990">
                <a:solidFill>
                  <a:schemeClr val="tx1">
                    <a:tint val="75000"/>
                  </a:schemeClr>
                </a:solidFill>
              </a:defRPr>
            </a:lvl1pPr>
          </a:lstStyle>
          <a:p>
            <a:fld id="{1D8BD707-D9CF-40AE-B4C6-C98DA3205C09}" type="datetimeFigureOut">
              <a:rPr lang="en-US" smtClean="0"/>
              <a:t>11/16/2023</a:t>
            </a:fld>
            <a:endParaRPr lang="en-US"/>
          </a:p>
        </p:txBody>
      </p:sp>
      <p:sp>
        <p:nvSpPr>
          <p:cNvPr id="5" name="Footer Placeholder 4">
            <a:extLst>
              <a:ext uri="{FF2B5EF4-FFF2-40B4-BE49-F238E27FC236}">
                <a16:creationId xmlns:a16="http://schemas.microsoft.com/office/drawing/2014/main" id="{896F99B2-0FFB-B2C3-4F12-2C6BCA26E4C1}"/>
              </a:ext>
            </a:extLst>
          </p:cNvPr>
          <p:cNvSpPr>
            <a:spLocks noGrp="1"/>
          </p:cNvSpPr>
          <p:nvPr>
            <p:ph type="ftr" sz="quarter" idx="3"/>
          </p:nvPr>
        </p:nvSpPr>
        <p:spPr>
          <a:xfrm>
            <a:off x="3331845" y="7203864"/>
            <a:ext cx="3394710" cy="413808"/>
          </a:xfrm>
          <a:prstGeom prst="rect">
            <a:avLst/>
          </a:prstGeom>
        </p:spPr>
        <p:txBody>
          <a:bodyPr vert="horz" lIns="91440" tIns="45720" rIns="91440" bIns="45720" rtlCol="0" anchor="ctr"/>
          <a:lstStyle>
            <a:lvl1pPr algn="ctr">
              <a:defRPr sz="99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6E76B4-2D13-76D6-338A-91502DB0E568}"/>
              </a:ext>
            </a:extLst>
          </p:cNvPr>
          <p:cNvSpPr>
            <a:spLocks noGrp="1"/>
          </p:cNvSpPr>
          <p:nvPr>
            <p:ph type="sldNum" sz="quarter" idx="4"/>
          </p:nvPr>
        </p:nvSpPr>
        <p:spPr>
          <a:xfrm>
            <a:off x="7103745" y="7203864"/>
            <a:ext cx="2263140" cy="413808"/>
          </a:xfrm>
          <a:prstGeom prst="rect">
            <a:avLst/>
          </a:prstGeom>
        </p:spPr>
        <p:txBody>
          <a:bodyPr vert="horz" lIns="91440" tIns="45720" rIns="91440" bIns="45720" rtlCol="0" anchor="ctr"/>
          <a:lstStyle>
            <a:lvl1pPr algn="r">
              <a:defRPr sz="990">
                <a:solidFill>
                  <a:schemeClr val="tx1">
                    <a:tint val="75000"/>
                  </a:schemeClr>
                </a:solidFill>
              </a:defRPr>
            </a:lvl1pPr>
          </a:lstStyle>
          <a:p>
            <a:pPr marL="12700">
              <a:lnSpc>
                <a:spcPct val="100000"/>
              </a:lnSpc>
              <a:spcBef>
                <a:spcPts val="20"/>
              </a:spcBef>
            </a:pPr>
            <a:r>
              <a:rPr lang="en-US" spc="5"/>
              <a:t>Chapter</a:t>
            </a:r>
            <a:r>
              <a:rPr lang="en-US" spc="10"/>
              <a:t> </a:t>
            </a:r>
            <a:r>
              <a:rPr lang="en-US" spc="15"/>
              <a:t>3</a:t>
            </a:r>
            <a:r>
              <a:rPr lang="en-US" spc="-15"/>
              <a:t> </a:t>
            </a:r>
            <a:r>
              <a:rPr lang="en-US" spc="15"/>
              <a:t>–</a:t>
            </a:r>
            <a:r>
              <a:rPr lang="en-US" spc="-10"/>
              <a:t> </a:t>
            </a:r>
            <a:r>
              <a:rPr lang="en-US" spc="10"/>
              <a:t>p.</a:t>
            </a:r>
            <a:fld id="{81D60167-4931-47E6-BA6A-407CBD079E47}" type="slidenum">
              <a:rPr spc="10" smtClean="0"/>
              <a:t>‹#›</a:t>
            </a:fld>
            <a:r>
              <a:rPr spc="10"/>
              <a:t>/69</a:t>
            </a:r>
            <a:endParaRPr spc="10" dirty="0"/>
          </a:p>
        </p:txBody>
      </p:sp>
    </p:spTree>
    <p:extLst>
      <p:ext uri="{BB962C8B-B14F-4D97-AF65-F5344CB8AC3E}">
        <p14:creationId xmlns:p14="http://schemas.microsoft.com/office/powerpoint/2010/main" val="181897022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xStyles>
    <p:titleStyle>
      <a:lvl1pPr algn="l" defTabSz="754380" rtl="0" eaLnBrk="1" latinLnBrk="0" hangingPunct="1">
        <a:lnSpc>
          <a:spcPct val="90000"/>
        </a:lnSpc>
        <a:spcBef>
          <a:spcPct val="0"/>
        </a:spcBef>
        <a:buNone/>
        <a:defRPr sz="3630" kern="1200">
          <a:solidFill>
            <a:schemeClr val="tx1"/>
          </a:solidFill>
          <a:latin typeface="+mj-lt"/>
          <a:ea typeface="+mj-ea"/>
          <a:cs typeface="+mj-cs"/>
        </a:defRPr>
      </a:lvl1pPr>
    </p:titleStyle>
    <p:bodyStyle>
      <a:lvl1pPr marL="188595" indent="-188595" algn="l" defTabSz="754380" rtl="0" eaLnBrk="1" latinLnBrk="0" hangingPunct="1">
        <a:lnSpc>
          <a:spcPct val="90000"/>
        </a:lnSpc>
        <a:spcBef>
          <a:spcPts val="825"/>
        </a:spcBef>
        <a:buFont typeface="Arial" panose="020B0604020202020204" pitchFamily="34" charset="0"/>
        <a:buChar char="•"/>
        <a:defRPr sz="2310" kern="1200">
          <a:solidFill>
            <a:schemeClr val="tx1"/>
          </a:solidFill>
          <a:latin typeface="+mn-lt"/>
          <a:ea typeface="+mn-ea"/>
          <a:cs typeface="+mn-cs"/>
        </a:defRPr>
      </a:lvl1pPr>
      <a:lvl2pPr marL="565785" indent="-188595" algn="l" defTabSz="754380" rtl="0" eaLnBrk="1" latinLnBrk="0" hangingPunct="1">
        <a:lnSpc>
          <a:spcPct val="90000"/>
        </a:lnSpc>
        <a:spcBef>
          <a:spcPts val="413"/>
        </a:spcBef>
        <a:buFont typeface="Arial" panose="020B0604020202020204" pitchFamily="34" charset="0"/>
        <a:buChar char="•"/>
        <a:defRPr sz="1980" kern="1200">
          <a:solidFill>
            <a:schemeClr val="tx1"/>
          </a:solidFill>
          <a:latin typeface="+mn-lt"/>
          <a:ea typeface="+mn-ea"/>
          <a:cs typeface="+mn-cs"/>
        </a:defRPr>
      </a:lvl2pPr>
      <a:lvl3pPr marL="942975" indent="-188595" algn="l" defTabSz="754380" rtl="0" eaLnBrk="1" latinLnBrk="0" hangingPunct="1">
        <a:lnSpc>
          <a:spcPct val="90000"/>
        </a:lnSpc>
        <a:spcBef>
          <a:spcPts val="413"/>
        </a:spcBef>
        <a:buFont typeface="Arial" panose="020B0604020202020204" pitchFamily="34" charset="0"/>
        <a:buChar char="•"/>
        <a:defRPr sz="1650" kern="1200">
          <a:solidFill>
            <a:schemeClr val="tx1"/>
          </a:solidFill>
          <a:latin typeface="+mn-lt"/>
          <a:ea typeface="+mn-ea"/>
          <a:cs typeface="+mn-cs"/>
        </a:defRPr>
      </a:lvl3pPr>
      <a:lvl4pPr marL="132016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4pPr>
      <a:lvl5pPr marL="169735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5pPr>
      <a:lvl6pPr marL="207454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6pPr>
      <a:lvl7pPr marL="245173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7pPr>
      <a:lvl8pPr marL="282892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8pPr>
      <a:lvl9pPr marL="320611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media.geeksforgeeks.org/wp-content/uploads/detect13.jp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media.geeksforgeeks.org/wp-content/uploads/detect14.jp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media.geeksforgeeks.org/wp-content/uploads/detect15.jp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web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685800"/>
            <a:ext cx="6858000" cy="613410"/>
          </a:xfrm>
          <a:prstGeom prst="rect">
            <a:avLst/>
          </a:prstGeom>
        </p:spPr>
        <p:txBody>
          <a:bodyPr vert="horz" wrap="square" lIns="0" tIns="13335" rIns="0" bIns="0" rtlCol="0">
            <a:spAutoFit/>
          </a:bodyPr>
          <a:lstStyle/>
          <a:p>
            <a:pPr marL="12700">
              <a:lnSpc>
                <a:spcPct val="100000"/>
              </a:lnSpc>
              <a:spcBef>
                <a:spcPts val="105"/>
              </a:spcBef>
            </a:pPr>
            <a:r>
              <a:rPr spc="-5" dirty="0"/>
              <a:t>Chapter</a:t>
            </a:r>
            <a:r>
              <a:rPr spc="-10" dirty="0"/>
              <a:t> </a:t>
            </a:r>
            <a:r>
              <a:rPr dirty="0"/>
              <a:t>3:</a:t>
            </a:r>
            <a:r>
              <a:rPr spc="250" dirty="0"/>
              <a:t> </a:t>
            </a:r>
            <a:r>
              <a:rPr spc="-5" dirty="0"/>
              <a:t>The Data</a:t>
            </a:r>
            <a:r>
              <a:rPr spc="-10" dirty="0"/>
              <a:t> </a:t>
            </a:r>
            <a:r>
              <a:rPr spc="-5" dirty="0"/>
              <a:t>Link</a:t>
            </a:r>
            <a:r>
              <a:rPr spc="-15" dirty="0"/>
              <a:t> </a:t>
            </a:r>
            <a:r>
              <a:rPr spc="-40" dirty="0"/>
              <a:t>Layer</a:t>
            </a:r>
          </a:p>
        </p:txBody>
      </p:sp>
      <p:pic>
        <p:nvPicPr>
          <p:cNvPr id="11" name="Picture 10">
            <a:extLst>
              <a:ext uri="{FF2B5EF4-FFF2-40B4-BE49-F238E27FC236}">
                <a16:creationId xmlns:a16="http://schemas.microsoft.com/office/drawing/2014/main" id="{E233AE99-173C-943F-BF08-8AAE42F35E2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9" t="9819"/>
          <a:stretch/>
        </p:blipFill>
        <p:spPr>
          <a:xfrm>
            <a:off x="3048000" y="1752600"/>
            <a:ext cx="4648200" cy="5543511"/>
          </a:xfrm>
          <a:prstGeom prst="rect">
            <a:avLst/>
          </a:prstGeom>
        </p:spPr>
      </p:pic>
      <p:sp>
        <p:nvSpPr>
          <p:cNvPr id="12" name="Rectangle: Rounded Corners 11">
            <a:extLst>
              <a:ext uri="{FF2B5EF4-FFF2-40B4-BE49-F238E27FC236}">
                <a16:creationId xmlns:a16="http://schemas.microsoft.com/office/drawing/2014/main" id="{2454BB24-CFD4-5B88-E290-23780A7F5AAC}"/>
              </a:ext>
            </a:extLst>
          </p:cNvPr>
          <p:cNvSpPr/>
          <p:nvPr/>
        </p:nvSpPr>
        <p:spPr>
          <a:xfrm>
            <a:off x="2133600" y="5638800"/>
            <a:ext cx="5943600" cy="762000"/>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4374" y="431992"/>
            <a:ext cx="8306434" cy="690574"/>
          </a:xfrm>
          <a:prstGeom prst="rect">
            <a:avLst/>
          </a:prstGeom>
        </p:spPr>
        <p:txBody>
          <a:bodyPr vert="horz" wrap="square" lIns="0" tIns="13335" rIns="0" bIns="0" rtlCol="0">
            <a:spAutoFit/>
          </a:bodyPr>
          <a:lstStyle/>
          <a:p>
            <a:pPr marL="12700">
              <a:lnSpc>
                <a:spcPct val="100000"/>
              </a:lnSpc>
              <a:spcBef>
                <a:spcPts val="105"/>
              </a:spcBef>
            </a:pPr>
            <a:r>
              <a:rPr sz="4400" spc="-30" dirty="0"/>
              <a:t>Terminology:</a:t>
            </a:r>
            <a:r>
              <a:rPr sz="4400" spc="195" dirty="0"/>
              <a:t> </a:t>
            </a:r>
            <a:r>
              <a:rPr sz="4400" spc="-45" dirty="0"/>
              <a:t>Packets </a:t>
            </a:r>
            <a:r>
              <a:rPr sz="4400" dirty="0"/>
              <a:t>and</a:t>
            </a:r>
            <a:r>
              <a:rPr sz="4400" spc="-35" dirty="0"/>
              <a:t> </a:t>
            </a:r>
            <a:r>
              <a:rPr sz="4400" spc="-40" dirty="0"/>
              <a:t>Frames</a:t>
            </a:r>
          </a:p>
        </p:txBody>
      </p:sp>
      <p:sp>
        <p:nvSpPr>
          <p:cNvPr id="28" name="object 28"/>
          <p:cNvSpPr txBox="1">
            <a:spLocks noGrp="1"/>
          </p:cNvSpPr>
          <p:nvPr>
            <p:ph type="sldNum" sz="quarter" idx="12"/>
          </p:nvPr>
        </p:nvSpPr>
        <p:spPr>
          <a:xfrm>
            <a:off x="7103745" y="7328694"/>
            <a:ext cx="2263140" cy="164148"/>
          </a:xfrm>
          <a:prstGeom prst="rect">
            <a:avLst/>
          </a:prstGeom>
        </p:spPr>
        <p:txBody>
          <a:bodyPr vert="horz" wrap="square" lIns="0" tIns="2540" rIns="0" bIns="0" rtlCol="0">
            <a:spAutoFit/>
          </a:bodyPr>
          <a:lstStyle/>
          <a:p>
            <a:pPr marL="12700">
              <a:lnSpc>
                <a:spcPct val="100000"/>
              </a:lnSpc>
              <a:spcBef>
                <a:spcPts val="20"/>
              </a:spcBef>
            </a:pPr>
            <a:r>
              <a:rPr sz="1050" spc="5" dirty="0">
                <a:latin typeface="+mj-lt"/>
              </a:rPr>
              <a:t>Chapter</a:t>
            </a:r>
            <a:r>
              <a:rPr sz="1050" spc="10" dirty="0">
                <a:latin typeface="+mj-lt"/>
              </a:rPr>
              <a:t> </a:t>
            </a:r>
            <a:r>
              <a:rPr sz="1050" spc="15" dirty="0">
                <a:latin typeface="+mj-lt"/>
              </a:rPr>
              <a:t>3</a:t>
            </a:r>
            <a:r>
              <a:rPr sz="1050" spc="-15" dirty="0">
                <a:latin typeface="+mj-lt"/>
              </a:rPr>
              <a:t> </a:t>
            </a:r>
            <a:r>
              <a:rPr sz="1050" spc="15" dirty="0">
                <a:latin typeface="+mj-lt"/>
              </a:rPr>
              <a:t>–</a:t>
            </a:r>
            <a:r>
              <a:rPr sz="1050" spc="-10" dirty="0">
                <a:latin typeface="+mj-lt"/>
              </a:rPr>
              <a:t> </a:t>
            </a:r>
            <a:r>
              <a:rPr sz="1050" spc="10" dirty="0">
                <a:latin typeface="+mj-lt"/>
              </a:rPr>
              <a:t>p.</a:t>
            </a:r>
            <a:fld id="{81D60167-4931-47E6-BA6A-407CBD079E47}" type="slidenum">
              <a:rPr sz="1050" spc="10" dirty="0">
                <a:latin typeface="+mj-lt"/>
              </a:rPr>
              <a:t>2</a:t>
            </a:fld>
            <a:r>
              <a:rPr sz="1050" spc="10" dirty="0">
                <a:latin typeface="+mj-lt"/>
              </a:rPr>
              <a:t>/69</a:t>
            </a:r>
          </a:p>
        </p:txBody>
      </p:sp>
      <p:grpSp>
        <p:nvGrpSpPr>
          <p:cNvPr id="3" name="object 3"/>
          <p:cNvGrpSpPr/>
          <p:nvPr/>
        </p:nvGrpSpPr>
        <p:grpSpPr>
          <a:xfrm>
            <a:off x="4065921" y="2548925"/>
            <a:ext cx="62230" cy="514984"/>
            <a:chOff x="4377829" y="4072089"/>
            <a:chExt cx="62230" cy="514984"/>
          </a:xfrm>
        </p:grpSpPr>
        <p:sp>
          <p:nvSpPr>
            <p:cNvPr id="4" name="object 4"/>
            <p:cNvSpPr/>
            <p:nvPr/>
          </p:nvSpPr>
          <p:spPr>
            <a:xfrm>
              <a:off x="4406963" y="4072089"/>
              <a:ext cx="0" cy="469265"/>
            </a:xfrm>
            <a:custGeom>
              <a:avLst/>
              <a:gdLst/>
              <a:ahLst/>
              <a:cxnLst/>
              <a:rect l="l" t="t" r="r" b="b"/>
              <a:pathLst>
                <a:path h="469264">
                  <a:moveTo>
                    <a:pt x="0" y="468960"/>
                  </a:moveTo>
                  <a:lnTo>
                    <a:pt x="0" y="0"/>
                  </a:lnTo>
                </a:path>
              </a:pathLst>
            </a:custGeom>
            <a:ln w="15803">
              <a:solidFill>
                <a:srgbClr val="000000"/>
              </a:solidFill>
            </a:ln>
          </p:spPr>
          <p:txBody>
            <a:bodyPr wrap="square" lIns="0" tIns="0" rIns="0" bIns="0" rtlCol="0"/>
            <a:lstStyle/>
            <a:p>
              <a:endParaRPr sz="2400">
                <a:latin typeface="+mj-lt"/>
              </a:endParaRPr>
            </a:p>
          </p:txBody>
        </p:sp>
        <p:sp>
          <p:nvSpPr>
            <p:cNvPr id="5" name="object 5"/>
            <p:cNvSpPr/>
            <p:nvPr/>
          </p:nvSpPr>
          <p:spPr>
            <a:xfrm>
              <a:off x="4377829" y="4471212"/>
              <a:ext cx="62230" cy="115570"/>
            </a:xfrm>
            <a:custGeom>
              <a:avLst/>
              <a:gdLst/>
              <a:ahLst/>
              <a:cxnLst/>
              <a:rect l="l" t="t" r="r" b="b"/>
              <a:pathLst>
                <a:path w="62229" h="115570">
                  <a:moveTo>
                    <a:pt x="61823" y="0"/>
                  </a:moveTo>
                  <a:lnTo>
                    <a:pt x="0" y="0"/>
                  </a:lnTo>
                  <a:lnTo>
                    <a:pt x="30797" y="115354"/>
                  </a:lnTo>
                  <a:lnTo>
                    <a:pt x="61823" y="0"/>
                  </a:lnTo>
                  <a:close/>
                </a:path>
              </a:pathLst>
            </a:custGeom>
            <a:solidFill>
              <a:srgbClr val="000000"/>
            </a:solidFill>
          </p:spPr>
          <p:txBody>
            <a:bodyPr wrap="square" lIns="0" tIns="0" rIns="0" bIns="0" rtlCol="0"/>
            <a:lstStyle/>
            <a:p>
              <a:endParaRPr sz="2400">
                <a:latin typeface="+mj-lt"/>
              </a:endParaRPr>
            </a:p>
          </p:txBody>
        </p:sp>
        <p:sp>
          <p:nvSpPr>
            <p:cNvPr id="6" name="object 6"/>
            <p:cNvSpPr/>
            <p:nvPr/>
          </p:nvSpPr>
          <p:spPr>
            <a:xfrm>
              <a:off x="4408627" y="4478185"/>
              <a:ext cx="0" cy="62230"/>
            </a:xfrm>
            <a:custGeom>
              <a:avLst/>
              <a:gdLst/>
              <a:ahLst/>
              <a:cxnLst/>
              <a:rect l="l" t="t" r="r" b="b"/>
              <a:pathLst>
                <a:path h="62229">
                  <a:moveTo>
                    <a:pt x="0" y="0"/>
                  </a:moveTo>
                  <a:lnTo>
                    <a:pt x="0" y="61798"/>
                  </a:lnTo>
                </a:path>
              </a:pathLst>
            </a:custGeom>
            <a:ln w="10535">
              <a:solidFill>
                <a:srgbClr val="000000"/>
              </a:solidFill>
            </a:ln>
          </p:spPr>
          <p:txBody>
            <a:bodyPr wrap="square" lIns="0" tIns="0" rIns="0" bIns="0" rtlCol="0"/>
            <a:lstStyle/>
            <a:p>
              <a:endParaRPr sz="2400">
                <a:latin typeface="+mj-lt"/>
              </a:endParaRPr>
            </a:p>
          </p:txBody>
        </p:sp>
      </p:grpSp>
      <p:grpSp>
        <p:nvGrpSpPr>
          <p:cNvPr id="7" name="object 7"/>
          <p:cNvGrpSpPr/>
          <p:nvPr/>
        </p:nvGrpSpPr>
        <p:grpSpPr>
          <a:xfrm>
            <a:off x="5489172" y="2849435"/>
            <a:ext cx="225425" cy="222250"/>
            <a:chOff x="5801080" y="4372599"/>
            <a:chExt cx="225425" cy="222250"/>
          </a:xfrm>
        </p:grpSpPr>
        <p:sp>
          <p:nvSpPr>
            <p:cNvPr id="8" name="object 8"/>
            <p:cNvSpPr/>
            <p:nvPr/>
          </p:nvSpPr>
          <p:spPr>
            <a:xfrm>
              <a:off x="5827509" y="4377867"/>
              <a:ext cx="193675" cy="191135"/>
            </a:xfrm>
            <a:custGeom>
              <a:avLst/>
              <a:gdLst/>
              <a:ahLst/>
              <a:cxnLst/>
              <a:rect l="l" t="t" r="r" b="b"/>
              <a:pathLst>
                <a:path w="193675" h="191135">
                  <a:moveTo>
                    <a:pt x="0" y="191084"/>
                  </a:moveTo>
                  <a:lnTo>
                    <a:pt x="193459" y="0"/>
                  </a:lnTo>
                </a:path>
              </a:pathLst>
            </a:custGeom>
            <a:ln w="10535">
              <a:solidFill>
                <a:srgbClr val="000000"/>
              </a:solidFill>
            </a:ln>
          </p:spPr>
          <p:txBody>
            <a:bodyPr wrap="square" lIns="0" tIns="0" rIns="0" bIns="0" rtlCol="0"/>
            <a:lstStyle/>
            <a:p>
              <a:endParaRPr sz="2400">
                <a:latin typeface="+mj-lt"/>
              </a:endParaRPr>
            </a:p>
          </p:txBody>
        </p:sp>
        <p:sp>
          <p:nvSpPr>
            <p:cNvPr id="9" name="object 9"/>
            <p:cNvSpPr/>
            <p:nvPr/>
          </p:nvSpPr>
          <p:spPr>
            <a:xfrm>
              <a:off x="5801080" y="4504689"/>
              <a:ext cx="90805" cy="90170"/>
            </a:xfrm>
            <a:custGeom>
              <a:avLst/>
              <a:gdLst/>
              <a:ahLst/>
              <a:cxnLst/>
              <a:rect l="l" t="t" r="r" b="b"/>
              <a:pathLst>
                <a:path w="90804" h="90170">
                  <a:moveTo>
                    <a:pt x="90728" y="38417"/>
                  </a:moveTo>
                  <a:lnTo>
                    <a:pt x="52781" y="0"/>
                  </a:lnTo>
                  <a:lnTo>
                    <a:pt x="0" y="89979"/>
                  </a:lnTo>
                  <a:lnTo>
                    <a:pt x="90728" y="38417"/>
                  </a:lnTo>
                  <a:close/>
                </a:path>
              </a:pathLst>
            </a:custGeom>
            <a:solidFill>
              <a:srgbClr val="000000"/>
            </a:solidFill>
          </p:spPr>
          <p:txBody>
            <a:bodyPr wrap="square" lIns="0" tIns="0" rIns="0" bIns="0" rtlCol="0"/>
            <a:lstStyle/>
            <a:p>
              <a:endParaRPr sz="2400">
                <a:latin typeface="+mj-lt"/>
              </a:endParaRPr>
            </a:p>
          </p:txBody>
        </p:sp>
        <p:sp>
          <p:nvSpPr>
            <p:cNvPr id="10" name="object 10"/>
            <p:cNvSpPr/>
            <p:nvPr/>
          </p:nvSpPr>
          <p:spPr>
            <a:xfrm>
              <a:off x="5827814" y="4528413"/>
              <a:ext cx="40640" cy="40005"/>
            </a:xfrm>
            <a:custGeom>
              <a:avLst/>
              <a:gdLst/>
              <a:ahLst/>
              <a:cxnLst/>
              <a:rect l="l" t="t" r="r" b="b"/>
              <a:pathLst>
                <a:path w="40639" h="40004">
                  <a:moveTo>
                    <a:pt x="40436" y="0"/>
                  </a:moveTo>
                  <a:lnTo>
                    <a:pt x="0" y="39941"/>
                  </a:lnTo>
                </a:path>
              </a:pathLst>
            </a:custGeom>
            <a:ln w="10535">
              <a:solidFill>
                <a:srgbClr val="000000"/>
              </a:solidFill>
            </a:ln>
          </p:spPr>
          <p:txBody>
            <a:bodyPr wrap="square" lIns="0" tIns="0" rIns="0" bIns="0" rtlCol="0"/>
            <a:lstStyle/>
            <a:p>
              <a:endParaRPr sz="2400">
                <a:latin typeface="+mj-lt"/>
              </a:endParaRPr>
            </a:p>
          </p:txBody>
        </p:sp>
      </p:grpSp>
      <p:graphicFrame>
        <p:nvGraphicFramePr>
          <p:cNvPr id="11" name="object 11"/>
          <p:cNvGraphicFramePr>
            <a:graphicFrameLocks noGrp="1"/>
          </p:cNvGraphicFramePr>
          <p:nvPr>
            <p:extLst>
              <p:ext uri="{D42A27DB-BD31-4B8C-83A1-F6EECF244321}">
                <p14:modId xmlns:p14="http://schemas.microsoft.com/office/powerpoint/2010/main" val="1561723524"/>
              </p:ext>
            </p:extLst>
          </p:nvPr>
        </p:nvGraphicFramePr>
        <p:xfrm>
          <a:off x="2681979" y="3084043"/>
          <a:ext cx="3027296" cy="505724"/>
        </p:xfrm>
        <a:graphic>
          <a:graphicData uri="http://schemas.openxmlformats.org/drawingml/2006/table">
            <a:tbl>
              <a:tblPr firstRow="1" bandRow="1">
                <a:tableStyleId>{2D5ABB26-0587-4C30-8999-92F81FD0307C}</a:tableStyleId>
              </a:tblPr>
              <a:tblGrid>
                <a:gridCol w="808418">
                  <a:extLst>
                    <a:ext uri="{9D8B030D-6E8A-4147-A177-3AD203B41FA5}">
                      <a16:colId xmlns:a16="http://schemas.microsoft.com/office/drawing/2014/main" val="20000"/>
                    </a:ext>
                  </a:extLst>
                </a:gridCol>
                <a:gridCol w="1410460">
                  <a:extLst>
                    <a:ext uri="{9D8B030D-6E8A-4147-A177-3AD203B41FA5}">
                      <a16:colId xmlns:a16="http://schemas.microsoft.com/office/drawing/2014/main" val="20001"/>
                    </a:ext>
                  </a:extLst>
                </a:gridCol>
                <a:gridCol w="808418">
                  <a:extLst>
                    <a:ext uri="{9D8B030D-6E8A-4147-A177-3AD203B41FA5}">
                      <a16:colId xmlns:a16="http://schemas.microsoft.com/office/drawing/2014/main" val="20002"/>
                    </a:ext>
                  </a:extLst>
                </a:gridCol>
              </a:tblGrid>
              <a:tr h="505724">
                <a:tc>
                  <a:txBody>
                    <a:bodyPr/>
                    <a:lstStyle/>
                    <a:p>
                      <a:pPr marL="90170">
                        <a:lnSpc>
                          <a:spcPct val="100000"/>
                        </a:lnSpc>
                        <a:spcBef>
                          <a:spcPts val="1105"/>
                        </a:spcBef>
                      </a:pPr>
                      <a:r>
                        <a:rPr sz="1600" spc="15" dirty="0">
                          <a:latin typeface="+mj-lt"/>
                          <a:cs typeface="Arial MT"/>
                        </a:rPr>
                        <a:t>Header</a:t>
                      </a:r>
                      <a:endParaRPr sz="1600" dirty="0">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2720">
                        <a:lnSpc>
                          <a:spcPct val="100000"/>
                        </a:lnSpc>
                        <a:spcBef>
                          <a:spcPts val="1105"/>
                        </a:spcBef>
                      </a:pPr>
                      <a:r>
                        <a:rPr sz="1600" spc="10" dirty="0">
                          <a:highlight>
                            <a:srgbClr val="00FFFF"/>
                          </a:highlight>
                          <a:latin typeface="+mj-lt"/>
                          <a:cs typeface="Arial MT"/>
                        </a:rPr>
                        <a:t>Payload</a:t>
                      </a:r>
                      <a:r>
                        <a:rPr sz="1600" spc="-30" dirty="0">
                          <a:highlight>
                            <a:srgbClr val="00FFFF"/>
                          </a:highlight>
                          <a:latin typeface="+mj-lt"/>
                          <a:cs typeface="Arial MT"/>
                        </a:rPr>
                        <a:t> </a:t>
                      </a:r>
                      <a:r>
                        <a:rPr sz="1600" spc="10" dirty="0">
                          <a:highlight>
                            <a:srgbClr val="00FFFF"/>
                          </a:highlight>
                          <a:latin typeface="+mj-lt"/>
                          <a:cs typeface="Arial MT"/>
                        </a:rPr>
                        <a:t>field</a:t>
                      </a:r>
                      <a:endParaRPr sz="1600" dirty="0">
                        <a:highlight>
                          <a:srgbClr val="00FFFF"/>
                        </a:highlight>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1105"/>
                        </a:spcBef>
                      </a:pPr>
                      <a:r>
                        <a:rPr sz="1600" spc="10" dirty="0">
                          <a:latin typeface="+mj-lt"/>
                          <a:cs typeface="Arial MT"/>
                        </a:rPr>
                        <a:t>Trailer</a:t>
                      </a:r>
                      <a:endParaRPr sz="1600" dirty="0">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12" name="object 12"/>
          <p:cNvSpPr txBox="1"/>
          <p:nvPr/>
        </p:nvSpPr>
        <p:spPr>
          <a:xfrm>
            <a:off x="5693236" y="2646403"/>
            <a:ext cx="667473" cy="262251"/>
          </a:xfrm>
          <a:prstGeom prst="rect">
            <a:avLst/>
          </a:prstGeom>
        </p:spPr>
        <p:txBody>
          <a:bodyPr vert="horz" wrap="square" lIns="0" tIns="15875" rIns="0" bIns="0" rtlCol="0">
            <a:spAutoFit/>
          </a:bodyPr>
          <a:lstStyle/>
          <a:p>
            <a:pPr marL="12700">
              <a:lnSpc>
                <a:spcPct val="100000"/>
              </a:lnSpc>
              <a:spcBef>
                <a:spcPts val="125"/>
              </a:spcBef>
            </a:pPr>
            <a:r>
              <a:rPr sz="1600" spc="15" dirty="0">
                <a:latin typeface="+mj-lt"/>
                <a:cs typeface="Arial MT"/>
              </a:rPr>
              <a:t>Frame</a:t>
            </a:r>
            <a:endParaRPr sz="1600" dirty="0">
              <a:latin typeface="+mj-lt"/>
              <a:cs typeface="Arial MT"/>
            </a:endParaRPr>
          </a:p>
        </p:txBody>
      </p:sp>
      <p:sp>
        <p:nvSpPr>
          <p:cNvPr id="13" name="object 13"/>
          <p:cNvSpPr txBox="1"/>
          <p:nvPr/>
        </p:nvSpPr>
        <p:spPr>
          <a:xfrm>
            <a:off x="3315295" y="1422218"/>
            <a:ext cx="1760664" cy="293029"/>
          </a:xfrm>
          <a:prstGeom prst="rect">
            <a:avLst/>
          </a:prstGeom>
        </p:spPr>
        <p:txBody>
          <a:bodyPr vert="horz" wrap="square" lIns="0" tIns="15875" rIns="0" bIns="0" rtlCol="0">
            <a:spAutoFit/>
          </a:bodyPr>
          <a:lstStyle/>
          <a:p>
            <a:pPr marL="12700">
              <a:lnSpc>
                <a:spcPct val="100000"/>
              </a:lnSpc>
              <a:spcBef>
                <a:spcPts val="125"/>
              </a:spcBef>
            </a:pPr>
            <a:r>
              <a:rPr spc="10" dirty="0">
                <a:highlight>
                  <a:srgbClr val="FFFF00"/>
                </a:highlight>
                <a:latin typeface="+mj-lt"/>
                <a:cs typeface="Arial MT"/>
              </a:rPr>
              <a:t>Sending</a:t>
            </a:r>
            <a:r>
              <a:rPr spc="-25" dirty="0">
                <a:highlight>
                  <a:srgbClr val="FFFF00"/>
                </a:highlight>
                <a:latin typeface="+mj-lt"/>
                <a:cs typeface="Arial MT"/>
              </a:rPr>
              <a:t> </a:t>
            </a:r>
            <a:r>
              <a:rPr spc="10" dirty="0">
                <a:highlight>
                  <a:srgbClr val="FFFF00"/>
                </a:highlight>
                <a:latin typeface="+mj-lt"/>
                <a:cs typeface="Arial MT"/>
              </a:rPr>
              <a:t>machine</a:t>
            </a:r>
            <a:endParaRPr dirty="0">
              <a:highlight>
                <a:srgbClr val="FFFF00"/>
              </a:highlight>
              <a:latin typeface="+mj-lt"/>
              <a:cs typeface="Arial MT"/>
            </a:endParaRPr>
          </a:p>
        </p:txBody>
      </p:sp>
      <p:grpSp>
        <p:nvGrpSpPr>
          <p:cNvPr id="14" name="object 14"/>
          <p:cNvGrpSpPr/>
          <p:nvPr/>
        </p:nvGrpSpPr>
        <p:grpSpPr>
          <a:xfrm>
            <a:off x="7924652" y="2553307"/>
            <a:ext cx="62230" cy="514984"/>
            <a:chOff x="8236560" y="4076471"/>
            <a:chExt cx="62230" cy="514984"/>
          </a:xfrm>
        </p:grpSpPr>
        <p:sp>
          <p:nvSpPr>
            <p:cNvPr id="15" name="object 15"/>
            <p:cNvSpPr/>
            <p:nvPr/>
          </p:nvSpPr>
          <p:spPr>
            <a:xfrm>
              <a:off x="8269224" y="4121988"/>
              <a:ext cx="0" cy="469265"/>
            </a:xfrm>
            <a:custGeom>
              <a:avLst/>
              <a:gdLst/>
              <a:ahLst/>
              <a:cxnLst/>
              <a:rect l="l" t="t" r="r" b="b"/>
              <a:pathLst>
                <a:path h="469264">
                  <a:moveTo>
                    <a:pt x="0" y="0"/>
                  </a:moveTo>
                  <a:lnTo>
                    <a:pt x="0" y="468972"/>
                  </a:lnTo>
                </a:path>
              </a:pathLst>
            </a:custGeom>
            <a:ln w="15803">
              <a:solidFill>
                <a:srgbClr val="000000"/>
              </a:solidFill>
            </a:ln>
          </p:spPr>
          <p:txBody>
            <a:bodyPr wrap="square" lIns="0" tIns="0" rIns="0" bIns="0" rtlCol="0"/>
            <a:lstStyle/>
            <a:p>
              <a:endParaRPr sz="2400">
                <a:latin typeface="+mj-lt"/>
              </a:endParaRPr>
            </a:p>
          </p:txBody>
        </p:sp>
        <p:sp>
          <p:nvSpPr>
            <p:cNvPr id="16" name="object 16"/>
            <p:cNvSpPr/>
            <p:nvPr/>
          </p:nvSpPr>
          <p:spPr>
            <a:xfrm>
              <a:off x="8236560" y="4076471"/>
              <a:ext cx="62230" cy="115570"/>
            </a:xfrm>
            <a:custGeom>
              <a:avLst/>
              <a:gdLst/>
              <a:ahLst/>
              <a:cxnLst/>
              <a:rect l="l" t="t" r="r" b="b"/>
              <a:pathLst>
                <a:path w="62229" h="115570">
                  <a:moveTo>
                    <a:pt x="61810" y="115354"/>
                  </a:moveTo>
                  <a:lnTo>
                    <a:pt x="31000" y="0"/>
                  </a:lnTo>
                  <a:lnTo>
                    <a:pt x="0" y="115354"/>
                  </a:lnTo>
                  <a:lnTo>
                    <a:pt x="61810" y="115354"/>
                  </a:lnTo>
                  <a:close/>
                </a:path>
              </a:pathLst>
            </a:custGeom>
            <a:solidFill>
              <a:srgbClr val="000000"/>
            </a:solidFill>
          </p:spPr>
          <p:txBody>
            <a:bodyPr wrap="square" lIns="0" tIns="0" rIns="0" bIns="0" rtlCol="0"/>
            <a:lstStyle/>
            <a:p>
              <a:endParaRPr sz="2400">
                <a:latin typeface="+mj-lt"/>
              </a:endParaRPr>
            </a:p>
          </p:txBody>
        </p:sp>
        <p:sp>
          <p:nvSpPr>
            <p:cNvPr id="17" name="object 17"/>
            <p:cNvSpPr/>
            <p:nvPr/>
          </p:nvSpPr>
          <p:spPr>
            <a:xfrm>
              <a:off x="8267560" y="4123067"/>
              <a:ext cx="0" cy="62230"/>
            </a:xfrm>
            <a:custGeom>
              <a:avLst/>
              <a:gdLst/>
              <a:ahLst/>
              <a:cxnLst/>
              <a:rect l="l" t="t" r="r" b="b"/>
              <a:pathLst>
                <a:path h="62229">
                  <a:moveTo>
                    <a:pt x="0" y="61772"/>
                  </a:moveTo>
                  <a:lnTo>
                    <a:pt x="0" y="0"/>
                  </a:lnTo>
                </a:path>
              </a:pathLst>
            </a:custGeom>
            <a:ln w="10535">
              <a:solidFill>
                <a:srgbClr val="000000"/>
              </a:solidFill>
            </a:ln>
          </p:spPr>
          <p:txBody>
            <a:bodyPr wrap="square" lIns="0" tIns="0" rIns="0" bIns="0" rtlCol="0"/>
            <a:lstStyle/>
            <a:p>
              <a:endParaRPr sz="2400">
                <a:latin typeface="+mj-lt"/>
              </a:endParaRPr>
            </a:p>
          </p:txBody>
        </p:sp>
      </p:grpSp>
      <p:grpSp>
        <p:nvGrpSpPr>
          <p:cNvPr id="18" name="object 18"/>
          <p:cNvGrpSpPr/>
          <p:nvPr/>
        </p:nvGrpSpPr>
        <p:grpSpPr>
          <a:xfrm>
            <a:off x="4087153" y="3601181"/>
            <a:ext cx="3902710" cy="395605"/>
            <a:chOff x="4399061" y="5124345"/>
            <a:chExt cx="3902710" cy="395605"/>
          </a:xfrm>
        </p:grpSpPr>
        <p:sp>
          <p:nvSpPr>
            <p:cNvPr id="19" name="object 19"/>
            <p:cNvSpPr/>
            <p:nvPr/>
          </p:nvSpPr>
          <p:spPr>
            <a:xfrm>
              <a:off x="8239595" y="5129186"/>
              <a:ext cx="62230" cy="115570"/>
            </a:xfrm>
            <a:custGeom>
              <a:avLst/>
              <a:gdLst/>
              <a:ahLst/>
              <a:cxnLst/>
              <a:rect l="l" t="t" r="r" b="b"/>
              <a:pathLst>
                <a:path w="62229" h="115570">
                  <a:moveTo>
                    <a:pt x="61810" y="115366"/>
                  </a:moveTo>
                  <a:lnTo>
                    <a:pt x="31000" y="0"/>
                  </a:lnTo>
                  <a:lnTo>
                    <a:pt x="0" y="115366"/>
                  </a:lnTo>
                  <a:lnTo>
                    <a:pt x="61810" y="115366"/>
                  </a:lnTo>
                  <a:close/>
                </a:path>
              </a:pathLst>
            </a:custGeom>
            <a:solidFill>
              <a:srgbClr val="000000"/>
            </a:solidFill>
          </p:spPr>
          <p:txBody>
            <a:bodyPr wrap="square" lIns="0" tIns="0" rIns="0" bIns="0" rtlCol="0"/>
            <a:lstStyle/>
            <a:p>
              <a:endParaRPr sz="2400">
                <a:latin typeface="+mj-lt"/>
              </a:endParaRPr>
            </a:p>
          </p:txBody>
        </p:sp>
        <p:sp>
          <p:nvSpPr>
            <p:cNvPr id="20" name="object 20"/>
            <p:cNvSpPr/>
            <p:nvPr/>
          </p:nvSpPr>
          <p:spPr>
            <a:xfrm>
              <a:off x="8270595" y="5175783"/>
              <a:ext cx="0" cy="62230"/>
            </a:xfrm>
            <a:custGeom>
              <a:avLst/>
              <a:gdLst/>
              <a:ahLst/>
              <a:cxnLst/>
              <a:rect l="l" t="t" r="r" b="b"/>
              <a:pathLst>
                <a:path h="62229">
                  <a:moveTo>
                    <a:pt x="0" y="61798"/>
                  </a:moveTo>
                  <a:lnTo>
                    <a:pt x="0" y="0"/>
                  </a:lnTo>
                </a:path>
              </a:pathLst>
            </a:custGeom>
            <a:ln w="10535">
              <a:solidFill>
                <a:srgbClr val="000000"/>
              </a:solidFill>
            </a:ln>
          </p:spPr>
          <p:txBody>
            <a:bodyPr wrap="square" lIns="0" tIns="0" rIns="0" bIns="0" rtlCol="0"/>
            <a:lstStyle/>
            <a:p>
              <a:endParaRPr sz="2400">
                <a:latin typeface="+mj-lt"/>
              </a:endParaRPr>
            </a:p>
          </p:txBody>
        </p:sp>
        <p:sp>
          <p:nvSpPr>
            <p:cNvPr id="21" name="object 21"/>
            <p:cNvSpPr/>
            <p:nvPr/>
          </p:nvSpPr>
          <p:spPr>
            <a:xfrm>
              <a:off x="4406963" y="5132247"/>
              <a:ext cx="3862704" cy="379730"/>
            </a:xfrm>
            <a:custGeom>
              <a:avLst/>
              <a:gdLst/>
              <a:ahLst/>
              <a:cxnLst/>
              <a:rect l="l" t="t" r="r" b="b"/>
              <a:pathLst>
                <a:path w="3862704" h="379729">
                  <a:moveTo>
                    <a:pt x="3862260" y="106235"/>
                  </a:moveTo>
                  <a:lnTo>
                    <a:pt x="3862260" y="149656"/>
                  </a:lnTo>
                  <a:lnTo>
                    <a:pt x="3862260" y="179143"/>
                  </a:lnTo>
                  <a:lnTo>
                    <a:pt x="3862260" y="208205"/>
                  </a:lnTo>
                  <a:lnTo>
                    <a:pt x="3862260" y="250355"/>
                  </a:lnTo>
                  <a:lnTo>
                    <a:pt x="3854700" y="284530"/>
                  </a:lnTo>
                  <a:lnTo>
                    <a:pt x="3800363" y="341420"/>
                  </a:lnTo>
                  <a:lnTo>
                    <a:pt x="3757684" y="361627"/>
                  </a:lnTo>
                  <a:lnTo>
                    <a:pt x="3707394" y="374671"/>
                  </a:lnTo>
                  <a:lnTo>
                    <a:pt x="3651542" y="379298"/>
                  </a:lnTo>
                  <a:lnTo>
                    <a:pt x="210718" y="379298"/>
                  </a:lnTo>
                  <a:lnTo>
                    <a:pt x="154870" y="374671"/>
                  </a:lnTo>
                  <a:lnTo>
                    <a:pt x="104582" y="361627"/>
                  </a:lnTo>
                  <a:lnTo>
                    <a:pt x="61901" y="341420"/>
                  </a:lnTo>
                  <a:lnTo>
                    <a:pt x="28877" y="315303"/>
                  </a:lnTo>
                  <a:lnTo>
                    <a:pt x="0" y="250355"/>
                  </a:lnTo>
                  <a:lnTo>
                    <a:pt x="0" y="181313"/>
                  </a:lnTo>
                  <a:lnTo>
                    <a:pt x="0" y="98578"/>
                  </a:lnTo>
                  <a:lnTo>
                    <a:pt x="0" y="29143"/>
                  </a:lnTo>
                  <a:lnTo>
                    <a:pt x="0" y="0"/>
                  </a:lnTo>
                </a:path>
              </a:pathLst>
            </a:custGeom>
            <a:ln w="15803">
              <a:solidFill>
                <a:srgbClr val="000000"/>
              </a:solidFill>
            </a:ln>
          </p:spPr>
          <p:txBody>
            <a:bodyPr wrap="square" lIns="0" tIns="0" rIns="0" bIns="0" rtlCol="0"/>
            <a:lstStyle/>
            <a:p>
              <a:endParaRPr sz="2400">
                <a:latin typeface="+mj-lt"/>
              </a:endParaRPr>
            </a:p>
          </p:txBody>
        </p:sp>
      </p:grpSp>
      <p:sp>
        <p:nvSpPr>
          <p:cNvPr id="22" name="object 22"/>
          <p:cNvSpPr txBox="1"/>
          <p:nvPr/>
        </p:nvSpPr>
        <p:spPr>
          <a:xfrm>
            <a:off x="7314035" y="2021685"/>
            <a:ext cx="1310640" cy="387927"/>
          </a:xfrm>
          <a:prstGeom prst="rect">
            <a:avLst/>
          </a:prstGeom>
          <a:ln w="10535">
            <a:solidFill>
              <a:srgbClr val="000000"/>
            </a:solidFill>
          </a:ln>
        </p:spPr>
        <p:txBody>
          <a:bodyPr vert="horz" wrap="square" lIns="0" tIns="140335" rIns="0" bIns="0" rtlCol="0">
            <a:spAutoFit/>
          </a:bodyPr>
          <a:lstStyle/>
          <a:p>
            <a:pPr marL="397510">
              <a:lnSpc>
                <a:spcPct val="100000"/>
              </a:lnSpc>
              <a:spcBef>
                <a:spcPts val="1105"/>
              </a:spcBef>
            </a:pPr>
            <a:r>
              <a:rPr sz="1600" spc="10" dirty="0">
                <a:latin typeface="+mj-lt"/>
                <a:cs typeface="Arial MT"/>
              </a:rPr>
              <a:t>Packet</a:t>
            </a:r>
            <a:endParaRPr sz="1600" dirty="0">
              <a:latin typeface="+mj-lt"/>
              <a:cs typeface="Arial MT"/>
            </a:endParaRPr>
          </a:p>
        </p:txBody>
      </p:sp>
      <p:sp>
        <p:nvSpPr>
          <p:cNvPr id="23" name="object 23"/>
          <p:cNvSpPr txBox="1"/>
          <p:nvPr/>
        </p:nvSpPr>
        <p:spPr>
          <a:xfrm>
            <a:off x="3438147" y="2021685"/>
            <a:ext cx="1310640" cy="387927"/>
          </a:xfrm>
          <a:prstGeom prst="rect">
            <a:avLst/>
          </a:prstGeom>
          <a:ln w="10535">
            <a:solidFill>
              <a:srgbClr val="000000"/>
            </a:solidFill>
          </a:ln>
        </p:spPr>
        <p:txBody>
          <a:bodyPr vert="horz" wrap="square" lIns="0" tIns="140335" rIns="0" bIns="0" rtlCol="0">
            <a:spAutoFit/>
          </a:bodyPr>
          <a:lstStyle/>
          <a:p>
            <a:pPr marL="382905">
              <a:lnSpc>
                <a:spcPct val="100000"/>
              </a:lnSpc>
              <a:spcBef>
                <a:spcPts val="1105"/>
              </a:spcBef>
            </a:pPr>
            <a:r>
              <a:rPr sz="1600" spc="10" dirty="0">
                <a:latin typeface="+mj-lt"/>
                <a:cs typeface="Arial MT"/>
              </a:rPr>
              <a:t>Packet</a:t>
            </a:r>
            <a:endParaRPr sz="1600" dirty="0">
              <a:latin typeface="+mj-lt"/>
              <a:cs typeface="Arial MT"/>
            </a:endParaRPr>
          </a:p>
        </p:txBody>
      </p:sp>
      <p:sp>
        <p:nvSpPr>
          <p:cNvPr id="24" name="object 24"/>
          <p:cNvSpPr txBox="1"/>
          <p:nvPr/>
        </p:nvSpPr>
        <p:spPr>
          <a:xfrm>
            <a:off x="7075319" y="1393510"/>
            <a:ext cx="1993115" cy="293029"/>
          </a:xfrm>
          <a:prstGeom prst="rect">
            <a:avLst/>
          </a:prstGeom>
        </p:spPr>
        <p:txBody>
          <a:bodyPr vert="horz" wrap="square" lIns="0" tIns="15875" rIns="0" bIns="0" rtlCol="0">
            <a:spAutoFit/>
          </a:bodyPr>
          <a:lstStyle/>
          <a:p>
            <a:pPr marL="12700">
              <a:lnSpc>
                <a:spcPct val="100000"/>
              </a:lnSpc>
              <a:spcBef>
                <a:spcPts val="125"/>
              </a:spcBef>
            </a:pPr>
            <a:r>
              <a:rPr spc="10" dirty="0">
                <a:highlight>
                  <a:srgbClr val="FFFF00"/>
                </a:highlight>
                <a:latin typeface="+mj-lt"/>
                <a:cs typeface="Arial MT"/>
              </a:rPr>
              <a:t>Receiving</a:t>
            </a:r>
            <a:r>
              <a:rPr spc="-25" dirty="0">
                <a:highlight>
                  <a:srgbClr val="FFFF00"/>
                </a:highlight>
                <a:latin typeface="+mj-lt"/>
                <a:cs typeface="Arial MT"/>
              </a:rPr>
              <a:t> </a:t>
            </a:r>
            <a:r>
              <a:rPr spc="10" dirty="0">
                <a:highlight>
                  <a:srgbClr val="FFFF00"/>
                </a:highlight>
                <a:latin typeface="+mj-lt"/>
                <a:cs typeface="Arial MT"/>
              </a:rPr>
              <a:t>machine</a:t>
            </a:r>
            <a:endParaRPr dirty="0">
              <a:highlight>
                <a:srgbClr val="FFFF00"/>
              </a:highlight>
              <a:latin typeface="+mj-lt"/>
              <a:cs typeface="Arial MT"/>
            </a:endParaRPr>
          </a:p>
        </p:txBody>
      </p:sp>
      <p:graphicFrame>
        <p:nvGraphicFramePr>
          <p:cNvPr id="25" name="object 25"/>
          <p:cNvGraphicFramePr>
            <a:graphicFrameLocks noGrp="1"/>
          </p:cNvGraphicFramePr>
          <p:nvPr>
            <p:extLst>
              <p:ext uri="{D42A27DB-BD31-4B8C-83A1-F6EECF244321}">
                <p14:modId xmlns:p14="http://schemas.microsoft.com/office/powerpoint/2010/main" val="1539787999"/>
              </p:ext>
            </p:extLst>
          </p:nvPr>
        </p:nvGraphicFramePr>
        <p:xfrm>
          <a:off x="6557600" y="3084043"/>
          <a:ext cx="2811144" cy="505724"/>
        </p:xfrm>
        <a:graphic>
          <a:graphicData uri="http://schemas.openxmlformats.org/drawingml/2006/table">
            <a:tbl>
              <a:tblPr firstRow="1" bandRow="1">
                <a:tableStyleId>{2D5ABB26-0587-4C30-8999-92F81FD0307C}</a:tableStyleId>
              </a:tblPr>
              <a:tblGrid>
                <a:gridCol w="750570">
                  <a:extLst>
                    <a:ext uri="{9D8B030D-6E8A-4147-A177-3AD203B41FA5}">
                      <a16:colId xmlns:a16="http://schemas.microsoft.com/office/drawing/2014/main" val="20000"/>
                    </a:ext>
                  </a:extLst>
                </a:gridCol>
                <a:gridCol w="1310005">
                  <a:extLst>
                    <a:ext uri="{9D8B030D-6E8A-4147-A177-3AD203B41FA5}">
                      <a16:colId xmlns:a16="http://schemas.microsoft.com/office/drawing/2014/main" val="20001"/>
                    </a:ext>
                  </a:extLst>
                </a:gridCol>
                <a:gridCol w="750569">
                  <a:extLst>
                    <a:ext uri="{9D8B030D-6E8A-4147-A177-3AD203B41FA5}">
                      <a16:colId xmlns:a16="http://schemas.microsoft.com/office/drawing/2014/main" val="20002"/>
                    </a:ext>
                  </a:extLst>
                </a:gridCol>
              </a:tblGrid>
              <a:tr h="505724">
                <a:tc>
                  <a:txBody>
                    <a:bodyPr/>
                    <a:lstStyle/>
                    <a:p>
                      <a:pPr marL="90170">
                        <a:lnSpc>
                          <a:spcPct val="100000"/>
                        </a:lnSpc>
                        <a:spcBef>
                          <a:spcPts val="1105"/>
                        </a:spcBef>
                      </a:pPr>
                      <a:r>
                        <a:rPr sz="1600" spc="15" dirty="0">
                          <a:latin typeface="+mj-lt"/>
                          <a:cs typeface="Arial MT"/>
                        </a:rPr>
                        <a:t>Header</a:t>
                      </a:r>
                      <a:endParaRPr sz="1600" dirty="0">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2720">
                        <a:lnSpc>
                          <a:spcPct val="100000"/>
                        </a:lnSpc>
                        <a:spcBef>
                          <a:spcPts val="1105"/>
                        </a:spcBef>
                      </a:pPr>
                      <a:r>
                        <a:rPr sz="1600" spc="10" dirty="0">
                          <a:highlight>
                            <a:srgbClr val="00FFFF"/>
                          </a:highlight>
                          <a:latin typeface="+mj-lt"/>
                          <a:cs typeface="Arial MT"/>
                        </a:rPr>
                        <a:t>Payload</a:t>
                      </a:r>
                      <a:r>
                        <a:rPr sz="1600" spc="-30" dirty="0">
                          <a:highlight>
                            <a:srgbClr val="00FFFF"/>
                          </a:highlight>
                          <a:latin typeface="+mj-lt"/>
                          <a:cs typeface="Arial MT"/>
                        </a:rPr>
                        <a:t> </a:t>
                      </a:r>
                      <a:r>
                        <a:rPr sz="1600" spc="10" dirty="0">
                          <a:highlight>
                            <a:srgbClr val="00FFFF"/>
                          </a:highlight>
                          <a:latin typeface="+mj-lt"/>
                          <a:cs typeface="Arial MT"/>
                        </a:rPr>
                        <a:t>field</a:t>
                      </a:r>
                      <a:endParaRPr sz="1600" dirty="0">
                        <a:highlight>
                          <a:srgbClr val="00FFFF"/>
                        </a:highlight>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1105"/>
                        </a:spcBef>
                      </a:pPr>
                      <a:r>
                        <a:rPr sz="1600" spc="10" dirty="0">
                          <a:latin typeface="+mj-lt"/>
                          <a:cs typeface="Arial MT"/>
                        </a:rPr>
                        <a:t>Trailer</a:t>
                      </a:r>
                      <a:endParaRPr sz="1600" dirty="0">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26" name="object 26"/>
          <p:cNvSpPr txBox="1"/>
          <p:nvPr/>
        </p:nvSpPr>
        <p:spPr>
          <a:xfrm>
            <a:off x="933664" y="2049086"/>
            <a:ext cx="1423815" cy="442429"/>
          </a:xfrm>
          <a:prstGeom prst="rect">
            <a:avLst/>
          </a:prstGeom>
        </p:spPr>
        <p:txBody>
          <a:bodyPr vert="horz" wrap="square" lIns="0" tIns="11430" rIns="0" bIns="0" rtlCol="0">
            <a:spAutoFit/>
          </a:bodyPr>
          <a:lstStyle/>
          <a:p>
            <a:pPr marL="12700">
              <a:lnSpc>
                <a:spcPct val="100000"/>
              </a:lnSpc>
              <a:spcBef>
                <a:spcPts val="90"/>
              </a:spcBef>
            </a:pPr>
            <a:r>
              <a:rPr sz="2800" spc="-5" dirty="0">
                <a:latin typeface="+mj-lt"/>
                <a:cs typeface="Arial MT"/>
              </a:rPr>
              <a:t>Network</a:t>
            </a:r>
            <a:endParaRPr sz="2800" dirty="0">
              <a:latin typeface="+mj-lt"/>
              <a:cs typeface="Arial MT"/>
            </a:endParaRPr>
          </a:p>
        </p:txBody>
      </p:sp>
      <p:sp>
        <p:nvSpPr>
          <p:cNvPr id="27" name="object 27"/>
          <p:cNvSpPr txBox="1"/>
          <p:nvPr/>
        </p:nvSpPr>
        <p:spPr>
          <a:xfrm>
            <a:off x="930344" y="3131842"/>
            <a:ext cx="1568105" cy="442429"/>
          </a:xfrm>
          <a:prstGeom prst="rect">
            <a:avLst/>
          </a:prstGeom>
        </p:spPr>
        <p:txBody>
          <a:bodyPr vert="horz" wrap="square" lIns="0" tIns="11430" rIns="0" bIns="0" rtlCol="0">
            <a:spAutoFit/>
          </a:bodyPr>
          <a:lstStyle/>
          <a:p>
            <a:pPr marL="12700">
              <a:lnSpc>
                <a:spcPct val="100000"/>
              </a:lnSpc>
              <a:spcBef>
                <a:spcPts val="90"/>
              </a:spcBef>
            </a:pPr>
            <a:r>
              <a:rPr sz="2800" spc="-5" dirty="0">
                <a:latin typeface="+mj-lt"/>
                <a:cs typeface="Arial MT"/>
              </a:rPr>
              <a:t>Data</a:t>
            </a:r>
            <a:r>
              <a:rPr sz="2800" spc="-85" dirty="0">
                <a:latin typeface="+mj-lt"/>
                <a:cs typeface="Arial MT"/>
              </a:rPr>
              <a:t> </a:t>
            </a:r>
            <a:r>
              <a:rPr sz="2800" spc="-5" dirty="0">
                <a:latin typeface="+mj-lt"/>
                <a:cs typeface="Arial MT"/>
              </a:rPr>
              <a:t>Link</a:t>
            </a:r>
            <a:endParaRPr sz="2800" dirty="0">
              <a:latin typeface="+mj-lt"/>
              <a:cs typeface="Arial MT"/>
            </a:endParaRPr>
          </a:p>
        </p:txBody>
      </p:sp>
      <p:sp>
        <p:nvSpPr>
          <p:cNvPr id="29" name="TextBox 28">
            <a:extLst>
              <a:ext uri="{FF2B5EF4-FFF2-40B4-BE49-F238E27FC236}">
                <a16:creationId xmlns:a16="http://schemas.microsoft.com/office/drawing/2014/main" id="{29DFB96A-1C5A-E526-E201-CE4E01C17CAC}"/>
              </a:ext>
            </a:extLst>
          </p:cNvPr>
          <p:cNvSpPr txBox="1"/>
          <p:nvPr/>
        </p:nvSpPr>
        <p:spPr>
          <a:xfrm>
            <a:off x="2825630" y="4132621"/>
            <a:ext cx="5844870" cy="461665"/>
          </a:xfrm>
          <a:prstGeom prst="rect">
            <a:avLst/>
          </a:prstGeom>
          <a:noFill/>
        </p:spPr>
        <p:txBody>
          <a:bodyPr wrap="none" rtlCol="0">
            <a:spAutoFit/>
          </a:bodyPr>
          <a:lstStyle/>
          <a:p>
            <a:r>
              <a:rPr lang="en-US" sz="2400" b="0" i="0" u="none" strike="noStrike" baseline="0" dirty="0">
                <a:latin typeface="+mj-lt"/>
              </a:rPr>
              <a:t>Fig: Relationship between packets and frames</a:t>
            </a:r>
            <a:endParaRPr lang="en-US" sz="2400" dirty="0">
              <a:latin typeface="+mj-lt"/>
            </a:endParaRPr>
          </a:p>
        </p:txBody>
      </p:sp>
      <p:sp>
        <p:nvSpPr>
          <p:cNvPr id="31" name="TextBox 30">
            <a:extLst>
              <a:ext uri="{FF2B5EF4-FFF2-40B4-BE49-F238E27FC236}">
                <a16:creationId xmlns:a16="http://schemas.microsoft.com/office/drawing/2014/main" id="{A9DBEAF8-6781-8481-8CE7-94BC70636EF2}"/>
              </a:ext>
            </a:extLst>
          </p:cNvPr>
          <p:cNvSpPr txBox="1"/>
          <p:nvPr/>
        </p:nvSpPr>
        <p:spPr>
          <a:xfrm>
            <a:off x="762000" y="4777975"/>
            <a:ext cx="8618808" cy="830997"/>
          </a:xfrm>
          <a:prstGeom prst="rect">
            <a:avLst/>
          </a:prstGeom>
          <a:noFill/>
        </p:spPr>
        <p:txBody>
          <a:bodyPr wrap="square">
            <a:spAutoFit/>
          </a:bodyPr>
          <a:lstStyle/>
          <a:p>
            <a:pPr algn="just"/>
            <a:r>
              <a:rPr lang="en-US" sz="2400" b="0" i="0" u="none" strike="noStrike" baseline="0" dirty="0">
                <a:latin typeface="+mj-lt"/>
              </a:rPr>
              <a:t>Each frame contains a frame header, </a:t>
            </a:r>
            <a:r>
              <a:rPr lang="en-US" sz="2400" b="0" i="0" u="none" strike="noStrike" baseline="0" dirty="0">
                <a:highlight>
                  <a:srgbClr val="00FFFF"/>
                </a:highlight>
                <a:latin typeface="+mj-lt"/>
              </a:rPr>
              <a:t>a payload field for holding the packet, </a:t>
            </a:r>
            <a:r>
              <a:rPr lang="en-US" sz="2400" b="0" i="0" u="none" strike="noStrike" baseline="0" dirty="0">
                <a:latin typeface="+mj-lt"/>
              </a:rPr>
              <a:t>and a frame trailer.</a:t>
            </a:r>
            <a:endParaRPr lang="en-US" sz="2400" dirty="0">
              <a:latin typeface="+mj-lt"/>
            </a:endParaRPr>
          </a:p>
        </p:txBody>
      </p:sp>
      <p:graphicFrame>
        <p:nvGraphicFramePr>
          <p:cNvPr id="32" name="object 11">
            <a:extLst>
              <a:ext uri="{FF2B5EF4-FFF2-40B4-BE49-F238E27FC236}">
                <a16:creationId xmlns:a16="http://schemas.microsoft.com/office/drawing/2014/main" id="{714D3891-6756-4D37-357A-F8FD780C1FE8}"/>
              </a:ext>
            </a:extLst>
          </p:cNvPr>
          <p:cNvGraphicFramePr>
            <a:graphicFrameLocks noGrp="1"/>
          </p:cNvGraphicFramePr>
          <p:nvPr>
            <p:extLst>
              <p:ext uri="{D42A27DB-BD31-4B8C-83A1-F6EECF244321}">
                <p14:modId xmlns:p14="http://schemas.microsoft.com/office/powerpoint/2010/main" val="3226262888"/>
              </p:ext>
            </p:extLst>
          </p:nvPr>
        </p:nvGraphicFramePr>
        <p:xfrm>
          <a:off x="4086351" y="5961526"/>
          <a:ext cx="3027296" cy="505724"/>
        </p:xfrm>
        <a:graphic>
          <a:graphicData uri="http://schemas.openxmlformats.org/drawingml/2006/table">
            <a:tbl>
              <a:tblPr firstRow="1" bandRow="1">
                <a:tableStyleId>{2D5ABB26-0587-4C30-8999-92F81FD0307C}</a:tableStyleId>
              </a:tblPr>
              <a:tblGrid>
                <a:gridCol w="808418">
                  <a:extLst>
                    <a:ext uri="{9D8B030D-6E8A-4147-A177-3AD203B41FA5}">
                      <a16:colId xmlns:a16="http://schemas.microsoft.com/office/drawing/2014/main" val="20000"/>
                    </a:ext>
                  </a:extLst>
                </a:gridCol>
                <a:gridCol w="1410460">
                  <a:extLst>
                    <a:ext uri="{9D8B030D-6E8A-4147-A177-3AD203B41FA5}">
                      <a16:colId xmlns:a16="http://schemas.microsoft.com/office/drawing/2014/main" val="20001"/>
                    </a:ext>
                  </a:extLst>
                </a:gridCol>
                <a:gridCol w="808418">
                  <a:extLst>
                    <a:ext uri="{9D8B030D-6E8A-4147-A177-3AD203B41FA5}">
                      <a16:colId xmlns:a16="http://schemas.microsoft.com/office/drawing/2014/main" val="20002"/>
                    </a:ext>
                  </a:extLst>
                </a:gridCol>
              </a:tblGrid>
              <a:tr h="505724">
                <a:tc>
                  <a:txBody>
                    <a:bodyPr/>
                    <a:lstStyle/>
                    <a:p>
                      <a:pPr marL="90170">
                        <a:lnSpc>
                          <a:spcPct val="100000"/>
                        </a:lnSpc>
                        <a:spcBef>
                          <a:spcPts val="1105"/>
                        </a:spcBef>
                      </a:pPr>
                      <a:r>
                        <a:rPr sz="1800" spc="15" dirty="0">
                          <a:latin typeface="+mj-lt"/>
                          <a:cs typeface="Arial MT"/>
                        </a:rPr>
                        <a:t>Header</a:t>
                      </a:r>
                      <a:endParaRPr sz="1800" dirty="0">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2720" algn="ctr">
                        <a:lnSpc>
                          <a:spcPct val="100000"/>
                        </a:lnSpc>
                        <a:spcBef>
                          <a:spcPts val="1105"/>
                        </a:spcBef>
                      </a:pPr>
                      <a:r>
                        <a:rPr lang="en-US" sz="1800" dirty="0">
                          <a:highlight>
                            <a:srgbClr val="00FFFF"/>
                          </a:highlight>
                          <a:latin typeface="+mj-lt"/>
                          <a:cs typeface="Arial MT"/>
                        </a:rPr>
                        <a:t>Packet</a:t>
                      </a:r>
                      <a:endParaRPr sz="1800" dirty="0">
                        <a:highlight>
                          <a:srgbClr val="00FFFF"/>
                        </a:highlight>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1105"/>
                        </a:spcBef>
                      </a:pPr>
                      <a:r>
                        <a:rPr sz="1800" spc="10" dirty="0">
                          <a:latin typeface="+mj-lt"/>
                          <a:cs typeface="Arial MT"/>
                        </a:rPr>
                        <a:t>Trailer</a:t>
                      </a:r>
                      <a:endParaRPr sz="1800" dirty="0">
                        <a:latin typeface="+mj-lt"/>
                        <a:cs typeface="Arial MT"/>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37" name="object 12">
            <a:extLst>
              <a:ext uri="{FF2B5EF4-FFF2-40B4-BE49-F238E27FC236}">
                <a16:creationId xmlns:a16="http://schemas.microsoft.com/office/drawing/2014/main" id="{9CC4A02A-29B6-D4EC-8B85-E983EC787371}"/>
              </a:ext>
            </a:extLst>
          </p:cNvPr>
          <p:cNvSpPr txBox="1"/>
          <p:nvPr/>
        </p:nvSpPr>
        <p:spPr>
          <a:xfrm>
            <a:off x="5235641" y="7062986"/>
            <a:ext cx="1129997" cy="323807"/>
          </a:xfrm>
          <a:prstGeom prst="rect">
            <a:avLst/>
          </a:prstGeom>
        </p:spPr>
        <p:txBody>
          <a:bodyPr vert="horz" wrap="square" lIns="0" tIns="15875" rIns="0" bIns="0" rtlCol="0">
            <a:spAutoFit/>
          </a:bodyPr>
          <a:lstStyle/>
          <a:p>
            <a:pPr marL="12700">
              <a:lnSpc>
                <a:spcPct val="100000"/>
              </a:lnSpc>
              <a:spcBef>
                <a:spcPts val="125"/>
              </a:spcBef>
            </a:pPr>
            <a:r>
              <a:rPr sz="2000" spc="15" dirty="0">
                <a:latin typeface="+mj-lt"/>
                <a:cs typeface="Arial MT"/>
              </a:rPr>
              <a:t>Frame</a:t>
            </a:r>
            <a:endParaRPr sz="2000" dirty="0">
              <a:latin typeface="+mj-lt"/>
              <a:cs typeface="Arial MT"/>
            </a:endParaRPr>
          </a:p>
        </p:txBody>
      </p:sp>
      <p:sp>
        <p:nvSpPr>
          <p:cNvPr id="38" name="Left Brace 37">
            <a:extLst>
              <a:ext uri="{FF2B5EF4-FFF2-40B4-BE49-F238E27FC236}">
                <a16:creationId xmlns:a16="http://schemas.microsoft.com/office/drawing/2014/main" id="{AF55D126-398A-1DD2-2B58-D4F93D0992F9}"/>
              </a:ext>
            </a:extLst>
          </p:cNvPr>
          <p:cNvSpPr/>
          <p:nvPr/>
        </p:nvSpPr>
        <p:spPr>
          <a:xfrm rot="16200000">
            <a:off x="5406874" y="5355019"/>
            <a:ext cx="452573" cy="28843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38729"/>
            <a:ext cx="5300345" cy="613410"/>
          </a:xfrm>
          <a:prstGeom prst="rect">
            <a:avLst/>
          </a:prstGeom>
        </p:spPr>
        <p:txBody>
          <a:bodyPr vert="horz" wrap="square" lIns="0" tIns="13335" rIns="0" bIns="0" rtlCol="0">
            <a:spAutoFit/>
          </a:bodyPr>
          <a:lstStyle/>
          <a:p>
            <a:pPr marL="12700">
              <a:lnSpc>
                <a:spcPct val="100000"/>
              </a:lnSpc>
              <a:spcBef>
                <a:spcPts val="105"/>
              </a:spcBef>
            </a:pPr>
            <a:r>
              <a:rPr spc="-30" dirty="0"/>
              <a:t>Layered</a:t>
            </a:r>
            <a:r>
              <a:rPr spc="-95" dirty="0"/>
              <a:t> </a:t>
            </a:r>
            <a:r>
              <a:rPr spc="-5" dirty="0"/>
              <a:t>Communication</a:t>
            </a:r>
          </a:p>
        </p:txBody>
      </p:sp>
      <p:sp>
        <p:nvSpPr>
          <p:cNvPr id="52" name="object 52"/>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a:t>
            </a:fld>
            <a:r>
              <a:rPr spc="10" dirty="0"/>
              <a:t>/69</a:t>
            </a:r>
          </a:p>
        </p:txBody>
      </p:sp>
      <p:sp>
        <p:nvSpPr>
          <p:cNvPr id="3" name="object 3"/>
          <p:cNvSpPr/>
          <p:nvPr/>
        </p:nvSpPr>
        <p:spPr>
          <a:xfrm>
            <a:off x="2120099" y="2265718"/>
            <a:ext cx="3049270" cy="3821429"/>
          </a:xfrm>
          <a:custGeom>
            <a:avLst/>
            <a:gdLst/>
            <a:ahLst/>
            <a:cxnLst/>
            <a:rect l="l" t="t" r="r" b="b"/>
            <a:pathLst>
              <a:path w="3049270" h="3821429">
                <a:moveTo>
                  <a:pt x="444" y="0"/>
                </a:moveTo>
                <a:lnTo>
                  <a:pt x="444" y="3821023"/>
                </a:lnTo>
                <a:lnTo>
                  <a:pt x="983795" y="3821023"/>
                </a:lnTo>
                <a:lnTo>
                  <a:pt x="983795" y="0"/>
                </a:lnTo>
                <a:lnTo>
                  <a:pt x="444" y="0"/>
                </a:lnTo>
                <a:close/>
              </a:path>
              <a:path w="3049270" h="3821429">
                <a:moveTo>
                  <a:pt x="0" y="1467993"/>
                </a:moveTo>
                <a:lnTo>
                  <a:pt x="979843" y="1467993"/>
                </a:lnTo>
              </a:path>
              <a:path w="3049270" h="3821429">
                <a:moveTo>
                  <a:pt x="0" y="2055368"/>
                </a:moveTo>
                <a:lnTo>
                  <a:pt x="979843" y="2055368"/>
                </a:lnTo>
              </a:path>
              <a:path w="3049270" h="3821429">
                <a:moveTo>
                  <a:pt x="0" y="2642755"/>
                </a:moveTo>
                <a:lnTo>
                  <a:pt x="979843" y="2642755"/>
                </a:lnTo>
              </a:path>
              <a:path w="3049270" h="3821429">
                <a:moveTo>
                  <a:pt x="0" y="3230130"/>
                </a:moveTo>
                <a:lnTo>
                  <a:pt x="979843" y="3230130"/>
                </a:lnTo>
              </a:path>
              <a:path w="3049270" h="3821429">
                <a:moveTo>
                  <a:pt x="2065921" y="1467993"/>
                </a:moveTo>
                <a:lnTo>
                  <a:pt x="3045764" y="1467993"/>
                </a:lnTo>
              </a:path>
              <a:path w="3049270" h="3821429">
                <a:moveTo>
                  <a:pt x="2065921" y="2055368"/>
                </a:moveTo>
                <a:lnTo>
                  <a:pt x="3045764" y="2055368"/>
                </a:lnTo>
              </a:path>
              <a:path w="3049270" h="3821429">
                <a:moveTo>
                  <a:pt x="2065921" y="2642755"/>
                </a:moveTo>
                <a:lnTo>
                  <a:pt x="3045764" y="2642755"/>
                </a:lnTo>
              </a:path>
              <a:path w="3049270" h="3821429">
                <a:moveTo>
                  <a:pt x="2065921" y="3230130"/>
                </a:moveTo>
                <a:lnTo>
                  <a:pt x="3045764" y="3230130"/>
                </a:lnTo>
              </a:path>
              <a:path w="3049270" h="3821429">
                <a:moveTo>
                  <a:pt x="2065731" y="0"/>
                </a:moveTo>
                <a:lnTo>
                  <a:pt x="2065731" y="3821023"/>
                </a:lnTo>
                <a:lnTo>
                  <a:pt x="3049090" y="3821023"/>
                </a:lnTo>
                <a:lnTo>
                  <a:pt x="3049090" y="0"/>
                </a:lnTo>
                <a:lnTo>
                  <a:pt x="2065731" y="0"/>
                </a:lnTo>
                <a:close/>
              </a:path>
            </a:pathLst>
          </a:custGeom>
          <a:ln w="10535">
            <a:solidFill>
              <a:srgbClr val="000000"/>
            </a:solidFill>
          </a:ln>
        </p:spPr>
        <p:txBody>
          <a:bodyPr wrap="square" lIns="0" tIns="0" rIns="0" bIns="0" rtlCol="0"/>
          <a:lstStyle/>
          <a:p>
            <a:endParaRPr/>
          </a:p>
        </p:txBody>
      </p:sp>
      <p:sp>
        <p:nvSpPr>
          <p:cNvPr id="4" name="object 4"/>
          <p:cNvSpPr/>
          <p:nvPr/>
        </p:nvSpPr>
        <p:spPr>
          <a:xfrm>
            <a:off x="6251232" y="2265718"/>
            <a:ext cx="3049270" cy="3821429"/>
          </a:xfrm>
          <a:custGeom>
            <a:avLst/>
            <a:gdLst/>
            <a:ahLst/>
            <a:cxnLst/>
            <a:rect l="l" t="t" r="r" b="b"/>
            <a:pathLst>
              <a:path w="3049270" h="3821429">
                <a:moveTo>
                  <a:pt x="711" y="1467993"/>
                </a:moveTo>
                <a:lnTo>
                  <a:pt x="980554" y="1467993"/>
                </a:lnTo>
              </a:path>
              <a:path w="3049270" h="3821429">
                <a:moveTo>
                  <a:pt x="711" y="2055368"/>
                </a:moveTo>
                <a:lnTo>
                  <a:pt x="980554" y="2055368"/>
                </a:lnTo>
              </a:path>
              <a:path w="3049270" h="3821429">
                <a:moveTo>
                  <a:pt x="711" y="2642755"/>
                </a:moveTo>
                <a:lnTo>
                  <a:pt x="980554" y="2642755"/>
                </a:lnTo>
              </a:path>
              <a:path w="3049270" h="3821429">
                <a:moveTo>
                  <a:pt x="711" y="3230130"/>
                </a:moveTo>
                <a:lnTo>
                  <a:pt x="980554" y="3230130"/>
                </a:lnTo>
              </a:path>
              <a:path w="3049270" h="3821429">
                <a:moveTo>
                  <a:pt x="0" y="0"/>
                </a:moveTo>
                <a:lnTo>
                  <a:pt x="0" y="3821023"/>
                </a:lnTo>
                <a:lnTo>
                  <a:pt x="983359" y="3821023"/>
                </a:lnTo>
                <a:lnTo>
                  <a:pt x="983359" y="0"/>
                </a:lnTo>
                <a:lnTo>
                  <a:pt x="0" y="0"/>
                </a:lnTo>
                <a:close/>
              </a:path>
              <a:path w="3049270" h="3821429">
                <a:moveTo>
                  <a:pt x="2065312" y="0"/>
                </a:moveTo>
                <a:lnTo>
                  <a:pt x="2065312" y="3821023"/>
                </a:lnTo>
                <a:lnTo>
                  <a:pt x="3048650" y="3821023"/>
                </a:lnTo>
                <a:lnTo>
                  <a:pt x="3048650" y="0"/>
                </a:lnTo>
                <a:lnTo>
                  <a:pt x="2065312" y="0"/>
                </a:lnTo>
                <a:close/>
              </a:path>
              <a:path w="3049270" h="3821429">
                <a:moveTo>
                  <a:pt x="2064867" y="1467993"/>
                </a:moveTo>
                <a:lnTo>
                  <a:pt x="3044710" y="1467993"/>
                </a:lnTo>
              </a:path>
              <a:path w="3049270" h="3821429">
                <a:moveTo>
                  <a:pt x="2064867" y="2055368"/>
                </a:moveTo>
                <a:lnTo>
                  <a:pt x="3044710" y="2055368"/>
                </a:lnTo>
              </a:path>
              <a:path w="3049270" h="3821429">
                <a:moveTo>
                  <a:pt x="2064867" y="2642755"/>
                </a:moveTo>
                <a:lnTo>
                  <a:pt x="3044710" y="2642755"/>
                </a:lnTo>
              </a:path>
              <a:path w="3049270" h="3821429">
                <a:moveTo>
                  <a:pt x="2064867" y="3230130"/>
                </a:moveTo>
                <a:lnTo>
                  <a:pt x="3044710" y="3230130"/>
                </a:lnTo>
              </a:path>
            </a:pathLst>
          </a:custGeom>
          <a:ln w="10535">
            <a:solidFill>
              <a:srgbClr val="000000"/>
            </a:solidFill>
          </a:ln>
        </p:spPr>
        <p:txBody>
          <a:bodyPr wrap="square" lIns="0" tIns="0" rIns="0" bIns="0" rtlCol="0"/>
          <a:lstStyle/>
          <a:p>
            <a:endParaRPr/>
          </a:p>
        </p:txBody>
      </p:sp>
      <p:sp>
        <p:nvSpPr>
          <p:cNvPr id="5" name="object 5"/>
          <p:cNvSpPr txBox="1"/>
          <p:nvPr/>
        </p:nvSpPr>
        <p:spPr>
          <a:xfrm>
            <a:off x="1945855" y="390364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6" name="object 6"/>
          <p:cNvSpPr txBox="1"/>
          <p:nvPr/>
        </p:nvSpPr>
        <p:spPr>
          <a:xfrm>
            <a:off x="1945855" y="4486630"/>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7" name="object 7"/>
          <p:cNvSpPr txBox="1"/>
          <p:nvPr/>
        </p:nvSpPr>
        <p:spPr>
          <a:xfrm>
            <a:off x="1945855" y="5069619"/>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8" name="object 8"/>
          <p:cNvSpPr txBox="1"/>
          <p:nvPr/>
        </p:nvSpPr>
        <p:spPr>
          <a:xfrm>
            <a:off x="1945855" y="5638559"/>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9" name="object 9"/>
          <p:cNvSpPr txBox="1"/>
          <p:nvPr/>
        </p:nvSpPr>
        <p:spPr>
          <a:xfrm>
            <a:off x="5254151" y="3903638"/>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10" name="object 10"/>
          <p:cNvSpPr txBox="1"/>
          <p:nvPr/>
        </p:nvSpPr>
        <p:spPr>
          <a:xfrm>
            <a:off x="5254151" y="448662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11" name="object 11"/>
          <p:cNvSpPr txBox="1"/>
          <p:nvPr/>
        </p:nvSpPr>
        <p:spPr>
          <a:xfrm>
            <a:off x="5254151" y="506961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12" name="object 12"/>
          <p:cNvSpPr txBox="1"/>
          <p:nvPr/>
        </p:nvSpPr>
        <p:spPr>
          <a:xfrm>
            <a:off x="5254151" y="5638555"/>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13" name="object 13"/>
          <p:cNvSpPr txBox="1"/>
          <p:nvPr/>
        </p:nvSpPr>
        <p:spPr>
          <a:xfrm>
            <a:off x="6055302" y="3903635"/>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14" name="object 14"/>
          <p:cNvSpPr txBox="1"/>
          <p:nvPr/>
        </p:nvSpPr>
        <p:spPr>
          <a:xfrm>
            <a:off x="6055302" y="4486624"/>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15" name="object 15"/>
          <p:cNvSpPr txBox="1"/>
          <p:nvPr/>
        </p:nvSpPr>
        <p:spPr>
          <a:xfrm>
            <a:off x="6055302" y="5069613"/>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16" name="object 16"/>
          <p:cNvSpPr txBox="1"/>
          <p:nvPr/>
        </p:nvSpPr>
        <p:spPr>
          <a:xfrm>
            <a:off x="6055302" y="563855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17" name="object 17"/>
          <p:cNvSpPr txBox="1"/>
          <p:nvPr/>
        </p:nvSpPr>
        <p:spPr>
          <a:xfrm>
            <a:off x="9391675" y="390364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18" name="object 18"/>
          <p:cNvSpPr txBox="1"/>
          <p:nvPr/>
        </p:nvSpPr>
        <p:spPr>
          <a:xfrm>
            <a:off x="9391675" y="4486630"/>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19" name="object 19"/>
          <p:cNvSpPr txBox="1"/>
          <p:nvPr/>
        </p:nvSpPr>
        <p:spPr>
          <a:xfrm>
            <a:off x="9391675" y="5069619"/>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20" name="object 20"/>
          <p:cNvSpPr txBox="1"/>
          <p:nvPr/>
        </p:nvSpPr>
        <p:spPr>
          <a:xfrm>
            <a:off x="9391675" y="5638559"/>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21" name="object 21"/>
          <p:cNvSpPr txBox="1"/>
          <p:nvPr/>
        </p:nvSpPr>
        <p:spPr>
          <a:xfrm>
            <a:off x="2355922" y="2003649"/>
            <a:ext cx="513080"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Host</a:t>
            </a:r>
            <a:r>
              <a:rPr sz="1300" spc="-60" dirty="0">
                <a:latin typeface="Arial MT"/>
                <a:cs typeface="Arial MT"/>
              </a:rPr>
              <a:t> </a:t>
            </a:r>
            <a:r>
              <a:rPr sz="1300" spc="15" dirty="0">
                <a:latin typeface="Arial MT"/>
                <a:cs typeface="Arial MT"/>
              </a:rPr>
              <a:t>1</a:t>
            </a:r>
            <a:endParaRPr sz="1300">
              <a:latin typeface="Arial MT"/>
              <a:cs typeface="Arial MT"/>
            </a:endParaRPr>
          </a:p>
        </p:txBody>
      </p:sp>
      <p:sp>
        <p:nvSpPr>
          <p:cNvPr id="22" name="object 22"/>
          <p:cNvSpPr txBox="1"/>
          <p:nvPr/>
        </p:nvSpPr>
        <p:spPr>
          <a:xfrm>
            <a:off x="4431499" y="2003649"/>
            <a:ext cx="513080"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Host</a:t>
            </a:r>
            <a:r>
              <a:rPr sz="1300" spc="-60" dirty="0">
                <a:latin typeface="Arial MT"/>
                <a:cs typeface="Arial MT"/>
              </a:rPr>
              <a:t> </a:t>
            </a:r>
            <a:r>
              <a:rPr sz="1300" spc="15" dirty="0">
                <a:latin typeface="Arial MT"/>
                <a:cs typeface="Arial MT"/>
              </a:rPr>
              <a:t>2</a:t>
            </a:r>
            <a:endParaRPr sz="1300">
              <a:latin typeface="Arial MT"/>
              <a:cs typeface="Arial MT"/>
            </a:endParaRPr>
          </a:p>
        </p:txBody>
      </p:sp>
      <p:sp>
        <p:nvSpPr>
          <p:cNvPr id="23" name="object 23"/>
          <p:cNvSpPr txBox="1"/>
          <p:nvPr/>
        </p:nvSpPr>
        <p:spPr>
          <a:xfrm>
            <a:off x="6486003" y="2003649"/>
            <a:ext cx="513080"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Host</a:t>
            </a:r>
            <a:r>
              <a:rPr sz="1300" spc="-60" dirty="0">
                <a:latin typeface="Arial MT"/>
                <a:cs typeface="Arial MT"/>
              </a:rPr>
              <a:t> </a:t>
            </a:r>
            <a:r>
              <a:rPr sz="1300" spc="15" dirty="0">
                <a:latin typeface="Arial MT"/>
                <a:cs typeface="Arial MT"/>
              </a:rPr>
              <a:t>1</a:t>
            </a:r>
            <a:endParaRPr sz="1300">
              <a:latin typeface="Arial MT"/>
              <a:cs typeface="Arial MT"/>
            </a:endParaRPr>
          </a:p>
        </p:txBody>
      </p:sp>
      <p:sp>
        <p:nvSpPr>
          <p:cNvPr id="24" name="object 24"/>
          <p:cNvSpPr txBox="1"/>
          <p:nvPr/>
        </p:nvSpPr>
        <p:spPr>
          <a:xfrm>
            <a:off x="8561579" y="2003649"/>
            <a:ext cx="513080"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Host</a:t>
            </a:r>
            <a:r>
              <a:rPr sz="1300" spc="-60" dirty="0">
                <a:latin typeface="Arial MT"/>
                <a:cs typeface="Arial MT"/>
              </a:rPr>
              <a:t> </a:t>
            </a:r>
            <a:r>
              <a:rPr sz="1300" spc="15" dirty="0">
                <a:latin typeface="Arial MT"/>
                <a:cs typeface="Arial MT"/>
              </a:rPr>
              <a:t>2</a:t>
            </a:r>
            <a:endParaRPr sz="1300">
              <a:latin typeface="Arial MT"/>
              <a:cs typeface="Arial MT"/>
            </a:endParaRPr>
          </a:p>
        </p:txBody>
      </p:sp>
      <p:grpSp>
        <p:nvGrpSpPr>
          <p:cNvPr id="25" name="object 25"/>
          <p:cNvGrpSpPr/>
          <p:nvPr/>
        </p:nvGrpSpPr>
        <p:grpSpPr>
          <a:xfrm>
            <a:off x="2549004" y="4566056"/>
            <a:ext cx="2174240" cy="790575"/>
            <a:chOff x="2549004" y="4566056"/>
            <a:chExt cx="2174240" cy="790575"/>
          </a:xfrm>
        </p:grpSpPr>
        <p:sp>
          <p:nvSpPr>
            <p:cNvPr id="26" name="object 26"/>
            <p:cNvSpPr/>
            <p:nvPr/>
          </p:nvSpPr>
          <p:spPr>
            <a:xfrm>
              <a:off x="4182059" y="4608207"/>
              <a:ext cx="497840" cy="737870"/>
            </a:xfrm>
            <a:custGeom>
              <a:avLst/>
              <a:gdLst/>
              <a:ahLst/>
              <a:cxnLst/>
              <a:rect l="l" t="t" r="r" b="b"/>
              <a:pathLst>
                <a:path w="497839" h="737870">
                  <a:moveTo>
                    <a:pt x="497827" y="0"/>
                  </a:moveTo>
                  <a:lnTo>
                    <a:pt x="497827" y="484644"/>
                  </a:lnTo>
                  <a:lnTo>
                    <a:pt x="496429" y="630835"/>
                  </a:lnTo>
                  <a:lnTo>
                    <a:pt x="466878" y="705905"/>
                  </a:lnTo>
                  <a:lnTo>
                    <a:pt x="383000" y="733563"/>
                  </a:lnTo>
                  <a:lnTo>
                    <a:pt x="218617" y="737514"/>
                  </a:lnTo>
                  <a:lnTo>
                    <a:pt x="0" y="737514"/>
                  </a:lnTo>
                </a:path>
              </a:pathLst>
            </a:custGeom>
            <a:ln w="21071">
              <a:solidFill>
                <a:srgbClr val="000000"/>
              </a:solidFill>
            </a:ln>
          </p:spPr>
          <p:txBody>
            <a:bodyPr wrap="square" lIns="0" tIns="0" rIns="0" bIns="0" rtlCol="0"/>
            <a:lstStyle/>
            <a:p>
              <a:endParaRPr/>
            </a:p>
          </p:txBody>
        </p:sp>
        <p:sp>
          <p:nvSpPr>
            <p:cNvPr id="27" name="object 27"/>
            <p:cNvSpPr/>
            <p:nvPr/>
          </p:nvSpPr>
          <p:spPr>
            <a:xfrm>
              <a:off x="3102140" y="5345722"/>
              <a:ext cx="1080135" cy="0"/>
            </a:xfrm>
            <a:custGeom>
              <a:avLst/>
              <a:gdLst/>
              <a:ahLst/>
              <a:cxnLst/>
              <a:rect l="l" t="t" r="r" b="b"/>
              <a:pathLst>
                <a:path w="1080135">
                  <a:moveTo>
                    <a:pt x="1079919" y="0"/>
                  </a:moveTo>
                  <a:lnTo>
                    <a:pt x="0" y="0"/>
                  </a:lnTo>
                </a:path>
              </a:pathLst>
            </a:custGeom>
            <a:ln w="21071">
              <a:solidFill>
                <a:srgbClr val="000000"/>
              </a:solidFill>
              <a:prstDash val="lgDash"/>
            </a:ln>
          </p:spPr>
          <p:txBody>
            <a:bodyPr wrap="square" lIns="0" tIns="0" rIns="0" bIns="0" rtlCol="0"/>
            <a:lstStyle/>
            <a:p>
              <a:endParaRPr/>
            </a:p>
          </p:txBody>
        </p:sp>
        <p:sp>
          <p:nvSpPr>
            <p:cNvPr id="28" name="object 28"/>
            <p:cNvSpPr/>
            <p:nvPr/>
          </p:nvSpPr>
          <p:spPr>
            <a:xfrm>
              <a:off x="2591142" y="4608207"/>
              <a:ext cx="511175" cy="737870"/>
            </a:xfrm>
            <a:custGeom>
              <a:avLst/>
              <a:gdLst/>
              <a:ahLst/>
              <a:cxnLst/>
              <a:rect l="l" t="t" r="r" b="b"/>
              <a:pathLst>
                <a:path w="511175" h="737870">
                  <a:moveTo>
                    <a:pt x="510997" y="737514"/>
                  </a:moveTo>
                  <a:lnTo>
                    <a:pt x="279209" y="737514"/>
                  </a:lnTo>
                  <a:lnTo>
                    <a:pt x="115568" y="698003"/>
                  </a:lnTo>
                  <a:lnTo>
                    <a:pt x="32924" y="611079"/>
                  </a:lnTo>
                  <a:lnTo>
                    <a:pt x="3621" y="524155"/>
                  </a:lnTo>
                  <a:lnTo>
                    <a:pt x="0" y="484644"/>
                  </a:lnTo>
                  <a:lnTo>
                    <a:pt x="0" y="0"/>
                  </a:lnTo>
                </a:path>
              </a:pathLst>
            </a:custGeom>
            <a:ln w="21071">
              <a:solidFill>
                <a:srgbClr val="000000"/>
              </a:solidFill>
            </a:ln>
          </p:spPr>
          <p:txBody>
            <a:bodyPr wrap="square" lIns="0" tIns="0" rIns="0" bIns="0" rtlCol="0"/>
            <a:lstStyle/>
            <a:p>
              <a:endParaRPr/>
            </a:p>
          </p:txBody>
        </p:sp>
        <p:pic>
          <p:nvPicPr>
            <p:cNvPr id="29" name="object 29"/>
            <p:cNvPicPr/>
            <p:nvPr/>
          </p:nvPicPr>
          <p:blipFill>
            <a:blip r:embed="rId2" cstate="print"/>
            <a:stretch>
              <a:fillRect/>
            </a:stretch>
          </p:blipFill>
          <p:spPr>
            <a:xfrm>
              <a:off x="2549004" y="4566056"/>
              <a:ext cx="84289" cy="84289"/>
            </a:xfrm>
            <a:prstGeom prst="rect">
              <a:avLst/>
            </a:prstGeom>
          </p:spPr>
        </p:pic>
        <p:pic>
          <p:nvPicPr>
            <p:cNvPr id="30" name="object 30"/>
            <p:cNvPicPr/>
            <p:nvPr/>
          </p:nvPicPr>
          <p:blipFill>
            <a:blip r:embed="rId2" cstate="print"/>
            <a:stretch>
              <a:fillRect/>
            </a:stretch>
          </p:blipFill>
          <p:spPr>
            <a:xfrm>
              <a:off x="4638624" y="4566056"/>
              <a:ext cx="84289" cy="84289"/>
            </a:xfrm>
            <a:prstGeom prst="rect">
              <a:avLst/>
            </a:prstGeom>
          </p:spPr>
        </p:pic>
      </p:grpSp>
      <p:grpSp>
        <p:nvGrpSpPr>
          <p:cNvPr id="31" name="object 31"/>
          <p:cNvGrpSpPr/>
          <p:nvPr/>
        </p:nvGrpSpPr>
        <p:grpSpPr>
          <a:xfrm>
            <a:off x="6683032" y="4566056"/>
            <a:ext cx="2174240" cy="1760220"/>
            <a:chOff x="6683032" y="4566056"/>
            <a:chExt cx="2174240" cy="1760220"/>
          </a:xfrm>
        </p:grpSpPr>
        <p:sp>
          <p:nvSpPr>
            <p:cNvPr id="32" name="object 32"/>
            <p:cNvSpPr/>
            <p:nvPr/>
          </p:nvSpPr>
          <p:spPr>
            <a:xfrm>
              <a:off x="6725183" y="4608207"/>
              <a:ext cx="2089150" cy="1706880"/>
            </a:xfrm>
            <a:custGeom>
              <a:avLst/>
              <a:gdLst/>
              <a:ahLst/>
              <a:cxnLst/>
              <a:rect l="l" t="t" r="r" b="b"/>
              <a:pathLst>
                <a:path w="2089150" h="1706879">
                  <a:moveTo>
                    <a:pt x="0" y="0"/>
                  </a:moveTo>
                  <a:lnTo>
                    <a:pt x="0" y="1453946"/>
                  </a:lnTo>
                  <a:lnTo>
                    <a:pt x="1397" y="1600137"/>
                  </a:lnTo>
                  <a:lnTo>
                    <a:pt x="30946" y="1675207"/>
                  </a:lnTo>
                  <a:lnTo>
                    <a:pt x="114821" y="1702865"/>
                  </a:lnTo>
                  <a:lnTo>
                    <a:pt x="279196" y="1706816"/>
                  </a:lnTo>
                  <a:lnTo>
                    <a:pt x="1809534" y="1706816"/>
                  </a:lnTo>
                  <a:lnTo>
                    <a:pt x="1973175" y="1667305"/>
                  </a:lnTo>
                  <a:lnTo>
                    <a:pt x="2055818" y="1580381"/>
                  </a:lnTo>
                  <a:lnTo>
                    <a:pt x="2085122" y="1493457"/>
                  </a:lnTo>
                  <a:lnTo>
                    <a:pt x="2088743" y="1453946"/>
                  </a:lnTo>
                  <a:lnTo>
                    <a:pt x="2088743" y="0"/>
                  </a:lnTo>
                </a:path>
              </a:pathLst>
            </a:custGeom>
            <a:ln w="21071">
              <a:solidFill>
                <a:srgbClr val="000000"/>
              </a:solidFill>
            </a:ln>
          </p:spPr>
          <p:txBody>
            <a:bodyPr wrap="square" lIns="0" tIns="0" rIns="0" bIns="0" rtlCol="0"/>
            <a:lstStyle/>
            <a:p>
              <a:endParaRPr/>
            </a:p>
          </p:txBody>
        </p:sp>
        <p:pic>
          <p:nvPicPr>
            <p:cNvPr id="33" name="object 33"/>
            <p:cNvPicPr/>
            <p:nvPr/>
          </p:nvPicPr>
          <p:blipFill>
            <a:blip r:embed="rId2" cstate="print"/>
            <a:stretch>
              <a:fillRect/>
            </a:stretch>
          </p:blipFill>
          <p:spPr>
            <a:xfrm>
              <a:off x="6683032" y="4566056"/>
              <a:ext cx="84289" cy="84289"/>
            </a:xfrm>
            <a:prstGeom prst="rect">
              <a:avLst/>
            </a:prstGeom>
          </p:spPr>
        </p:pic>
        <p:pic>
          <p:nvPicPr>
            <p:cNvPr id="34" name="object 34"/>
            <p:cNvPicPr/>
            <p:nvPr/>
          </p:nvPicPr>
          <p:blipFill>
            <a:blip r:embed="rId3" cstate="print"/>
            <a:stretch>
              <a:fillRect/>
            </a:stretch>
          </p:blipFill>
          <p:spPr>
            <a:xfrm>
              <a:off x="8772665" y="4566056"/>
              <a:ext cx="84289" cy="84289"/>
            </a:xfrm>
            <a:prstGeom prst="rect">
              <a:avLst/>
            </a:prstGeom>
          </p:spPr>
        </p:pic>
      </p:grpSp>
      <p:sp>
        <p:nvSpPr>
          <p:cNvPr id="35" name="object 35"/>
          <p:cNvSpPr txBox="1"/>
          <p:nvPr/>
        </p:nvSpPr>
        <p:spPr>
          <a:xfrm>
            <a:off x="3045244" y="5010432"/>
            <a:ext cx="1294689" cy="216085"/>
          </a:xfrm>
          <a:prstGeom prst="rect">
            <a:avLst/>
          </a:prstGeom>
        </p:spPr>
        <p:txBody>
          <a:bodyPr vert="horz" wrap="square" lIns="0" tIns="15875" rIns="0" bIns="0" rtlCol="0">
            <a:spAutoFit/>
          </a:bodyPr>
          <a:lstStyle/>
          <a:p>
            <a:pPr marL="12700">
              <a:lnSpc>
                <a:spcPct val="100000"/>
              </a:lnSpc>
              <a:spcBef>
                <a:spcPts val="125"/>
              </a:spcBef>
            </a:pPr>
            <a:r>
              <a:rPr sz="1300" spc="10" dirty="0">
                <a:solidFill>
                  <a:srgbClr val="FF0000"/>
                </a:solidFill>
                <a:latin typeface="Arial MT"/>
                <a:cs typeface="Arial MT"/>
              </a:rPr>
              <a:t>Virtual</a:t>
            </a:r>
            <a:r>
              <a:rPr lang="en-US" sz="1300" spc="10" dirty="0">
                <a:solidFill>
                  <a:srgbClr val="FF0000"/>
                </a:solidFill>
                <a:latin typeface="Arial MT"/>
                <a:cs typeface="Arial MT"/>
              </a:rPr>
              <a:t> Data Path</a:t>
            </a:r>
            <a:endParaRPr sz="1300" dirty="0">
              <a:solidFill>
                <a:srgbClr val="FF0000"/>
              </a:solidFill>
              <a:latin typeface="Arial MT"/>
              <a:cs typeface="Arial MT"/>
            </a:endParaRPr>
          </a:p>
        </p:txBody>
      </p:sp>
      <p:sp>
        <p:nvSpPr>
          <p:cNvPr id="36" name="object 36"/>
          <p:cNvSpPr txBox="1"/>
          <p:nvPr/>
        </p:nvSpPr>
        <p:spPr>
          <a:xfrm>
            <a:off x="4185831" y="4321086"/>
            <a:ext cx="983615" cy="613117"/>
          </a:xfrm>
          <a:prstGeom prst="rect">
            <a:avLst/>
          </a:prstGeom>
          <a:ln w="10535">
            <a:solidFill>
              <a:srgbClr val="000000"/>
            </a:solidFill>
          </a:ln>
        </p:spPr>
        <p:txBody>
          <a:bodyPr vert="horz" wrap="square" lIns="0" tIns="0" rIns="0" bIns="0" rtlCol="0">
            <a:spAutoFit/>
          </a:bodyPr>
          <a:lstStyle/>
          <a:p>
            <a:pPr>
              <a:lnSpc>
                <a:spcPct val="100000"/>
              </a:lnSpc>
            </a:pPr>
            <a:endParaRPr sz="1500" dirty="0">
              <a:latin typeface="Times New Roman"/>
              <a:cs typeface="Times New Roman"/>
            </a:endParaRPr>
          </a:p>
          <a:p>
            <a:pPr>
              <a:lnSpc>
                <a:spcPct val="100000"/>
              </a:lnSpc>
              <a:spcBef>
                <a:spcPts val="25"/>
              </a:spcBef>
            </a:pPr>
            <a:endParaRPr sz="1550" dirty="0">
              <a:latin typeface="Times New Roman"/>
              <a:cs typeface="Times New Roman"/>
            </a:endParaRPr>
          </a:p>
          <a:p>
            <a:pPr>
              <a:lnSpc>
                <a:spcPts val="1095"/>
              </a:lnSpc>
            </a:pPr>
            <a:endParaRPr sz="1300" dirty="0">
              <a:latin typeface="Arial MT"/>
              <a:cs typeface="Arial MT"/>
            </a:endParaRPr>
          </a:p>
        </p:txBody>
      </p:sp>
      <p:sp>
        <p:nvSpPr>
          <p:cNvPr id="39" name="object 39"/>
          <p:cNvSpPr txBox="1"/>
          <p:nvPr/>
        </p:nvSpPr>
        <p:spPr>
          <a:xfrm>
            <a:off x="7213221" y="6071479"/>
            <a:ext cx="1509196" cy="216085"/>
          </a:xfrm>
          <a:prstGeom prst="rect">
            <a:avLst/>
          </a:prstGeom>
        </p:spPr>
        <p:txBody>
          <a:bodyPr vert="horz" wrap="square" lIns="0" tIns="15875" rIns="0" bIns="0" rtlCol="0">
            <a:spAutoFit/>
          </a:bodyPr>
          <a:lstStyle/>
          <a:p>
            <a:pPr marL="12700">
              <a:lnSpc>
                <a:spcPct val="100000"/>
              </a:lnSpc>
              <a:spcBef>
                <a:spcPts val="125"/>
              </a:spcBef>
            </a:pPr>
            <a:r>
              <a:rPr lang="en-US" sz="1300" spc="10" dirty="0">
                <a:solidFill>
                  <a:srgbClr val="FF0000"/>
                </a:solidFill>
                <a:latin typeface="Arial MT"/>
                <a:cs typeface="Arial MT"/>
              </a:rPr>
              <a:t>Ac</a:t>
            </a:r>
            <a:r>
              <a:rPr sz="1300" spc="10" dirty="0">
                <a:solidFill>
                  <a:srgbClr val="FF0000"/>
                </a:solidFill>
                <a:latin typeface="Arial MT"/>
                <a:cs typeface="Arial MT"/>
              </a:rPr>
              <a:t>tual</a:t>
            </a:r>
            <a:r>
              <a:rPr lang="en-US" sz="1300" spc="10" dirty="0">
                <a:solidFill>
                  <a:srgbClr val="FF0000"/>
                </a:solidFill>
                <a:latin typeface="Arial MT"/>
                <a:cs typeface="Arial MT"/>
              </a:rPr>
              <a:t> data path</a:t>
            </a:r>
            <a:endParaRPr sz="1300" dirty="0">
              <a:solidFill>
                <a:srgbClr val="FF0000"/>
              </a:solidFill>
              <a:latin typeface="Arial MT"/>
              <a:cs typeface="Arial MT"/>
            </a:endParaRPr>
          </a:p>
        </p:txBody>
      </p:sp>
      <p:sp>
        <p:nvSpPr>
          <p:cNvPr id="40" name="object 40"/>
          <p:cNvSpPr txBox="1"/>
          <p:nvPr/>
        </p:nvSpPr>
        <p:spPr>
          <a:xfrm>
            <a:off x="8316544" y="5495849"/>
            <a:ext cx="983615" cy="533479"/>
          </a:xfrm>
          <a:prstGeom prst="rect">
            <a:avLst/>
          </a:prstGeom>
          <a:ln w="10535">
            <a:solidFill>
              <a:srgbClr val="000000"/>
            </a:solidFill>
          </a:ln>
        </p:spPr>
        <p:txBody>
          <a:bodyPr vert="horz" wrap="square" lIns="0" tIns="2540" rIns="0" bIns="0" rtlCol="0">
            <a:spAutoFit/>
          </a:bodyPr>
          <a:lstStyle/>
          <a:p>
            <a:pPr>
              <a:lnSpc>
                <a:spcPct val="100000"/>
              </a:lnSpc>
              <a:spcBef>
                <a:spcPts val="20"/>
              </a:spcBef>
            </a:pPr>
            <a:endParaRPr sz="2150" dirty="0">
              <a:latin typeface="Times New Roman"/>
              <a:cs typeface="Times New Roman"/>
            </a:endParaRPr>
          </a:p>
          <a:p>
            <a:pPr marL="71755">
              <a:lnSpc>
                <a:spcPct val="100000"/>
              </a:lnSpc>
            </a:pPr>
            <a:endParaRPr sz="1300" dirty="0">
              <a:latin typeface="Arial MT"/>
              <a:cs typeface="Arial MT"/>
            </a:endParaRPr>
          </a:p>
        </p:txBody>
      </p:sp>
      <p:grpSp>
        <p:nvGrpSpPr>
          <p:cNvPr id="42" name="object 42"/>
          <p:cNvGrpSpPr/>
          <p:nvPr/>
        </p:nvGrpSpPr>
        <p:grpSpPr>
          <a:xfrm>
            <a:off x="2019566" y="2425306"/>
            <a:ext cx="3249295" cy="368935"/>
            <a:chOff x="2019566" y="2425306"/>
            <a:chExt cx="3249295" cy="368935"/>
          </a:xfrm>
        </p:grpSpPr>
        <p:pic>
          <p:nvPicPr>
            <p:cNvPr id="43" name="object 43"/>
            <p:cNvPicPr/>
            <p:nvPr/>
          </p:nvPicPr>
          <p:blipFill>
            <a:blip r:embed="rId4" cstate="print"/>
            <a:stretch>
              <a:fillRect/>
            </a:stretch>
          </p:blipFill>
          <p:spPr>
            <a:xfrm>
              <a:off x="2019566" y="2425306"/>
              <a:ext cx="200182" cy="368414"/>
            </a:xfrm>
            <a:prstGeom prst="rect">
              <a:avLst/>
            </a:prstGeom>
          </p:spPr>
        </p:pic>
        <p:pic>
          <p:nvPicPr>
            <p:cNvPr id="44" name="object 44"/>
            <p:cNvPicPr/>
            <p:nvPr/>
          </p:nvPicPr>
          <p:blipFill>
            <a:blip r:embed="rId5" cstate="print"/>
            <a:stretch>
              <a:fillRect/>
            </a:stretch>
          </p:blipFill>
          <p:spPr>
            <a:xfrm>
              <a:off x="3003359" y="2425306"/>
              <a:ext cx="200182" cy="368414"/>
            </a:xfrm>
            <a:prstGeom prst="rect">
              <a:avLst/>
            </a:prstGeom>
          </p:spPr>
        </p:pic>
        <p:pic>
          <p:nvPicPr>
            <p:cNvPr id="45" name="object 45"/>
            <p:cNvPicPr/>
            <p:nvPr/>
          </p:nvPicPr>
          <p:blipFill>
            <a:blip r:embed="rId6" cstate="print"/>
            <a:stretch>
              <a:fillRect/>
            </a:stretch>
          </p:blipFill>
          <p:spPr>
            <a:xfrm>
              <a:off x="4084599" y="2425306"/>
              <a:ext cx="200182" cy="368414"/>
            </a:xfrm>
            <a:prstGeom prst="rect">
              <a:avLst/>
            </a:prstGeom>
          </p:spPr>
        </p:pic>
        <p:pic>
          <p:nvPicPr>
            <p:cNvPr id="46" name="object 46"/>
            <p:cNvPicPr/>
            <p:nvPr/>
          </p:nvPicPr>
          <p:blipFill>
            <a:blip r:embed="rId7" cstate="print"/>
            <a:stretch>
              <a:fillRect/>
            </a:stretch>
          </p:blipFill>
          <p:spPr>
            <a:xfrm>
              <a:off x="5068404" y="2425306"/>
              <a:ext cx="200182" cy="368414"/>
            </a:xfrm>
            <a:prstGeom prst="rect">
              <a:avLst/>
            </a:prstGeom>
          </p:spPr>
        </p:pic>
      </p:grpSp>
      <p:grpSp>
        <p:nvGrpSpPr>
          <p:cNvPr id="47" name="object 47"/>
          <p:cNvGrpSpPr/>
          <p:nvPr/>
        </p:nvGrpSpPr>
        <p:grpSpPr>
          <a:xfrm>
            <a:off x="6150965" y="2425306"/>
            <a:ext cx="3248025" cy="368935"/>
            <a:chOff x="6150965" y="2425306"/>
            <a:chExt cx="3248025" cy="368935"/>
          </a:xfrm>
        </p:grpSpPr>
        <p:pic>
          <p:nvPicPr>
            <p:cNvPr id="48" name="object 48"/>
            <p:cNvPicPr/>
            <p:nvPr/>
          </p:nvPicPr>
          <p:blipFill>
            <a:blip r:embed="rId8" cstate="print"/>
            <a:stretch>
              <a:fillRect/>
            </a:stretch>
          </p:blipFill>
          <p:spPr>
            <a:xfrm>
              <a:off x="6150965" y="2425306"/>
              <a:ext cx="200182" cy="368414"/>
            </a:xfrm>
            <a:prstGeom prst="rect">
              <a:avLst/>
            </a:prstGeom>
          </p:spPr>
        </p:pic>
        <p:pic>
          <p:nvPicPr>
            <p:cNvPr id="49" name="object 49"/>
            <p:cNvPicPr/>
            <p:nvPr/>
          </p:nvPicPr>
          <p:blipFill>
            <a:blip r:embed="rId9" cstate="print"/>
            <a:stretch>
              <a:fillRect/>
            </a:stretch>
          </p:blipFill>
          <p:spPr>
            <a:xfrm>
              <a:off x="7133450" y="2425306"/>
              <a:ext cx="200182" cy="368414"/>
            </a:xfrm>
            <a:prstGeom prst="rect">
              <a:avLst/>
            </a:prstGeom>
          </p:spPr>
        </p:pic>
        <p:pic>
          <p:nvPicPr>
            <p:cNvPr id="50" name="object 50"/>
            <p:cNvPicPr/>
            <p:nvPr/>
          </p:nvPicPr>
          <p:blipFill>
            <a:blip r:embed="rId7" cstate="print"/>
            <a:stretch>
              <a:fillRect/>
            </a:stretch>
          </p:blipFill>
          <p:spPr>
            <a:xfrm>
              <a:off x="8216011" y="2425306"/>
              <a:ext cx="200182" cy="368414"/>
            </a:xfrm>
            <a:prstGeom prst="rect">
              <a:avLst/>
            </a:prstGeom>
          </p:spPr>
        </p:pic>
        <p:pic>
          <p:nvPicPr>
            <p:cNvPr id="51" name="object 51"/>
            <p:cNvPicPr/>
            <p:nvPr/>
          </p:nvPicPr>
          <p:blipFill>
            <a:blip r:embed="rId7" cstate="print"/>
            <a:stretch>
              <a:fillRect/>
            </a:stretch>
          </p:blipFill>
          <p:spPr>
            <a:xfrm>
              <a:off x="9198483" y="2425306"/>
              <a:ext cx="200182" cy="368414"/>
            </a:xfrm>
            <a:prstGeom prst="rect">
              <a:avLst/>
            </a:prstGeom>
          </p:spPr>
        </p:pic>
      </p:grpSp>
      <p:sp>
        <p:nvSpPr>
          <p:cNvPr id="54" name="TextBox 53">
            <a:extLst>
              <a:ext uri="{FF2B5EF4-FFF2-40B4-BE49-F238E27FC236}">
                <a16:creationId xmlns:a16="http://schemas.microsoft.com/office/drawing/2014/main" id="{7A694EAF-8E8F-981D-24C1-D9EFC94FD710}"/>
              </a:ext>
            </a:extLst>
          </p:cNvPr>
          <p:cNvSpPr txBox="1"/>
          <p:nvPr/>
        </p:nvSpPr>
        <p:spPr>
          <a:xfrm>
            <a:off x="2784094" y="6794088"/>
            <a:ext cx="6414389" cy="369332"/>
          </a:xfrm>
          <a:prstGeom prst="rect">
            <a:avLst/>
          </a:prstGeom>
          <a:noFill/>
        </p:spPr>
        <p:txBody>
          <a:bodyPr wrap="square">
            <a:spAutoFit/>
          </a:bodyPr>
          <a:lstStyle/>
          <a:p>
            <a:r>
              <a:rPr lang="en-US" sz="1800" b="0" i="0" u="none" strike="noStrike" baseline="0" dirty="0">
                <a:latin typeface="Times-Roman"/>
              </a:rPr>
              <a:t>Fig :(a) Virtual communication. (b) Actual communication.</a:t>
            </a:r>
            <a:endParaRPr lang="en-US" dirty="0"/>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normAutofit/>
          </a:bodyPr>
          <a:lstStyle/>
          <a:p>
            <a:r>
              <a:rPr lang="en-US" sz="4400" dirty="0"/>
              <a:t>Data Link Layer</a:t>
            </a:r>
          </a:p>
        </p:txBody>
      </p:sp>
      <p:sp>
        <p:nvSpPr>
          <p:cNvPr id="9" name="object 9"/>
          <p:cNvSpPr txBox="1">
            <a:spLocks noGrp="1"/>
          </p:cNvSpPr>
          <p:nvPr>
            <p:ph idx="1"/>
          </p:nvPr>
        </p:nvSpPr>
        <p:spPr>
          <a:xfrm>
            <a:off x="691515" y="2069042"/>
            <a:ext cx="8985885" cy="4484158"/>
          </a:xfrm>
        </p:spPr>
        <p:txBody>
          <a:bodyPr>
            <a:normAutofit/>
          </a:bodyPr>
          <a:lstStyle/>
          <a:p>
            <a:pPr marL="0" indent="0">
              <a:buNone/>
            </a:pPr>
            <a:r>
              <a:rPr lang="en-US" sz="3600" dirty="0"/>
              <a:t>Reliable bitstream between adjacent computers</a:t>
            </a:r>
          </a:p>
          <a:p>
            <a:pPr lvl="1"/>
            <a:r>
              <a:rPr lang="en-US" sz="3200" dirty="0">
                <a:highlight>
                  <a:srgbClr val="FFFF00"/>
                </a:highlight>
              </a:rPr>
              <a:t>Design Issues</a:t>
            </a:r>
          </a:p>
          <a:p>
            <a:pPr lvl="1"/>
            <a:r>
              <a:rPr lang="en-US" sz="3200" dirty="0"/>
              <a:t>Error Detection and Correction  </a:t>
            </a:r>
          </a:p>
          <a:p>
            <a:pPr lvl="1"/>
            <a:r>
              <a:rPr lang="en-US" sz="3200" dirty="0"/>
              <a:t>Elementary Protocols</a:t>
            </a:r>
          </a:p>
          <a:p>
            <a:pPr lvl="1"/>
            <a:r>
              <a:rPr lang="en-US" sz="3200" dirty="0"/>
              <a:t>Sliding Window Protocols  Protocol Verification</a:t>
            </a:r>
          </a:p>
          <a:p>
            <a:pPr lvl="1"/>
            <a:r>
              <a:rPr lang="en-US" sz="3200" dirty="0"/>
              <a:t>Example Data Link Protocols</a:t>
            </a:r>
          </a:p>
        </p:txBody>
      </p:sp>
      <p:sp>
        <p:nvSpPr>
          <p:cNvPr id="10" name="object 10"/>
          <p:cNvSpPr txBox="1">
            <a:spLocks noGrp="1"/>
          </p:cNvSpPr>
          <p:nvPr>
            <p:ph type="sldNum" sz="quarter" idx="12"/>
          </p:nvPr>
        </p:nvSpPr>
        <p:spPr/>
        <p:txBody>
          <a:bodyPr/>
          <a:lstStyle/>
          <a:p>
            <a:r>
              <a:rPr lang="en-US" dirty="0"/>
              <a:t>Chapter 3 – p.</a:t>
            </a:r>
            <a:fld id="{81D60167-4931-47E6-BA6A-407CBD079E47}" type="slidenum">
              <a:rPr dirty="0"/>
              <a:pPr/>
              <a:t>4</a:t>
            </a:fld>
            <a:r>
              <a:rPr dirty="0"/>
              <a:t>/69</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3A1A-19F3-5F62-A656-4DF582FE70C4}"/>
              </a:ext>
            </a:extLst>
          </p:cNvPr>
          <p:cNvSpPr>
            <a:spLocks noGrp="1"/>
          </p:cNvSpPr>
          <p:nvPr>
            <p:ph type="title"/>
          </p:nvPr>
        </p:nvSpPr>
        <p:spPr/>
        <p:txBody>
          <a:bodyPr>
            <a:normAutofit/>
          </a:bodyPr>
          <a:lstStyle/>
          <a:p>
            <a:r>
              <a:rPr lang="en-US" sz="4400" spc="-5" dirty="0"/>
              <a:t>Design</a:t>
            </a:r>
            <a:r>
              <a:rPr lang="en-US" sz="4400" spc="-65" dirty="0"/>
              <a:t> </a:t>
            </a:r>
            <a:r>
              <a:rPr lang="en-US" sz="4400" spc="-10" dirty="0"/>
              <a:t>Issues</a:t>
            </a:r>
            <a:endParaRPr lang="en-US" sz="4400" dirty="0"/>
          </a:p>
        </p:txBody>
      </p:sp>
      <p:sp>
        <p:nvSpPr>
          <p:cNvPr id="3" name="Content Placeholder 2">
            <a:extLst>
              <a:ext uri="{FF2B5EF4-FFF2-40B4-BE49-F238E27FC236}">
                <a16:creationId xmlns:a16="http://schemas.microsoft.com/office/drawing/2014/main" id="{AF23FA1D-40AA-C3CF-EFBC-E43E3C569767}"/>
              </a:ext>
            </a:extLst>
          </p:cNvPr>
          <p:cNvSpPr>
            <a:spLocks noGrp="1"/>
          </p:cNvSpPr>
          <p:nvPr>
            <p:ph idx="1"/>
          </p:nvPr>
        </p:nvSpPr>
        <p:spPr/>
        <p:txBody>
          <a:bodyPr/>
          <a:lstStyle/>
          <a:p>
            <a:r>
              <a:rPr lang="en-US" sz="3600" dirty="0"/>
              <a:t>Providing a well-defined service interface to the network layer. </a:t>
            </a:r>
          </a:p>
          <a:p>
            <a:r>
              <a:rPr lang="en-US" sz="3600" dirty="0"/>
              <a:t>Dealing with transmission errors. </a:t>
            </a:r>
          </a:p>
          <a:p>
            <a:r>
              <a:rPr lang="en-US" sz="3600" dirty="0"/>
              <a:t>Regulates flow of data so slow receivers are not swamped by fast senders. </a:t>
            </a:r>
          </a:p>
          <a:p>
            <a:pPr marL="0" indent="0">
              <a:buNone/>
            </a:pPr>
            <a:endParaRPr lang="en-US" dirty="0"/>
          </a:p>
        </p:txBody>
      </p:sp>
    </p:spTree>
    <p:extLst>
      <p:ext uri="{BB962C8B-B14F-4D97-AF65-F5344CB8AC3E}">
        <p14:creationId xmlns:p14="http://schemas.microsoft.com/office/powerpoint/2010/main" val="333057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38729"/>
            <a:ext cx="3819525" cy="613410"/>
          </a:xfrm>
          <a:prstGeom prst="rect">
            <a:avLst/>
          </a:prstGeom>
        </p:spPr>
        <p:txBody>
          <a:bodyPr vert="horz" wrap="square" lIns="0" tIns="13335" rIns="0" bIns="0" rtlCol="0">
            <a:spAutoFit/>
          </a:bodyPr>
          <a:lstStyle/>
          <a:p>
            <a:pPr marL="12700">
              <a:lnSpc>
                <a:spcPct val="100000"/>
              </a:lnSpc>
              <a:spcBef>
                <a:spcPts val="105"/>
              </a:spcBef>
            </a:pPr>
            <a:r>
              <a:rPr spc="-5" dirty="0"/>
              <a:t>Kinds</a:t>
            </a:r>
            <a:r>
              <a:rPr spc="-40" dirty="0"/>
              <a:t> </a:t>
            </a:r>
            <a:r>
              <a:rPr dirty="0"/>
              <a:t>of</a:t>
            </a:r>
            <a:r>
              <a:rPr spc="-55" dirty="0"/>
              <a:t> </a:t>
            </a:r>
            <a:r>
              <a:rPr spc="15" dirty="0"/>
              <a:t>Services</a:t>
            </a:r>
          </a:p>
        </p:txBody>
      </p:sp>
      <p:sp>
        <p:nvSpPr>
          <p:cNvPr id="15" name="object 15"/>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6</a:t>
            </a:fld>
            <a:r>
              <a:rPr spc="10" dirty="0"/>
              <a:t>/69</a:t>
            </a:r>
          </a:p>
        </p:txBody>
      </p:sp>
      <p:sp>
        <p:nvSpPr>
          <p:cNvPr id="3" name="object 3"/>
          <p:cNvSpPr/>
          <p:nvPr/>
        </p:nvSpPr>
        <p:spPr>
          <a:xfrm>
            <a:off x="1616049" y="208545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4" name="object 4"/>
          <p:cNvSpPr/>
          <p:nvPr/>
        </p:nvSpPr>
        <p:spPr>
          <a:xfrm>
            <a:off x="1955901" y="252589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5" name="object 5"/>
          <p:cNvSpPr/>
          <p:nvPr/>
        </p:nvSpPr>
        <p:spPr>
          <a:xfrm>
            <a:off x="1955901" y="296785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6" name="object 6"/>
          <p:cNvSpPr/>
          <p:nvPr/>
        </p:nvSpPr>
        <p:spPr>
          <a:xfrm>
            <a:off x="1955901" y="340828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7" name="object 7"/>
          <p:cNvSpPr/>
          <p:nvPr/>
        </p:nvSpPr>
        <p:spPr>
          <a:xfrm>
            <a:off x="1616049" y="384262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8" name="object 8"/>
          <p:cNvSpPr/>
          <p:nvPr/>
        </p:nvSpPr>
        <p:spPr>
          <a:xfrm>
            <a:off x="1955901" y="4283062"/>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9" name="object 9"/>
          <p:cNvSpPr/>
          <p:nvPr/>
        </p:nvSpPr>
        <p:spPr>
          <a:xfrm>
            <a:off x="1955901" y="4725022"/>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0" name="object 10"/>
          <p:cNvSpPr/>
          <p:nvPr/>
        </p:nvSpPr>
        <p:spPr>
          <a:xfrm>
            <a:off x="1955901" y="5165458"/>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1" name="object 11"/>
          <p:cNvSpPr/>
          <p:nvPr/>
        </p:nvSpPr>
        <p:spPr>
          <a:xfrm>
            <a:off x="1616049" y="5599798"/>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12" name="object 12"/>
          <p:cNvSpPr/>
          <p:nvPr/>
        </p:nvSpPr>
        <p:spPr>
          <a:xfrm>
            <a:off x="1955901" y="604023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3" name="object 13"/>
          <p:cNvSpPr/>
          <p:nvPr/>
        </p:nvSpPr>
        <p:spPr>
          <a:xfrm>
            <a:off x="1955901" y="648219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4" name="object 14"/>
          <p:cNvSpPr txBox="1"/>
          <p:nvPr/>
        </p:nvSpPr>
        <p:spPr>
          <a:xfrm>
            <a:off x="1970023" y="1802012"/>
            <a:ext cx="6772909" cy="4926330"/>
          </a:xfrm>
          <a:prstGeom prst="rect">
            <a:avLst/>
          </a:prstGeom>
        </p:spPr>
        <p:txBody>
          <a:bodyPr vert="horz" wrap="square" lIns="0" tIns="122555" rIns="0" bIns="0" rtlCol="0">
            <a:spAutoFit/>
          </a:bodyPr>
          <a:lstStyle/>
          <a:p>
            <a:pPr marL="12700">
              <a:lnSpc>
                <a:spcPct val="100000"/>
              </a:lnSpc>
              <a:spcBef>
                <a:spcPts val="965"/>
              </a:spcBef>
            </a:pPr>
            <a:r>
              <a:rPr sz="2650" spc="5" dirty="0">
                <a:solidFill>
                  <a:srgbClr val="9B0707"/>
                </a:solidFill>
                <a:latin typeface="Arial MT"/>
                <a:cs typeface="Arial MT"/>
              </a:rPr>
              <a:t>Unacknowledged</a:t>
            </a:r>
            <a:r>
              <a:rPr sz="2650" spc="-30" dirty="0">
                <a:solidFill>
                  <a:srgbClr val="9B0707"/>
                </a:solidFill>
                <a:latin typeface="Arial MT"/>
                <a:cs typeface="Arial MT"/>
              </a:rPr>
              <a:t> </a:t>
            </a:r>
            <a:r>
              <a:rPr sz="2650" spc="10" dirty="0">
                <a:solidFill>
                  <a:srgbClr val="9B0707"/>
                </a:solidFill>
                <a:latin typeface="Arial MT"/>
                <a:cs typeface="Arial MT"/>
              </a:rPr>
              <a:t>connectionless</a:t>
            </a:r>
            <a:r>
              <a:rPr sz="2650" spc="-65" dirty="0">
                <a:solidFill>
                  <a:srgbClr val="9B0707"/>
                </a:solidFill>
                <a:latin typeface="Arial MT"/>
                <a:cs typeface="Arial MT"/>
              </a:rPr>
              <a:t> </a:t>
            </a:r>
            <a:r>
              <a:rPr sz="2650" spc="20" dirty="0">
                <a:solidFill>
                  <a:srgbClr val="9B0707"/>
                </a:solidFill>
                <a:latin typeface="Arial MT"/>
                <a:cs typeface="Arial MT"/>
              </a:rPr>
              <a:t>service</a:t>
            </a:r>
            <a:endParaRPr sz="2650" dirty="0">
              <a:latin typeface="Arial MT"/>
              <a:cs typeface="Arial MT"/>
            </a:endParaRPr>
          </a:p>
          <a:p>
            <a:pPr marL="352425" marR="1586865">
              <a:lnSpc>
                <a:spcPts val="3479"/>
              </a:lnSpc>
              <a:spcBef>
                <a:spcPts val="155"/>
              </a:spcBef>
            </a:pPr>
            <a:r>
              <a:rPr sz="2200" spc="10" dirty="0">
                <a:solidFill>
                  <a:srgbClr val="006699"/>
                </a:solidFill>
                <a:latin typeface="Arial MT"/>
                <a:cs typeface="Arial MT"/>
              </a:rPr>
              <a:t>no</a:t>
            </a:r>
            <a:r>
              <a:rPr sz="2200" dirty="0">
                <a:solidFill>
                  <a:srgbClr val="006699"/>
                </a:solidFill>
                <a:latin typeface="Arial MT"/>
                <a:cs typeface="Arial MT"/>
              </a:rPr>
              <a:t> </a:t>
            </a:r>
            <a:r>
              <a:rPr sz="2200" spc="5" dirty="0">
                <a:solidFill>
                  <a:srgbClr val="006699"/>
                </a:solidFill>
                <a:latin typeface="Arial MT"/>
                <a:cs typeface="Arial MT"/>
              </a:rPr>
              <a:t>error</a:t>
            </a:r>
            <a:r>
              <a:rPr sz="2200" spc="30" dirty="0">
                <a:solidFill>
                  <a:srgbClr val="006699"/>
                </a:solidFill>
                <a:latin typeface="Arial MT"/>
                <a:cs typeface="Arial MT"/>
              </a:rPr>
              <a:t> </a:t>
            </a:r>
            <a:r>
              <a:rPr sz="2200" spc="5" dirty="0">
                <a:solidFill>
                  <a:srgbClr val="006699"/>
                </a:solidFill>
                <a:latin typeface="Arial MT"/>
                <a:cs typeface="Arial MT"/>
              </a:rPr>
              <a:t>detection</a:t>
            </a:r>
            <a:r>
              <a:rPr sz="2200" spc="45" dirty="0">
                <a:solidFill>
                  <a:srgbClr val="006699"/>
                </a:solidFill>
                <a:latin typeface="Arial MT"/>
                <a:cs typeface="Arial MT"/>
              </a:rPr>
              <a:t> </a:t>
            </a:r>
            <a:r>
              <a:rPr sz="2200" spc="5" dirty="0">
                <a:solidFill>
                  <a:srgbClr val="006699"/>
                </a:solidFill>
                <a:latin typeface="Arial MT"/>
                <a:cs typeface="Arial MT"/>
              </a:rPr>
              <a:t>or recovery </a:t>
            </a:r>
            <a:r>
              <a:rPr sz="2200" spc="10" dirty="0">
                <a:solidFill>
                  <a:srgbClr val="006699"/>
                </a:solidFill>
                <a:latin typeface="Arial MT"/>
                <a:cs typeface="Arial MT"/>
              </a:rPr>
              <a:t> appropriate</a:t>
            </a:r>
            <a:r>
              <a:rPr sz="2200" spc="25" dirty="0">
                <a:solidFill>
                  <a:srgbClr val="006699"/>
                </a:solidFill>
                <a:latin typeface="Arial MT"/>
                <a:cs typeface="Arial MT"/>
              </a:rPr>
              <a:t> </a:t>
            </a:r>
            <a:r>
              <a:rPr sz="2200" spc="15" dirty="0">
                <a:solidFill>
                  <a:srgbClr val="006699"/>
                </a:solidFill>
                <a:latin typeface="Arial MT"/>
                <a:cs typeface="Arial MT"/>
              </a:rPr>
              <a:t>when</a:t>
            </a:r>
            <a:r>
              <a:rPr sz="2200" spc="5" dirty="0">
                <a:solidFill>
                  <a:srgbClr val="006699"/>
                </a:solidFill>
                <a:latin typeface="Arial MT"/>
                <a:cs typeface="Arial MT"/>
              </a:rPr>
              <a:t> error</a:t>
            </a:r>
            <a:r>
              <a:rPr sz="2200" spc="20" dirty="0">
                <a:solidFill>
                  <a:srgbClr val="006699"/>
                </a:solidFill>
                <a:latin typeface="Arial MT"/>
                <a:cs typeface="Arial MT"/>
              </a:rPr>
              <a:t> </a:t>
            </a:r>
            <a:r>
              <a:rPr sz="2200" dirty="0">
                <a:solidFill>
                  <a:srgbClr val="006699"/>
                </a:solidFill>
                <a:latin typeface="Arial MT"/>
                <a:cs typeface="Arial MT"/>
              </a:rPr>
              <a:t>rate</a:t>
            </a:r>
            <a:r>
              <a:rPr sz="2200" spc="20" dirty="0">
                <a:solidFill>
                  <a:srgbClr val="006699"/>
                </a:solidFill>
                <a:latin typeface="Arial MT"/>
                <a:cs typeface="Arial MT"/>
              </a:rPr>
              <a:t> </a:t>
            </a:r>
            <a:r>
              <a:rPr sz="2200" spc="5" dirty="0">
                <a:solidFill>
                  <a:srgbClr val="006699"/>
                </a:solidFill>
                <a:latin typeface="Arial MT"/>
                <a:cs typeface="Arial MT"/>
              </a:rPr>
              <a:t>is</a:t>
            </a:r>
            <a:r>
              <a:rPr sz="2200" spc="-5" dirty="0">
                <a:solidFill>
                  <a:srgbClr val="006699"/>
                </a:solidFill>
                <a:latin typeface="Arial MT"/>
                <a:cs typeface="Arial MT"/>
              </a:rPr>
              <a:t> </a:t>
            </a:r>
            <a:r>
              <a:rPr sz="2200" spc="10" dirty="0">
                <a:solidFill>
                  <a:srgbClr val="006699"/>
                </a:solidFill>
                <a:latin typeface="Arial MT"/>
                <a:cs typeface="Arial MT"/>
              </a:rPr>
              <a:t>very</a:t>
            </a:r>
            <a:r>
              <a:rPr sz="2200" spc="5" dirty="0">
                <a:solidFill>
                  <a:srgbClr val="006699"/>
                </a:solidFill>
                <a:latin typeface="Arial MT"/>
                <a:cs typeface="Arial MT"/>
              </a:rPr>
              <a:t> </a:t>
            </a:r>
            <a:r>
              <a:rPr sz="2200" spc="-5" dirty="0">
                <a:solidFill>
                  <a:srgbClr val="006699"/>
                </a:solidFill>
                <a:latin typeface="Arial MT"/>
                <a:cs typeface="Arial MT"/>
              </a:rPr>
              <a:t>low</a:t>
            </a:r>
            <a:endParaRPr sz="2200" dirty="0">
              <a:latin typeface="Arial MT"/>
              <a:cs typeface="Arial MT"/>
            </a:endParaRPr>
          </a:p>
          <a:p>
            <a:pPr marL="352425">
              <a:lnSpc>
                <a:spcPct val="100000"/>
              </a:lnSpc>
              <a:spcBef>
                <a:spcPts val="575"/>
              </a:spcBef>
            </a:pPr>
            <a:r>
              <a:rPr sz="2200" spc="10" dirty="0">
                <a:solidFill>
                  <a:srgbClr val="006699"/>
                </a:solidFill>
                <a:latin typeface="Arial MT"/>
                <a:cs typeface="Arial MT"/>
              </a:rPr>
              <a:t>real-time</a:t>
            </a:r>
            <a:r>
              <a:rPr sz="2200" spc="-5" dirty="0">
                <a:solidFill>
                  <a:srgbClr val="006699"/>
                </a:solidFill>
                <a:latin typeface="Arial MT"/>
                <a:cs typeface="Arial MT"/>
              </a:rPr>
              <a:t> </a:t>
            </a:r>
            <a:r>
              <a:rPr sz="2200" spc="15" dirty="0">
                <a:solidFill>
                  <a:srgbClr val="006699"/>
                </a:solidFill>
                <a:latin typeface="Arial MT"/>
                <a:cs typeface="Arial MT"/>
              </a:rPr>
              <a:t>–</a:t>
            </a:r>
            <a:r>
              <a:rPr sz="2200" spc="5" dirty="0">
                <a:solidFill>
                  <a:srgbClr val="006699"/>
                </a:solidFill>
                <a:latin typeface="Arial MT"/>
                <a:cs typeface="Arial MT"/>
              </a:rPr>
              <a:t> late</a:t>
            </a:r>
            <a:r>
              <a:rPr sz="2200" spc="10" dirty="0">
                <a:solidFill>
                  <a:srgbClr val="006699"/>
                </a:solidFill>
                <a:latin typeface="Arial MT"/>
                <a:cs typeface="Arial MT"/>
              </a:rPr>
              <a:t> </a:t>
            </a:r>
            <a:r>
              <a:rPr sz="2200" spc="5" dirty="0">
                <a:solidFill>
                  <a:srgbClr val="006699"/>
                </a:solidFill>
                <a:latin typeface="Arial MT"/>
                <a:cs typeface="Arial MT"/>
              </a:rPr>
              <a:t>data</a:t>
            </a:r>
            <a:r>
              <a:rPr sz="2200" spc="25" dirty="0">
                <a:solidFill>
                  <a:srgbClr val="006699"/>
                </a:solidFill>
                <a:latin typeface="Arial MT"/>
                <a:cs typeface="Arial MT"/>
              </a:rPr>
              <a:t> </a:t>
            </a:r>
            <a:r>
              <a:rPr sz="2200" spc="5" dirty="0">
                <a:solidFill>
                  <a:srgbClr val="006699"/>
                </a:solidFill>
                <a:latin typeface="Arial MT"/>
                <a:cs typeface="Arial MT"/>
              </a:rPr>
              <a:t>are</a:t>
            </a:r>
            <a:r>
              <a:rPr sz="2200" spc="10" dirty="0">
                <a:solidFill>
                  <a:srgbClr val="006699"/>
                </a:solidFill>
                <a:latin typeface="Arial MT"/>
                <a:cs typeface="Arial MT"/>
              </a:rPr>
              <a:t> </a:t>
            </a:r>
            <a:r>
              <a:rPr sz="2200" dirty="0">
                <a:solidFill>
                  <a:srgbClr val="006699"/>
                </a:solidFill>
                <a:latin typeface="Arial MT"/>
                <a:cs typeface="Arial MT"/>
              </a:rPr>
              <a:t>worse</a:t>
            </a:r>
            <a:r>
              <a:rPr sz="2200" spc="30" dirty="0">
                <a:solidFill>
                  <a:srgbClr val="006699"/>
                </a:solidFill>
                <a:latin typeface="Arial MT"/>
                <a:cs typeface="Arial MT"/>
              </a:rPr>
              <a:t> </a:t>
            </a:r>
            <a:r>
              <a:rPr sz="2200" spc="15" dirty="0">
                <a:solidFill>
                  <a:srgbClr val="006699"/>
                </a:solidFill>
                <a:latin typeface="Arial MT"/>
                <a:cs typeface="Arial MT"/>
              </a:rPr>
              <a:t>than</a:t>
            </a:r>
            <a:r>
              <a:rPr sz="2200" spc="-5" dirty="0">
                <a:solidFill>
                  <a:srgbClr val="006699"/>
                </a:solidFill>
                <a:latin typeface="Arial MT"/>
                <a:cs typeface="Arial MT"/>
              </a:rPr>
              <a:t> </a:t>
            </a:r>
            <a:r>
              <a:rPr sz="2200" spc="10" dirty="0">
                <a:solidFill>
                  <a:srgbClr val="006699"/>
                </a:solidFill>
                <a:latin typeface="Arial MT"/>
                <a:cs typeface="Arial MT"/>
              </a:rPr>
              <a:t>bad</a:t>
            </a:r>
            <a:r>
              <a:rPr sz="2200" spc="5" dirty="0">
                <a:solidFill>
                  <a:srgbClr val="006699"/>
                </a:solidFill>
                <a:latin typeface="Arial MT"/>
                <a:cs typeface="Arial MT"/>
              </a:rPr>
              <a:t> data</a:t>
            </a:r>
            <a:endParaRPr sz="2200" dirty="0">
              <a:latin typeface="Arial MT"/>
              <a:cs typeface="Arial MT"/>
            </a:endParaRPr>
          </a:p>
          <a:p>
            <a:pPr marL="12700">
              <a:lnSpc>
                <a:spcPct val="100000"/>
              </a:lnSpc>
              <a:spcBef>
                <a:spcPts val="330"/>
              </a:spcBef>
            </a:pPr>
            <a:r>
              <a:rPr sz="2650" dirty="0">
                <a:solidFill>
                  <a:srgbClr val="9B0707"/>
                </a:solidFill>
                <a:latin typeface="Arial MT"/>
                <a:cs typeface="Arial MT"/>
              </a:rPr>
              <a:t>Acknowledged</a:t>
            </a:r>
            <a:r>
              <a:rPr sz="2650" spc="-10" dirty="0">
                <a:solidFill>
                  <a:srgbClr val="9B0707"/>
                </a:solidFill>
                <a:latin typeface="Arial MT"/>
                <a:cs typeface="Arial MT"/>
              </a:rPr>
              <a:t> </a:t>
            </a:r>
            <a:r>
              <a:rPr sz="2650" spc="10" dirty="0">
                <a:solidFill>
                  <a:srgbClr val="9B0707"/>
                </a:solidFill>
                <a:latin typeface="Arial MT"/>
                <a:cs typeface="Arial MT"/>
              </a:rPr>
              <a:t>connectionless</a:t>
            </a:r>
            <a:r>
              <a:rPr sz="2650" spc="-50" dirty="0">
                <a:solidFill>
                  <a:srgbClr val="9B0707"/>
                </a:solidFill>
                <a:latin typeface="Arial MT"/>
                <a:cs typeface="Arial MT"/>
              </a:rPr>
              <a:t> </a:t>
            </a:r>
            <a:r>
              <a:rPr sz="2650" spc="20" dirty="0">
                <a:solidFill>
                  <a:srgbClr val="9B0707"/>
                </a:solidFill>
                <a:latin typeface="Arial MT"/>
                <a:cs typeface="Arial MT"/>
              </a:rPr>
              <a:t>service</a:t>
            </a:r>
            <a:endParaRPr sz="2650" dirty="0">
              <a:latin typeface="Arial MT"/>
              <a:cs typeface="Arial MT"/>
            </a:endParaRPr>
          </a:p>
          <a:p>
            <a:pPr marL="352425">
              <a:lnSpc>
                <a:spcPct val="100000"/>
              </a:lnSpc>
              <a:spcBef>
                <a:spcPts val="735"/>
              </a:spcBef>
            </a:pPr>
            <a:r>
              <a:rPr sz="2200" spc="5" dirty="0">
                <a:solidFill>
                  <a:srgbClr val="006699"/>
                </a:solidFill>
                <a:latin typeface="Arial MT"/>
                <a:cs typeface="Arial MT"/>
              </a:rPr>
              <a:t>each</a:t>
            </a:r>
            <a:r>
              <a:rPr sz="2200" spc="20" dirty="0">
                <a:solidFill>
                  <a:srgbClr val="006699"/>
                </a:solidFill>
                <a:latin typeface="Arial MT"/>
                <a:cs typeface="Arial MT"/>
              </a:rPr>
              <a:t> </a:t>
            </a:r>
            <a:r>
              <a:rPr sz="2200" spc="-10" dirty="0">
                <a:solidFill>
                  <a:srgbClr val="006699"/>
                </a:solidFill>
                <a:latin typeface="Arial MT"/>
                <a:cs typeface="Arial MT"/>
              </a:rPr>
              <a:t>packet</a:t>
            </a:r>
            <a:r>
              <a:rPr sz="2200" spc="25" dirty="0">
                <a:solidFill>
                  <a:srgbClr val="006699"/>
                </a:solidFill>
                <a:latin typeface="Arial MT"/>
                <a:cs typeface="Arial MT"/>
              </a:rPr>
              <a:t> </a:t>
            </a:r>
            <a:r>
              <a:rPr sz="2200" spc="5" dirty="0">
                <a:solidFill>
                  <a:srgbClr val="006699"/>
                </a:solidFill>
                <a:latin typeface="Arial MT"/>
                <a:cs typeface="Arial MT"/>
              </a:rPr>
              <a:t>is</a:t>
            </a:r>
            <a:r>
              <a:rPr sz="2200" spc="10" dirty="0">
                <a:solidFill>
                  <a:srgbClr val="006699"/>
                </a:solidFill>
                <a:latin typeface="Arial MT"/>
                <a:cs typeface="Arial MT"/>
              </a:rPr>
              <a:t> </a:t>
            </a:r>
            <a:r>
              <a:rPr sz="2200" dirty="0">
                <a:solidFill>
                  <a:srgbClr val="006699"/>
                </a:solidFill>
                <a:latin typeface="Arial MT"/>
                <a:cs typeface="Arial MT"/>
              </a:rPr>
              <a:t>acknowledged</a:t>
            </a:r>
            <a:endParaRPr sz="2200" dirty="0">
              <a:latin typeface="Arial MT"/>
              <a:cs typeface="Arial MT"/>
            </a:endParaRPr>
          </a:p>
          <a:p>
            <a:pPr marL="352425" marR="1721485">
              <a:lnSpc>
                <a:spcPct val="131400"/>
              </a:lnSpc>
              <a:spcBef>
                <a:spcPts val="10"/>
              </a:spcBef>
            </a:pPr>
            <a:r>
              <a:rPr sz="2200" spc="5" dirty="0">
                <a:solidFill>
                  <a:srgbClr val="006699"/>
                </a:solidFill>
                <a:latin typeface="Arial MT"/>
                <a:cs typeface="Arial MT"/>
              </a:rPr>
              <a:t>retransmit</a:t>
            </a:r>
            <a:r>
              <a:rPr sz="2200" spc="25" dirty="0">
                <a:solidFill>
                  <a:srgbClr val="006699"/>
                </a:solidFill>
                <a:latin typeface="Arial MT"/>
                <a:cs typeface="Arial MT"/>
              </a:rPr>
              <a:t> </a:t>
            </a:r>
            <a:r>
              <a:rPr sz="2200" dirty="0">
                <a:solidFill>
                  <a:srgbClr val="006699"/>
                </a:solidFill>
                <a:latin typeface="Arial MT"/>
                <a:cs typeface="Arial MT"/>
              </a:rPr>
              <a:t>after</a:t>
            </a:r>
            <a:r>
              <a:rPr sz="2200" spc="30" dirty="0">
                <a:solidFill>
                  <a:srgbClr val="006699"/>
                </a:solidFill>
                <a:latin typeface="Arial MT"/>
                <a:cs typeface="Arial MT"/>
              </a:rPr>
              <a:t> </a:t>
            </a:r>
            <a:r>
              <a:rPr sz="2200" spc="10" dirty="0">
                <a:solidFill>
                  <a:srgbClr val="006699"/>
                </a:solidFill>
                <a:latin typeface="Arial MT"/>
                <a:cs typeface="Arial MT"/>
              </a:rPr>
              <a:t>timeout</a:t>
            </a:r>
            <a:r>
              <a:rPr sz="2200" spc="-15" dirty="0">
                <a:solidFill>
                  <a:srgbClr val="006699"/>
                </a:solidFill>
                <a:latin typeface="Arial MT"/>
                <a:cs typeface="Arial MT"/>
              </a:rPr>
              <a:t> </a:t>
            </a:r>
            <a:r>
              <a:rPr sz="2200" dirty="0">
                <a:solidFill>
                  <a:srgbClr val="006699"/>
                </a:solidFill>
                <a:latin typeface="Arial MT"/>
                <a:cs typeface="Arial MT"/>
              </a:rPr>
              <a:t>expires </a:t>
            </a:r>
            <a:r>
              <a:rPr sz="2200" spc="5" dirty="0">
                <a:solidFill>
                  <a:srgbClr val="006699"/>
                </a:solidFill>
                <a:latin typeface="Arial MT"/>
                <a:cs typeface="Arial MT"/>
              </a:rPr>
              <a:t> </a:t>
            </a:r>
            <a:r>
              <a:rPr sz="2200" dirty="0">
                <a:solidFill>
                  <a:srgbClr val="006699"/>
                </a:solidFill>
                <a:latin typeface="Arial MT"/>
                <a:cs typeface="Arial MT"/>
              </a:rPr>
              <a:t>optimization</a:t>
            </a:r>
            <a:r>
              <a:rPr sz="2200" spc="65" dirty="0">
                <a:solidFill>
                  <a:srgbClr val="006699"/>
                </a:solidFill>
                <a:latin typeface="Arial MT"/>
                <a:cs typeface="Arial MT"/>
              </a:rPr>
              <a:t> </a:t>
            </a:r>
            <a:r>
              <a:rPr sz="2200" spc="15" dirty="0">
                <a:solidFill>
                  <a:srgbClr val="006699"/>
                </a:solidFill>
                <a:latin typeface="Arial MT"/>
                <a:cs typeface="Arial MT"/>
              </a:rPr>
              <a:t>when</a:t>
            </a:r>
            <a:r>
              <a:rPr sz="2200" spc="10" dirty="0">
                <a:solidFill>
                  <a:srgbClr val="006699"/>
                </a:solidFill>
                <a:latin typeface="Arial MT"/>
                <a:cs typeface="Arial MT"/>
              </a:rPr>
              <a:t> </a:t>
            </a:r>
            <a:r>
              <a:rPr sz="2200" spc="5" dirty="0">
                <a:solidFill>
                  <a:srgbClr val="006699"/>
                </a:solidFill>
                <a:latin typeface="Arial MT"/>
                <a:cs typeface="Arial MT"/>
              </a:rPr>
              <a:t>errors</a:t>
            </a:r>
            <a:r>
              <a:rPr sz="2200" spc="35" dirty="0">
                <a:solidFill>
                  <a:srgbClr val="006699"/>
                </a:solidFill>
                <a:latin typeface="Arial MT"/>
                <a:cs typeface="Arial MT"/>
              </a:rPr>
              <a:t> </a:t>
            </a:r>
            <a:r>
              <a:rPr sz="2200" spc="5" dirty="0">
                <a:solidFill>
                  <a:srgbClr val="006699"/>
                </a:solidFill>
                <a:latin typeface="Arial MT"/>
                <a:cs typeface="Arial MT"/>
              </a:rPr>
              <a:t>are</a:t>
            </a:r>
            <a:r>
              <a:rPr sz="2200" spc="10" dirty="0">
                <a:solidFill>
                  <a:srgbClr val="006699"/>
                </a:solidFill>
                <a:latin typeface="Arial MT"/>
                <a:cs typeface="Arial MT"/>
              </a:rPr>
              <a:t> frequent</a:t>
            </a:r>
            <a:endParaRPr sz="2200" dirty="0">
              <a:latin typeface="Arial MT"/>
              <a:cs typeface="Arial MT"/>
            </a:endParaRPr>
          </a:p>
          <a:p>
            <a:pPr marL="12700">
              <a:lnSpc>
                <a:spcPct val="100000"/>
              </a:lnSpc>
              <a:spcBef>
                <a:spcPts val="330"/>
              </a:spcBef>
            </a:pPr>
            <a:r>
              <a:rPr sz="2650" dirty="0">
                <a:solidFill>
                  <a:srgbClr val="9B0707"/>
                </a:solidFill>
                <a:latin typeface="Arial MT"/>
                <a:cs typeface="Arial MT"/>
              </a:rPr>
              <a:t>Acknowledged</a:t>
            </a:r>
            <a:r>
              <a:rPr sz="2650" spc="-15" dirty="0">
                <a:solidFill>
                  <a:srgbClr val="9B0707"/>
                </a:solidFill>
                <a:latin typeface="Arial MT"/>
                <a:cs typeface="Arial MT"/>
              </a:rPr>
              <a:t> </a:t>
            </a:r>
            <a:r>
              <a:rPr sz="2650" spc="10" dirty="0">
                <a:solidFill>
                  <a:srgbClr val="9B0707"/>
                </a:solidFill>
                <a:latin typeface="Arial MT"/>
                <a:cs typeface="Arial MT"/>
              </a:rPr>
              <a:t>connection-oriented</a:t>
            </a:r>
            <a:r>
              <a:rPr sz="2650" spc="-30" dirty="0">
                <a:solidFill>
                  <a:srgbClr val="9B0707"/>
                </a:solidFill>
                <a:latin typeface="Arial MT"/>
                <a:cs typeface="Arial MT"/>
              </a:rPr>
              <a:t> </a:t>
            </a:r>
            <a:r>
              <a:rPr sz="2650" spc="20" dirty="0">
                <a:solidFill>
                  <a:srgbClr val="9B0707"/>
                </a:solidFill>
                <a:latin typeface="Arial MT"/>
                <a:cs typeface="Arial MT"/>
              </a:rPr>
              <a:t>service</a:t>
            </a:r>
            <a:endParaRPr sz="2650" dirty="0">
              <a:latin typeface="Arial MT"/>
              <a:cs typeface="Arial MT"/>
            </a:endParaRPr>
          </a:p>
          <a:p>
            <a:pPr marL="352425">
              <a:lnSpc>
                <a:spcPct val="100000"/>
              </a:lnSpc>
              <a:spcBef>
                <a:spcPts val="740"/>
              </a:spcBef>
            </a:pPr>
            <a:r>
              <a:rPr sz="2200" spc="5" dirty="0">
                <a:solidFill>
                  <a:srgbClr val="006699"/>
                </a:solidFill>
                <a:latin typeface="Arial MT"/>
                <a:cs typeface="Arial MT"/>
              </a:rPr>
              <a:t>number</a:t>
            </a:r>
            <a:r>
              <a:rPr sz="2200" spc="20" dirty="0">
                <a:solidFill>
                  <a:srgbClr val="006699"/>
                </a:solidFill>
                <a:latin typeface="Arial MT"/>
                <a:cs typeface="Arial MT"/>
              </a:rPr>
              <a:t> </a:t>
            </a:r>
            <a:r>
              <a:rPr sz="2200" spc="5" dirty="0">
                <a:solidFill>
                  <a:srgbClr val="006699"/>
                </a:solidFill>
                <a:latin typeface="Arial MT"/>
                <a:cs typeface="Arial MT"/>
              </a:rPr>
              <a:t>frames</a:t>
            </a:r>
            <a:r>
              <a:rPr sz="2200" spc="10" dirty="0">
                <a:solidFill>
                  <a:srgbClr val="006699"/>
                </a:solidFill>
                <a:latin typeface="Arial MT"/>
                <a:cs typeface="Arial MT"/>
              </a:rPr>
              <a:t> to</a:t>
            </a:r>
            <a:r>
              <a:rPr sz="2200" dirty="0">
                <a:solidFill>
                  <a:srgbClr val="006699"/>
                </a:solidFill>
                <a:latin typeface="Arial MT"/>
                <a:cs typeface="Arial MT"/>
              </a:rPr>
              <a:t> </a:t>
            </a:r>
            <a:r>
              <a:rPr sz="2200" spc="5" dirty="0">
                <a:solidFill>
                  <a:srgbClr val="006699"/>
                </a:solidFill>
                <a:latin typeface="Arial MT"/>
                <a:cs typeface="Arial MT"/>
              </a:rPr>
              <a:t>detect</a:t>
            </a:r>
            <a:r>
              <a:rPr sz="2200" spc="20" dirty="0">
                <a:solidFill>
                  <a:srgbClr val="006699"/>
                </a:solidFill>
                <a:latin typeface="Arial MT"/>
                <a:cs typeface="Arial MT"/>
              </a:rPr>
              <a:t> </a:t>
            </a:r>
            <a:r>
              <a:rPr sz="2200" dirty="0">
                <a:solidFill>
                  <a:srgbClr val="006699"/>
                </a:solidFill>
                <a:latin typeface="Arial MT"/>
                <a:cs typeface="Arial MT"/>
              </a:rPr>
              <a:t>duplicates</a:t>
            </a:r>
            <a:endParaRPr sz="2200" dirty="0">
              <a:latin typeface="Arial MT"/>
              <a:cs typeface="Arial MT"/>
            </a:endParaRPr>
          </a:p>
          <a:p>
            <a:pPr marL="352425">
              <a:lnSpc>
                <a:spcPct val="100000"/>
              </a:lnSpc>
              <a:spcBef>
                <a:spcPts val="840"/>
              </a:spcBef>
            </a:pPr>
            <a:r>
              <a:rPr sz="2200" spc="15" dirty="0">
                <a:solidFill>
                  <a:srgbClr val="006699"/>
                </a:solidFill>
                <a:latin typeface="Arial MT"/>
                <a:cs typeface="Arial MT"/>
              </a:rPr>
              <a:t>connection</a:t>
            </a:r>
            <a:r>
              <a:rPr sz="2200" spc="-10" dirty="0">
                <a:solidFill>
                  <a:srgbClr val="006699"/>
                </a:solidFill>
                <a:latin typeface="Arial MT"/>
                <a:cs typeface="Arial MT"/>
              </a:rPr>
              <a:t> </a:t>
            </a:r>
            <a:r>
              <a:rPr sz="2200" spc="-5" dirty="0">
                <a:solidFill>
                  <a:srgbClr val="006699"/>
                </a:solidFill>
                <a:latin typeface="Arial MT"/>
                <a:cs typeface="Arial MT"/>
              </a:rPr>
              <a:t>setup,</a:t>
            </a:r>
            <a:r>
              <a:rPr sz="2200" spc="25" dirty="0">
                <a:solidFill>
                  <a:srgbClr val="006699"/>
                </a:solidFill>
                <a:latin typeface="Arial MT"/>
                <a:cs typeface="Arial MT"/>
              </a:rPr>
              <a:t> </a:t>
            </a:r>
            <a:r>
              <a:rPr sz="2200" dirty="0">
                <a:solidFill>
                  <a:srgbClr val="006699"/>
                </a:solidFill>
                <a:latin typeface="Arial MT"/>
                <a:cs typeface="Arial MT"/>
              </a:rPr>
              <a:t>transmission,</a:t>
            </a:r>
            <a:r>
              <a:rPr sz="2200" spc="60" dirty="0">
                <a:solidFill>
                  <a:srgbClr val="006699"/>
                </a:solidFill>
                <a:latin typeface="Arial MT"/>
                <a:cs typeface="Arial MT"/>
              </a:rPr>
              <a:t> </a:t>
            </a:r>
            <a:r>
              <a:rPr sz="2200" spc="15" dirty="0">
                <a:solidFill>
                  <a:srgbClr val="006699"/>
                </a:solidFill>
                <a:latin typeface="Arial MT"/>
                <a:cs typeface="Arial MT"/>
              </a:rPr>
              <a:t>connection</a:t>
            </a:r>
            <a:r>
              <a:rPr sz="2200" spc="-10" dirty="0">
                <a:solidFill>
                  <a:srgbClr val="006699"/>
                </a:solidFill>
                <a:latin typeface="Arial MT"/>
                <a:cs typeface="Arial MT"/>
              </a:rPr>
              <a:t> </a:t>
            </a:r>
            <a:r>
              <a:rPr sz="2200" spc="10" dirty="0">
                <a:solidFill>
                  <a:srgbClr val="006699"/>
                </a:solidFill>
                <a:latin typeface="Arial MT"/>
                <a:cs typeface="Arial MT"/>
              </a:rPr>
              <a:t>release</a:t>
            </a:r>
            <a:endParaRPr sz="2200" dirty="0">
              <a:latin typeface="Arial MT"/>
              <a:cs typeface="Arial MT"/>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511C6-8371-8E26-BDED-92073D0FFF38}"/>
              </a:ext>
            </a:extLst>
          </p:cNvPr>
          <p:cNvSpPr>
            <a:spLocks noGrp="1"/>
          </p:cNvSpPr>
          <p:nvPr>
            <p:ph type="title"/>
          </p:nvPr>
        </p:nvSpPr>
        <p:spPr>
          <a:xfrm>
            <a:off x="691515" y="413809"/>
            <a:ext cx="8675370" cy="652991"/>
          </a:xfrm>
        </p:spPr>
        <p:txBody>
          <a:bodyPr>
            <a:normAutofit/>
          </a:bodyPr>
          <a:lstStyle/>
          <a:p>
            <a:r>
              <a:rPr lang="en-US" sz="4000" dirty="0"/>
              <a:t>Framing</a:t>
            </a:r>
          </a:p>
        </p:txBody>
      </p:sp>
      <p:sp>
        <p:nvSpPr>
          <p:cNvPr id="3" name="Content Placeholder 2">
            <a:extLst>
              <a:ext uri="{FF2B5EF4-FFF2-40B4-BE49-F238E27FC236}">
                <a16:creationId xmlns:a16="http://schemas.microsoft.com/office/drawing/2014/main" id="{6C773658-723A-4FBC-B088-45BC4FBB77FE}"/>
              </a:ext>
            </a:extLst>
          </p:cNvPr>
          <p:cNvSpPr>
            <a:spLocks noGrp="1"/>
          </p:cNvSpPr>
          <p:nvPr>
            <p:ph idx="1"/>
          </p:nvPr>
        </p:nvSpPr>
        <p:spPr>
          <a:xfrm>
            <a:off x="729133" y="1295400"/>
            <a:ext cx="8675370" cy="4931516"/>
          </a:xfrm>
        </p:spPr>
        <p:txBody>
          <a:bodyPr>
            <a:normAutofit/>
          </a:bodyPr>
          <a:lstStyle/>
          <a:p>
            <a:pPr marL="0" indent="0">
              <a:buNone/>
            </a:pPr>
            <a:r>
              <a:rPr lang="en-US" sz="3200" i="0" u="none" strike="noStrike" baseline="0" dirty="0">
                <a:latin typeface="+mj-lt"/>
              </a:rPr>
              <a:t>Breaking up the bit stream into </a:t>
            </a:r>
            <a:r>
              <a:rPr lang="en-US" sz="3200" dirty="0">
                <a:latin typeface="+mj-lt"/>
              </a:rPr>
              <a:t>smaller, manageable units known as frames is called framing.</a:t>
            </a:r>
          </a:p>
          <a:p>
            <a:pPr marL="0" indent="0">
              <a:buNone/>
            </a:pPr>
            <a:endParaRPr lang="en-US" sz="3200" dirty="0">
              <a:latin typeface="+mj-lt"/>
            </a:endParaRPr>
          </a:p>
          <a:p>
            <a:pPr marL="0" indent="0" algn="l">
              <a:buNone/>
            </a:pPr>
            <a:r>
              <a:rPr lang="en-US" sz="3200" dirty="0">
                <a:latin typeface="Times-Roman"/>
              </a:rPr>
              <a:t>F</a:t>
            </a:r>
            <a:r>
              <a:rPr lang="en-US" sz="3200" b="0" i="0" u="none" strike="noStrike" baseline="0" dirty="0">
                <a:latin typeface="Times-Roman"/>
              </a:rPr>
              <a:t>our methods of framing are:</a:t>
            </a:r>
          </a:p>
          <a:p>
            <a:pPr marL="377190" lvl="1" indent="0">
              <a:buNone/>
            </a:pPr>
            <a:r>
              <a:rPr lang="en-US" sz="2870" b="0" i="0" u="none" strike="noStrike" baseline="0" dirty="0">
                <a:latin typeface="Times-Roman"/>
              </a:rPr>
              <a:t>1. Byte count.</a:t>
            </a:r>
          </a:p>
          <a:p>
            <a:pPr marL="377190" lvl="1" indent="0">
              <a:buNone/>
            </a:pPr>
            <a:r>
              <a:rPr lang="en-US" sz="2870" b="0" i="0" u="none" strike="noStrike" baseline="0" dirty="0">
                <a:latin typeface="Times-Roman"/>
              </a:rPr>
              <a:t>2. Flag bytes with byte stuffing.</a:t>
            </a:r>
          </a:p>
          <a:p>
            <a:pPr marL="377190" lvl="1" indent="0">
              <a:buNone/>
            </a:pPr>
            <a:r>
              <a:rPr lang="en-US" sz="2870" b="0" i="0" u="none" strike="noStrike" baseline="0" dirty="0">
                <a:latin typeface="Times-Roman"/>
              </a:rPr>
              <a:t>3. Flag bits with bit stuffing.</a:t>
            </a:r>
          </a:p>
          <a:p>
            <a:pPr marL="377190" lvl="1" indent="0">
              <a:buNone/>
            </a:pPr>
            <a:r>
              <a:rPr lang="en-US" sz="2870" b="0" i="0" u="none" strike="noStrike" baseline="0" dirty="0">
                <a:latin typeface="Times-Roman"/>
              </a:rPr>
              <a:t>4. Physical layer coding violations.</a:t>
            </a:r>
            <a:endParaRPr lang="en-US" sz="2870" dirty="0">
              <a:latin typeface="+mj-lt"/>
            </a:endParaRPr>
          </a:p>
          <a:p>
            <a:pPr marL="0" indent="0">
              <a:buNone/>
            </a:pPr>
            <a:endParaRPr lang="en-US" sz="3200" dirty="0">
              <a:latin typeface="+mj-lt"/>
            </a:endParaRPr>
          </a:p>
        </p:txBody>
      </p:sp>
    </p:spTree>
    <p:extLst>
      <p:ext uri="{BB962C8B-B14F-4D97-AF65-F5344CB8AC3E}">
        <p14:creationId xmlns:p14="http://schemas.microsoft.com/office/powerpoint/2010/main" val="846831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053" y="373306"/>
            <a:ext cx="5288547" cy="629018"/>
          </a:xfrm>
          <a:prstGeom prst="rect">
            <a:avLst/>
          </a:prstGeom>
        </p:spPr>
        <p:txBody>
          <a:bodyPr vert="horz" wrap="square" lIns="0" tIns="13335" rIns="0" bIns="0" rtlCol="0">
            <a:spAutoFit/>
          </a:bodyPr>
          <a:lstStyle/>
          <a:p>
            <a:pPr marL="12700">
              <a:lnSpc>
                <a:spcPct val="100000"/>
              </a:lnSpc>
              <a:spcBef>
                <a:spcPts val="105"/>
              </a:spcBef>
            </a:pPr>
            <a:r>
              <a:rPr sz="4000" spc="-35" dirty="0"/>
              <a:t>Framing</a:t>
            </a:r>
            <a:r>
              <a:rPr lang="en-US" sz="4000" spc="-35" dirty="0"/>
              <a:t> (Byte Count)</a:t>
            </a:r>
            <a:endParaRPr sz="4000" spc="-5" dirty="0"/>
          </a:p>
        </p:txBody>
      </p:sp>
      <p:sp>
        <p:nvSpPr>
          <p:cNvPr id="44" name="object 44"/>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8</a:t>
            </a:fld>
            <a:r>
              <a:rPr spc="10" dirty="0"/>
              <a:t>/69</a:t>
            </a:r>
          </a:p>
        </p:txBody>
      </p:sp>
      <p:sp>
        <p:nvSpPr>
          <p:cNvPr id="5" name="object 5"/>
          <p:cNvSpPr txBox="1"/>
          <p:nvPr/>
        </p:nvSpPr>
        <p:spPr>
          <a:xfrm>
            <a:off x="2209800" y="5430882"/>
            <a:ext cx="275818" cy="260328"/>
          </a:xfrm>
          <a:prstGeom prst="rect">
            <a:avLst/>
          </a:prstGeom>
        </p:spPr>
        <p:txBody>
          <a:bodyPr vert="horz" wrap="square" lIns="0" tIns="13970" rIns="0" bIns="0" rtlCol="0">
            <a:spAutoFit/>
          </a:bodyPr>
          <a:lstStyle/>
          <a:p>
            <a:pPr marL="12700">
              <a:lnSpc>
                <a:spcPct val="100000"/>
              </a:lnSpc>
              <a:spcBef>
                <a:spcPts val="110"/>
              </a:spcBef>
            </a:pPr>
            <a:r>
              <a:rPr sz="1600" dirty="0">
                <a:latin typeface="+mj-lt"/>
                <a:cs typeface="Arial MT"/>
              </a:rPr>
              <a:t>(b)</a:t>
            </a:r>
          </a:p>
        </p:txBody>
      </p:sp>
      <p:graphicFrame>
        <p:nvGraphicFramePr>
          <p:cNvPr id="6" name="object 6"/>
          <p:cNvGraphicFramePr>
            <a:graphicFrameLocks noGrp="1"/>
          </p:cNvGraphicFramePr>
          <p:nvPr>
            <p:extLst>
              <p:ext uri="{D42A27DB-BD31-4B8C-83A1-F6EECF244321}">
                <p14:modId xmlns:p14="http://schemas.microsoft.com/office/powerpoint/2010/main" val="597461913"/>
              </p:ext>
            </p:extLst>
          </p:nvPr>
        </p:nvGraphicFramePr>
        <p:xfrm>
          <a:off x="2929115" y="3315189"/>
          <a:ext cx="6174086" cy="221254"/>
        </p:xfrm>
        <a:graphic>
          <a:graphicData uri="http://schemas.openxmlformats.org/drawingml/2006/table">
            <a:tbl>
              <a:tblPr firstRow="1" bandRow="1">
                <a:tableStyleId>{2D5ABB26-0587-4C30-8999-92F81FD0307C}</a:tableStyleId>
              </a:tblPr>
              <a:tblGrid>
                <a:gridCol w="237490">
                  <a:extLst>
                    <a:ext uri="{9D8B030D-6E8A-4147-A177-3AD203B41FA5}">
                      <a16:colId xmlns:a16="http://schemas.microsoft.com/office/drawing/2014/main" val="20000"/>
                    </a:ext>
                  </a:extLst>
                </a:gridCol>
                <a:gridCol w="237490">
                  <a:extLst>
                    <a:ext uri="{9D8B030D-6E8A-4147-A177-3AD203B41FA5}">
                      <a16:colId xmlns:a16="http://schemas.microsoft.com/office/drawing/2014/main" val="20001"/>
                    </a:ext>
                  </a:extLst>
                </a:gridCol>
                <a:gridCol w="237489">
                  <a:extLst>
                    <a:ext uri="{9D8B030D-6E8A-4147-A177-3AD203B41FA5}">
                      <a16:colId xmlns:a16="http://schemas.microsoft.com/office/drawing/2014/main" val="20002"/>
                    </a:ext>
                  </a:extLst>
                </a:gridCol>
                <a:gridCol w="237490">
                  <a:extLst>
                    <a:ext uri="{9D8B030D-6E8A-4147-A177-3AD203B41FA5}">
                      <a16:colId xmlns:a16="http://schemas.microsoft.com/office/drawing/2014/main" val="20003"/>
                    </a:ext>
                  </a:extLst>
                </a:gridCol>
                <a:gridCol w="237490">
                  <a:extLst>
                    <a:ext uri="{9D8B030D-6E8A-4147-A177-3AD203B41FA5}">
                      <a16:colId xmlns:a16="http://schemas.microsoft.com/office/drawing/2014/main" val="20004"/>
                    </a:ext>
                  </a:extLst>
                </a:gridCol>
                <a:gridCol w="237490">
                  <a:extLst>
                    <a:ext uri="{9D8B030D-6E8A-4147-A177-3AD203B41FA5}">
                      <a16:colId xmlns:a16="http://schemas.microsoft.com/office/drawing/2014/main" val="20005"/>
                    </a:ext>
                  </a:extLst>
                </a:gridCol>
                <a:gridCol w="237490">
                  <a:extLst>
                    <a:ext uri="{9D8B030D-6E8A-4147-A177-3AD203B41FA5}">
                      <a16:colId xmlns:a16="http://schemas.microsoft.com/office/drawing/2014/main" val="20006"/>
                    </a:ext>
                  </a:extLst>
                </a:gridCol>
                <a:gridCol w="237489">
                  <a:extLst>
                    <a:ext uri="{9D8B030D-6E8A-4147-A177-3AD203B41FA5}">
                      <a16:colId xmlns:a16="http://schemas.microsoft.com/office/drawing/2014/main" val="20007"/>
                    </a:ext>
                  </a:extLst>
                </a:gridCol>
                <a:gridCol w="237489">
                  <a:extLst>
                    <a:ext uri="{9D8B030D-6E8A-4147-A177-3AD203B41FA5}">
                      <a16:colId xmlns:a16="http://schemas.microsoft.com/office/drawing/2014/main" val="20008"/>
                    </a:ext>
                  </a:extLst>
                </a:gridCol>
                <a:gridCol w="237489">
                  <a:extLst>
                    <a:ext uri="{9D8B030D-6E8A-4147-A177-3AD203B41FA5}">
                      <a16:colId xmlns:a16="http://schemas.microsoft.com/office/drawing/2014/main" val="20009"/>
                    </a:ext>
                  </a:extLst>
                </a:gridCol>
                <a:gridCol w="237489">
                  <a:extLst>
                    <a:ext uri="{9D8B030D-6E8A-4147-A177-3AD203B41FA5}">
                      <a16:colId xmlns:a16="http://schemas.microsoft.com/office/drawing/2014/main" val="20010"/>
                    </a:ext>
                  </a:extLst>
                </a:gridCol>
                <a:gridCol w="237489">
                  <a:extLst>
                    <a:ext uri="{9D8B030D-6E8A-4147-A177-3AD203B41FA5}">
                      <a16:colId xmlns:a16="http://schemas.microsoft.com/office/drawing/2014/main" val="20011"/>
                    </a:ext>
                  </a:extLst>
                </a:gridCol>
                <a:gridCol w="237489">
                  <a:extLst>
                    <a:ext uri="{9D8B030D-6E8A-4147-A177-3AD203B41FA5}">
                      <a16:colId xmlns:a16="http://schemas.microsoft.com/office/drawing/2014/main" val="20012"/>
                    </a:ext>
                  </a:extLst>
                </a:gridCol>
                <a:gridCol w="237490">
                  <a:extLst>
                    <a:ext uri="{9D8B030D-6E8A-4147-A177-3AD203B41FA5}">
                      <a16:colId xmlns:a16="http://schemas.microsoft.com/office/drawing/2014/main" val="20013"/>
                    </a:ext>
                  </a:extLst>
                </a:gridCol>
                <a:gridCol w="237489">
                  <a:extLst>
                    <a:ext uri="{9D8B030D-6E8A-4147-A177-3AD203B41FA5}">
                      <a16:colId xmlns:a16="http://schemas.microsoft.com/office/drawing/2014/main" val="20014"/>
                    </a:ext>
                  </a:extLst>
                </a:gridCol>
                <a:gridCol w="237489">
                  <a:extLst>
                    <a:ext uri="{9D8B030D-6E8A-4147-A177-3AD203B41FA5}">
                      <a16:colId xmlns:a16="http://schemas.microsoft.com/office/drawing/2014/main" val="20015"/>
                    </a:ext>
                  </a:extLst>
                </a:gridCol>
                <a:gridCol w="237489">
                  <a:extLst>
                    <a:ext uri="{9D8B030D-6E8A-4147-A177-3AD203B41FA5}">
                      <a16:colId xmlns:a16="http://schemas.microsoft.com/office/drawing/2014/main" val="20016"/>
                    </a:ext>
                  </a:extLst>
                </a:gridCol>
                <a:gridCol w="237489">
                  <a:extLst>
                    <a:ext uri="{9D8B030D-6E8A-4147-A177-3AD203B41FA5}">
                      <a16:colId xmlns:a16="http://schemas.microsoft.com/office/drawing/2014/main" val="20017"/>
                    </a:ext>
                  </a:extLst>
                </a:gridCol>
                <a:gridCol w="237489">
                  <a:extLst>
                    <a:ext uri="{9D8B030D-6E8A-4147-A177-3AD203B41FA5}">
                      <a16:colId xmlns:a16="http://schemas.microsoft.com/office/drawing/2014/main" val="20018"/>
                    </a:ext>
                  </a:extLst>
                </a:gridCol>
                <a:gridCol w="237489">
                  <a:extLst>
                    <a:ext uri="{9D8B030D-6E8A-4147-A177-3AD203B41FA5}">
                      <a16:colId xmlns:a16="http://schemas.microsoft.com/office/drawing/2014/main" val="20019"/>
                    </a:ext>
                  </a:extLst>
                </a:gridCol>
                <a:gridCol w="237489">
                  <a:extLst>
                    <a:ext uri="{9D8B030D-6E8A-4147-A177-3AD203B41FA5}">
                      <a16:colId xmlns:a16="http://schemas.microsoft.com/office/drawing/2014/main" val="20020"/>
                    </a:ext>
                  </a:extLst>
                </a:gridCol>
                <a:gridCol w="237489">
                  <a:extLst>
                    <a:ext uri="{9D8B030D-6E8A-4147-A177-3AD203B41FA5}">
                      <a16:colId xmlns:a16="http://schemas.microsoft.com/office/drawing/2014/main" val="20021"/>
                    </a:ext>
                  </a:extLst>
                </a:gridCol>
                <a:gridCol w="237489">
                  <a:extLst>
                    <a:ext uri="{9D8B030D-6E8A-4147-A177-3AD203B41FA5}">
                      <a16:colId xmlns:a16="http://schemas.microsoft.com/office/drawing/2014/main" val="20022"/>
                    </a:ext>
                  </a:extLst>
                </a:gridCol>
                <a:gridCol w="237489">
                  <a:extLst>
                    <a:ext uri="{9D8B030D-6E8A-4147-A177-3AD203B41FA5}">
                      <a16:colId xmlns:a16="http://schemas.microsoft.com/office/drawing/2014/main" val="20023"/>
                    </a:ext>
                  </a:extLst>
                </a:gridCol>
                <a:gridCol w="237489">
                  <a:extLst>
                    <a:ext uri="{9D8B030D-6E8A-4147-A177-3AD203B41FA5}">
                      <a16:colId xmlns:a16="http://schemas.microsoft.com/office/drawing/2014/main" val="20024"/>
                    </a:ext>
                  </a:extLst>
                </a:gridCol>
                <a:gridCol w="236854">
                  <a:extLst>
                    <a:ext uri="{9D8B030D-6E8A-4147-A177-3AD203B41FA5}">
                      <a16:colId xmlns:a16="http://schemas.microsoft.com/office/drawing/2014/main" val="20025"/>
                    </a:ext>
                  </a:extLst>
                </a:gridCol>
              </a:tblGrid>
              <a:tr h="221254">
                <a:tc>
                  <a:txBody>
                    <a:bodyPr/>
                    <a:lstStyle/>
                    <a:p>
                      <a:pPr marL="78740">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9535">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725">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191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820">
                        <a:lnSpc>
                          <a:spcPct val="100000"/>
                        </a:lnSpc>
                        <a:spcBef>
                          <a:spcPts val="135"/>
                        </a:spcBef>
                      </a:pPr>
                      <a:r>
                        <a:rPr sz="1150" dirty="0">
                          <a:latin typeface="Arial MT"/>
                          <a:cs typeface="Arial MT"/>
                        </a:rPr>
                        <a:t>4</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725">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7630">
                        <a:lnSpc>
                          <a:spcPct val="100000"/>
                        </a:lnSpc>
                        <a:spcBef>
                          <a:spcPts val="135"/>
                        </a:spcBef>
                      </a:pPr>
                      <a:r>
                        <a:rPr sz="1150" dirty="0">
                          <a:latin typeface="Arial MT"/>
                          <a:cs typeface="Arial MT"/>
                        </a:rPr>
                        <a:t>6</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820">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01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8265">
                        <a:lnSpc>
                          <a:spcPct val="100000"/>
                        </a:lnSpc>
                        <a:spcBef>
                          <a:spcPts val="135"/>
                        </a:spcBef>
                      </a:pPr>
                      <a:r>
                        <a:rPr sz="1150" dirty="0">
                          <a:latin typeface="Arial MT"/>
                          <a:cs typeface="Arial MT"/>
                        </a:rPr>
                        <a:t>9</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82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835">
                        <a:lnSpc>
                          <a:spcPct val="100000"/>
                        </a:lnSpc>
                        <a:spcBef>
                          <a:spcPts val="135"/>
                        </a:spcBef>
                      </a:pPr>
                      <a:r>
                        <a:rPr sz="1150" dirty="0">
                          <a:latin typeface="Arial MT"/>
                          <a:cs typeface="Arial MT"/>
                        </a:rPr>
                        <a:t>0</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1915">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105">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72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5565">
                        <a:lnSpc>
                          <a:spcPct val="100000"/>
                        </a:lnSpc>
                        <a:spcBef>
                          <a:spcPts val="135"/>
                        </a:spcBef>
                      </a:pPr>
                      <a:r>
                        <a:rPr sz="1150" dirty="0">
                          <a:latin typeface="Arial MT"/>
                          <a:cs typeface="Arial MT"/>
                        </a:rPr>
                        <a:t>4</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820">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010">
                        <a:lnSpc>
                          <a:spcPct val="100000"/>
                        </a:lnSpc>
                        <a:spcBef>
                          <a:spcPts val="135"/>
                        </a:spcBef>
                      </a:pPr>
                      <a:r>
                        <a:rPr sz="1150" dirty="0">
                          <a:latin typeface="Arial MT"/>
                          <a:cs typeface="Arial MT"/>
                        </a:rPr>
                        <a:t>6</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5565">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105">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01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1915">
                        <a:lnSpc>
                          <a:spcPct val="100000"/>
                        </a:lnSpc>
                        <a:spcBef>
                          <a:spcPts val="135"/>
                        </a:spcBef>
                      </a:pPr>
                      <a:r>
                        <a:rPr sz="1150" dirty="0">
                          <a:latin typeface="Arial MT"/>
                          <a:cs typeface="Arial MT"/>
                        </a:rPr>
                        <a:t>9</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820">
                        <a:lnSpc>
                          <a:spcPct val="100000"/>
                        </a:lnSpc>
                        <a:spcBef>
                          <a:spcPts val="135"/>
                        </a:spcBef>
                      </a:pPr>
                      <a:r>
                        <a:rPr sz="1150" dirty="0">
                          <a:latin typeface="Arial MT"/>
                          <a:cs typeface="Arial MT"/>
                        </a:rPr>
                        <a:t>0</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010">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1915">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4455">
                        <a:lnSpc>
                          <a:spcPct val="100000"/>
                        </a:lnSpc>
                        <a:spcBef>
                          <a:spcPts val="135"/>
                        </a:spcBef>
                      </a:pPr>
                      <a:r>
                        <a:rPr sz="1150" dirty="0">
                          <a:latin typeface="Arial MT"/>
                          <a:cs typeface="Arial MT"/>
                        </a:rPr>
                        <a:t>3</a:t>
                      </a: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760187423"/>
              </p:ext>
            </p:extLst>
          </p:nvPr>
        </p:nvGraphicFramePr>
        <p:xfrm>
          <a:off x="2917666" y="5479318"/>
          <a:ext cx="6185535" cy="221254"/>
        </p:xfrm>
        <a:graphic>
          <a:graphicData uri="http://schemas.openxmlformats.org/drawingml/2006/table">
            <a:tbl>
              <a:tblPr firstRow="1" bandRow="1">
                <a:tableStyleId>{2D5ABB26-0587-4C30-8999-92F81FD0307C}</a:tableStyleId>
              </a:tblPr>
              <a:tblGrid>
                <a:gridCol w="238125">
                  <a:extLst>
                    <a:ext uri="{9D8B030D-6E8A-4147-A177-3AD203B41FA5}">
                      <a16:colId xmlns:a16="http://schemas.microsoft.com/office/drawing/2014/main" val="20000"/>
                    </a:ext>
                  </a:extLst>
                </a:gridCol>
                <a:gridCol w="238125">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gridCol w="238125">
                  <a:extLst>
                    <a:ext uri="{9D8B030D-6E8A-4147-A177-3AD203B41FA5}">
                      <a16:colId xmlns:a16="http://schemas.microsoft.com/office/drawing/2014/main" val="20003"/>
                    </a:ext>
                  </a:extLst>
                </a:gridCol>
                <a:gridCol w="238125">
                  <a:extLst>
                    <a:ext uri="{9D8B030D-6E8A-4147-A177-3AD203B41FA5}">
                      <a16:colId xmlns:a16="http://schemas.microsoft.com/office/drawing/2014/main" val="20004"/>
                    </a:ext>
                  </a:extLst>
                </a:gridCol>
                <a:gridCol w="238125">
                  <a:extLst>
                    <a:ext uri="{9D8B030D-6E8A-4147-A177-3AD203B41FA5}">
                      <a16:colId xmlns:a16="http://schemas.microsoft.com/office/drawing/2014/main" val="20005"/>
                    </a:ext>
                  </a:extLst>
                </a:gridCol>
                <a:gridCol w="238125">
                  <a:extLst>
                    <a:ext uri="{9D8B030D-6E8A-4147-A177-3AD203B41FA5}">
                      <a16:colId xmlns:a16="http://schemas.microsoft.com/office/drawing/2014/main" val="20006"/>
                    </a:ext>
                  </a:extLst>
                </a:gridCol>
                <a:gridCol w="238125">
                  <a:extLst>
                    <a:ext uri="{9D8B030D-6E8A-4147-A177-3AD203B41FA5}">
                      <a16:colId xmlns:a16="http://schemas.microsoft.com/office/drawing/2014/main" val="20007"/>
                    </a:ext>
                  </a:extLst>
                </a:gridCol>
                <a:gridCol w="238125">
                  <a:extLst>
                    <a:ext uri="{9D8B030D-6E8A-4147-A177-3AD203B41FA5}">
                      <a16:colId xmlns:a16="http://schemas.microsoft.com/office/drawing/2014/main" val="20008"/>
                    </a:ext>
                  </a:extLst>
                </a:gridCol>
                <a:gridCol w="238125">
                  <a:extLst>
                    <a:ext uri="{9D8B030D-6E8A-4147-A177-3AD203B41FA5}">
                      <a16:colId xmlns:a16="http://schemas.microsoft.com/office/drawing/2014/main" val="20009"/>
                    </a:ext>
                  </a:extLst>
                </a:gridCol>
                <a:gridCol w="238125">
                  <a:extLst>
                    <a:ext uri="{9D8B030D-6E8A-4147-A177-3AD203B41FA5}">
                      <a16:colId xmlns:a16="http://schemas.microsoft.com/office/drawing/2014/main" val="20010"/>
                    </a:ext>
                  </a:extLst>
                </a:gridCol>
                <a:gridCol w="238125">
                  <a:extLst>
                    <a:ext uri="{9D8B030D-6E8A-4147-A177-3AD203B41FA5}">
                      <a16:colId xmlns:a16="http://schemas.microsoft.com/office/drawing/2014/main" val="20011"/>
                    </a:ext>
                  </a:extLst>
                </a:gridCol>
                <a:gridCol w="238125">
                  <a:extLst>
                    <a:ext uri="{9D8B030D-6E8A-4147-A177-3AD203B41FA5}">
                      <a16:colId xmlns:a16="http://schemas.microsoft.com/office/drawing/2014/main" val="20012"/>
                    </a:ext>
                  </a:extLst>
                </a:gridCol>
                <a:gridCol w="238125">
                  <a:extLst>
                    <a:ext uri="{9D8B030D-6E8A-4147-A177-3AD203B41FA5}">
                      <a16:colId xmlns:a16="http://schemas.microsoft.com/office/drawing/2014/main" val="20013"/>
                    </a:ext>
                  </a:extLst>
                </a:gridCol>
                <a:gridCol w="238125">
                  <a:extLst>
                    <a:ext uri="{9D8B030D-6E8A-4147-A177-3AD203B41FA5}">
                      <a16:colId xmlns:a16="http://schemas.microsoft.com/office/drawing/2014/main" val="20014"/>
                    </a:ext>
                  </a:extLst>
                </a:gridCol>
                <a:gridCol w="238125">
                  <a:extLst>
                    <a:ext uri="{9D8B030D-6E8A-4147-A177-3AD203B41FA5}">
                      <a16:colId xmlns:a16="http://schemas.microsoft.com/office/drawing/2014/main" val="20015"/>
                    </a:ext>
                  </a:extLst>
                </a:gridCol>
                <a:gridCol w="238125">
                  <a:extLst>
                    <a:ext uri="{9D8B030D-6E8A-4147-A177-3AD203B41FA5}">
                      <a16:colId xmlns:a16="http://schemas.microsoft.com/office/drawing/2014/main" val="20016"/>
                    </a:ext>
                  </a:extLst>
                </a:gridCol>
                <a:gridCol w="238125">
                  <a:extLst>
                    <a:ext uri="{9D8B030D-6E8A-4147-A177-3AD203B41FA5}">
                      <a16:colId xmlns:a16="http://schemas.microsoft.com/office/drawing/2014/main" val="20017"/>
                    </a:ext>
                  </a:extLst>
                </a:gridCol>
                <a:gridCol w="238125">
                  <a:extLst>
                    <a:ext uri="{9D8B030D-6E8A-4147-A177-3AD203B41FA5}">
                      <a16:colId xmlns:a16="http://schemas.microsoft.com/office/drawing/2014/main" val="20018"/>
                    </a:ext>
                  </a:extLst>
                </a:gridCol>
                <a:gridCol w="238125">
                  <a:extLst>
                    <a:ext uri="{9D8B030D-6E8A-4147-A177-3AD203B41FA5}">
                      <a16:colId xmlns:a16="http://schemas.microsoft.com/office/drawing/2014/main" val="20019"/>
                    </a:ext>
                  </a:extLst>
                </a:gridCol>
                <a:gridCol w="238125">
                  <a:extLst>
                    <a:ext uri="{9D8B030D-6E8A-4147-A177-3AD203B41FA5}">
                      <a16:colId xmlns:a16="http://schemas.microsoft.com/office/drawing/2014/main" val="20020"/>
                    </a:ext>
                  </a:extLst>
                </a:gridCol>
                <a:gridCol w="238125">
                  <a:extLst>
                    <a:ext uri="{9D8B030D-6E8A-4147-A177-3AD203B41FA5}">
                      <a16:colId xmlns:a16="http://schemas.microsoft.com/office/drawing/2014/main" val="20021"/>
                    </a:ext>
                  </a:extLst>
                </a:gridCol>
                <a:gridCol w="238125">
                  <a:extLst>
                    <a:ext uri="{9D8B030D-6E8A-4147-A177-3AD203B41FA5}">
                      <a16:colId xmlns:a16="http://schemas.microsoft.com/office/drawing/2014/main" val="20022"/>
                    </a:ext>
                  </a:extLst>
                </a:gridCol>
                <a:gridCol w="238125">
                  <a:extLst>
                    <a:ext uri="{9D8B030D-6E8A-4147-A177-3AD203B41FA5}">
                      <a16:colId xmlns:a16="http://schemas.microsoft.com/office/drawing/2014/main" val="20023"/>
                    </a:ext>
                  </a:extLst>
                </a:gridCol>
                <a:gridCol w="238125">
                  <a:extLst>
                    <a:ext uri="{9D8B030D-6E8A-4147-A177-3AD203B41FA5}">
                      <a16:colId xmlns:a16="http://schemas.microsoft.com/office/drawing/2014/main" val="20024"/>
                    </a:ext>
                  </a:extLst>
                </a:gridCol>
                <a:gridCol w="232410">
                  <a:extLst>
                    <a:ext uri="{9D8B030D-6E8A-4147-A177-3AD203B41FA5}">
                      <a16:colId xmlns:a16="http://schemas.microsoft.com/office/drawing/2014/main" val="20025"/>
                    </a:ext>
                  </a:extLst>
                </a:gridCol>
              </a:tblGrid>
              <a:tr h="221254">
                <a:tc>
                  <a:txBody>
                    <a:bodyPr/>
                    <a:lstStyle/>
                    <a:p>
                      <a:pPr marL="74295">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835">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740">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64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4295">
                        <a:lnSpc>
                          <a:spcPct val="100000"/>
                        </a:lnSpc>
                        <a:spcBef>
                          <a:spcPts val="135"/>
                        </a:spcBef>
                      </a:pPr>
                      <a:r>
                        <a:rPr sz="1150" dirty="0">
                          <a:latin typeface="Arial MT"/>
                          <a:cs typeface="Arial MT"/>
                        </a:rPr>
                        <a:t>4</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200">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740">
                        <a:lnSpc>
                          <a:spcPct val="100000"/>
                        </a:lnSpc>
                        <a:spcBef>
                          <a:spcPts val="135"/>
                        </a:spcBef>
                      </a:pPr>
                      <a:r>
                        <a:rPr sz="1150" dirty="0">
                          <a:latin typeface="Arial MT"/>
                          <a:cs typeface="Arial MT"/>
                        </a:rPr>
                        <a:t>6</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645">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185">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090">
                        <a:lnSpc>
                          <a:spcPct val="100000"/>
                        </a:lnSpc>
                        <a:spcBef>
                          <a:spcPts val="135"/>
                        </a:spcBef>
                      </a:pPr>
                      <a:r>
                        <a:rPr sz="1150" dirty="0">
                          <a:latin typeface="Arial MT"/>
                          <a:cs typeface="Arial MT"/>
                        </a:rPr>
                        <a:t>9</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763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9535">
                        <a:lnSpc>
                          <a:spcPct val="100000"/>
                        </a:lnSpc>
                        <a:spcBef>
                          <a:spcPts val="135"/>
                        </a:spcBef>
                      </a:pPr>
                      <a:r>
                        <a:rPr sz="1150" dirty="0">
                          <a:latin typeface="Arial MT"/>
                          <a:cs typeface="Arial MT"/>
                        </a:rPr>
                        <a:t>0</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185">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090">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699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9535">
                        <a:lnSpc>
                          <a:spcPct val="100000"/>
                        </a:lnSpc>
                        <a:spcBef>
                          <a:spcPts val="135"/>
                        </a:spcBef>
                      </a:pPr>
                      <a:r>
                        <a:rPr sz="1150" dirty="0">
                          <a:latin typeface="Arial MT"/>
                          <a:cs typeface="Arial MT"/>
                        </a:rPr>
                        <a:t>4</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3660">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200">
                        <a:lnSpc>
                          <a:spcPct val="100000"/>
                        </a:lnSpc>
                        <a:spcBef>
                          <a:spcPts val="135"/>
                        </a:spcBef>
                      </a:pPr>
                      <a:r>
                        <a:rPr sz="1150" dirty="0">
                          <a:latin typeface="Arial MT"/>
                          <a:cs typeface="Arial MT"/>
                        </a:rPr>
                        <a:t>6</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105">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645">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255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5565">
                        <a:lnSpc>
                          <a:spcPct val="100000"/>
                        </a:lnSpc>
                        <a:spcBef>
                          <a:spcPts val="135"/>
                        </a:spcBef>
                      </a:pPr>
                      <a:r>
                        <a:rPr sz="1150" dirty="0">
                          <a:latin typeface="Arial MT"/>
                          <a:cs typeface="Arial MT"/>
                        </a:rPr>
                        <a:t>9</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105">
                        <a:lnSpc>
                          <a:spcPct val="100000"/>
                        </a:lnSpc>
                        <a:spcBef>
                          <a:spcPts val="135"/>
                        </a:spcBef>
                      </a:pPr>
                      <a:r>
                        <a:rPr sz="1150" dirty="0">
                          <a:latin typeface="Arial MT"/>
                          <a:cs typeface="Arial MT"/>
                        </a:rPr>
                        <a:t>0</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010">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2550">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445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sp>
        <p:nvSpPr>
          <p:cNvPr id="8" name="object 8"/>
          <p:cNvSpPr/>
          <p:nvPr/>
        </p:nvSpPr>
        <p:spPr>
          <a:xfrm>
            <a:off x="2938335" y="3602068"/>
            <a:ext cx="6177280" cy="81280"/>
          </a:xfrm>
          <a:custGeom>
            <a:avLst/>
            <a:gdLst/>
            <a:ahLst/>
            <a:cxnLst/>
            <a:rect l="l" t="t" r="r" b="b"/>
            <a:pathLst>
              <a:path w="6177280" h="81279">
                <a:moveTo>
                  <a:pt x="0" y="0"/>
                </a:moveTo>
                <a:lnTo>
                  <a:pt x="3261" y="15975"/>
                </a:lnTo>
                <a:lnTo>
                  <a:pt x="12153" y="28784"/>
                </a:lnTo>
                <a:lnTo>
                  <a:pt x="25342" y="37297"/>
                </a:lnTo>
                <a:lnTo>
                  <a:pt x="41490" y="40386"/>
                </a:lnTo>
                <a:lnTo>
                  <a:pt x="556209" y="40386"/>
                </a:lnTo>
                <a:lnTo>
                  <a:pt x="572357" y="43474"/>
                </a:lnTo>
                <a:lnTo>
                  <a:pt x="585546" y="51987"/>
                </a:lnTo>
                <a:lnTo>
                  <a:pt x="594438" y="64796"/>
                </a:lnTo>
                <a:lnTo>
                  <a:pt x="597700" y="80772"/>
                </a:lnTo>
                <a:lnTo>
                  <a:pt x="600961" y="64796"/>
                </a:lnTo>
                <a:lnTo>
                  <a:pt x="609852" y="51987"/>
                </a:lnTo>
                <a:lnTo>
                  <a:pt x="623037" y="43474"/>
                </a:lnTo>
                <a:lnTo>
                  <a:pt x="639178" y="40386"/>
                </a:lnTo>
                <a:lnTo>
                  <a:pt x="1132395" y="40386"/>
                </a:lnTo>
                <a:lnTo>
                  <a:pt x="1148541" y="37297"/>
                </a:lnTo>
                <a:lnTo>
                  <a:pt x="1161726" y="28784"/>
                </a:lnTo>
                <a:lnTo>
                  <a:pt x="1170614" y="15975"/>
                </a:lnTo>
                <a:lnTo>
                  <a:pt x="1173873" y="0"/>
                </a:lnTo>
              </a:path>
              <a:path w="6177280" h="81279">
                <a:moveTo>
                  <a:pt x="1192314" y="0"/>
                </a:moveTo>
                <a:lnTo>
                  <a:pt x="1195575" y="15975"/>
                </a:lnTo>
                <a:lnTo>
                  <a:pt x="1204468" y="28784"/>
                </a:lnTo>
                <a:lnTo>
                  <a:pt x="1217656" y="37297"/>
                </a:lnTo>
                <a:lnTo>
                  <a:pt x="1233805" y="40386"/>
                </a:lnTo>
                <a:lnTo>
                  <a:pt x="1748536" y="40386"/>
                </a:lnTo>
                <a:lnTo>
                  <a:pt x="1764677" y="43474"/>
                </a:lnTo>
                <a:lnTo>
                  <a:pt x="1777861" y="51987"/>
                </a:lnTo>
                <a:lnTo>
                  <a:pt x="1786753" y="64796"/>
                </a:lnTo>
                <a:lnTo>
                  <a:pt x="1790014" y="80772"/>
                </a:lnTo>
                <a:lnTo>
                  <a:pt x="1793273" y="64796"/>
                </a:lnTo>
                <a:lnTo>
                  <a:pt x="1802163" y="51987"/>
                </a:lnTo>
                <a:lnTo>
                  <a:pt x="1815351" y="43474"/>
                </a:lnTo>
                <a:lnTo>
                  <a:pt x="1831505" y="40386"/>
                </a:lnTo>
                <a:lnTo>
                  <a:pt x="2324709" y="40386"/>
                </a:lnTo>
                <a:lnTo>
                  <a:pt x="2340858" y="37297"/>
                </a:lnTo>
                <a:lnTo>
                  <a:pt x="2354046" y="28784"/>
                </a:lnTo>
                <a:lnTo>
                  <a:pt x="2362939" y="15975"/>
                </a:lnTo>
                <a:lnTo>
                  <a:pt x="2366200" y="0"/>
                </a:lnTo>
              </a:path>
              <a:path w="6177280" h="81279">
                <a:moveTo>
                  <a:pt x="2384640" y="0"/>
                </a:moveTo>
                <a:lnTo>
                  <a:pt x="2387900" y="15975"/>
                </a:lnTo>
                <a:lnTo>
                  <a:pt x="2396788" y="28784"/>
                </a:lnTo>
                <a:lnTo>
                  <a:pt x="2409972" y="37297"/>
                </a:lnTo>
                <a:lnTo>
                  <a:pt x="2426119" y="40386"/>
                </a:lnTo>
                <a:lnTo>
                  <a:pt x="3278873" y="40386"/>
                </a:lnTo>
                <a:lnTo>
                  <a:pt x="3295014" y="43474"/>
                </a:lnTo>
                <a:lnTo>
                  <a:pt x="3308199" y="51987"/>
                </a:lnTo>
                <a:lnTo>
                  <a:pt x="3317090" y="64796"/>
                </a:lnTo>
                <a:lnTo>
                  <a:pt x="3320351" y="80772"/>
                </a:lnTo>
                <a:lnTo>
                  <a:pt x="3323612" y="64796"/>
                </a:lnTo>
                <a:lnTo>
                  <a:pt x="3332505" y="51987"/>
                </a:lnTo>
                <a:lnTo>
                  <a:pt x="3345694" y="43474"/>
                </a:lnTo>
                <a:lnTo>
                  <a:pt x="3361842" y="40386"/>
                </a:lnTo>
                <a:lnTo>
                  <a:pt x="4208449" y="40386"/>
                </a:lnTo>
                <a:lnTo>
                  <a:pt x="4224596" y="37297"/>
                </a:lnTo>
                <a:lnTo>
                  <a:pt x="4237780" y="28784"/>
                </a:lnTo>
                <a:lnTo>
                  <a:pt x="4246668" y="15975"/>
                </a:lnTo>
                <a:lnTo>
                  <a:pt x="4249928" y="0"/>
                </a:lnTo>
              </a:path>
              <a:path w="6177280" h="81279">
                <a:moveTo>
                  <a:pt x="4283735" y="0"/>
                </a:moveTo>
                <a:lnTo>
                  <a:pt x="4286994" y="15975"/>
                </a:lnTo>
                <a:lnTo>
                  <a:pt x="4295884" y="28784"/>
                </a:lnTo>
                <a:lnTo>
                  <a:pt x="4309072" y="37297"/>
                </a:lnTo>
                <a:lnTo>
                  <a:pt x="4325226" y="40386"/>
                </a:lnTo>
                <a:lnTo>
                  <a:pt x="5185651" y="40386"/>
                </a:lnTo>
                <a:lnTo>
                  <a:pt x="5201799" y="43474"/>
                </a:lnTo>
                <a:lnTo>
                  <a:pt x="5214988" y="51987"/>
                </a:lnTo>
                <a:lnTo>
                  <a:pt x="5223881" y="64796"/>
                </a:lnTo>
                <a:lnTo>
                  <a:pt x="5227142" y="80772"/>
                </a:lnTo>
                <a:lnTo>
                  <a:pt x="5230401" y="64796"/>
                </a:lnTo>
                <a:lnTo>
                  <a:pt x="5239289" y="51987"/>
                </a:lnTo>
                <a:lnTo>
                  <a:pt x="5252474" y="43474"/>
                </a:lnTo>
                <a:lnTo>
                  <a:pt x="5268620" y="40386"/>
                </a:lnTo>
                <a:lnTo>
                  <a:pt x="6135204" y="40386"/>
                </a:lnTo>
                <a:lnTo>
                  <a:pt x="6151351" y="37297"/>
                </a:lnTo>
                <a:lnTo>
                  <a:pt x="6164535" y="28784"/>
                </a:lnTo>
                <a:lnTo>
                  <a:pt x="6173424" y="15975"/>
                </a:lnTo>
                <a:lnTo>
                  <a:pt x="6176683" y="0"/>
                </a:lnTo>
              </a:path>
            </a:pathLst>
          </a:custGeom>
          <a:ln w="9218">
            <a:solidFill>
              <a:srgbClr val="000000"/>
            </a:solidFill>
          </a:ln>
        </p:spPr>
        <p:txBody>
          <a:bodyPr wrap="square" lIns="0" tIns="0" rIns="0" bIns="0" rtlCol="0"/>
          <a:lstStyle/>
          <a:p>
            <a:endParaRPr/>
          </a:p>
        </p:txBody>
      </p:sp>
      <p:grpSp>
        <p:nvGrpSpPr>
          <p:cNvPr id="9" name="object 9"/>
          <p:cNvGrpSpPr/>
          <p:nvPr/>
        </p:nvGrpSpPr>
        <p:grpSpPr>
          <a:xfrm>
            <a:off x="4289215" y="5148597"/>
            <a:ext cx="325755" cy="325120"/>
            <a:chOff x="3981018" y="5832450"/>
            <a:chExt cx="325755" cy="325120"/>
          </a:xfrm>
        </p:grpSpPr>
        <p:sp>
          <p:nvSpPr>
            <p:cNvPr id="10" name="object 10"/>
            <p:cNvSpPr/>
            <p:nvPr/>
          </p:nvSpPr>
          <p:spPr>
            <a:xfrm>
              <a:off x="4011447" y="5837059"/>
              <a:ext cx="290195" cy="290195"/>
            </a:xfrm>
            <a:custGeom>
              <a:avLst/>
              <a:gdLst/>
              <a:ahLst/>
              <a:cxnLst/>
              <a:rect l="l" t="t" r="r" b="b"/>
              <a:pathLst>
                <a:path w="290195" h="290195">
                  <a:moveTo>
                    <a:pt x="0" y="290118"/>
                  </a:moveTo>
                  <a:lnTo>
                    <a:pt x="290182" y="0"/>
                  </a:lnTo>
                </a:path>
              </a:pathLst>
            </a:custGeom>
            <a:ln w="9218">
              <a:solidFill>
                <a:srgbClr val="000000"/>
              </a:solidFill>
            </a:ln>
          </p:spPr>
          <p:txBody>
            <a:bodyPr wrap="square" lIns="0" tIns="0" rIns="0" bIns="0" rtlCol="0"/>
            <a:lstStyle/>
            <a:p>
              <a:endParaRPr/>
            </a:p>
          </p:txBody>
        </p:sp>
        <p:sp>
          <p:nvSpPr>
            <p:cNvPr id="11" name="object 11"/>
            <p:cNvSpPr/>
            <p:nvPr/>
          </p:nvSpPr>
          <p:spPr>
            <a:xfrm>
              <a:off x="3981018" y="6072009"/>
              <a:ext cx="85725" cy="85725"/>
            </a:xfrm>
            <a:custGeom>
              <a:avLst/>
              <a:gdLst/>
              <a:ahLst/>
              <a:cxnLst/>
              <a:rect l="l" t="t" r="r" b="b"/>
              <a:pathLst>
                <a:path w="85725" h="85725">
                  <a:moveTo>
                    <a:pt x="85293" y="36029"/>
                  </a:moveTo>
                  <a:lnTo>
                    <a:pt x="49288" y="0"/>
                  </a:lnTo>
                  <a:lnTo>
                    <a:pt x="0" y="85166"/>
                  </a:lnTo>
                  <a:lnTo>
                    <a:pt x="85293" y="36029"/>
                  </a:lnTo>
                  <a:close/>
                </a:path>
              </a:pathLst>
            </a:custGeom>
            <a:solidFill>
              <a:srgbClr val="000000"/>
            </a:solidFill>
          </p:spPr>
          <p:txBody>
            <a:bodyPr wrap="square" lIns="0" tIns="0" rIns="0" bIns="0" rtlCol="0"/>
            <a:lstStyle/>
            <a:p>
              <a:endParaRPr/>
            </a:p>
          </p:txBody>
        </p:sp>
        <p:sp>
          <p:nvSpPr>
            <p:cNvPr id="12" name="object 12"/>
            <p:cNvSpPr/>
            <p:nvPr/>
          </p:nvSpPr>
          <p:spPr>
            <a:xfrm>
              <a:off x="4008158" y="6094031"/>
              <a:ext cx="36195" cy="36195"/>
            </a:xfrm>
            <a:custGeom>
              <a:avLst/>
              <a:gdLst/>
              <a:ahLst/>
              <a:cxnLst/>
              <a:rect l="l" t="t" r="r" b="b"/>
              <a:pathLst>
                <a:path w="36195" h="36195">
                  <a:moveTo>
                    <a:pt x="36017" y="0"/>
                  </a:moveTo>
                  <a:lnTo>
                    <a:pt x="0" y="36004"/>
                  </a:lnTo>
                </a:path>
              </a:pathLst>
            </a:custGeom>
            <a:ln w="9218">
              <a:solidFill>
                <a:srgbClr val="000000"/>
              </a:solidFill>
            </a:ln>
          </p:spPr>
          <p:txBody>
            <a:bodyPr wrap="square" lIns="0" tIns="0" rIns="0" bIns="0" rtlCol="0"/>
            <a:lstStyle/>
            <a:p>
              <a:endParaRPr/>
            </a:p>
          </p:txBody>
        </p:sp>
      </p:grpSp>
      <p:grpSp>
        <p:nvGrpSpPr>
          <p:cNvPr id="13" name="object 13"/>
          <p:cNvGrpSpPr/>
          <p:nvPr/>
        </p:nvGrpSpPr>
        <p:grpSpPr>
          <a:xfrm>
            <a:off x="5916745" y="5709924"/>
            <a:ext cx="205104" cy="204470"/>
            <a:chOff x="5608548" y="6393777"/>
            <a:chExt cx="205104" cy="204470"/>
          </a:xfrm>
        </p:grpSpPr>
        <p:sp>
          <p:nvSpPr>
            <p:cNvPr id="14" name="object 14"/>
            <p:cNvSpPr/>
            <p:nvPr/>
          </p:nvSpPr>
          <p:spPr>
            <a:xfrm>
              <a:off x="5638977" y="6423787"/>
              <a:ext cx="170180" cy="169545"/>
            </a:xfrm>
            <a:custGeom>
              <a:avLst/>
              <a:gdLst/>
              <a:ahLst/>
              <a:cxnLst/>
              <a:rect l="l" t="t" r="r" b="b"/>
              <a:pathLst>
                <a:path w="170179" h="169545">
                  <a:moveTo>
                    <a:pt x="0" y="0"/>
                  </a:moveTo>
                  <a:lnTo>
                    <a:pt x="169557" y="169506"/>
                  </a:lnTo>
                </a:path>
              </a:pathLst>
            </a:custGeom>
            <a:ln w="9218">
              <a:solidFill>
                <a:srgbClr val="000000"/>
              </a:solidFill>
            </a:ln>
          </p:spPr>
          <p:txBody>
            <a:bodyPr wrap="square" lIns="0" tIns="0" rIns="0" bIns="0" rtlCol="0"/>
            <a:lstStyle/>
            <a:p>
              <a:endParaRPr/>
            </a:p>
          </p:txBody>
        </p:sp>
        <p:sp>
          <p:nvSpPr>
            <p:cNvPr id="15" name="object 15"/>
            <p:cNvSpPr/>
            <p:nvPr/>
          </p:nvSpPr>
          <p:spPr>
            <a:xfrm>
              <a:off x="5608548" y="6393777"/>
              <a:ext cx="85725" cy="85725"/>
            </a:xfrm>
            <a:custGeom>
              <a:avLst/>
              <a:gdLst/>
              <a:ahLst/>
              <a:cxnLst/>
              <a:rect l="l" t="t" r="r" b="b"/>
              <a:pathLst>
                <a:path w="85725" h="85725">
                  <a:moveTo>
                    <a:pt x="85293" y="49136"/>
                  </a:moveTo>
                  <a:lnTo>
                    <a:pt x="0" y="0"/>
                  </a:lnTo>
                  <a:lnTo>
                    <a:pt x="49276" y="85153"/>
                  </a:lnTo>
                  <a:lnTo>
                    <a:pt x="85293" y="49136"/>
                  </a:lnTo>
                  <a:close/>
                </a:path>
              </a:pathLst>
            </a:custGeom>
            <a:solidFill>
              <a:srgbClr val="000000"/>
            </a:solidFill>
          </p:spPr>
          <p:txBody>
            <a:bodyPr wrap="square" lIns="0" tIns="0" rIns="0" bIns="0" rtlCol="0"/>
            <a:lstStyle/>
            <a:p>
              <a:endParaRPr/>
            </a:p>
          </p:txBody>
        </p:sp>
        <p:sp>
          <p:nvSpPr>
            <p:cNvPr id="16" name="object 16"/>
            <p:cNvSpPr/>
            <p:nvPr/>
          </p:nvSpPr>
          <p:spPr>
            <a:xfrm>
              <a:off x="5635688" y="6420917"/>
              <a:ext cx="36195" cy="36195"/>
            </a:xfrm>
            <a:custGeom>
              <a:avLst/>
              <a:gdLst/>
              <a:ahLst/>
              <a:cxnLst/>
              <a:rect l="l" t="t" r="r" b="b"/>
              <a:pathLst>
                <a:path w="36195" h="36195">
                  <a:moveTo>
                    <a:pt x="36004" y="35991"/>
                  </a:moveTo>
                  <a:lnTo>
                    <a:pt x="0" y="0"/>
                  </a:lnTo>
                </a:path>
              </a:pathLst>
            </a:custGeom>
            <a:ln w="9218">
              <a:solidFill>
                <a:srgbClr val="000000"/>
              </a:solidFill>
            </a:ln>
          </p:spPr>
          <p:txBody>
            <a:bodyPr wrap="square" lIns="0" tIns="0" rIns="0" bIns="0" rtlCol="0"/>
            <a:lstStyle/>
            <a:p>
              <a:endParaRPr/>
            </a:p>
          </p:txBody>
        </p:sp>
      </p:grpSp>
      <p:grpSp>
        <p:nvGrpSpPr>
          <p:cNvPr id="17" name="object 17"/>
          <p:cNvGrpSpPr/>
          <p:nvPr/>
        </p:nvGrpSpPr>
        <p:grpSpPr>
          <a:xfrm>
            <a:off x="8669719" y="2974079"/>
            <a:ext cx="342900" cy="340995"/>
            <a:chOff x="8350073" y="4251782"/>
            <a:chExt cx="342900" cy="340995"/>
          </a:xfrm>
        </p:grpSpPr>
        <p:sp>
          <p:nvSpPr>
            <p:cNvPr id="18" name="object 18"/>
            <p:cNvSpPr/>
            <p:nvPr/>
          </p:nvSpPr>
          <p:spPr>
            <a:xfrm>
              <a:off x="8354682" y="4256392"/>
              <a:ext cx="290195" cy="290195"/>
            </a:xfrm>
            <a:custGeom>
              <a:avLst/>
              <a:gdLst/>
              <a:ahLst/>
              <a:cxnLst/>
              <a:rect l="l" t="t" r="r" b="b"/>
              <a:pathLst>
                <a:path w="290195" h="290195">
                  <a:moveTo>
                    <a:pt x="290195" y="290118"/>
                  </a:moveTo>
                  <a:lnTo>
                    <a:pt x="0" y="0"/>
                  </a:lnTo>
                </a:path>
              </a:pathLst>
            </a:custGeom>
            <a:ln w="9218">
              <a:solidFill>
                <a:srgbClr val="000000"/>
              </a:solidFill>
            </a:ln>
          </p:spPr>
          <p:txBody>
            <a:bodyPr wrap="square" lIns="0" tIns="0" rIns="0" bIns="0" rtlCol="0"/>
            <a:lstStyle/>
            <a:p>
              <a:endParaRPr/>
            </a:p>
          </p:txBody>
        </p:sp>
        <p:sp>
          <p:nvSpPr>
            <p:cNvPr id="19" name="object 19"/>
            <p:cNvSpPr/>
            <p:nvPr/>
          </p:nvSpPr>
          <p:spPr>
            <a:xfrm>
              <a:off x="8607285" y="4507483"/>
              <a:ext cx="85725" cy="85725"/>
            </a:xfrm>
            <a:custGeom>
              <a:avLst/>
              <a:gdLst/>
              <a:ahLst/>
              <a:cxnLst/>
              <a:rect l="l" t="t" r="r" b="b"/>
              <a:pathLst>
                <a:path w="85725" h="85725">
                  <a:moveTo>
                    <a:pt x="85293" y="85153"/>
                  </a:moveTo>
                  <a:lnTo>
                    <a:pt x="36017" y="0"/>
                  </a:lnTo>
                  <a:lnTo>
                    <a:pt x="0" y="36017"/>
                  </a:lnTo>
                  <a:lnTo>
                    <a:pt x="85293" y="85153"/>
                  </a:lnTo>
                  <a:close/>
                </a:path>
              </a:pathLst>
            </a:custGeom>
            <a:solidFill>
              <a:srgbClr val="000000"/>
            </a:solidFill>
          </p:spPr>
          <p:txBody>
            <a:bodyPr wrap="square" lIns="0" tIns="0" rIns="0" bIns="0" rtlCol="0"/>
            <a:lstStyle/>
            <a:p>
              <a:endParaRPr/>
            </a:p>
          </p:txBody>
        </p:sp>
      </p:grpSp>
      <p:grpSp>
        <p:nvGrpSpPr>
          <p:cNvPr id="20" name="object 20"/>
          <p:cNvGrpSpPr/>
          <p:nvPr/>
        </p:nvGrpSpPr>
        <p:grpSpPr>
          <a:xfrm>
            <a:off x="3088131" y="2808318"/>
            <a:ext cx="4215765" cy="501650"/>
            <a:chOff x="2768485" y="4086021"/>
            <a:chExt cx="4215765" cy="501650"/>
          </a:xfrm>
        </p:grpSpPr>
        <p:sp>
          <p:nvSpPr>
            <p:cNvPr id="21" name="object 21"/>
            <p:cNvSpPr/>
            <p:nvPr/>
          </p:nvSpPr>
          <p:spPr>
            <a:xfrm>
              <a:off x="2768485" y="4491355"/>
              <a:ext cx="85725" cy="85725"/>
            </a:xfrm>
            <a:custGeom>
              <a:avLst/>
              <a:gdLst/>
              <a:ahLst/>
              <a:cxnLst/>
              <a:rect l="l" t="t" r="r" b="b"/>
              <a:pathLst>
                <a:path w="85725" h="85725">
                  <a:moveTo>
                    <a:pt x="85293" y="36017"/>
                  </a:moveTo>
                  <a:lnTo>
                    <a:pt x="49276" y="0"/>
                  </a:lnTo>
                  <a:lnTo>
                    <a:pt x="0" y="85140"/>
                  </a:lnTo>
                  <a:lnTo>
                    <a:pt x="85293" y="36017"/>
                  </a:lnTo>
                  <a:close/>
                </a:path>
              </a:pathLst>
            </a:custGeom>
            <a:solidFill>
              <a:srgbClr val="000000"/>
            </a:solidFill>
          </p:spPr>
          <p:txBody>
            <a:bodyPr wrap="square" lIns="0" tIns="0" rIns="0" bIns="0" rtlCol="0"/>
            <a:lstStyle/>
            <a:p>
              <a:endParaRPr/>
            </a:p>
          </p:txBody>
        </p:sp>
        <p:sp>
          <p:nvSpPr>
            <p:cNvPr id="22" name="object 22"/>
            <p:cNvSpPr/>
            <p:nvPr/>
          </p:nvSpPr>
          <p:spPr>
            <a:xfrm>
              <a:off x="2795625" y="4513376"/>
              <a:ext cx="36195" cy="36195"/>
            </a:xfrm>
            <a:custGeom>
              <a:avLst/>
              <a:gdLst/>
              <a:ahLst/>
              <a:cxnLst/>
              <a:rect l="l" t="t" r="r" b="b"/>
              <a:pathLst>
                <a:path w="36194" h="36195">
                  <a:moveTo>
                    <a:pt x="36004" y="0"/>
                  </a:moveTo>
                  <a:lnTo>
                    <a:pt x="0" y="35991"/>
                  </a:lnTo>
                </a:path>
              </a:pathLst>
            </a:custGeom>
            <a:ln w="9218">
              <a:solidFill>
                <a:srgbClr val="000000"/>
              </a:solidFill>
            </a:ln>
          </p:spPr>
          <p:txBody>
            <a:bodyPr wrap="square" lIns="0" tIns="0" rIns="0" bIns="0" rtlCol="0"/>
            <a:lstStyle/>
            <a:p>
              <a:endParaRPr/>
            </a:p>
          </p:txBody>
        </p:sp>
        <p:sp>
          <p:nvSpPr>
            <p:cNvPr id="23" name="object 23"/>
            <p:cNvSpPr/>
            <p:nvPr/>
          </p:nvSpPr>
          <p:spPr>
            <a:xfrm>
              <a:off x="4028732" y="4176496"/>
              <a:ext cx="368300" cy="370205"/>
            </a:xfrm>
            <a:custGeom>
              <a:avLst/>
              <a:gdLst/>
              <a:ahLst/>
              <a:cxnLst/>
              <a:rect l="l" t="t" r="r" b="b"/>
              <a:pathLst>
                <a:path w="368300" h="370204">
                  <a:moveTo>
                    <a:pt x="0" y="370014"/>
                  </a:moveTo>
                  <a:lnTo>
                    <a:pt x="367677" y="0"/>
                  </a:lnTo>
                </a:path>
              </a:pathLst>
            </a:custGeom>
            <a:ln w="9218">
              <a:solidFill>
                <a:srgbClr val="000000"/>
              </a:solidFill>
            </a:ln>
          </p:spPr>
          <p:txBody>
            <a:bodyPr wrap="square" lIns="0" tIns="0" rIns="0" bIns="0" rtlCol="0"/>
            <a:lstStyle/>
            <a:p>
              <a:endParaRPr/>
            </a:p>
          </p:txBody>
        </p:sp>
        <p:sp>
          <p:nvSpPr>
            <p:cNvPr id="24" name="object 24"/>
            <p:cNvSpPr/>
            <p:nvPr/>
          </p:nvSpPr>
          <p:spPr>
            <a:xfrm>
              <a:off x="3998302" y="4491355"/>
              <a:ext cx="85725" cy="85725"/>
            </a:xfrm>
            <a:custGeom>
              <a:avLst/>
              <a:gdLst/>
              <a:ahLst/>
              <a:cxnLst/>
              <a:rect l="l" t="t" r="r" b="b"/>
              <a:pathLst>
                <a:path w="85725" h="85725">
                  <a:moveTo>
                    <a:pt x="85305" y="36017"/>
                  </a:moveTo>
                  <a:lnTo>
                    <a:pt x="49288" y="0"/>
                  </a:lnTo>
                  <a:lnTo>
                    <a:pt x="0" y="85140"/>
                  </a:lnTo>
                  <a:lnTo>
                    <a:pt x="85305" y="36017"/>
                  </a:lnTo>
                  <a:close/>
                </a:path>
              </a:pathLst>
            </a:custGeom>
            <a:solidFill>
              <a:srgbClr val="000000"/>
            </a:solidFill>
          </p:spPr>
          <p:txBody>
            <a:bodyPr wrap="square" lIns="0" tIns="0" rIns="0" bIns="0" rtlCol="0"/>
            <a:lstStyle/>
            <a:p>
              <a:endParaRPr/>
            </a:p>
          </p:txBody>
        </p:sp>
        <p:sp>
          <p:nvSpPr>
            <p:cNvPr id="25" name="object 25"/>
            <p:cNvSpPr/>
            <p:nvPr/>
          </p:nvSpPr>
          <p:spPr>
            <a:xfrm>
              <a:off x="4025442" y="4513376"/>
              <a:ext cx="36195" cy="36195"/>
            </a:xfrm>
            <a:custGeom>
              <a:avLst/>
              <a:gdLst/>
              <a:ahLst/>
              <a:cxnLst/>
              <a:rect l="l" t="t" r="r" b="b"/>
              <a:pathLst>
                <a:path w="36195" h="36195">
                  <a:moveTo>
                    <a:pt x="36017" y="0"/>
                  </a:moveTo>
                  <a:lnTo>
                    <a:pt x="0" y="35991"/>
                  </a:lnTo>
                </a:path>
              </a:pathLst>
            </a:custGeom>
            <a:ln w="9218">
              <a:solidFill>
                <a:srgbClr val="000000"/>
              </a:solidFill>
            </a:ln>
          </p:spPr>
          <p:txBody>
            <a:bodyPr wrap="square" lIns="0" tIns="0" rIns="0" bIns="0" rtlCol="0"/>
            <a:lstStyle/>
            <a:p>
              <a:endParaRPr/>
            </a:p>
          </p:txBody>
        </p:sp>
        <p:sp>
          <p:nvSpPr>
            <p:cNvPr id="26" name="object 26"/>
            <p:cNvSpPr/>
            <p:nvPr/>
          </p:nvSpPr>
          <p:spPr>
            <a:xfrm>
              <a:off x="2798914" y="4176115"/>
              <a:ext cx="4154804" cy="370840"/>
            </a:xfrm>
            <a:custGeom>
              <a:avLst/>
              <a:gdLst/>
              <a:ahLst/>
              <a:cxnLst/>
              <a:rect l="l" t="t" r="r" b="b"/>
              <a:pathLst>
                <a:path w="4154804" h="370839">
                  <a:moveTo>
                    <a:pt x="4154525" y="370395"/>
                  </a:moveTo>
                  <a:lnTo>
                    <a:pt x="3784092" y="50"/>
                  </a:lnTo>
                  <a:lnTo>
                    <a:pt x="290182" y="0"/>
                  </a:lnTo>
                  <a:lnTo>
                    <a:pt x="0" y="370395"/>
                  </a:lnTo>
                </a:path>
              </a:pathLst>
            </a:custGeom>
            <a:ln w="9218">
              <a:solidFill>
                <a:srgbClr val="000000"/>
              </a:solidFill>
            </a:ln>
          </p:spPr>
          <p:txBody>
            <a:bodyPr wrap="square" lIns="0" tIns="0" rIns="0" bIns="0" rtlCol="0"/>
            <a:lstStyle/>
            <a:p>
              <a:endParaRPr/>
            </a:p>
          </p:txBody>
        </p:sp>
        <p:sp>
          <p:nvSpPr>
            <p:cNvPr id="27" name="object 27"/>
            <p:cNvSpPr/>
            <p:nvPr/>
          </p:nvSpPr>
          <p:spPr>
            <a:xfrm>
              <a:off x="6898563" y="4491355"/>
              <a:ext cx="85725" cy="85725"/>
            </a:xfrm>
            <a:custGeom>
              <a:avLst/>
              <a:gdLst/>
              <a:ahLst/>
              <a:cxnLst/>
              <a:rect l="l" t="t" r="r" b="b"/>
              <a:pathLst>
                <a:path w="85725" h="85725">
                  <a:moveTo>
                    <a:pt x="85293" y="85140"/>
                  </a:moveTo>
                  <a:lnTo>
                    <a:pt x="36004" y="0"/>
                  </a:lnTo>
                  <a:lnTo>
                    <a:pt x="0" y="36017"/>
                  </a:lnTo>
                  <a:lnTo>
                    <a:pt x="85293" y="85140"/>
                  </a:lnTo>
                  <a:close/>
                </a:path>
              </a:pathLst>
            </a:custGeom>
            <a:solidFill>
              <a:srgbClr val="000000"/>
            </a:solidFill>
          </p:spPr>
          <p:txBody>
            <a:bodyPr wrap="square" lIns="0" tIns="0" rIns="0" bIns="0" rtlCol="0"/>
            <a:lstStyle/>
            <a:p>
              <a:endParaRPr/>
            </a:p>
          </p:txBody>
        </p:sp>
        <p:sp>
          <p:nvSpPr>
            <p:cNvPr id="28" name="object 28"/>
            <p:cNvSpPr/>
            <p:nvPr/>
          </p:nvSpPr>
          <p:spPr>
            <a:xfrm>
              <a:off x="6920712" y="4513376"/>
              <a:ext cx="36195" cy="36195"/>
            </a:xfrm>
            <a:custGeom>
              <a:avLst/>
              <a:gdLst/>
              <a:ahLst/>
              <a:cxnLst/>
              <a:rect l="l" t="t" r="r" b="b"/>
              <a:pathLst>
                <a:path w="36195" h="36195">
                  <a:moveTo>
                    <a:pt x="0" y="0"/>
                  </a:moveTo>
                  <a:lnTo>
                    <a:pt x="36004" y="35991"/>
                  </a:lnTo>
                </a:path>
              </a:pathLst>
            </a:custGeom>
            <a:ln w="9218">
              <a:solidFill>
                <a:srgbClr val="000000"/>
              </a:solidFill>
            </a:ln>
          </p:spPr>
          <p:txBody>
            <a:bodyPr wrap="square" lIns="0" tIns="0" rIns="0" bIns="0" rtlCol="0"/>
            <a:lstStyle/>
            <a:p>
              <a:endParaRPr/>
            </a:p>
          </p:txBody>
        </p:sp>
        <p:sp>
          <p:nvSpPr>
            <p:cNvPr id="29" name="object 29"/>
            <p:cNvSpPr/>
            <p:nvPr/>
          </p:nvSpPr>
          <p:spPr>
            <a:xfrm>
              <a:off x="4686807" y="4176496"/>
              <a:ext cx="386715" cy="381000"/>
            </a:xfrm>
            <a:custGeom>
              <a:avLst/>
              <a:gdLst/>
              <a:ahLst/>
              <a:cxnLst/>
              <a:rect l="l" t="t" r="r" b="b"/>
              <a:pathLst>
                <a:path w="386714" h="381000">
                  <a:moveTo>
                    <a:pt x="386105" y="380936"/>
                  </a:moveTo>
                  <a:lnTo>
                    <a:pt x="0" y="0"/>
                  </a:lnTo>
                </a:path>
              </a:pathLst>
            </a:custGeom>
            <a:ln w="9218">
              <a:solidFill>
                <a:srgbClr val="000000"/>
              </a:solidFill>
            </a:ln>
          </p:spPr>
          <p:txBody>
            <a:bodyPr wrap="square" lIns="0" tIns="0" rIns="0" bIns="0" rtlCol="0"/>
            <a:lstStyle/>
            <a:p>
              <a:endParaRPr/>
            </a:p>
          </p:txBody>
        </p:sp>
        <p:sp>
          <p:nvSpPr>
            <p:cNvPr id="30" name="object 30"/>
            <p:cNvSpPr/>
            <p:nvPr/>
          </p:nvSpPr>
          <p:spPr>
            <a:xfrm>
              <a:off x="5018049" y="4502277"/>
              <a:ext cx="85725" cy="85725"/>
            </a:xfrm>
            <a:custGeom>
              <a:avLst/>
              <a:gdLst/>
              <a:ahLst/>
              <a:cxnLst/>
              <a:rect l="l" t="t" r="r" b="b"/>
              <a:pathLst>
                <a:path w="85725" h="85725">
                  <a:moveTo>
                    <a:pt x="85293" y="85153"/>
                  </a:moveTo>
                  <a:lnTo>
                    <a:pt x="36017" y="0"/>
                  </a:lnTo>
                  <a:lnTo>
                    <a:pt x="0" y="36029"/>
                  </a:lnTo>
                  <a:lnTo>
                    <a:pt x="85293" y="85153"/>
                  </a:lnTo>
                  <a:close/>
                </a:path>
              </a:pathLst>
            </a:custGeom>
            <a:solidFill>
              <a:srgbClr val="000000"/>
            </a:solidFill>
          </p:spPr>
          <p:txBody>
            <a:bodyPr wrap="square" lIns="0" tIns="0" rIns="0" bIns="0" rtlCol="0"/>
            <a:lstStyle/>
            <a:p>
              <a:endParaRPr/>
            </a:p>
          </p:txBody>
        </p:sp>
        <p:sp>
          <p:nvSpPr>
            <p:cNvPr id="31" name="object 31"/>
            <p:cNvSpPr/>
            <p:nvPr/>
          </p:nvSpPr>
          <p:spPr>
            <a:xfrm>
              <a:off x="5040198" y="4524298"/>
              <a:ext cx="36195" cy="36195"/>
            </a:xfrm>
            <a:custGeom>
              <a:avLst/>
              <a:gdLst/>
              <a:ahLst/>
              <a:cxnLst/>
              <a:rect l="l" t="t" r="r" b="b"/>
              <a:pathLst>
                <a:path w="36195" h="36195">
                  <a:moveTo>
                    <a:pt x="0" y="0"/>
                  </a:moveTo>
                  <a:lnTo>
                    <a:pt x="36004" y="35991"/>
                  </a:lnTo>
                </a:path>
              </a:pathLst>
            </a:custGeom>
            <a:ln w="9218">
              <a:solidFill>
                <a:srgbClr val="000000"/>
              </a:solidFill>
            </a:ln>
          </p:spPr>
          <p:txBody>
            <a:bodyPr wrap="square" lIns="0" tIns="0" rIns="0" bIns="0" rtlCol="0"/>
            <a:lstStyle/>
            <a:p>
              <a:endParaRPr/>
            </a:p>
          </p:txBody>
        </p:sp>
        <p:sp>
          <p:nvSpPr>
            <p:cNvPr id="32" name="object 32"/>
            <p:cNvSpPr/>
            <p:nvPr/>
          </p:nvSpPr>
          <p:spPr>
            <a:xfrm>
              <a:off x="4775923" y="4086021"/>
              <a:ext cx="1143635" cy="152400"/>
            </a:xfrm>
            <a:custGeom>
              <a:avLst/>
              <a:gdLst/>
              <a:ahLst/>
              <a:cxnLst/>
              <a:rect l="l" t="t" r="r" b="b"/>
              <a:pathLst>
                <a:path w="1143635" h="152400">
                  <a:moveTo>
                    <a:pt x="1143147" y="152111"/>
                  </a:moveTo>
                  <a:lnTo>
                    <a:pt x="1143147" y="0"/>
                  </a:lnTo>
                  <a:lnTo>
                    <a:pt x="0" y="0"/>
                  </a:lnTo>
                  <a:lnTo>
                    <a:pt x="0" y="152111"/>
                  </a:lnTo>
                  <a:lnTo>
                    <a:pt x="1143147" y="152111"/>
                  </a:lnTo>
                  <a:close/>
                </a:path>
              </a:pathLst>
            </a:custGeom>
            <a:solidFill>
              <a:srgbClr val="FFFFFF"/>
            </a:solidFill>
          </p:spPr>
          <p:txBody>
            <a:bodyPr wrap="square" lIns="0" tIns="0" rIns="0" bIns="0" rtlCol="0"/>
            <a:lstStyle/>
            <a:p>
              <a:endParaRPr/>
            </a:p>
          </p:txBody>
        </p:sp>
      </p:grpSp>
      <p:sp>
        <p:nvSpPr>
          <p:cNvPr id="33" name="object 33"/>
          <p:cNvSpPr txBox="1"/>
          <p:nvPr/>
        </p:nvSpPr>
        <p:spPr>
          <a:xfrm>
            <a:off x="1417053" y="1058049"/>
            <a:ext cx="7949832" cy="2397451"/>
          </a:xfrm>
          <a:prstGeom prst="rect">
            <a:avLst/>
          </a:prstGeom>
        </p:spPr>
        <p:txBody>
          <a:bodyPr vert="horz" wrap="square" lIns="0" tIns="133985" rIns="0" bIns="0" rtlCol="0">
            <a:spAutoFit/>
          </a:bodyPr>
          <a:lstStyle/>
          <a:p>
            <a:pPr marL="12700">
              <a:lnSpc>
                <a:spcPct val="100000"/>
              </a:lnSpc>
              <a:spcBef>
                <a:spcPts val="1055"/>
              </a:spcBef>
            </a:pPr>
            <a:r>
              <a:rPr sz="2650" dirty="0">
                <a:solidFill>
                  <a:srgbClr val="9B0707"/>
                </a:solidFill>
                <a:latin typeface="+mj-lt"/>
                <a:cs typeface="Arial MT"/>
              </a:rPr>
              <a:t>How</a:t>
            </a:r>
            <a:r>
              <a:rPr sz="2650" spc="-5" dirty="0">
                <a:solidFill>
                  <a:srgbClr val="9B0707"/>
                </a:solidFill>
                <a:latin typeface="+mj-lt"/>
                <a:cs typeface="Arial MT"/>
              </a:rPr>
              <a:t> </a:t>
            </a:r>
            <a:r>
              <a:rPr sz="2650" spc="5" dirty="0">
                <a:solidFill>
                  <a:srgbClr val="9B0707"/>
                </a:solidFill>
                <a:latin typeface="+mj-lt"/>
                <a:cs typeface="Arial MT"/>
              </a:rPr>
              <a:t>to</a:t>
            </a:r>
            <a:r>
              <a:rPr sz="2650" dirty="0">
                <a:solidFill>
                  <a:srgbClr val="9B0707"/>
                </a:solidFill>
                <a:latin typeface="+mj-lt"/>
                <a:cs typeface="Arial MT"/>
              </a:rPr>
              <a:t> </a:t>
            </a:r>
            <a:r>
              <a:rPr sz="2650" spc="20" dirty="0">
                <a:solidFill>
                  <a:srgbClr val="9B0707"/>
                </a:solidFill>
                <a:latin typeface="+mj-lt"/>
                <a:cs typeface="Arial MT"/>
              </a:rPr>
              <a:t>mark</a:t>
            </a:r>
            <a:r>
              <a:rPr sz="2650" spc="10" dirty="0">
                <a:solidFill>
                  <a:srgbClr val="9B0707"/>
                </a:solidFill>
                <a:latin typeface="+mj-lt"/>
                <a:cs typeface="Arial MT"/>
              </a:rPr>
              <a:t> </a:t>
            </a:r>
            <a:r>
              <a:rPr sz="2650" spc="5" dirty="0">
                <a:solidFill>
                  <a:srgbClr val="9B0707"/>
                </a:solidFill>
                <a:latin typeface="+mj-lt"/>
                <a:cs typeface="Arial MT"/>
              </a:rPr>
              <a:t>the</a:t>
            </a:r>
            <a:r>
              <a:rPr sz="2650" spc="-5" dirty="0">
                <a:solidFill>
                  <a:srgbClr val="9B0707"/>
                </a:solidFill>
                <a:latin typeface="+mj-lt"/>
                <a:cs typeface="Arial MT"/>
              </a:rPr>
              <a:t> </a:t>
            </a:r>
            <a:r>
              <a:rPr sz="2650" spc="25" dirty="0">
                <a:solidFill>
                  <a:srgbClr val="9B0707"/>
                </a:solidFill>
                <a:latin typeface="+mj-lt"/>
                <a:cs typeface="Arial MT"/>
              </a:rPr>
              <a:t>start</a:t>
            </a:r>
            <a:r>
              <a:rPr sz="2650" spc="5" dirty="0">
                <a:solidFill>
                  <a:srgbClr val="9B0707"/>
                </a:solidFill>
                <a:latin typeface="+mj-lt"/>
                <a:cs typeface="Arial MT"/>
              </a:rPr>
              <a:t> </a:t>
            </a:r>
            <a:r>
              <a:rPr sz="2650" spc="10" dirty="0">
                <a:solidFill>
                  <a:srgbClr val="9B0707"/>
                </a:solidFill>
                <a:latin typeface="+mj-lt"/>
                <a:cs typeface="Arial MT"/>
              </a:rPr>
              <a:t>and</a:t>
            </a:r>
            <a:r>
              <a:rPr sz="2650" spc="15" dirty="0">
                <a:solidFill>
                  <a:srgbClr val="9B0707"/>
                </a:solidFill>
                <a:latin typeface="+mj-lt"/>
                <a:cs typeface="Arial MT"/>
              </a:rPr>
              <a:t> </a:t>
            </a:r>
            <a:r>
              <a:rPr sz="2650" spc="10" dirty="0">
                <a:solidFill>
                  <a:srgbClr val="9B0707"/>
                </a:solidFill>
                <a:latin typeface="+mj-lt"/>
                <a:cs typeface="Arial MT"/>
              </a:rPr>
              <a:t>end</a:t>
            </a:r>
            <a:r>
              <a:rPr sz="2650" dirty="0">
                <a:solidFill>
                  <a:srgbClr val="9B0707"/>
                </a:solidFill>
                <a:latin typeface="+mj-lt"/>
                <a:cs typeface="Arial MT"/>
              </a:rPr>
              <a:t> </a:t>
            </a:r>
            <a:r>
              <a:rPr sz="2650" spc="5" dirty="0">
                <a:solidFill>
                  <a:srgbClr val="9B0707"/>
                </a:solidFill>
                <a:latin typeface="+mj-lt"/>
                <a:cs typeface="Arial MT"/>
              </a:rPr>
              <a:t>of</a:t>
            </a:r>
            <a:r>
              <a:rPr sz="2650" dirty="0">
                <a:solidFill>
                  <a:srgbClr val="9B0707"/>
                </a:solidFill>
                <a:latin typeface="+mj-lt"/>
                <a:cs typeface="Arial MT"/>
              </a:rPr>
              <a:t> </a:t>
            </a:r>
            <a:r>
              <a:rPr sz="2650" spc="10" dirty="0">
                <a:solidFill>
                  <a:srgbClr val="9B0707"/>
                </a:solidFill>
                <a:latin typeface="+mj-lt"/>
                <a:cs typeface="Arial MT"/>
              </a:rPr>
              <a:t>each </a:t>
            </a:r>
            <a:r>
              <a:rPr sz="2650" spc="5" dirty="0">
                <a:solidFill>
                  <a:srgbClr val="9B0707"/>
                </a:solidFill>
                <a:latin typeface="+mj-lt"/>
                <a:cs typeface="Arial MT"/>
              </a:rPr>
              <a:t>frame?</a:t>
            </a:r>
            <a:endParaRPr sz="2650" dirty="0">
              <a:latin typeface="+mj-lt"/>
              <a:cs typeface="Arial MT"/>
            </a:endParaRPr>
          </a:p>
          <a:p>
            <a:pPr marL="389890">
              <a:lnSpc>
                <a:spcPts val="3040"/>
              </a:lnSpc>
              <a:tabLst>
                <a:tab pos="791210" algn="l"/>
              </a:tabLst>
            </a:pPr>
            <a:r>
              <a:rPr sz="2650" spc="5" dirty="0">
                <a:latin typeface="+mj-lt"/>
                <a:cs typeface="Arial MT"/>
              </a:rPr>
              <a:t>Character</a:t>
            </a:r>
            <a:r>
              <a:rPr sz="2650" spc="-5" dirty="0">
                <a:latin typeface="+mj-lt"/>
                <a:cs typeface="Arial MT"/>
              </a:rPr>
              <a:t> </a:t>
            </a:r>
            <a:r>
              <a:rPr sz="2650" spc="10" dirty="0">
                <a:latin typeface="+mj-lt"/>
                <a:cs typeface="Arial MT"/>
              </a:rPr>
              <a:t>count:</a:t>
            </a:r>
            <a:r>
              <a:rPr sz="2650" spc="155" dirty="0">
                <a:latin typeface="+mj-lt"/>
                <a:cs typeface="Arial MT"/>
              </a:rPr>
              <a:t> </a:t>
            </a:r>
            <a:r>
              <a:rPr sz="2650" spc="10" dirty="0">
                <a:latin typeface="+mj-lt"/>
                <a:cs typeface="Arial MT"/>
              </a:rPr>
              <a:t>field</a:t>
            </a:r>
            <a:r>
              <a:rPr sz="2650" spc="-20" dirty="0">
                <a:latin typeface="+mj-lt"/>
                <a:cs typeface="Arial MT"/>
              </a:rPr>
              <a:t> </a:t>
            </a:r>
            <a:r>
              <a:rPr sz="2650" spc="10" dirty="0">
                <a:latin typeface="+mj-lt"/>
                <a:cs typeface="Arial MT"/>
              </a:rPr>
              <a:t>in</a:t>
            </a:r>
            <a:r>
              <a:rPr sz="2650" spc="-5" dirty="0">
                <a:latin typeface="+mj-lt"/>
                <a:cs typeface="Arial MT"/>
              </a:rPr>
              <a:t> </a:t>
            </a:r>
            <a:r>
              <a:rPr sz="2650" spc="10" dirty="0">
                <a:latin typeface="+mj-lt"/>
                <a:cs typeface="Arial MT"/>
              </a:rPr>
              <a:t>header</a:t>
            </a:r>
            <a:r>
              <a:rPr sz="2650" spc="-5" dirty="0">
                <a:latin typeface="+mj-lt"/>
                <a:cs typeface="Arial MT"/>
              </a:rPr>
              <a:t> </a:t>
            </a:r>
            <a:r>
              <a:rPr sz="2650" spc="-25" dirty="0">
                <a:latin typeface="+mj-lt"/>
                <a:cs typeface="Arial MT"/>
              </a:rPr>
              <a:t>for</a:t>
            </a:r>
            <a:r>
              <a:rPr sz="2650" spc="5" dirty="0">
                <a:latin typeface="+mj-lt"/>
                <a:cs typeface="Arial MT"/>
              </a:rPr>
              <a:t> frame</a:t>
            </a:r>
            <a:r>
              <a:rPr sz="2650" dirty="0">
                <a:latin typeface="+mj-lt"/>
                <a:cs typeface="Arial MT"/>
              </a:rPr>
              <a:t> size</a:t>
            </a:r>
          </a:p>
          <a:p>
            <a:pPr marL="3230245">
              <a:lnSpc>
                <a:spcPct val="100000"/>
              </a:lnSpc>
              <a:spcBef>
                <a:spcPts val="365"/>
              </a:spcBef>
              <a:tabLst>
                <a:tab pos="6510655" algn="l"/>
              </a:tabLst>
            </a:pPr>
            <a:endParaRPr lang="en-US" sz="1150" dirty="0">
              <a:latin typeface="+mj-lt"/>
              <a:cs typeface="Arial MT"/>
            </a:endParaRPr>
          </a:p>
          <a:p>
            <a:pPr marL="3230245">
              <a:lnSpc>
                <a:spcPct val="100000"/>
              </a:lnSpc>
              <a:spcBef>
                <a:spcPts val="365"/>
              </a:spcBef>
              <a:tabLst>
                <a:tab pos="6510655" algn="l"/>
              </a:tabLst>
            </a:pPr>
            <a:endParaRPr lang="en-US" sz="1150" dirty="0">
              <a:latin typeface="+mj-lt"/>
              <a:cs typeface="Arial MT"/>
            </a:endParaRPr>
          </a:p>
          <a:p>
            <a:pPr marL="3230245">
              <a:lnSpc>
                <a:spcPct val="100000"/>
              </a:lnSpc>
              <a:spcBef>
                <a:spcPts val="365"/>
              </a:spcBef>
              <a:tabLst>
                <a:tab pos="6510655" algn="l"/>
              </a:tabLst>
            </a:pPr>
            <a:r>
              <a:rPr sz="2000" dirty="0">
                <a:latin typeface="+mj-lt"/>
                <a:cs typeface="Arial MT"/>
              </a:rPr>
              <a:t>Character </a:t>
            </a:r>
            <a:r>
              <a:rPr sz="2000" spc="5" dirty="0">
                <a:latin typeface="+mj-lt"/>
                <a:cs typeface="Arial MT"/>
              </a:rPr>
              <a:t>count	One</a:t>
            </a:r>
            <a:r>
              <a:rPr sz="2000" spc="-40" dirty="0">
                <a:latin typeface="+mj-lt"/>
                <a:cs typeface="Arial MT"/>
              </a:rPr>
              <a:t> </a:t>
            </a:r>
            <a:r>
              <a:rPr sz="2000" spc="5" dirty="0">
                <a:latin typeface="+mj-lt"/>
                <a:cs typeface="Arial MT"/>
              </a:rPr>
              <a:t>character</a:t>
            </a:r>
            <a:endParaRPr sz="2000" dirty="0">
              <a:latin typeface="+mj-lt"/>
              <a:cs typeface="Arial MT"/>
            </a:endParaRPr>
          </a:p>
          <a:p>
            <a:pPr>
              <a:lnSpc>
                <a:spcPct val="100000"/>
              </a:lnSpc>
            </a:pPr>
            <a:endParaRPr sz="1300" dirty="0">
              <a:latin typeface="+mj-lt"/>
              <a:cs typeface="Arial MT"/>
            </a:endParaRPr>
          </a:p>
          <a:p>
            <a:pPr>
              <a:lnSpc>
                <a:spcPct val="100000"/>
              </a:lnSpc>
            </a:pPr>
            <a:endParaRPr sz="1150" dirty="0">
              <a:latin typeface="+mj-lt"/>
              <a:cs typeface="Arial MT"/>
            </a:endParaRPr>
          </a:p>
          <a:p>
            <a:pPr marL="787400">
              <a:lnSpc>
                <a:spcPct val="100000"/>
              </a:lnSpc>
            </a:pPr>
            <a:r>
              <a:rPr dirty="0">
                <a:latin typeface="+mj-lt"/>
                <a:cs typeface="Arial MT"/>
              </a:rPr>
              <a:t>(a)</a:t>
            </a:r>
          </a:p>
        </p:txBody>
      </p:sp>
      <p:sp>
        <p:nvSpPr>
          <p:cNvPr id="34" name="object 34"/>
          <p:cNvSpPr txBox="1"/>
          <p:nvPr/>
        </p:nvSpPr>
        <p:spPr>
          <a:xfrm>
            <a:off x="4433923" y="4945744"/>
            <a:ext cx="353695" cy="202565"/>
          </a:xfrm>
          <a:prstGeom prst="rect">
            <a:avLst/>
          </a:prstGeom>
        </p:spPr>
        <p:txBody>
          <a:bodyPr vert="horz" wrap="square" lIns="0" tIns="13970" rIns="0" bIns="0" rtlCol="0">
            <a:spAutoFit/>
          </a:bodyPr>
          <a:lstStyle/>
          <a:p>
            <a:pPr marL="12700">
              <a:lnSpc>
                <a:spcPct val="100000"/>
              </a:lnSpc>
              <a:spcBef>
                <a:spcPts val="110"/>
              </a:spcBef>
            </a:pPr>
            <a:r>
              <a:rPr sz="1150" spc="5" dirty="0">
                <a:latin typeface="Arial MT"/>
                <a:cs typeface="Arial MT"/>
              </a:rPr>
              <a:t>Error</a:t>
            </a:r>
            <a:endParaRPr sz="1150">
              <a:latin typeface="Arial MT"/>
              <a:cs typeface="Arial MT"/>
            </a:endParaRPr>
          </a:p>
        </p:txBody>
      </p:sp>
      <p:sp>
        <p:nvSpPr>
          <p:cNvPr id="35" name="object 35"/>
          <p:cNvSpPr txBox="1"/>
          <p:nvPr/>
        </p:nvSpPr>
        <p:spPr>
          <a:xfrm>
            <a:off x="3117551" y="3685061"/>
            <a:ext cx="837565" cy="377825"/>
          </a:xfrm>
          <a:prstGeom prst="rect">
            <a:avLst/>
          </a:prstGeom>
        </p:spPr>
        <p:txBody>
          <a:bodyPr vert="horz" wrap="square" lIns="0" tIns="13970" rIns="0" bIns="0" rtlCol="0">
            <a:spAutoFit/>
          </a:bodyPr>
          <a:lstStyle/>
          <a:p>
            <a:pPr algn="ctr">
              <a:lnSpc>
                <a:spcPct val="100000"/>
              </a:lnSpc>
              <a:spcBef>
                <a:spcPts val="110"/>
              </a:spcBef>
            </a:pPr>
            <a:r>
              <a:rPr sz="1150" spc="5" dirty="0">
                <a:latin typeface="Arial MT"/>
                <a:cs typeface="Arial MT"/>
              </a:rPr>
              <a:t>Frame</a:t>
            </a:r>
            <a:r>
              <a:rPr sz="1150" spc="-45" dirty="0">
                <a:latin typeface="Arial MT"/>
                <a:cs typeface="Arial MT"/>
              </a:rPr>
              <a:t> </a:t>
            </a:r>
            <a:r>
              <a:rPr sz="1150" spc="5" dirty="0">
                <a:latin typeface="Arial MT"/>
                <a:cs typeface="Arial MT"/>
              </a:rPr>
              <a:t>1</a:t>
            </a:r>
            <a:endParaRPr sz="1150">
              <a:latin typeface="Arial MT"/>
              <a:cs typeface="Arial MT"/>
            </a:endParaRPr>
          </a:p>
          <a:p>
            <a:pPr algn="ctr">
              <a:lnSpc>
                <a:spcPct val="100000"/>
              </a:lnSpc>
            </a:pPr>
            <a:r>
              <a:rPr sz="1150" spc="5" dirty="0">
                <a:latin typeface="Arial MT"/>
                <a:cs typeface="Arial MT"/>
              </a:rPr>
              <a:t>5</a:t>
            </a:r>
            <a:r>
              <a:rPr sz="1150" spc="-60" dirty="0">
                <a:latin typeface="Arial MT"/>
                <a:cs typeface="Arial MT"/>
              </a:rPr>
              <a:t> </a:t>
            </a:r>
            <a:r>
              <a:rPr sz="1150" spc="5" dirty="0">
                <a:latin typeface="Arial MT"/>
                <a:cs typeface="Arial MT"/>
              </a:rPr>
              <a:t>characters</a:t>
            </a:r>
            <a:endParaRPr sz="1150">
              <a:latin typeface="Arial MT"/>
              <a:cs typeface="Arial MT"/>
            </a:endParaRPr>
          </a:p>
        </p:txBody>
      </p:sp>
      <p:sp>
        <p:nvSpPr>
          <p:cNvPr id="36" name="object 36"/>
          <p:cNvSpPr/>
          <p:nvPr/>
        </p:nvSpPr>
        <p:spPr>
          <a:xfrm>
            <a:off x="2926886" y="5793870"/>
            <a:ext cx="1174115" cy="81280"/>
          </a:xfrm>
          <a:custGeom>
            <a:avLst/>
            <a:gdLst/>
            <a:ahLst/>
            <a:cxnLst/>
            <a:rect l="l" t="t" r="r" b="b"/>
            <a:pathLst>
              <a:path w="1174114" h="81279">
                <a:moveTo>
                  <a:pt x="0" y="0"/>
                </a:moveTo>
                <a:lnTo>
                  <a:pt x="3261" y="15975"/>
                </a:lnTo>
                <a:lnTo>
                  <a:pt x="12153" y="28784"/>
                </a:lnTo>
                <a:lnTo>
                  <a:pt x="25342" y="37297"/>
                </a:lnTo>
                <a:lnTo>
                  <a:pt x="41490" y="40386"/>
                </a:lnTo>
                <a:lnTo>
                  <a:pt x="556209" y="40386"/>
                </a:lnTo>
                <a:lnTo>
                  <a:pt x="572357" y="43474"/>
                </a:lnTo>
                <a:lnTo>
                  <a:pt x="585546" y="51987"/>
                </a:lnTo>
                <a:lnTo>
                  <a:pt x="594438" y="64796"/>
                </a:lnTo>
                <a:lnTo>
                  <a:pt x="597700" y="80772"/>
                </a:lnTo>
                <a:lnTo>
                  <a:pt x="600961" y="64796"/>
                </a:lnTo>
                <a:lnTo>
                  <a:pt x="609852" y="51987"/>
                </a:lnTo>
                <a:lnTo>
                  <a:pt x="623037" y="43474"/>
                </a:lnTo>
                <a:lnTo>
                  <a:pt x="639178" y="40386"/>
                </a:lnTo>
                <a:lnTo>
                  <a:pt x="1132395" y="40386"/>
                </a:lnTo>
                <a:lnTo>
                  <a:pt x="1148541" y="37297"/>
                </a:lnTo>
                <a:lnTo>
                  <a:pt x="1161726" y="28784"/>
                </a:lnTo>
                <a:lnTo>
                  <a:pt x="1170614" y="15975"/>
                </a:lnTo>
                <a:lnTo>
                  <a:pt x="1173873" y="0"/>
                </a:lnTo>
              </a:path>
            </a:pathLst>
          </a:custGeom>
          <a:ln w="9218">
            <a:solidFill>
              <a:srgbClr val="000000"/>
            </a:solidFill>
          </a:ln>
        </p:spPr>
        <p:txBody>
          <a:bodyPr wrap="square" lIns="0" tIns="0" rIns="0" bIns="0" rtlCol="0"/>
          <a:lstStyle/>
          <a:p>
            <a:endParaRPr/>
          </a:p>
        </p:txBody>
      </p:sp>
      <p:sp>
        <p:nvSpPr>
          <p:cNvPr id="37" name="object 37"/>
          <p:cNvSpPr txBox="1"/>
          <p:nvPr/>
        </p:nvSpPr>
        <p:spPr>
          <a:xfrm>
            <a:off x="3237312" y="5875844"/>
            <a:ext cx="575310" cy="202565"/>
          </a:xfrm>
          <a:prstGeom prst="rect">
            <a:avLst/>
          </a:prstGeom>
        </p:spPr>
        <p:txBody>
          <a:bodyPr vert="horz" wrap="square" lIns="0" tIns="13970" rIns="0" bIns="0" rtlCol="0">
            <a:spAutoFit/>
          </a:bodyPr>
          <a:lstStyle/>
          <a:p>
            <a:pPr marL="12700">
              <a:lnSpc>
                <a:spcPct val="100000"/>
              </a:lnSpc>
              <a:spcBef>
                <a:spcPts val="110"/>
              </a:spcBef>
            </a:pPr>
            <a:r>
              <a:rPr sz="1150" spc="5" dirty="0">
                <a:latin typeface="Arial MT"/>
                <a:cs typeface="Arial MT"/>
              </a:rPr>
              <a:t>Frame</a:t>
            </a:r>
            <a:r>
              <a:rPr sz="1150" spc="-70" dirty="0">
                <a:latin typeface="Arial MT"/>
                <a:cs typeface="Arial MT"/>
              </a:rPr>
              <a:t> </a:t>
            </a:r>
            <a:r>
              <a:rPr sz="1150" spc="5" dirty="0">
                <a:latin typeface="Arial MT"/>
                <a:cs typeface="Arial MT"/>
              </a:rPr>
              <a:t>1</a:t>
            </a:r>
            <a:endParaRPr sz="1150">
              <a:latin typeface="Arial MT"/>
              <a:cs typeface="Arial MT"/>
            </a:endParaRPr>
          </a:p>
        </p:txBody>
      </p:sp>
      <p:sp>
        <p:nvSpPr>
          <p:cNvPr id="38" name="object 38"/>
          <p:cNvSpPr txBox="1"/>
          <p:nvPr/>
        </p:nvSpPr>
        <p:spPr>
          <a:xfrm>
            <a:off x="4322167" y="3685069"/>
            <a:ext cx="837565" cy="377825"/>
          </a:xfrm>
          <a:prstGeom prst="rect">
            <a:avLst/>
          </a:prstGeom>
        </p:spPr>
        <p:txBody>
          <a:bodyPr vert="horz" wrap="square" lIns="0" tIns="13970" rIns="0" bIns="0" rtlCol="0">
            <a:spAutoFit/>
          </a:bodyPr>
          <a:lstStyle/>
          <a:p>
            <a:pPr algn="ctr">
              <a:lnSpc>
                <a:spcPct val="100000"/>
              </a:lnSpc>
              <a:spcBef>
                <a:spcPts val="110"/>
              </a:spcBef>
            </a:pPr>
            <a:r>
              <a:rPr sz="1150" spc="5" dirty="0">
                <a:latin typeface="Arial MT"/>
                <a:cs typeface="Arial MT"/>
              </a:rPr>
              <a:t>Frame</a:t>
            </a:r>
            <a:r>
              <a:rPr sz="1150" spc="-45" dirty="0">
                <a:latin typeface="Arial MT"/>
                <a:cs typeface="Arial MT"/>
              </a:rPr>
              <a:t> </a:t>
            </a:r>
            <a:r>
              <a:rPr sz="1150" spc="5" dirty="0">
                <a:latin typeface="Arial MT"/>
                <a:cs typeface="Arial MT"/>
              </a:rPr>
              <a:t>2</a:t>
            </a:r>
            <a:endParaRPr sz="1150">
              <a:latin typeface="Arial MT"/>
              <a:cs typeface="Arial MT"/>
            </a:endParaRPr>
          </a:p>
          <a:p>
            <a:pPr algn="ctr">
              <a:lnSpc>
                <a:spcPct val="100000"/>
              </a:lnSpc>
            </a:pPr>
            <a:r>
              <a:rPr sz="1150" spc="5" dirty="0">
                <a:latin typeface="Arial MT"/>
                <a:cs typeface="Arial MT"/>
              </a:rPr>
              <a:t>5</a:t>
            </a:r>
            <a:r>
              <a:rPr sz="1150" spc="-60" dirty="0">
                <a:latin typeface="Arial MT"/>
                <a:cs typeface="Arial MT"/>
              </a:rPr>
              <a:t> </a:t>
            </a:r>
            <a:r>
              <a:rPr sz="1150" spc="5" dirty="0">
                <a:latin typeface="Arial MT"/>
                <a:cs typeface="Arial MT"/>
              </a:rPr>
              <a:t>characters</a:t>
            </a:r>
            <a:endParaRPr sz="1150">
              <a:latin typeface="Arial MT"/>
              <a:cs typeface="Arial MT"/>
            </a:endParaRPr>
          </a:p>
        </p:txBody>
      </p:sp>
      <p:sp>
        <p:nvSpPr>
          <p:cNvPr id="39" name="object 39"/>
          <p:cNvSpPr/>
          <p:nvPr/>
        </p:nvSpPr>
        <p:spPr>
          <a:xfrm>
            <a:off x="4125347" y="5793870"/>
            <a:ext cx="1653539" cy="81280"/>
          </a:xfrm>
          <a:custGeom>
            <a:avLst/>
            <a:gdLst/>
            <a:ahLst/>
            <a:cxnLst/>
            <a:rect l="l" t="t" r="r" b="b"/>
            <a:pathLst>
              <a:path w="1653539" h="81279">
                <a:moveTo>
                  <a:pt x="0" y="0"/>
                </a:moveTo>
                <a:lnTo>
                  <a:pt x="3261" y="15975"/>
                </a:lnTo>
                <a:lnTo>
                  <a:pt x="12153" y="28784"/>
                </a:lnTo>
                <a:lnTo>
                  <a:pt x="25342" y="37297"/>
                </a:lnTo>
                <a:lnTo>
                  <a:pt x="41490" y="40386"/>
                </a:lnTo>
                <a:lnTo>
                  <a:pt x="780567" y="40386"/>
                </a:lnTo>
                <a:lnTo>
                  <a:pt x="796713" y="43474"/>
                </a:lnTo>
                <a:lnTo>
                  <a:pt x="809898" y="51987"/>
                </a:lnTo>
                <a:lnTo>
                  <a:pt x="818786" y="64796"/>
                </a:lnTo>
                <a:lnTo>
                  <a:pt x="822045" y="80772"/>
                </a:lnTo>
                <a:lnTo>
                  <a:pt x="825306" y="64796"/>
                </a:lnTo>
                <a:lnTo>
                  <a:pt x="834199" y="51987"/>
                </a:lnTo>
                <a:lnTo>
                  <a:pt x="847388" y="43474"/>
                </a:lnTo>
                <a:lnTo>
                  <a:pt x="863536" y="40386"/>
                </a:lnTo>
                <a:lnTo>
                  <a:pt x="1611782" y="40386"/>
                </a:lnTo>
                <a:lnTo>
                  <a:pt x="1627928" y="37297"/>
                </a:lnTo>
                <a:lnTo>
                  <a:pt x="1641113" y="28784"/>
                </a:lnTo>
                <a:lnTo>
                  <a:pt x="1650001" y="15975"/>
                </a:lnTo>
                <a:lnTo>
                  <a:pt x="1653260" y="0"/>
                </a:lnTo>
              </a:path>
            </a:pathLst>
          </a:custGeom>
          <a:ln w="9218">
            <a:solidFill>
              <a:srgbClr val="000000"/>
            </a:solidFill>
          </a:ln>
        </p:spPr>
        <p:txBody>
          <a:bodyPr wrap="square" lIns="0" tIns="0" rIns="0" bIns="0" rtlCol="0"/>
          <a:lstStyle/>
          <a:p>
            <a:endParaRPr/>
          </a:p>
        </p:txBody>
      </p:sp>
      <p:sp>
        <p:nvSpPr>
          <p:cNvPr id="40" name="object 40"/>
          <p:cNvSpPr txBox="1"/>
          <p:nvPr/>
        </p:nvSpPr>
        <p:spPr>
          <a:xfrm>
            <a:off x="4779943" y="5875844"/>
            <a:ext cx="575310" cy="377825"/>
          </a:xfrm>
          <a:prstGeom prst="rect">
            <a:avLst/>
          </a:prstGeom>
        </p:spPr>
        <p:txBody>
          <a:bodyPr vert="horz" wrap="square" lIns="0" tIns="13970" rIns="0" bIns="0" rtlCol="0">
            <a:spAutoFit/>
          </a:bodyPr>
          <a:lstStyle/>
          <a:p>
            <a:pPr marL="20955" marR="5080" indent="-8890">
              <a:lnSpc>
                <a:spcPct val="100000"/>
              </a:lnSpc>
              <a:spcBef>
                <a:spcPts val="110"/>
              </a:spcBef>
            </a:pPr>
            <a:r>
              <a:rPr sz="1150" spc="5" dirty="0">
                <a:latin typeface="Arial MT"/>
                <a:cs typeface="Arial MT"/>
              </a:rPr>
              <a:t>Frame 2  (Wrong)</a:t>
            </a:r>
            <a:endParaRPr sz="1150">
              <a:latin typeface="Arial MT"/>
              <a:cs typeface="Arial MT"/>
            </a:endParaRPr>
          </a:p>
        </p:txBody>
      </p:sp>
      <p:sp>
        <p:nvSpPr>
          <p:cNvPr id="41" name="object 41"/>
          <p:cNvSpPr txBox="1"/>
          <p:nvPr/>
        </p:nvSpPr>
        <p:spPr>
          <a:xfrm>
            <a:off x="5840211" y="3685069"/>
            <a:ext cx="837565" cy="377825"/>
          </a:xfrm>
          <a:prstGeom prst="rect">
            <a:avLst/>
          </a:prstGeom>
        </p:spPr>
        <p:txBody>
          <a:bodyPr vert="horz" wrap="square" lIns="0" tIns="13970" rIns="0" bIns="0" rtlCol="0">
            <a:spAutoFit/>
          </a:bodyPr>
          <a:lstStyle/>
          <a:p>
            <a:pPr algn="ctr">
              <a:lnSpc>
                <a:spcPct val="100000"/>
              </a:lnSpc>
              <a:spcBef>
                <a:spcPts val="110"/>
              </a:spcBef>
            </a:pPr>
            <a:r>
              <a:rPr sz="1150" spc="5" dirty="0">
                <a:latin typeface="Arial MT"/>
                <a:cs typeface="Arial MT"/>
              </a:rPr>
              <a:t>Frame</a:t>
            </a:r>
            <a:r>
              <a:rPr sz="1150" spc="-45" dirty="0">
                <a:latin typeface="Arial MT"/>
                <a:cs typeface="Arial MT"/>
              </a:rPr>
              <a:t> </a:t>
            </a:r>
            <a:r>
              <a:rPr sz="1150" spc="5" dirty="0">
                <a:latin typeface="Arial MT"/>
                <a:cs typeface="Arial MT"/>
              </a:rPr>
              <a:t>3</a:t>
            </a:r>
            <a:endParaRPr sz="1150">
              <a:latin typeface="Arial MT"/>
              <a:cs typeface="Arial MT"/>
            </a:endParaRPr>
          </a:p>
          <a:p>
            <a:pPr algn="ctr">
              <a:lnSpc>
                <a:spcPct val="100000"/>
              </a:lnSpc>
            </a:pPr>
            <a:r>
              <a:rPr sz="1150" spc="5" dirty="0">
                <a:latin typeface="Arial MT"/>
                <a:cs typeface="Arial MT"/>
              </a:rPr>
              <a:t>8</a:t>
            </a:r>
            <a:r>
              <a:rPr sz="1150" spc="-60" dirty="0">
                <a:latin typeface="Arial MT"/>
                <a:cs typeface="Arial MT"/>
              </a:rPr>
              <a:t> </a:t>
            </a:r>
            <a:r>
              <a:rPr sz="1150" spc="5" dirty="0">
                <a:latin typeface="Arial MT"/>
                <a:cs typeface="Arial MT"/>
              </a:rPr>
              <a:t>characters</a:t>
            </a:r>
            <a:endParaRPr sz="1150">
              <a:latin typeface="Arial MT"/>
              <a:cs typeface="Arial MT"/>
            </a:endParaRPr>
          </a:p>
        </p:txBody>
      </p:sp>
      <p:sp>
        <p:nvSpPr>
          <p:cNvPr id="42" name="object 42"/>
          <p:cNvSpPr txBox="1"/>
          <p:nvPr/>
        </p:nvSpPr>
        <p:spPr>
          <a:xfrm>
            <a:off x="7746996" y="3685069"/>
            <a:ext cx="837565" cy="377825"/>
          </a:xfrm>
          <a:prstGeom prst="rect">
            <a:avLst/>
          </a:prstGeom>
        </p:spPr>
        <p:txBody>
          <a:bodyPr vert="horz" wrap="square" lIns="0" tIns="13970" rIns="0" bIns="0" rtlCol="0">
            <a:spAutoFit/>
          </a:bodyPr>
          <a:lstStyle/>
          <a:p>
            <a:pPr algn="ctr">
              <a:lnSpc>
                <a:spcPct val="100000"/>
              </a:lnSpc>
              <a:spcBef>
                <a:spcPts val="110"/>
              </a:spcBef>
            </a:pPr>
            <a:r>
              <a:rPr sz="1150" spc="5" dirty="0">
                <a:latin typeface="Arial MT"/>
                <a:cs typeface="Arial MT"/>
              </a:rPr>
              <a:t>Frame</a:t>
            </a:r>
            <a:r>
              <a:rPr sz="1150" spc="-45" dirty="0">
                <a:latin typeface="Arial MT"/>
                <a:cs typeface="Arial MT"/>
              </a:rPr>
              <a:t> </a:t>
            </a:r>
            <a:r>
              <a:rPr sz="1150" spc="5" dirty="0">
                <a:latin typeface="Arial MT"/>
                <a:cs typeface="Arial MT"/>
              </a:rPr>
              <a:t>4</a:t>
            </a:r>
            <a:endParaRPr sz="1150">
              <a:latin typeface="Arial MT"/>
              <a:cs typeface="Arial MT"/>
            </a:endParaRPr>
          </a:p>
          <a:p>
            <a:pPr algn="ctr">
              <a:lnSpc>
                <a:spcPct val="100000"/>
              </a:lnSpc>
            </a:pPr>
            <a:r>
              <a:rPr sz="1150" spc="5" dirty="0">
                <a:latin typeface="Arial MT"/>
                <a:cs typeface="Arial MT"/>
              </a:rPr>
              <a:t>8</a:t>
            </a:r>
            <a:r>
              <a:rPr sz="1150" spc="-60" dirty="0">
                <a:latin typeface="Arial MT"/>
                <a:cs typeface="Arial MT"/>
              </a:rPr>
              <a:t> </a:t>
            </a:r>
            <a:r>
              <a:rPr sz="1150" spc="5" dirty="0">
                <a:latin typeface="Arial MT"/>
                <a:cs typeface="Arial MT"/>
              </a:rPr>
              <a:t>characters</a:t>
            </a:r>
            <a:endParaRPr sz="1150">
              <a:latin typeface="Arial MT"/>
              <a:cs typeface="Arial MT"/>
            </a:endParaRPr>
          </a:p>
        </p:txBody>
      </p:sp>
      <p:sp>
        <p:nvSpPr>
          <p:cNvPr id="43" name="object 43"/>
          <p:cNvSpPr txBox="1"/>
          <p:nvPr/>
        </p:nvSpPr>
        <p:spPr>
          <a:xfrm>
            <a:off x="6163860" y="5875845"/>
            <a:ext cx="1042669" cy="377825"/>
          </a:xfrm>
          <a:prstGeom prst="rect">
            <a:avLst/>
          </a:prstGeom>
        </p:spPr>
        <p:txBody>
          <a:bodyPr vert="horz" wrap="square" lIns="0" tIns="13970" rIns="0" bIns="0" rtlCol="0">
            <a:spAutoFit/>
          </a:bodyPr>
          <a:lstStyle/>
          <a:p>
            <a:pPr marL="12700" marR="5080">
              <a:lnSpc>
                <a:spcPct val="100000"/>
              </a:lnSpc>
              <a:spcBef>
                <a:spcPts val="110"/>
              </a:spcBef>
            </a:pPr>
            <a:r>
              <a:rPr sz="1150" dirty="0">
                <a:latin typeface="Arial MT"/>
                <a:cs typeface="Arial MT"/>
              </a:rPr>
              <a:t>Now </a:t>
            </a:r>
            <a:r>
              <a:rPr sz="1150" spc="5" dirty="0">
                <a:latin typeface="Arial MT"/>
                <a:cs typeface="Arial MT"/>
              </a:rPr>
              <a:t>a </a:t>
            </a:r>
            <a:r>
              <a:rPr sz="1150" spc="10" dirty="0">
                <a:latin typeface="Arial MT"/>
                <a:cs typeface="Arial MT"/>
              </a:rPr>
              <a:t> </a:t>
            </a:r>
            <a:r>
              <a:rPr sz="1150" spc="5" dirty="0">
                <a:latin typeface="Arial MT"/>
                <a:cs typeface="Arial MT"/>
              </a:rPr>
              <a:t>character</a:t>
            </a:r>
            <a:r>
              <a:rPr sz="1150" dirty="0">
                <a:latin typeface="Arial MT"/>
                <a:cs typeface="Arial MT"/>
              </a:rPr>
              <a:t> </a:t>
            </a:r>
            <a:r>
              <a:rPr sz="1150" spc="5" dirty="0">
                <a:latin typeface="Arial MT"/>
                <a:cs typeface="Arial MT"/>
              </a:rPr>
              <a:t>count</a:t>
            </a:r>
            <a:endParaRPr sz="1150">
              <a:latin typeface="Arial MT"/>
              <a:cs typeface="Arial MT"/>
            </a:endParaRPr>
          </a:p>
        </p:txBody>
      </p:sp>
      <p:sp>
        <p:nvSpPr>
          <p:cNvPr id="46" name="TextBox 45">
            <a:extLst>
              <a:ext uri="{FF2B5EF4-FFF2-40B4-BE49-F238E27FC236}">
                <a16:creationId xmlns:a16="http://schemas.microsoft.com/office/drawing/2014/main" id="{9E48798F-30B4-B5D3-8F52-9C4B091F821F}"/>
              </a:ext>
            </a:extLst>
          </p:cNvPr>
          <p:cNvSpPr txBox="1"/>
          <p:nvPr/>
        </p:nvSpPr>
        <p:spPr>
          <a:xfrm>
            <a:off x="3547484" y="4557731"/>
            <a:ext cx="5029200" cy="369332"/>
          </a:xfrm>
          <a:prstGeom prst="rect">
            <a:avLst/>
          </a:prstGeom>
          <a:noFill/>
        </p:spPr>
        <p:txBody>
          <a:bodyPr wrap="square">
            <a:spAutoFit/>
          </a:bodyPr>
          <a:lstStyle/>
          <a:p>
            <a:pPr marL="730250">
              <a:lnSpc>
                <a:spcPct val="100000"/>
              </a:lnSpc>
              <a:spcBef>
                <a:spcPts val="495"/>
              </a:spcBef>
            </a:pPr>
            <a:r>
              <a:rPr lang="en-US" spc="5" dirty="0">
                <a:solidFill>
                  <a:srgbClr val="006699"/>
                </a:solidFill>
                <a:latin typeface="+mj-lt"/>
                <a:cs typeface="Arial MT"/>
              </a:rPr>
              <a:t>T</a:t>
            </a:r>
            <a:r>
              <a:rPr lang="en-US" sz="1800" spc="5" dirty="0">
                <a:solidFill>
                  <a:srgbClr val="006699"/>
                </a:solidFill>
                <a:latin typeface="+mj-lt"/>
                <a:cs typeface="Arial MT"/>
              </a:rPr>
              <a:t>ransmission</a:t>
            </a:r>
            <a:r>
              <a:rPr lang="en-US" sz="1800" spc="40" dirty="0">
                <a:solidFill>
                  <a:srgbClr val="006699"/>
                </a:solidFill>
                <a:latin typeface="+mj-lt"/>
                <a:cs typeface="Arial MT"/>
              </a:rPr>
              <a:t> </a:t>
            </a:r>
            <a:r>
              <a:rPr lang="en-US" sz="1800" spc="5" dirty="0">
                <a:solidFill>
                  <a:srgbClr val="006699"/>
                </a:solidFill>
                <a:latin typeface="+mj-lt"/>
                <a:cs typeface="Arial MT"/>
              </a:rPr>
              <a:t>errors</a:t>
            </a:r>
            <a:r>
              <a:rPr lang="en-US" sz="1800" spc="35" dirty="0">
                <a:solidFill>
                  <a:srgbClr val="006699"/>
                </a:solidFill>
                <a:latin typeface="+mj-lt"/>
                <a:cs typeface="Arial MT"/>
              </a:rPr>
              <a:t> </a:t>
            </a:r>
            <a:r>
              <a:rPr lang="en-US" sz="1800" spc="5" dirty="0">
                <a:solidFill>
                  <a:srgbClr val="006699"/>
                </a:solidFill>
                <a:latin typeface="+mj-lt"/>
                <a:cs typeface="Arial MT"/>
              </a:rPr>
              <a:t>are</a:t>
            </a:r>
            <a:r>
              <a:rPr lang="en-US" sz="1800" dirty="0">
                <a:solidFill>
                  <a:srgbClr val="006699"/>
                </a:solidFill>
                <a:latin typeface="+mj-lt"/>
                <a:cs typeface="Arial MT"/>
              </a:rPr>
              <a:t> problematic</a:t>
            </a:r>
            <a:endParaRPr lang="en-US" sz="1800" dirty="0">
              <a:latin typeface="+mj-lt"/>
              <a:cs typeface="Arial MT"/>
            </a:endParaRPr>
          </a:p>
        </p:txBody>
      </p:sp>
    </p:spTree>
    <p:extLst>
      <p:ext uri="{BB962C8B-B14F-4D97-AF65-F5344CB8AC3E}">
        <p14:creationId xmlns:p14="http://schemas.microsoft.com/office/powerpoint/2010/main" val="3786727370"/>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4113" y="332953"/>
            <a:ext cx="5137912" cy="567463"/>
          </a:xfrm>
          <a:prstGeom prst="rect">
            <a:avLst/>
          </a:prstGeom>
        </p:spPr>
        <p:txBody>
          <a:bodyPr vert="horz" wrap="square" lIns="0" tIns="13335" rIns="0" bIns="0" rtlCol="0">
            <a:spAutoFit/>
          </a:bodyPr>
          <a:lstStyle/>
          <a:p>
            <a:pPr marL="12700">
              <a:lnSpc>
                <a:spcPct val="100000"/>
              </a:lnSpc>
              <a:spcBef>
                <a:spcPts val="105"/>
              </a:spcBef>
            </a:pPr>
            <a:r>
              <a:rPr lang="en-US" sz="3600" spc="-35" dirty="0"/>
              <a:t>Framing (Byte Count)</a:t>
            </a:r>
            <a:endParaRPr spc="-5" dirty="0"/>
          </a:p>
        </p:txBody>
      </p:sp>
      <p:sp>
        <p:nvSpPr>
          <p:cNvPr id="44" name="object 44"/>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9</a:t>
            </a:fld>
            <a:r>
              <a:rPr spc="10" dirty="0"/>
              <a:t>/69</a:t>
            </a:r>
          </a:p>
        </p:txBody>
      </p:sp>
      <p:sp>
        <p:nvSpPr>
          <p:cNvPr id="5" name="object 5"/>
          <p:cNvSpPr txBox="1"/>
          <p:nvPr/>
        </p:nvSpPr>
        <p:spPr>
          <a:xfrm>
            <a:off x="1693785" y="1759884"/>
            <a:ext cx="205740" cy="202565"/>
          </a:xfrm>
          <a:prstGeom prst="rect">
            <a:avLst/>
          </a:prstGeom>
        </p:spPr>
        <p:txBody>
          <a:bodyPr vert="horz" wrap="square" lIns="0" tIns="13970" rIns="0" bIns="0" rtlCol="0">
            <a:spAutoFit/>
          </a:bodyPr>
          <a:lstStyle/>
          <a:p>
            <a:pPr marL="12700">
              <a:lnSpc>
                <a:spcPct val="100000"/>
              </a:lnSpc>
              <a:spcBef>
                <a:spcPts val="110"/>
              </a:spcBef>
            </a:pPr>
            <a:r>
              <a:rPr sz="1150" dirty="0">
                <a:latin typeface="Arial MT"/>
                <a:cs typeface="Arial MT"/>
              </a:rPr>
              <a:t>(b)</a:t>
            </a:r>
            <a:endParaRPr sz="1150">
              <a:latin typeface="Arial MT"/>
              <a:cs typeface="Arial MT"/>
            </a:endParaRPr>
          </a:p>
        </p:txBody>
      </p:sp>
      <p:graphicFrame>
        <p:nvGraphicFramePr>
          <p:cNvPr id="7" name="object 7"/>
          <p:cNvGraphicFramePr>
            <a:graphicFrameLocks noGrp="1"/>
          </p:cNvGraphicFramePr>
          <p:nvPr>
            <p:extLst>
              <p:ext uri="{D42A27DB-BD31-4B8C-83A1-F6EECF244321}">
                <p14:modId xmlns:p14="http://schemas.microsoft.com/office/powerpoint/2010/main" val="1089491053"/>
              </p:ext>
            </p:extLst>
          </p:nvPr>
        </p:nvGraphicFramePr>
        <p:xfrm>
          <a:off x="1936432" y="1752600"/>
          <a:ext cx="6185535" cy="221254"/>
        </p:xfrm>
        <a:graphic>
          <a:graphicData uri="http://schemas.openxmlformats.org/drawingml/2006/table">
            <a:tbl>
              <a:tblPr firstRow="1" bandRow="1">
                <a:tableStyleId>{2D5ABB26-0587-4C30-8999-92F81FD0307C}</a:tableStyleId>
              </a:tblPr>
              <a:tblGrid>
                <a:gridCol w="238125">
                  <a:extLst>
                    <a:ext uri="{9D8B030D-6E8A-4147-A177-3AD203B41FA5}">
                      <a16:colId xmlns:a16="http://schemas.microsoft.com/office/drawing/2014/main" val="20000"/>
                    </a:ext>
                  </a:extLst>
                </a:gridCol>
                <a:gridCol w="238125">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gridCol w="238125">
                  <a:extLst>
                    <a:ext uri="{9D8B030D-6E8A-4147-A177-3AD203B41FA5}">
                      <a16:colId xmlns:a16="http://schemas.microsoft.com/office/drawing/2014/main" val="20003"/>
                    </a:ext>
                  </a:extLst>
                </a:gridCol>
                <a:gridCol w="238125">
                  <a:extLst>
                    <a:ext uri="{9D8B030D-6E8A-4147-A177-3AD203B41FA5}">
                      <a16:colId xmlns:a16="http://schemas.microsoft.com/office/drawing/2014/main" val="20004"/>
                    </a:ext>
                  </a:extLst>
                </a:gridCol>
                <a:gridCol w="238125">
                  <a:extLst>
                    <a:ext uri="{9D8B030D-6E8A-4147-A177-3AD203B41FA5}">
                      <a16:colId xmlns:a16="http://schemas.microsoft.com/office/drawing/2014/main" val="20005"/>
                    </a:ext>
                  </a:extLst>
                </a:gridCol>
                <a:gridCol w="238125">
                  <a:extLst>
                    <a:ext uri="{9D8B030D-6E8A-4147-A177-3AD203B41FA5}">
                      <a16:colId xmlns:a16="http://schemas.microsoft.com/office/drawing/2014/main" val="20006"/>
                    </a:ext>
                  </a:extLst>
                </a:gridCol>
                <a:gridCol w="238125">
                  <a:extLst>
                    <a:ext uri="{9D8B030D-6E8A-4147-A177-3AD203B41FA5}">
                      <a16:colId xmlns:a16="http://schemas.microsoft.com/office/drawing/2014/main" val="20007"/>
                    </a:ext>
                  </a:extLst>
                </a:gridCol>
                <a:gridCol w="238125">
                  <a:extLst>
                    <a:ext uri="{9D8B030D-6E8A-4147-A177-3AD203B41FA5}">
                      <a16:colId xmlns:a16="http://schemas.microsoft.com/office/drawing/2014/main" val="20008"/>
                    </a:ext>
                  </a:extLst>
                </a:gridCol>
                <a:gridCol w="238125">
                  <a:extLst>
                    <a:ext uri="{9D8B030D-6E8A-4147-A177-3AD203B41FA5}">
                      <a16:colId xmlns:a16="http://schemas.microsoft.com/office/drawing/2014/main" val="20009"/>
                    </a:ext>
                  </a:extLst>
                </a:gridCol>
                <a:gridCol w="238125">
                  <a:extLst>
                    <a:ext uri="{9D8B030D-6E8A-4147-A177-3AD203B41FA5}">
                      <a16:colId xmlns:a16="http://schemas.microsoft.com/office/drawing/2014/main" val="20010"/>
                    </a:ext>
                  </a:extLst>
                </a:gridCol>
                <a:gridCol w="238125">
                  <a:extLst>
                    <a:ext uri="{9D8B030D-6E8A-4147-A177-3AD203B41FA5}">
                      <a16:colId xmlns:a16="http://schemas.microsoft.com/office/drawing/2014/main" val="20011"/>
                    </a:ext>
                  </a:extLst>
                </a:gridCol>
                <a:gridCol w="238125">
                  <a:extLst>
                    <a:ext uri="{9D8B030D-6E8A-4147-A177-3AD203B41FA5}">
                      <a16:colId xmlns:a16="http://schemas.microsoft.com/office/drawing/2014/main" val="20012"/>
                    </a:ext>
                  </a:extLst>
                </a:gridCol>
                <a:gridCol w="238125">
                  <a:extLst>
                    <a:ext uri="{9D8B030D-6E8A-4147-A177-3AD203B41FA5}">
                      <a16:colId xmlns:a16="http://schemas.microsoft.com/office/drawing/2014/main" val="20013"/>
                    </a:ext>
                  </a:extLst>
                </a:gridCol>
                <a:gridCol w="238125">
                  <a:extLst>
                    <a:ext uri="{9D8B030D-6E8A-4147-A177-3AD203B41FA5}">
                      <a16:colId xmlns:a16="http://schemas.microsoft.com/office/drawing/2014/main" val="20014"/>
                    </a:ext>
                  </a:extLst>
                </a:gridCol>
                <a:gridCol w="238125">
                  <a:extLst>
                    <a:ext uri="{9D8B030D-6E8A-4147-A177-3AD203B41FA5}">
                      <a16:colId xmlns:a16="http://schemas.microsoft.com/office/drawing/2014/main" val="20015"/>
                    </a:ext>
                  </a:extLst>
                </a:gridCol>
                <a:gridCol w="238125">
                  <a:extLst>
                    <a:ext uri="{9D8B030D-6E8A-4147-A177-3AD203B41FA5}">
                      <a16:colId xmlns:a16="http://schemas.microsoft.com/office/drawing/2014/main" val="20016"/>
                    </a:ext>
                  </a:extLst>
                </a:gridCol>
                <a:gridCol w="238125">
                  <a:extLst>
                    <a:ext uri="{9D8B030D-6E8A-4147-A177-3AD203B41FA5}">
                      <a16:colId xmlns:a16="http://schemas.microsoft.com/office/drawing/2014/main" val="20017"/>
                    </a:ext>
                  </a:extLst>
                </a:gridCol>
                <a:gridCol w="238125">
                  <a:extLst>
                    <a:ext uri="{9D8B030D-6E8A-4147-A177-3AD203B41FA5}">
                      <a16:colId xmlns:a16="http://schemas.microsoft.com/office/drawing/2014/main" val="20018"/>
                    </a:ext>
                  </a:extLst>
                </a:gridCol>
                <a:gridCol w="238125">
                  <a:extLst>
                    <a:ext uri="{9D8B030D-6E8A-4147-A177-3AD203B41FA5}">
                      <a16:colId xmlns:a16="http://schemas.microsoft.com/office/drawing/2014/main" val="20019"/>
                    </a:ext>
                  </a:extLst>
                </a:gridCol>
                <a:gridCol w="238125">
                  <a:extLst>
                    <a:ext uri="{9D8B030D-6E8A-4147-A177-3AD203B41FA5}">
                      <a16:colId xmlns:a16="http://schemas.microsoft.com/office/drawing/2014/main" val="20020"/>
                    </a:ext>
                  </a:extLst>
                </a:gridCol>
                <a:gridCol w="238125">
                  <a:extLst>
                    <a:ext uri="{9D8B030D-6E8A-4147-A177-3AD203B41FA5}">
                      <a16:colId xmlns:a16="http://schemas.microsoft.com/office/drawing/2014/main" val="20021"/>
                    </a:ext>
                  </a:extLst>
                </a:gridCol>
                <a:gridCol w="238125">
                  <a:extLst>
                    <a:ext uri="{9D8B030D-6E8A-4147-A177-3AD203B41FA5}">
                      <a16:colId xmlns:a16="http://schemas.microsoft.com/office/drawing/2014/main" val="20022"/>
                    </a:ext>
                  </a:extLst>
                </a:gridCol>
                <a:gridCol w="238125">
                  <a:extLst>
                    <a:ext uri="{9D8B030D-6E8A-4147-A177-3AD203B41FA5}">
                      <a16:colId xmlns:a16="http://schemas.microsoft.com/office/drawing/2014/main" val="20023"/>
                    </a:ext>
                  </a:extLst>
                </a:gridCol>
                <a:gridCol w="238125">
                  <a:extLst>
                    <a:ext uri="{9D8B030D-6E8A-4147-A177-3AD203B41FA5}">
                      <a16:colId xmlns:a16="http://schemas.microsoft.com/office/drawing/2014/main" val="20024"/>
                    </a:ext>
                  </a:extLst>
                </a:gridCol>
                <a:gridCol w="232410">
                  <a:extLst>
                    <a:ext uri="{9D8B030D-6E8A-4147-A177-3AD203B41FA5}">
                      <a16:colId xmlns:a16="http://schemas.microsoft.com/office/drawing/2014/main" val="20025"/>
                    </a:ext>
                  </a:extLst>
                </a:gridCol>
              </a:tblGrid>
              <a:tr h="221254">
                <a:tc>
                  <a:txBody>
                    <a:bodyPr/>
                    <a:lstStyle/>
                    <a:p>
                      <a:pPr marL="74295">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835">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740">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64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4295">
                        <a:lnSpc>
                          <a:spcPct val="100000"/>
                        </a:lnSpc>
                        <a:spcBef>
                          <a:spcPts val="135"/>
                        </a:spcBef>
                      </a:pPr>
                      <a:r>
                        <a:rPr sz="1150" dirty="0">
                          <a:latin typeface="Arial MT"/>
                          <a:cs typeface="Arial MT"/>
                        </a:rPr>
                        <a:t>4</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200">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740">
                        <a:lnSpc>
                          <a:spcPct val="100000"/>
                        </a:lnSpc>
                        <a:spcBef>
                          <a:spcPts val="135"/>
                        </a:spcBef>
                      </a:pPr>
                      <a:r>
                        <a:rPr sz="1150" dirty="0">
                          <a:latin typeface="Arial MT"/>
                          <a:cs typeface="Arial MT"/>
                        </a:rPr>
                        <a:t>6</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645">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185">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090">
                        <a:lnSpc>
                          <a:spcPct val="100000"/>
                        </a:lnSpc>
                        <a:spcBef>
                          <a:spcPts val="135"/>
                        </a:spcBef>
                      </a:pPr>
                      <a:r>
                        <a:rPr sz="1150" dirty="0">
                          <a:latin typeface="Arial MT"/>
                          <a:cs typeface="Arial MT"/>
                        </a:rPr>
                        <a:t>9</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763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9535">
                        <a:lnSpc>
                          <a:spcPct val="100000"/>
                        </a:lnSpc>
                        <a:spcBef>
                          <a:spcPts val="135"/>
                        </a:spcBef>
                      </a:pPr>
                      <a:r>
                        <a:rPr sz="1150" dirty="0">
                          <a:latin typeface="Arial MT"/>
                          <a:cs typeface="Arial MT"/>
                        </a:rPr>
                        <a:t>0</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3185">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5090">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699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9535">
                        <a:lnSpc>
                          <a:spcPct val="100000"/>
                        </a:lnSpc>
                        <a:spcBef>
                          <a:spcPts val="135"/>
                        </a:spcBef>
                      </a:pPr>
                      <a:r>
                        <a:rPr sz="1150" dirty="0">
                          <a:latin typeface="Arial MT"/>
                          <a:cs typeface="Arial MT"/>
                        </a:rPr>
                        <a:t>4</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3660">
                        <a:lnSpc>
                          <a:spcPct val="100000"/>
                        </a:lnSpc>
                        <a:spcBef>
                          <a:spcPts val="135"/>
                        </a:spcBef>
                      </a:pPr>
                      <a:r>
                        <a:rPr sz="1150" dirty="0">
                          <a:latin typeface="Arial MT"/>
                          <a:cs typeface="Arial MT"/>
                        </a:rPr>
                        <a:t>5</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6200">
                        <a:lnSpc>
                          <a:spcPct val="100000"/>
                        </a:lnSpc>
                        <a:spcBef>
                          <a:spcPts val="135"/>
                        </a:spcBef>
                      </a:pPr>
                      <a:r>
                        <a:rPr sz="1150" dirty="0">
                          <a:latin typeface="Arial MT"/>
                          <a:cs typeface="Arial MT"/>
                        </a:rPr>
                        <a:t>6</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105">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645">
                        <a:lnSpc>
                          <a:spcPct val="100000"/>
                        </a:lnSpc>
                        <a:spcBef>
                          <a:spcPts val="135"/>
                        </a:spcBef>
                      </a:pPr>
                      <a:r>
                        <a:rPr sz="1150" dirty="0">
                          <a:latin typeface="Arial MT"/>
                          <a:cs typeface="Arial MT"/>
                        </a:rPr>
                        <a:t>7</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2550">
                        <a:lnSpc>
                          <a:spcPct val="100000"/>
                        </a:lnSpc>
                        <a:spcBef>
                          <a:spcPts val="135"/>
                        </a:spcBef>
                      </a:pPr>
                      <a:r>
                        <a:rPr sz="1150" dirty="0">
                          <a:latin typeface="Arial MT"/>
                          <a:cs typeface="Arial MT"/>
                        </a:rPr>
                        <a:t>8</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5565">
                        <a:lnSpc>
                          <a:spcPct val="100000"/>
                        </a:lnSpc>
                        <a:spcBef>
                          <a:spcPts val="135"/>
                        </a:spcBef>
                      </a:pPr>
                      <a:r>
                        <a:rPr sz="1150" dirty="0">
                          <a:latin typeface="Arial MT"/>
                          <a:cs typeface="Arial MT"/>
                        </a:rPr>
                        <a:t>9</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8105">
                        <a:lnSpc>
                          <a:spcPct val="100000"/>
                        </a:lnSpc>
                        <a:spcBef>
                          <a:spcPts val="135"/>
                        </a:spcBef>
                      </a:pPr>
                      <a:r>
                        <a:rPr sz="1150" dirty="0">
                          <a:latin typeface="Arial MT"/>
                          <a:cs typeface="Arial MT"/>
                        </a:rPr>
                        <a:t>0</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0010">
                        <a:lnSpc>
                          <a:spcPct val="100000"/>
                        </a:lnSpc>
                        <a:spcBef>
                          <a:spcPts val="135"/>
                        </a:spcBef>
                      </a:pPr>
                      <a:r>
                        <a:rPr sz="1150" dirty="0">
                          <a:latin typeface="Arial MT"/>
                          <a:cs typeface="Arial MT"/>
                        </a:rPr>
                        <a:t>1</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2550">
                        <a:lnSpc>
                          <a:spcPct val="100000"/>
                        </a:lnSpc>
                        <a:spcBef>
                          <a:spcPts val="135"/>
                        </a:spcBef>
                      </a:pPr>
                      <a:r>
                        <a:rPr sz="1150" dirty="0">
                          <a:latin typeface="Arial MT"/>
                          <a:cs typeface="Arial MT"/>
                        </a:rPr>
                        <a:t>2</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84455">
                        <a:lnSpc>
                          <a:spcPct val="100000"/>
                        </a:lnSpc>
                        <a:spcBef>
                          <a:spcPts val="135"/>
                        </a:spcBef>
                      </a:pPr>
                      <a:r>
                        <a:rPr sz="1150" dirty="0">
                          <a:latin typeface="Arial MT"/>
                          <a:cs typeface="Arial MT"/>
                        </a:rPr>
                        <a:t>3</a:t>
                      </a:r>
                      <a:endParaRPr sz="1150">
                        <a:latin typeface="Arial MT"/>
                        <a:cs typeface="Arial MT"/>
                      </a:endParaRPr>
                    </a:p>
                  </a:txBody>
                  <a:tcPr marL="0" marR="0" marT="171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pSp>
        <p:nvGrpSpPr>
          <p:cNvPr id="9" name="object 9"/>
          <p:cNvGrpSpPr/>
          <p:nvPr/>
        </p:nvGrpSpPr>
        <p:grpSpPr>
          <a:xfrm>
            <a:off x="3307981" y="1421879"/>
            <a:ext cx="325755" cy="325120"/>
            <a:chOff x="3981018" y="5832450"/>
            <a:chExt cx="325755" cy="325120"/>
          </a:xfrm>
        </p:grpSpPr>
        <p:sp>
          <p:nvSpPr>
            <p:cNvPr id="10" name="object 10"/>
            <p:cNvSpPr/>
            <p:nvPr/>
          </p:nvSpPr>
          <p:spPr>
            <a:xfrm>
              <a:off x="4011447" y="5837059"/>
              <a:ext cx="290195" cy="290195"/>
            </a:xfrm>
            <a:custGeom>
              <a:avLst/>
              <a:gdLst/>
              <a:ahLst/>
              <a:cxnLst/>
              <a:rect l="l" t="t" r="r" b="b"/>
              <a:pathLst>
                <a:path w="290195" h="290195">
                  <a:moveTo>
                    <a:pt x="0" y="290118"/>
                  </a:moveTo>
                  <a:lnTo>
                    <a:pt x="290182" y="0"/>
                  </a:lnTo>
                </a:path>
              </a:pathLst>
            </a:custGeom>
            <a:ln w="9218">
              <a:solidFill>
                <a:srgbClr val="000000"/>
              </a:solidFill>
            </a:ln>
          </p:spPr>
          <p:txBody>
            <a:bodyPr wrap="square" lIns="0" tIns="0" rIns="0" bIns="0" rtlCol="0"/>
            <a:lstStyle/>
            <a:p>
              <a:endParaRPr/>
            </a:p>
          </p:txBody>
        </p:sp>
        <p:sp>
          <p:nvSpPr>
            <p:cNvPr id="11" name="object 11"/>
            <p:cNvSpPr/>
            <p:nvPr/>
          </p:nvSpPr>
          <p:spPr>
            <a:xfrm>
              <a:off x="3981018" y="6072009"/>
              <a:ext cx="85725" cy="85725"/>
            </a:xfrm>
            <a:custGeom>
              <a:avLst/>
              <a:gdLst/>
              <a:ahLst/>
              <a:cxnLst/>
              <a:rect l="l" t="t" r="r" b="b"/>
              <a:pathLst>
                <a:path w="85725" h="85725">
                  <a:moveTo>
                    <a:pt x="85293" y="36029"/>
                  </a:moveTo>
                  <a:lnTo>
                    <a:pt x="49288" y="0"/>
                  </a:lnTo>
                  <a:lnTo>
                    <a:pt x="0" y="85166"/>
                  </a:lnTo>
                  <a:lnTo>
                    <a:pt x="85293" y="36029"/>
                  </a:lnTo>
                  <a:close/>
                </a:path>
              </a:pathLst>
            </a:custGeom>
            <a:solidFill>
              <a:srgbClr val="000000"/>
            </a:solidFill>
          </p:spPr>
          <p:txBody>
            <a:bodyPr wrap="square" lIns="0" tIns="0" rIns="0" bIns="0" rtlCol="0"/>
            <a:lstStyle/>
            <a:p>
              <a:endParaRPr/>
            </a:p>
          </p:txBody>
        </p:sp>
        <p:sp>
          <p:nvSpPr>
            <p:cNvPr id="12" name="object 12"/>
            <p:cNvSpPr/>
            <p:nvPr/>
          </p:nvSpPr>
          <p:spPr>
            <a:xfrm>
              <a:off x="4008158" y="6094031"/>
              <a:ext cx="36195" cy="36195"/>
            </a:xfrm>
            <a:custGeom>
              <a:avLst/>
              <a:gdLst/>
              <a:ahLst/>
              <a:cxnLst/>
              <a:rect l="l" t="t" r="r" b="b"/>
              <a:pathLst>
                <a:path w="36195" h="36195">
                  <a:moveTo>
                    <a:pt x="36017" y="0"/>
                  </a:moveTo>
                  <a:lnTo>
                    <a:pt x="0" y="36004"/>
                  </a:lnTo>
                </a:path>
              </a:pathLst>
            </a:custGeom>
            <a:ln w="9218">
              <a:solidFill>
                <a:srgbClr val="000000"/>
              </a:solidFill>
            </a:ln>
          </p:spPr>
          <p:txBody>
            <a:bodyPr wrap="square" lIns="0" tIns="0" rIns="0" bIns="0" rtlCol="0"/>
            <a:lstStyle/>
            <a:p>
              <a:endParaRPr/>
            </a:p>
          </p:txBody>
        </p:sp>
      </p:grpSp>
      <p:grpSp>
        <p:nvGrpSpPr>
          <p:cNvPr id="13" name="object 13"/>
          <p:cNvGrpSpPr/>
          <p:nvPr/>
        </p:nvGrpSpPr>
        <p:grpSpPr>
          <a:xfrm>
            <a:off x="4935511" y="1983206"/>
            <a:ext cx="205104" cy="204470"/>
            <a:chOff x="5608548" y="6393777"/>
            <a:chExt cx="205104" cy="204470"/>
          </a:xfrm>
        </p:grpSpPr>
        <p:sp>
          <p:nvSpPr>
            <p:cNvPr id="14" name="object 14"/>
            <p:cNvSpPr/>
            <p:nvPr/>
          </p:nvSpPr>
          <p:spPr>
            <a:xfrm>
              <a:off x="5638977" y="6423787"/>
              <a:ext cx="170180" cy="169545"/>
            </a:xfrm>
            <a:custGeom>
              <a:avLst/>
              <a:gdLst/>
              <a:ahLst/>
              <a:cxnLst/>
              <a:rect l="l" t="t" r="r" b="b"/>
              <a:pathLst>
                <a:path w="170179" h="169545">
                  <a:moveTo>
                    <a:pt x="0" y="0"/>
                  </a:moveTo>
                  <a:lnTo>
                    <a:pt x="169557" y="169506"/>
                  </a:lnTo>
                </a:path>
              </a:pathLst>
            </a:custGeom>
            <a:ln w="9218">
              <a:solidFill>
                <a:srgbClr val="000000"/>
              </a:solidFill>
            </a:ln>
          </p:spPr>
          <p:txBody>
            <a:bodyPr wrap="square" lIns="0" tIns="0" rIns="0" bIns="0" rtlCol="0"/>
            <a:lstStyle/>
            <a:p>
              <a:endParaRPr/>
            </a:p>
          </p:txBody>
        </p:sp>
        <p:sp>
          <p:nvSpPr>
            <p:cNvPr id="15" name="object 15"/>
            <p:cNvSpPr/>
            <p:nvPr/>
          </p:nvSpPr>
          <p:spPr>
            <a:xfrm>
              <a:off x="5608548" y="6393777"/>
              <a:ext cx="85725" cy="85725"/>
            </a:xfrm>
            <a:custGeom>
              <a:avLst/>
              <a:gdLst/>
              <a:ahLst/>
              <a:cxnLst/>
              <a:rect l="l" t="t" r="r" b="b"/>
              <a:pathLst>
                <a:path w="85725" h="85725">
                  <a:moveTo>
                    <a:pt x="85293" y="49136"/>
                  </a:moveTo>
                  <a:lnTo>
                    <a:pt x="0" y="0"/>
                  </a:lnTo>
                  <a:lnTo>
                    <a:pt x="49276" y="85153"/>
                  </a:lnTo>
                  <a:lnTo>
                    <a:pt x="85293" y="49136"/>
                  </a:lnTo>
                  <a:close/>
                </a:path>
              </a:pathLst>
            </a:custGeom>
            <a:solidFill>
              <a:srgbClr val="000000"/>
            </a:solidFill>
          </p:spPr>
          <p:txBody>
            <a:bodyPr wrap="square" lIns="0" tIns="0" rIns="0" bIns="0" rtlCol="0"/>
            <a:lstStyle/>
            <a:p>
              <a:endParaRPr/>
            </a:p>
          </p:txBody>
        </p:sp>
        <p:sp>
          <p:nvSpPr>
            <p:cNvPr id="16" name="object 16"/>
            <p:cNvSpPr/>
            <p:nvPr/>
          </p:nvSpPr>
          <p:spPr>
            <a:xfrm>
              <a:off x="5635688" y="6420917"/>
              <a:ext cx="36195" cy="36195"/>
            </a:xfrm>
            <a:custGeom>
              <a:avLst/>
              <a:gdLst/>
              <a:ahLst/>
              <a:cxnLst/>
              <a:rect l="l" t="t" r="r" b="b"/>
              <a:pathLst>
                <a:path w="36195" h="36195">
                  <a:moveTo>
                    <a:pt x="36004" y="35991"/>
                  </a:moveTo>
                  <a:lnTo>
                    <a:pt x="0" y="0"/>
                  </a:lnTo>
                </a:path>
              </a:pathLst>
            </a:custGeom>
            <a:ln w="9218">
              <a:solidFill>
                <a:srgbClr val="000000"/>
              </a:solidFill>
            </a:ln>
          </p:spPr>
          <p:txBody>
            <a:bodyPr wrap="square" lIns="0" tIns="0" rIns="0" bIns="0" rtlCol="0"/>
            <a:lstStyle/>
            <a:p>
              <a:endParaRPr/>
            </a:p>
          </p:txBody>
        </p:sp>
      </p:grpSp>
      <p:sp>
        <p:nvSpPr>
          <p:cNvPr id="34" name="object 34"/>
          <p:cNvSpPr txBox="1"/>
          <p:nvPr/>
        </p:nvSpPr>
        <p:spPr>
          <a:xfrm>
            <a:off x="3452689" y="1219026"/>
            <a:ext cx="353695" cy="202565"/>
          </a:xfrm>
          <a:prstGeom prst="rect">
            <a:avLst/>
          </a:prstGeom>
        </p:spPr>
        <p:txBody>
          <a:bodyPr vert="horz" wrap="square" lIns="0" tIns="13970" rIns="0" bIns="0" rtlCol="0">
            <a:spAutoFit/>
          </a:bodyPr>
          <a:lstStyle/>
          <a:p>
            <a:pPr marL="12700">
              <a:lnSpc>
                <a:spcPct val="100000"/>
              </a:lnSpc>
              <a:spcBef>
                <a:spcPts val="110"/>
              </a:spcBef>
            </a:pPr>
            <a:r>
              <a:rPr sz="1150" spc="5" dirty="0">
                <a:latin typeface="Arial MT"/>
                <a:cs typeface="Arial MT"/>
              </a:rPr>
              <a:t>Error</a:t>
            </a:r>
            <a:endParaRPr sz="1150">
              <a:latin typeface="Arial MT"/>
              <a:cs typeface="Arial MT"/>
            </a:endParaRPr>
          </a:p>
        </p:txBody>
      </p:sp>
      <p:sp>
        <p:nvSpPr>
          <p:cNvPr id="36" name="object 36"/>
          <p:cNvSpPr/>
          <p:nvPr/>
        </p:nvSpPr>
        <p:spPr>
          <a:xfrm>
            <a:off x="1945652" y="2067152"/>
            <a:ext cx="1174115" cy="81280"/>
          </a:xfrm>
          <a:custGeom>
            <a:avLst/>
            <a:gdLst/>
            <a:ahLst/>
            <a:cxnLst/>
            <a:rect l="l" t="t" r="r" b="b"/>
            <a:pathLst>
              <a:path w="1174114" h="81279">
                <a:moveTo>
                  <a:pt x="0" y="0"/>
                </a:moveTo>
                <a:lnTo>
                  <a:pt x="3261" y="15975"/>
                </a:lnTo>
                <a:lnTo>
                  <a:pt x="12153" y="28784"/>
                </a:lnTo>
                <a:lnTo>
                  <a:pt x="25342" y="37297"/>
                </a:lnTo>
                <a:lnTo>
                  <a:pt x="41490" y="40386"/>
                </a:lnTo>
                <a:lnTo>
                  <a:pt x="556209" y="40386"/>
                </a:lnTo>
                <a:lnTo>
                  <a:pt x="572357" y="43474"/>
                </a:lnTo>
                <a:lnTo>
                  <a:pt x="585546" y="51987"/>
                </a:lnTo>
                <a:lnTo>
                  <a:pt x="594438" y="64796"/>
                </a:lnTo>
                <a:lnTo>
                  <a:pt x="597700" y="80772"/>
                </a:lnTo>
                <a:lnTo>
                  <a:pt x="600961" y="64796"/>
                </a:lnTo>
                <a:lnTo>
                  <a:pt x="609852" y="51987"/>
                </a:lnTo>
                <a:lnTo>
                  <a:pt x="623037" y="43474"/>
                </a:lnTo>
                <a:lnTo>
                  <a:pt x="639178" y="40386"/>
                </a:lnTo>
                <a:lnTo>
                  <a:pt x="1132395" y="40386"/>
                </a:lnTo>
                <a:lnTo>
                  <a:pt x="1148541" y="37297"/>
                </a:lnTo>
                <a:lnTo>
                  <a:pt x="1161726" y="28784"/>
                </a:lnTo>
                <a:lnTo>
                  <a:pt x="1170614" y="15975"/>
                </a:lnTo>
                <a:lnTo>
                  <a:pt x="1173873" y="0"/>
                </a:lnTo>
              </a:path>
            </a:pathLst>
          </a:custGeom>
          <a:ln w="9218">
            <a:solidFill>
              <a:srgbClr val="000000"/>
            </a:solidFill>
          </a:ln>
        </p:spPr>
        <p:txBody>
          <a:bodyPr wrap="square" lIns="0" tIns="0" rIns="0" bIns="0" rtlCol="0"/>
          <a:lstStyle/>
          <a:p>
            <a:endParaRPr/>
          </a:p>
        </p:txBody>
      </p:sp>
      <p:sp>
        <p:nvSpPr>
          <p:cNvPr id="37" name="object 37"/>
          <p:cNvSpPr txBox="1"/>
          <p:nvPr/>
        </p:nvSpPr>
        <p:spPr>
          <a:xfrm>
            <a:off x="2256078" y="2149126"/>
            <a:ext cx="575310" cy="202565"/>
          </a:xfrm>
          <a:prstGeom prst="rect">
            <a:avLst/>
          </a:prstGeom>
        </p:spPr>
        <p:txBody>
          <a:bodyPr vert="horz" wrap="square" lIns="0" tIns="13970" rIns="0" bIns="0" rtlCol="0">
            <a:spAutoFit/>
          </a:bodyPr>
          <a:lstStyle/>
          <a:p>
            <a:pPr marL="12700">
              <a:lnSpc>
                <a:spcPct val="100000"/>
              </a:lnSpc>
              <a:spcBef>
                <a:spcPts val="110"/>
              </a:spcBef>
            </a:pPr>
            <a:r>
              <a:rPr sz="1150" spc="5" dirty="0">
                <a:latin typeface="Arial MT"/>
                <a:cs typeface="Arial MT"/>
              </a:rPr>
              <a:t>Frame</a:t>
            </a:r>
            <a:r>
              <a:rPr sz="1150" spc="-70" dirty="0">
                <a:latin typeface="Arial MT"/>
                <a:cs typeface="Arial MT"/>
              </a:rPr>
              <a:t> </a:t>
            </a:r>
            <a:r>
              <a:rPr sz="1150" spc="5" dirty="0">
                <a:latin typeface="Arial MT"/>
                <a:cs typeface="Arial MT"/>
              </a:rPr>
              <a:t>1</a:t>
            </a:r>
            <a:endParaRPr sz="1150">
              <a:latin typeface="Arial MT"/>
              <a:cs typeface="Arial MT"/>
            </a:endParaRPr>
          </a:p>
        </p:txBody>
      </p:sp>
      <p:sp>
        <p:nvSpPr>
          <p:cNvPr id="39" name="object 39"/>
          <p:cNvSpPr/>
          <p:nvPr/>
        </p:nvSpPr>
        <p:spPr>
          <a:xfrm>
            <a:off x="3144113" y="2067152"/>
            <a:ext cx="1653539" cy="81280"/>
          </a:xfrm>
          <a:custGeom>
            <a:avLst/>
            <a:gdLst/>
            <a:ahLst/>
            <a:cxnLst/>
            <a:rect l="l" t="t" r="r" b="b"/>
            <a:pathLst>
              <a:path w="1653539" h="81279">
                <a:moveTo>
                  <a:pt x="0" y="0"/>
                </a:moveTo>
                <a:lnTo>
                  <a:pt x="3261" y="15975"/>
                </a:lnTo>
                <a:lnTo>
                  <a:pt x="12153" y="28784"/>
                </a:lnTo>
                <a:lnTo>
                  <a:pt x="25342" y="37297"/>
                </a:lnTo>
                <a:lnTo>
                  <a:pt x="41490" y="40386"/>
                </a:lnTo>
                <a:lnTo>
                  <a:pt x="780567" y="40386"/>
                </a:lnTo>
                <a:lnTo>
                  <a:pt x="796713" y="43474"/>
                </a:lnTo>
                <a:lnTo>
                  <a:pt x="809898" y="51987"/>
                </a:lnTo>
                <a:lnTo>
                  <a:pt x="818786" y="64796"/>
                </a:lnTo>
                <a:lnTo>
                  <a:pt x="822045" y="80772"/>
                </a:lnTo>
                <a:lnTo>
                  <a:pt x="825306" y="64796"/>
                </a:lnTo>
                <a:lnTo>
                  <a:pt x="834199" y="51987"/>
                </a:lnTo>
                <a:lnTo>
                  <a:pt x="847388" y="43474"/>
                </a:lnTo>
                <a:lnTo>
                  <a:pt x="863536" y="40386"/>
                </a:lnTo>
                <a:lnTo>
                  <a:pt x="1611782" y="40386"/>
                </a:lnTo>
                <a:lnTo>
                  <a:pt x="1627928" y="37297"/>
                </a:lnTo>
                <a:lnTo>
                  <a:pt x="1641113" y="28784"/>
                </a:lnTo>
                <a:lnTo>
                  <a:pt x="1650001" y="15975"/>
                </a:lnTo>
                <a:lnTo>
                  <a:pt x="1653260" y="0"/>
                </a:lnTo>
              </a:path>
            </a:pathLst>
          </a:custGeom>
          <a:ln w="9218">
            <a:solidFill>
              <a:srgbClr val="000000"/>
            </a:solidFill>
          </a:ln>
        </p:spPr>
        <p:txBody>
          <a:bodyPr wrap="square" lIns="0" tIns="0" rIns="0" bIns="0" rtlCol="0"/>
          <a:lstStyle/>
          <a:p>
            <a:endParaRPr/>
          </a:p>
        </p:txBody>
      </p:sp>
      <p:sp>
        <p:nvSpPr>
          <p:cNvPr id="40" name="object 40"/>
          <p:cNvSpPr txBox="1"/>
          <p:nvPr/>
        </p:nvSpPr>
        <p:spPr>
          <a:xfrm>
            <a:off x="3798709" y="2149126"/>
            <a:ext cx="575310" cy="377825"/>
          </a:xfrm>
          <a:prstGeom prst="rect">
            <a:avLst/>
          </a:prstGeom>
        </p:spPr>
        <p:txBody>
          <a:bodyPr vert="horz" wrap="square" lIns="0" tIns="13970" rIns="0" bIns="0" rtlCol="0">
            <a:spAutoFit/>
          </a:bodyPr>
          <a:lstStyle/>
          <a:p>
            <a:pPr marL="20955" marR="5080" indent="-8890">
              <a:lnSpc>
                <a:spcPct val="100000"/>
              </a:lnSpc>
              <a:spcBef>
                <a:spcPts val="110"/>
              </a:spcBef>
            </a:pPr>
            <a:r>
              <a:rPr sz="1150" spc="5" dirty="0">
                <a:latin typeface="Arial MT"/>
                <a:cs typeface="Arial MT"/>
              </a:rPr>
              <a:t>Frame 2  (Wrong)</a:t>
            </a:r>
            <a:endParaRPr sz="1150">
              <a:latin typeface="Arial MT"/>
              <a:cs typeface="Arial MT"/>
            </a:endParaRPr>
          </a:p>
        </p:txBody>
      </p:sp>
      <p:sp>
        <p:nvSpPr>
          <p:cNvPr id="43" name="object 43"/>
          <p:cNvSpPr txBox="1"/>
          <p:nvPr/>
        </p:nvSpPr>
        <p:spPr>
          <a:xfrm>
            <a:off x="5182626" y="2149127"/>
            <a:ext cx="1042669" cy="377825"/>
          </a:xfrm>
          <a:prstGeom prst="rect">
            <a:avLst/>
          </a:prstGeom>
        </p:spPr>
        <p:txBody>
          <a:bodyPr vert="horz" wrap="square" lIns="0" tIns="13970" rIns="0" bIns="0" rtlCol="0">
            <a:spAutoFit/>
          </a:bodyPr>
          <a:lstStyle/>
          <a:p>
            <a:pPr marL="12700" marR="5080">
              <a:lnSpc>
                <a:spcPct val="100000"/>
              </a:lnSpc>
              <a:spcBef>
                <a:spcPts val="110"/>
              </a:spcBef>
            </a:pPr>
            <a:r>
              <a:rPr sz="1150" dirty="0">
                <a:latin typeface="Arial MT"/>
                <a:cs typeface="Arial MT"/>
              </a:rPr>
              <a:t>Now </a:t>
            </a:r>
            <a:r>
              <a:rPr sz="1150" spc="5" dirty="0">
                <a:latin typeface="Arial MT"/>
                <a:cs typeface="Arial MT"/>
              </a:rPr>
              <a:t>a </a:t>
            </a:r>
            <a:r>
              <a:rPr sz="1150" spc="10" dirty="0">
                <a:latin typeface="Arial MT"/>
                <a:cs typeface="Arial MT"/>
              </a:rPr>
              <a:t> </a:t>
            </a:r>
            <a:r>
              <a:rPr sz="1150" spc="5" dirty="0">
                <a:latin typeface="Arial MT"/>
                <a:cs typeface="Arial MT"/>
              </a:rPr>
              <a:t>character</a:t>
            </a:r>
            <a:r>
              <a:rPr sz="1150" dirty="0">
                <a:latin typeface="Arial MT"/>
                <a:cs typeface="Arial MT"/>
              </a:rPr>
              <a:t> </a:t>
            </a:r>
            <a:r>
              <a:rPr sz="1150" spc="5" dirty="0">
                <a:latin typeface="Arial MT"/>
                <a:cs typeface="Arial MT"/>
              </a:rPr>
              <a:t>count</a:t>
            </a:r>
            <a:endParaRPr sz="1150">
              <a:latin typeface="Arial MT"/>
              <a:cs typeface="Arial MT"/>
            </a:endParaRPr>
          </a:p>
        </p:txBody>
      </p:sp>
      <p:sp>
        <p:nvSpPr>
          <p:cNvPr id="45" name="TextBox 44">
            <a:extLst>
              <a:ext uri="{FF2B5EF4-FFF2-40B4-BE49-F238E27FC236}">
                <a16:creationId xmlns:a16="http://schemas.microsoft.com/office/drawing/2014/main" id="{94026EAF-CB6F-D9BF-F280-2BA2C1480937}"/>
              </a:ext>
            </a:extLst>
          </p:cNvPr>
          <p:cNvSpPr txBox="1"/>
          <p:nvPr/>
        </p:nvSpPr>
        <p:spPr>
          <a:xfrm>
            <a:off x="629676" y="2878734"/>
            <a:ext cx="8737209" cy="4647426"/>
          </a:xfrm>
          <a:prstGeom prst="rect">
            <a:avLst/>
          </a:prstGeom>
          <a:noFill/>
        </p:spPr>
        <p:txBody>
          <a:bodyPr wrap="square" rtlCol="0">
            <a:spAutoFit/>
          </a:bodyPr>
          <a:lstStyle/>
          <a:p>
            <a:pPr algn="just"/>
            <a:r>
              <a:rPr lang="en-US" sz="2400" dirty="0">
                <a:highlight>
                  <a:srgbClr val="FFFF00"/>
                </a:highlight>
              </a:rPr>
              <a:t>Problem of Byte Stuffing:</a:t>
            </a:r>
          </a:p>
          <a:p>
            <a:pPr algn="just">
              <a:buFont typeface="Arial" panose="020B0604020202020204" pitchFamily="34" charset="0"/>
              <a:buChar char="•"/>
            </a:pPr>
            <a:r>
              <a:rPr lang="en-US" sz="2400" b="1" dirty="0"/>
              <a:t>Count Vulnerability:</a:t>
            </a:r>
            <a:r>
              <a:rPr lang="en-US" sz="2400" dirty="0"/>
              <a:t> The byte count can be garbled by a transmission error.</a:t>
            </a:r>
          </a:p>
          <a:p>
            <a:pPr algn="just">
              <a:buFont typeface="Arial" panose="020B0604020202020204" pitchFamily="34" charset="0"/>
              <a:buChar char="•"/>
            </a:pPr>
            <a:r>
              <a:rPr lang="en-US" sz="2400" b="1" dirty="0"/>
              <a:t>Error Detection Doesn't Solve It:</a:t>
            </a:r>
            <a:r>
              <a:rPr lang="en-US" sz="2400" dirty="0"/>
              <a:t> Even if a checksum indicates that the frame is bad, the destination cannot determine the start of the next frame.</a:t>
            </a:r>
          </a:p>
          <a:p>
            <a:pPr algn="just">
              <a:buFont typeface="Arial" panose="020B0604020202020204" pitchFamily="34" charset="0"/>
              <a:buChar char="•"/>
            </a:pPr>
            <a:r>
              <a:rPr lang="en-US" sz="2400" b="1" dirty="0"/>
              <a:t>Retransmission Challenge:</a:t>
            </a:r>
            <a:r>
              <a:rPr lang="en-US" sz="2400" dirty="0"/>
              <a:t> Sending a frame back to the source for retransmission is ineffective because the destination does not know how many bytes to skip to reach the start of the retransmitted frame.</a:t>
            </a:r>
          </a:p>
          <a:p>
            <a:pPr algn="just"/>
            <a:endParaRPr lang="en-US" sz="2000" b="1" dirty="0"/>
          </a:p>
          <a:p>
            <a:pPr algn="just"/>
            <a:r>
              <a:rPr lang="en-US" sz="2000" dirty="0"/>
              <a:t> Due to these challenges, the byte count method is </a:t>
            </a:r>
            <a:r>
              <a:rPr lang="en-US" sz="2000" dirty="0">
                <a:highlight>
                  <a:srgbClr val="FFFF00"/>
                </a:highlight>
              </a:rPr>
              <a:t>rarely used </a:t>
            </a:r>
            <a:r>
              <a:rPr lang="en-US" sz="2000" dirty="0"/>
              <a:t>as the sole framing technique in data communication.</a:t>
            </a:r>
          </a:p>
          <a:p>
            <a:pPr marL="742950" lvl="1" indent="-285750">
              <a:buFont typeface="Arial" panose="020B0604020202020204" pitchFamily="34" charset="0"/>
              <a:buChar char="•"/>
            </a:pPr>
            <a:r>
              <a:rPr lang="en-US" sz="2000" dirty="0"/>
              <a:t> </a:t>
            </a:r>
          </a:p>
        </p:txBody>
      </p:sp>
    </p:spTree>
    <p:extLst>
      <p:ext uri="{BB962C8B-B14F-4D97-AF65-F5344CB8AC3E}">
        <p14:creationId xmlns:p14="http://schemas.microsoft.com/office/powerpoint/2010/main" val="1898147280"/>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677" y="276946"/>
            <a:ext cx="7418982" cy="567463"/>
          </a:xfrm>
          <a:prstGeom prst="rect">
            <a:avLst/>
          </a:prstGeom>
        </p:spPr>
        <p:txBody>
          <a:bodyPr vert="horz" wrap="square" lIns="0" tIns="13335" rIns="0" bIns="0" rtlCol="0">
            <a:spAutoFit/>
          </a:bodyPr>
          <a:lstStyle/>
          <a:p>
            <a:pPr marL="12700">
              <a:lnSpc>
                <a:spcPct val="100000"/>
              </a:lnSpc>
              <a:spcBef>
                <a:spcPts val="105"/>
              </a:spcBef>
            </a:pPr>
            <a:r>
              <a:rPr sz="3600" spc="-35" dirty="0">
                <a:latin typeface="+mn-lt"/>
              </a:rPr>
              <a:t>Framing</a:t>
            </a:r>
            <a:r>
              <a:rPr sz="3600" spc="-50" dirty="0">
                <a:latin typeface="+mn-lt"/>
              </a:rPr>
              <a:t> </a:t>
            </a:r>
            <a:r>
              <a:rPr sz="3600" dirty="0">
                <a:latin typeface="+mn-lt"/>
              </a:rPr>
              <a:t>(</a:t>
            </a:r>
            <a:r>
              <a:rPr lang="en-US" sz="3600" b="0" i="0" u="none" strike="noStrike" baseline="0" dirty="0">
                <a:latin typeface="+mn-lt"/>
              </a:rPr>
              <a:t>Flag bytes with byte stuffing</a:t>
            </a:r>
            <a:r>
              <a:rPr sz="3600" spc="-5" dirty="0">
                <a:latin typeface="+mn-lt"/>
              </a:rPr>
              <a:t>)</a:t>
            </a:r>
          </a:p>
        </p:txBody>
      </p:sp>
      <p:sp>
        <p:nvSpPr>
          <p:cNvPr id="62" name="object 62"/>
          <p:cNvSpPr txBox="1">
            <a:spLocks noGrp="1"/>
          </p:cNvSpPr>
          <p:nvPr>
            <p:ph type="sldNum" sz="quarter" idx="12"/>
          </p:nvPr>
        </p:nvSpPr>
        <p:spPr>
          <a:xfrm>
            <a:off x="6451574" y="7591466"/>
            <a:ext cx="2263140" cy="154914"/>
          </a:xfrm>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10</a:t>
            </a:fld>
            <a:r>
              <a:rPr spc="10" dirty="0"/>
              <a:t>/69</a:t>
            </a:r>
          </a:p>
        </p:txBody>
      </p:sp>
      <p:sp>
        <p:nvSpPr>
          <p:cNvPr id="5" name="object 5"/>
          <p:cNvSpPr txBox="1"/>
          <p:nvPr/>
        </p:nvSpPr>
        <p:spPr>
          <a:xfrm>
            <a:off x="838200" y="1051912"/>
            <a:ext cx="8328459" cy="2812950"/>
          </a:xfrm>
          <a:prstGeom prst="rect">
            <a:avLst/>
          </a:prstGeom>
        </p:spPr>
        <p:txBody>
          <a:bodyPr vert="horz" wrap="square" lIns="0" tIns="12065" rIns="0" bIns="0" rtlCol="0">
            <a:spAutoFit/>
          </a:bodyPr>
          <a:lstStyle/>
          <a:p>
            <a:pPr marL="457200" indent="-457200" algn="just">
              <a:buFont typeface="Arial" panose="020B0604020202020204" pitchFamily="34" charset="0"/>
              <a:buChar char="•"/>
            </a:pPr>
            <a:r>
              <a:rPr lang="en-US" sz="2600" spc="5" dirty="0">
                <a:cs typeface="Arial MT"/>
              </a:rPr>
              <a:t>In byte stuffing, a special reserved control character (often called the "flag" byte) is chosen to denote the beginning and end of a frame. </a:t>
            </a:r>
          </a:p>
          <a:p>
            <a:pPr marL="457200" indent="-457200" algn="just">
              <a:buFont typeface="Arial" panose="020B0604020202020204" pitchFamily="34" charset="0"/>
              <a:buChar char="•"/>
            </a:pPr>
            <a:r>
              <a:rPr lang="en-US" sz="2600" spc="5" dirty="0">
                <a:cs typeface="Arial MT"/>
              </a:rPr>
              <a:t>T</a:t>
            </a:r>
            <a:r>
              <a:rPr sz="2600" dirty="0">
                <a:cs typeface="Arial MT"/>
              </a:rPr>
              <a:t>wo</a:t>
            </a:r>
            <a:r>
              <a:rPr sz="2600" spc="5" dirty="0">
                <a:cs typeface="Arial MT"/>
              </a:rPr>
              <a:t> </a:t>
            </a:r>
            <a:r>
              <a:rPr sz="2600" dirty="0">
                <a:cs typeface="Arial MT"/>
              </a:rPr>
              <a:t>consecutive</a:t>
            </a:r>
            <a:r>
              <a:rPr sz="2600" spc="-5" dirty="0">
                <a:cs typeface="Arial MT"/>
              </a:rPr>
              <a:t> </a:t>
            </a:r>
            <a:r>
              <a:rPr sz="2600" spc="10" dirty="0">
                <a:cs typeface="Arial MT"/>
              </a:rPr>
              <a:t>flags</a:t>
            </a:r>
            <a:r>
              <a:rPr sz="2600" spc="-10" dirty="0">
                <a:cs typeface="Arial MT"/>
              </a:rPr>
              <a:t> </a:t>
            </a:r>
            <a:r>
              <a:rPr sz="2600" spc="10" dirty="0">
                <a:cs typeface="Arial MT"/>
              </a:rPr>
              <a:t>indicate</a:t>
            </a:r>
            <a:r>
              <a:rPr sz="2600" spc="-40" dirty="0">
                <a:cs typeface="Arial MT"/>
              </a:rPr>
              <a:t> </a:t>
            </a:r>
            <a:r>
              <a:rPr lang="en-US" sz="2600" spc="-40" dirty="0">
                <a:cs typeface="Arial MT"/>
              </a:rPr>
              <a:t>the </a:t>
            </a:r>
            <a:r>
              <a:rPr sz="2600" spc="10" dirty="0">
                <a:cs typeface="Arial MT"/>
              </a:rPr>
              <a:t>end</a:t>
            </a:r>
            <a:r>
              <a:rPr lang="en-US" sz="2600" spc="10" dirty="0">
                <a:cs typeface="Arial MT"/>
              </a:rPr>
              <a:t> </a:t>
            </a:r>
            <a:r>
              <a:rPr sz="2600" spc="10" dirty="0">
                <a:cs typeface="Arial MT"/>
              </a:rPr>
              <a:t>and</a:t>
            </a:r>
            <a:r>
              <a:rPr sz="2600" spc="-5" dirty="0">
                <a:cs typeface="Arial MT"/>
              </a:rPr>
              <a:t> </a:t>
            </a:r>
            <a:r>
              <a:rPr sz="2600" spc="25" dirty="0">
                <a:cs typeface="Arial MT"/>
              </a:rPr>
              <a:t>start</a:t>
            </a:r>
            <a:r>
              <a:rPr sz="2600" spc="5" dirty="0">
                <a:cs typeface="Arial MT"/>
              </a:rPr>
              <a:t> of </a:t>
            </a:r>
            <a:r>
              <a:rPr lang="en-US" sz="2600" spc="5" dirty="0">
                <a:cs typeface="Arial MT"/>
              </a:rPr>
              <a:t>the </a:t>
            </a:r>
            <a:r>
              <a:rPr sz="2600" dirty="0">
                <a:cs typeface="Arial MT"/>
              </a:rPr>
              <a:t>frame</a:t>
            </a:r>
            <a:r>
              <a:rPr lang="en-US" sz="2600" dirty="0">
                <a:cs typeface="Arial MT"/>
              </a:rPr>
              <a:t>. </a:t>
            </a:r>
            <a:r>
              <a:rPr lang="en-US" sz="2600" b="0" i="0" u="none" strike="noStrike" baseline="0" dirty="0"/>
              <a:t>Thus, if the receiver ever loses synchronization it can just </a:t>
            </a:r>
            <a:r>
              <a:rPr lang="en-US" sz="2600" b="0" i="0" u="sng" strike="noStrike" baseline="0" dirty="0"/>
              <a:t>search for two flag bytes </a:t>
            </a:r>
            <a:r>
              <a:rPr lang="en-US" sz="2600" b="0" i="0" u="none" strike="noStrike" baseline="0" dirty="0"/>
              <a:t>to find the end of the current frame and the start of the next frame.</a:t>
            </a:r>
            <a:endParaRPr sz="2600" dirty="0">
              <a:cs typeface="Arial MT"/>
            </a:endParaRPr>
          </a:p>
        </p:txBody>
      </p:sp>
      <p:graphicFrame>
        <p:nvGraphicFramePr>
          <p:cNvPr id="63" name="object 6">
            <a:extLst>
              <a:ext uri="{FF2B5EF4-FFF2-40B4-BE49-F238E27FC236}">
                <a16:creationId xmlns:a16="http://schemas.microsoft.com/office/drawing/2014/main" id="{32C8CD2A-DB22-A583-7FB6-D9DAB3998153}"/>
              </a:ext>
            </a:extLst>
          </p:cNvPr>
          <p:cNvGraphicFramePr>
            <a:graphicFrameLocks noGrp="1"/>
          </p:cNvGraphicFramePr>
          <p:nvPr>
            <p:extLst>
              <p:ext uri="{D42A27DB-BD31-4B8C-83A1-F6EECF244321}">
                <p14:modId xmlns:p14="http://schemas.microsoft.com/office/powerpoint/2010/main" val="101491236"/>
              </p:ext>
            </p:extLst>
          </p:nvPr>
        </p:nvGraphicFramePr>
        <p:xfrm>
          <a:off x="574793" y="4425086"/>
          <a:ext cx="4495801" cy="442509"/>
        </p:xfrm>
        <a:graphic>
          <a:graphicData uri="http://schemas.openxmlformats.org/drawingml/2006/table">
            <a:tbl>
              <a:tblPr firstRow="1" bandRow="1">
                <a:tableStyleId>{2D5ABB26-0587-4C30-8999-92F81FD0307C}</a:tableStyleId>
              </a:tblPr>
              <a:tblGrid>
                <a:gridCol w="702469">
                  <a:extLst>
                    <a:ext uri="{9D8B030D-6E8A-4147-A177-3AD203B41FA5}">
                      <a16:colId xmlns:a16="http://schemas.microsoft.com/office/drawing/2014/main" val="20000"/>
                    </a:ext>
                  </a:extLst>
                </a:gridCol>
                <a:gridCol w="780138">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727194">
                  <a:extLst>
                    <a:ext uri="{9D8B030D-6E8A-4147-A177-3AD203B41FA5}">
                      <a16:colId xmlns:a16="http://schemas.microsoft.com/office/drawing/2014/main" val="20004"/>
                    </a:ext>
                  </a:extLst>
                </a:gridCol>
              </a:tblGrid>
              <a:tr h="442509">
                <a:tc>
                  <a:txBody>
                    <a:bodyPr/>
                    <a:lstStyle/>
                    <a:p>
                      <a:pPr marL="25400">
                        <a:lnSpc>
                          <a:spcPct val="100000"/>
                        </a:lnSpc>
                        <a:spcBef>
                          <a:spcPts val="955"/>
                        </a:spcBef>
                      </a:pPr>
                      <a:r>
                        <a:rPr sz="1600" spc="5" dirty="0">
                          <a:latin typeface="+mn-lt"/>
                          <a:cs typeface="Arial MT"/>
                        </a:rPr>
                        <a:t>FLAG</a:t>
                      </a:r>
                      <a:endParaRPr sz="1600">
                        <a:latin typeface="+mn-lt"/>
                        <a:cs typeface="Arial MT"/>
                      </a:endParaRPr>
                    </a:p>
                  </a:txBody>
                  <a:tcPr marL="0" marR="0" marT="12128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9375">
                        <a:lnSpc>
                          <a:spcPct val="100000"/>
                        </a:lnSpc>
                        <a:spcBef>
                          <a:spcPts val="955"/>
                        </a:spcBef>
                      </a:pPr>
                      <a:r>
                        <a:rPr sz="1600" spc="5" dirty="0">
                          <a:latin typeface="+mn-lt"/>
                          <a:cs typeface="Arial MT"/>
                        </a:rPr>
                        <a:t>Header</a:t>
                      </a:r>
                      <a:endParaRPr sz="1600" dirty="0">
                        <a:latin typeface="+mn-lt"/>
                        <a:cs typeface="Arial MT"/>
                      </a:endParaRPr>
                    </a:p>
                  </a:txBody>
                  <a:tcPr marL="0" marR="0" marT="12128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48895" algn="ctr">
                        <a:lnSpc>
                          <a:spcPct val="100000"/>
                        </a:lnSpc>
                        <a:spcBef>
                          <a:spcPts val="955"/>
                        </a:spcBef>
                      </a:pPr>
                      <a:r>
                        <a:rPr sz="1600" spc="5" dirty="0">
                          <a:latin typeface="+mn-lt"/>
                          <a:cs typeface="Arial MT"/>
                        </a:rPr>
                        <a:t>Payload</a:t>
                      </a:r>
                      <a:r>
                        <a:rPr sz="1600" spc="-35" dirty="0">
                          <a:latin typeface="+mn-lt"/>
                          <a:cs typeface="Arial MT"/>
                        </a:rPr>
                        <a:t> </a:t>
                      </a:r>
                      <a:r>
                        <a:rPr sz="1600" dirty="0">
                          <a:latin typeface="+mn-lt"/>
                          <a:cs typeface="Arial MT"/>
                        </a:rPr>
                        <a:t>field</a:t>
                      </a:r>
                    </a:p>
                  </a:txBody>
                  <a:tcPr marL="0" marR="0" marT="121285"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127635">
                        <a:lnSpc>
                          <a:spcPct val="100000"/>
                        </a:lnSpc>
                        <a:spcBef>
                          <a:spcPts val="955"/>
                        </a:spcBef>
                      </a:pPr>
                      <a:r>
                        <a:rPr sz="1600" dirty="0">
                          <a:latin typeface="+mn-lt"/>
                          <a:cs typeface="Arial MT"/>
                        </a:rPr>
                        <a:t>Trailer</a:t>
                      </a:r>
                      <a:endParaRPr sz="1600">
                        <a:latin typeface="+mn-lt"/>
                        <a:cs typeface="Arial MT"/>
                      </a:endParaRPr>
                    </a:p>
                  </a:txBody>
                  <a:tcPr marL="0" marR="0" marT="121285"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24130">
                        <a:lnSpc>
                          <a:spcPct val="100000"/>
                        </a:lnSpc>
                        <a:spcBef>
                          <a:spcPts val="955"/>
                        </a:spcBef>
                      </a:pPr>
                      <a:r>
                        <a:rPr sz="1600" spc="5" dirty="0">
                          <a:highlight>
                            <a:srgbClr val="FFFF00"/>
                          </a:highlight>
                          <a:latin typeface="+mn-lt"/>
                          <a:cs typeface="Arial MT"/>
                        </a:rPr>
                        <a:t>FLAG</a:t>
                      </a:r>
                      <a:endParaRPr sz="1600" dirty="0">
                        <a:highlight>
                          <a:srgbClr val="FFFF00"/>
                        </a:highlight>
                        <a:latin typeface="+mn-lt"/>
                        <a:cs typeface="Arial MT"/>
                      </a:endParaRPr>
                    </a:p>
                  </a:txBody>
                  <a:tcPr marL="0" marR="0" marT="12128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5" name="object 6">
            <a:extLst>
              <a:ext uri="{FF2B5EF4-FFF2-40B4-BE49-F238E27FC236}">
                <a16:creationId xmlns:a16="http://schemas.microsoft.com/office/drawing/2014/main" id="{39DF3738-9E4A-5322-5936-BBE38D0721E1}"/>
              </a:ext>
            </a:extLst>
          </p:cNvPr>
          <p:cNvGraphicFramePr>
            <a:graphicFrameLocks noGrp="1"/>
          </p:cNvGraphicFramePr>
          <p:nvPr>
            <p:extLst>
              <p:ext uri="{D42A27DB-BD31-4B8C-83A1-F6EECF244321}">
                <p14:modId xmlns:p14="http://schemas.microsoft.com/office/powerpoint/2010/main" val="336369545"/>
              </p:ext>
            </p:extLst>
          </p:nvPr>
        </p:nvGraphicFramePr>
        <p:xfrm>
          <a:off x="5070594" y="4425085"/>
          <a:ext cx="4495801" cy="442509"/>
        </p:xfrm>
        <a:graphic>
          <a:graphicData uri="http://schemas.openxmlformats.org/drawingml/2006/table">
            <a:tbl>
              <a:tblPr firstRow="1" bandRow="1">
                <a:tableStyleId>{2D5ABB26-0587-4C30-8999-92F81FD0307C}</a:tableStyleId>
              </a:tblPr>
              <a:tblGrid>
                <a:gridCol w="702469">
                  <a:extLst>
                    <a:ext uri="{9D8B030D-6E8A-4147-A177-3AD203B41FA5}">
                      <a16:colId xmlns:a16="http://schemas.microsoft.com/office/drawing/2014/main" val="20000"/>
                    </a:ext>
                  </a:extLst>
                </a:gridCol>
                <a:gridCol w="702469">
                  <a:extLst>
                    <a:ext uri="{9D8B030D-6E8A-4147-A177-3AD203B41FA5}">
                      <a16:colId xmlns:a16="http://schemas.microsoft.com/office/drawing/2014/main" val="20001"/>
                    </a:ext>
                  </a:extLst>
                </a:gridCol>
                <a:gridCol w="1404938">
                  <a:extLst>
                    <a:ext uri="{9D8B030D-6E8A-4147-A177-3AD203B41FA5}">
                      <a16:colId xmlns:a16="http://schemas.microsoft.com/office/drawing/2014/main" val="20002"/>
                    </a:ext>
                  </a:extLst>
                </a:gridCol>
                <a:gridCol w="842963">
                  <a:extLst>
                    <a:ext uri="{9D8B030D-6E8A-4147-A177-3AD203B41FA5}">
                      <a16:colId xmlns:a16="http://schemas.microsoft.com/office/drawing/2014/main" val="20003"/>
                    </a:ext>
                  </a:extLst>
                </a:gridCol>
                <a:gridCol w="842962">
                  <a:extLst>
                    <a:ext uri="{9D8B030D-6E8A-4147-A177-3AD203B41FA5}">
                      <a16:colId xmlns:a16="http://schemas.microsoft.com/office/drawing/2014/main" val="20004"/>
                    </a:ext>
                  </a:extLst>
                </a:gridCol>
              </a:tblGrid>
              <a:tr h="442509">
                <a:tc>
                  <a:txBody>
                    <a:bodyPr/>
                    <a:lstStyle/>
                    <a:p>
                      <a:pPr marL="25400">
                        <a:lnSpc>
                          <a:spcPct val="100000"/>
                        </a:lnSpc>
                        <a:spcBef>
                          <a:spcPts val="955"/>
                        </a:spcBef>
                      </a:pPr>
                      <a:r>
                        <a:rPr sz="1600" spc="5" dirty="0">
                          <a:highlight>
                            <a:srgbClr val="FFFF00"/>
                          </a:highlight>
                          <a:latin typeface="+mn-lt"/>
                          <a:cs typeface="Arial MT"/>
                        </a:rPr>
                        <a:t>FLAG</a:t>
                      </a:r>
                      <a:endParaRPr sz="1600" dirty="0">
                        <a:highlight>
                          <a:srgbClr val="FFFF00"/>
                        </a:highlight>
                        <a:latin typeface="+mn-lt"/>
                        <a:cs typeface="Arial MT"/>
                      </a:endParaRPr>
                    </a:p>
                  </a:txBody>
                  <a:tcPr marL="0" marR="0" marT="12128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9375">
                        <a:lnSpc>
                          <a:spcPct val="100000"/>
                        </a:lnSpc>
                        <a:spcBef>
                          <a:spcPts val="955"/>
                        </a:spcBef>
                      </a:pPr>
                      <a:r>
                        <a:rPr sz="1600" spc="5" dirty="0">
                          <a:latin typeface="+mn-lt"/>
                          <a:cs typeface="Arial MT"/>
                        </a:rPr>
                        <a:t>Header</a:t>
                      </a:r>
                      <a:endParaRPr sz="1600" dirty="0">
                        <a:latin typeface="+mn-lt"/>
                        <a:cs typeface="Arial MT"/>
                      </a:endParaRPr>
                    </a:p>
                  </a:txBody>
                  <a:tcPr marL="0" marR="0" marT="12128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48895" algn="ctr">
                        <a:lnSpc>
                          <a:spcPct val="100000"/>
                        </a:lnSpc>
                        <a:spcBef>
                          <a:spcPts val="955"/>
                        </a:spcBef>
                      </a:pPr>
                      <a:r>
                        <a:rPr sz="1600" spc="5" dirty="0">
                          <a:latin typeface="+mn-lt"/>
                          <a:cs typeface="Arial MT"/>
                        </a:rPr>
                        <a:t>Payload</a:t>
                      </a:r>
                      <a:r>
                        <a:rPr sz="1600" spc="-35" dirty="0">
                          <a:latin typeface="+mn-lt"/>
                          <a:cs typeface="Arial MT"/>
                        </a:rPr>
                        <a:t> </a:t>
                      </a:r>
                      <a:r>
                        <a:rPr sz="1600" dirty="0">
                          <a:latin typeface="+mn-lt"/>
                          <a:cs typeface="Arial MT"/>
                        </a:rPr>
                        <a:t>field</a:t>
                      </a:r>
                    </a:p>
                  </a:txBody>
                  <a:tcPr marL="0" marR="0" marT="121285"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127635">
                        <a:lnSpc>
                          <a:spcPct val="100000"/>
                        </a:lnSpc>
                        <a:spcBef>
                          <a:spcPts val="955"/>
                        </a:spcBef>
                      </a:pPr>
                      <a:r>
                        <a:rPr sz="1600" dirty="0">
                          <a:latin typeface="+mn-lt"/>
                          <a:cs typeface="Arial MT"/>
                        </a:rPr>
                        <a:t>Trailer</a:t>
                      </a:r>
                      <a:endParaRPr sz="1600">
                        <a:latin typeface="+mn-lt"/>
                        <a:cs typeface="Arial MT"/>
                      </a:endParaRPr>
                    </a:p>
                  </a:txBody>
                  <a:tcPr marL="0" marR="0" marT="121285"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24130">
                        <a:lnSpc>
                          <a:spcPct val="100000"/>
                        </a:lnSpc>
                        <a:spcBef>
                          <a:spcPts val="955"/>
                        </a:spcBef>
                      </a:pPr>
                      <a:r>
                        <a:rPr sz="1600" spc="5" dirty="0">
                          <a:latin typeface="+mn-lt"/>
                          <a:cs typeface="Arial MT"/>
                        </a:rPr>
                        <a:t>FLAG</a:t>
                      </a:r>
                      <a:endParaRPr sz="1600" dirty="0">
                        <a:latin typeface="+mn-lt"/>
                        <a:cs typeface="Arial MT"/>
                      </a:endParaRPr>
                    </a:p>
                  </a:txBody>
                  <a:tcPr marL="0" marR="0" marT="12128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sp>
        <p:nvSpPr>
          <p:cNvPr id="66" name="object 36">
            <a:extLst>
              <a:ext uri="{FF2B5EF4-FFF2-40B4-BE49-F238E27FC236}">
                <a16:creationId xmlns:a16="http://schemas.microsoft.com/office/drawing/2014/main" id="{D121AA7B-9092-0792-9146-F5D2031EA9D6}"/>
              </a:ext>
            </a:extLst>
          </p:cNvPr>
          <p:cNvSpPr/>
          <p:nvPr/>
        </p:nvSpPr>
        <p:spPr>
          <a:xfrm>
            <a:off x="5457168" y="4960098"/>
            <a:ext cx="3733800" cy="152400"/>
          </a:xfrm>
          <a:custGeom>
            <a:avLst/>
            <a:gdLst/>
            <a:ahLst/>
            <a:cxnLst/>
            <a:rect l="l" t="t" r="r" b="b"/>
            <a:pathLst>
              <a:path w="1174114" h="81279">
                <a:moveTo>
                  <a:pt x="0" y="0"/>
                </a:moveTo>
                <a:lnTo>
                  <a:pt x="3261" y="15975"/>
                </a:lnTo>
                <a:lnTo>
                  <a:pt x="12153" y="28784"/>
                </a:lnTo>
                <a:lnTo>
                  <a:pt x="25342" y="37297"/>
                </a:lnTo>
                <a:lnTo>
                  <a:pt x="41490" y="40386"/>
                </a:lnTo>
                <a:lnTo>
                  <a:pt x="556209" y="40386"/>
                </a:lnTo>
                <a:lnTo>
                  <a:pt x="572357" y="43474"/>
                </a:lnTo>
                <a:lnTo>
                  <a:pt x="585546" y="51987"/>
                </a:lnTo>
                <a:lnTo>
                  <a:pt x="594438" y="64796"/>
                </a:lnTo>
                <a:lnTo>
                  <a:pt x="597700" y="80772"/>
                </a:lnTo>
                <a:lnTo>
                  <a:pt x="600961" y="64796"/>
                </a:lnTo>
                <a:lnTo>
                  <a:pt x="609852" y="51987"/>
                </a:lnTo>
                <a:lnTo>
                  <a:pt x="623037" y="43474"/>
                </a:lnTo>
                <a:lnTo>
                  <a:pt x="639178" y="40386"/>
                </a:lnTo>
                <a:lnTo>
                  <a:pt x="1132395" y="40386"/>
                </a:lnTo>
                <a:lnTo>
                  <a:pt x="1148541" y="37297"/>
                </a:lnTo>
                <a:lnTo>
                  <a:pt x="1161726" y="28784"/>
                </a:lnTo>
                <a:lnTo>
                  <a:pt x="1170614" y="15975"/>
                </a:lnTo>
                <a:lnTo>
                  <a:pt x="1173873" y="0"/>
                </a:lnTo>
              </a:path>
            </a:pathLst>
          </a:custGeom>
          <a:ln w="9218">
            <a:solidFill>
              <a:srgbClr val="000000"/>
            </a:solidFill>
          </a:ln>
        </p:spPr>
        <p:txBody>
          <a:bodyPr wrap="square" lIns="0" tIns="0" rIns="0" bIns="0" rtlCol="0"/>
          <a:lstStyle/>
          <a:p>
            <a:endParaRPr/>
          </a:p>
        </p:txBody>
      </p:sp>
      <p:sp>
        <p:nvSpPr>
          <p:cNvPr id="67" name="object 36">
            <a:extLst>
              <a:ext uri="{FF2B5EF4-FFF2-40B4-BE49-F238E27FC236}">
                <a16:creationId xmlns:a16="http://schemas.microsoft.com/office/drawing/2014/main" id="{1F87DC60-6819-C7FD-095C-9334342AC527}"/>
              </a:ext>
            </a:extLst>
          </p:cNvPr>
          <p:cNvSpPr/>
          <p:nvPr/>
        </p:nvSpPr>
        <p:spPr>
          <a:xfrm>
            <a:off x="1143000" y="4986141"/>
            <a:ext cx="3733800" cy="152400"/>
          </a:xfrm>
          <a:custGeom>
            <a:avLst/>
            <a:gdLst/>
            <a:ahLst/>
            <a:cxnLst/>
            <a:rect l="l" t="t" r="r" b="b"/>
            <a:pathLst>
              <a:path w="1174114" h="81279">
                <a:moveTo>
                  <a:pt x="0" y="0"/>
                </a:moveTo>
                <a:lnTo>
                  <a:pt x="3261" y="15975"/>
                </a:lnTo>
                <a:lnTo>
                  <a:pt x="12153" y="28784"/>
                </a:lnTo>
                <a:lnTo>
                  <a:pt x="25342" y="37297"/>
                </a:lnTo>
                <a:lnTo>
                  <a:pt x="41490" y="40386"/>
                </a:lnTo>
                <a:lnTo>
                  <a:pt x="556209" y="40386"/>
                </a:lnTo>
                <a:lnTo>
                  <a:pt x="572357" y="43474"/>
                </a:lnTo>
                <a:lnTo>
                  <a:pt x="585546" y="51987"/>
                </a:lnTo>
                <a:lnTo>
                  <a:pt x="594438" y="64796"/>
                </a:lnTo>
                <a:lnTo>
                  <a:pt x="597700" y="80772"/>
                </a:lnTo>
                <a:lnTo>
                  <a:pt x="600961" y="64796"/>
                </a:lnTo>
                <a:lnTo>
                  <a:pt x="609852" y="51987"/>
                </a:lnTo>
                <a:lnTo>
                  <a:pt x="623037" y="43474"/>
                </a:lnTo>
                <a:lnTo>
                  <a:pt x="639178" y="40386"/>
                </a:lnTo>
                <a:lnTo>
                  <a:pt x="1132395" y="40386"/>
                </a:lnTo>
                <a:lnTo>
                  <a:pt x="1148541" y="37297"/>
                </a:lnTo>
                <a:lnTo>
                  <a:pt x="1161726" y="28784"/>
                </a:lnTo>
                <a:lnTo>
                  <a:pt x="1170614" y="15975"/>
                </a:lnTo>
                <a:lnTo>
                  <a:pt x="1173873" y="0"/>
                </a:lnTo>
              </a:path>
            </a:pathLst>
          </a:custGeom>
          <a:ln w="9218">
            <a:solidFill>
              <a:srgbClr val="000000"/>
            </a:solidFill>
          </a:ln>
        </p:spPr>
        <p:txBody>
          <a:bodyPr wrap="square" lIns="0" tIns="0" rIns="0" bIns="0" rtlCol="0"/>
          <a:lstStyle/>
          <a:p>
            <a:endParaRPr/>
          </a:p>
        </p:txBody>
      </p:sp>
      <p:sp>
        <p:nvSpPr>
          <p:cNvPr id="68" name="TextBox 67">
            <a:extLst>
              <a:ext uri="{FF2B5EF4-FFF2-40B4-BE49-F238E27FC236}">
                <a16:creationId xmlns:a16="http://schemas.microsoft.com/office/drawing/2014/main" id="{2D6FA904-C773-A267-FBAC-3B114B84A9EB}"/>
              </a:ext>
            </a:extLst>
          </p:cNvPr>
          <p:cNvSpPr txBox="1"/>
          <p:nvPr/>
        </p:nvSpPr>
        <p:spPr>
          <a:xfrm>
            <a:off x="3505200" y="5943600"/>
            <a:ext cx="3574756" cy="523220"/>
          </a:xfrm>
          <a:prstGeom prst="rect">
            <a:avLst/>
          </a:prstGeom>
          <a:noFill/>
        </p:spPr>
        <p:txBody>
          <a:bodyPr wrap="square">
            <a:spAutoFit/>
          </a:bodyPr>
          <a:lstStyle/>
          <a:p>
            <a:r>
              <a:rPr lang="en-US" sz="2800" b="1" dirty="0">
                <a:highlight>
                  <a:srgbClr val="FFFF00"/>
                </a:highlight>
              </a:rPr>
              <a:t>Flag Byte: 01111110</a:t>
            </a:r>
            <a:endParaRPr lang="en-US" sz="2800" dirty="0">
              <a:highlight>
                <a:srgbClr val="FFFF00"/>
              </a:highlight>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677" y="276946"/>
            <a:ext cx="7418982" cy="567463"/>
          </a:xfrm>
          <a:prstGeom prst="rect">
            <a:avLst/>
          </a:prstGeom>
        </p:spPr>
        <p:txBody>
          <a:bodyPr vert="horz" wrap="square" lIns="0" tIns="13335" rIns="0" bIns="0" rtlCol="0">
            <a:spAutoFit/>
          </a:bodyPr>
          <a:lstStyle/>
          <a:p>
            <a:pPr marL="12700">
              <a:lnSpc>
                <a:spcPct val="100000"/>
              </a:lnSpc>
              <a:spcBef>
                <a:spcPts val="105"/>
              </a:spcBef>
            </a:pPr>
            <a:r>
              <a:rPr sz="3600" spc="-35" dirty="0">
                <a:latin typeface="+mn-lt"/>
              </a:rPr>
              <a:t>Framing</a:t>
            </a:r>
            <a:r>
              <a:rPr sz="3600" spc="-50" dirty="0">
                <a:latin typeface="+mn-lt"/>
              </a:rPr>
              <a:t> </a:t>
            </a:r>
            <a:r>
              <a:rPr sz="3600" dirty="0">
                <a:latin typeface="+mn-lt"/>
              </a:rPr>
              <a:t>(</a:t>
            </a:r>
            <a:r>
              <a:rPr lang="en-US" sz="3600" b="0" i="0" u="none" strike="noStrike" baseline="0" dirty="0">
                <a:latin typeface="+mn-lt"/>
              </a:rPr>
              <a:t>Flag bytes with byte stuffing</a:t>
            </a:r>
            <a:r>
              <a:rPr sz="3600" spc="-5" dirty="0">
                <a:latin typeface="+mn-lt"/>
              </a:rPr>
              <a:t>)</a:t>
            </a:r>
          </a:p>
        </p:txBody>
      </p:sp>
      <p:sp>
        <p:nvSpPr>
          <p:cNvPr id="5" name="object 5"/>
          <p:cNvSpPr txBox="1"/>
          <p:nvPr/>
        </p:nvSpPr>
        <p:spPr>
          <a:xfrm>
            <a:off x="838200" y="1051912"/>
            <a:ext cx="8610600" cy="2966838"/>
          </a:xfrm>
          <a:prstGeom prst="rect">
            <a:avLst/>
          </a:prstGeom>
        </p:spPr>
        <p:txBody>
          <a:bodyPr vert="horz" wrap="square" lIns="0" tIns="12065" rIns="0" bIns="0" rtlCol="0">
            <a:spAutoFit/>
          </a:bodyPr>
          <a:lstStyle/>
          <a:p>
            <a:pPr algn="just"/>
            <a:r>
              <a:rPr lang="en-US" sz="2400" b="1" dirty="0">
                <a:solidFill>
                  <a:srgbClr val="FF0000"/>
                </a:solidFill>
                <a:cs typeface="Arial MT"/>
              </a:rPr>
              <a:t>Problem: </a:t>
            </a:r>
            <a:r>
              <a:rPr lang="en-US" sz="2400" dirty="0">
                <a:cs typeface="Arial MT"/>
              </a:rPr>
              <a:t>It may happen that the flag byte occurs in the data. We need to </a:t>
            </a:r>
            <a:r>
              <a:rPr lang="en-US" sz="2400" u="sng" dirty="0">
                <a:cs typeface="Arial MT"/>
              </a:rPr>
              <a:t>prevent</a:t>
            </a:r>
            <a:r>
              <a:rPr lang="en-US" sz="2400" dirty="0">
                <a:cs typeface="Arial MT"/>
              </a:rPr>
              <a:t> this flag byte (within the data) from </a:t>
            </a:r>
            <a:r>
              <a:rPr lang="en-US" sz="2400" u="sng" dirty="0">
                <a:cs typeface="Arial MT"/>
              </a:rPr>
              <a:t>being misinterpreted </a:t>
            </a:r>
            <a:r>
              <a:rPr lang="en-US" sz="2400" dirty="0">
                <a:cs typeface="Arial MT"/>
              </a:rPr>
              <a:t>as </a:t>
            </a:r>
            <a:r>
              <a:rPr lang="en-US" sz="2400" u="sng" dirty="0">
                <a:cs typeface="Arial MT"/>
              </a:rPr>
              <a:t>the starting </a:t>
            </a:r>
            <a:r>
              <a:rPr lang="en-US" sz="2400" dirty="0">
                <a:cs typeface="Arial MT"/>
              </a:rPr>
              <a:t>or ending of a frame. </a:t>
            </a:r>
          </a:p>
          <a:p>
            <a:pPr algn="just"/>
            <a:r>
              <a:rPr lang="en-US" sz="2400" b="1" dirty="0">
                <a:solidFill>
                  <a:srgbClr val="FF0000"/>
                </a:solidFill>
                <a:cs typeface="Arial MT"/>
              </a:rPr>
              <a:t>Solution: </a:t>
            </a:r>
            <a:r>
              <a:rPr lang="en-US" sz="2400" dirty="0">
                <a:cs typeface="Arial MT"/>
              </a:rPr>
              <a:t>Byte stuffing.</a:t>
            </a:r>
          </a:p>
          <a:p>
            <a:pPr algn="just"/>
            <a:r>
              <a:rPr lang="en-US" sz="2400" dirty="0">
                <a:cs typeface="Arial MT"/>
              </a:rPr>
              <a:t>Byte stuffing is a technique where a special escape sequence is used to represent the flag byte when it appears in the data. </a:t>
            </a:r>
          </a:p>
          <a:p>
            <a:pPr algn="just"/>
            <a:r>
              <a:rPr lang="en-US" sz="2400" dirty="0">
                <a:cs typeface="Arial MT"/>
              </a:rPr>
              <a:t>This ensures that the flag byte within the data is not misinterpreted as a frame delimiter.</a:t>
            </a:r>
            <a:endParaRPr sz="2400" dirty="0">
              <a:cs typeface="Arial MT"/>
            </a:endParaRPr>
          </a:p>
        </p:txBody>
      </p:sp>
      <p:sp>
        <p:nvSpPr>
          <p:cNvPr id="8" name="object 8"/>
          <p:cNvSpPr txBox="1"/>
          <p:nvPr/>
        </p:nvSpPr>
        <p:spPr>
          <a:xfrm>
            <a:off x="5069942" y="5333398"/>
            <a:ext cx="442595" cy="307135"/>
          </a:xfrm>
          <a:prstGeom prst="rect">
            <a:avLst/>
          </a:prstGeom>
          <a:ln w="9218">
            <a:solidFill>
              <a:srgbClr val="000000"/>
            </a:solidFill>
          </a:ln>
        </p:spPr>
        <p:txBody>
          <a:bodyPr vert="horz" wrap="square" lIns="0" tIns="121285" rIns="0" bIns="0" rtlCol="0">
            <a:spAutoFit/>
          </a:bodyPr>
          <a:lstStyle/>
          <a:p>
            <a:pPr marR="26670" algn="ctr">
              <a:lnSpc>
                <a:spcPct val="100000"/>
              </a:lnSpc>
              <a:spcBef>
                <a:spcPts val="955"/>
              </a:spcBef>
            </a:pPr>
            <a:r>
              <a:rPr sz="1200" spc="5" dirty="0">
                <a:cs typeface="Arial MT"/>
              </a:rPr>
              <a:t>A</a:t>
            </a:r>
            <a:endParaRPr sz="1200">
              <a:cs typeface="Arial MT"/>
            </a:endParaRPr>
          </a:p>
        </p:txBody>
      </p:sp>
      <p:sp>
        <p:nvSpPr>
          <p:cNvPr id="9" name="object 9"/>
          <p:cNvSpPr txBox="1"/>
          <p:nvPr/>
        </p:nvSpPr>
        <p:spPr>
          <a:xfrm>
            <a:off x="6681953" y="5333398"/>
            <a:ext cx="442595" cy="307135"/>
          </a:xfrm>
          <a:prstGeom prst="rect">
            <a:avLst/>
          </a:prstGeom>
          <a:ln w="9218">
            <a:solidFill>
              <a:srgbClr val="000000"/>
            </a:solidFill>
          </a:ln>
        </p:spPr>
        <p:txBody>
          <a:bodyPr vert="horz" wrap="square" lIns="0" tIns="121285" rIns="0" bIns="0" rtlCol="0">
            <a:spAutoFit/>
          </a:bodyPr>
          <a:lstStyle/>
          <a:p>
            <a:pPr marL="2540" algn="ctr">
              <a:lnSpc>
                <a:spcPct val="100000"/>
              </a:lnSpc>
              <a:spcBef>
                <a:spcPts val="955"/>
              </a:spcBef>
            </a:pPr>
            <a:r>
              <a:rPr sz="1200" spc="5" dirty="0">
                <a:cs typeface="Arial MT"/>
              </a:rPr>
              <a:t>B</a:t>
            </a:r>
            <a:endParaRPr sz="1200">
              <a:cs typeface="Arial MT"/>
            </a:endParaRPr>
          </a:p>
        </p:txBody>
      </p:sp>
      <p:sp>
        <p:nvSpPr>
          <p:cNvPr id="10" name="object 10"/>
          <p:cNvSpPr txBox="1"/>
          <p:nvPr/>
        </p:nvSpPr>
        <p:spPr>
          <a:xfrm>
            <a:off x="5607254" y="5333398"/>
            <a:ext cx="442595" cy="307135"/>
          </a:xfrm>
          <a:prstGeom prst="rect">
            <a:avLst/>
          </a:prstGeom>
          <a:ln w="9218">
            <a:solidFill>
              <a:srgbClr val="000000"/>
            </a:solidFill>
          </a:ln>
        </p:spPr>
        <p:txBody>
          <a:bodyPr vert="horz" wrap="square" lIns="0" tIns="121285" rIns="0" bIns="0" rtlCol="0">
            <a:spAutoFit/>
          </a:bodyPr>
          <a:lstStyle/>
          <a:p>
            <a:pPr marL="66675">
              <a:lnSpc>
                <a:spcPct val="100000"/>
              </a:lnSpc>
              <a:spcBef>
                <a:spcPts val="955"/>
              </a:spcBef>
            </a:pPr>
            <a:r>
              <a:rPr sz="1200" spc="5" dirty="0">
                <a:cs typeface="Arial MT"/>
              </a:rPr>
              <a:t>ESC</a:t>
            </a:r>
            <a:endParaRPr sz="1200">
              <a:cs typeface="Arial MT"/>
            </a:endParaRPr>
          </a:p>
        </p:txBody>
      </p:sp>
      <p:sp>
        <p:nvSpPr>
          <p:cNvPr id="11" name="object 11"/>
          <p:cNvSpPr txBox="1"/>
          <p:nvPr/>
        </p:nvSpPr>
        <p:spPr>
          <a:xfrm>
            <a:off x="6144553" y="5333398"/>
            <a:ext cx="442595" cy="307135"/>
          </a:xfrm>
          <a:prstGeom prst="rect">
            <a:avLst/>
          </a:prstGeom>
          <a:ln w="9218">
            <a:solidFill>
              <a:srgbClr val="000000"/>
            </a:solidFill>
          </a:ln>
        </p:spPr>
        <p:txBody>
          <a:bodyPr vert="horz" wrap="square" lIns="0" tIns="121285" rIns="0" bIns="0" rtlCol="0">
            <a:spAutoFit/>
          </a:bodyPr>
          <a:lstStyle/>
          <a:p>
            <a:pPr marL="22860">
              <a:lnSpc>
                <a:spcPct val="100000"/>
              </a:lnSpc>
              <a:spcBef>
                <a:spcPts val="955"/>
              </a:spcBef>
            </a:pPr>
            <a:r>
              <a:rPr sz="1200" spc="5" dirty="0">
                <a:cs typeface="Arial MT"/>
              </a:rPr>
              <a:t>FLAG</a:t>
            </a:r>
            <a:endParaRPr sz="1200">
              <a:cs typeface="Arial MT"/>
            </a:endParaRPr>
          </a:p>
        </p:txBody>
      </p:sp>
      <p:grpSp>
        <p:nvGrpSpPr>
          <p:cNvPr id="12" name="object 12"/>
          <p:cNvGrpSpPr/>
          <p:nvPr/>
        </p:nvGrpSpPr>
        <p:grpSpPr>
          <a:xfrm>
            <a:off x="4520587" y="5462358"/>
            <a:ext cx="450215" cy="54610"/>
            <a:chOff x="5667578" y="4942344"/>
            <a:chExt cx="450215" cy="54610"/>
          </a:xfrm>
        </p:grpSpPr>
        <p:sp>
          <p:nvSpPr>
            <p:cNvPr id="13" name="object 13"/>
            <p:cNvSpPr/>
            <p:nvPr/>
          </p:nvSpPr>
          <p:spPr>
            <a:xfrm>
              <a:off x="5667578" y="4970932"/>
              <a:ext cx="410845" cy="0"/>
            </a:xfrm>
            <a:custGeom>
              <a:avLst/>
              <a:gdLst/>
              <a:ahLst/>
              <a:cxnLst/>
              <a:rect l="l" t="t" r="r" b="b"/>
              <a:pathLst>
                <a:path w="410845">
                  <a:moveTo>
                    <a:pt x="410349" y="0"/>
                  </a:moveTo>
                  <a:lnTo>
                    <a:pt x="0" y="0"/>
                  </a:lnTo>
                </a:path>
              </a:pathLst>
            </a:custGeom>
            <a:ln w="13828">
              <a:solidFill>
                <a:srgbClr val="000000"/>
              </a:solidFill>
            </a:ln>
          </p:spPr>
          <p:txBody>
            <a:bodyPr wrap="square" lIns="0" tIns="0" rIns="0" bIns="0" rtlCol="0"/>
            <a:lstStyle/>
            <a:p>
              <a:endParaRPr sz="2000"/>
            </a:p>
          </p:txBody>
        </p:sp>
        <p:sp>
          <p:nvSpPr>
            <p:cNvPr id="14" name="object 14"/>
            <p:cNvSpPr/>
            <p:nvPr/>
          </p:nvSpPr>
          <p:spPr>
            <a:xfrm>
              <a:off x="6016815" y="4942344"/>
              <a:ext cx="100965" cy="54610"/>
            </a:xfrm>
            <a:custGeom>
              <a:avLst/>
              <a:gdLst/>
              <a:ahLst/>
              <a:cxnLst/>
              <a:rect l="l" t="t" r="r" b="b"/>
              <a:pathLst>
                <a:path w="100964" h="54610">
                  <a:moveTo>
                    <a:pt x="100939" y="27139"/>
                  </a:moveTo>
                  <a:lnTo>
                    <a:pt x="0" y="0"/>
                  </a:lnTo>
                  <a:lnTo>
                    <a:pt x="0" y="54089"/>
                  </a:lnTo>
                  <a:lnTo>
                    <a:pt x="100939" y="27139"/>
                  </a:lnTo>
                  <a:close/>
                </a:path>
              </a:pathLst>
            </a:custGeom>
            <a:solidFill>
              <a:srgbClr val="000000"/>
            </a:solidFill>
          </p:spPr>
          <p:txBody>
            <a:bodyPr wrap="square" lIns="0" tIns="0" rIns="0" bIns="0" rtlCol="0"/>
            <a:lstStyle/>
            <a:p>
              <a:endParaRPr sz="2000"/>
            </a:p>
          </p:txBody>
        </p:sp>
        <p:sp>
          <p:nvSpPr>
            <p:cNvPr id="15" name="object 15"/>
            <p:cNvSpPr/>
            <p:nvPr/>
          </p:nvSpPr>
          <p:spPr>
            <a:xfrm>
              <a:off x="6022911" y="4969484"/>
              <a:ext cx="54610" cy="0"/>
            </a:xfrm>
            <a:custGeom>
              <a:avLst/>
              <a:gdLst/>
              <a:ahLst/>
              <a:cxnLst/>
              <a:rect l="l" t="t" r="r" b="b"/>
              <a:pathLst>
                <a:path w="54610">
                  <a:moveTo>
                    <a:pt x="0" y="0"/>
                  </a:moveTo>
                  <a:lnTo>
                    <a:pt x="54076" y="0"/>
                  </a:lnTo>
                </a:path>
              </a:pathLst>
            </a:custGeom>
            <a:ln w="9218">
              <a:solidFill>
                <a:srgbClr val="000000"/>
              </a:solidFill>
            </a:ln>
          </p:spPr>
          <p:txBody>
            <a:bodyPr wrap="square" lIns="0" tIns="0" rIns="0" bIns="0" rtlCol="0"/>
            <a:lstStyle/>
            <a:p>
              <a:endParaRPr sz="2000"/>
            </a:p>
          </p:txBody>
        </p:sp>
      </p:grpSp>
      <p:sp>
        <p:nvSpPr>
          <p:cNvPr id="16" name="object 16"/>
          <p:cNvSpPr txBox="1"/>
          <p:nvPr/>
        </p:nvSpPr>
        <p:spPr>
          <a:xfrm>
            <a:off x="5069942" y="5941830"/>
            <a:ext cx="442595" cy="307135"/>
          </a:xfrm>
          <a:prstGeom prst="rect">
            <a:avLst/>
          </a:prstGeom>
          <a:ln w="9218">
            <a:solidFill>
              <a:srgbClr val="000000"/>
            </a:solidFill>
          </a:ln>
        </p:spPr>
        <p:txBody>
          <a:bodyPr vert="horz" wrap="square" lIns="0" tIns="121285" rIns="0" bIns="0" rtlCol="0">
            <a:spAutoFit/>
          </a:bodyPr>
          <a:lstStyle/>
          <a:p>
            <a:pPr marR="26670" algn="ctr">
              <a:lnSpc>
                <a:spcPct val="100000"/>
              </a:lnSpc>
              <a:spcBef>
                <a:spcPts val="955"/>
              </a:spcBef>
            </a:pPr>
            <a:r>
              <a:rPr sz="1200" spc="5" dirty="0">
                <a:cs typeface="Arial MT"/>
              </a:rPr>
              <a:t>A</a:t>
            </a:r>
            <a:endParaRPr sz="1200">
              <a:cs typeface="Arial MT"/>
            </a:endParaRPr>
          </a:p>
        </p:txBody>
      </p:sp>
      <p:sp>
        <p:nvSpPr>
          <p:cNvPr id="17" name="object 17"/>
          <p:cNvSpPr txBox="1"/>
          <p:nvPr/>
        </p:nvSpPr>
        <p:spPr>
          <a:xfrm>
            <a:off x="6681953" y="5941830"/>
            <a:ext cx="442595" cy="307135"/>
          </a:xfrm>
          <a:prstGeom prst="rect">
            <a:avLst/>
          </a:prstGeom>
          <a:ln w="9218">
            <a:solidFill>
              <a:srgbClr val="000000"/>
            </a:solidFill>
          </a:ln>
        </p:spPr>
        <p:txBody>
          <a:bodyPr vert="horz" wrap="square" lIns="0" tIns="121285" rIns="0" bIns="0" rtlCol="0">
            <a:spAutoFit/>
          </a:bodyPr>
          <a:lstStyle/>
          <a:p>
            <a:pPr marL="2540" algn="ctr">
              <a:lnSpc>
                <a:spcPct val="100000"/>
              </a:lnSpc>
              <a:spcBef>
                <a:spcPts val="955"/>
              </a:spcBef>
            </a:pPr>
            <a:r>
              <a:rPr sz="1200" spc="5" dirty="0">
                <a:cs typeface="Arial MT"/>
              </a:rPr>
              <a:t>B</a:t>
            </a:r>
            <a:endParaRPr sz="1200">
              <a:cs typeface="Arial MT"/>
            </a:endParaRPr>
          </a:p>
        </p:txBody>
      </p:sp>
      <p:sp>
        <p:nvSpPr>
          <p:cNvPr id="18" name="object 18"/>
          <p:cNvSpPr txBox="1"/>
          <p:nvPr/>
        </p:nvSpPr>
        <p:spPr>
          <a:xfrm>
            <a:off x="5607254" y="5941830"/>
            <a:ext cx="442595" cy="307135"/>
          </a:xfrm>
          <a:prstGeom prst="rect">
            <a:avLst/>
          </a:prstGeom>
          <a:ln w="9218">
            <a:solidFill>
              <a:srgbClr val="000000"/>
            </a:solidFill>
          </a:ln>
        </p:spPr>
        <p:txBody>
          <a:bodyPr vert="horz" wrap="square" lIns="0" tIns="121285" rIns="0" bIns="0" rtlCol="0">
            <a:spAutoFit/>
          </a:bodyPr>
          <a:lstStyle/>
          <a:p>
            <a:pPr marL="66675">
              <a:lnSpc>
                <a:spcPct val="100000"/>
              </a:lnSpc>
              <a:spcBef>
                <a:spcPts val="955"/>
              </a:spcBef>
            </a:pPr>
            <a:r>
              <a:rPr sz="1200" spc="5" dirty="0">
                <a:cs typeface="Arial MT"/>
              </a:rPr>
              <a:t>ESC</a:t>
            </a:r>
            <a:endParaRPr sz="1200">
              <a:cs typeface="Arial MT"/>
            </a:endParaRPr>
          </a:p>
        </p:txBody>
      </p:sp>
      <p:sp>
        <p:nvSpPr>
          <p:cNvPr id="19" name="object 19"/>
          <p:cNvSpPr txBox="1"/>
          <p:nvPr/>
        </p:nvSpPr>
        <p:spPr>
          <a:xfrm>
            <a:off x="6144553" y="5941830"/>
            <a:ext cx="442595" cy="307135"/>
          </a:xfrm>
          <a:prstGeom prst="rect">
            <a:avLst/>
          </a:prstGeom>
          <a:ln w="9218">
            <a:solidFill>
              <a:srgbClr val="000000"/>
            </a:solidFill>
          </a:ln>
        </p:spPr>
        <p:txBody>
          <a:bodyPr vert="horz" wrap="square" lIns="0" tIns="121285" rIns="0" bIns="0" rtlCol="0">
            <a:spAutoFit/>
          </a:bodyPr>
          <a:lstStyle/>
          <a:p>
            <a:pPr marL="64135">
              <a:lnSpc>
                <a:spcPct val="100000"/>
              </a:lnSpc>
              <a:spcBef>
                <a:spcPts val="955"/>
              </a:spcBef>
            </a:pPr>
            <a:r>
              <a:rPr sz="1200" spc="5" dirty="0">
                <a:cs typeface="Arial MT"/>
              </a:rPr>
              <a:t>ESC</a:t>
            </a:r>
            <a:endParaRPr sz="1200">
              <a:cs typeface="Arial MT"/>
            </a:endParaRPr>
          </a:p>
        </p:txBody>
      </p:sp>
      <p:grpSp>
        <p:nvGrpSpPr>
          <p:cNvPr id="20" name="object 20"/>
          <p:cNvGrpSpPr/>
          <p:nvPr/>
        </p:nvGrpSpPr>
        <p:grpSpPr>
          <a:xfrm>
            <a:off x="4515001" y="6073802"/>
            <a:ext cx="450215" cy="54610"/>
            <a:chOff x="5667578" y="5550789"/>
            <a:chExt cx="450215" cy="54610"/>
          </a:xfrm>
        </p:grpSpPr>
        <p:sp>
          <p:nvSpPr>
            <p:cNvPr id="21" name="object 21"/>
            <p:cNvSpPr/>
            <p:nvPr/>
          </p:nvSpPr>
          <p:spPr>
            <a:xfrm>
              <a:off x="5667578" y="5579389"/>
              <a:ext cx="410845" cy="0"/>
            </a:xfrm>
            <a:custGeom>
              <a:avLst/>
              <a:gdLst/>
              <a:ahLst/>
              <a:cxnLst/>
              <a:rect l="l" t="t" r="r" b="b"/>
              <a:pathLst>
                <a:path w="410845">
                  <a:moveTo>
                    <a:pt x="410349" y="0"/>
                  </a:moveTo>
                  <a:lnTo>
                    <a:pt x="0" y="0"/>
                  </a:lnTo>
                </a:path>
              </a:pathLst>
            </a:custGeom>
            <a:ln w="13828">
              <a:solidFill>
                <a:srgbClr val="000000"/>
              </a:solidFill>
            </a:ln>
          </p:spPr>
          <p:txBody>
            <a:bodyPr wrap="square" lIns="0" tIns="0" rIns="0" bIns="0" rtlCol="0"/>
            <a:lstStyle/>
            <a:p>
              <a:endParaRPr sz="2000"/>
            </a:p>
          </p:txBody>
        </p:sp>
        <p:sp>
          <p:nvSpPr>
            <p:cNvPr id="22" name="object 22"/>
            <p:cNvSpPr/>
            <p:nvPr/>
          </p:nvSpPr>
          <p:spPr>
            <a:xfrm>
              <a:off x="6016815" y="5550789"/>
              <a:ext cx="100965" cy="54610"/>
            </a:xfrm>
            <a:custGeom>
              <a:avLst/>
              <a:gdLst/>
              <a:ahLst/>
              <a:cxnLst/>
              <a:rect l="l" t="t" r="r" b="b"/>
              <a:pathLst>
                <a:path w="100964" h="54610">
                  <a:moveTo>
                    <a:pt x="100939" y="27139"/>
                  </a:moveTo>
                  <a:lnTo>
                    <a:pt x="0" y="0"/>
                  </a:lnTo>
                  <a:lnTo>
                    <a:pt x="0" y="54089"/>
                  </a:lnTo>
                  <a:lnTo>
                    <a:pt x="100939" y="27139"/>
                  </a:lnTo>
                  <a:close/>
                </a:path>
              </a:pathLst>
            </a:custGeom>
            <a:solidFill>
              <a:srgbClr val="000000"/>
            </a:solidFill>
          </p:spPr>
          <p:txBody>
            <a:bodyPr wrap="square" lIns="0" tIns="0" rIns="0" bIns="0" rtlCol="0"/>
            <a:lstStyle/>
            <a:p>
              <a:endParaRPr sz="2000"/>
            </a:p>
          </p:txBody>
        </p:sp>
        <p:sp>
          <p:nvSpPr>
            <p:cNvPr id="23" name="object 23"/>
            <p:cNvSpPr/>
            <p:nvPr/>
          </p:nvSpPr>
          <p:spPr>
            <a:xfrm>
              <a:off x="6022911" y="5577928"/>
              <a:ext cx="54610" cy="0"/>
            </a:xfrm>
            <a:custGeom>
              <a:avLst/>
              <a:gdLst/>
              <a:ahLst/>
              <a:cxnLst/>
              <a:rect l="l" t="t" r="r" b="b"/>
              <a:pathLst>
                <a:path w="54610">
                  <a:moveTo>
                    <a:pt x="0" y="0"/>
                  </a:moveTo>
                  <a:lnTo>
                    <a:pt x="54076" y="0"/>
                  </a:lnTo>
                </a:path>
              </a:pathLst>
            </a:custGeom>
            <a:ln w="9218">
              <a:solidFill>
                <a:srgbClr val="000000"/>
              </a:solidFill>
            </a:ln>
          </p:spPr>
          <p:txBody>
            <a:bodyPr wrap="square" lIns="0" tIns="0" rIns="0" bIns="0" rtlCol="0"/>
            <a:lstStyle/>
            <a:p>
              <a:endParaRPr sz="2000"/>
            </a:p>
          </p:txBody>
        </p:sp>
      </p:grpSp>
      <p:sp>
        <p:nvSpPr>
          <p:cNvPr id="24" name="object 24"/>
          <p:cNvSpPr txBox="1"/>
          <p:nvPr/>
        </p:nvSpPr>
        <p:spPr>
          <a:xfrm>
            <a:off x="5069942" y="6550287"/>
            <a:ext cx="442595" cy="307135"/>
          </a:xfrm>
          <a:prstGeom prst="rect">
            <a:avLst/>
          </a:prstGeom>
          <a:ln w="9218">
            <a:solidFill>
              <a:srgbClr val="000000"/>
            </a:solidFill>
          </a:ln>
        </p:spPr>
        <p:txBody>
          <a:bodyPr vert="horz" wrap="square" lIns="0" tIns="121285" rIns="0" bIns="0" rtlCol="0">
            <a:spAutoFit/>
          </a:bodyPr>
          <a:lstStyle/>
          <a:p>
            <a:pPr marR="26670" algn="ctr">
              <a:lnSpc>
                <a:spcPct val="100000"/>
              </a:lnSpc>
              <a:spcBef>
                <a:spcPts val="955"/>
              </a:spcBef>
            </a:pPr>
            <a:r>
              <a:rPr sz="1200" spc="5" dirty="0">
                <a:cs typeface="Arial MT"/>
              </a:rPr>
              <a:t>A</a:t>
            </a:r>
            <a:endParaRPr sz="1200">
              <a:cs typeface="Arial MT"/>
            </a:endParaRPr>
          </a:p>
        </p:txBody>
      </p:sp>
      <p:sp>
        <p:nvSpPr>
          <p:cNvPr id="25" name="object 25"/>
          <p:cNvSpPr txBox="1"/>
          <p:nvPr/>
        </p:nvSpPr>
        <p:spPr>
          <a:xfrm>
            <a:off x="6681953" y="6550287"/>
            <a:ext cx="442595" cy="307135"/>
          </a:xfrm>
          <a:prstGeom prst="rect">
            <a:avLst/>
          </a:prstGeom>
          <a:ln w="9218">
            <a:solidFill>
              <a:srgbClr val="000000"/>
            </a:solidFill>
          </a:ln>
        </p:spPr>
        <p:txBody>
          <a:bodyPr vert="horz" wrap="square" lIns="0" tIns="121285" rIns="0" bIns="0" rtlCol="0">
            <a:spAutoFit/>
          </a:bodyPr>
          <a:lstStyle/>
          <a:p>
            <a:pPr marL="70485">
              <a:lnSpc>
                <a:spcPct val="100000"/>
              </a:lnSpc>
              <a:spcBef>
                <a:spcPts val="955"/>
              </a:spcBef>
            </a:pPr>
            <a:r>
              <a:rPr sz="1200" spc="5" dirty="0">
                <a:cs typeface="Arial MT"/>
              </a:rPr>
              <a:t>ESC</a:t>
            </a:r>
            <a:endParaRPr sz="1200">
              <a:cs typeface="Arial MT"/>
            </a:endParaRPr>
          </a:p>
        </p:txBody>
      </p:sp>
      <p:sp>
        <p:nvSpPr>
          <p:cNvPr id="26" name="object 26"/>
          <p:cNvSpPr txBox="1"/>
          <p:nvPr/>
        </p:nvSpPr>
        <p:spPr>
          <a:xfrm>
            <a:off x="7756653" y="6550287"/>
            <a:ext cx="442595" cy="307135"/>
          </a:xfrm>
          <a:prstGeom prst="rect">
            <a:avLst/>
          </a:prstGeom>
          <a:ln w="9218">
            <a:solidFill>
              <a:srgbClr val="000000"/>
            </a:solidFill>
          </a:ln>
        </p:spPr>
        <p:txBody>
          <a:bodyPr vert="horz" wrap="square" lIns="0" tIns="121285" rIns="0" bIns="0" rtlCol="0">
            <a:spAutoFit/>
          </a:bodyPr>
          <a:lstStyle/>
          <a:p>
            <a:pPr marR="31750" algn="ctr">
              <a:lnSpc>
                <a:spcPct val="100000"/>
              </a:lnSpc>
              <a:spcBef>
                <a:spcPts val="955"/>
              </a:spcBef>
            </a:pPr>
            <a:r>
              <a:rPr sz="1200" spc="5" dirty="0">
                <a:cs typeface="Arial MT"/>
              </a:rPr>
              <a:t>B</a:t>
            </a:r>
            <a:endParaRPr sz="1200">
              <a:cs typeface="Arial MT"/>
            </a:endParaRPr>
          </a:p>
        </p:txBody>
      </p:sp>
      <p:sp>
        <p:nvSpPr>
          <p:cNvPr id="27" name="object 27"/>
          <p:cNvSpPr txBox="1"/>
          <p:nvPr/>
        </p:nvSpPr>
        <p:spPr>
          <a:xfrm>
            <a:off x="5607254" y="6550287"/>
            <a:ext cx="442595" cy="307135"/>
          </a:xfrm>
          <a:prstGeom prst="rect">
            <a:avLst/>
          </a:prstGeom>
          <a:ln w="9218">
            <a:solidFill>
              <a:srgbClr val="000000"/>
            </a:solidFill>
          </a:ln>
        </p:spPr>
        <p:txBody>
          <a:bodyPr vert="horz" wrap="square" lIns="0" tIns="121285" rIns="0" bIns="0" rtlCol="0">
            <a:spAutoFit/>
          </a:bodyPr>
          <a:lstStyle/>
          <a:p>
            <a:pPr marL="66675">
              <a:lnSpc>
                <a:spcPct val="100000"/>
              </a:lnSpc>
              <a:spcBef>
                <a:spcPts val="955"/>
              </a:spcBef>
            </a:pPr>
            <a:r>
              <a:rPr sz="1200" spc="5" dirty="0">
                <a:cs typeface="Arial MT"/>
              </a:rPr>
              <a:t>ESC</a:t>
            </a:r>
            <a:endParaRPr sz="1200">
              <a:cs typeface="Arial MT"/>
            </a:endParaRPr>
          </a:p>
        </p:txBody>
      </p:sp>
      <p:sp>
        <p:nvSpPr>
          <p:cNvPr id="28" name="object 28"/>
          <p:cNvSpPr txBox="1"/>
          <p:nvPr/>
        </p:nvSpPr>
        <p:spPr>
          <a:xfrm>
            <a:off x="6144553" y="6550287"/>
            <a:ext cx="442595" cy="307135"/>
          </a:xfrm>
          <a:prstGeom prst="rect">
            <a:avLst/>
          </a:prstGeom>
          <a:ln w="9218">
            <a:solidFill>
              <a:srgbClr val="000000"/>
            </a:solidFill>
          </a:ln>
        </p:spPr>
        <p:txBody>
          <a:bodyPr vert="horz" wrap="square" lIns="0" tIns="121285" rIns="0" bIns="0" rtlCol="0">
            <a:spAutoFit/>
          </a:bodyPr>
          <a:lstStyle/>
          <a:p>
            <a:pPr marL="64135">
              <a:lnSpc>
                <a:spcPct val="100000"/>
              </a:lnSpc>
              <a:spcBef>
                <a:spcPts val="955"/>
              </a:spcBef>
            </a:pPr>
            <a:r>
              <a:rPr sz="1200" spc="5" dirty="0">
                <a:cs typeface="Arial MT"/>
              </a:rPr>
              <a:t>ESC</a:t>
            </a:r>
            <a:endParaRPr sz="1200">
              <a:cs typeface="Arial MT"/>
            </a:endParaRPr>
          </a:p>
        </p:txBody>
      </p:sp>
      <p:sp>
        <p:nvSpPr>
          <p:cNvPr id="29" name="object 29"/>
          <p:cNvSpPr txBox="1"/>
          <p:nvPr/>
        </p:nvSpPr>
        <p:spPr>
          <a:xfrm>
            <a:off x="7219239" y="6550287"/>
            <a:ext cx="442595" cy="307135"/>
          </a:xfrm>
          <a:prstGeom prst="rect">
            <a:avLst/>
          </a:prstGeom>
          <a:ln w="9218">
            <a:solidFill>
              <a:srgbClr val="000000"/>
            </a:solidFill>
          </a:ln>
        </p:spPr>
        <p:txBody>
          <a:bodyPr vert="horz" wrap="square" lIns="0" tIns="121285" rIns="0" bIns="0" rtlCol="0">
            <a:spAutoFit/>
          </a:bodyPr>
          <a:lstStyle/>
          <a:p>
            <a:pPr marL="36195">
              <a:lnSpc>
                <a:spcPct val="100000"/>
              </a:lnSpc>
              <a:spcBef>
                <a:spcPts val="955"/>
              </a:spcBef>
            </a:pPr>
            <a:r>
              <a:rPr sz="1200" spc="5" dirty="0">
                <a:cs typeface="Arial MT"/>
              </a:rPr>
              <a:t>FLAG</a:t>
            </a:r>
            <a:endParaRPr sz="1200">
              <a:cs typeface="Arial MT"/>
            </a:endParaRPr>
          </a:p>
        </p:txBody>
      </p:sp>
      <p:grpSp>
        <p:nvGrpSpPr>
          <p:cNvPr id="30" name="object 30"/>
          <p:cNvGrpSpPr/>
          <p:nvPr/>
        </p:nvGrpSpPr>
        <p:grpSpPr>
          <a:xfrm>
            <a:off x="4534687" y="6659772"/>
            <a:ext cx="450215" cy="54610"/>
            <a:chOff x="5667578" y="6159246"/>
            <a:chExt cx="450215" cy="54610"/>
          </a:xfrm>
        </p:grpSpPr>
        <p:sp>
          <p:nvSpPr>
            <p:cNvPr id="31" name="object 31"/>
            <p:cNvSpPr/>
            <p:nvPr/>
          </p:nvSpPr>
          <p:spPr>
            <a:xfrm>
              <a:off x="5667578" y="6187833"/>
              <a:ext cx="410845" cy="0"/>
            </a:xfrm>
            <a:custGeom>
              <a:avLst/>
              <a:gdLst/>
              <a:ahLst/>
              <a:cxnLst/>
              <a:rect l="l" t="t" r="r" b="b"/>
              <a:pathLst>
                <a:path w="410845">
                  <a:moveTo>
                    <a:pt x="410349" y="0"/>
                  </a:moveTo>
                  <a:lnTo>
                    <a:pt x="0" y="0"/>
                  </a:lnTo>
                </a:path>
              </a:pathLst>
            </a:custGeom>
            <a:ln w="13828">
              <a:solidFill>
                <a:srgbClr val="000000"/>
              </a:solidFill>
            </a:ln>
          </p:spPr>
          <p:txBody>
            <a:bodyPr wrap="square" lIns="0" tIns="0" rIns="0" bIns="0" rtlCol="0"/>
            <a:lstStyle/>
            <a:p>
              <a:endParaRPr sz="2000"/>
            </a:p>
          </p:txBody>
        </p:sp>
        <p:sp>
          <p:nvSpPr>
            <p:cNvPr id="32" name="object 32"/>
            <p:cNvSpPr/>
            <p:nvPr/>
          </p:nvSpPr>
          <p:spPr>
            <a:xfrm>
              <a:off x="6016815" y="6159246"/>
              <a:ext cx="100965" cy="54610"/>
            </a:xfrm>
            <a:custGeom>
              <a:avLst/>
              <a:gdLst/>
              <a:ahLst/>
              <a:cxnLst/>
              <a:rect l="l" t="t" r="r" b="b"/>
              <a:pathLst>
                <a:path w="100964" h="54610">
                  <a:moveTo>
                    <a:pt x="100939" y="27127"/>
                  </a:moveTo>
                  <a:lnTo>
                    <a:pt x="0" y="0"/>
                  </a:lnTo>
                  <a:lnTo>
                    <a:pt x="0" y="54089"/>
                  </a:lnTo>
                  <a:lnTo>
                    <a:pt x="100939" y="27127"/>
                  </a:lnTo>
                  <a:close/>
                </a:path>
              </a:pathLst>
            </a:custGeom>
            <a:solidFill>
              <a:srgbClr val="000000"/>
            </a:solidFill>
          </p:spPr>
          <p:txBody>
            <a:bodyPr wrap="square" lIns="0" tIns="0" rIns="0" bIns="0" rtlCol="0"/>
            <a:lstStyle/>
            <a:p>
              <a:endParaRPr sz="2000"/>
            </a:p>
          </p:txBody>
        </p:sp>
        <p:sp>
          <p:nvSpPr>
            <p:cNvPr id="33" name="object 33"/>
            <p:cNvSpPr/>
            <p:nvPr/>
          </p:nvSpPr>
          <p:spPr>
            <a:xfrm>
              <a:off x="6022911" y="6186373"/>
              <a:ext cx="54610" cy="0"/>
            </a:xfrm>
            <a:custGeom>
              <a:avLst/>
              <a:gdLst/>
              <a:ahLst/>
              <a:cxnLst/>
              <a:rect l="l" t="t" r="r" b="b"/>
              <a:pathLst>
                <a:path w="54610">
                  <a:moveTo>
                    <a:pt x="0" y="0"/>
                  </a:moveTo>
                  <a:lnTo>
                    <a:pt x="54076" y="0"/>
                  </a:lnTo>
                </a:path>
              </a:pathLst>
            </a:custGeom>
            <a:ln w="9218">
              <a:solidFill>
                <a:srgbClr val="000000"/>
              </a:solidFill>
            </a:ln>
          </p:spPr>
          <p:txBody>
            <a:bodyPr wrap="square" lIns="0" tIns="0" rIns="0" bIns="0" rtlCol="0"/>
            <a:lstStyle/>
            <a:p>
              <a:endParaRPr sz="2000"/>
            </a:p>
          </p:txBody>
        </p:sp>
      </p:grpSp>
      <p:sp>
        <p:nvSpPr>
          <p:cNvPr id="34" name="object 34"/>
          <p:cNvSpPr txBox="1"/>
          <p:nvPr/>
        </p:nvSpPr>
        <p:spPr>
          <a:xfrm>
            <a:off x="5061967" y="7213719"/>
            <a:ext cx="442595" cy="307135"/>
          </a:xfrm>
          <a:prstGeom prst="rect">
            <a:avLst/>
          </a:prstGeom>
          <a:ln w="9218">
            <a:solidFill>
              <a:srgbClr val="000000"/>
            </a:solidFill>
          </a:ln>
        </p:spPr>
        <p:txBody>
          <a:bodyPr vert="horz" wrap="square" lIns="0" tIns="121285" rIns="0" bIns="0" rtlCol="0">
            <a:spAutoFit/>
          </a:bodyPr>
          <a:lstStyle/>
          <a:p>
            <a:pPr algn="ctr">
              <a:lnSpc>
                <a:spcPct val="100000"/>
              </a:lnSpc>
              <a:spcBef>
                <a:spcPts val="955"/>
              </a:spcBef>
            </a:pPr>
            <a:r>
              <a:rPr sz="1200" spc="5" dirty="0">
                <a:cs typeface="Arial MT"/>
              </a:rPr>
              <a:t>A</a:t>
            </a:r>
            <a:endParaRPr sz="1200">
              <a:cs typeface="Arial MT"/>
            </a:endParaRPr>
          </a:p>
        </p:txBody>
      </p:sp>
      <p:sp>
        <p:nvSpPr>
          <p:cNvPr id="35" name="object 35"/>
          <p:cNvSpPr txBox="1"/>
          <p:nvPr/>
        </p:nvSpPr>
        <p:spPr>
          <a:xfrm>
            <a:off x="6681953" y="7213719"/>
            <a:ext cx="442595" cy="307135"/>
          </a:xfrm>
          <a:prstGeom prst="rect">
            <a:avLst/>
          </a:prstGeom>
          <a:ln w="9218">
            <a:solidFill>
              <a:srgbClr val="000000"/>
            </a:solidFill>
          </a:ln>
        </p:spPr>
        <p:txBody>
          <a:bodyPr vert="horz" wrap="square" lIns="0" tIns="121285" rIns="0" bIns="0" rtlCol="0">
            <a:spAutoFit/>
          </a:bodyPr>
          <a:lstStyle/>
          <a:p>
            <a:pPr marL="70485">
              <a:lnSpc>
                <a:spcPct val="100000"/>
              </a:lnSpc>
              <a:spcBef>
                <a:spcPts val="955"/>
              </a:spcBef>
            </a:pPr>
            <a:r>
              <a:rPr sz="1200" spc="5" dirty="0">
                <a:cs typeface="Arial MT"/>
              </a:rPr>
              <a:t>ESC</a:t>
            </a:r>
            <a:endParaRPr sz="1200">
              <a:cs typeface="Arial MT"/>
            </a:endParaRPr>
          </a:p>
        </p:txBody>
      </p:sp>
      <p:sp>
        <p:nvSpPr>
          <p:cNvPr id="36" name="object 36"/>
          <p:cNvSpPr txBox="1"/>
          <p:nvPr/>
        </p:nvSpPr>
        <p:spPr>
          <a:xfrm>
            <a:off x="7756653" y="7213719"/>
            <a:ext cx="442595" cy="307135"/>
          </a:xfrm>
          <a:prstGeom prst="rect">
            <a:avLst/>
          </a:prstGeom>
          <a:ln w="9218">
            <a:solidFill>
              <a:srgbClr val="000000"/>
            </a:solidFill>
          </a:ln>
        </p:spPr>
        <p:txBody>
          <a:bodyPr vert="horz" wrap="square" lIns="0" tIns="121285" rIns="0" bIns="0" rtlCol="0">
            <a:spAutoFit/>
          </a:bodyPr>
          <a:lstStyle/>
          <a:p>
            <a:pPr marR="31750" algn="ctr">
              <a:lnSpc>
                <a:spcPct val="100000"/>
              </a:lnSpc>
              <a:spcBef>
                <a:spcPts val="955"/>
              </a:spcBef>
            </a:pPr>
            <a:r>
              <a:rPr sz="1200" spc="5" dirty="0">
                <a:cs typeface="Arial MT"/>
              </a:rPr>
              <a:t>B</a:t>
            </a:r>
            <a:endParaRPr sz="1200">
              <a:cs typeface="Arial MT"/>
            </a:endParaRPr>
          </a:p>
        </p:txBody>
      </p:sp>
      <p:sp>
        <p:nvSpPr>
          <p:cNvPr id="37" name="object 37"/>
          <p:cNvSpPr txBox="1"/>
          <p:nvPr/>
        </p:nvSpPr>
        <p:spPr>
          <a:xfrm>
            <a:off x="5607254" y="7213719"/>
            <a:ext cx="442595" cy="307135"/>
          </a:xfrm>
          <a:prstGeom prst="rect">
            <a:avLst/>
          </a:prstGeom>
          <a:ln w="9218">
            <a:solidFill>
              <a:srgbClr val="000000"/>
            </a:solidFill>
          </a:ln>
        </p:spPr>
        <p:txBody>
          <a:bodyPr vert="horz" wrap="square" lIns="0" tIns="121285" rIns="0" bIns="0" rtlCol="0">
            <a:spAutoFit/>
          </a:bodyPr>
          <a:lstStyle/>
          <a:p>
            <a:pPr marL="66675">
              <a:lnSpc>
                <a:spcPct val="100000"/>
              </a:lnSpc>
              <a:spcBef>
                <a:spcPts val="955"/>
              </a:spcBef>
            </a:pPr>
            <a:r>
              <a:rPr sz="1200" spc="5" dirty="0">
                <a:cs typeface="Arial MT"/>
              </a:rPr>
              <a:t>ESC</a:t>
            </a:r>
            <a:endParaRPr sz="1200">
              <a:cs typeface="Arial MT"/>
            </a:endParaRPr>
          </a:p>
        </p:txBody>
      </p:sp>
      <p:sp>
        <p:nvSpPr>
          <p:cNvPr id="38" name="object 38"/>
          <p:cNvSpPr txBox="1"/>
          <p:nvPr/>
        </p:nvSpPr>
        <p:spPr>
          <a:xfrm>
            <a:off x="6144553" y="7213719"/>
            <a:ext cx="442595" cy="307135"/>
          </a:xfrm>
          <a:prstGeom prst="rect">
            <a:avLst/>
          </a:prstGeom>
          <a:ln w="9218">
            <a:solidFill>
              <a:srgbClr val="000000"/>
            </a:solidFill>
          </a:ln>
        </p:spPr>
        <p:txBody>
          <a:bodyPr vert="horz" wrap="square" lIns="0" tIns="121285" rIns="0" bIns="0" rtlCol="0">
            <a:spAutoFit/>
          </a:bodyPr>
          <a:lstStyle/>
          <a:p>
            <a:pPr marL="64135">
              <a:lnSpc>
                <a:spcPct val="100000"/>
              </a:lnSpc>
              <a:spcBef>
                <a:spcPts val="955"/>
              </a:spcBef>
            </a:pPr>
            <a:r>
              <a:rPr sz="1200" spc="5" dirty="0">
                <a:cs typeface="Arial MT"/>
              </a:rPr>
              <a:t>ESC</a:t>
            </a:r>
            <a:endParaRPr sz="1200">
              <a:cs typeface="Arial MT"/>
            </a:endParaRPr>
          </a:p>
        </p:txBody>
      </p:sp>
      <p:sp>
        <p:nvSpPr>
          <p:cNvPr id="39" name="object 39"/>
          <p:cNvSpPr txBox="1"/>
          <p:nvPr/>
        </p:nvSpPr>
        <p:spPr>
          <a:xfrm>
            <a:off x="7219239" y="7213719"/>
            <a:ext cx="442595" cy="307135"/>
          </a:xfrm>
          <a:prstGeom prst="rect">
            <a:avLst/>
          </a:prstGeom>
          <a:ln w="9218">
            <a:solidFill>
              <a:srgbClr val="000000"/>
            </a:solidFill>
          </a:ln>
        </p:spPr>
        <p:txBody>
          <a:bodyPr vert="horz" wrap="square" lIns="0" tIns="121285" rIns="0" bIns="0" rtlCol="0">
            <a:spAutoFit/>
          </a:bodyPr>
          <a:lstStyle/>
          <a:p>
            <a:pPr marL="77470">
              <a:lnSpc>
                <a:spcPct val="100000"/>
              </a:lnSpc>
              <a:spcBef>
                <a:spcPts val="955"/>
              </a:spcBef>
            </a:pPr>
            <a:r>
              <a:rPr sz="1200" spc="5" dirty="0">
                <a:cs typeface="Arial MT"/>
              </a:rPr>
              <a:t>ESC</a:t>
            </a:r>
            <a:endParaRPr sz="1200">
              <a:cs typeface="Arial MT"/>
            </a:endParaRPr>
          </a:p>
        </p:txBody>
      </p:sp>
      <p:sp>
        <p:nvSpPr>
          <p:cNvPr id="40" name="object 40"/>
          <p:cNvSpPr txBox="1"/>
          <p:nvPr/>
        </p:nvSpPr>
        <p:spPr>
          <a:xfrm>
            <a:off x="3436887" y="5333398"/>
            <a:ext cx="442595" cy="307135"/>
          </a:xfrm>
          <a:prstGeom prst="rect">
            <a:avLst/>
          </a:prstGeom>
          <a:ln w="9218">
            <a:solidFill>
              <a:srgbClr val="000000"/>
            </a:solidFill>
          </a:ln>
        </p:spPr>
        <p:txBody>
          <a:bodyPr vert="horz" wrap="square" lIns="0" tIns="121285" rIns="0" bIns="0" rtlCol="0">
            <a:spAutoFit/>
          </a:bodyPr>
          <a:lstStyle/>
          <a:p>
            <a:pPr marL="2540" algn="ctr">
              <a:lnSpc>
                <a:spcPct val="100000"/>
              </a:lnSpc>
              <a:spcBef>
                <a:spcPts val="955"/>
              </a:spcBef>
            </a:pPr>
            <a:r>
              <a:rPr sz="1200" spc="5" dirty="0">
                <a:cs typeface="Arial MT"/>
              </a:rPr>
              <a:t>B</a:t>
            </a:r>
            <a:endParaRPr sz="1200">
              <a:cs typeface="Arial MT"/>
            </a:endParaRPr>
          </a:p>
        </p:txBody>
      </p:sp>
      <p:sp>
        <p:nvSpPr>
          <p:cNvPr id="41" name="object 41"/>
          <p:cNvSpPr txBox="1"/>
          <p:nvPr/>
        </p:nvSpPr>
        <p:spPr>
          <a:xfrm>
            <a:off x="2362200" y="5333398"/>
            <a:ext cx="442595" cy="307135"/>
          </a:xfrm>
          <a:prstGeom prst="rect">
            <a:avLst/>
          </a:prstGeom>
          <a:ln w="9218">
            <a:solidFill>
              <a:srgbClr val="000000"/>
            </a:solidFill>
          </a:ln>
        </p:spPr>
        <p:txBody>
          <a:bodyPr vert="horz" wrap="square" lIns="0" tIns="121285" rIns="0" bIns="0" rtlCol="0">
            <a:spAutoFit/>
          </a:bodyPr>
          <a:lstStyle/>
          <a:p>
            <a:pPr marR="13335" algn="ctr">
              <a:lnSpc>
                <a:spcPct val="100000"/>
              </a:lnSpc>
              <a:spcBef>
                <a:spcPts val="955"/>
              </a:spcBef>
            </a:pPr>
            <a:r>
              <a:rPr sz="1200" spc="5" dirty="0">
                <a:cs typeface="Arial MT"/>
              </a:rPr>
              <a:t>A</a:t>
            </a:r>
            <a:endParaRPr sz="1200" dirty="0">
              <a:cs typeface="Arial MT"/>
            </a:endParaRPr>
          </a:p>
        </p:txBody>
      </p:sp>
      <p:sp>
        <p:nvSpPr>
          <p:cNvPr id="42" name="object 42"/>
          <p:cNvSpPr txBox="1"/>
          <p:nvPr/>
        </p:nvSpPr>
        <p:spPr>
          <a:xfrm>
            <a:off x="2899487" y="5333398"/>
            <a:ext cx="442595" cy="307135"/>
          </a:xfrm>
          <a:prstGeom prst="rect">
            <a:avLst/>
          </a:prstGeom>
          <a:ln w="9218">
            <a:solidFill>
              <a:srgbClr val="000000"/>
            </a:solidFill>
          </a:ln>
        </p:spPr>
        <p:txBody>
          <a:bodyPr vert="horz" wrap="square" lIns="0" tIns="121285" rIns="0" bIns="0" rtlCol="0">
            <a:spAutoFit/>
          </a:bodyPr>
          <a:lstStyle/>
          <a:p>
            <a:pPr marL="28575">
              <a:lnSpc>
                <a:spcPct val="100000"/>
              </a:lnSpc>
              <a:spcBef>
                <a:spcPts val="955"/>
              </a:spcBef>
            </a:pPr>
            <a:r>
              <a:rPr sz="1200" spc="5" dirty="0">
                <a:cs typeface="Arial MT"/>
              </a:rPr>
              <a:t>FLAG</a:t>
            </a:r>
            <a:endParaRPr sz="1200">
              <a:cs typeface="Arial MT"/>
            </a:endParaRPr>
          </a:p>
        </p:txBody>
      </p:sp>
      <p:sp>
        <p:nvSpPr>
          <p:cNvPr id="43" name="object 43"/>
          <p:cNvSpPr txBox="1"/>
          <p:nvPr/>
        </p:nvSpPr>
        <p:spPr>
          <a:xfrm>
            <a:off x="3436887" y="5941830"/>
            <a:ext cx="442595" cy="307135"/>
          </a:xfrm>
          <a:prstGeom prst="rect">
            <a:avLst/>
          </a:prstGeom>
          <a:ln w="9218">
            <a:solidFill>
              <a:srgbClr val="000000"/>
            </a:solidFill>
          </a:ln>
        </p:spPr>
        <p:txBody>
          <a:bodyPr vert="horz" wrap="square" lIns="0" tIns="121285" rIns="0" bIns="0" rtlCol="0">
            <a:spAutoFit/>
          </a:bodyPr>
          <a:lstStyle/>
          <a:p>
            <a:pPr marL="2540" algn="ctr">
              <a:lnSpc>
                <a:spcPct val="100000"/>
              </a:lnSpc>
              <a:spcBef>
                <a:spcPts val="955"/>
              </a:spcBef>
            </a:pPr>
            <a:r>
              <a:rPr sz="1200" spc="5" dirty="0">
                <a:cs typeface="Arial MT"/>
              </a:rPr>
              <a:t>B</a:t>
            </a:r>
            <a:endParaRPr sz="1200">
              <a:cs typeface="Arial MT"/>
            </a:endParaRPr>
          </a:p>
        </p:txBody>
      </p:sp>
      <p:sp>
        <p:nvSpPr>
          <p:cNvPr id="44" name="object 44"/>
          <p:cNvSpPr txBox="1"/>
          <p:nvPr/>
        </p:nvSpPr>
        <p:spPr>
          <a:xfrm>
            <a:off x="2362200" y="5941830"/>
            <a:ext cx="442595" cy="307135"/>
          </a:xfrm>
          <a:prstGeom prst="rect">
            <a:avLst/>
          </a:prstGeom>
          <a:ln w="9218">
            <a:solidFill>
              <a:srgbClr val="000000"/>
            </a:solidFill>
          </a:ln>
        </p:spPr>
        <p:txBody>
          <a:bodyPr vert="horz" wrap="square" lIns="0" tIns="121285" rIns="0" bIns="0" rtlCol="0">
            <a:spAutoFit/>
          </a:bodyPr>
          <a:lstStyle/>
          <a:p>
            <a:pPr algn="ctr">
              <a:lnSpc>
                <a:spcPct val="100000"/>
              </a:lnSpc>
              <a:spcBef>
                <a:spcPts val="955"/>
              </a:spcBef>
            </a:pPr>
            <a:r>
              <a:rPr sz="1200" spc="5" dirty="0">
                <a:cs typeface="Arial MT"/>
              </a:rPr>
              <a:t>A</a:t>
            </a:r>
            <a:endParaRPr sz="1200">
              <a:cs typeface="Arial MT"/>
            </a:endParaRPr>
          </a:p>
        </p:txBody>
      </p:sp>
      <p:sp>
        <p:nvSpPr>
          <p:cNvPr id="45" name="object 45"/>
          <p:cNvSpPr txBox="1"/>
          <p:nvPr/>
        </p:nvSpPr>
        <p:spPr>
          <a:xfrm>
            <a:off x="2899487" y="5941830"/>
            <a:ext cx="442595" cy="307135"/>
          </a:xfrm>
          <a:prstGeom prst="rect">
            <a:avLst/>
          </a:prstGeom>
          <a:ln w="9218">
            <a:solidFill>
              <a:srgbClr val="000000"/>
            </a:solidFill>
          </a:ln>
        </p:spPr>
        <p:txBody>
          <a:bodyPr vert="horz" wrap="square" lIns="0" tIns="121285" rIns="0" bIns="0" rtlCol="0">
            <a:spAutoFit/>
          </a:bodyPr>
          <a:lstStyle/>
          <a:p>
            <a:pPr marL="64135">
              <a:lnSpc>
                <a:spcPct val="100000"/>
              </a:lnSpc>
              <a:spcBef>
                <a:spcPts val="955"/>
              </a:spcBef>
            </a:pPr>
            <a:r>
              <a:rPr sz="1200" spc="5" dirty="0">
                <a:cs typeface="Arial MT"/>
              </a:rPr>
              <a:t>ESC</a:t>
            </a:r>
            <a:endParaRPr sz="1200">
              <a:cs typeface="Arial MT"/>
            </a:endParaRPr>
          </a:p>
        </p:txBody>
      </p:sp>
      <p:sp>
        <p:nvSpPr>
          <p:cNvPr id="46" name="object 46"/>
          <p:cNvSpPr txBox="1"/>
          <p:nvPr/>
        </p:nvSpPr>
        <p:spPr>
          <a:xfrm>
            <a:off x="3436887" y="6550287"/>
            <a:ext cx="442595" cy="307135"/>
          </a:xfrm>
          <a:prstGeom prst="rect">
            <a:avLst/>
          </a:prstGeom>
          <a:ln w="9218">
            <a:solidFill>
              <a:srgbClr val="000000"/>
            </a:solidFill>
          </a:ln>
        </p:spPr>
        <p:txBody>
          <a:bodyPr vert="horz" wrap="square" lIns="0" tIns="121285" rIns="0" bIns="0" rtlCol="0">
            <a:spAutoFit/>
          </a:bodyPr>
          <a:lstStyle/>
          <a:p>
            <a:pPr marL="29845">
              <a:lnSpc>
                <a:spcPct val="100000"/>
              </a:lnSpc>
              <a:spcBef>
                <a:spcPts val="955"/>
              </a:spcBef>
            </a:pPr>
            <a:r>
              <a:rPr sz="1200" spc="5" dirty="0">
                <a:cs typeface="Arial MT"/>
              </a:rPr>
              <a:t>FLAG</a:t>
            </a:r>
            <a:endParaRPr sz="1200">
              <a:cs typeface="Arial MT"/>
            </a:endParaRPr>
          </a:p>
        </p:txBody>
      </p:sp>
      <p:sp>
        <p:nvSpPr>
          <p:cNvPr id="47" name="object 47"/>
          <p:cNvSpPr txBox="1"/>
          <p:nvPr/>
        </p:nvSpPr>
        <p:spPr>
          <a:xfrm>
            <a:off x="2362200" y="6550287"/>
            <a:ext cx="442595" cy="307135"/>
          </a:xfrm>
          <a:prstGeom prst="rect">
            <a:avLst/>
          </a:prstGeom>
          <a:ln w="9218">
            <a:solidFill>
              <a:srgbClr val="000000"/>
            </a:solidFill>
          </a:ln>
        </p:spPr>
        <p:txBody>
          <a:bodyPr vert="horz" wrap="square" lIns="0" tIns="121285" rIns="0" bIns="0" rtlCol="0">
            <a:spAutoFit/>
          </a:bodyPr>
          <a:lstStyle/>
          <a:p>
            <a:pPr algn="ctr">
              <a:lnSpc>
                <a:spcPct val="100000"/>
              </a:lnSpc>
              <a:spcBef>
                <a:spcPts val="955"/>
              </a:spcBef>
            </a:pPr>
            <a:r>
              <a:rPr sz="1200" spc="5" dirty="0">
                <a:cs typeface="Arial MT"/>
              </a:rPr>
              <a:t>A</a:t>
            </a:r>
            <a:endParaRPr sz="1200">
              <a:cs typeface="Arial MT"/>
            </a:endParaRPr>
          </a:p>
        </p:txBody>
      </p:sp>
      <p:sp>
        <p:nvSpPr>
          <p:cNvPr id="48" name="object 48"/>
          <p:cNvSpPr txBox="1"/>
          <p:nvPr/>
        </p:nvSpPr>
        <p:spPr>
          <a:xfrm>
            <a:off x="2899487" y="6550287"/>
            <a:ext cx="442595" cy="307135"/>
          </a:xfrm>
          <a:prstGeom prst="rect">
            <a:avLst/>
          </a:prstGeom>
          <a:ln w="9218">
            <a:solidFill>
              <a:srgbClr val="000000"/>
            </a:solidFill>
          </a:ln>
        </p:spPr>
        <p:txBody>
          <a:bodyPr vert="horz" wrap="square" lIns="0" tIns="121285" rIns="0" bIns="0" rtlCol="0">
            <a:spAutoFit/>
          </a:bodyPr>
          <a:lstStyle/>
          <a:p>
            <a:pPr marL="64135">
              <a:lnSpc>
                <a:spcPct val="100000"/>
              </a:lnSpc>
              <a:spcBef>
                <a:spcPts val="955"/>
              </a:spcBef>
            </a:pPr>
            <a:r>
              <a:rPr sz="1200" spc="5" dirty="0">
                <a:cs typeface="Arial MT"/>
              </a:rPr>
              <a:t>ESC</a:t>
            </a:r>
            <a:endParaRPr sz="1200">
              <a:cs typeface="Arial MT"/>
            </a:endParaRPr>
          </a:p>
        </p:txBody>
      </p:sp>
      <p:sp>
        <p:nvSpPr>
          <p:cNvPr id="49" name="object 49"/>
          <p:cNvSpPr txBox="1"/>
          <p:nvPr/>
        </p:nvSpPr>
        <p:spPr>
          <a:xfrm>
            <a:off x="3974173" y="6550287"/>
            <a:ext cx="442595" cy="307135"/>
          </a:xfrm>
          <a:prstGeom prst="rect">
            <a:avLst/>
          </a:prstGeom>
          <a:ln w="9218">
            <a:solidFill>
              <a:srgbClr val="000000"/>
            </a:solidFill>
          </a:ln>
        </p:spPr>
        <p:txBody>
          <a:bodyPr vert="horz" wrap="square" lIns="0" tIns="121285" rIns="0" bIns="0" rtlCol="0">
            <a:spAutoFit/>
          </a:bodyPr>
          <a:lstStyle/>
          <a:p>
            <a:pPr marR="29209" algn="ctr">
              <a:lnSpc>
                <a:spcPct val="100000"/>
              </a:lnSpc>
              <a:spcBef>
                <a:spcPts val="955"/>
              </a:spcBef>
            </a:pPr>
            <a:r>
              <a:rPr sz="1200" spc="5" dirty="0">
                <a:cs typeface="Arial MT"/>
              </a:rPr>
              <a:t>B</a:t>
            </a:r>
            <a:endParaRPr sz="1200">
              <a:cs typeface="Arial MT"/>
            </a:endParaRPr>
          </a:p>
        </p:txBody>
      </p:sp>
      <p:sp>
        <p:nvSpPr>
          <p:cNvPr id="50" name="object 50"/>
          <p:cNvSpPr txBox="1"/>
          <p:nvPr/>
        </p:nvSpPr>
        <p:spPr>
          <a:xfrm>
            <a:off x="3436887" y="7213719"/>
            <a:ext cx="442595" cy="307135"/>
          </a:xfrm>
          <a:prstGeom prst="rect">
            <a:avLst/>
          </a:prstGeom>
          <a:ln w="9218">
            <a:solidFill>
              <a:srgbClr val="000000"/>
            </a:solidFill>
          </a:ln>
        </p:spPr>
        <p:txBody>
          <a:bodyPr vert="horz" wrap="square" lIns="0" tIns="121285" rIns="0" bIns="0" rtlCol="0">
            <a:spAutoFit/>
          </a:bodyPr>
          <a:lstStyle/>
          <a:p>
            <a:pPr marL="70485">
              <a:lnSpc>
                <a:spcPct val="100000"/>
              </a:lnSpc>
              <a:spcBef>
                <a:spcPts val="955"/>
              </a:spcBef>
            </a:pPr>
            <a:r>
              <a:rPr sz="1200" spc="5" dirty="0">
                <a:cs typeface="Arial MT"/>
              </a:rPr>
              <a:t>ESC</a:t>
            </a:r>
            <a:endParaRPr sz="1200">
              <a:cs typeface="Arial MT"/>
            </a:endParaRPr>
          </a:p>
        </p:txBody>
      </p:sp>
      <p:sp>
        <p:nvSpPr>
          <p:cNvPr id="51" name="object 51"/>
          <p:cNvSpPr txBox="1"/>
          <p:nvPr/>
        </p:nvSpPr>
        <p:spPr>
          <a:xfrm>
            <a:off x="2362200" y="7213719"/>
            <a:ext cx="442595" cy="307135"/>
          </a:xfrm>
          <a:prstGeom prst="rect">
            <a:avLst/>
          </a:prstGeom>
          <a:ln w="9218">
            <a:solidFill>
              <a:srgbClr val="000000"/>
            </a:solidFill>
          </a:ln>
        </p:spPr>
        <p:txBody>
          <a:bodyPr vert="horz" wrap="square" lIns="0" tIns="121285" rIns="0" bIns="0" rtlCol="0">
            <a:spAutoFit/>
          </a:bodyPr>
          <a:lstStyle/>
          <a:p>
            <a:pPr algn="ctr">
              <a:lnSpc>
                <a:spcPct val="100000"/>
              </a:lnSpc>
              <a:spcBef>
                <a:spcPts val="955"/>
              </a:spcBef>
            </a:pPr>
            <a:r>
              <a:rPr sz="1200" spc="5" dirty="0">
                <a:cs typeface="Arial MT"/>
              </a:rPr>
              <a:t>A</a:t>
            </a:r>
            <a:endParaRPr sz="1200">
              <a:cs typeface="Arial MT"/>
            </a:endParaRPr>
          </a:p>
        </p:txBody>
      </p:sp>
      <p:sp>
        <p:nvSpPr>
          <p:cNvPr id="52" name="object 52"/>
          <p:cNvSpPr txBox="1"/>
          <p:nvPr/>
        </p:nvSpPr>
        <p:spPr>
          <a:xfrm>
            <a:off x="2899487" y="7213719"/>
            <a:ext cx="442595" cy="307135"/>
          </a:xfrm>
          <a:prstGeom prst="rect">
            <a:avLst/>
          </a:prstGeom>
          <a:ln w="9218">
            <a:solidFill>
              <a:srgbClr val="000000"/>
            </a:solidFill>
          </a:ln>
        </p:spPr>
        <p:txBody>
          <a:bodyPr vert="horz" wrap="square" lIns="0" tIns="121285" rIns="0" bIns="0" rtlCol="0">
            <a:spAutoFit/>
          </a:bodyPr>
          <a:lstStyle/>
          <a:p>
            <a:pPr marL="64135">
              <a:lnSpc>
                <a:spcPct val="100000"/>
              </a:lnSpc>
              <a:spcBef>
                <a:spcPts val="955"/>
              </a:spcBef>
            </a:pPr>
            <a:r>
              <a:rPr sz="1200" spc="5" dirty="0">
                <a:cs typeface="Arial MT"/>
              </a:rPr>
              <a:t>ESC</a:t>
            </a:r>
            <a:endParaRPr sz="1200">
              <a:cs typeface="Arial MT"/>
            </a:endParaRPr>
          </a:p>
        </p:txBody>
      </p:sp>
      <p:sp>
        <p:nvSpPr>
          <p:cNvPr id="53" name="object 53"/>
          <p:cNvSpPr txBox="1"/>
          <p:nvPr/>
        </p:nvSpPr>
        <p:spPr>
          <a:xfrm>
            <a:off x="3974173" y="7213719"/>
            <a:ext cx="442595" cy="307135"/>
          </a:xfrm>
          <a:prstGeom prst="rect">
            <a:avLst/>
          </a:prstGeom>
          <a:ln w="9218">
            <a:solidFill>
              <a:srgbClr val="000000"/>
            </a:solidFill>
          </a:ln>
        </p:spPr>
        <p:txBody>
          <a:bodyPr vert="horz" wrap="square" lIns="0" tIns="121285" rIns="0" bIns="0" rtlCol="0">
            <a:spAutoFit/>
          </a:bodyPr>
          <a:lstStyle/>
          <a:p>
            <a:pPr marR="29209" algn="ctr">
              <a:lnSpc>
                <a:spcPct val="100000"/>
              </a:lnSpc>
              <a:spcBef>
                <a:spcPts val="955"/>
              </a:spcBef>
            </a:pPr>
            <a:r>
              <a:rPr sz="1200" spc="5" dirty="0">
                <a:cs typeface="Arial MT"/>
              </a:rPr>
              <a:t>B</a:t>
            </a:r>
            <a:endParaRPr sz="1200">
              <a:cs typeface="Arial MT"/>
            </a:endParaRPr>
          </a:p>
        </p:txBody>
      </p:sp>
      <p:sp>
        <p:nvSpPr>
          <p:cNvPr id="54" name="object 54"/>
          <p:cNvSpPr txBox="1"/>
          <p:nvPr/>
        </p:nvSpPr>
        <p:spPr>
          <a:xfrm>
            <a:off x="1167903" y="4492525"/>
            <a:ext cx="3696335" cy="695325"/>
          </a:xfrm>
          <a:prstGeom prst="rect">
            <a:avLst/>
          </a:prstGeom>
        </p:spPr>
        <p:txBody>
          <a:bodyPr vert="horz" wrap="square" lIns="0" tIns="16510" rIns="0" bIns="0" rtlCol="0">
            <a:spAutoFit/>
          </a:bodyPr>
          <a:lstStyle/>
          <a:p>
            <a:pPr marL="12700">
              <a:lnSpc>
                <a:spcPct val="100000"/>
              </a:lnSpc>
              <a:spcBef>
                <a:spcPts val="130"/>
              </a:spcBef>
            </a:pPr>
            <a:r>
              <a:rPr lang="en-US" sz="2200" spc="5" dirty="0">
                <a:solidFill>
                  <a:srgbClr val="006699"/>
                </a:solidFill>
                <a:cs typeface="Arial MT"/>
              </a:rPr>
              <a:t>E</a:t>
            </a:r>
            <a:r>
              <a:rPr sz="2200" spc="5" dirty="0">
                <a:solidFill>
                  <a:srgbClr val="006699"/>
                </a:solidFill>
                <a:cs typeface="Arial MT"/>
              </a:rPr>
              <a:t>scape</a:t>
            </a:r>
            <a:r>
              <a:rPr sz="2200" spc="20" dirty="0">
                <a:solidFill>
                  <a:srgbClr val="006699"/>
                </a:solidFill>
                <a:cs typeface="Arial MT"/>
              </a:rPr>
              <a:t> </a:t>
            </a:r>
            <a:r>
              <a:rPr sz="2200" spc="-5" dirty="0">
                <a:solidFill>
                  <a:srgbClr val="006699"/>
                </a:solidFill>
                <a:cs typeface="Arial MT"/>
              </a:rPr>
              <a:t>conventions</a:t>
            </a:r>
            <a:r>
              <a:rPr sz="2200" spc="50" dirty="0">
                <a:solidFill>
                  <a:srgbClr val="006699"/>
                </a:solidFill>
                <a:cs typeface="Arial MT"/>
              </a:rPr>
              <a:t> </a:t>
            </a:r>
            <a:r>
              <a:rPr sz="2200" spc="10" dirty="0">
                <a:solidFill>
                  <a:srgbClr val="006699"/>
                </a:solidFill>
                <a:cs typeface="Arial MT"/>
              </a:rPr>
              <a:t>(stuffing)</a:t>
            </a:r>
            <a:endParaRPr sz="2200" dirty="0">
              <a:cs typeface="Arial MT"/>
            </a:endParaRPr>
          </a:p>
          <a:p>
            <a:pPr marL="207010" algn="ctr">
              <a:lnSpc>
                <a:spcPct val="100000"/>
              </a:lnSpc>
              <a:spcBef>
                <a:spcPts val="1220"/>
              </a:spcBef>
            </a:pPr>
            <a:r>
              <a:rPr sz="1200" dirty="0">
                <a:cs typeface="Arial MT"/>
              </a:rPr>
              <a:t>Original</a:t>
            </a:r>
            <a:r>
              <a:rPr sz="1200" spc="-30" dirty="0">
                <a:cs typeface="Arial MT"/>
              </a:rPr>
              <a:t> </a:t>
            </a:r>
            <a:r>
              <a:rPr sz="1200" spc="5" dirty="0">
                <a:cs typeface="Arial MT"/>
              </a:rPr>
              <a:t>characters</a:t>
            </a:r>
            <a:endParaRPr sz="1200" dirty="0">
              <a:cs typeface="Arial MT"/>
            </a:endParaRPr>
          </a:p>
        </p:txBody>
      </p:sp>
      <p:sp>
        <p:nvSpPr>
          <p:cNvPr id="55" name="object 55"/>
          <p:cNvSpPr txBox="1"/>
          <p:nvPr/>
        </p:nvSpPr>
        <p:spPr>
          <a:xfrm>
            <a:off x="5665741" y="5034905"/>
            <a:ext cx="854075" cy="198772"/>
          </a:xfrm>
          <a:prstGeom prst="rect">
            <a:avLst/>
          </a:prstGeom>
        </p:spPr>
        <p:txBody>
          <a:bodyPr vert="horz" wrap="square" lIns="0" tIns="13970" rIns="0" bIns="0" rtlCol="0">
            <a:spAutoFit/>
          </a:bodyPr>
          <a:lstStyle/>
          <a:p>
            <a:pPr marL="12700">
              <a:lnSpc>
                <a:spcPct val="100000"/>
              </a:lnSpc>
              <a:spcBef>
                <a:spcPts val="110"/>
              </a:spcBef>
            </a:pPr>
            <a:r>
              <a:rPr sz="1200" dirty="0">
                <a:cs typeface="Arial MT"/>
              </a:rPr>
              <a:t>After</a:t>
            </a:r>
            <a:r>
              <a:rPr sz="1200" spc="-30" dirty="0">
                <a:cs typeface="Arial MT"/>
              </a:rPr>
              <a:t> </a:t>
            </a:r>
            <a:r>
              <a:rPr sz="1200" dirty="0">
                <a:cs typeface="Arial MT"/>
              </a:rPr>
              <a:t>stuffing</a:t>
            </a:r>
            <a:endParaRPr sz="1200">
              <a:cs typeface="Arial MT"/>
            </a:endParaRPr>
          </a:p>
        </p:txBody>
      </p:sp>
      <p:grpSp>
        <p:nvGrpSpPr>
          <p:cNvPr id="56" name="object 56"/>
          <p:cNvGrpSpPr/>
          <p:nvPr/>
        </p:nvGrpSpPr>
        <p:grpSpPr>
          <a:xfrm>
            <a:off x="4534700" y="7336134"/>
            <a:ext cx="450215" cy="54610"/>
            <a:chOff x="5667578" y="6767690"/>
            <a:chExt cx="450215" cy="54610"/>
          </a:xfrm>
        </p:grpSpPr>
        <p:sp>
          <p:nvSpPr>
            <p:cNvPr id="57" name="object 57"/>
            <p:cNvSpPr/>
            <p:nvPr/>
          </p:nvSpPr>
          <p:spPr>
            <a:xfrm>
              <a:off x="5667578" y="6796278"/>
              <a:ext cx="410845" cy="0"/>
            </a:xfrm>
            <a:custGeom>
              <a:avLst/>
              <a:gdLst/>
              <a:ahLst/>
              <a:cxnLst/>
              <a:rect l="l" t="t" r="r" b="b"/>
              <a:pathLst>
                <a:path w="410845">
                  <a:moveTo>
                    <a:pt x="410349" y="0"/>
                  </a:moveTo>
                  <a:lnTo>
                    <a:pt x="0" y="0"/>
                  </a:lnTo>
                </a:path>
              </a:pathLst>
            </a:custGeom>
            <a:ln w="13828">
              <a:solidFill>
                <a:srgbClr val="000000"/>
              </a:solidFill>
            </a:ln>
          </p:spPr>
          <p:txBody>
            <a:bodyPr wrap="square" lIns="0" tIns="0" rIns="0" bIns="0" rtlCol="0"/>
            <a:lstStyle/>
            <a:p>
              <a:endParaRPr sz="2000"/>
            </a:p>
          </p:txBody>
        </p:sp>
        <p:sp>
          <p:nvSpPr>
            <p:cNvPr id="58" name="object 58"/>
            <p:cNvSpPr/>
            <p:nvPr/>
          </p:nvSpPr>
          <p:spPr>
            <a:xfrm>
              <a:off x="6016815" y="6767690"/>
              <a:ext cx="100965" cy="54610"/>
            </a:xfrm>
            <a:custGeom>
              <a:avLst/>
              <a:gdLst/>
              <a:ahLst/>
              <a:cxnLst/>
              <a:rect l="l" t="t" r="r" b="b"/>
              <a:pathLst>
                <a:path w="100964" h="54609">
                  <a:moveTo>
                    <a:pt x="100939" y="27139"/>
                  </a:moveTo>
                  <a:lnTo>
                    <a:pt x="0" y="0"/>
                  </a:lnTo>
                  <a:lnTo>
                    <a:pt x="0" y="54089"/>
                  </a:lnTo>
                  <a:lnTo>
                    <a:pt x="100939" y="27139"/>
                  </a:lnTo>
                  <a:close/>
                </a:path>
              </a:pathLst>
            </a:custGeom>
            <a:solidFill>
              <a:srgbClr val="000000"/>
            </a:solidFill>
          </p:spPr>
          <p:txBody>
            <a:bodyPr wrap="square" lIns="0" tIns="0" rIns="0" bIns="0" rtlCol="0"/>
            <a:lstStyle/>
            <a:p>
              <a:endParaRPr sz="2000"/>
            </a:p>
          </p:txBody>
        </p:sp>
        <p:sp>
          <p:nvSpPr>
            <p:cNvPr id="59" name="object 59"/>
            <p:cNvSpPr/>
            <p:nvPr/>
          </p:nvSpPr>
          <p:spPr>
            <a:xfrm>
              <a:off x="6022911" y="6794830"/>
              <a:ext cx="54610" cy="0"/>
            </a:xfrm>
            <a:custGeom>
              <a:avLst/>
              <a:gdLst/>
              <a:ahLst/>
              <a:cxnLst/>
              <a:rect l="l" t="t" r="r" b="b"/>
              <a:pathLst>
                <a:path w="54610">
                  <a:moveTo>
                    <a:pt x="0" y="0"/>
                  </a:moveTo>
                  <a:lnTo>
                    <a:pt x="54076" y="0"/>
                  </a:lnTo>
                </a:path>
              </a:pathLst>
            </a:custGeom>
            <a:ln w="9218">
              <a:solidFill>
                <a:srgbClr val="000000"/>
              </a:solidFill>
            </a:ln>
          </p:spPr>
          <p:txBody>
            <a:bodyPr wrap="square" lIns="0" tIns="0" rIns="0" bIns="0" rtlCol="0"/>
            <a:lstStyle/>
            <a:p>
              <a:endParaRPr sz="2000"/>
            </a:p>
          </p:txBody>
        </p:sp>
      </p:grpSp>
      <p:sp>
        <p:nvSpPr>
          <p:cNvPr id="60" name="object 60"/>
          <p:cNvSpPr/>
          <p:nvPr/>
        </p:nvSpPr>
        <p:spPr>
          <a:xfrm>
            <a:off x="2520290" y="5246517"/>
            <a:ext cx="1198880" cy="0"/>
          </a:xfrm>
          <a:custGeom>
            <a:avLst/>
            <a:gdLst/>
            <a:ahLst/>
            <a:cxnLst/>
            <a:rect l="l" t="t" r="r" b="b"/>
            <a:pathLst>
              <a:path w="1198879">
                <a:moveTo>
                  <a:pt x="0" y="0"/>
                </a:moveTo>
                <a:lnTo>
                  <a:pt x="1198460" y="0"/>
                </a:lnTo>
              </a:path>
            </a:pathLst>
          </a:custGeom>
          <a:ln w="9218">
            <a:solidFill>
              <a:srgbClr val="000000"/>
            </a:solidFill>
          </a:ln>
        </p:spPr>
        <p:txBody>
          <a:bodyPr wrap="square" lIns="0" tIns="0" rIns="0" bIns="0" rtlCol="0"/>
          <a:lstStyle/>
          <a:p>
            <a:endParaRPr sz="2000"/>
          </a:p>
        </p:txBody>
      </p:sp>
      <p:sp>
        <p:nvSpPr>
          <p:cNvPr id="61" name="object 61"/>
          <p:cNvSpPr/>
          <p:nvPr/>
        </p:nvSpPr>
        <p:spPr>
          <a:xfrm>
            <a:off x="5705971" y="5246517"/>
            <a:ext cx="778510" cy="0"/>
          </a:xfrm>
          <a:custGeom>
            <a:avLst/>
            <a:gdLst/>
            <a:ahLst/>
            <a:cxnLst/>
            <a:rect l="l" t="t" r="r" b="b"/>
            <a:pathLst>
              <a:path w="778509">
                <a:moveTo>
                  <a:pt x="0" y="0"/>
                </a:moveTo>
                <a:lnTo>
                  <a:pt x="778459" y="0"/>
                </a:lnTo>
              </a:path>
            </a:pathLst>
          </a:custGeom>
          <a:ln w="9218">
            <a:solidFill>
              <a:srgbClr val="000000"/>
            </a:solidFill>
          </a:ln>
        </p:spPr>
        <p:txBody>
          <a:bodyPr wrap="square" lIns="0" tIns="0" rIns="0" bIns="0" rtlCol="0"/>
          <a:lstStyle/>
          <a:p>
            <a:endParaRPr sz="2000"/>
          </a:p>
        </p:txBody>
      </p:sp>
    </p:spTree>
    <p:extLst>
      <p:ext uri="{BB962C8B-B14F-4D97-AF65-F5344CB8AC3E}">
        <p14:creationId xmlns:p14="http://schemas.microsoft.com/office/powerpoint/2010/main" val="1662143697"/>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353331"/>
            <a:ext cx="4800600" cy="572080"/>
          </a:xfrm>
          <a:prstGeom prst="rect">
            <a:avLst/>
          </a:prstGeom>
        </p:spPr>
        <p:txBody>
          <a:bodyPr vert="horz" wrap="square" lIns="0" tIns="13335" rIns="0" bIns="0" rtlCol="0">
            <a:spAutoFit/>
          </a:bodyPr>
          <a:lstStyle/>
          <a:p>
            <a:pPr marL="12700">
              <a:lnSpc>
                <a:spcPct val="100000"/>
              </a:lnSpc>
              <a:spcBef>
                <a:spcPts val="105"/>
              </a:spcBef>
            </a:pPr>
            <a:r>
              <a:rPr spc="-35" dirty="0"/>
              <a:t>Framing</a:t>
            </a:r>
            <a:r>
              <a:rPr spc="-50" dirty="0"/>
              <a:t> </a:t>
            </a:r>
            <a:r>
              <a:rPr lang="en-US" spc="-50" dirty="0"/>
              <a:t>(Byte Stuffing)</a:t>
            </a:r>
            <a:endParaRPr spc="-5" dirty="0"/>
          </a:p>
        </p:txBody>
      </p:sp>
      <p:sp>
        <p:nvSpPr>
          <p:cNvPr id="62" name="object 62"/>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12</a:t>
            </a:fld>
            <a:r>
              <a:rPr spc="10" dirty="0"/>
              <a:t>/69</a:t>
            </a:r>
          </a:p>
        </p:txBody>
      </p:sp>
      <p:sp>
        <p:nvSpPr>
          <p:cNvPr id="64" name="TextBox 63">
            <a:extLst>
              <a:ext uri="{FF2B5EF4-FFF2-40B4-BE49-F238E27FC236}">
                <a16:creationId xmlns:a16="http://schemas.microsoft.com/office/drawing/2014/main" id="{B2F3F5CB-4DCE-09FD-D41E-6AF4E6CA410C}"/>
              </a:ext>
            </a:extLst>
          </p:cNvPr>
          <p:cNvSpPr txBox="1"/>
          <p:nvPr/>
        </p:nvSpPr>
        <p:spPr>
          <a:xfrm>
            <a:off x="1066800" y="1219200"/>
            <a:ext cx="8610600" cy="3108543"/>
          </a:xfrm>
          <a:prstGeom prst="rect">
            <a:avLst/>
          </a:prstGeom>
          <a:noFill/>
        </p:spPr>
        <p:txBody>
          <a:bodyPr wrap="square">
            <a:spAutoFit/>
          </a:bodyPr>
          <a:lstStyle/>
          <a:p>
            <a:pPr algn="just"/>
            <a:r>
              <a:rPr lang="en-US" sz="2800" b="1" dirty="0"/>
              <a:t>Problem </a:t>
            </a:r>
            <a:r>
              <a:rPr lang="en-US" sz="2800" b="1" i="0" u="none" strike="noStrike" baseline="0" dirty="0"/>
              <a:t>3. </a:t>
            </a:r>
            <a:r>
              <a:rPr lang="en-US" sz="2800" b="0" i="0" u="none" strike="noStrike" baseline="0" dirty="0"/>
              <a:t>The following data fragment occurs in the middle of a data stream for which the </a:t>
            </a:r>
            <a:r>
              <a:rPr lang="en-US" sz="2800" b="0" i="0" u="none" strike="noStrike" baseline="0" dirty="0" err="1"/>
              <a:t>bytestuffing</a:t>
            </a:r>
            <a:r>
              <a:rPr lang="en-US" sz="2800" b="0" i="0" u="none" strike="noStrike" baseline="0" dirty="0"/>
              <a:t> algorithm described in the text is used: </a:t>
            </a:r>
          </a:p>
          <a:p>
            <a:pPr algn="just"/>
            <a:endParaRPr lang="en-US" sz="2800" b="0" i="0" u="none" strike="noStrike" baseline="0" dirty="0"/>
          </a:p>
          <a:p>
            <a:pPr algn="ctr"/>
            <a:r>
              <a:rPr lang="en-US" sz="2800" b="0" i="0" u="none" strike="noStrike" baseline="0" dirty="0"/>
              <a:t>A B ESC C ESC FLAG </a:t>
            </a:r>
            <a:r>
              <a:rPr lang="en-US" sz="2800" b="0" i="0" u="none" strike="noStrike" baseline="0" dirty="0" err="1"/>
              <a:t>FLAG</a:t>
            </a:r>
            <a:r>
              <a:rPr lang="en-US" sz="2800" b="0" i="0" u="none" strike="noStrike" baseline="0" dirty="0"/>
              <a:t> D.</a:t>
            </a:r>
          </a:p>
          <a:p>
            <a:pPr algn="just"/>
            <a:r>
              <a:rPr lang="en-US" sz="2800" b="0" i="0" u="none" strike="noStrike" baseline="0" dirty="0"/>
              <a:t>What is the output after stuffing?</a:t>
            </a:r>
          </a:p>
          <a:p>
            <a:pPr algn="just"/>
            <a:endParaRPr lang="en-US" sz="2800" dirty="0"/>
          </a:p>
        </p:txBody>
      </p:sp>
      <p:sp>
        <p:nvSpPr>
          <p:cNvPr id="66" name="TextBox 65">
            <a:extLst>
              <a:ext uri="{FF2B5EF4-FFF2-40B4-BE49-F238E27FC236}">
                <a16:creationId xmlns:a16="http://schemas.microsoft.com/office/drawing/2014/main" id="{D1DA0903-D474-4D9D-24E4-51F64A1A361E}"/>
              </a:ext>
            </a:extLst>
          </p:cNvPr>
          <p:cNvSpPr txBox="1"/>
          <p:nvPr/>
        </p:nvSpPr>
        <p:spPr>
          <a:xfrm>
            <a:off x="1028700" y="3929034"/>
            <a:ext cx="8686800" cy="1384995"/>
          </a:xfrm>
          <a:prstGeom prst="rect">
            <a:avLst/>
          </a:prstGeom>
          <a:noFill/>
        </p:spPr>
        <p:txBody>
          <a:bodyPr wrap="square">
            <a:spAutoFit/>
          </a:bodyPr>
          <a:lstStyle/>
          <a:p>
            <a:r>
              <a:rPr lang="en-US" sz="2800" b="1" i="0" u="none" strike="noStrike" baseline="0" dirty="0">
                <a:latin typeface="Times New Roman" panose="02020603050405020304" pitchFamily="18" charset="0"/>
              </a:rPr>
              <a:t>Solution: </a:t>
            </a:r>
            <a:r>
              <a:rPr lang="en-US" sz="2800" b="0" i="0" u="none" strike="noStrike" baseline="0" dirty="0">
                <a:latin typeface="Times New Roman" panose="02020603050405020304" pitchFamily="18" charset="0"/>
              </a:rPr>
              <a:t>After stuffing, we get </a:t>
            </a:r>
          </a:p>
          <a:p>
            <a:endParaRPr lang="en-US" sz="2800" dirty="0">
              <a:latin typeface="Times New Roman" panose="02020603050405020304" pitchFamily="18" charset="0"/>
            </a:endParaRPr>
          </a:p>
          <a:p>
            <a:r>
              <a:rPr lang="en-US" sz="2800" b="0" i="0" u="none" strike="noStrike" baseline="0" dirty="0">
                <a:latin typeface="Times New Roman" panose="02020603050405020304" pitchFamily="18" charset="0"/>
              </a:rPr>
              <a:t>A B </a:t>
            </a:r>
            <a:r>
              <a:rPr lang="en-US" sz="2800" b="0" i="0" u="none" strike="noStrike" baseline="0" dirty="0">
                <a:highlight>
                  <a:srgbClr val="FFFF00"/>
                </a:highlight>
                <a:latin typeface="Times New Roman" panose="02020603050405020304" pitchFamily="18" charset="0"/>
              </a:rPr>
              <a:t>ESC</a:t>
            </a:r>
            <a:r>
              <a:rPr lang="en-US" sz="2800" b="0" i="0" u="none" strike="noStrike" baseline="0" dirty="0">
                <a:latin typeface="Times New Roman" panose="02020603050405020304" pitchFamily="18" charset="0"/>
              </a:rPr>
              <a:t> </a:t>
            </a:r>
            <a:r>
              <a:rPr lang="en-US" sz="2800" b="0" i="0" u="none" strike="noStrike" baseline="0" dirty="0" err="1">
                <a:latin typeface="Times New Roman" panose="02020603050405020304" pitchFamily="18" charset="0"/>
              </a:rPr>
              <a:t>ESC</a:t>
            </a:r>
            <a:r>
              <a:rPr lang="en-US" sz="2800" b="0" i="0" u="none" strike="noStrike" baseline="0" dirty="0">
                <a:latin typeface="Times New Roman" panose="02020603050405020304" pitchFamily="18" charset="0"/>
              </a:rPr>
              <a:t> C </a:t>
            </a:r>
            <a:r>
              <a:rPr lang="en-US" sz="2800" b="0" i="0" u="none" strike="noStrike" baseline="0" dirty="0">
                <a:highlight>
                  <a:srgbClr val="FFFF00"/>
                </a:highlight>
                <a:latin typeface="Times New Roman" panose="02020603050405020304" pitchFamily="18" charset="0"/>
              </a:rPr>
              <a:t>ESC</a:t>
            </a:r>
            <a:r>
              <a:rPr lang="en-US" sz="2800" b="0" i="0" u="none" strike="noStrike" baseline="0" dirty="0">
                <a:latin typeface="Times New Roman" panose="02020603050405020304" pitchFamily="18" charset="0"/>
              </a:rPr>
              <a:t> </a:t>
            </a:r>
            <a:r>
              <a:rPr lang="en-US" sz="2800" b="0" i="0" u="none" strike="noStrike" baseline="0" dirty="0" err="1">
                <a:latin typeface="Times New Roman" panose="02020603050405020304" pitchFamily="18" charset="0"/>
              </a:rPr>
              <a:t>ESC</a:t>
            </a:r>
            <a:r>
              <a:rPr lang="en-US" sz="2800" b="0" i="0" u="none" strike="noStrike" baseline="0" dirty="0">
                <a:latin typeface="Times New Roman" panose="02020603050405020304" pitchFamily="18" charset="0"/>
              </a:rPr>
              <a:t> </a:t>
            </a:r>
            <a:r>
              <a:rPr lang="en-US" sz="2800" b="0" i="0" u="none" strike="noStrike" baseline="0" dirty="0" err="1">
                <a:highlight>
                  <a:srgbClr val="FFFF00"/>
                </a:highlight>
                <a:latin typeface="Times New Roman" panose="02020603050405020304" pitchFamily="18" charset="0"/>
              </a:rPr>
              <a:t>ESC</a:t>
            </a:r>
            <a:r>
              <a:rPr lang="en-US" sz="2800" b="0" i="0" u="none" strike="noStrike" baseline="0" dirty="0">
                <a:highlight>
                  <a:srgbClr val="FFFF00"/>
                </a:highlight>
                <a:latin typeface="Times New Roman" panose="02020603050405020304" pitchFamily="18" charset="0"/>
              </a:rPr>
              <a:t> </a:t>
            </a:r>
            <a:r>
              <a:rPr lang="en-US" sz="2800" b="0" i="0" u="none" strike="noStrike" baseline="0" dirty="0">
                <a:latin typeface="Times New Roman" panose="02020603050405020304" pitchFamily="18" charset="0"/>
              </a:rPr>
              <a:t>FLAG </a:t>
            </a:r>
            <a:r>
              <a:rPr lang="en-US" sz="2800" b="0" i="0" u="none" strike="noStrike" baseline="0" dirty="0">
                <a:highlight>
                  <a:srgbClr val="FFFF00"/>
                </a:highlight>
                <a:latin typeface="Times New Roman" panose="02020603050405020304" pitchFamily="18" charset="0"/>
              </a:rPr>
              <a:t>ESC</a:t>
            </a:r>
            <a:r>
              <a:rPr lang="en-US" sz="2800" b="0" i="0" u="none" strike="noStrike" baseline="0" dirty="0">
                <a:latin typeface="Times New Roman" panose="02020603050405020304" pitchFamily="18" charset="0"/>
              </a:rPr>
              <a:t> FLAG D.</a:t>
            </a:r>
            <a:endParaRPr lang="en-US" sz="2800" dirty="0"/>
          </a:p>
        </p:txBody>
      </p:sp>
      <p:sp>
        <p:nvSpPr>
          <p:cNvPr id="4" name="TextBox 3">
            <a:extLst>
              <a:ext uri="{FF2B5EF4-FFF2-40B4-BE49-F238E27FC236}">
                <a16:creationId xmlns:a16="http://schemas.microsoft.com/office/drawing/2014/main" id="{B1790D3D-2083-BB14-EE3B-03876C89B700}"/>
              </a:ext>
            </a:extLst>
          </p:cNvPr>
          <p:cNvSpPr txBox="1"/>
          <p:nvPr/>
        </p:nvSpPr>
        <p:spPr>
          <a:xfrm>
            <a:off x="1028700" y="5684480"/>
            <a:ext cx="7505700" cy="1815882"/>
          </a:xfrm>
          <a:prstGeom prst="rect">
            <a:avLst/>
          </a:prstGeom>
          <a:noFill/>
        </p:spPr>
        <p:txBody>
          <a:bodyPr wrap="square">
            <a:spAutoFit/>
          </a:bodyPr>
          <a:lstStyle/>
          <a:p>
            <a:pPr algn="just"/>
            <a:r>
              <a:rPr lang="en-US" sz="2800" dirty="0"/>
              <a:t>Disadvantages of Byte Stuffing: </a:t>
            </a:r>
          </a:p>
          <a:p>
            <a:pPr marL="914400" lvl="1" indent="-457200" algn="just">
              <a:buFont typeface="Arial" panose="020B0604020202020204" pitchFamily="34" charset="0"/>
              <a:buChar char="•"/>
            </a:pPr>
            <a:r>
              <a:rPr lang="en-US" sz="2800" dirty="0"/>
              <a:t>tied to the use of 8-bit bytes.</a:t>
            </a:r>
          </a:p>
          <a:p>
            <a:pPr marL="914400" lvl="1" indent="-457200" algn="just">
              <a:buFont typeface="Arial" panose="020B0604020202020204" pitchFamily="34" charset="0"/>
              <a:buChar char="•"/>
            </a:pPr>
            <a:r>
              <a:rPr lang="en-US" sz="2800" dirty="0"/>
              <a:t>length of a frame now depends on the contents of the data it carries.</a:t>
            </a:r>
          </a:p>
        </p:txBody>
      </p:sp>
    </p:spTree>
    <p:extLst>
      <p:ext uri="{BB962C8B-B14F-4D97-AF65-F5344CB8AC3E}">
        <p14:creationId xmlns:p14="http://schemas.microsoft.com/office/powerpoint/2010/main" val="479614380"/>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6346"/>
            <a:ext cx="4787176" cy="572080"/>
          </a:xfrm>
          <a:prstGeom prst="rect">
            <a:avLst/>
          </a:prstGeom>
        </p:spPr>
        <p:txBody>
          <a:bodyPr vert="horz" wrap="square" lIns="0" tIns="13335" rIns="0" bIns="0" rtlCol="0">
            <a:spAutoFit/>
          </a:bodyPr>
          <a:lstStyle/>
          <a:p>
            <a:pPr marL="12700">
              <a:lnSpc>
                <a:spcPct val="100000"/>
              </a:lnSpc>
              <a:spcBef>
                <a:spcPts val="105"/>
              </a:spcBef>
            </a:pPr>
            <a:r>
              <a:rPr lang="en-US" spc="-35" dirty="0"/>
              <a:t>Framing</a:t>
            </a:r>
            <a:r>
              <a:rPr lang="en-US" spc="-50" dirty="0"/>
              <a:t> (Bit Stuffing)</a:t>
            </a:r>
            <a:endParaRPr spc="-5" dirty="0"/>
          </a:p>
        </p:txBody>
      </p:sp>
      <p:sp>
        <p:nvSpPr>
          <p:cNvPr id="19" name="object 19"/>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13</a:t>
            </a:fld>
            <a:r>
              <a:rPr spc="10" dirty="0"/>
              <a:t>/69</a:t>
            </a:r>
          </a:p>
        </p:txBody>
      </p:sp>
      <p:grpSp>
        <p:nvGrpSpPr>
          <p:cNvPr id="4" name="object 4"/>
          <p:cNvGrpSpPr/>
          <p:nvPr/>
        </p:nvGrpSpPr>
        <p:grpSpPr>
          <a:xfrm>
            <a:off x="5695712" y="3217996"/>
            <a:ext cx="87630" cy="385445"/>
            <a:chOff x="7034327" y="3952278"/>
            <a:chExt cx="87630" cy="385445"/>
          </a:xfrm>
        </p:grpSpPr>
        <p:sp>
          <p:nvSpPr>
            <p:cNvPr id="5" name="object 5"/>
            <p:cNvSpPr/>
            <p:nvPr/>
          </p:nvSpPr>
          <p:spPr>
            <a:xfrm>
              <a:off x="7080618" y="4020553"/>
              <a:ext cx="0" cy="316865"/>
            </a:xfrm>
            <a:custGeom>
              <a:avLst/>
              <a:gdLst/>
              <a:ahLst/>
              <a:cxnLst/>
              <a:rect l="l" t="t" r="r" b="b"/>
              <a:pathLst>
                <a:path h="316864">
                  <a:moveTo>
                    <a:pt x="0" y="0"/>
                  </a:moveTo>
                  <a:lnTo>
                    <a:pt x="0" y="316572"/>
                  </a:lnTo>
                </a:path>
              </a:pathLst>
            </a:custGeom>
            <a:ln w="15803">
              <a:solidFill>
                <a:srgbClr val="000000"/>
              </a:solidFill>
            </a:ln>
          </p:spPr>
          <p:txBody>
            <a:bodyPr wrap="square" lIns="0" tIns="0" rIns="0" bIns="0" rtlCol="0"/>
            <a:lstStyle/>
            <a:p>
              <a:endParaRPr/>
            </a:p>
          </p:txBody>
        </p:sp>
        <p:sp>
          <p:nvSpPr>
            <p:cNvPr id="6" name="object 6"/>
            <p:cNvSpPr/>
            <p:nvPr/>
          </p:nvSpPr>
          <p:spPr>
            <a:xfrm>
              <a:off x="7034327" y="3952278"/>
              <a:ext cx="87630" cy="163195"/>
            </a:xfrm>
            <a:custGeom>
              <a:avLst/>
              <a:gdLst/>
              <a:ahLst/>
              <a:cxnLst/>
              <a:rect l="l" t="t" r="r" b="b"/>
              <a:pathLst>
                <a:path w="87629" h="163195">
                  <a:moveTo>
                    <a:pt x="87325" y="162941"/>
                  </a:moveTo>
                  <a:lnTo>
                    <a:pt x="43802" y="0"/>
                  </a:lnTo>
                  <a:lnTo>
                    <a:pt x="0" y="162941"/>
                  </a:lnTo>
                  <a:lnTo>
                    <a:pt x="87325" y="162941"/>
                  </a:lnTo>
                  <a:close/>
                </a:path>
              </a:pathLst>
            </a:custGeom>
            <a:solidFill>
              <a:srgbClr val="000000"/>
            </a:solidFill>
          </p:spPr>
          <p:txBody>
            <a:bodyPr wrap="square" lIns="0" tIns="0" rIns="0" bIns="0" rtlCol="0"/>
            <a:lstStyle/>
            <a:p>
              <a:endParaRPr/>
            </a:p>
          </p:txBody>
        </p:sp>
        <p:sp>
          <p:nvSpPr>
            <p:cNvPr id="7" name="object 7"/>
            <p:cNvSpPr/>
            <p:nvPr/>
          </p:nvSpPr>
          <p:spPr>
            <a:xfrm>
              <a:off x="7078129" y="4018051"/>
              <a:ext cx="0" cy="87630"/>
            </a:xfrm>
            <a:custGeom>
              <a:avLst/>
              <a:gdLst/>
              <a:ahLst/>
              <a:cxnLst/>
              <a:rect l="l" t="t" r="r" b="b"/>
              <a:pathLst>
                <a:path h="87629">
                  <a:moveTo>
                    <a:pt x="0" y="87287"/>
                  </a:moveTo>
                  <a:lnTo>
                    <a:pt x="0" y="0"/>
                  </a:lnTo>
                </a:path>
              </a:pathLst>
            </a:custGeom>
            <a:ln w="15803">
              <a:solidFill>
                <a:srgbClr val="000000"/>
              </a:solidFill>
            </a:ln>
          </p:spPr>
          <p:txBody>
            <a:bodyPr wrap="square" lIns="0" tIns="0" rIns="0" bIns="0" rtlCol="0"/>
            <a:lstStyle/>
            <a:p>
              <a:endParaRPr/>
            </a:p>
          </p:txBody>
        </p:sp>
      </p:grpSp>
      <p:grpSp>
        <p:nvGrpSpPr>
          <p:cNvPr id="8" name="object 8"/>
          <p:cNvGrpSpPr/>
          <p:nvPr/>
        </p:nvGrpSpPr>
        <p:grpSpPr>
          <a:xfrm>
            <a:off x="4680585" y="3407036"/>
            <a:ext cx="697230" cy="366395"/>
            <a:chOff x="5893866" y="3930484"/>
            <a:chExt cx="697230" cy="366395"/>
          </a:xfrm>
        </p:grpSpPr>
        <p:sp>
          <p:nvSpPr>
            <p:cNvPr id="9" name="object 9"/>
            <p:cNvSpPr/>
            <p:nvPr/>
          </p:nvSpPr>
          <p:spPr>
            <a:xfrm>
              <a:off x="5958624" y="3964647"/>
              <a:ext cx="624840" cy="324485"/>
            </a:xfrm>
            <a:custGeom>
              <a:avLst/>
              <a:gdLst/>
              <a:ahLst/>
              <a:cxnLst/>
              <a:rect l="l" t="t" r="r" b="b"/>
              <a:pathLst>
                <a:path w="624840" h="324485">
                  <a:moveTo>
                    <a:pt x="0" y="0"/>
                  </a:moveTo>
                  <a:lnTo>
                    <a:pt x="624433" y="323913"/>
                  </a:lnTo>
                </a:path>
              </a:pathLst>
            </a:custGeom>
            <a:ln w="15803">
              <a:solidFill>
                <a:srgbClr val="000000"/>
              </a:solidFill>
            </a:ln>
          </p:spPr>
          <p:txBody>
            <a:bodyPr wrap="square" lIns="0" tIns="0" rIns="0" bIns="0" rtlCol="0"/>
            <a:lstStyle/>
            <a:p>
              <a:endParaRPr/>
            </a:p>
          </p:txBody>
        </p:sp>
        <p:sp>
          <p:nvSpPr>
            <p:cNvPr id="10" name="object 10"/>
            <p:cNvSpPr/>
            <p:nvPr/>
          </p:nvSpPr>
          <p:spPr>
            <a:xfrm>
              <a:off x="5893866" y="3930484"/>
              <a:ext cx="165100" cy="114300"/>
            </a:xfrm>
            <a:custGeom>
              <a:avLst/>
              <a:gdLst/>
              <a:ahLst/>
              <a:cxnLst/>
              <a:rect l="l" t="t" r="r" b="b"/>
              <a:pathLst>
                <a:path w="165100" h="114300">
                  <a:moveTo>
                    <a:pt x="164668" y="36410"/>
                  </a:moveTo>
                  <a:lnTo>
                    <a:pt x="0" y="0"/>
                  </a:lnTo>
                  <a:lnTo>
                    <a:pt x="124460" y="113919"/>
                  </a:lnTo>
                  <a:lnTo>
                    <a:pt x="164668" y="36410"/>
                  </a:lnTo>
                  <a:close/>
                </a:path>
              </a:pathLst>
            </a:custGeom>
            <a:solidFill>
              <a:srgbClr val="000000"/>
            </a:solidFill>
          </p:spPr>
          <p:txBody>
            <a:bodyPr wrap="square" lIns="0" tIns="0" rIns="0" bIns="0" rtlCol="0"/>
            <a:lstStyle/>
            <a:p>
              <a:endParaRPr/>
            </a:p>
          </p:txBody>
        </p:sp>
        <p:sp>
          <p:nvSpPr>
            <p:cNvPr id="11" name="object 11"/>
            <p:cNvSpPr/>
            <p:nvPr/>
          </p:nvSpPr>
          <p:spPr>
            <a:xfrm>
              <a:off x="5952261" y="3960774"/>
              <a:ext cx="77470" cy="40640"/>
            </a:xfrm>
            <a:custGeom>
              <a:avLst/>
              <a:gdLst/>
              <a:ahLst/>
              <a:cxnLst/>
              <a:rect l="l" t="t" r="r" b="b"/>
              <a:pathLst>
                <a:path w="77470" h="40639">
                  <a:moveTo>
                    <a:pt x="77470" y="40195"/>
                  </a:moveTo>
                  <a:lnTo>
                    <a:pt x="0" y="0"/>
                  </a:lnTo>
                </a:path>
              </a:pathLst>
            </a:custGeom>
            <a:ln w="15803">
              <a:solidFill>
                <a:srgbClr val="000000"/>
              </a:solidFill>
            </a:ln>
          </p:spPr>
          <p:txBody>
            <a:bodyPr wrap="square" lIns="0" tIns="0" rIns="0" bIns="0" rtlCol="0"/>
            <a:lstStyle/>
            <a:p>
              <a:endParaRPr/>
            </a:p>
          </p:txBody>
        </p:sp>
      </p:grpSp>
      <p:grpSp>
        <p:nvGrpSpPr>
          <p:cNvPr id="12" name="object 12"/>
          <p:cNvGrpSpPr/>
          <p:nvPr/>
        </p:nvGrpSpPr>
        <p:grpSpPr>
          <a:xfrm>
            <a:off x="6111335" y="3254128"/>
            <a:ext cx="697230" cy="366395"/>
            <a:chOff x="7580157" y="3928198"/>
            <a:chExt cx="697230" cy="366395"/>
          </a:xfrm>
        </p:grpSpPr>
        <p:sp>
          <p:nvSpPr>
            <p:cNvPr id="13" name="object 13"/>
            <p:cNvSpPr/>
            <p:nvPr/>
          </p:nvSpPr>
          <p:spPr>
            <a:xfrm>
              <a:off x="7588059" y="3962387"/>
              <a:ext cx="624840" cy="324485"/>
            </a:xfrm>
            <a:custGeom>
              <a:avLst/>
              <a:gdLst/>
              <a:ahLst/>
              <a:cxnLst/>
              <a:rect l="l" t="t" r="r" b="b"/>
              <a:pathLst>
                <a:path w="624840" h="324485">
                  <a:moveTo>
                    <a:pt x="624433" y="0"/>
                  </a:moveTo>
                  <a:lnTo>
                    <a:pt x="0" y="323888"/>
                  </a:lnTo>
                </a:path>
              </a:pathLst>
            </a:custGeom>
            <a:ln w="15803">
              <a:solidFill>
                <a:srgbClr val="000000"/>
              </a:solidFill>
            </a:ln>
          </p:spPr>
          <p:txBody>
            <a:bodyPr wrap="square" lIns="0" tIns="0" rIns="0" bIns="0" rtlCol="0"/>
            <a:lstStyle/>
            <a:p>
              <a:endParaRPr/>
            </a:p>
          </p:txBody>
        </p:sp>
        <p:sp>
          <p:nvSpPr>
            <p:cNvPr id="14" name="object 14"/>
            <p:cNvSpPr/>
            <p:nvPr/>
          </p:nvSpPr>
          <p:spPr>
            <a:xfrm>
              <a:off x="8112582" y="3928198"/>
              <a:ext cx="165100" cy="114300"/>
            </a:xfrm>
            <a:custGeom>
              <a:avLst/>
              <a:gdLst/>
              <a:ahLst/>
              <a:cxnLst/>
              <a:rect l="l" t="t" r="r" b="b"/>
              <a:pathLst>
                <a:path w="165100" h="114300">
                  <a:moveTo>
                    <a:pt x="164680" y="0"/>
                  </a:moveTo>
                  <a:lnTo>
                    <a:pt x="0" y="36410"/>
                  </a:lnTo>
                  <a:lnTo>
                    <a:pt x="40208" y="113931"/>
                  </a:lnTo>
                  <a:lnTo>
                    <a:pt x="164680" y="0"/>
                  </a:lnTo>
                  <a:close/>
                </a:path>
              </a:pathLst>
            </a:custGeom>
            <a:solidFill>
              <a:srgbClr val="000000"/>
            </a:solidFill>
          </p:spPr>
          <p:txBody>
            <a:bodyPr wrap="square" lIns="0" tIns="0" rIns="0" bIns="0" rtlCol="0"/>
            <a:lstStyle/>
            <a:p>
              <a:endParaRPr/>
            </a:p>
          </p:txBody>
        </p:sp>
        <p:sp>
          <p:nvSpPr>
            <p:cNvPr id="15" name="object 15"/>
            <p:cNvSpPr/>
            <p:nvPr/>
          </p:nvSpPr>
          <p:spPr>
            <a:xfrm>
              <a:off x="8141385" y="3958501"/>
              <a:ext cx="78105" cy="40640"/>
            </a:xfrm>
            <a:custGeom>
              <a:avLst/>
              <a:gdLst/>
              <a:ahLst/>
              <a:cxnLst/>
              <a:rect l="l" t="t" r="r" b="b"/>
              <a:pathLst>
                <a:path w="78104" h="40639">
                  <a:moveTo>
                    <a:pt x="0" y="40182"/>
                  </a:moveTo>
                  <a:lnTo>
                    <a:pt x="77495" y="0"/>
                  </a:lnTo>
                </a:path>
              </a:pathLst>
            </a:custGeom>
            <a:ln w="15803">
              <a:solidFill>
                <a:srgbClr val="000000"/>
              </a:solidFill>
            </a:ln>
          </p:spPr>
          <p:txBody>
            <a:bodyPr wrap="square" lIns="0" tIns="0" rIns="0" bIns="0" rtlCol="0"/>
            <a:lstStyle/>
            <a:p>
              <a:endParaRPr/>
            </a:p>
          </p:txBody>
        </p:sp>
      </p:grpSp>
      <p:sp>
        <p:nvSpPr>
          <p:cNvPr id="18" name="object 18"/>
          <p:cNvSpPr txBox="1"/>
          <p:nvPr/>
        </p:nvSpPr>
        <p:spPr>
          <a:xfrm>
            <a:off x="944105" y="1016322"/>
            <a:ext cx="7515859" cy="3511859"/>
          </a:xfrm>
          <a:prstGeom prst="rect">
            <a:avLst/>
          </a:prstGeom>
        </p:spPr>
        <p:txBody>
          <a:bodyPr vert="horz" wrap="square" lIns="0" tIns="142875" rIns="0" bIns="0" rtlCol="0">
            <a:spAutoFit/>
          </a:bodyPr>
          <a:lstStyle/>
          <a:p>
            <a:pPr marL="526415" indent="-514350">
              <a:lnSpc>
                <a:spcPct val="100000"/>
              </a:lnSpc>
              <a:spcBef>
                <a:spcPts val="1125"/>
              </a:spcBef>
              <a:buFont typeface="+mj-lt"/>
              <a:buAutoNum type="arabicPeriod" startAt="3"/>
              <a:tabLst>
                <a:tab pos="413384" algn="l"/>
              </a:tabLst>
            </a:pPr>
            <a:r>
              <a:rPr sz="2650" spc="5" dirty="0">
                <a:solidFill>
                  <a:srgbClr val="9B0707"/>
                </a:solidFill>
                <a:cs typeface="Arial MT"/>
              </a:rPr>
              <a:t>Flags</a:t>
            </a:r>
            <a:r>
              <a:rPr sz="2650" spc="-5" dirty="0">
                <a:solidFill>
                  <a:srgbClr val="9B0707"/>
                </a:solidFill>
                <a:cs typeface="Arial MT"/>
              </a:rPr>
              <a:t> </a:t>
            </a:r>
            <a:r>
              <a:rPr sz="2650" spc="5" dirty="0">
                <a:solidFill>
                  <a:srgbClr val="9B0707"/>
                </a:solidFill>
                <a:cs typeface="Arial MT"/>
              </a:rPr>
              <a:t>with</a:t>
            </a:r>
            <a:r>
              <a:rPr sz="2650" dirty="0">
                <a:solidFill>
                  <a:srgbClr val="9B0707"/>
                </a:solidFill>
                <a:cs typeface="Arial MT"/>
              </a:rPr>
              <a:t> </a:t>
            </a:r>
            <a:r>
              <a:rPr sz="2650" spc="5" dirty="0">
                <a:solidFill>
                  <a:srgbClr val="9B0707"/>
                </a:solidFill>
                <a:cs typeface="Arial MT"/>
              </a:rPr>
              <a:t>bit</a:t>
            </a:r>
            <a:r>
              <a:rPr sz="2650" dirty="0">
                <a:solidFill>
                  <a:srgbClr val="9B0707"/>
                </a:solidFill>
                <a:cs typeface="Arial MT"/>
              </a:rPr>
              <a:t> </a:t>
            </a:r>
            <a:r>
              <a:rPr sz="2650" spc="10" dirty="0">
                <a:solidFill>
                  <a:srgbClr val="9B0707"/>
                </a:solidFill>
                <a:cs typeface="Arial MT"/>
              </a:rPr>
              <a:t>stuffing</a:t>
            </a:r>
            <a:endParaRPr sz="2650" dirty="0">
              <a:cs typeface="Arial MT"/>
            </a:endParaRPr>
          </a:p>
          <a:p>
            <a:pPr marL="352425">
              <a:lnSpc>
                <a:spcPct val="100000"/>
              </a:lnSpc>
              <a:spcBef>
                <a:spcPts val="869"/>
              </a:spcBef>
            </a:pPr>
            <a:r>
              <a:rPr sz="2200" spc="15" dirty="0">
                <a:solidFill>
                  <a:srgbClr val="006699"/>
                </a:solidFill>
                <a:cs typeface="Arial MT"/>
              </a:rPr>
              <a:t>Flag</a:t>
            </a:r>
            <a:r>
              <a:rPr sz="2200" spc="-45" dirty="0">
                <a:solidFill>
                  <a:srgbClr val="006699"/>
                </a:solidFill>
                <a:cs typeface="Arial MT"/>
              </a:rPr>
              <a:t> </a:t>
            </a:r>
            <a:r>
              <a:rPr sz="2200" spc="5" dirty="0">
                <a:solidFill>
                  <a:srgbClr val="006699"/>
                </a:solidFill>
                <a:cs typeface="Arial MT"/>
              </a:rPr>
              <a:t>is</a:t>
            </a:r>
            <a:r>
              <a:rPr sz="2200" spc="-10" dirty="0">
                <a:solidFill>
                  <a:srgbClr val="006699"/>
                </a:solidFill>
                <a:cs typeface="Arial MT"/>
              </a:rPr>
              <a:t> </a:t>
            </a:r>
            <a:r>
              <a:rPr sz="2200" spc="5" dirty="0">
                <a:solidFill>
                  <a:srgbClr val="006699"/>
                </a:solidFill>
                <a:cs typeface="Arial MT"/>
              </a:rPr>
              <a:t>01111110</a:t>
            </a:r>
            <a:endParaRPr sz="2200" dirty="0">
              <a:cs typeface="Arial MT"/>
            </a:endParaRPr>
          </a:p>
          <a:p>
            <a:pPr marL="1423670">
              <a:lnSpc>
                <a:spcPct val="100000"/>
              </a:lnSpc>
              <a:spcBef>
                <a:spcPts val="515"/>
              </a:spcBef>
              <a:tabLst>
                <a:tab pos="1885314" algn="l"/>
              </a:tabLst>
            </a:pPr>
            <a:r>
              <a:rPr sz="2000" spc="-5" dirty="0">
                <a:cs typeface="Arial MT"/>
              </a:rPr>
              <a:t>(a)	0</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0</a:t>
            </a:r>
            <a:r>
              <a:rPr sz="2000" spc="-30" dirty="0">
                <a:cs typeface="Arial MT"/>
              </a:rPr>
              <a:t> </a:t>
            </a:r>
            <a:r>
              <a:rPr sz="2000" spc="-5" dirty="0">
                <a:cs typeface="Arial MT"/>
              </a:rPr>
              <a:t>1</a:t>
            </a:r>
            <a:r>
              <a:rPr sz="2000" spc="-30" dirty="0">
                <a:cs typeface="Arial MT"/>
              </a:rPr>
              <a:t> </a:t>
            </a:r>
            <a:r>
              <a:rPr sz="2000" spc="-5" dirty="0">
                <a:cs typeface="Arial MT"/>
              </a:rPr>
              <a:t>1</a:t>
            </a:r>
            <a:r>
              <a:rPr sz="2000" spc="-25"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25"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25"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0</a:t>
            </a:r>
            <a:r>
              <a:rPr sz="2000" spc="-30" dirty="0">
                <a:cs typeface="Arial MT"/>
              </a:rPr>
              <a:t> </a:t>
            </a:r>
            <a:r>
              <a:rPr sz="2000" spc="-5" dirty="0">
                <a:cs typeface="Arial MT"/>
              </a:rPr>
              <a:t>0</a:t>
            </a:r>
            <a:r>
              <a:rPr sz="2000" spc="-30" dirty="0">
                <a:cs typeface="Arial MT"/>
              </a:rPr>
              <a:t> </a:t>
            </a:r>
            <a:r>
              <a:rPr sz="2000" spc="-5" dirty="0">
                <a:cs typeface="Arial MT"/>
              </a:rPr>
              <a:t>1</a:t>
            </a:r>
            <a:r>
              <a:rPr sz="2000" spc="-25" dirty="0">
                <a:cs typeface="Arial MT"/>
              </a:rPr>
              <a:t> </a:t>
            </a:r>
            <a:r>
              <a:rPr sz="2000" spc="-5" dirty="0">
                <a:cs typeface="Arial MT"/>
              </a:rPr>
              <a:t>0</a:t>
            </a:r>
            <a:endParaRPr sz="2000" dirty="0">
              <a:cs typeface="Arial MT"/>
            </a:endParaRPr>
          </a:p>
          <a:p>
            <a:pPr>
              <a:lnSpc>
                <a:spcPct val="100000"/>
              </a:lnSpc>
            </a:pPr>
            <a:endParaRPr sz="2200" dirty="0">
              <a:cs typeface="Arial MT"/>
            </a:endParaRPr>
          </a:p>
          <a:p>
            <a:pPr marL="1423670">
              <a:lnSpc>
                <a:spcPct val="100000"/>
              </a:lnSpc>
              <a:spcBef>
                <a:spcPts val="1355"/>
              </a:spcBef>
              <a:tabLst>
                <a:tab pos="1879600" algn="l"/>
              </a:tabLst>
            </a:pPr>
            <a:r>
              <a:rPr sz="2000" spc="-5" dirty="0">
                <a:cs typeface="Arial MT"/>
              </a:rPr>
              <a:t>(b)	0</a:t>
            </a:r>
            <a:r>
              <a:rPr sz="2000" spc="-10" dirty="0">
                <a:cs typeface="Arial MT"/>
              </a:rPr>
              <a:t> </a:t>
            </a:r>
            <a:r>
              <a:rPr sz="2000" spc="-5" dirty="0">
                <a:cs typeface="Arial MT"/>
              </a:rPr>
              <a:t>1</a:t>
            </a:r>
            <a:r>
              <a:rPr sz="2000" spc="-10" dirty="0">
                <a:cs typeface="Arial MT"/>
              </a:rPr>
              <a:t> </a:t>
            </a:r>
            <a:r>
              <a:rPr sz="2000" spc="-5" dirty="0">
                <a:cs typeface="Arial MT"/>
              </a:rPr>
              <a:t>1</a:t>
            </a:r>
            <a:r>
              <a:rPr sz="2000" spc="-10" dirty="0">
                <a:cs typeface="Arial MT"/>
              </a:rPr>
              <a:t> </a:t>
            </a:r>
            <a:r>
              <a:rPr sz="2000" spc="-5" dirty="0">
                <a:cs typeface="Arial MT"/>
              </a:rPr>
              <a:t>0</a:t>
            </a:r>
            <a:r>
              <a:rPr sz="2000" spc="-10" dirty="0">
                <a:cs typeface="Arial MT"/>
              </a:rPr>
              <a:t> </a:t>
            </a:r>
            <a:r>
              <a:rPr sz="2000" spc="-5" dirty="0">
                <a:cs typeface="Arial MT"/>
              </a:rPr>
              <a:t>1 1</a:t>
            </a:r>
            <a:r>
              <a:rPr sz="2000" spc="-10" dirty="0">
                <a:cs typeface="Arial MT"/>
              </a:rPr>
              <a:t> </a:t>
            </a:r>
            <a:r>
              <a:rPr sz="2000" spc="-5" dirty="0">
                <a:cs typeface="Arial MT"/>
              </a:rPr>
              <a:t>1</a:t>
            </a:r>
            <a:r>
              <a:rPr sz="2000" spc="-10" dirty="0">
                <a:cs typeface="Arial MT"/>
              </a:rPr>
              <a:t> </a:t>
            </a:r>
            <a:r>
              <a:rPr sz="2000" spc="-5" dirty="0">
                <a:cs typeface="Arial MT"/>
              </a:rPr>
              <a:t>1</a:t>
            </a:r>
            <a:r>
              <a:rPr sz="2000" spc="-10" dirty="0">
                <a:cs typeface="Arial MT"/>
              </a:rPr>
              <a:t> </a:t>
            </a:r>
            <a:r>
              <a:rPr sz="2000" spc="-5" dirty="0">
                <a:cs typeface="Arial MT"/>
              </a:rPr>
              <a:t>1 </a:t>
            </a:r>
            <a:r>
              <a:rPr sz="2000" spc="-5" dirty="0">
                <a:highlight>
                  <a:srgbClr val="FFFF00"/>
                </a:highlight>
                <a:cs typeface="Arial MT"/>
              </a:rPr>
              <a:t>0</a:t>
            </a:r>
            <a:r>
              <a:rPr sz="2000" spc="-10" dirty="0">
                <a:cs typeface="Arial MT"/>
              </a:rPr>
              <a:t> </a:t>
            </a:r>
            <a:r>
              <a:rPr sz="2000" spc="-5" dirty="0">
                <a:cs typeface="Arial MT"/>
              </a:rPr>
              <a:t>1</a:t>
            </a:r>
            <a:r>
              <a:rPr sz="2000" spc="-10" dirty="0">
                <a:cs typeface="Arial MT"/>
              </a:rPr>
              <a:t> </a:t>
            </a:r>
            <a:r>
              <a:rPr sz="2000" spc="-5" dirty="0">
                <a:cs typeface="Arial MT"/>
              </a:rPr>
              <a:t>1</a:t>
            </a:r>
            <a:r>
              <a:rPr sz="2000" spc="-10" dirty="0">
                <a:cs typeface="Arial MT"/>
              </a:rPr>
              <a:t> </a:t>
            </a:r>
            <a:r>
              <a:rPr sz="2000" spc="-5" dirty="0">
                <a:cs typeface="Arial MT"/>
              </a:rPr>
              <a:t>1 1</a:t>
            </a:r>
            <a:r>
              <a:rPr sz="2000" spc="-10" dirty="0">
                <a:cs typeface="Arial MT"/>
              </a:rPr>
              <a:t> </a:t>
            </a:r>
            <a:r>
              <a:rPr sz="2000" spc="-5" dirty="0">
                <a:cs typeface="Arial MT"/>
              </a:rPr>
              <a:t>1</a:t>
            </a:r>
            <a:r>
              <a:rPr sz="2000" spc="-10" dirty="0">
                <a:cs typeface="Arial MT"/>
              </a:rPr>
              <a:t> </a:t>
            </a:r>
            <a:r>
              <a:rPr sz="2000" spc="-5" dirty="0">
                <a:highlight>
                  <a:srgbClr val="FFFF00"/>
                </a:highlight>
                <a:cs typeface="Arial MT"/>
              </a:rPr>
              <a:t>0</a:t>
            </a:r>
            <a:r>
              <a:rPr sz="2000" spc="-10" dirty="0">
                <a:cs typeface="Arial MT"/>
              </a:rPr>
              <a:t> </a:t>
            </a:r>
            <a:r>
              <a:rPr sz="2000" spc="-5" dirty="0">
                <a:cs typeface="Arial MT"/>
              </a:rPr>
              <a:t>1 1</a:t>
            </a:r>
            <a:r>
              <a:rPr sz="2000" spc="-10" dirty="0">
                <a:cs typeface="Arial MT"/>
              </a:rPr>
              <a:t> </a:t>
            </a:r>
            <a:r>
              <a:rPr sz="2000" spc="-5" dirty="0">
                <a:cs typeface="Arial MT"/>
              </a:rPr>
              <a:t>1</a:t>
            </a:r>
            <a:r>
              <a:rPr sz="2000" spc="-10" dirty="0">
                <a:cs typeface="Arial MT"/>
              </a:rPr>
              <a:t> </a:t>
            </a:r>
            <a:r>
              <a:rPr sz="2000" spc="-5" dirty="0">
                <a:cs typeface="Arial MT"/>
              </a:rPr>
              <a:t>1</a:t>
            </a:r>
            <a:r>
              <a:rPr sz="2000" spc="-10" dirty="0">
                <a:cs typeface="Arial MT"/>
              </a:rPr>
              <a:t> </a:t>
            </a:r>
            <a:r>
              <a:rPr sz="2000" spc="-5" dirty="0">
                <a:cs typeface="Arial MT"/>
              </a:rPr>
              <a:t>1 </a:t>
            </a:r>
            <a:r>
              <a:rPr sz="2000" spc="-5" dirty="0">
                <a:highlight>
                  <a:srgbClr val="FFFF00"/>
                </a:highlight>
                <a:cs typeface="Arial MT"/>
              </a:rPr>
              <a:t>0</a:t>
            </a:r>
            <a:r>
              <a:rPr sz="2000" spc="-10" dirty="0">
                <a:cs typeface="Arial MT"/>
              </a:rPr>
              <a:t> </a:t>
            </a:r>
            <a:r>
              <a:rPr sz="2000" spc="-5" dirty="0">
                <a:cs typeface="Arial MT"/>
              </a:rPr>
              <a:t>1</a:t>
            </a:r>
            <a:r>
              <a:rPr sz="2000" spc="-10" dirty="0">
                <a:cs typeface="Arial MT"/>
              </a:rPr>
              <a:t> </a:t>
            </a:r>
            <a:r>
              <a:rPr sz="2000" spc="-5" dirty="0">
                <a:cs typeface="Arial MT"/>
              </a:rPr>
              <a:t>0</a:t>
            </a:r>
            <a:r>
              <a:rPr sz="2000" spc="-10" dirty="0">
                <a:cs typeface="Arial MT"/>
              </a:rPr>
              <a:t> </a:t>
            </a:r>
            <a:r>
              <a:rPr sz="2000" spc="-5" dirty="0">
                <a:cs typeface="Arial MT"/>
              </a:rPr>
              <a:t>0 1</a:t>
            </a:r>
            <a:r>
              <a:rPr sz="2000" spc="-10" dirty="0">
                <a:cs typeface="Arial MT"/>
              </a:rPr>
              <a:t> </a:t>
            </a:r>
            <a:r>
              <a:rPr sz="2000" spc="-5" dirty="0">
                <a:cs typeface="Arial MT"/>
              </a:rPr>
              <a:t>0</a:t>
            </a:r>
            <a:endParaRPr sz="2000" dirty="0">
              <a:cs typeface="Arial MT"/>
            </a:endParaRPr>
          </a:p>
          <a:p>
            <a:pPr>
              <a:lnSpc>
                <a:spcPct val="100000"/>
              </a:lnSpc>
              <a:spcBef>
                <a:spcPts val="20"/>
              </a:spcBef>
            </a:pPr>
            <a:endParaRPr sz="2550" dirty="0">
              <a:cs typeface="Arial MT"/>
            </a:endParaRPr>
          </a:p>
          <a:p>
            <a:pPr marL="4496435">
              <a:lnSpc>
                <a:spcPct val="100000"/>
              </a:lnSpc>
            </a:pPr>
            <a:r>
              <a:rPr sz="2000" spc="-5" dirty="0">
                <a:cs typeface="Arial MT"/>
              </a:rPr>
              <a:t>Stuffed</a:t>
            </a:r>
            <a:r>
              <a:rPr sz="2000" spc="-45" dirty="0">
                <a:cs typeface="Arial MT"/>
              </a:rPr>
              <a:t> </a:t>
            </a:r>
            <a:r>
              <a:rPr sz="2000" spc="-10" dirty="0">
                <a:cs typeface="Arial MT"/>
              </a:rPr>
              <a:t>bits</a:t>
            </a:r>
            <a:endParaRPr sz="2000" dirty="0">
              <a:cs typeface="Arial MT"/>
            </a:endParaRPr>
          </a:p>
          <a:p>
            <a:pPr>
              <a:lnSpc>
                <a:spcPct val="100000"/>
              </a:lnSpc>
              <a:spcBef>
                <a:spcPts val="20"/>
              </a:spcBef>
            </a:pPr>
            <a:endParaRPr sz="1950" dirty="0">
              <a:cs typeface="Arial MT"/>
            </a:endParaRPr>
          </a:p>
          <a:p>
            <a:pPr marL="1430655">
              <a:lnSpc>
                <a:spcPct val="100000"/>
              </a:lnSpc>
              <a:tabLst>
                <a:tab pos="1906905" algn="l"/>
              </a:tabLst>
            </a:pPr>
            <a:r>
              <a:rPr sz="2000" spc="-5" dirty="0">
                <a:cs typeface="Arial MT"/>
              </a:rPr>
              <a:t>(c)	0</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0</a:t>
            </a:r>
            <a:r>
              <a:rPr sz="2000" spc="-30" dirty="0">
                <a:cs typeface="Arial MT"/>
              </a:rPr>
              <a:t> </a:t>
            </a:r>
            <a:r>
              <a:rPr sz="2000" spc="-5" dirty="0">
                <a:cs typeface="Arial MT"/>
              </a:rPr>
              <a:t>1</a:t>
            </a:r>
            <a:r>
              <a:rPr sz="2000" spc="-30" dirty="0">
                <a:cs typeface="Arial MT"/>
              </a:rPr>
              <a:t> </a:t>
            </a:r>
            <a:r>
              <a:rPr sz="2000" spc="-5" dirty="0">
                <a:cs typeface="Arial MT"/>
              </a:rPr>
              <a:t>1</a:t>
            </a:r>
            <a:r>
              <a:rPr sz="2000" spc="-25"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25"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25"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1</a:t>
            </a:r>
            <a:r>
              <a:rPr sz="2000" spc="-30" dirty="0">
                <a:cs typeface="Arial MT"/>
              </a:rPr>
              <a:t> </a:t>
            </a:r>
            <a:r>
              <a:rPr sz="2000" spc="-5" dirty="0">
                <a:cs typeface="Arial MT"/>
              </a:rPr>
              <a:t>0</a:t>
            </a:r>
            <a:r>
              <a:rPr sz="2000" spc="-30" dirty="0">
                <a:cs typeface="Arial MT"/>
              </a:rPr>
              <a:t> </a:t>
            </a:r>
            <a:r>
              <a:rPr sz="2000" spc="-5" dirty="0">
                <a:cs typeface="Arial MT"/>
              </a:rPr>
              <a:t>0</a:t>
            </a:r>
            <a:r>
              <a:rPr sz="2000" spc="-30" dirty="0">
                <a:cs typeface="Arial MT"/>
              </a:rPr>
              <a:t> </a:t>
            </a:r>
            <a:r>
              <a:rPr sz="2000" spc="-5" dirty="0">
                <a:cs typeface="Arial MT"/>
              </a:rPr>
              <a:t>1</a:t>
            </a:r>
            <a:r>
              <a:rPr sz="2000" spc="-25" dirty="0">
                <a:cs typeface="Arial MT"/>
              </a:rPr>
              <a:t> </a:t>
            </a:r>
            <a:r>
              <a:rPr sz="2000" spc="-5" dirty="0">
                <a:cs typeface="Arial MT"/>
              </a:rPr>
              <a:t>0</a:t>
            </a:r>
            <a:endParaRPr sz="2000" dirty="0">
              <a:cs typeface="Arial MT"/>
            </a:endParaRPr>
          </a:p>
        </p:txBody>
      </p:sp>
      <p:sp>
        <p:nvSpPr>
          <p:cNvPr id="17" name="TextBox 16">
            <a:extLst>
              <a:ext uri="{FF2B5EF4-FFF2-40B4-BE49-F238E27FC236}">
                <a16:creationId xmlns:a16="http://schemas.microsoft.com/office/drawing/2014/main" id="{237791C8-1149-327A-7D68-8FD2607DC7B2}"/>
              </a:ext>
            </a:extLst>
          </p:cNvPr>
          <p:cNvSpPr txBox="1"/>
          <p:nvPr/>
        </p:nvSpPr>
        <p:spPr>
          <a:xfrm>
            <a:off x="944105" y="5159614"/>
            <a:ext cx="8153399" cy="1938992"/>
          </a:xfrm>
          <a:prstGeom prst="rect">
            <a:avLst/>
          </a:prstGeom>
          <a:noFill/>
        </p:spPr>
        <p:txBody>
          <a:bodyPr wrap="square">
            <a:spAutoFit/>
          </a:bodyPr>
          <a:lstStyle/>
          <a:p>
            <a:pPr marL="342900" indent="-342900" algn="just">
              <a:buFont typeface="Arial" panose="020B0604020202020204" pitchFamily="34" charset="0"/>
              <a:buChar char="•"/>
            </a:pPr>
            <a:r>
              <a:rPr lang="en-US" sz="2000" b="0" i="0" u="none" strike="noStrike" baseline="0" dirty="0">
                <a:latin typeface="Times-Roman"/>
              </a:rPr>
              <a:t>Byte/Bit stuffing is done </a:t>
            </a:r>
            <a:r>
              <a:rPr lang="en-US" sz="2000" dirty="0">
                <a:latin typeface="Times-Roman"/>
              </a:rPr>
              <a:t>only in the data portion, not in the starting and ending flags.</a:t>
            </a:r>
            <a:endParaRPr lang="en-US" sz="2000" b="0" i="0" u="none" strike="noStrike" baseline="0" dirty="0">
              <a:latin typeface="Times-Roman"/>
            </a:endParaRPr>
          </a:p>
          <a:p>
            <a:pPr marL="342900" indent="-342900" algn="just">
              <a:buFont typeface="Arial" panose="020B0604020202020204" pitchFamily="34" charset="0"/>
              <a:buChar char="•"/>
            </a:pPr>
            <a:r>
              <a:rPr lang="en-US" sz="2000" b="0" i="0" u="none" strike="noStrike" baseline="0" dirty="0">
                <a:latin typeface="Times-Roman"/>
              </a:rPr>
              <a:t>With bit stuffing, the boundary between two frames can be unambiguously recognized by the flag pattern. </a:t>
            </a:r>
          </a:p>
          <a:p>
            <a:pPr marL="342900" indent="-342900" algn="just">
              <a:buFont typeface="Arial" panose="020B0604020202020204" pitchFamily="34" charset="0"/>
              <a:buChar char="•"/>
            </a:pPr>
            <a:r>
              <a:rPr lang="en-US" sz="2000" dirty="0">
                <a:highlight>
                  <a:srgbClr val="FFFF00"/>
                </a:highlight>
                <a:latin typeface="Times-Roman"/>
              </a:rPr>
              <a:t>Side effect of both Byte Stuffing and Bit Stuffing: </a:t>
            </a:r>
            <a:r>
              <a:rPr lang="en-US" sz="2000" dirty="0">
                <a:latin typeface="Times-Roman"/>
              </a:rPr>
              <a:t>the length of a frame now depends on the contents of the data it carries.</a:t>
            </a:r>
            <a:endParaRPr lang="en-US" sz="2000" dirty="0"/>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470118"/>
            <a:ext cx="4038600" cy="572080"/>
          </a:xfrm>
          <a:prstGeom prst="rect">
            <a:avLst/>
          </a:prstGeom>
        </p:spPr>
        <p:txBody>
          <a:bodyPr vert="horz" wrap="square" lIns="0" tIns="13335" rIns="0" bIns="0" rtlCol="0">
            <a:spAutoFit/>
          </a:bodyPr>
          <a:lstStyle/>
          <a:p>
            <a:pPr marL="12700">
              <a:lnSpc>
                <a:spcPct val="100000"/>
              </a:lnSpc>
              <a:spcBef>
                <a:spcPts val="105"/>
              </a:spcBef>
            </a:pPr>
            <a:r>
              <a:rPr lang="en-US" spc="-5" dirty="0"/>
              <a:t>3.1.3 </a:t>
            </a:r>
            <a:r>
              <a:rPr spc="-5" dirty="0"/>
              <a:t>Error</a:t>
            </a:r>
            <a:r>
              <a:rPr spc="-75" dirty="0"/>
              <a:t> </a:t>
            </a:r>
            <a:r>
              <a:rPr spc="-5" dirty="0"/>
              <a:t>Control</a:t>
            </a:r>
          </a:p>
        </p:txBody>
      </p:sp>
      <p:sp>
        <p:nvSpPr>
          <p:cNvPr id="8" name="object 8"/>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14</a:t>
            </a:fld>
            <a:r>
              <a:rPr spc="10" dirty="0"/>
              <a:t>/69</a:t>
            </a:r>
          </a:p>
        </p:txBody>
      </p:sp>
      <p:sp>
        <p:nvSpPr>
          <p:cNvPr id="3" name="object 3"/>
          <p:cNvSpPr/>
          <p:nvPr/>
        </p:nvSpPr>
        <p:spPr>
          <a:xfrm>
            <a:off x="1093844" y="208162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4" name="object 4"/>
          <p:cNvSpPr/>
          <p:nvPr/>
        </p:nvSpPr>
        <p:spPr>
          <a:xfrm>
            <a:off x="1093844" y="338921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5" name="object 5"/>
          <p:cNvSpPr/>
          <p:nvPr/>
        </p:nvSpPr>
        <p:spPr>
          <a:xfrm>
            <a:off x="1093844" y="4292948"/>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6" name="object 6"/>
          <p:cNvSpPr/>
          <p:nvPr/>
        </p:nvSpPr>
        <p:spPr>
          <a:xfrm>
            <a:off x="1093844" y="559901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7" name="object 7"/>
          <p:cNvSpPr txBox="1"/>
          <p:nvPr/>
        </p:nvSpPr>
        <p:spPr>
          <a:xfrm>
            <a:off x="1447800" y="1905000"/>
            <a:ext cx="7499350" cy="4447500"/>
          </a:xfrm>
          <a:prstGeom prst="rect">
            <a:avLst/>
          </a:prstGeom>
        </p:spPr>
        <p:txBody>
          <a:bodyPr vert="horz" wrap="square" lIns="0" tIns="30480" rIns="0" bIns="0" rtlCol="0">
            <a:spAutoFit/>
          </a:bodyPr>
          <a:lstStyle/>
          <a:p>
            <a:pPr marL="12700" marR="5080">
              <a:lnSpc>
                <a:spcPts val="3170"/>
              </a:lnSpc>
              <a:spcBef>
                <a:spcPts val="240"/>
              </a:spcBef>
            </a:pPr>
            <a:r>
              <a:rPr sz="2650" dirty="0">
                <a:cs typeface="Arial MT"/>
              </a:rPr>
              <a:t>Receiver </a:t>
            </a:r>
            <a:r>
              <a:rPr sz="2650" spc="5" dirty="0">
                <a:cs typeface="Arial MT"/>
              </a:rPr>
              <a:t>provides </a:t>
            </a:r>
            <a:r>
              <a:rPr sz="2650" spc="-10" dirty="0">
                <a:cs typeface="Arial MT"/>
              </a:rPr>
              <a:t>feedback </a:t>
            </a:r>
            <a:r>
              <a:rPr sz="2650" spc="10" dirty="0">
                <a:cs typeface="Arial MT"/>
              </a:rPr>
              <a:t>in </a:t>
            </a:r>
            <a:r>
              <a:rPr sz="2650" spc="5" dirty="0">
                <a:cs typeface="Arial MT"/>
              </a:rPr>
              <a:t>the form of </a:t>
            </a:r>
            <a:r>
              <a:rPr sz="2650" dirty="0">
                <a:cs typeface="Arial MT"/>
              </a:rPr>
              <a:t>positive </a:t>
            </a:r>
            <a:r>
              <a:rPr sz="2650" spc="-725" dirty="0">
                <a:cs typeface="Arial MT"/>
              </a:rPr>
              <a:t> </a:t>
            </a:r>
            <a:r>
              <a:rPr sz="2650" spc="5" dirty="0">
                <a:cs typeface="Arial MT"/>
              </a:rPr>
              <a:t>or</a:t>
            </a:r>
            <a:r>
              <a:rPr sz="2650" spc="-5" dirty="0">
                <a:cs typeface="Arial MT"/>
              </a:rPr>
              <a:t> </a:t>
            </a:r>
            <a:r>
              <a:rPr sz="2650" dirty="0">
                <a:cs typeface="Arial MT"/>
              </a:rPr>
              <a:t>negative</a:t>
            </a:r>
            <a:r>
              <a:rPr sz="2650" spc="-5" dirty="0">
                <a:cs typeface="Arial MT"/>
              </a:rPr>
              <a:t> </a:t>
            </a:r>
            <a:r>
              <a:rPr sz="2650" spc="5" dirty="0">
                <a:cs typeface="Arial MT"/>
              </a:rPr>
              <a:t>acknowledgements</a:t>
            </a:r>
            <a:r>
              <a:rPr sz="2650" spc="-5" dirty="0">
                <a:cs typeface="Arial MT"/>
              </a:rPr>
              <a:t> (ACKs)</a:t>
            </a:r>
            <a:endParaRPr sz="2650" dirty="0">
              <a:cs typeface="Arial MT"/>
            </a:endParaRPr>
          </a:p>
          <a:p>
            <a:pPr>
              <a:lnSpc>
                <a:spcPct val="100000"/>
              </a:lnSpc>
              <a:spcBef>
                <a:spcPts val="45"/>
              </a:spcBef>
            </a:pPr>
            <a:endParaRPr sz="3300" dirty="0">
              <a:cs typeface="Arial MT"/>
            </a:endParaRPr>
          </a:p>
          <a:p>
            <a:pPr marL="12700">
              <a:lnSpc>
                <a:spcPct val="100000"/>
              </a:lnSpc>
              <a:spcBef>
                <a:spcPts val="5"/>
              </a:spcBef>
            </a:pPr>
            <a:r>
              <a:rPr sz="2650" spc="10" dirty="0">
                <a:cs typeface="Arial MT"/>
              </a:rPr>
              <a:t>Dropped</a:t>
            </a:r>
            <a:r>
              <a:rPr sz="2650" spc="-5" dirty="0">
                <a:cs typeface="Arial MT"/>
              </a:rPr>
              <a:t> </a:t>
            </a:r>
            <a:r>
              <a:rPr sz="2650" spc="5" dirty="0">
                <a:cs typeface="Arial MT"/>
              </a:rPr>
              <a:t>frames</a:t>
            </a:r>
            <a:r>
              <a:rPr sz="2650" spc="10" dirty="0">
                <a:cs typeface="Arial MT"/>
              </a:rPr>
              <a:t> are </a:t>
            </a:r>
            <a:r>
              <a:rPr sz="2650" spc="5" dirty="0">
                <a:cs typeface="Arial MT"/>
              </a:rPr>
              <a:t>handled</a:t>
            </a:r>
            <a:r>
              <a:rPr sz="2650" spc="10" dirty="0">
                <a:cs typeface="Arial MT"/>
              </a:rPr>
              <a:t> </a:t>
            </a:r>
            <a:r>
              <a:rPr sz="2650" spc="5" dirty="0">
                <a:cs typeface="Arial MT"/>
              </a:rPr>
              <a:t>using</a:t>
            </a:r>
            <a:r>
              <a:rPr sz="2650" dirty="0">
                <a:cs typeface="Arial MT"/>
              </a:rPr>
              <a:t> </a:t>
            </a:r>
            <a:r>
              <a:rPr sz="2650" spc="5" dirty="0">
                <a:cs typeface="Arial MT"/>
              </a:rPr>
              <a:t>timeouts</a:t>
            </a:r>
            <a:endParaRPr sz="2650" dirty="0">
              <a:cs typeface="Arial MT"/>
            </a:endParaRPr>
          </a:p>
          <a:p>
            <a:pPr>
              <a:lnSpc>
                <a:spcPct val="100000"/>
              </a:lnSpc>
              <a:spcBef>
                <a:spcPts val="20"/>
              </a:spcBef>
            </a:pPr>
            <a:endParaRPr sz="3500" dirty="0">
              <a:cs typeface="Arial MT"/>
            </a:endParaRPr>
          </a:p>
          <a:p>
            <a:pPr marL="12700" marR="324485">
              <a:lnSpc>
                <a:spcPts val="3170"/>
              </a:lnSpc>
              <a:spcBef>
                <a:spcPts val="5"/>
              </a:spcBef>
            </a:pPr>
            <a:r>
              <a:rPr sz="2650" spc="10" dirty="0">
                <a:cs typeface="Arial MT"/>
              </a:rPr>
              <a:t>Dropped</a:t>
            </a:r>
            <a:r>
              <a:rPr sz="2650" spc="-5" dirty="0">
                <a:cs typeface="Arial MT"/>
              </a:rPr>
              <a:t> </a:t>
            </a:r>
            <a:r>
              <a:rPr sz="2650" spc="5" dirty="0">
                <a:cs typeface="Arial MT"/>
              </a:rPr>
              <a:t>transmissions</a:t>
            </a:r>
            <a:r>
              <a:rPr sz="2650" spc="20" dirty="0">
                <a:cs typeface="Arial MT"/>
              </a:rPr>
              <a:t> </a:t>
            </a:r>
            <a:r>
              <a:rPr sz="2650" spc="5" dirty="0">
                <a:cs typeface="Arial MT"/>
              </a:rPr>
              <a:t>or</a:t>
            </a:r>
            <a:r>
              <a:rPr sz="2650" spc="10" dirty="0">
                <a:cs typeface="Arial MT"/>
              </a:rPr>
              <a:t> </a:t>
            </a:r>
            <a:r>
              <a:rPr sz="2650" spc="-10" dirty="0">
                <a:cs typeface="Arial MT"/>
              </a:rPr>
              <a:t>ACKs</a:t>
            </a:r>
            <a:r>
              <a:rPr sz="2650" spc="-5" dirty="0">
                <a:cs typeface="Arial MT"/>
              </a:rPr>
              <a:t> </a:t>
            </a:r>
            <a:r>
              <a:rPr sz="2650" spc="10" dirty="0">
                <a:cs typeface="Arial MT"/>
              </a:rPr>
              <a:t>are </a:t>
            </a:r>
            <a:r>
              <a:rPr sz="2650" spc="5" dirty="0">
                <a:cs typeface="Arial MT"/>
              </a:rPr>
              <a:t>handled</a:t>
            </a:r>
            <a:r>
              <a:rPr sz="2650" spc="10" dirty="0">
                <a:cs typeface="Arial MT"/>
              </a:rPr>
              <a:t> </a:t>
            </a:r>
            <a:r>
              <a:rPr sz="2650" spc="-15" dirty="0">
                <a:cs typeface="Arial MT"/>
              </a:rPr>
              <a:t>by </a:t>
            </a:r>
            <a:r>
              <a:rPr sz="2650" spc="-720" dirty="0">
                <a:cs typeface="Arial MT"/>
              </a:rPr>
              <a:t> </a:t>
            </a:r>
            <a:r>
              <a:rPr sz="2650" dirty="0">
                <a:cs typeface="Arial MT"/>
              </a:rPr>
              <a:t>retransmitting</a:t>
            </a:r>
          </a:p>
          <a:p>
            <a:pPr>
              <a:lnSpc>
                <a:spcPct val="100000"/>
              </a:lnSpc>
              <a:spcBef>
                <a:spcPts val="30"/>
              </a:spcBef>
            </a:pPr>
            <a:endParaRPr sz="3400" dirty="0">
              <a:cs typeface="Arial MT"/>
            </a:endParaRPr>
          </a:p>
          <a:p>
            <a:pPr marL="12700" marR="567690">
              <a:lnSpc>
                <a:spcPts val="3170"/>
              </a:lnSpc>
            </a:pPr>
            <a:r>
              <a:rPr sz="2650" spc="5" dirty="0">
                <a:cs typeface="Arial MT"/>
              </a:rPr>
              <a:t>Duplicate</a:t>
            </a:r>
            <a:r>
              <a:rPr sz="2650" spc="10" dirty="0">
                <a:cs typeface="Arial MT"/>
              </a:rPr>
              <a:t> </a:t>
            </a:r>
            <a:r>
              <a:rPr sz="2650" spc="5" dirty="0">
                <a:cs typeface="Arial MT"/>
              </a:rPr>
              <a:t>frames</a:t>
            </a:r>
            <a:r>
              <a:rPr sz="2650" spc="10" dirty="0">
                <a:cs typeface="Arial MT"/>
              </a:rPr>
              <a:t> are</a:t>
            </a:r>
            <a:r>
              <a:rPr sz="2650" dirty="0">
                <a:cs typeface="Arial MT"/>
              </a:rPr>
              <a:t> </a:t>
            </a:r>
            <a:r>
              <a:rPr sz="2650" spc="5" dirty="0">
                <a:cs typeface="Arial MT"/>
              </a:rPr>
              <a:t>handled using </a:t>
            </a:r>
            <a:r>
              <a:rPr sz="2650" spc="15" dirty="0">
                <a:cs typeface="Arial MT"/>
              </a:rPr>
              <a:t>sequence </a:t>
            </a:r>
            <a:r>
              <a:rPr sz="2650" spc="-720" dirty="0">
                <a:cs typeface="Arial MT"/>
              </a:rPr>
              <a:t> </a:t>
            </a:r>
            <a:r>
              <a:rPr sz="2650" spc="5" dirty="0">
                <a:cs typeface="Arial MT"/>
              </a:rPr>
              <a:t>numbers</a:t>
            </a:r>
            <a:r>
              <a:rPr lang="en-US" sz="2650" spc="5" dirty="0">
                <a:cs typeface="Arial MT"/>
              </a:rPr>
              <a:t>.</a:t>
            </a:r>
            <a:endParaRPr sz="2650" dirty="0">
              <a:cs typeface="Arial MT"/>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347951"/>
            <a:ext cx="4267200" cy="629018"/>
          </a:xfrm>
          <a:prstGeom prst="rect">
            <a:avLst/>
          </a:prstGeom>
        </p:spPr>
        <p:txBody>
          <a:bodyPr vert="horz" wrap="square" lIns="0" tIns="13335" rIns="0" bIns="0" rtlCol="0">
            <a:spAutoFit/>
          </a:bodyPr>
          <a:lstStyle/>
          <a:p>
            <a:pPr marL="12700">
              <a:lnSpc>
                <a:spcPct val="100000"/>
              </a:lnSpc>
              <a:spcBef>
                <a:spcPts val="105"/>
              </a:spcBef>
            </a:pPr>
            <a:r>
              <a:rPr lang="en-US" sz="4000" spc="-20" dirty="0"/>
              <a:t>3.1.4 </a:t>
            </a:r>
            <a:r>
              <a:rPr sz="4000" spc="-20" dirty="0"/>
              <a:t>Flow</a:t>
            </a:r>
            <a:r>
              <a:rPr sz="4000" spc="-65" dirty="0"/>
              <a:t> </a:t>
            </a:r>
            <a:r>
              <a:rPr sz="4000" spc="-5" dirty="0"/>
              <a:t>Control</a:t>
            </a:r>
          </a:p>
        </p:txBody>
      </p:sp>
      <p:sp>
        <p:nvSpPr>
          <p:cNvPr id="8" name="object 8"/>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15</a:t>
            </a:fld>
            <a:r>
              <a:rPr spc="10" dirty="0"/>
              <a:t>/69</a:t>
            </a:r>
          </a:p>
        </p:txBody>
      </p:sp>
      <p:sp>
        <p:nvSpPr>
          <p:cNvPr id="3" name="object 3"/>
          <p:cNvSpPr txBox="1"/>
          <p:nvPr/>
        </p:nvSpPr>
        <p:spPr>
          <a:xfrm>
            <a:off x="1533613" y="976969"/>
            <a:ext cx="5307457" cy="423834"/>
          </a:xfrm>
          <a:prstGeom prst="rect">
            <a:avLst/>
          </a:prstGeom>
        </p:spPr>
        <p:txBody>
          <a:bodyPr vert="horz" wrap="square" lIns="0" tIns="15875" rIns="0" bIns="0" rtlCol="0">
            <a:spAutoFit/>
          </a:bodyPr>
          <a:lstStyle/>
          <a:p>
            <a:pPr marL="12700">
              <a:lnSpc>
                <a:spcPct val="100000"/>
              </a:lnSpc>
              <a:spcBef>
                <a:spcPts val="125"/>
              </a:spcBef>
            </a:pPr>
            <a:r>
              <a:rPr lang="en-US" sz="2650" spc="5" dirty="0">
                <a:cs typeface="Arial MT"/>
              </a:rPr>
              <a:t>-&gt;</a:t>
            </a:r>
            <a:r>
              <a:rPr sz="2650" spc="5" dirty="0">
                <a:cs typeface="Arial MT"/>
              </a:rPr>
              <a:t>Slowing</a:t>
            </a:r>
            <a:r>
              <a:rPr sz="2650" spc="-10" dirty="0">
                <a:cs typeface="Arial MT"/>
              </a:rPr>
              <a:t> </a:t>
            </a:r>
            <a:r>
              <a:rPr sz="2650" dirty="0">
                <a:cs typeface="Arial MT"/>
              </a:rPr>
              <a:t>down</a:t>
            </a:r>
            <a:r>
              <a:rPr sz="2650" spc="-10" dirty="0">
                <a:cs typeface="Arial MT"/>
              </a:rPr>
              <a:t> </a:t>
            </a:r>
            <a:r>
              <a:rPr sz="2650" spc="15" dirty="0">
                <a:cs typeface="Arial MT"/>
              </a:rPr>
              <a:t>a</a:t>
            </a:r>
            <a:r>
              <a:rPr sz="2650" spc="-10" dirty="0">
                <a:cs typeface="Arial MT"/>
              </a:rPr>
              <a:t> </a:t>
            </a:r>
            <a:r>
              <a:rPr sz="2650" spc="-15" dirty="0">
                <a:cs typeface="Arial MT"/>
              </a:rPr>
              <a:t>fast</a:t>
            </a:r>
            <a:r>
              <a:rPr sz="2650" dirty="0">
                <a:cs typeface="Arial MT"/>
              </a:rPr>
              <a:t> </a:t>
            </a:r>
            <a:r>
              <a:rPr sz="2650" spc="10" dirty="0">
                <a:cs typeface="Arial MT"/>
              </a:rPr>
              <a:t>sender</a:t>
            </a:r>
            <a:endParaRPr sz="2650" dirty="0">
              <a:cs typeface="Arial MT"/>
            </a:endParaRPr>
          </a:p>
        </p:txBody>
      </p:sp>
      <p:sp>
        <p:nvSpPr>
          <p:cNvPr id="10" name="TextBox 9">
            <a:extLst>
              <a:ext uri="{FF2B5EF4-FFF2-40B4-BE49-F238E27FC236}">
                <a16:creationId xmlns:a16="http://schemas.microsoft.com/office/drawing/2014/main" id="{86CE2300-82EF-F322-2D6C-57FA73074470}"/>
              </a:ext>
            </a:extLst>
          </p:cNvPr>
          <p:cNvSpPr txBox="1"/>
          <p:nvPr/>
        </p:nvSpPr>
        <p:spPr>
          <a:xfrm>
            <a:off x="762001" y="2133600"/>
            <a:ext cx="8604884" cy="4770537"/>
          </a:xfrm>
          <a:prstGeom prst="rect">
            <a:avLst/>
          </a:prstGeom>
          <a:noFill/>
        </p:spPr>
        <p:txBody>
          <a:bodyPr wrap="square">
            <a:spAutoFit/>
          </a:bodyPr>
          <a:lstStyle/>
          <a:p>
            <a:pPr algn="l"/>
            <a:r>
              <a:rPr lang="en-US" sz="3200" b="0" i="0" u="none" strike="noStrike" baseline="0" dirty="0">
                <a:latin typeface="Times-Roman"/>
              </a:rPr>
              <a:t>Two approaches are commonly used</a:t>
            </a:r>
          </a:p>
          <a:p>
            <a:pPr marL="800100" lvl="1" indent="-342900">
              <a:buFont typeface="+mj-lt"/>
              <a:buAutoNum type="arabicPeriod"/>
            </a:pPr>
            <a:r>
              <a:rPr lang="en-US" sz="3200" dirty="0">
                <a:solidFill>
                  <a:srgbClr val="9B0707"/>
                </a:solidFill>
                <a:cs typeface="Arial MT"/>
              </a:rPr>
              <a:t>feedback-based</a:t>
            </a:r>
            <a:r>
              <a:rPr lang="en-US" sz="3200" spc="-55" dirty="0">
                <a:solidFill>
                  <a:srgbClr val="9B0707"/>
                </a:solidFill>
                <a:cs typeface="Arial MT"/>
              </a:rPr>
              <a:t> </a:t>
            </a:r>
            <a:r>
              <a:rPr lang="en-US" sz="3200" dirty="0">
                <a:solidFill>
                  <a:srgbClr val="9B0707"/>
                </a:solidFill>
                <a:cs typeface="Arial MT"/>
              </a:rPr>
              <a:t>flow</a:t>
            </a:r>
            <a:r>
              <a:rPr lang="en-US" sz="3200" spc="-20" dirty="0">
                <a:solidFill>
                  <a:srgbClr val="9B0707"/>
                </a:solidFill>
                <a:cs typeface="Arial MT"/>
              </a:rPr>
              <a:t> </a:t>
            </a:r>
            <a:r>
              <a:rPr lang="en-US" sz="3200" spc="10" dirty="0">
                <a:solidFill>
                  <a:srgbClr val="9B0707"/>
                </a:solidFill>
                <a:cs typeface="Arial MT"/>
              </a:rPr>
              <a:t>control: </a:t>
            </a:r>
          </a:p>
          <a:p>
            <a:pPr lvl="2" algn="just"/>
            <a:r>
              <a:rPr lang="en-US" sz="2400" dirty="0">
                <a:latin typeface="Times-Roman"/>
              </a:rPr>
              <a:t>T</a:t>
            </a:r>
            <a:r>
              <a:rPr lang="en-US" sz="2400" b="0" i="0" u="none" strike="noStrike" baseline="0" dirty="0">
                <a:latin typeface="Times-Roman"/>
              </a:rPr>
              <a:t>he receiver sends back information (feedback) to the sender giving it permission to send more data, or at least telling the sender how the receiver is doing.</a:t>
            </a:r>
            <a:endParaRPr lang="en-US" sz="4000" spc="10" dirty="0">
              <a:solidFill>
                <a:srgbClr val="9B0707"/>
              </a:solidFill>
              <a:cs typeface="Arial MT"/>
            </a:endParaRPr>
          </a:p>
          <a:p>
            <a:pPr marL="800100" lvl="1" indent="-342900">
              <a:buFont typeface="+mj-lt"/>
              <a:buAutoNum type="arabicPeriod"/>
            </a:pPr>
            <a:r>
              <a:rPr lang="en-US" sz="3200" spc="5" dirty="0">
                <a:solidFill>
                  <a:srgbClr val="9B0707"/>
                </a:solidFill>
                <a:cs typeface="Arial MT"/>
              </a:rPr>
              <a:t>rate-based</a:t>
            </a:r>
            <a:r>
              <a:rPr lang="en-US" sz="3200" spc="-25" dirty="0">
                <a:solidFill>
                  <a:srgbClr val="9B0707"/>
                </a:solidFill>
                <a:cs typeface="Arial MT"/>
              </a:rPr>
              <a:t> </a:t>
            </a:r>
            <a:r>
              <a:rPr lang="en-US" sz="3200" dirty="0">
                <a:solidFill>
                  <a:srgbClr val="9B0707"/>
                </a:solidFill>
                <a:cs typeface="Arial MT"/>
              </a:rPr>
              <a:t>flow</a:t>
            </a:r>
            <a:r>
              <a:rPr lang="en-US" sz="3200" spc="-30" dirty="0">
                <a:solidFill>
                  <a:srgbClr val="9B0707"/>
                </a:solidFill>
                <a:cs typeface="Arial MT"/>
              </a:rPr>
              <a:t> </a:t>
            </a:r>
            <a:r>
              <a:rPr lang="en-US" sz="3200" spc="10" dirty="0">
                <a:solidFill>
                  <a:srgbClr val="9B0707"/>
                </a:solidFill>
                <a:cs typeface="Arial MT"/>
              </a:rPr>
              <a:t>control</a:t>
            </a:r>
          </a:p>
          <a:p>
            <a:pPr lvl="2" algn="just"/>
            <a:r>
              <a:rPr lang="en-US" sz="2400" b="0" i="0" u="none" strike="noStrike" baseline="0" dirty="0">
                <a:latin typeface="Times-Roman"/>
              </a:rPr>
              <a:t>Here, the protocol has a built-in mechanism that limits the rate at which senders may transmit data, without using feedback from the receiver.</a:t>
            </a:r>
            <a:endParaRPr lang="en-US" sz="4000" dirty="0">
              <a:cs typeface="Arial MT"/>
            </a:endParaRPr>
          </a:p>
          <a:p>
            <a:endParaRPr lang="en-US" sz="3200" dirty="0">
              <a:latin typeface="Arial MT"/>
              <a:cs typeface="Arial MT"/>
            </a:endParaRPr>
          </a:p>
          <a:p>
            <a:pPr algn="l"/>
            <a:r>
              <a:rPr lang="en-US" sz="3200" b="0" i="0" u="none" strike="noStrike" baseline="0" dirty="0">
                <a:latin typeface="Times-Roman"/>
              </a:rPr>
              <a:t>. </a:t>
            </a:r>
            <a:endParaRPr lang="en-US" sz="3200" dirty="0"/>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lstStyle/>
          <a:p>
            <a:r>
              <a:rPr lang="en-US" dirty="0"/>
              <a:t>Data Link Layer</a:t>
            </a:r>
          </a:p>
        </p:txBody>
      </p:sp>
      <p:sp>
        <p:nvSpPr>
          <p:cNvPr id="9" name="object 9"/>
          <p:cNvSpPr txBox="1">
            <a:spLocks noGrp="1"/>
          </p:cNvSpPr>
          <p:nvPr>
            <p:ph idx="1"/>
          </p:nvPr>
        </p:nvSpPr>
        <p:spPr/>
        <p:txBody>
          <a:bodyPr>
            <a:normAutofit/>
          </a:bodyPr>
          <a:lstStyle/>
          <a:p>
            <a:pPr marL="0" indent="0">
              <a:buNone/>
            </a:pPr>
            <a:r>
              <a:rPr lang="en-US" sz="3200" dirty="0"/>
              <a:t>Reliable bitstream between adjacent computers</a:t>
            </a:r>
          </a:p>
          <a:p>
            <a:pPr lvl="1"/>
            <a:r>
              <a:rPr lang="en-US" sz="2800" dirty="0"/>
              <a:t>Design Issues</a:t>
            </a:r>
          </a:p>
          <a:p>
            <a:pPr lvl="1"/>
            <a:r>
              <a:rPr lang="en-US" sz="2800" dirty="0">
                <a:highlight>
                  <a:srgbClr val="FFFF00"/>
                </a:highlight>
              </a:rPr>
              <a:t>Error Detection and Correction  </a:t>
            </a:r>
          </a:p>
          <a:p>
            <a:pPr lvl="1"/>
            <a:r>
              <a:rPr lang="en-US" sz="2800" dirty="0"/>
              <a:t>Elementary Protocols</a:t>
            </a:r>
          </a:p>
          <a:p>
            <a:pPr lvl="1"/>
            <a:r>
              <a:rPr lang="en-US" sz="2800" dirty="0"/>
              <a:t>Sliding Window Protocols  Protocol Verification</a:t>
            </a:r>
          </a:p>
          <a:p>
            <a:pPr lvl="1"/>
            <a:r>
              <a:rPr lang="en-US" sz="2800" dirty="0"/>
              <a:t>Example Data Link Protocols</a:t>
            </a:r>
          </a:p>
        </p:txBody>
      </p:sp>
      <p:sp>
        <p:nvSpPr>
          <p:cNvPr id="10" name="object 10"/>
          <p:cNvSpPr txBox="1">
            <a:spLocks noGrp="1"/>
          </p:cNvSpPr>
          <p:nvPr>
            <p:ph type="sldNum" sz="quarter" idx="12"/>
          </p:nvPr>
        </p:nvSpPr>
        <p:spPr/>
        <p:txBody>
          <a:bodyPr/>
          <a:lstStyle/>
          <a:p>
            <a:r>
              <a:rPr lang="en-US" dirty="0"/>
              <a:t>Chapter 3 – p.</a:t>
            </a:r>
            <a:fld id="{81D60167-4931-47E6-BA6A-407CBD079E47}" type="slidenum">
              <a:rPr dirty="0"/>
              <a:pPr/>
              <a:t>16</a:t>
            </a:fld>
            <a:r>
              <a:rPr dirty="0"/>
              <a:t>/69</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9394"/>
            <a:ext cx="6654800" cy="572080"/>
          </a:xfrm>
          <a:prstGeom prst="rect">
            <a:avLst/>
          </a:prstGeom>
        </p:spPr>
        <p:txBody>
          <a:bodyPr vert="horz" wrap="square" lIns="0" tIns="13335" rIns="0" bIns="0" rtlCol="0">
            <a:spAutoFit/>
          </a:bodyPr>
          <a:lstStyle/>
          <a:p>
            <a:pPr marL="12700">
              <a:lnSpc>
                <a:spcPct val="100000"/>
              </a:lnSpc>
              <a:spcBef>
                <a:spcPts val="105"/>
              </a:spcBef>
            </a:pPr>
            <a:r>
              <a:rPr lang="en-US" spc="-5" dirty="0"/>
              <a:t>3.2 </a:t>
            </a:r>
            <a:r>
              <a:rPr spc="-5" dirty="0"/>
              <a:t>Error</a:t>
            </a:r>
            <a:r>
              <a:rPr spc="-10" dirty="0"/>
              <a:t> </a:t>
            </a:r>
            <a:r>
              <a:rPr spc="-5" dirty="0"/>
              <a:t>Detection </a:t>
            </a:r>
            <a:r>
              <a:rPr dirty="0"/>
              <a:t>and</a:t>
            </a:r>
            <a:r>
              <a:rPr spc="-15" dirty="0"/>
              <a:t> </a:t>
            </a:r>
            <a:r>
              <a:rPr spc="-5" dirty="0"/>
              <a:t>Correction</a:t>
            </a:r>
          </a:p>
        </p:txBody>
      </p:sp>
      <p:sp>
        <p:nvSpPr>
          <p:cNvPr id="17" name="object 17"/>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17</a:t>
            </a:fld>
            <a:r>
              <a:rPr spc="10" dirty="0"/>
              <a:t>/69</a:t>
            </a:r>
          </a:p>
        </p:txBody>
      </p:sp>
      <p:sp>
        <p:nvSpPr>
          <p:cNvPr id="4" name="TextBox 3">
            <a:extLst>
              <a:ext uri="{FF2B5EF4-FFF2-40B4-BE49-F238E27FC236}">
                <a16:creationId xmlns:a16="http://schemas.microsoft.com/office/drawing/2014/main" id="{A14E917F-CDA5-A1EA-10F7-51596A88BA3F}"/>
              </a:ext>
            </a:extLst>
          </p:cNvPr>
          <p:cNvSpPr txBox="1"/>
          <p:nvPr/>
        </p:nvSpPr>
        <p:spPr>
          <a:xfrm>
            <a:off x="914400" y="1095607"/>
            <a:ext cx="8452485" cy="6252994"/>
          </a:xfrm>
          <a:prstGeom prst="rect">
            <a:avLst/>
          </a:prstGeom>
          <a:noFill/>
        </p:spPr>
        <p:txBody>
          <a:bodyPr wrap="square">
            <a:spAutoFit/>
          </a:bodyPr>
          <a:lstStyle/>
          <a:p>
            <a:pPr algn="just"/>
            <a:r>
              <a:rPr lang="en-US" sz="2800" b="0" i="0" u="none" strike="noStrike" baseline="0" dirty="0">
                <a:latin typeface="Times-Roman"/>
              </a:rPr>
              <a:t>Network designers have developed </a:t>
            </a:r>
            <a:r>
              <a:rPr lang="en-US" sz="2800" b="1" i="0" u="none" strike="noStrike" baseline="0" dirty="0">
                <a:latin typeface="Times-Roman"/>
              </a:rPr>
              <a:t>two basic strategies </a:t>
            </a:r>
            <a:r>
              <a:rPr lang="en-US" sz="2800" b="0" i="0" u="none" strike="noStrike" baseline="0" dirty="0">
                <a:latin typeface="Times-Roman"/>
              </a:rPr>
              <a:t>for dealing with errors. Both </a:t>
            </a:r>
            <a:r>
              <a:rPr lang="en-US" sz="2800" b="0" i="0" u="none" strike="noStrike" baseline="0" dirty="0">
                <a:highlight>
                  <a:srgbClr val="C0C0C0"/>
                </a:highlight>
                <a:latin typeface="Times-Roman"/>
              </a:rPr>
              <a:t>add redundant information </a:t>
            </a:r>
            <a:r>
              <a:rPr lang="en-US" sz="2800" b="0" i="0" u="none" strike="noStrike" baseline="0" dirty="0">
                <a:latin typeface="Times-Roman"/>
              </a:rPr>
              <a:t>to the data that is sent.</a:t>
            </a:r>
          </a:p>
          <a:p>
            <a:pPr algn="just"/>
            <a:endParaRPr lang="en-US" sz="2800" b="0" i="0" u="none" strike="noStrike" baseline="0" dirty="0">
              <a:latin typeface="Times-Roman"/>
            </a:endParaRPr>
          </a:p>
          <a:p>
            <a:pPr marL="342900" indent="-342900" algn="just">
              <a:buFont typeface="Arial" panose="020B0604020202020204" pitchFamily="34" charset="0"/>
              <a:buChar char="•"/>
            </a:pPr>
            <a:r>
              <a:rPr lang="en-US" sz="2800" b="0" i="0" u="none" strike="noStrike" baseline="0" dirty="0">
                <a:latin typeface="Times-Roman"/>
              </a:rPr>
              <a:t>One strategy is to deduce what the transmitted data must have been: </a:t>
            </a:r>
            <a:r>
              <a:rPr lang="en-US" sz="2800" b="1" i="0" u="none" strike="noStrike" baseline="0" dirty="0">
                <a:latin typeface="Times-Roman"/>
              </a:rPr>
              <a:t>Error Correction</a:t>
            </a:r>
            <a:endParaRPr lang="en-US" sz="2800" b="0" i="0" u="none" strike="noStrike" baseline="0" dirty="0">
              <a:latin typeface="Times-Roman"/>
            </a:endParaRPr>
          </a:p>
          <a:p>
            <a:pPr marL="342900" indent="-342900" algn="just">
              <a:buFont typeface="Arial" panose="020B0604020202020204" pitchFamily="34" charset="0"/>
              <a:buChar char="•"/>
            </a:pPr>
            <a:r>
              <a:rPr lang="en-US" sz="2800" b="0" i="0" u="none" strike="noStrike" baseline="0" dirty="0">
                <a:latin typeface="Times-Roman"/>
              </a:rPr>
              <a:t>The other is to only deduce that an error has occurred (but not which error); </a:t>
            </a:r>
            <a:r>
              <a:rPr lang="en-US" sz="2800" b="1" i="0" u="none" strike="noStrike" baseline="0" dirty="0">
                <a:latin typeface="Times-Roman"/>
              </a:rPr>
              <a:t>Error Detection</a:t>
            </a:r>
          </a:p>
          <a:p>
            <a:pPr algn="just"/>
            <a:endParaRPr lang="en-US" sz="2800" b="0" i="0" u="none" strike="noStrike" baseline="0" dirty="0">
              <a:latin typeface="Times-Roman"/>
            </a:endParaRPr>
          </a:p>
          <a:p>
            <a:pPr algn="just"/>
            <a:r>
              <a:rPr lang="en-US" sz="2800" b="0" i="0" u="none" strike="noStrike" baseline="0" dirty="0">
                <a:latin typeface="Times-Roman"/>
              </a:rPr>
              <a:t>Neither error-correcting codes nor error-detecting codes can handle </a:t>
            </a:r>
            <a:r>
              <a:rPr lang="en-US" sz="2800" b="1" i="0" u="none" strike="noStrike" baseline="0" dirty="0">
                <a:latin typeface="Times-Roman"/>
              </a:rPr>
              <a:t>all possible errors</a:t>
            </a:r>
            <a:r>
              <a:rPr lang="en-US" sz="2800" b="0" i="0" u="none" strike="noStrike" baseline="0" dirty="0">
                <a:latin typeface="Times-Roman"/>
              </a:rPr>
              <a:t>. </a:t>
            </a:r>
          </a:p>
          <a:p>
            <a:pPr marL="695325" indent="-342900">
              <a:lnSpc>
                <a:spcPct val="100000"/>
              </a:lnSpc>
              <a:spcBef>
                <a:spcPts val="500"/>
              </a:spcBef>
              <a:buFont typeface="Arial" panose="020B0604020202020204" pitchFamily="34" charset="0"/>
              <a:buChar char="•"/>
            </a:pPr>
            <a:r>
              <a:rPr lang="en-US" sz="2800" spc="5" dirty="0">
                <a:cs typeface="Arial MT"/>
              </a:rPr>
              <a:t>Error</a:t>
            </a:r>
            <a:r>
              <a:rPr lang="en-US" sz="2800" spc="-5" dirty="0">
                <a:cs typeface="Arial MT"/>
              </a:rPr>
              <a:t> </a:t>
            </a:r>
            <a:r>
              <a:rPr lang="en-US" sz="2800" spc="10" dirty="0">
                <a:cs typeface="Arial MT"/>
              </a:rPr>
              <a:t>correcting is </a:t>
            </a:r>
            <a:r>
              <a:rPr lang="en-US" sz="2800" spc="5" dirty="0">
                <a:cs typeface="Arial MT"/>
              </a:rPr>
              <a:t>used</a:t>
            </a:r>
            <a:r>
              <a:rPr lang="en-US" sz="2800" spc="15" dirty="0">
                <a:cs typeface="Arial MT"/>
              </a:rPr>
              <a:t> </a:t>
            </a:r>
            <a:r>
              <a:rPr lang="en-US" sz="2800" spc="10" dirty="0">
                <a:cs typeface="Arial MT"/>
              </a:rPr>
              <a:t>on </a:t>
            </a:r>
            <a:r>
              <a:rPr lang="en-US" sz="2800" dirty="0">
                <a:cs typeface="Arial MT"/>
              </a:rPr>
              <a:t>unreliable</a:t>
            </a:r>
            <a:r>
              <a:rPr lang="en-US" sz="2800" spc="35" dirty="0">
                <a:cs typeface="Arial MT"/>
              </a:rPr>
              <a:t> </a:t>
            </a:r>
            <a:r>
              <a:rPr lang="en-US" sz="2800" spc="5" dirty="0">
                <a:cs typeface="Arial MT"/>
              </a:rPr>
              <a:t>links</a:t>
            </a:r>
          </a:p>
          <a:p>
            <a:pPr marL="695325" indent="-342900">
              <a:lnSpc>
                <a:spcPct val="100000"/>
              </a:lnSpc>
              <a:spcBef>
                <a:spcPts val="500"/>
              </a:spcBef>
              <a:buFont typeface="Arial" panose="020B0604020202020204" pitchFamily="34" charset="0"/>
              <a:buChar char="•"/>
            </a:pPr>
            <a:r>
              <a:rPr lang="en-US" sz="2800" spc="5" dirty="0">
                <a:cs typeface="Arial MT"/>
              </a:rPr>
              <a:t>Error</a:t>
            </a:r>
            <a:r>
              <a:rPr lang="en-US" sz="2800" spc="-5" dirty="0">
                <a:cs typeface="Arial MT"/>
              </a:rPr>
              <a:t> </a:t>
            </a:r>
            <a:r>
              <a:rPr lang="en-US" sz="2800" dirty="0">
                <a:cs typeface="Arial MT"/>
              </a:rPr>
              <a:t>detecting (</a:t>
            </a:r>
            <a:r>
              <a:rPr lang="en-US" sz="2800" spc="5" dirty="0">
                <a:cs typeface="Arial MT"/>
              </a:rPr>
              <a:t>enough</a:t>
            </a:r>
            <a:r>
              <a:rPr lang="en-US" sz="2800" spc="20" dirty="0">
                <a:cs typeface="Arial MT"/>
              </a:rPr>
              <a:t> </a:t>
            </a:r>
            <a:r>
              <a:rPr lang="en-US" sz="2800" spc="10" dirty="0">
                <a:cs typeface="Arial MT"/>
              </a:rPr>
              <a:t>to</a:t>
            </a:r>
            <a:r>
              <a:rPr lang="en-US" sz="2800" spc="5" dirty="0">
                <a:cs typeface="Arial MT"/>
              </a:rPr>
              <a:t> </a:t>
            </a:r>
            <a:r>
              <a:rPr lang="en-US" sz="2800" dirty="0">
                <a:cs typeface="Arial MT"/>
              </a:rPr>
              <a:t>know</a:t>
            </a:r>
            <a:r>
              <a:rPr lang="en-US" sz="2800" spc="10" dirty="0">
                <a:cs typeface="Arial MT"/>
              </a:rPr>
              <a:t> </a:t>
            </a:r>
            <a:r>
              <a:rPr lang="en-US" sz="2800" spc="15" dirty="0">
                <a:cs typeface="Arial MT"/>
              </a:rPr>
              <a:t>something</a:t>
            </a:r>
            <a:r>
              <a:rPr lang="en-US" sz="2800" spc="-15" dirty="0">
                <a:cs typeface="Arial MT"/>
              </a:rPr>
              <a:t> </a:t>
            </a:r>
            <a:r>
              <a:rPr lang="en-US" sz="2800" dirty="0">
                <a:cs typeface="Arial MT"/>
              </a:rPr>
              <a:t>went</a:t>
            </a:r>
            <a:r>
              <a:rPr lang="en-US" sz="2800" spc="20" dirty="0">
                <a:cs typeface="Arial MT"/>
              </a:rPr>
              <a:t> </a:t>
            </a:r>
            <a:r>
              <a:rPr lang="en-US" sz="2800" spc="10" dirty="0">
                <a:cs typeface="Arial MT"/>
              </a:rPr>
              <a:t>wrong) is </a:t>
            </a:r>
            <a:r>
              <a:rPr lang="en-US" sz="2800" spc="-595" dirty="0">
                <a:cs typeface="Arial MT"/>
              </a:rPr>
              <a:t> </a:t>
            </a:r>
            <a:r>
              <a:rPr lang="en-US" sz="2800" spc="5" dirty="0">
                <a:cs typeface="Arial MT"/>
              </a:rPr>
              <a:t>used</a:t>
            </a:r>
            <a:r>
              <a:rPr lang="en-US" sz="2800" spc="15" dirty="0">
                <a:cs typeface="Arial MT"/>
              </a:rPr>
              <a:t> </a:t>
            </a:r>
            <a:r>
              <a:rPr lang="en-US" sz="2800" spc="10" dirty="0">
                <a:cs typeface="Arial MT"/>
              </a:rPr>
              <a:t>on</a:t>
            </a:r>
            <a:r>
              <a:rPr lang="en-US" sz="2800" spc="15" dirty="0">
                <a:cs typeface="Arial MT"/>
              </a:rPr>
              <a:t> </a:t>
            </a:r>
            <a:r>
              <a:rPr lang="en-US" sz="2800" dirty="0">
                <a:cs typeface="Arial MT"/>
              </a:rPr>
              <a:t>reliable</a:t>
            </a:r>
            <a:r>
              <a:rPr lang="en-US" sz="2800" spc="25" dirty="0">
                <a:cs typeface="Arial MT"/>
              </a:rPr>
              <a:t> </a:t>
            </a:r>
            <a:r>
              <a:rPr lang="en-US" sz="2800" spc="5" dirty="0">
                <a:cs typeface="Arial MT"/>
              </a:rPr>
              <a:t>links. Just retransmission.</a:t>
            </a:r>
            <a:endParaRPr lang="en-US" sz="2800" dirty="0"/>
          </a:p>
        </p:txBody>
      </p:sp>
    </p:spTree>
    <p:extLst>
      <p:ext uri="{BB962C8B-B14F-4D97-AF65-F5344CB8AC3E}">
        <p14:creationId xmlns:p14="http://schemas.microsoft.com/office/powerpoint/2010/main" val="423265640"/>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9394"/>
            <a:ext cx="6654800" cy="572080"/>
          </a:xfrm>
          <a:prstGeom prst="rect">
            <a:avLst/>
          </a:prstGeom>
        </p:spPr>
        <p:txBody>
          <a:bodyPr vert="horz" wrap="square" lIns="0" tIns="13335" rIns="0" bIns="0" rtlCol="0">
            <a:spAutoFit/>
          </a:bodyPr>
          <a:lstStyle/>
          <a:p>
            <a:pPr marL="12700">
              <a:lnSpc>
                <a:spcPct val="100000"/>
              </a:lnSpc>
              <a:spcBef>
                <a:spcPts val="105"/>
              </a:spcBef>
            </a:pPr>
            <a:r>
              <a:rPr lang="en-US" spc="-5" dirty="0"/>
              <a:t>3.2 </a:t>
            </a:r>
            <a:r>
              <a:rPr spc="-5" dirty="0"/>
              <a:t>Error</a:t>
            </a:r>
            <a:r>
              <a:rPr spc="-10" dirty="0"/>
              <a:t> </a:t>
            </a:r>
            <a:r>
              <a:rPr spc="-5" dirty="0"/>
              <a:t>Detection </a:t>
            </a:r>
            <a:r>
              <a:rPr dirty="0"/>
              <a:t>and</a:t>
            </a:r>
            <a:r>
              <a:rPr spc="-15" dirty="0"/>
              <a:t> </a:t>
            </a:r>
            <a:r>
              <a:rPr spc="-5" dirty="0"/>
              <a:t>Correction</a:t>
            </a:r>
          </a:p>
        </p:txBody>
      </p:sp>
      <p:sp>
        <p:nvSpPr>
          <p:cNvPr id="17" name="object 17"/>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18</a:t>
            </a:fld>
            <a:r>
              <a:rPr spc="10" dirty="0"/>
              <a:t>/69</a:t>
            </a:r>
          </a:p>
        </p:txBody>
      </p:sp>
      <p:sp>
        <p:nvSpPr>
          <p:cNvPr id="3" name="Rectangle 1">
            <a:extLst>
              <a:ext uri="{FF2B5EF4-FFF2-40B4-BE49-F238E27FC236}">
                <a16:creationId xmlns:a16="http://schemas.microsoft.com/office/drawing/2014/main" id="{0161B421-3E26-B235-2441-78E3DB163C3A}"/>
              </a:ext>
            </a:extLst>
          </p:cNvPr>
          <p:cNvSpPr>
            <a:spLocks noChangeArrowheads="1"/>
          </p:cNvSpPr>
          <p:nvPr/>
        </p:nvSpPr>
        <p:spPr bwMode="auto">
          <a:xfrm>
            <a:off x="704408" y="931474"/>
            <a:ext cx="86106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rPr>
              <a:t>Types of Errors: </a:t>
            </a:r>
            <a:r>
              <a:rPr kumimoji="0" lang="en-US" altLang="en-US" sz="2000" b="0" i="0" u="none" strike="noStrike" cap="none" normalizeH="0" baseline="0" dirty="0">
                <a:ln>
                  <a:noFill/>
                </a:ln>
                <a:solidFill>
                  <a:schemeClr val="tx1"/>
                </a:solidFill>
                <a:effectLst/>
              </a:rPr>
              <a:t>Errors can be of three types, namely single bit errors, multiple bit errors, and burst errors.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Single bit error</a:t>
            </a:r>
            <a:r>
              <a:rPr kumimoji="0" lang="en-US" altLang="en-US" sz="2000" b="0" i="0" u="none" strike="noStrike" cap="none" normalizeH="0" baseline="0" dirty="0">
                <a:ln>
                  <a:noFill/>
                </a:ln>
                <a:solidFill>
                  <a:schemeClr val="tx1"/>
                </a:solidFill>
                <a:effectLst/>
              </a:rPr>
              <a:t> − In the received frame, only one bit has been corrupted, i.e. either changed from 0 to 1 or from 1 to 0.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Multiple bits error</a:t>
            </a:r>
            <a:r>
              <a:rPr kumimoji="0" lang="en-US" altLang="en-US" sz="2000" b="0" i="0" u="none" strike="noStrike" cap="none" normalizeH="0" baseline="0" dirty="0">
                <a:ln>
                  <a:noFill/>
                </a:ln>
                <a:solidFill>
                  <a:schemeClr val="tx1"/>
                </a:solidFill>
                <a:effectLst/>
              </a:rPr>
              <a:t> − In the received frame, more than one bits are corrupted.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Burst error</a:t>
            </a:r>
            <a:r>
              <a:rPr kumimoji="0" lang="en-US" altLang="en-US" sz="2000" b="0" i="0" u="none" strike="noStrike" cap="none" normalizeH="0" baseline="0" dirty="0">
                <a:ln>
                  <a:noFill/>
                </a:ln>
                <a:solidFill>
                  <a:schemeClr val="tx1"/>
                </a:solidFill>
                <a:effectLst/>
              </a:rPr>
              <a:t> − In the received frame, more than one consecutive bits are corrupted.  (Common)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pic>
        <p:nvPicPr>
          <p:cNvPr id="1026" name="Picture 2">
            <a:extLst>
              <a:ext uri="{FF2B5EF4-FFF2-40B4-BE49-F238E27FC236}">
                <a16:creationId xmlns:a16="http://schemas.microsoft.com/office/drawing/2014/main" id="{96C11E4C-E2DA-818F-4420-C368E2F31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4257" y="2244402"/>
            <a:ext cx="4214847" cy="150465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8E0DEC20-9372-A411-2348-FB73378D8F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971" y="4146075"/>
            <a:ext cx="4214848" cy="15761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5539C05-02CB-156A-F635-318C72F70A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685" y="6172564"/>
            <a:ext cx="4063419" cy="1504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698281"/>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9394"/>
            <a:ext cx="6654800" cy="572080"/>
          </a:xfrm>
          <a:prstGeom prst="rect">
            <a:avLst/>
          </a:prstGeom>
        </p:spPr>
        <p:txBody>
          <a:bodyPr vert="horz" wrap="square" lIns="0" tIns="13335" rIns="0" bIns="0" rtlCol="0">
            <a:spAutoFit/>
          </a:bodyPr>
          <a:lstStyle/>
          <a:p>
            <a:pPr marL="12700">
              <a:lnSpc>
                <a:spcPct val="100000"/>
              </a:lnSpc>
              <a:spcBef>
                <a:spcPts val="105"/>
              </a:spcBef>
            </a:pPr>
            <a:r>
              <a:rPr lang="en-US" spc="-5" dirty="0"/>
              <a:t>3.2 </a:t>
            </a:r>
            <a:r>
              <a:rPr spc="-5" dirty="0"/>
              <a:t>Error</a:t>
            </a:r>
            <a:r>
              <a:rPr spc="-10" dirty="0"/>
              <a:t> </a:t>
            </a:r>
            <a:r>
              <a:rPr spc="-5" dirty="0"/>
              <a:t>Detection </a:t>
            </a:r>
            <a:r>
              <a:rPr dirty="0"/>
              <a:t>and</a:t>
            </a:r>
            <a:r>
              <a:rPr spc="-15" dirty="0"/>
              <a:t> </a:t>
            </a:r>
            <a:r>
              <a:rPr spc="-5" dirty="0"/>
              <a:t>Correction</a:t>
            </a:r>
          </a:p>
        </p:txBody>
      </p:sp>
      <p:sp>
        <p:nvSpPr>
          <p:cNvPr id="17" name="object 17"/>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19</a:t>
            </a:fld>
            <a:r>
              <a:rPr spc="10" dirty="0"/>
              <a:t>/69</a:t>
            </a:r>
          </a:p>
        </p:txBody>
      </p:sp>
      <p:sp>
        <p:nvSpPr>
          <p:cNvPr id="4" name="TextBox 3">
            <a:extLst>
              <a:ext uri="{FF2B5EF4-FFF2-40B4-BE49-F238E27FC236}">
                <a16:creationId xmlns:a16="http://schemas.microsoft.com/office/drawing/2014/main" id="{A14E917F-CDA5-A1EA-10F7-51596A88BA3F}"/>
              </a:ext>
            </a:extLst>
          </p:cNvPr>
          <p:cNvSpPr txBox="1"/>
          <p:nvPr/>
        </p:nvSpPr>
        <p:spPr>
          <a:xfrm>
            <a:off x="1066799" y="1219200"/>
            <a:ext cx="8300085" cy="1938992"/>
          </a:xfrm>
          <a:prstGeom prst="rect">
            <a:avLst/>
          </a:prstGeom>
          <a:noFill/>
        </p:spPr>
        <p:txBody>
          <a:bodyPr wrap="square">
            <a:spAutoFit/>
          </a:bodyPr>
          <a:lstStyle/>
          <a:p>
            <a:pPr algn="l"/>
            <a:r>
              <a:rPr lang="en-US" sz="2400" b="0" i="0" u="none" strike="noStrike" baseline="0" dirty="0">
                <a:latin typeface="Times-Roman"/>
              </a:rPr>
              <a:t>We will examine three different error-detecting  codes. They are all linear, systematic block codes:</a:t>
            </a:r>
          </a:p>
          <a:p>
            <a:pPr lvl="1"/>
            <a:r>
              <a:rPr lang="en-US" sz="2400" b="0" i="0" u="none" strike="noStrike" baseline="0" dirty="0">
                <a:latin typeface="Times-Roman"/>
              </a:rPr>
              <a:t>1. Parity.</a:t>
            </a:r>
          </a:p>
          <a:p>
            <a:pPr lvl="1"/>
            <a:r>
              <a:rPr lang="en-US" sz="2400" b="0" i="0" u="none" strike="noStrike" baseline="0" dirty="0">
                <a:latin typeface="Times-Roman"/>
              </a:rPr>
              <a:t>2. Checksums.</a:t>
            </a:r>
          </a:p>
          <a:p>
            <a:pPr lvl="1"/>
            <a:r>
              <a:rPr lang="en-US" sz="2400" b="0" i="0" u="none" strike="noStrike" baseline="0" dirty="0">
                <a:latin typeface="Times-Roman"/>
              </a:rPr>
              <a:t>3. Cyclic Redundancy Checks (CRCs).</a:t>
            </a:r>
            <a:endParaRPr lang="en-US" sz="2400" dirty="0"/>
          </a:p>
        </p:txBody>
      </p:sp>
      <p:sp>
        <p:nvSpPr>
          <p:cNvPr id="5" name="TextBox 4">
            <a:extLst>
              <a:ext uri="{FF2B5EF4-FFF2-40B4-BE49-F238E27FC236}">
                <a16:creationId xmlns:a16="http://schemas.microsoft.com/office/drawing/2014/main" id="{DA134293-E7F4-36DE-4644-6DC24C55C5DE}"/>
              </a:ext>
            </a:extLst>
          </p:cNvPr>
          <p:cNvSpPr txBox="1"/>
          <p:nvPr/>
        </p:nvSpPr>
        <p:spPr>
          <a:xfrm>
            <a:off x="1066799" y="3268986"/>
            <a:ext cx="8382001" cy="3785652"/>
          </a:xfrm>
          <a:prstGeom prst="rect">
            <a:avLst/>
          </a:prstGeom>
          <a:noFill/>
        </p:spPr>
        <p:txBody>
          <a:bodyPr wrap="square">
            <a:spAutoFit/>
          </a:bodyPr>
          <a:lstStyle/>
          <a:p>
            <a:pPr algn="just"/>
            <a:r>
              <a:rPr lang="en-US" sz="2400" b="1" dirty="0"/>
              <a:t>Parity Check</a:t>
            </a:r>
          </a:p>
          <a:p>
            <a:pPr algn="just"/>
            <a:r>
              <a:rPr lang="en-US" sz="2400" dirty="0"/>
              <a:t>The parity check is done by adding an extra bit, called parity bit to the data to make a number of 1s either even in case of even parity or odd in case of odd parity.</a:t>
            </a:r>
          </a:p>
          <a:p>
            <a:pPr algn="just">
              <a:buFont typeface="Arial" panose="020B0604020202020204" pitchFamily="34" charset="0"/>
              <a:buChar char="•"/>
            </a:pPr>
            <a:r>
              <a:rPr lang="en-US" sz="2400" b="1" dirty="0"/>
              <a:t>In case of even parity: </a:t>
            </a:r>
            <a:r>
              <a:rPr lang="en-US" sz="2400" dirty="0"/>
              <a:t>If the number of 1s is even then parity bit value is 0. If the number of 1s is odd then parity bit value is 1.</a:t>
            </a:r>
          </a:p>
          <a:p>
            <a:pPr algn="just">
              <a:buFont typeface="Arial" panose="020B0604020202020204" pitchFamily="34" charset="0"/>
              <a:buChar char="•"/>
            </a:pPr>
            <a:r>
              <a:rPr lang="en-US" sz="2400" b="1" dirty="0"/>
              <a:t>In case of odd parity: </a:t>
            </a:r>
            <a:r>
              <a:rPr lang="en-US" sz="2400" dirty="0"/>
              <a:t>If the number of 1s is odd then parity bit value is 0. If the number of 1s is even then parity bit value is 1.</a:t>
            </a:r>
          </a:p>
          <a:p>
            <a:pPr algn="just"/>
            <a:endParaRPr lang="en-US" sz="2400" dirty="0"/>
          </a:p>
          <a:p>
            <a:pPr algn="just"/>
            <a:r>
              <a:rPr lang="en-US" sz="2400" dirty="0"/>
              <a:t>The parity check is suitable for </a:t>
            </a:r>
            <a:r>
              <a:rPr lang="en-US" sz="2400" b="1" dirty="0"/>
              <a:t>single bit error detection </a:t>
            </a:r>
            <a:r>
              <a:rPr lang="en-US" sz="2400" dirty="0"/>
              <a:t>only.</a:t>
            </a:r>
          </a:p>
        </p:txBody>
      </p:sp>
    </p:spTree>
    <p:extLst>
      <p:ext uri="{BB962C8B-B14F-4D97-AF65-F5344CB8AC3E}">
        <p14:creationId xmlns:p14="http://schemas.microsoft.com/office/powerpoint/2010/main" val="588677028"/>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3D7674C-7DA6-CCA0-BF98-4885716A8C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517" y="2133600"/>
            <a:ext cx="8470365" cy="4201623"/>
          </a:xfrm>
        </p:spPr>
      </p:pic>
      <p:sp>
        <p:nvSpPr>
          <p:cNvPr id="6" name="object 2">
            <a:extLst>
              <a:ext uri="{FF2B5EF4-FFF2-40B4-BE49-F238E27FC236}">
                <a16:creationId xmlns:a16="http://schemas.microsoft.com/office/drawing/2014/main" id="{5EDFA21B-B511-8ADE-33C8-52216F75AF90}"/>
              </a:ext>
            </a:extLst>
          </p:cNvPr>
          <p:cNvSpPr txBox="1">
            <a:spLocks noGrp="1"/>
          </p:cNvSpPr>
          <p:nvPr>
            <p:ph type="title"/>
          </p:nvPr>
        </p:nvSpPr>
        <p:spPr>
          <a:xfrm>
            <a:off x="1796288" y="359394"/>
            <a:ext cx="6654800" cy="572080"/>
          </a:xfrm>
          <a:prstGeom prst="rect">
            <a:avLst/>
          </a:prstGeom>
        </p:spPr>
        <p:txBody>
          <a:bodyPr vert="horz" wrap="square" lIns="0" tIns="13335" rIns="0" bIns="0" rtlCol="0">
            <a:spAutoFit/>
          </a:bodyPr>
          <a:lstStyle/>
          <a:p>
            <a:pPr marL="12700">
              <a:lnSpc>
                <a:spcPct val="100000"/>
              </a:lnSpc>
              <a:spcBef>
                <a:spcPts val="105"/>
              </a:spcBef>
            </a:pPr>
            <a:r>
              <a:rPr lang="en-US" spc="-5" dirty="0"/>
              <a:t>3.2 </a:t>
            </a:r>
            <a:r>
              <a:rPr spc="-5" dirty="0"/>
              <a:t>Error</a:t>
            </a:r>
            <a:r>
              <a:rPr spc="-10" dirty="0"/>
              <a:t> </a:t>
            </a:r>
            <a:r>
              <a:rPr spc="-5" dirty="0"/>
              <a:t>Detection </a:t>
            </a:r>
            <a:r>
              <a:rPr dirty="0"/>
              <a:t>and</a:t>
            </a:r>
            <a:r>
              <a:rPr spc="-15" dirty="0"/>
              <a:t> </a:t>
            </a:r>
            <a:r>
              <a:rPr spc="-5" dirty="0"/>
              <a:t>Correction</a:t>
            </a:r>
          </a:p>
        </p:txBody>
      </p:sp>
      <p:sp>
        <p:nvSpPr>
          <p:cNvPr id="8" name="TextBox 7">
            <a:extLst>
              <a:ext uri="{FF2B5EF4-FFF2-40B4-BE49-F238E27FC236}">
                <a16:creationId xmlns:a16="http://schemas.microsoft.com/office/drawing/2014/main" id="{814D74A6-4A4A-01E8-8580-119B8C9B02C3}"/>
              </a:ext>
            </a:extLst>
          </p:cNvPr>
          <p:cNvSpPr txBox="1"/>
          <p:nvPr/>
        </p:nvSpPr>
        <p:spPr>
          <a:xfrm>
            <a:off x="4114800" y="1096821"/>
            <a:ext cx="2209800" cy="523220"/>
          </a:xfrm>
          <a:prstGeom prst="rect">
            <a:avLst/>
          </a:prstGeom>
          <a:noFill/>
        </p:spPr>
        <p:txBody>
          <a:bodyPr wrap="square">
            <a:spAutoFit/>
          </a:bodyPr>
          <a:lstStyle/>
          <a:p>
            <a:r>
              <a:rPr lang="en-US" sz="2800" dirty="0"/>
              <a:t>Even parity</a:t>
            </a:r>
          </a:p>
        </p:txBody>
      </p:sp>
    </p:spTree>
    <p:extLst>
      <p:ext uri="{BB962C8B-B14F-4D97-AF65-F5344CB8AC3E}">
        <p14:creationId xmlns:p14="http://schemas.microsoft.com/office/powerpoint/2010/main" val="2957121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9F151D8-6182-EDEE-41EF-CEFC628E0F4A}"/>
              </a:ext>
            </a:extLst>
          </p:cNvPr>
          <p:cNvSpPr>
            <a:spLocks noChangeArrowheads="1"/>
          </p:cNvSpPr>
          <p:nvPr/>
        </p:nvSpPr>
        <p:spPr bwMode="auto">
          <a:xfrm>
            <a:off x="609600" y="1227440"/>
            <a:ext cx="39624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The data is </a:t>
            </a:r>
            <a:r>
              <a:rPr kumimoji="0" lang="en-US" altLang="en-US" sz="2000" b="1" i="0" u="none" strike="noStrike" cap="none" normalizeH="0" baseline="0" dirty="0">
                <a:ln>
                  <a:noFill/>
                </a:ln>
                <a:solidFill>
                  <a:schemeClr val="tx1"/>
                </a:solidFill>
                <a:effectLst/>
              </a:rPr>
              <a:t>divided into k segments </a:t>
            </a:r>
            <a:r>
              <a:rPr kumimoji="0" lang="en-US" altLang="en-US" sz="2000" b="0" i="0" u="none" strike="noStrike" cap="none" normalizeH="0" baseline="0" dirty="0">
                <a:ln>
                  <a:noFill/>
                </a:ln>
                <a:solidFill>
                  <a:schemeClr val="tx1"/>
                </a:solidFill>
                <a:effectLst/>
              </a:rPr>
              <a:t>each of m bits.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highlight>
                  <a:srgbClr val="00FFFF"/>
                </a:highlight>
              </a:rPr>
              <a:t>In the sender’s end </a:t>
            </a:r>
            <a:r>
              <a:rPr kumimoji="0" lang="en-US" altLang="en-US" sz="2000" b="0" i="0" u="none" strike="noStrike" cap="none" normalizeH="0" baseline="0" dirty="0">
                <a:ln>
                  <a:noFill/>
                </a:ln>
                <a:solidFill>
                  <a:schemeClr val="tx1"/>
                </a:solidFill>
                <a:effectLst/>
              </a:rPr>
              <a:t>the segments are added using 1’s complement arithmetic to get the sum. </a:t>
            </a:r>
            <a:r>
              <a:rPr kumimoji="0" lang="en-US" altLang="en-US" sz="2000" b="0" i="0" u="none" strike="noStrike" cap="none" normalizeH="0" baseline="0" dirty="0">
                <a:ln>
                  <a:noFill/>
                </a:ln>
                <a:solidFill>
                  <a:schemeClr val="tx1"/>
                </a:solidFill>
                <a:effectLst/>
                <a:highlight>
                  <a:srgbClr val="C0C0C0"/>
                </a:highlight>
              </a:rPr>
              <a:t>The sum is complemented to get the checksum.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The checksum segment is sent along with the data segments.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rPr>
              <a:t>At the receiver’s end</a:t>
            </a:r>
            <a:r>
              <a:rPr kumimoji="0" lang="en-US" altLang="en-US" sz="2000" b="0" i="0" u="none" strike="noStrike" cap="none" normalizeH="0" baseline="0" dirty="0">
                <a:ln>
                  <a:noFill/>
                </a:ln>
                <a:solidFill>
                  <a:schemeClr val="tx1"/>
                </a:solidFill>
                <a:effectLst/>
              </a:rPr>
              <a:t>, all received segments are added using 1’s complement arithmetic to get the sum. The sum is complemented.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If the result is zero, the received data is accepted; otherwise discarded.</a:t>
            </a:r>
          </a:p>
        </p:txBody>
      </p:sp>
      <p:pic>
        <p:nvPicPr>
          <p:cNvPr id="2050" name="Picture 2" descr="2 (1)">
            <a:hlinkClick r:id="rId2"/>
            <a:extLst>
              <a:ext uri="{FF2B5EF4-FFF2-40B4-BE49-F238E27FC236}">
                <a16:creationId xmlns:a16="http://schemas.microsoft.com/office/drawing/2014/main" id="{25563FC9-AFC0-FC9E-9BE1-20CD13C037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1" y="1347281"/>
            <a:ext cx="5044068" cy="468713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010225A-DABC-C0EE-139E-D04DFF206FA2}"/>
              </a:ext>
            </a:extLst>
          </p:cNvPr>
          <p:cNvSpPr txBox="1"/>
          <p:nvPr/>
        </p:nvSpPr>
        <p:spPr>
          <a:xfrm>
            <a:off x="4114800" y="457200"/>
            <a:ext cx="213360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rPr>
              <a:t> Checksum</a:t>
            </a:r>
            <a:endParaRPr kumimoji="0" lang="en-US" altLang="en-US"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18881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descr="3">
            <a:hlinkClick r:id="rId2"/>
            <a:extLst>
              <a:ext uri="{FF2B5EF4-FFF2-40B4-BE49-F238E27FC236}">
                <a16:creationId xmlns:a16="http://schemas.microsoft.com/office/drawing/2014/main" id="{99B75FB4-4F01-134B-1919-383E0EA6B6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44" r="52510"/>
          <a:stretch/>
        </p:blipFill>
        <p:spPr bwMode="auto">
          <a:xfrm>
            <a:off x="5200650" y="1752599"/>
            <a:ext cx="2266950" cy="33432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C80B0F8-7846-6C78-912C-40151E4F261E}"/>
              </a:ext>
            </a:extLst>
          </p:cNvPr>
          <p:cNvSpPr>
            <a:spLocks noGrp="1"/>
          </p:cNvSpPr>
          <p:nvPr>
            <p:ph type="title"/>
          </p:nvPr>
        </p:nvSpPr>
        <p:spPr/>
        <p:txBody>
          <a:bodyPr/>
          <a:lstStyle/>
          <a:p>
            <a:r>
              <a:rPr kumimoji="0" lang="en-US" altLang="en-US" sz="4000" b="1" i="0" u="none" strike="noStrike" cap="none" normalizeH="0" baseline="0" dirty="0">
                <a:ln>
                  <a:noFill/>
                </a:ln>
                <a:solidFill>
                  <a:schemeClr val="tx1"/>
                </a:solidFill>
                <a:effectLst/>
                <a:latin typeface="+mn-lt"/>
              </a:rPr>
              <a:t>Cyclic redundancy check (CRC)</a:t>
            </a:r>
            <a:br>
              <a:rPr kumimoji="0" lang="en-US" altLang="en-US" sz="4000" b="0" i="0" u="none" strike="noStrike" cap="none" normalizeH="0" baseline="0" dirty="0">
                <a:ln>
                  <a:noFill/>
                </a:ln>
                <a:solidFill>
                  <a:schemeClr val="tx1"/>
                </a:solidFill>
                <a:effectLst/>
                <a:latin typeface="+mn-lt"/>
              </a:rPr>
            </a:br>
            <a:endParaRPr lang="en-US" dirty="0">
              <a:latin typeface="+mn-lt"/>
            </a:endParaRPr>
          </a:p>
        </p:txBody>
      </p:sp>
      <p:sp>
        <p:nvSpPr>
          <p:cNvPr id="4" name="Rectangle 1">
            <a:extLst>
              <a:ext uri="{FF2B5EF4-FFF2-40B4-BE49-F238E27FC236}">
                <a16:creationId xmlns:a16="http://schemas.microsoft.com/office/drawing/2014/main" id="{83F84C34-61D2-B731-B7E9-19D7FC20D9BC}"/>
              </a:ext>
            </a:extLst>
          </p:cNvPr>
          <p:cNvSpPr>
            <a:spLocks noChangeArrowheads="1"/>
          </p:cNvSpPr>
          <p:nvPr/>
        </p:nvSpPr>
        <p:spPr bwMode="auto">
          <a:xfrm>
            <a:off x="361950" y="1352491"/>
            <a:ext cx="493395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Unlike checksum scheme, which is based on addition, </a:t>
            </a:r>
            <a:r>
              <a:rPr kumimoji="0" lang="en-US" altLang="en-US" sz="2000" b="1" i="0" u="none" strike="noStrike" cap="none" normalizeH="0" baseline="0" dirty="0">
                <a:ln>
                  <a:noFill/>
                </a:ln>
                <a:solidFill>
                  <a:schemeClr val="tx1"/>
                </a:solidFill>
                <a:effectLst/>
              </a:rPr>
              <a:t>CRC is based on binary division</a:t>
            </a:r>
            <a:r>
              <a:rPr kumimoji="0" lang="en-US" altLang="en-US" sz="20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In CRC, </a:t>
            </a:r>
            <a:r>
              <a:rPr kumimoji="0" lang="en-US" altLang="en-US" sz="2000" b="1" i="0" u="none" strike="noStrike" cap="none" normalizeH="0" baseline="0" dirty="0">
                <a:ln>
                  <a:noFill/>
                </a:ln>
                <a:solidFill>
                  <a:schemeClr val="tx1"/>
                </a:solidFill>
                <a:effectLst/>
              </a:rPr>
              <a:t>a sequence of redundant bits</a:t>
            </a:r>
            <a:r>
              <a:rPr kumimoji="0" lang="en-US" altLang="en-US" sz="2000" b="0" i="0" u="none" strike="noStrike" cap="none" normalizeH="0" baseline="0" dirty="0">
                <a:ln>
                  <a:noFill/>
                </a:ln>
                <a:solidFill>
                  <a:schemeClr val="tx1"/>
                </a:solidFill>
                <a:effectLst/>
              </a:rPr>
              <a:t>, called cyclic redundancy check bits, are </a:t>
            </a:r>
            <a:r>
              <a:rPr kumimoji="0" lang="en-US" altLang="en-US" sz="2000" b="1" i="0" u="none" strike="noStrike" cap="none" normalizeH="0" baseline="0" dirty="0">
                <a:ln>
                  <a:noFill/>
                </a:ln>
                <a:solidFill>
                  <a:schemeClr val="tx1"/>
                </a:solidFill>
                <a:effectLst/>
              </a:rPr>
              <a:t>appended</a:t>
            </a:r>
            <a:r>
              <a:rPr kumimoji="0" lang="en-US" altLang="en-US" sz="2000" b="0" i="0" u="none" strike="noStrike" cap="none" normalizeH="0" baseline="0" dirty="0">
                <a:ln>
                  <a:noFill/>
                </a:ln>
                <a:solidFill>
                  <a:schemeClr val="tx1"/>
                </a:solidFill>
                <a:effectLst/>
              </a:rPr>
              <a:t> to the end of data unit so that the </a:t>
            </a:r>
            <a:r>
              <a:rPr kumimoji="0" lang="en-US" altLang="en-US" sz="2000" b="0" i="0" u="none" strike="noStrike" cap="none" normalizeH="0" baseline="0" dirty="0">
                <a:ln>
                  <a:noFill/>
                </a:ln>
                <a:solidFill>
                  <a:schemeClr val="tx1"/>
                </a:solidFill>
                <a:effectLst/>
                <a:highlight>
                  <a:srgbClr val="00FFFF"/>
                </a:highlight>
              </a:rPr>
              <a:t>resulting data unit becomes exactly divisible by a second, predetermined binary number</a:t>
            </a:r>
            <a:r>
              <a:rPr kumimoji="0" lang="en-US" altLang="en-US" sz="20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At the destination, </a:t>
            </a:r>
            <a:r>
              <a:rPr kumimoji="0" lang="en-US" altLang="en-US" sz="2000" b="0" i="0" u="none" strike="noStrike" cap="none" normalizeH="0" baseline="0" dirty="0">
                <a:ln>
                  <a:noFill/>
                </a:ln>
                <a:solidFill>
                  <a:schemeClr val="tx1"/>
                </a:solidFill>
                <a:effectLst/>
                <a:highlight>
                  <a:srgbClr val="00FFFF"/>
                </a:highlight>
              </a:rPr>
              <a:t>the incoming data unit is divided by the same number</a:t>
            </a:r>
            <a:r>
              <a:rPr kumimoji="0" lang="en-US" altLang="en-US" sz="2000" b="0" i="0" u="none" strike="noStrike" cap="none" normalizeH="0" baseline="0" dirty="0">
                <a:ln>
                  <a:noFill/>
                </a:ln>
                <a:solidFill>
                  <a:schemeClr val="tx1"/>
                </a:solidFill>
                <a:effectLst/>
              </a:rPr>
              <a:t>. If at this step there is no remainder, the data unit is assumed to be correct and is therefore accepted.</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A remainder indicates that the data unit has been damaged in transit and therefore must be rejected. </a:t>
            </a:r>
          </a:p>
        </p:txBody>
      </p:sp>
      <p:pic>
        <p:nvPicPr>
          <p:cNvPr id="6" name="Picture 5" descr="3">
            <a:hlinkClick r:id="rId2"/>
            <a:extLst>
              <a:ext uri="{FF2B5EF4-FFF2-40B4-BE49-F238E27FC236}">
                <a16:creationId xmlns:a16="http://schemas.microsoft.com/office/drawing/2014/main" id="{0C6D5A36-7946-474B-4354-97D9954826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946" r="6177"/>
          <a:stretch/>
        </p:blipFill>
        <p:spPr bwMode="auto">
          <a:xfrm>
            <a:off x="7467600" y="1752599"/>
            <a:ext cx="2362200" cy="3343275"/>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A35CCB56-E142-28CC-321F-3D70FF9A77D3}"/>
              </a:ext>
            </a:extLst>
          </p:cNvPr>
          <p:cNvSpPr/>
          <p:nvPr/>
        </p:nvSpPr>
        <p:spPr>
          <a:xfrm>
            <a:off x="6300788" y="2209800"/>
            <a:ext cx="709612" cy="600493"/>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45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4">
            <a:hlinkClick r:id="rId2"/>
            <a:extLst>
              <a:ext uri="{FF2B5EF4-FFF2-40B4-BE49-F238E27FC236}">
                <a16:creationId xmlns:a16="http://schemas.microsoft.com/office/drawing/2014/main" id="{19176A1D-23EC-3DA2-D27F-7222DD17490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457200"/>
            <a:ext cx="9296400" cy="647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874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1151" y="751427"/>
            <a:ext cx="3616097" cy="444352"/>
          </a:xfrm>
          <a:prstGeom prst="rect">
            <a:avLst/>
          </a:prstGeom>
        </p:spPr>
        <p:txBody>
          <a:bodyPr vert="horz" wrap="square" lIns="0" tIns="13335" rIns="0" bIns="0" rtlCol="0">
            <a:spAutoFit/>
          </a:bodyPr>
          <a:lstStyle/>
          <a:p>
            <a:pPr marL="12700">
              <a:lnSpc>
                <a:spcPct val="100000"/>
              </a:lnSpc>
              <a:spcBef>
                <a:spcPts val="105"/>
              </a:spcBef>
            </a:pPr>
            <a:r>
              <a:rPr sz="2800" spc="-5" dirty="0"/>
              <a:t>Hamming</a:t>
            </a:r>
            <a:r>
              <a:rPr sz="2800" spc="-15" dirty="0"/>
              <a:t> </a:t>
            </a:r>
            <a:r>
              <a:rPr sz="2800" spc="-10" dirty="0"/>
              <a:t>Codes,</a:t>
            </a:r>
            <a:r>
              <a:rPr sz="2800" spc="-20" dirty="0"/>
              <a:t> </a:t>
            </a:r>
            <a:r>
              <a:rPr sz="2800" dirty="0"/>
              <a:t>1950</a:t>
            </a:r>
            <a:endParaRPr sz="2800" spc="-5" dirty="0"/>
          </a:p>
        </p:txBody>
      </p:sp>
      <p:sp>
        <p:nvSpPr>
          <p:cNvPr id="11" name="object 11"/>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24</a:t>
            </a:fld>
            <a:r>
              <a:rPr spc="10" dirty="0"/>
              <a:t>/69</a:t>
            </a:r>
          </a:p>
        </p:txBody>
      </p:sp>
      <p:sp>
        <p:nvSpPr>
          <p:cNvPr id="10" name="object 10"/>
          <p:cNvSpPr txBox="1"/>
          <p:nvPr/>
        </p:nvSpPr>
        <p:spPr>
          <a:xfrm>
            <a:off x="990600" y="1347068"/>
            <a:ext cx="8792945" cy="5828006"/>
          </a:xfrm>
          <a:prstGeom prst="rect">
            <a:avLst/>
          </a:prstGeom>
        </p:spPr>
        <p:txBody>
          <a:bodyPr vert="horz" wrap="square" lIns="0" tIns="48895" rIns="0" bIns="0" rtlCol="0">
            <a:spAutoFit/>
          </a:bodyPr>
          <a:lstStyle/>
          <a:p>
            <a:pPr marL="469900" marR="504190" indent="-457200">
              <a:lnSpc>
                <a:spcPts val="2990"/>
              </a:lnSpc>
              <a:spcBef>
                <a:spcPts val="385"/>
              </a:spcBef>
              <a:buFont typeface="Wingdings" panose="05000000000000000000" pitchFamily="2" charset="2"/>
              <a:buChar char="§"/>
            </a:pPr>
            <a:r>
              <a:rPr sz="2650" b="1" dirty="0">
                <a:solidFill>
                  <a:srgbClr val="9B0707"/>
                </a:solidFill>
                <a:cs typeface="Arial MT"/>
              </a:rPr>
              <a:t>Codeword</a:t>
            </a:r>
            <a:r>
              <a:rPr lang="en-US" sz="2650" dirty="0">
                <a:solidFill>
                  <a:srgbClr val="9B0707"/>
                </a:solidFill>
                <a:cs typeface="Arial MT"/>
              </a:rPr>
              <a:t>, </a:t>
            </a:r>
            <a:r>
              <a:rPr sz="2450" i="1" spc="10" dirty="0">
                <a:solidFill>
                  <a:srgbClr val="006699"/>
                </a:solidFill>
                <a:cs typeface="Times New Roman"/>
              </a:rPr>
              <a:t>n</a:t>
            </a:r>
            <a:r>
              <a:rPr sz="2450" i="1" spc="15" dirty="0">
                <a:solidFill>
                  <a:srgbClr val="006699"/>
                </a:solidFill>
                <a:cs typeface="Times New Roman"/>
              </a:rPr>
              <a:t> </a:t>
            </a:r>
            <a:r>
              <a:rPr sz="2200" dirty="0">
                <a:solidFill>
                  <a:srgbClr val="006699"/>
                </a:solidFill>
                <a:cs typeface="Arial MT"/>
              </a:rPr>
              <a:t>bits</a:t>
            </a:r>
            <a:r>
              <a:rPr sz="2200" spc="30" dirty="0">
                <a:solidFill>
                  <a:srgbClr val="006699"/>
                </a:solidFill>
                <a:cs typeface="Arial MT"/>
              </a:rPr>
              <a:t> </a:t>
            </a:r>
            <a:r>
              <a:rPr sz="2200" spc="15" dirty="0">
                <a:solidFill>
                  <a:srgbClr val="006699"/>
                </a:solidFill>
                <a:cs typeface="Arial MT"/>
              </a:rPr>
              <a:t>= </a:t>
            </a:r>
            <a:r>
              <a:rPr sz="2450" i="1" spc="20" dirty="0">
                <a:solidFill>
                  <a:srgbClr val="006699"/>
                </a:solidFill>
                <a:cs typeface="Times New Roman"/>
              </a:rPr>
              <a:t>m </a:t>
            </a:r>
            <a:r>
              <a:rPr sz="2200" spc="15" dirty="0">
                <a:solidFill>
                  <a:srgbClr val="006699"/>
                </a:solidFill>
                <a:cs typeface="Arial MT"/>
              </a:rPr>
              <a:t>message</a:t>
            </a:r>
            <a:r>
              <a:rPr sz="2200" spc="5" dirty="0">
                <a:solidFill>
                  <a:srgbClr val="006699"/>
                </a:solidFill>
                <a:cs typeface="Arial MT"/>
              </a:rPr>
              <a:t> </a:t>
            </a:r>
            <a:r>
              <a:rPr sz="2200" spc="10" dirty="0">
                <a:solidFill>
                  <a:srgbClr val="006699"/>
                </a:solidFill>
                <a:cs typeface="Arial MT"/>
              </a:rPr>
              <a:t>(data)</a:t>
            </a:r>
            <a:r>
              <a:rPr sz="2200" dirty="0">
                <a:solidFill>
                  <a:srgbClr val="006699"/>
                </a:solidFill>
                <a:cs typeface="Arial MT"/>
              </a:rPr>
              <a:t> bits</a:t>
            </a:r>
            <a:r>
              <a:rPr lang="en-US" sz="2200" dirty="0">
                <a:solidFill>
                  <a:srgbClr val="006699"/>
                </a:solidFill>
                <a:cs typeface="Arial MT"/>
              </a:rPr>
              <a:t> + </a:t>
            </a:r>
            <a:r>
              <a:rPr sz="2450" i="1" spc="10" dirty="0">
                <a:solidFill>
                  <a:srgbClr val="006699"/>
                </a:solidFill>
                <a:cs typeface="Times New Roman"/>
              </a:rPr>
              <a:t>r</a:t>
            </a:r>
            <a:r>
              <a:rPr sz="2450" i="1" spc="45" dirty="0">
                <a:solidFill>
                  <a:srgbClr val="006699"/>
                </a:solidFill>
                <a:cs typeface="Times New Roman"/>
              </a:rPr>
              <a:t> </a:t>
            </a:r>
            <a:r>
              <a:rPr sz="2200" spc="15" dirty="0">
                <a:solidFill>
                  <a:srgbClr val="006699"/>
                </a:solidFill>
                <a:cs typeface="Arial MT"/>
              </a:rPr>
              <a:t>redundant</a:t>
            </a:r>
            <a:r>
              <a:rPr sz="2200" spc="-25" dirty="0">
                <a:solidFill>
                  <a:srgbClr val="006699"/>
                </a:solidFill>
                <a:cs typeface="Arial MT"/>
              </a:rPr>
              <a:t> </a:t>
            </a:r>
            <a:r>
              <a:rPr sz="2200" spc="5" dirty="0">
                <a:solidFill>
                  <a:srgbClr val="006699"/>
                </a:solidFill>
                <a:cs typeface="Arial MT"/>
              </a:rPr>
              <a:t>(check)</a:t>
            </a:r>
            <a:r>
              <a:rPr sz="2200" spc="-10" dirty="0">
                <a:solidFill>
                  <a:srgbClr val="006699"/>
                </a:solidFill>
                <a:cs typeface="Arial MT"/>
              </a:rPr>
              <a:t> </a:t>
            </a:r>
            <a:r>
              <a:rPr sz="2200" dirty="0">
                <a:solidFill>
                  <a:srgbClr val="006699"/>
                </a:solidFill>
                <a:cs typeface="Arial MT"/>
              </a:rPr>
              <a:t>bits</a:t>
            </a:r>
            <a:endParaRPr sz="2200" dirty="0">
              <a:cs typeface="Arial MT"/>
            </a:endParaRPr>
          </a:p>
          <a:p>
            <a:pPr marL="469900" indent="-457200">
              <a:spcBef>
                <a:spcPts val="160"/>
              </a:spcBef>
              <a:buFont typeface="Wingdings" panose="05000000000000000000" pitchFamily="2" charset="2"/>
              <a:buChar char="§"/>
            </a:pPr>
            <a:r>
              <a:rPr lang="en-US" sz="2650" spc="15" dirty="0">
                <a:solidFill>
                  <a:srgbClr val="9B0707"/>
                </a:solidFill>
                <a:cs typeface="Arial MT"/>
              </a:rPr>
              <a:t>A</a:t>
            </a:r>
            <a:r>
              <a:rPr lang="en-US" sz="2650" spc="-5" dirty="0">
                <a:solidFill>
                  <a:srgbClr val="9B0707"/>
                </a:solidFill>
                <a:cs typeface="Arial MT"/>
              </a:rPr>
              <a:t> </a:t>
            </a:r>
            <a:r>
              <a:rPr lang="en-US" sz="2650" b="1" i="1" spc="15" dirty="0">
                <a:solidFill>
                  <a:srgbClr val="9B0707"/>
                </a:solidFill>
                <a:cs typeface="Arial"/>
              </a:rPr>
              <a:t>code</a:t>
            </a:r>
            <a:r>
              <a:rPr lang="en-US" sz="2650" i="1" spc="30" dirty="0">
                <a:solidFill>
                  <a:srgbClr val="9B0707"/>
                </a:solidFill>
                <a:cs typeface="Arial"/>
              </a:rPr>
              <a:t> </a:t>
            </a:r>
            <a:r>
              <a:rPr lang="en-US" sz="2650" spc="10" dirty="0">
                <a:solidFill>
                  <a:srgbClr val="9B0707"/>
                </a:solidFill>
                <a:cs typeface="Arial MT"/>
              </a:rPr>
              <a:t>is</a:t>
            </a:r>
            <a:r>
              <a:rPr lang="en-US" sz="2650" spc="-15" dirty="0">
                <a:solidFill>
                  <a:srgbClr val="9B0707"/>
                </a:solidFill>
                <a:cs typeface="Arial MT"/>
              </a:rPr>
              <a:t> </a:t>
            </a:r>
            <a:r>
              <a:rPr lang="en-US" sz="2650" spc="15" dirty="0">
                <a:solidFill>
                  <a:srgbClr val="9B0707"/>
                </a:solidFill>
                <a:cs typeface="Arial MT"/>
              </a:rPr>
              <a:t>a</a:t>
            </a:r>
            <a:r>
              <a:rPr lang="en-US" sz="2650" spc="-5" dirty="0">
                <a:solidFill>
                  <a:srgbClr val="9B0707"/>
                </a:solidFill>
                <a:cs typeface="Arial MT"/>
              </a:rPr>
              <a:t> </a:t>
            </a:r>
            <a:r>
              <a:rPr lang="en-US" sz="2650" spc="10" dirty="0">
                <a:solidFill>
                  <a:srgbClr val="9B0707"/>
                </a:solidFill>
                <a:cs typeface="Arial MT"/>
              </a:rPr>
              <a:t>set</a:t>
            </a:r>
            <a:r>
              <a:rPr lang="en-US" sz="2650" spc="-15" dirty="0">
                <a:solidFill>
                  <a:srgbClr val="9B0707"/>
                </a:solidFill>
                <a:cs typeface="Arial MT"/>
              </a:rPr>
              <a:t> </a:t>
            </a:r>
            <a:r>
              <a:rPr lang="en-US" sz="2650" spc="5" dirty="0">
                <a:solidFill>
                  <a:srgbClr val="9B0707"/>
                </a:solidFill>
                <a:cs typeface="Arial MT"/>
              </a:rPr>
              <a:t>of</a:t>
            </a:r>
            <a:r>
              <a:rPr lang="en-US" sz="2650" spc="-5" dirty="0">
                <a:solidFill>
                  <a:srgbClr val="9B0707"/>
                </a:solidFill>
                <a:cs typeface="Arial MT"/>
              </a:rPr>
              <a:t> </a:t>
            </a:r>
            <a:r>
              <a:rPr lang="en-US" sz="2650" dirty="0">
                <a:solidFill>
                  <a:srgbClr val="9B0707"/>
                </a:solidFill>
                <a:cs typeface="Arial MT"/>
              </a:rPr>
              <a:t>codewords; </a:t>
            </a:r>
            <a:r>
              <a:rPr lang="en-US" sz="2650" dirty="0">
                <a:cs typeface="Arial MT"/>
              </a:rPr>
              <a:t>consider a code with only four valid codewords:</a:t>
            </a:r>
          </a:p>
          <a:p>
            <a:pPr marL="469900" lvl="1">
              <a:spcBef>
                <a:spcPts val="160"/>
              </a:spcBef>
            </a:pPr>
            <a:r>
              <a:rPr lang="en-US" sz="2650" dirty="0">
                <a:cs typeface="Arial MT"/>
              </a:rPr>
              <a:t>0000000000, 0000011111, 1111100000, and 1111111111</a:t>
            </a:r>
          </a:p>
          <a:p>
            <a:pPr marL="469900" indent="-457200">
              <a:lnSpc>
                <a:spcPct val="100000"/>
              </a:lnSpc>
              <a:spcBef>
                <a:spcPts val="160"/>
              </a:spcBef>
              <a:buFont typeface="Arial" panose="020B0604020202020204" pitchFamily="34" charset="0"/>
              <a:buChar char="•"/>
            </a:pPr>
            <a:r>
              <a:rPr sz="2650" b="1" spc="10" dirty="0">
                <a:solidFill>
                  <a:srgbClr val="9B0707"/>
                </a:solidFill>
                <a:cs typeface="Arial MT"/>
              </a:rPr>
              <a:t>Hamming</a:t>
            </a:r>
            <a:r>
              <a:rPr sz="2650" b="1" spc="-25" dirty="0">
                <a:solidFill>
                  <a:srgbClr val="9B0707"/>
                </a:solidFill>
                <a:cs typeface="Arial MT"/>
              </a:rPr>
              <a:t> </a:t>
            </a:r>
            <a:r>
              <a:rPr sz="2650" b="1" spc="5" dirty="0">
                <a:solidFill>
                  <a:srgbClr val="9B0707"/>
                </a:solidFill>
                <a:cs typeface="Arial MT"/>
              </a:rPr>
              <a:t>distance</a:t>
            </a:r>
            <a:endParaRPr sz="2650" b="1" dirty="0">
              <a:cs typeface="Arial MT"/>
            </a:endParaRPr>
          </a:p>
          <a:p>
            <a:pPr marL="809625" lvl="1">
              <a:spcBef>
                <a:spcPts val="655"/>
              </a:spcBef>
            </a:pPr>
            <a:r>
              <a:rPr sz="2200" spc="15" dirty="0">
                <a:solidFill>
                  <a:srgbClr val="006699"/>
                </a:solidFill>
                <a:cs typeface="Arial MT"/>
              </a:rPr>
              <a:t>count</a:t>
            </a:r>
            <a:r>
              <a:rPr sz="2200" spc="-20" dirty="0">
                <a:solidFill>
                  <a:srgbClr val="006699"/>
                </a:solidFill>
                <a:cs typeface="Arial MT"/>
              </a:rPr>
              <a:t> </a:t>
            </a:r>
            <a:r>
              <a:rPr sz="2200" spc="5" dirty="0">
                <a:solidFill>
                  <a:srgbClr val="006699"/>
                </a:solidFill>
                <a:cs typeface="Arial MT"/>
              </a:rPr>
              <a:t>of</a:t>
            </a:r>
            <a:r>
              <a:rPr sz="2200" spc="10" dirty="0">
                <a:solidFill>
                  <a:srgbClr val="006699"/>
                </a:solidFill>
                <a:cs typeface="Arial MT"/>
              </a:rPr>
              <a:t> </a:t>
            </a:r>
            <a:r>
              <a:rPr sz="2200" spc="15" dirty="0">
                <a:solidFill>
                  <a:srgbClr val="006699"/>
                </a:solidFill>
                <a:cs typeface="Arial MT"/>
              </a:rPr>
              <a:t>corresponding</a:t>
            </a:r>
            <a:r>
              <a:rPr sz="2200" spc="-20" dirty="0">
                <a:solidFill>
                  <a:srgbClr val="006699"/>
                </a:solidFill>
                <a:cs typeface="Arial MT"/>
              </a:rPr>
              <a:t> </a:t>
            </a:r>
            <a:r>
              <a:rPr sz="2200" dirty="0">
                <a:solidFill>
                  <a:srgbClr val="006699"/>
                </a:solidFill>
                <a:cs typeface="Arial MT"/>
              </a:rPr>
              <a:t>bits</a:t>
            </a:r>
            <a:r>
              <a:rPr sz="2200" spc="15" dirty="0">
                <a:solidFill>
                  <a:srgbClr val="006699"/>
                </a:solidFill>
                <a:cs typeface="Arial MT"/>
              </a:rPr>
              <a:t> </a:t>
            </a:r>
            <a:r>
              <a:rPr sz="2200" spc="10" dirty="0">
                <a:solidFill>
                  <a:srgbClr val="006699"/>
                </a:solidFill>
                <a:cs typeface="Arial MT"/>
              </a:rPr>
              <a:t>that</a:t>
            </a:r>
            <a:r>
              <a:rPr sz="2200" spc="-10" dirty="0">
                <a:solidFill>
                  <a:srgbClr val="006699"/>
                </a:solidFill>
                <a:cs typeface="Arial MT"/>
              </a:rPr>
              <a:t> differ</a:t>
            </a:r>
            <a:endParaRPr sz="2200" dirty="0">
              <a:cs typeface="Arial MT"/>
            </a:endParaRPr>
          </a:p>
          <a:p>
            <a:pPr marL="809625" lvl="1">
              <a:spcBef>
                <a:spcPts val="745"/>
              </a:spcBef>
            </a:pPr>
            <a:r>
              <a:rPr sz="2200" dirty="0">
                <a:solidFill>
                  <a:srgbClr val="006699"/>
                </a:solidFill>
                <a:cs typeface="Arial MT"/>
              </a:rPr>
              <a:t>e.g., </a:t>
            </a:r>
            <a:r>
              <a:rPr sz="2200" spc="5" dirty="0">
                <a:solidFill>
                  <a:srgbClr val="006699"/>
                </a:solidFill>
                <a:cs typeface="Arial MT"/>
              </a:rPr>
              <a:t>10001001</a:t>
            </a:r>
            <a:r>
              <a:rPr sz="2200" spc="25" dirty="0">
                <a:solidFill>
                  <a:srgbClr val="006699"/>
                </a:solidFill>
                <a:cs typeface="Arial MT"/>
              </a:rPr>
              <a:t> </a:t>
            </a:r>
            <a:r>
              <a:rPr sz="2200" spc="10" dirty="0">
                <a:solidFill>
                  <a:srgbClr val="006699"/>
                </a:solidFill>
                <a:cs typeface="Arial MT"/>
              </a:rPr>
              <a:t>and</a:t>
            </a:r>
            <a:r>
              <a:rPr sz="2200" spc="15" dirty="0">
                <a:solidFill>
                  <a:srgbClr val="006699"/>
                </a:solidFill>
                <a:cs typeface="Arial MT"/>
              </a:rPr>
              <a:t> </a:t>
            </a:r>
            <a:r>
              <a:rPr sz="2200" spc="5" dirty="0">
                <a:solidFill>
                  <a:srgbClr val="006699"/>
                </a:solidFill>
                <a:cs typeface="Arial MT"/>
              </a:rPr>
              <a:t>10110001</a:t>
            </a:r>
            <a:r>
              <a:rPr sz="2200" spc="40" dirty="0">
                <a:solidFill>
                  <a:srgbClr val="006699"/>
                </a:solidFill>
                <a:cs typeface="Arial MT"/>
              </a:rPr>
              <a:t> </a:t>
            </a:r>
            <a:r>
              <a:rPr sz="2200" spc="-15" dirty="0">
                <a:solidFill>
                  <a:srgbClr val="006699"/>
                </a:solidFill>
                <a:cs typeface="Arial MT"/>
              </a:rPr>
              <a:t>have</a:t>
            </a:r>
            <a:r>
              <a:rPr sz="2200" spc="25" dirty="0">
                <a:solidFill>
                  <a:srgbClr val="006699"/>
                </a:solidFill>
                <a:cs typeface="Arial MT"/>
              </a:rPr>
              <a:t> </a:t>
            </a:r>
            <a:r>
              <a:rPr lang="en-US" sz="2200" spc="25" dirty="0">
                <a:solidFill>
                  <a:srgbClr val="006699"/>
                </a:solidFill>
                <a:cs typeface="Arial MT"/>
              </a:rPr>
              <a:t>a </a:t>
            </a:r>
            <a:r>
              <a:rPr sz="2200" spc="5" dirty="0">
                <a:solidFill>
                  <a:srgbClr val="006699"/>
                </a:solidFill>
                <a:cs typeface="Arial MT"/>
              </a:rPr>
              <a:t>distance</a:t>
            </a:r>
            <a:r>
              <a:rPr sz="2200" spc="35" dirty="0">
                <a:solidFill>
                  <a:srgbClr val="006699"/>
                </a:solidFill>
                <a:cs typeface="Arial MT"/>
              </a:rPr>
              <a:t> </a:t>
            </a:r>
            <a:r>
              <a:rPr sz="2200" spc="15" dirty="0">
                <a:solidFill>
                  <a:srgbClr val="006699"/>
                </a:solidFill>
                <a:cs typeface="Arial MT"/>
              </a:rPr>
              <a:t>3</a:t>
            </a:r>
            <a:endParaRPr sz="2200" dirty="0">
              <a:cs typeface="Arial MT"/>
            </a:endParaRPr>
          </a:p>
          <a:p>
            <a:pPr marL="1675130" lvl="1">
              <a:spcBef>
                <a:spcPts val="1175"/>
              </a:spcBef>
            </a:pPr>
            <a:r>
              <a:rPr sz="2200" spc="5" dirty="0">
                <a:solidFill>
                  <a:srgbClr val="006699"/>
                </a:solidFill>
                <a:cs typeface="Arial MT"/>
              </a:rPr>
              <a:t>10001001</a:t>
            </a:r>
            <a:endParaRPr sz="2200" dirty="0">
              <a:cs typeface="Arial MT"/>
            </a:endParaRPr>
          </a:p>
          <a:p>
            <a:pPr marL="966470" lvl="1">
              <a:spcBef>
                <a:spcPts val="1595"/>
              </a:spcBef>
              <a:tabLst>
                <a:tab pos="1217295" algn="l"/>
              </a:tabLst>
            </a:pPr>
            <a:r>
              <a:rPr lang="en-US" sz="2200" spc="10" dirty="0" err="1">
                <a:solidFill>
                  <a:srgbClr val="006699"/>
                </a:solidFill>
                <a:cs typeface="Arial MT"/>
              </a:rPr>
              <a:t>X</a:t>
            </a:r>
            <a:r>
              <a:rPr sz="2200" spc="10" dirty="0" err="1">
                <a:solidFill>
                  <a:srgbClr val="006699"/>
                </a:solidFill>
                <a:cs typeface="Arial MT"/>
              </a:rPr>
              <a:t>or</a:t>
            </a:r>
            <a:r>
              <a:rPr lang="en-US" sz="2200" spc="10" dirty="0">
                <a:solidFill>
                  <a:srgbClr val="006699"/>
                </a:solidFill>
                <a:cs typeface="Arial MT"/>
              </a:rPr>
              <a:t>    </a:t>
            </a:r>
            <a:r>
              <a:rPr sz="2200" spc="5" dirty="0">
                <a:solidFill>
                  <a:srgbClr val="006699"/>
                </a:solidFill>
                <a:cs typeface="Arial MT"/>
              </a:rPr>
              <a:t>10110001</a:t>
            </a:r>
            <a:endParaRPr sz="2200" dirty="0">
              <a:cs typeface="Arial MT"/>
            </a:endParaRPr>
          </a:p>
          <a:p>
            <a:pPr marL="1675130" lvl="1">
              <a:spcBef>
                <a:spcPts val="1695"/>
              </a:spcBef>
            </a:pPr>
            <a:r>
              <a:rPr sz="2200" spc="5" dirty="0">
                <a:solidFill>
                  <a:srgbClr val="006699"/>
                </a:solidFill>
                <a:cs typeface="Arial MT"/>
              </a:rPr>
              <a:t>0011100</a:t>
            </a:r>
            <a:r>
              <a:rPr lang="en-US" sz="2200" spc="5" dirty="0">
                <a:solidFill>
                  <a:srgbClr val="006699"/>
                </a:solidFill>
                <a:cs typeface="Arial MT"/>
              </a:rPr>
              <a:t>0</a:t>
            </a:r>
            <a:endParaRPr lang="en-US" sz="2200" dirty="0">
              <a:cs typeface="Arial MT"/>
            </a:endParaRPr>
          </a:p>
          <a:p>
            <a:pPr marL="809625" marR="5080" lvl="1" indent="-635">
              <a:lnSpc>
                <a:spcPts val="3479"/>
              </a:lnSpc>
            </a:pPr>
            <a:r>
              <a:rPr lang="en-US" sz="2200" spc="5" dirty="0">
                <a:solidFill>
                  <a:srgbClr val="006699"/>
                </a:solidFill>
                <a:cs typeface="Arial MT"/>
              </a:rPr>
              <a:t>if</a:t>
            </a:r>
            <a:r>
              <a:rPr lang="en-US" sz="2200" spc="15" dirty="0">
                <a:solidFill>
                  <a:srgbClr val="006699"/>
                </a:solidFill>
                <a:cs typeface="Arial MT"/>
              </a:rPr>
              <a:t> the </a:t>
            </a:r>
            <a:r>
              <a:rPr lang="en-US" sz="2200" spc="5" dirty="0">
                <a:solidFill>
                  <a:srgbClr val="006699"/>
                </a:solidFill>
                <a:cs typeface="Arial MT"/>
              </a:rPr>
              <a:t>distance</a:t>
            </a:r>
            <a:r>
              <a:rPr lang="en-US" sz="2200" spc="40" dirty="0">
                <a:solidFill>
                  <a:srgbClr val="006699"/>
                </a:solidFill>
                <a:cs typeface="Arial MT"/>
              </a:rPr>
              <a:t> </a:t>
            </a:r>
            <a:r>
              <a:rPr lang="en-US" sz="2200" spc="5" dirty="0">
                <a:solidFill>
                  <a:srgbClr val="006699"/>
                </a:solidFill>
                <a:cs typeface="Arial MT"/>
              </a:rPr>
              <a:t>is</a:t>
            </a:r>
            <a:r>
              <a:rPr lang="en-US" sz="2200" spc="15" dirty="0">
                <a:solidFill>
                  <a:srgbClr val="006699"/>
                </a:solidFill>
                <a:cs typeface="Arial MT"/>
              </a:rPr>
              <a:t> </a:t>
            </a:r>
            <a:r>
              <a:rPr lang="en-US" sz="2450" i="1" spc="70" dirty="0">
                <a:solidFill>
                  <a:srgbClr val="006699"/>
                </a:solidFill>
                <a:cs typeface="Times New Roman"/>
              </a:rPr>
              <a:t>d</a:t>
            </a:r>
            <a:r>
              <a:rPr lang="en-US" sz="2200" spc="70" dirty="0">
                <a:solidFill>
                  <a:srgbClr val="006699"/>
                </a:solidFill>
                <a:cs typeface="Arial MT"/>
              </a:rPr>
              <a:t>,</a:t>
            </a:r>
            <a:r>
              <a:rPr lang="en-US" sz="2200" dirty="0">
                <a:solidFill>
                  <a:srgbClr val="006699"/>
                </a:solidFill>
                <a:cs typeface="Arial MT"/>
              </a:rPr>
              <a:t> </a:t>
            </a:r>
            <a:r>
              <a:rPr lang="en-US" sz="2450" i="1" spc="10" dirty="0">
                <a:solidFill>
                  <a:srgbClr val="006699"/>
                </a:solidFill>
                <a:cs typeface="Times New Roman"/>
              </a:rPr>
              <a:t>d</a:t>
            </a:r>
            <a:r>
              <a:rPr lang="en-US" sz="2450" i="1" spc="140" dirty="0">
                <a:solidFill>
                  <a:srgbClr val="006699"/>
                </a:solidFill>
                <a:cs typeface="Times New Roman"/>
              </a:rPr>
              <a:t> </a:t>
            </a:r>
            <a:r>
              <a:rPr lang="en-US" sz="2200" spc="10" dirty="0">
                <a:solidFill>
                  <a:srgbClr val="006699"/>
                </a:solidFill>
                <a:cs typeface="Arial MT"/>
              </a:rPr>
              <a:t>single</a:t>
            </a:r>
            <a:r>
              <a:rPr lang="en-US" sz="2200" spc="-10" dirty="0">
                <a:solidFill>
                  <a:srgbClr val="006699"/>
                </a:solidFill>
                <a:cs typeface="Arial MT"/>
              </a:rPr>
              <a:t> </a:t>
            </a:r>
            <a:r>
              <a:rPr lang="en-US" sz="2200" dirty="0">
                <a:solidFill>
                  <a:srgbClr val="006699"/>
                </a:solidFill>
                <a:cs typeface="Arial MT"/>
              </a:rPr>
              <a:t>bit</a:t>
            </a:r>
            <a:r>
              <a:rPr lang="en-US" sz="2200" spc="15" dirty="0">
                <a:solidFill>
                  <a:srgbClr val="006699"/>
                </a:solidFill>
                <a:cs typeface="Arial MT"/>
              </a:rPr>
              <a:t> </a:t>
            </a:r>
            <a:r>
              <a:rPr lang="en-US" sz="2200" spc="5" dirty="0">
                <a:solidFill>
                  <a:srgbClr val="006699"/>
                </a:solidFill>
                <a:cs typeface="Arial MT"/>
              </a:rPr>
              <a:t>errors</a:t>
            </a:r>
            <a:r>
              <a:rPr lang="en-US" sz="2200" spc="50" dirty="0">
                <a:solidFill>
                  <a:srgbClr val="006699"/>
                </a:solidFill>
                <a:cs typeface="Arial MT"/>
              </a:rPr>
              <a:t> </a:t>
            </a:r>
            <a:r>
              <a:rPr lang="en-US" sz="2200" spc="5" dirty="0">
                <a:solidFill>
                  <a:srgbClr val="006699"/>
                </a:solidFill>
                <a:cs typeface="Arial MT"/>
              </a:rPr>
              <a:t>are</a:t>
            </a:r>
            <a:r>
              <a:rPr lang="en-US" sz="2200" spc="10" dirty="0">
                <a:solidFill>
                  <a:srgbClr val="006699"/>
                </a:solidFill>
                <a:cs typeface="Arial MT"/>
              </a:rPr>
              <a:t> </a:t>
            </a:r>
            <a:r>
              <a:rPr lang="en-US" sz="2200" spc="5" dirty="0">
                <a:solidFill>
                  <a:srgbClr val="006699"/>
                </a:solidFill>
                <a:cs typeface="Arial MT"/>
              </a:rPr>
              <a:t>needed</a:t>
            </a:r>
            <a:r>
              <a:rPr lang="en-US" sz="2200" spc="30" dirty="0">
                <a:solidFill>
                  <a:srgbClr val="006699"/>
                </a:solidFill>
                <a:cs typeface="Arial MT"/>
              </a:rPr>
              <a:t> </a:t>
            </a:r>
            <a:r>
              <a:rPr lang="en-US" sz="2200" spc="10" dirty="0">
                <a:solidFill>
                  <a:srgbClr val="006699"/>
                </a:solidFill>
                <a:cs typeface="Arial MT"/>
              </a:rPr>
              <a:t>to</a:t>
            </a:r>
            <a:r>
              <a:rPr lang="en-US" sz="2200" spc="5" dirty="0">
                <a:solidFill>
                  <a:srgbClr val="006699"/>
                </a:solidFill>
                <a:cs typeface="Arial MT"/>
              </a:rPr>
              <a:t> convert </a:t>
            </a:r>
            <a:r>
              <a:rPr lang="en-US" sz="2200" spc="-595" dirty="0">
                <a:solidFill>
                  <a:srgbClr val="006699"/>
                </a:solidFill>
                <a:cs typeface="Arial MT"/>
              </a:rPr>
              <a:t> </a:t>
            </a:r>
            <a:r>
              <a:rPr lang="en-US" sz="2200" spc="10" dirty="0">
                <a:solidFill>
                  <a:srgbClr val="006699"/>
                </a:solidFill>
                <a:cs typeface="Arial MT"/>
              </a:rPr>
              <a:t>one to</a:t>
            </a:r>
            <a:r>
              <a:rPr lang="en-US" sz="2200" spc="-10" dirty="0">
                <a:solidFill>
                  <a:srgbClr val="006699"/>
                </a:solidFill>
                <a:cs typeface="Arial MT"/>
              </a:rPr>
              <a:t> </a:t>
            </a:r>
            <a:r>
              <a:rPr lang="en-US" sz="2200" spc="10" dirty="0">
                <a:solidFill>
                  <a:srgbClr val="006699"/>
                </a:solidFill>
                <a:cs typeface="Arial MT"/>
              </a:rPr>
              <a:t>the</a:t>
            </a:r>
            <a:r>
              <a:rPr lang="en-US" sz="2200" spc="5" dirty="0">
                <a:solidFill>
                  <a:srgbClr val="006699"/>
                </a:solidFill>
                <a:cs typeface="Arial MT"/>
              </a:rPr>
              <a:t> </a:t>
            </a:r>
            <a:r>
              <a:rPr lang="en-US" sz="2200" dirty="0">
                <a:solidFill>
                  <a:srgbClr val="006699"/>
                </a:solidFill>
                <a:cs typeface="Arial MT"/>
              </a:rPr>
              <a:t>other</a:t>
            </a:r>
            <a:endParaRPr lang="en-US" sz="2200" dirty="0">
              <a:cs typeface="Arial MT"/>
            </a:endParaRPr>
          </a:p>
        </p:txBody>
      </p:sp>
      <p:sp>
        <p:nvSpPr>
          <p:cNvPr id="12" name="object 2">
            <a:extLst>
              <a:ext uri="{FF2B5EF4-FFF2-40B4-BE49-F238E27FC236}">
                <a16:creationId xmlns:a16="http://schemas.microsoft.com/office/drawing/2014/main" id="{9983CF7B-0E03-3591-C774-E68F4286A9ED}"/>
              </a:ext>
            </a:extLst>
          </p:cNvPr>
          <p:cNvSpPr txBox="1">
            <a:spLocks/>
          </p:cNvSpPr>
          <p:nvPr/>
        </p:nvSpPr>
        <p:spPr>
          <a:xfrm>
            <a:off x="1796287" y="144568"/>
            <a:ext cx="6654800" cy="572080"/>
          </a:xfrm>
          <a:prstGeom prst="rect">
            <a:avLst/>
          </a:prstGeom>
        </p:spPr>
        <p:txBody>
          <a:bodyPr vert="horz" wrap="square" lIns="0" tIns="13335" rIns="0" bIns="0" rtlCol="0" anchor="ctr">
            <a:spAutoFit/>
          </a:bodyPr>
          <a:lstStyle>
            <a:lvl1pPr algn="l" defTabSz="754380" rtl="0" eaLnBrk="1" latinLnBrk="0" hangingPunct="1">
              <a:lnSpc>
                <a:spcPct val="90000"/>
              </a:lnSpc>
              <a:spcBef>
                <a:spcPct val="0"/>
              </a:spcBef>
              <a:buNone/>
              <a:defRPr sz="3630" kern="1200">
                <a:solidFill>
                  <a:schemeClr val="tx1"/>
                </a:solidFill>
                <a:latin typeface="+mj-lt"/>
                <a:ea typeface="+mj-ea"/>
                <a:cs typeface="+mj-cs"/>
              </a:defRPr>
            </a:lvl1pPr>
          </a:lstStyle>
          <a:p>
            <a:pPr marL="12700">
              <a:lnSpc>
                <a:spcPct val="100000"/>
              </a:lnSpc>
              <a:spcBef>
                <a:spcPts val="105"/>
              </a:spcBef>
            </a:pPr>
            <a:r>
              <a:rPr lang="en-US" spc="-5" dirty="0"/>
              <a:t>3.2 Error</a:t>
            </a:r>
            <a:r>
              <a:rPr lang="en-US" spc="-10" dirty="0"/>
              <a:t> </a:t>
            </a:r>
            <a:r>
              <a:rPr lang="en-US" spc="-5" dirty="0"/>
              <a:t>Detection </a:t>
            </a:r>
            <a:r>
              <a:rPr lang="en-US" dirty="0"/>
              <a:t>and</a:t>
            </a:r>
            <a:r>
              <a:rPr lang="en-US" spc="-15" dirty="0"/>
              <a:t> </a:t>
            </a:r>
            <a:r>
              <a:rPr lang="en-US" spc="-5" dirty="0"/>
              <a:t>Correction</a:t>
            </a:r>
          </a:p>
        </p:txBody>
      </p:sp>
      <p:sp>
        <p:nvSpPr>
          <p:cNvPr id="8" name="object 8"/>
          <p:cNvSpPr/>
          <p:nvPr/>
        </p:nvSpPr>
        <p:spPr>
          <a:xfrm>
            <a:off x="1981200" y="5791200"/>
            <a:ext cx="2284730" cy="0"/>
          </a:xfrm>
          <a:custGeom>
            <a:avLst/>
            <a:gdLst/>
            <a:ahLst/>
            <a:cxnLst/>
            <a:rect l="l" t="t" r="r" b="b"/>
            <a:pathLst>
              <a:path w="2284729">
                <a:moveTo>
                  <a:pt x="0" y="0"/>
                </a:moveTo>
                <a:lnTo>
                  <a:pt x="2284476" y="0"/>
                </a:lnTo>
              </a:path>
            </a:pathLst>
          </a:custGeom>
          <a:ln w="10667">
            <a:solidFill>
              <a:srgbClr val="006598"/>
            </a:solidFill>
          </a:ln>
        </p:spPr>
        <p:txBody>
          <a:bodyPr wrap="square" lIns="0" tIns="0" rIns="0" bIns="0" rtlCol="0"/>
          <a:lstStyle/>
          <a:p>
            <a:endParaRP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3510" y="643103"/>
            <a:ext cx="8675370" cy="614912"/>
          </a:xfrm>
          <a:prstGeom prst="rect">
            <a:avLst/>
          </a:prstGeom>
        </p:spPr>
        <p:txBody>
          <a:bodyPr vert="horz" wrap="square" lIns="0" tIns="75565" rIns="0" bIns="0" rtlCol="0">
            <a:spAutoFit/>
          </a:bodyPr>
          <a:lstStyle/>
          <a:p>
            <a:pPr marL="12700" marR="5080">
              <a:lnSpc>
                <a:spcPts val="4200"/>
              </a:lnSpc>
              <a:spcBef>
                <a:spcPts val="595"/>
              </a:spcBef>
            </a:pPr>
            <a:r>
              <a:rPr spc="-5" dirty="0"/>
              <a:t>Hamming</a:t>
            </a:r>
            <a:r>
              <a:rPr spc="-20" dirty="0"/>
              <a:t> </a:t>
            </a:r>
            <a:r>
              <a:rPr dirty="0"/>
              <a:t>Codes</a:t>
            </a:r>
            <a:r>
              <a:rPr spc="-20" dirty="0"/>
              <a:t> </a:t>
            </a:r>
            <a:r>
              <a:rPr spc="-5" dirty="0"/>
              <a:t>Definitions</a:t>
            </a:r>
          </a:p>
        </p:txBody>
      </p:sp>
      <p:sp>
        <p:nvSpPr>
          <p:cNvPr id="10" name="object 10"/>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25</a:t>
            </a:fld>
            <a:r>
              <a:rPr spc="10" dirty="0"/>
              <a:t>/69</a:t>
            </a:r>
          </a:p>
        </p:txBody>
      </p:sp>
      <p:sp>
        <p:nvSpPr>
          <p:cNvPr id="3" name="object 3"/>
          <p:cNvSpPr/>
          <p:nvPr/>
        </p:nvSpPr>
        <p:spPr>
          <a:xfrm>
            <a:off x="939165" y="213360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4" name="object 4"/>
          <p:cNvSpPr/>
          <p:nvPr/>
        </p:nvSpPr>
        <p:spPr>
          <a:xfrm>
            <a:off x="947823" y="579120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5" name="object 5"/>
          <p:cNvSpPr/>
          <p:nvPr/>
        </p:nvSpPr>
        <p:spPr>
          <a:xfrm>
            <a:off x="951951" y="469901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9" name="object 9"/>
          <p:cNvSpPr txBox="1"/>
          <p:nvPr/>
        </p:nvSpPr>
        <p:spPr>
          <a:xfrm>
            <a:off x="1295400" y="1955814"/>
            <a:ext cx="8071485" cy="4943148"/>
          </a:xfrm>
          <a:prstGeom prst="rect">
            <a:avLst/>
          </a:prstGeom>
        </p:spPr>
        <p:txBody>
          <a:bodyPr vert="horz" wrap="square" lIns="0" tIns="15875" rIns="0" bIns="0" rtlCol="0">
            <a:spAutoFit/>
          </a:bodyPr>
          <a:lstStyle/>
          <a:p>
            <a:pPr marL="12700" marR="5080" indent="-635" algn="just">
              <a:lnSpc>
                <a:spcPct val="99800"/>
              </a:lnSpc>
              <a:spcBef>
                <a:spcPts val="2230"/>
              </a:spcBef>
            </a:pPr>
            <a:r>
              <a:rPr sz="2650" spc="10" dirty="0">
                <a:solidFill>
                  <a:srgbClr val="9B0707"/>
                </a:solidFill>
                <a:cs typeface="Arial MT"/>
              </a:rPr>
              <a:t>The Hamming </a:t>
            </a:r>
            <a:r>
              <a:rPr sz="2650" spc="5" dirty="0">
                <a:solidFill>
                  <a:srgbClr val="9B0707"/>
                </a:solidFill>
                <a:cs typeface="Arial MT"/>
              </a:rPr>
              <a:t>distance </a:t>
            </a:r>
            <a:r>
              <a:rPr sz="2650" spc="-25" dirty="0">
                <a:solidFill>
                  <a:srgbClr val="9B0707"/>
                </a:solidFill>
                <a:cs typeface="Arial MT"/>
              </a:rPr>
              <a:t>for </a:t>
            </a:r>
            <a:r>
              <a:rPr sz="2650" spc="15" dirty="0">
                <a:solidFill>
                  <a:srgbClr val="9B0707"/>
                </a:solidFill>
                <a:cs typeface="Arial MT"/>
              </a:rPr>
              <a:t>a </a:t>
            </a:r>
            <a:r>
              <a:rPr sz="2650" spc="10" dirty="0">
                <a:solidFill>
                  <a:srgbClr val="9B0707"/>
                </a:solidFill>
                <a:cs typeface="Arial MT"/>
              </a:rPr>
              <a:t>set </a:t>
            </a:r>
            <a:r>
              <a:rPr sz="2650" spc="5" dirty="0">
                <a:solidFill>
                  <a:srgbClr val="9B0707"/>
                </a:solidFill>
                <a:cs typeface="Arial MT"/>
              </a:rPr>
              <a:t>of </a:t>
            </a:r>
            <a:r>
              <a:rPr sz="2650" spc="15" dirty="0">
                <a:solidFill>
                  <a:srgbClr val="9B0707"/>
                </a:solidFill>
                <a:cs typeface="Arial MT"/>
              </a:rPr>
              <a:t>code </a:t>
            </a:r>
            <a:r>
              <a:rPr sz="2650" spc="5" dirty="0">
                <a:solidFill>
                  <a:srgbClr val="9B0707"/>
                </a:solidFill>
                <a:cs typeface="Arial MT"/>
              </a:rPr>
              <a:t>words </a:t>
            </a:r>
            <a:r>
              <a:rPr sz="2650" spc="10" dirty="0">
                <a:solidFill>
                  <a:srgbClr val="9B0707"/>
                </a:solidFill>
                <a:cs typeface="Arial MT"/>
              </a:rPr>
              <a:t>is </a:t>
            </a:r>
            <a:r>
              <a:rPr sz="2650" spc="-725" dirty="0">
                <a:solidFill>
                  <a:srgbClr val="9B0707"/>
                </a:solidFill>
                <a:cs typeface="Arial MT"/>
              </a:rPr>
              <a:t> </a:t>
            </a:r>
            <a:r>
              <a:rPr sz="2650" spc="5" dirty="0">
                <a:solidFill>
                  <a:srgbClr val="9B0707"/>
                </a:solidFill>
                <a:cs typeface="Arial MT"/>
              </a:rPr>
              <a:t>the</a:t>
            </a:r>
            <a:r>
              <a:rPr sz="2650" dirty="0">
                <a:solidFill>
                  <a:srgbClr val="9B0707"/>
                </a:solidFill>
                <a:cs typeface="Arial MT"/>
              </a:rPr>
              <a:t> </a:t>
            </a:r>
            <a:r>
              <a:rPr sz="2650" b="1" i="1" spc="10" dirty="0">
                <a:solidFill>
                  <a:srgbClr val="9B0707"/>
                </a:solidFill>
                <a:cs typeface="Arial"/>
              </a:rPr>
              <a:t>minimum</a:t>
            </a:r>
            <a:r>
              <a:rPr sz="2650" b="1" i="1" spc="40" dirty="0">
                <a:solidFill>
                  <a:srgbClr val="9B0707"/>
                </a:solidFill>
                <a:cs typeface="Arial"/>
              </a:rPr>
              <a:t> </a:t>
            </a:r>
            <a:r>
              <a:rPr sz="2650" b="1" spc="10" dirty="0">
                <a:solidFill>
                  <a:srgbClr val="9B0707"/>
                </a:solidFill>
                <a:cs typeface="Arial MT"/>
              </a:rPr>
              <a:t>Hamming</a:t>
            </a:r>
            <a:r>
              <a:rPr sz="2650" b="1" spc="15" dirty="0">
                <a:solidFill>
                  <a:srgbClr val="9B0707"/>
                </a:solidFill>
                <a:cs typeface="Arial MT"/>
              </a:rPr>
              <a:t> </a:t>
            </a:r>
            <a:r>
              <a:rPr sz="2650" b="1" spc="5" dirty="0">
                <a:solidFill>
                  <a:srgbClr val="9B0707"/>
                </a:solidFill>
                <a:cs typeface="Arial MT"/>
              </a:rPr>
              <a:t>distance</a:t>
            </a:r>
            <a:r>
              <a:rPr sz="2650" b="1" spc="10" dirty="0">
                <a:solidFill>
                  <a:srgbClr val="9B0707"/>
                </a:solidFill>
                <a:cs typeface="Arial MT"/>
              </a:rPr>
              <a:t> </a:t>
            </a:r>
            <a:r>
              <a:rPr sz="2650" spc="-25" dirty="0">
                <a:solidFill>
                  <a:srgbClr val="9B0707"/>
                </a:solidFill>
                <a:cs typeface="Arial MT"/>
              </a:rPr>
              <a:t>for</a:t>
            </a:r>
            <a:r>
              <a:rPr sz="2650" dirty="0">
                <a:solidFill>
                  <a:srgbClr val="9B0707"/>
                </a:solidFill>
                <a:cs typeface="Arial MT"/>
              </a:rPr>
              <a:t> any</a:t>
            </a:r>
            <a:r>
              <a:rPr sz="2650" spc="10" dirty="0">
                <a:solidFill>
                  <a:srgbClr val="9B0707"/>
                </a:solidFill>
                <a:cs typeface="Arial MT"/>
              </a:rPr>
              <a:t> </a:t>
            </a:r>
            <a:r>
              <a:rPr sz="2650" dirty="0">
                <a:solidFill>
                  <a:srgbClr val="9B0707"/>
                </a:solidFill>
                <a:cs typeface="Arial MT"/>
              </a:rPr>
              <a:t>two </a:t>
            </a:r>
            <a:r>
              <a:rPr sz="2650" spc="5" dirty="0">
                <a:solidFill>
                  <a:srgbClr val="9B0707"/>
                </a:solidFill>
                <a:cs typeface="Arial MT"/>
              </a:rPr>
              <a:t> </a:t>
            </a:r>
            <a:r>
              <a:rPr sz="2650" dirty="0">
                <a:solidFill>
                  <a:srgbClr val="9B0707"/>
                </a:solidFill>
                <a:cs typeface="Arial MT"/>
              </a:rPr>
              <a:t>codewords</a:t>
            </a:r>
            <a:r>
              <a:rPr sz="2650" spc="-10" dirty="0">
                <a:solidFill>
                  <a:srgbClr val="9B0707"/>
                </a:solidFill>
                <a:cs typeface="Arial MT"/>
              </a:rPr>
              <a:t> </a:t>
            </a:r>
            <a:r>
              <a:rPr sz="2650" spc="10" dirty="0">
                <a:solidFill>
                  <a:srgbClr val="9B0707"/>
                </a:solidFill>
                <a:cs typeface="Arial MT"/>
              </a:rPr>
              <a:t>in</a:t>
            </a:r>
            <a:r>
              <a:rPr sz="2650" dirty="0">
                <a:solidFill>
                  <a:srgbClr val="9B0707"/>
                </a:solidFill>
                <a:cs typeface="Arial MT"/>
              </a:rPr>
              <a:t> </a:t>
            </a:r>
            <a:r>
              <a:rPr sz="2650" spc="5" dirty="0">
                <a:solidFill>
                  <a:srgbClr val="9B0707"/>
                </a:solidFill>
                <a:cs typeface="Arial MT"/>
              </a:rPr>
              <a:t>the</a:t>
            </a:r>
            <a:r>
              <a:rPr sz="2650" dirty="0">
                <a:solidFill>
                  <a:srgbClr val="9B0707"/>
                </a:solidFill>
                <a:cs typeface="Arial MT"/>
              </a:rPr>
              <a:t> </a:t>
            </a:r>
            <a:r>
              <a:rPr sz="2650" spc="15" dirty="0">
                <a:solidFill>
                  <a:srgbClr val="9B0707"/>
                </a:solidFill>
                <a:cs typeface="Arial MT"/>
              </a:rPr>
              <a:t>code</a:t>
            </a:r>
            <a:r>
              <a:rPr lang="en-US" sz="2650" spc="15" dirty="0">
                <a:solidFill>
                  <a:srgbClr val="9B0707"/>
                </a:solidFill>
                <a:cs typeface="Arial MT"/>
              </a:rPr>
              <a:t>. For these 4 codewords, what is the hamming distance?</a:t>
            </a:r>
          </a:p>
          <a:p>
            <a:pPr marL="12700" marR="5080" indent="-635" algn="just">
              <a:lnSpc>
                <a:spcPct val="99800"/>
              </a:lnSpc>
              <a:spcBef>
                <a:spcPts val="2230"/>
              </a:spcBef>
            </a:pPr>
            <a:r>
              <a:rPr lang="en-US" sz="2650" dirty="0">
                <a:cs typeface="Arial MT"/>
              </a:rPr>
              <a:t>0000000000, 0000011111, 1111100000, and 1111111111</a:t>
            </a:r>
            <a:endParaRPr sz="2650" dirty="0">
              <a:cs typeface="Arial MT"/>
            </a:endParaRPr>
          </a:p>
          <a:p>
            <a:pPr marL="12700" marR="130175" indent="-635" algn="just">
              <a:lnSpc>
                <a:spcPts val="3170"/>
              </a:lnSpc>
              <a:spcBef>
                <a:spcPts val="2330"/>
              </a:spcBef>
              <a:tabLst>
                <a:tab pos="1978025" algn="l"/>
              </a:tabLst>
            </a:pPr>
            <a:r>
              <a:rPr sz="2650" spc="-150" dirty="0">
                <a:solidFill>
                  <a:srgbClr val="9B0707"/>
                </a:solidFill>
                <a:cs typeface="Arial MT"/>
              </a:rPr>
              <a:t>To</a:t>
            </a:r>
            <a:r>
              <a:rPr lang="en-US" sz="2650" spc="-150" dirty="0">
                <a:solidFill>
                  <a:srgbClr val="9B0707"/>
                </a:solidFill>
                <a:cs typeface="Arial MT"/>
              </a:rPr>
              <a:t> </a:t>
            </a:r>
            <a:r>
              <a:rPr lang="en-US" sz="2650" u="sng" spc="-150" dirty="0">
                <a:solidFill>
                  <a:srgbClr val="9B0707"/>
                </a:solidFill>
                <a:cs typeface="Arial MT"/>
              </a:rPr>
              <a:t>reliably</a:t>
            </a:r>
            <a:r>
              <a:rPr lang="en-US" sz="2650" spc="-150" dirty="0">
                <a:solidFill>
                  <a:srgbClr val="9B0707"/>
                </a:solidFill>
                <a:cs typeface="Arial MT"/>
              </a:rPr>
              <a:t> </a:t>
            </a:r>
            <a:r>
              <a:rPr sz="2650" spc="-5" dirty="0">
                <a:solidFill>
                  <a:srgbClr val="9B0707"/>
                </a:solidFill>
                <a:cs typeface="Arial MT"/>
              </a:rPr>
              <a:t> </a:t>
            </a:r>
            <a:r>
              <a:rPr sz="2650" spc="5" dirty="0">
                <a:solidFill>
                  <a:srgbClr val="9B0707"/>
                </a:solidFill>
                <a:highlight>
                  <a:srgbClr val="FFFF00"/>
                </a:highlight>
                <a:cs typeface="Arial MT"/>
              </a:rPr>
              <a:t>detect</a:t>
            </a:r>
            <a:r>
              <a:rPr sz="2650" spc="10" dirty="0">
                <a:solidFill>
                  <a:srgbClr val="9B0707"/>
                </a:solidFill>
                <a:cs typeface="Arial MT"/>
              </a:rPr>
              <a:t> </a:t>
            </a:r>
            <a:r>
              <a:rPr sz="2950" i="1" spc="10" dirty="0">
                <a:solidFill>
                  <a:srgbClr val="9B0707"/>
                </a:solidFill>
                <a:cs typeface="Times New Roman"/>
              </a:rPr>
              <a:t>d</a:t>
            </a:r>
            <a:r>
              <a:rPr sz="2950" i="1" spc="155" dirty="0">
                <a:solidFill>
                  <a:srgbClr val="9B0707"/>
                </a:solidFill>
                <a:cs typeface="Times New Roman"/>
              </a:rPr>
              <a:t> </a:t>
            </a:r>
            <a:r>
              <a:rPr sz="2650" spc="10" dirty="0">
                <a:solidFill>
                  <a:srgbClr val="9B0707"/>
                </a:solidFill>
                <a:cs typeface="Arial MT"/>
              </a:rPr>
              <a:t>single</a:t>
            </a:r>
            <a:r>
              <a:rPr sz="2650" spc="-15" dirty="0">
                <a:solidFill>
                  <a:srgbClr val="9B0707"/>
                </a:solidFill>
                <a:cs typeface="Arial MT"/>
              </a:rPr>
              <a:t> </a:t>
            </a:r>
            <a:r>
              <a:rPr sz="2650" spc="5" dirty="0">
                <a:solidFill>
                  <a:srgbClr val="9B0707"/>
                </a:solidFill>
                <a:cs typeface="Arial MT"/>
              </a:rPr>
              <a:t>bit</a:t>
            </a:r>
            <a:r>
              <a:rPr sz="2650" spc="10" dirty="0">
                <a:solidFill>
                  <a:srgbClr val="9B0707"/>
                </a:solidFill>
                <a:cs typeface="Arial MT"/>
              </a:rPr>
              <a:t> </a:t>
            </a:r>
            <a:r>
              <a:rPr sz="2650" dirty="0">
                <a:solidFill>
                  <a:srgbClr val="9B0707"/>
                </a:solidFill>
                <a:cs typeface="Arial MT"/>
              </a:rPr>
              <a:t>errors, </a:t>
            </a:r>
            <a:r>
              <a:rPr sz="2650" spc="5" dirty="0">
                <a:solidFill>
                  <a:srgbClr val="9B0707"/>
                </a:solidFill>
                <a:cs typeface="Arial MT"/>
              </a:rPr>
              <a:t>the</a:t>
            </a:r>
            <a:r>
              <a:rPr sz="2650" dirty="0">
                <a:solidFill>
                  <a:srgbClr val="9B0707"/>
                </a:solidFill>
                <a:cs typeface="Arial MT"/>
              </a:rPr>
              <a:t> </a:t>
            </a:r>
            <a:r>
              <a:rPr sz="2650" spc="15" dirty="0">
                <a:solidFill>
                  <a:srgbClr val="9B0707"/>
                </a:solidFill>
                <a:cs typeface="Arial MT"/>
              </a:rPr>
              <a:t>code</a:t>
            </a:r>
            <a:r>
              <a:rPr sz="2650" spc="-10" dirty="0">
                <a:solidFill>
                  <a:srgbClr val="9B0707"/>
                </a:solidFill>
                <a:cs typeface="Arial MT"/>
              </a:rPr>
              <a:t> </a:t>
            </a:r>
            <a:r>
              <a:rPr sz="2650" spc="5" dirty="0">
                <a:solidFill>
                  <a:srgbClr val="9B0707"/>
                </a:solidFill>
                <a:cs typeface="Arial MT"/>
              </a:rPr>
              <a:t>must </a:t>
            </a:r>
            <a:r>
              <a:rPr sz="2650" spc="-20" dirty="0">
                <a:solidFill>
                  <a:srgbClr val="9B0707"/>
                </a:solidFill>
                <a:cs typeface="Arial MT"/>
              </a:rPr>
              <a:t>have </a:t>
            </a:r>
            <a:r>
              <a:rPr sz="2650" spc="-720" dirty="0">
                <a:solidFill>
                  <a:srgbClr val="9B0707"/>
                </a:solidFill>
                <a:cs typeface="Arial MT"/>
              </a:rPr>
              <a:t> </a:t>
            </a:r>
            <a:r>
              <a:rPr sz="2650" spc="5" dirty="0">
                <a:solidFill>
                  <a:srgbClr val="9B0707"/>
                </a:solidFill>
                <a:cs typeface="Arial MT"/>
              </a:rPr>
              <a:t>distance</a:t>
            </a:r>
            <a:r>
              <a:rPr sz="2650" spc="15" dirty="0">
                <a:solidFill>
                  <a:srgbClr val="9B0707"/>
                </a:solidFill>
                <a:cs typeface="Arial MT"/>
              </a:rPr>
              <a:t> </a:t>
            </a:r>
            <a:r>
              <a:rPr sz="2950" i="1" spc="10" dirty="0">
                <a:solidFill>
                  <a:srgbClr val="9B0707"/>
                </a:solidFill>
                <a:cs typeface="Times New Roman"/>
              </a:rPr>
              <a:t>d</a:t>
            </a:r>
            <a:r>
              <a:rPr lang="en-US" sz="2950" i="1" spc="10" dirty="0">
                <a:solidFill>
                  <a:srgbClr val="9B0707"/>
                </a:solidFill>
                <a:cs typeface="Times New Roman"/>
              </a:rPr>
              <a:t>+</a:t>
            </a:r>
            <a:r>
              <a:rPr sz="2950" spc="10" dirty="0">
                <a:solidFill>
                  <a:srgbClr val="9B0707"/>
                </a:solidFill>
                <a:cs typeface="Times New Roman"/>
              </a:rPr>
              <a:t>1</a:t>
            </a:r>
            <a:endParaRPr sz="2950" dirty="0">
              <a:cs typeface="Times New Roman"/>
            </a:endParaRPr>
          </a:p>
          <a:p>
            <a:pPr marL="12700" marR="17780" algn="just">
              <a:lnSpc>
                <a:spcPts val="3170"/>
              </a:lnSpc>
              <a:spcBef>
                <a:spcPts val="2225"/>
              </a:spcBef>
              <a:tabLst>
                <a:tab pos="2166620" algn="l"/>
              </a:tabLst>
            </a:pPr>
            <a:r>
              <a:rPr sz="2650" spc="-150" dirty="0">
                <a:solidFill>
                  <a:srgbClr val="9B0707"/>
                </a:solidFill>
                <a:cs typeface="Arial MT"/>
              </a:rPr>
              <a:t>To</a:t>
            </a:r>
            <a:r>
              <a:rPr sz="2650" spc="-5" dirty="0">
                <a:solidFill>
                  <a:srgbClr val="9B0707"/>
                </a:solidFill>
                <a:cs typeface="Arial MT"/>
              </a:rPr>
              <a:t> </a:t>
            </a:r>
            <a:r>
              <a:rPr sz="2650" spc="10" dirty="0">
                <a:solidFill>
                  <a:srgbClr val="9B0707"/>
                </a:solidFill>
                <a:highlight>
                  <a:srgbClr val="FFFF00"/>
                </a:highlight>
                <a:cs typeface="Arial MT"/>
              </a:rPr>
              <a:t>correct</a:t>
            </a:r>
            <a:r>
              <a:rPr sz="2650" spc="-25" dirty="0">
                <a:solidFill>
                  <a:srgbClr val="9B0707"/>
                </a:solidFill>
                <a:cs typeface="Arial MT"/>
              </a:rPr>
              <a:t> </a:t>
            </a:r>
            <a:r>
              <a:rPr sz="2950" i="1" spc="10" dirty="0">
                <a:solidFill>
                  <a:srgbClr val="9B0707"/>
                </a:solidFill>
                <a:cs typeface="Times New Roman"/>
              </a:rPr>
              <a:t>d</a:t>
            </a:r>
            <a:r>
              <a:rPr lang="en-US" sz="2950" i="1" spc="155" dirty="0">
                <a:solidFill>
                  <a:srgbClr val="9B0707"/>
                </a:solidFill>
                <a:cs typeface="Times New Roman"/>
              </a:rPr>
              <a:t>  </a:t>
            </a:r>
            <a:r>
              <a:rPr sz="2650" spc="10" dirty="0">
                <a:solidFill>
                  <a:srgbClr val="9B0707"/>
                </a:solidFill>
                <a:cs typeface="Arial MT"/>
              </a:rPr>
              <a:t>single</a:t>
            </a:r>
            <a:r>
              <a:rPr sz="2650" spc="-15" dirty="0">
                <a:solidFill>
                  <a:srgbClr val="9B0707"/>
                </a:solidFill>
                <a:cs typeface="Arial MT"/>
              </a:rPr>
              <a:t> </a:t>
            </a:r>
            <a:r>
              <a:rPr sz="2650" spc="5" dirty="0">
                <a:solidFill>
                  <a:srgbClr val="9B0707"/>
                </a:solidFill>
                <a:cs typeface="Arial MT"/>
              </a:rPr>
              <a:t>bit </a:t>
            </a:r>
            <a:r>
              <a:rPr sz="2650" dirty="0">
                <a:solidFill>
                  <a:srgbClr val="9B0707"/>
                </a:solidFill>
                <a:cs typeface="Arial MT"/>
              </a:rPr>
              <a:t>errors,</a:t>
            </a:r>
            <a:r>
              <a:rPr sz="2650" spc="5" dirty="0">
                <a:solidFill>
                  <a:srgbClr val="9B0707"/>
                </a:solidFill>
                <a:cs typeface="Arial MT"/>
              </a:rPr>
              <a:t> the</a:t>
            </a:r>
            <a:r>
              <a:rPr sz="2650" spc="-5" dirty="0">
                <a:solidFill>
                  <a:srgbClr val="9B0707"/>
                </a:solidFill>
                <a:cs typeface="Arial MT"/>
              </a:rPr>
              <a:t> </a:t>
            </a:r>
            <a:r>
              <a:rPr sz="2650" spc="15" dirty="0">
                <a:solidFill>
                  <a:srgbClr val="9B0707"/>
                </a:solidFill>
                <a:cs typeface="Arial MT"/>
              </a:rPr>
              <a:t>code</a:t>
            </a:r>
            <a:r>
              <a:rPr sz="2650" spc="-10" dirty="0">
                <a:solidFill>
                  <a:srgbClr val="9B0707"/>
                </a:solidFill>
                <a:cs typeface="Arial MT"/>
              </a:rPr>
              <a:t> </a:t>
            </a:r>
            <a:r>
              <a:rPr sz="2650" spc="5" dirty="0">
                <a:solidFill>
                  <a:srgbClr val="9B0707"/>
                </a:solidFill>
                <a:cs typeface="Arial MT"/>
              </a:rPr>
              <a:t>must </a:t>
            </a:r>
            <a:r>
              <a:rPr sz="2650" spc="-20" dirty="0">
                <a:solidFill>
                  <a:srgbClr val="9B0707"/>
                </a:solidFill>
                <a:cs typeface="Arial MT"/>
              </a:rPr>
              <a:t>have </a:t>
            </a:r>
            <a:r>
              <a:rPr sz="2650" spc="-720" dirty="0">
                <a:solidFill>
                  <a:srgbClr val="9B0707"/>
                </a:solidFill>
                <a:cs typeface="Arial MT"/>
              </a:rPr>
              <a:t> </a:t>
            </a:r>
            <a:r>
              <a:rPr sz="2650" spc="5" dirty="0">
                <a:solidFill>
                  <a:srgbClr val="9B0707"/>
                </a:solidFill>
                <a:cs typeface="Arial MT"/>
              </a:rPr>
              <a:t>distance</a:t>
            </a:r>
            <a:r>
              <a:rPr sz="2650" spc="20" dirty="0">
                <a:solidFill>
                  <a:srgbClr val="9B0707"/>
                </a:solidFill>
                <a:cs typeface="Arial MT"/>
              </a:rPr>
              <a:t> </a:t>
            </a:r>
            <a:r>
              <a:rPr sz="2950" spc="10" dirty="0">
                <a:solidFill>
                  <a:srgbClr val="9B0707"/>
                </a:solidFill>
                <a:cs typeface="Times New Roman"/>
              </a:rPr>
              <a:t>2</a:t>
            </a:r>
            <a:r>
              <a:rPr sz="2950" i="1" spc="10" dirty="0">
                <a:solidFill>
                  <a:srgbClr val="9B0707"/>
                </a:solidFill>
                <a:cs typeface="Times New Roman"/>
              </a:rPr>
              <a:t>d</a:t>
            </a:r>
            <a:r>
              <a:rPr lang="en-US" sz="2950" i="1" spc="10" dirty="0">
                <a:solidFill>
                  <a:srgbClr val="9B0707"/>
                </a:solidFill>
                <a:cs typeface="Times New Roman"/>
              </a:rPr>
              <a:t>+</a:t>
            </a:r>
            <a:r>
              <a:rPr sz="2950" spc="10" dirty="0">
                <a:solidFill>
                  <a:srgbClr val="9B0707"/>
                </a:solidFill>
                <a:cs typeface="Times New Roman"/>
              </a:rPr>
              <a:t>1</a:t>
            </a:r>
            <a:r>
              <a:rPr sz="2650" spc="10" dirty="0">
                <a:solidFill>
                  <a:srgbClr val="9B0707"/>
                </a:solidFill>
                <a:cs typeface="Arial MT"/>
              </a:rPr>
              <a:t>, </a:t>
            </a:r>
            <a:r>
              <a:rPr sz="2650" spc="5" dirty="0">
                <a:solidFill>
                  <a:srgbClr val="9B0707"/>
                </a:solidFill>
                <a:cs typeface="Arial MT"/>
              </a:rPr>
              <a:t>to </a:t>
            </a:r>
            <a:r>
              <a:rPr sz="2650" spc="10" dirty="0">
                <a:solidFill>
                  <a:srgbClr val="9B0707"/>
                </a:solidFill>
                <a:cs typeface="Arial MT"/>
              </a:rPr>
              <a:t>ensure </a:t>
            </a:r>
            <a:r>
              <a:rPr sz="2650" spc="5" dirty="0">
                <a:solidFill>
                  <a:srgbClr val="9B0707"/>
                </a:solidFill>
                <a:cs typeface="Arial MT"/>
              </a:rPr>
              <a:t>that the </a:t>
            </a:r>
            <a:r>
              <a:rPr sz="2650" spc="10" dirty="0">
                <a:solidFill>
                  <a:srgbClr val="9B0707"/>
                </a:solidFill>
                <a:cs typeface="Arial MT"/>
              </a:rPr>
              <a:t>original </a:t>
            </a:r>
            <a:r>
              <a:rPr sz="2650" spc="15" dirty="0">
                <a:solidFill>
                  <a:srgbClr val="9B0707"/>
                </a:solidFill>
                <a:cs typeface="Arial MT"/>
              </a:rPr>
              <a:t> </a:t>
            </a:r>
            <a:r>
              <a:rPr sz="2650" dirty="0">
                <a:solidFill>
                  <a:srgbClr val="9B0707"/>
                </a:solidFill>
                <a:cs typeface="Arial MT"/>
              </a:rPr>
              <a:t>codeword</a:t>
            </a:r>
            <a:r>
              <a:rPr sz="2650" spc="-15" dirty="0">
                <a:solidFill>
                  <a:srgbClr val="9B0707"/>
                </a:solidFill>
                <a:cs typeface="Arial MT"/>
              </a:rPr>
              <a:t> </a:t>
            </a:r>
            <a:r>
              <a:rPr sz="2650" spc="10" dirty="0">
                <a:solidFill>
                  <a:srgbClr val="9B0707"/>
                </a:solidFill>
                <a:cs typeface="Arial MT"/>
              </a:rPr>
              <a:t>is closer</a:t>
            </a:r>
            <a:r>
              <a:rPr sz="2650" spc="-20" dirty="0">
                <a:solidFill>
                  <a:srgbClr val="9B0707"/>
                </a:solidFill>
                <a:cs typeface="Arial MT"/>
              </a:rPr>
              <a:t> </a:t>
            </a:r>
            <a:r>
              <a:rPr sz="2650" spc="5" dirty="0">
                <a:solidFill>
                  <a:srgbClr val="9B0707"/>
                </a:solidFill>
                <a:cs typeface="Arial MT"/>
              </a:rPr>
              <a:t>than</a:t>
            </a:r>
            <a:r>
              <a:rPr sz="2650" dirty="0">
                <a:solidFill>
                  <a:srgbClr val="9B0707"/>
                </a:solidFill>
                <a:cs typeface="Arial MT"/>
              </a:rPr>
              <a:t> any</a:t>
            </a:r>
            <a:r>
              <a:rPr sz="2650" spc="-10" dirty="0">
                <a:solidFill>
                  <a:srgbClr val="9B0707"/>
                </a:solidFill>
                <a:cs typeface="Arial MT"/>
              </a:rPr>
              <a:t> </a:t>
            </a:r>
            <a:r>
              <a:rPr sz="2650" spc="5" dirty="0">
                <a:solidFill>
                  <a:srgbClr val="9B0707"/>
                </a:solidFill>
                <a:cs typeface="Arial MT"/>
              </a:rPr>
              <a:t>other</a:t>
            </a:r>
            <a:endParaRPr sz="2650" dirty="0">
              <a:cs typeface="Arial MT"/>
            </a:endParaRPr>
          </a:p>
        </p:txBody>
      </p:sp>
      <p:sp>
        <p:nvSpPr>
          <p:cNvPr id="6" name="Oval 5">
            <a:extLst>
              <a:ext uri="{FF2B5EF4-FFF2-40B4-BE49-F238E27FC236}">
                <a16:creationId xmlns:a16="http://schemas.microsoft.com/office/drawing/2014/main" id="{39966CC5-771C-64A6-3CC3-A90BF0283373}"/>
              </a:ext>
            </a:extLst>
          </p:cNvPr>
          <p:cNvSpPr/>
          <p:nvPr/>
        </p:nvSpPr>
        <p:spPr>
          <a:xfrm>
            <a:off x="1676400" y="4414288"/>
            <a:ext cx="1066800" cy="61491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6490" y="222593"/>
            <a:ext cx="8675370" cy="614912"/>
          </a:xfrm>
          <a:prstGeom prst="rect">
            <a:avLst/>
          </a:prstGeom>
        </p:spPr>
        <p:txBody>
          <a:bodyPr vert="horz" wrap="square" lIns="0" tIns="75565" rIns="0" bIns="0" rtlCol="0">
            <a:spAutoFit/>
          </a:bodyPr>
          <a:lstStyle/>
          <a:p>
            <a:pPr marL="12700" marR="5080">
              <a:lnSpc>
                <a:spcPts val="4200"/>
              </a:lnSpc>
              <a:spcBef>
                <a:spcPts val="595"/>
              </a:spcBef>
            </a:pPr>
            <a:r>
              <a:rPr spc="-5" dirty="0"/>
              <a:t>Hamming</a:t>
            </a:r>
            <a:r>
              <a:rPr spc="-20" dirty="0"/>
              <a:t> </a:t>
            </a:r>
            <a:r>
              <a:rPr dirty="0"/>
              <a:t>Codes</a:t>
            </a:r>
            <a:endParaRPr spc="-5" dirty="0"/>
          </a:p>
        </p:txBody>
      </p:sp>
      <p:sp>
        <p:nvSpPr>
          <p:cNvPr id="10" name="object 10"/>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26</a:t>
            </a:fld>
            <a:r>
              <a:rPr spc="10" dirty="0"/>
              <a:t>/69</a:t>
            </a:r>
          </a:p>
        </p:txBody>
      </p:sp>
      <p:sp>
        <p:nvSpPr>
          <p:cNvPr id="9" name="object 9"/>
          <p:cNvSpPr txBox="1"/>
          <p:nvPr/>
        </p:nvSpPr>
        <p:spPr>
          <a:xfrm>
            <a:off x="993457" y="1111108"/>
            <a:ext cx="8071485" cy="836768"/>
          </a:xfrm>
          <a:prstGeom prst="rect">
            <a:avLst/>
          </a:prstGeom>
        </p:spPr>
        <p:txBody>
          <a:bodyPr vert="horz" wrap="square" lIns="0" tIns="15875" rIns="0" bIns="0" rtlCol="0">
            <a:spAutoFit/>
          </a:bodyPr>
          <a:lstStyle/>
          <a:p>
            <a:pPr marL="12700" marR="130175" indent="-635" algn="just">
              <a:lnSpc>
                <a:spcPts val="3170"/>
              </a:lnSpc>
              <a:spcBef>
                <a:spcPts val="2330"/>
              </a:spcBef>
              <a:tabLst>
                <a:tab pos="1978025" algn="l"/>
              </a:tabLst>
            </a:pPr>
            <a:r>
              <a:rPr lang="en-US" sz="2650" spc="-150" dirty="0">
                <a:solidFill>
                  <a:srgbClr val="9B0707"/>
                </a:solidFill>
                <a:cs typeface="Arial MT"/>
              </a:rPr>
              <a:t>To </a:t>
            </a:r>
            <a:r>
              <a:rPr lang="en-US" sz="2650" u="sng" spc="-150" dirty="0">
                <a:solidFill>
                  <a:srgbClr val="9B0707"/>
                </a:solidFill>
                <a:cs typeface="Arial MT"/>
              </a:rPr>
              <a:t>reliably</a:t>
            </a:r>
            <a:r>
              <a:rPr lang="en-US" sz="2650" spc="-150" dirty="0">
                <a:solidFill>
                  <a:srgbClr val="9B0707"/>
                </a:solidFill>
                <a:cs typeface="Arial MT"/>
              </a:rPr>
              <a:t> </a:t>
            </a:r>
            <a:r>
              <a:rPr lang="en-US" sz="2650" spc="-5" dirty="0">
                <a:solidFill>
                  <a:srgbClr val="9B0707"/>
                </a:solidFill>
                <a:cs typeface="Arial MT"/>
              </a:rPr>
              <a:t> </a:t>
            </a:r>
            <a:r>
              <a:rPr lang="en-US" sz="2650" spc="5" dirty="0">
                <a:solidFill>
                  <a:srgbClr val="9B0707"/>
                </a:solidFill>
                <a:highlight>
                  <a:srgbClr val="FFFF00"/>
                </a:highlight>
                <a:cs typeface="Arial MT"/>
              </a:rPr>
              <a:t>detect</a:t>
            </a:r>
            <a:r>
              <a:rPr lang="en-US" sz="2650" spc="10" dirty="0">
                <a:solidFill>
                  <a:srgbClr val="9B0707"/>
                </a:solidFill>
                <a:cs typeface="Arial MT"/>
              </a:rPr>
              <a:t> </a:t>
            </a:r>
            <a:r>
              <a:rPr lang="en-US" sz="2950" i="1" spc="10" dirty="0">
                <a:solidFill>
                  <a:srgbClr val="9B0707"/>
                </a:solidFill>
                <a:cs typeface="Times New Roman"/>
              </a:rPr>
              <a:t>d</a:t>
            </a:r>
            <a:r>
              <a:rPr lang="en-US" sz="2950" i="1" spc="155" dirty="0">
                <a:solidFill>
                  <a:srgbClr val="9B0707"/>
                </a:solidFill>
                <a:cs typeface="Times New Roman"/>
              </a:rPr>
              <a:t> </a:t>
            </a:r>
            <a:r>
              <a:rPr lang="en-US" sz="2650" spc="10" dirty="0">
                <a:solidFill>
                  <a:srgbClr val="9B0707"/>
                </a:solidFill>
                <a:cs typeface="Arial MT"/>
              </a:rPr>
              <a:t>single</a:t>
            </a:r>
            <a:r>
              <a:rPr lang="en-US" sz="2650" spc="-15" dirty="0">
                <a:solidFill>
                  <a:srgbClr val="9B0707"/>
                </a:solidFill>
                <a:cs typeface="Arial MT"/>
              </a:rPr>
              <a:t> </a:t>
            </a:r>
            <a:r>
              <a:rPr lang="en-US" sz="2650" spc="5" dirty="0">
                <a:solidFill>
                  <a:srgbClr val="9B0707"/>
                </a:solidFill>
                <a:cs typeface="Arial MT"/>
              </a:rPr>
              <a:t>bit</a:t>
            </a:r>
            <a:r>
              <a:rPr lang="en-US" sz="2650" spc="10" dirty="0">
                <a:solidFill>
                  <a:srgbClr val="9B0707"/>
                </a:solidFill>
                <a:cs typeface="Arial MT"/>
              </a:rPr>
              <a:t> </a:t>
            </a:r>
            <a:r>
              <a:rPr lang="en-US" sz="2650" dirty="0">
                <a:solidFill>
                  <a:srgbClr val="9B0707"/>
                </a:solidFill>
                <a:cs typeface="Arial MT"/>
              </a:rPr>
              <a:t>errors, </a:t>
            </a:r>
            <a:r>
              <a:rPr lang="en-US" sz="2650" spc="5" dirty="0">
                <a:solidFill>
                  <a:srgbClr val="9B0707"/>
                </a:solidFill>
                <a:cs typeface="Arial MT"/>
              </a:rPr>
              <a:t>the</a:t>
            </a:r>
            <a:r>
              <a:rPr lang="en-US" sz="2650" dirty="0">
                <a:solidFill>
                  <a:srgbClr val="9B0707"/>
                </a:solidFill>
                <a:cs typeface="Arial MT"/>
              </a:rPr>
              <a:t> </a:t>
            </a:r>
            <a:r>
              <a:rPr lang="en-US" sz="2650" spc="15" dirty="0">
                <a:solidFill>
                  <a:srgbClr val="9B0707"/>
                </a:solidFill>
                <a:cs typeface="Arial MT"/>
              </a:rPr>
              <a:t>code</a:t>
            </a:r>
            <a:r>
              <a:rPr lang="en-US" sz="2650" spc="-10" dirty="0">
                <a:solidFill>
                  <a:srgbClr val="9B0707"/>
                </a:solidFill>
                <a:cs typeface="Arial MT"/>
              </a:rPr>
              <a:t> </a:t>
            </a:r>
            <a:r>
              <a:rPr lang="en-US" sz="2650" spc="5" dirty="0">
                <a:solidFill>
                  <a:srgbClr val="9B0707"/>
                </a:solidFill>
                <a:cs typeface="Arial MT"/>
              </a:rPr>
              <a:t>must </a:t>
            </a:r>
            <a:r>
              <a:rPr lang="en-US" sz="2650" spc="-20" dirty="0">
                <a:solidFill>
                  <a:srgbClr val="9B0707"/>
                </a:solidFill>
                <a:cs typeface="Arial MT"/>
              </a:rPr>
              <a:t>have </a:t>
            </a:r>
            <a:r>
              <a:rPr lang="en-US" sz="2650" spc="-720" dirty="0">
                <a:solidFill>
                  <a:srgbClr val="9B0707"/>
                </a:solidFill>
                <a:cs typeface="Arial MT"/>
              </a:rPr>
              <a:t> </a:t>
            </a:r>
            <a:r>
              <a:rPr lang="en-US" sz="2650" spc="5" dirty="0">
                <a:solidFill>
                  <a:srgbClr val="9B0707"/>
                </a:solidFill>
                <a:cs typeface="Arial MT"/>
              </a:rPr>
              <a:t>distance</a:t>
            </a:r>
            <a:r>
              <a:rPr lang="en-US" sz="2650" spc="15" dirty="0">
                <a:solidFill>
                  <a:srgbClr val="9B0707"/>
                </a:solidFill>
                <a:cs typeface="Arial MT"/>
              </a:rPr>
              <a:t> </a:t>
            </a:r>
            <a:r>
              <a:rPr lang="en-US" sz="2950" i="1" spc="10" dirty="0">
                <a:solidFill>
                  <a:srgbClr val="9B0707"/>
                </a:solidFill>
                <a:cs typeface="Times New Roman"/>
              </a:rPr>
              <a:t>d+</a:t>
            </a:r>
            <a:r>
              <a:rPr lang="en-US" sz="2950" spc="10" dirty="0">
                <a:solidFill>
                  <a:srgbClr val="9B0707"/>
                </a:solidFill>
                <a:cs typeface="Times New Roman"/>
              </a:rPr>
              <a:t>1</a:t>
            </a:r>
            <a:endParaRPr lang="en-US" sz="2950" dirty="0">
              <a:cs typeface="Times New Roman"/>
            </a:endParaRPr>
          </a:p>
        </p:txBody>
      </p:sp>
      <p:sp>
        <p:nvSpPr>
          <p:cNvPr id="7" name="TextBox 6">
            <a:extLst>
              <a:ext uri="{FF2B5EF4-FFF2-40B4-BE49-F238E27FC236}">
                <a16:creationId xmlns:a16="http://schemas.microsoft.com/office/drawing/2014/main" id="{25194E90-EED4-0063-E2D7-EA43339EFE29}"/>
              </a:ext>
            </a:extLst>
          </p:cNvPr>
          <p:cNvSpPr txBox="1"/>
          <p:nvPr/>
        </p:nvSpPr>
        <p:spPr>
          <a:xfrm>
            <a:off x="1600200" y="2143035"/>
            <a:ext cx="7118350" cy="830997"/>
          </a:xfrm>
          <a:prstGeom prst="rect">
            <a:avLst/>
          </a:prstGeom>
          <a:noFill/>
        </p:spPr>
        <p:txBody>
          <a:bodyPr wrap="square">
            <a:spAutoFit/>
          </a:bodyPr>
          <a:lstStyle/>
          <a:p>
            <a:r>
              <a:rPr lang="en-US" sz="2400" b="0" i="0" u="none" strike="noStrike" baseline="0" dirty="0">
                <a:latin typeface="Times-Roman"/>
              </a:rPr>
              <a:t>0000000000, 0000011111, 1111101010, and 1111111111</a:t>
            </a:r>
          </a:p>
          <a:p>
            <a:endParaRPr lang="en-US" sz="2400" dirty="0">
              <a:latin typeface="Times-Roman"/>
            </a:endParaRPr>
          </a:p>
        </p:txBody>
      </p:sp>
      <p:sp>
        <p:nvSpPr>
          <p:cNvPr id="8" name="TextBox 7">
            <a:extLst>
              <a:ext uri="{FF2B5EF4-FFF2-40B4-BE49-F238E27FC236}">
                <a16:creationId xmlns:a16="http://schemas.microsoft.com/office/drawing/2014/main" id="{360C60DC-44EE-6ED3-47C7-5FDA7DE76E85}"/>
              </a:ext>
            </a:extLst>
          </p:cNvPr>
          <p:cNvSpPr txBox="1"/>
          <p:nvPr/>
        </p:nvSpPr>
        <p:spPr>
          <a:xfrm>
            <a:off x="609600" y="5029200"/>
            <a:ext cx="8915400" cy="954107"/>
          </a:xfrm>
          <a:prstGeom prst="rect">
            <a:avLst/>
          </a:prstGeom>
          <a:noFill/>
        </p:spPr>
        <p:txBody>
          <a:bodyPr wrap="square" rtlCol="0">
            <a:spAutoFit/>
          </a:bodyPr>
          <a:lstStyle/>
          <a:p>
            <a:r>
              <a:rPr lang="en-US" sz="2800" dirty="0"/>
              <a:t>Here, minimum Hamming distance: 3 ( value of d=2)</a:t>
            </a:r>
          </a:p>
          <a:p>
            <a:r>
              <a:rPr lang="en-US" sz="2800" dirty="0"/>
              <a:t>So a maximum 2 single-bit errors can be detected reliably. </a:t>
            </a:r>
            <a:endParaRPr lang="en-US" dirty="0"/>
          </a:p>
        </p:txBody>
      </p:sp>
      <p:sp>
        <p:nvSpPr>
          <p:cNvPr id="5" name="TextBox 4">
            <a:extLst>
              <a:ext uri="{FF2B5EF4-FFF2-40B4-BE49-F238E27FC236}">
                <a16:creationId xmlns:a16="http://schemas.microsoft.com/office/drawing/2014/main" id="{DD1B054D-FFF6-99B2-9808-080DF9B960C9}"/>
              </a:ext>
            </a:extLst>
          </p:cNvPr>
          <p:cNvSpPr txBox="1"/>
          <p:nvPr/>
        </p:nvSpPr>
        <p:spPr>
          <a:xfrm>
            <a:off x="993456" y="2639347"/>
            <a:ext cx="7388544" cy="2585323"/>
          </a:xfrm>
          <a:prstGeom prst="rect">
            <a:avLst/>
          </a:prstGeom>
          <a:noFill/>
        </p:spPr>
        <p:txBody>
          <a:bodyPr wrap="square">
            <a:spAutoFit/>
          </a:bodyPr>
          <a:lstStyle/>
          <a:p>
            <a:pPr>
              <a:buFont typeface="Arial" panose="020B0604020202020204" pitchFamily="34" charset="0"/>
              <a:buChar char="•"/>
            </a:pPr>
            <a:r>
              <a:rPr lang="en-US" dirty="0"/>
              <a:t>Hamming distance between Codewords 1 and 2: 5 (five bits differ).</a:t>
            </a:r>
          </a:p>
          <a:p>
            <a:pPr>
              <a:buFont typeface="Arial" panose="020B0604020202020204" pitchFamily="34" charset="0"/>
              <a:buChar char="•"/>
            </a:pPr>
            <a:r>
              <a:rPr lang="en-US" dirty="0"/>
              <a:t>Hamming distance between Codewords 1 and 3: 7 (seven bits differ).</a:t>
            </a:r>
          </a:p>
          <a:p>
            <a:pPr>
              <a:buFont typeface="Arial" panose="020B0604020202020204" pitchFamily="34" charset="0"/>
              <a:buChar char="•"/>
            </a:pPr>
            <a:r>
              <a:rPr lang="en-US" dirty="0"/>
              <a:t>Hamming distance between Codewords 1 and 4: 10 (ten bits differ).</a:t>
            </a:r>
          </a:p>
          <a:p>
            <a:pPr>
              <a:buFont typeface="Arial" panose="020B0604020202020204" pitchFamily="34" charset="0"/>
              <a:buChar char="•"/>
            </a:pPr>
            <a:endParaRPr lang="en-US" dirty="0"/>
          </a:p>
          <a:p>
            <a:pPr>
              <a:buFont typeface="Arial" panose="020B0604020202020204" pitchFamily="34" charset="0"/>
              <a:buChar char="•"/>
            </a:pPr>
            <a:r>
              <a:rPr lang="en-US" dirty="0"/>
              <a:t>Hamming distance between Codewords 2 and 3: 8 (eight bits differ).</a:t>
            </a:r>
          </a:p>
          <a:p>
            <a:pPr>
              <a:buFont typeface="Arial" panose="020B0604020202020204" pitchFamily="34" charset="0"/>
              <a:buChar char="•"/>
            </a:pPr>
            <a:r>
              <a:rPr lang="en-US" dirty="0"/>
              <a:t>Hamming distance between Codewords 2 and 4: 5 ( five bits differ).</a:t>
            </a:r>
          </a:p>
          <a:p>
            <a:pPr>
              <a:buFont typeface="Arial" panose="020B0604020202020204" pitchFamily="34" charset="0"/>
              <a:buChar char="•"/>
            </a:pPr>
            <a:endParaRPr lang="en-US" dirty="0"/>
          </a:p>
          <a:p>
            <a:pPr>
              <a:buFont typeface="Arial" panose="020B0604020202020204" pitchFamily="34" charset="0"/>
              <a:buChar char="•"/>
            </a:pPr>
            <a:r>
              <a:rPr lang="en-US" dirty="0"/>
              <a:t>Hamming distance between Codewords 3 and 4: 3 (3 bits differ).</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427922097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57" y="154728"/>
            <a:ext cx="8675370" cy="614912"/>
          </a:xfrm>
          <a:prstGeom prst="rect">
            <a:avLst/>
          </a:prstGeom>
        </p:spPr>
        <p:txBody>
          <a:bodyPr vert="horz" wrap="square" lIns="0" tIns="75565" rIns="0" bIns="0" rtlCol="0">
            <a:spAutoFit/>
          </a:bodyPr>
          <a:lstStyle/>
          <a:p>
            <a:pPr marL="12700" marR="5080">
              <a:lnSpc>
                <a:spcPts val="4200"/>
              </a:lnSpc>
              <a:spcBef>
                <a:spcPts val="595"/>
              </a:spcBef>
            </a:pPr>
            <a:r>
              <a:rPr spc="-5" dirty="0"/>
              <a:t>Hamming</a:t>
            </a:r>
            <a:r>
              <a:rPr spc="-20" dirty="0"/>
              <a:t> </a:t>
            </a:r>
            <a:r>
              <a:rPr dirty="0"/>
              <a:t>Codes</a:t>
            </a:r>
            <a:endParaRPr spc="-5" dirty="0"/>
          </a:p>
        </p:txBody>
      </p:sp>
      <p:sp>
        <p:nvSpPr>
          <p:cNvPr id="10" name="object 10"/>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27</a:t>
            </a:fld>
            <a:r>
              <a:rPr spc="10" dirty="0"/>
              <a:t>/69</a:t>
            </a:r>
          </a:p>
        </p:txBody>
      </p:sp>
      <p:sp>
        <p:nvSpPr>
          <p:cNvPr id="9" name="object 9"/>
          <p:cNvSpPr txBox="1"/>
          <p:nvPr/>
        </p:nvSpPr>
        <p:spPr>
          <a:xfrm>
            <a:off x="685800" y="1111108"/>
            <a:ext cx="8915399" cy="836768"/>
          </a:xfrm>
          <a:prstGeom prst="rect">
            <a:avLst/>
          </a:prstGeom>
        </p:spPr>
        <p:txBody>
          <a:bodyPr vert="horz" wrap="square" lIns="0" tIns="15875" rIns="0" bIns="0" rtlCol="0">
            <a:spAutoFit/>
          </a:bodyPr>
          <a:lstStyle/>
          <a:p>
            <a:pPr marL="12700" marR="130175" indent="-635" algn="just">
              <a:lnSpc>
                <a:spcPts val="3170"/>
              </a:lnSpc>
              <a:spcBef>
                <a:spcPts val="2330"/>
              </a:spcBef>
              <a:tabLst>
                <a:tab pos="1978025" algn="l"/>
              </a:tabLst>
            </a:pPr>
            <a:r>
              <a:rPr lang="en-US" sz="2650" spc="-150" dirty="0">
                <a:solidFill>
                  <a:srgbClr val="9B0707"/>
                </a:solidFill>
                <a:cs typeface="Arial MT"/>
              </a:rPr>
              <a:t>To </a:t>
            </a:r>
            <a:r>
              <a:rPr lang="en-US" sz="2650" u="sng" spc="-150" dirty="0">
                <a:solidFill>
                  <a:srgbClr val="9B0707"/>
                </a:solidFill>
                <a:cs typeface="Arial MT"/>
              </a:rPr>
              <a:t>reliably</a:t>
            </a:r>
            <a:r>
              <a:rPr lang="en-US" sz="2650" spc="-150" dirty="0">
                <a:solidFill>
                  <a:srgbClr val="9B0707"/>
                </a:solidFill>
                <a:cs typeface="Arial MT"/>
              </a:rPr>
              <a:t> </a:t>
            </a:r>
            <a:r>
              <a:rPr lang="en-US" sz="2650" spc="-5" dirty="0">
                <a:solidFill>
                  <a:srgbClr val="9B0707"/>
                </a:solidFill>
                <a:cs typeface="Arial MT"/>
              </a:rPr>
              <a:t> </a:t>
            </a:r>
            <a:r>
              <a:rPr lang="en-US" sz="2650" spc="5" dirty="0">
                <a:solidFill>
                  <a:srgbClr val="9B0707"/>
                </a:solidFill>
                <a:highlight>
                  <a:srgbClr val="FFFF00"/>
                </a:highlight>
                <a:cs typeface="Arial MT"/>
              </a:rPr>
              <a:t>detect</a:t>
            </a:r>
            <a:r>
              <a:rPr lang="en-US" sz="2650" spc="10" dirty="0">
                <a:solidFill>
                  <a:srgbClr val="9B0707"/>
                </a:solidFill>
                <a:cs typeface="Arial MT"/>
              </a:rPr>
              <a:t> </a:t>
            </a:r>
            <a:r>
              <a:rPr lang="en-US" sz="2950" i="1" spc="10" dirty="0">
                <a:solidFill>
                  <a:srgbClr val="9B0707"/>
                </a:solidFill>
                <a:cs typeface="Times New Roman"/>
              </a:rPr>
              <a:t>d</a:t>
            </a:r>
            <a:r>
              <a:rPr lang="en-US" sz="2950" i="1" spc="155" dirty="0">
                <a:solidFill>
                  <a:srgbClr val="9B0707"/>
                </a:solidFill>
                <a:cs typeface="Times New Roman"/>
              </a:rPr>
              <a:t> </a:t>
            </a:r>
            <a:r>
              <a:rPr lang="en-US" sz="2650" spc="10" dirty="0">
                <a:solidFill>
                  <a:srgbClr val="9B0707"/>
                </a:solidFill>
                <a:cs typeface="Arial MT"/>
              </a:rPr>
              <a:t>single</a:t>
            </a:r>
            <a:r>
              <a:rPr lang="en-US" sz="2650" spc="-15" dirty="0">
                <a:solidFill>
                  <a:srgbClr val="9B0707"/>
                </a:solidFill>
                <a:cs typeface="Arial MT"/>
              </a:rPr>
              <a:t> </a:t>
            </a:r>
            <a:r>
              <a:rPr lang="en-US" sz="2650" spc="5" dirty="0">
                <a:solidFill>
                  <a:srgbClr val="9B0707"/>
                </a:solidFill>
                <a:cs typeface="Arial MT"/>
              </a:rPr>
              <a:t>bit</a:t>
            </a:r>
            <a:r>
              <a:rPr lang="en-US" sz="2650" spc="10" dirty="0">
                <a:solidFill>
                  <a:srgbClr val="9B0707"/>
                </a:solidFill>
                <a:cs typeface="Arial MT"/>
              </a:rPr>
              <a:t> </a:t>
            </a:r>
            <a:r>
              <a:rPr lang="en-US" sz="2650" dirty="0">
                <a:solidFill>
                  <a:srgbClr val="9B0707"/>
                </a:solidFill>
                <a:cs typeface="Arial MT"/>
              </a:rPr>
              <a:t>errors, </a:t>
            </a:r>
            <a:r>
              <a:rPr lang="en-US" sz="2650" spc="5" dirty="0">
                <a:solidFill>
                  <a:srgbClr val="9B0707"/>
                </a:solidFill>
                <a:cs typeface="Arial MT"/>
              </a:rPr>
              <a:t>the</a:t>
            </a:r>
            <a:r>
              <a:rPr lang="en-US" sz="2650" dirty="0">
                <a:solidFill>
                  <a:srgbClr val="9B0707"/>
                </a:solidFill>
                <a:cs typeface="Arial MT"/>
              </a:rPr>
              <a:t> </a:t>
            </a:r>
            <a:r>
              <a:rPr lang="en-US" sz="2650" spc="15" dirty="0">
                <a:solidFill>
                  <a:srgbClr val="9B0707"/>
                </a:solidFill>
                <a:cs typeface="Arial MT"/>
              </a:rPr>
              <a:t>code</a:t>
            </a:r>
            <a:r>
              <a:rPr lang="en-US" sz="2650" spc="-10" dirty="0">
                <a:solidFill>
                  <a:srgbClr val="9B0707"/>
                </a:solidFill>
                <a:cs typeface="Arial MT"/>
              </a:rPr>
              <a:t> </a:t>
            </a:r>
            <a:r>
              <a:rPr lang="en-US" sz="2650" spc="5" dirty="0">
                <a:solidFill>
                  <a:srgbClr val="9B0707"/>
                </a:solidFill>
                <a:cs typeface="Arial MT"/>
              </a:rPr>
              <a:t>must </a:t>
            </a:r>
            <a:r>
              <a:rPr lang="en-US" sz="2650" spc="-20" dirty="0">
                <a:solidFill>
                  <a:srgbClr val="9B0707"/>
                </a:solidFill>
                <a:cs typeface="Arial MT"/>
              </a:rPr>
              <a:t>have </a:t>
            </a:r>
            <a:r>
              <a:rPr lang="en-US" sz="2650" spc="-720" dirty="0">
                <a:solidFill>
                  <a:srgbClr val="9B0707"/>
                </a:solidFill>
                <a:cs typeface="Arial MT"/>
              </a:rPr>
              <a:t> </a:t>
            </a:r>
            <a:r>
              <a:rPr lang="en-US" sz="2650" spc="5" dirty="0">
                <a:solidFill>
                  <a:srgbClr val="9B0707"/>
                </a:solidFill>
                <a:cs typeface="Arial MT"/>
              </a:rPr>
              <a:t>distance</a:t>
            </a:r>
            <a:r>
              <a:rPr lang="en-US" sz="2650" spc="15" dirty="0">
                <a:solidFill>
                  <a:srgbClr val="9B0707"/>
                </a:solidFill>
                <a:cs typeface="Arial MT"/>
              </a:rPr>
              <a:t> </a:t>
            </a:r>
            <a:r>
              <a:rPr lang="en-US" sz="2950" i="1" spc="10" dirty="0">
                <a:solidFill>
                  <a:srgbClr val="9B0707"/>
                </a:solidFill>
                <a:cs typeface="Times New Roman"/>
              </a:rPr>
              <a:t>d+</a:t>
            </a:r>
            <a:r>
              <a:rPr lang="en-US" sz="2950" spc="10" dirty="0">
                <a:solidFill>
                  <a:srgbClr val="9B0707"/>
                </a:solidFill>
                <a:cs typeface="Times New Roman"/>
              </a:rPr>
              <a:t>1</a:t>
            </a:r>
            <a:endParaRPr lang="en-US" sz="2950" dirty="0">
              <a:cs typeface="Times New Roman"/>
            </a:endParaRPr>
          </a:p>
        </p:txBody>
      </p:sp>
      <p:sp>
        <p:nvSpPr>
          <p:cNvPr id="7" name="TextBox 6">
            <a:extLst>
              <a:ext uri="{FF2B5EF4-FFF2-40B4-BE49-F238E27FC236}">
                <a16:creationId xmlns:a16="http://schemas.microsoft.com/office/drawing/2014/main" id="{25194E90-EED4-0063-E2D7-EA43339EFE29}"/>
              </a:ext>
            </a:extLst>
          </p:cNvPr>
          <p:cNvSpPr txBox="1"/>
          <p:nvPr/>
        </p:nvSpPr>
        <p:spPr>
          <a:xfrm>
            <a:off x="1584324" y="1672333"/>
            <a:ext cx="7118350" cy="830997"/>
          </a:xfrm>
          <a:prstGeom prst="rect">
            <a:avLst/>
          </a:prstGeom>
          <a:noFill/>
        </p:spPr>
        <p:txBody>
          <a:bodyPr wrap="square">
            <a:spAutoFit/>
          </a:bodyPr>
          <a:lstStyle/>
          <a:p>
            <a:r>
              <a:rPr lang="en-US" sz="2400" b="0" i="0" u="none" strike="noStrike" baseline="0" dirty="0">
                <a:latin typeface="Times-Roman"/>
              </a:rPr>
              <a:t>0000000000, 0000011111, 1111101010, and 1111111111</a:t>
            </a:r>
          </a:p>
          <a:p>
            <a:endParaRPr lang="en-US" sz="2400" dirty="0">
              <a:latin typeface="Times-Roman"/>
            </a:endParaRPr>
          </a:p>
        </p:txBody>
      </p:sp>
      <p:sp>
        <p:nvSpPr>
          <p:cNvPr id="8" name="TextBox 7">
            <a:extLst>
              <a:ext uri="{FF2B5EF4-FFF2-40B4-BE49-F238E27FC236}">
                <a16:creationId xmlns:a16="http://schemas.microsoft.com/office/drawing/2014/main" id="{360C60DC-44EE-6ED3-47C7-5FDA7DE76E85}"/>
              </a:ext>
            </a:extLst>
          </p:cNvPr>
          <p:cNvSpPr txBox="1"/>
          <p:nvPr/>
        </p:nvSpPr>
        <p:spPr>
          <a:xfrm>
            <a:off x="2476500" y="2154638"/>
            <a:ext cx="5105400" cy="769441"/>
          </a:xfrm>
          <a:prstGeom prst="rect">
            <a:avLst/>
          </a:prstGeom>
          <a:solidFill>
            <a:schemeClr val="accent1">
              <a:lumMod val="20000"/>
              <a:lumOff val="80000"/>
            </a:schemeClr>
          </a:solidFill>
        </p:spPr>
        <p:txBody>
          <a:bodyPr wrap="square" rtlCol="0">
            <a:spAutoFit/>
          </a:bodyPr>
          <a:lstStyle/>
          <a:p>
            <a:r>
              <a:rPr lang="en-US" sz="1600" dirty="0"/>
              <a:t>Here, minimum Hamming distance: 3 ( value of d=2)</a:t>
            </a:r>
          </a:p>
          <a:p>
            <a:r>
              <a:rPr lang="en-US" sz="1600" dirty="0"/>
              <a:t>So a </a:t>
            </a:r>
            <a:r>
              <a:rPr lang="en-US" sz="1600" dirty="0">
                <a:highlight>
                  <a:srgbClr val="FFFF00"/>
                </a:highlight>
              </a:rPr>
              <a:t>maximum 2 single-bit </a:t>
            </a:r>
            <a:r>
              <a:rPr lang="en-US" sz="1600" dirty="0"/>
              <a:t>errors can be detected </a:t>
            </a:r>
            <a:r>
              <a:rPr lang="en-US" sz="1600" dirty="0">
                <a:highlight>
                  <a:srgbClr val="FFFF00"/>
                </a:highlight>
              </a:rPr>
              <a:t>reliably</a:t>
            </a:r>
            <a:r>
              <a:rPr lang="en-US" sz="2800" dirty="0">
                <a:highlight>
                  <a:srgbClr val="FFFF00"/>
                </a:highlight>
              </a:rPr>
              <a:t>. </a:t>
            </a:r>
            <a:endParaRPr lang="en-US" dirty="0">
              <a:highlight>
                <a:srgbClr val="FFFF00"/>
              </a:highlight>
            </a:endParaRPr>
          </a:p>
        </p:txBody>
      </p:sp>
      <p:sp>
        <p:nvSpPr>
          <p:cNvPr id="4" name="TextBox 3">
            <a:extLst>
              <a:ext uri="{FF2B5EF4-FFF2-40B4-BE49-F238E27FC236}">
                <a16:creationId xmlns:a16="http://schemas.microsoft.com/office/drawing/2014/main" id="{AF3067CC-A5B9-3AD3-F141-95391B1F04A4}"/>
              </a:ext>
            </a:extLst>
          </p:cNvPr>
          <p:cNvSpPr txBox="1"/>
          <p:nvPr/>
        </p:nvSpPr>
        <p:spPr>
          <a:xfrm>
            <a:off x="381000" y="2940634"/>
            <a:ext cx="9146000" cy="4524315"/>
          </a:xfrm>
          <a:prstGeom prst="rect">
            <a:avLst/>
          </a:prstGeom>
          <a:noFill/>
        </p:spPr>
        <p:txBody>
          <a:bodyPr wrap="square">
            <a:spAutoFit/>
          </a:bodyPr>
          <a:lstStyle/>
          <a:p>
            <a:pPr indent="-457200" algn="just"/>
            <a:r>
              <a:rPr lang="en-US" sz="1800" b="1" dirty="0">
                <a:latin typeface="Times-Roman"/>
              </a:rPr>
              <a:t>Case 1 (Error-bit &lt; 3) : </a:t>
            </a:r>
            <a:r>
              <a:rPr lang="en-US" dirty="0">
                <a:latin typeface="Times-Roman"/>
              </a:rPr>
              <a:t>Suppose, the arrived</a:t>
            </a:r>
            <a:r>
              <a:rPr lang="en-US" b="0" i="0" u="none" strike="noStrike" baseline="0" dirty="0">
                <a:latin typeface="Times-Roman"/>
              </a:rPr>
              <a:t> codeword is 0000000011, instead of 0000000000. </a:t>
            </a:r>
          </a:p>
          <a:p>
            <a:pPr lvl="1" algn="just"/>
            <a:r>
              <a:rPr lang="en-US" b="0" i="0" u="none" strike="noStrike" baseline="0" dirty="0">
                <a:latin typeface="Times-Roman"/>
              </a:rPr>
              <a:t>So here 2</a:t>
            </a:r>
            <a:r>
              <a:rPr lang="en-US" dirty="0">
                <a:latin typeface="Times-Roman"/>
              </a:rPr>
              <a:t> single-bit errors have occurred. As it doesn’t match with any valid codeword, the receiver discards it. </a:t>
            </a:r>
          </a:p>
          <a:p>
            <a:pPr algn="just"/>
            <a:r>
              <a:rPr lang="en-US" b="1" dirty="0">
                <a:latin typeface="Times-Roman"/>
              </a:rPr>
              <a:t>Case 2 </a:t>
            </a:r>
            <a:r>
              <a:rPr lang="en-US" sz="1800" b="1" dirty="0">
                <a:latin typeface="Times-Roman"/>
              </a:rPr>
              <a:t>(Error-bit= 3) : </a:t>
            </a:r>
            <a:r>
              <a:rPr lang="en-US" dirty="0">
                <a:latin typeface="Times-Roman"/>
              </a:rPr>
              <a:t>Suppose, the arrived</a:t>
            </a:r>
            <a:r>
              <a:rPr lang="en-US" b="0" i="0" u="none" strike="noStrike" baseline="0" dirty="0">
                <a:latin typeface="Times-Roman"/>
              </a:rPr>
              <a:t> codeword is 0101011111, instead of 1111111111. </a:t>
            </a:r>
          </a:p>
          <a:p>
            <a:pPr lvl="1" algn="just"/>
            <a:r>
              <a:rPr lang="en-US" b="0" i="0" u="none" strike="noStrike" baseline="0" dirty="0">
                <a:latin typeface="Times-Roman"/>
              </a:rPr>
              <a:t>So here </a:t>
            </a:r>
            <a:r>
              <a:rPr lang="en-US" dirty="0">
                <a:latin typeface="Times-Roman"/>
              </a:rPr>
              <a:t>3 single-bit errors have occurred. As it doesn’t match with any valid codeword, the error is detected and the receiver discards it.  According to the statement, you may think it shouldn’t be detected. But focus on </a:t>
            </a:r>
            <a:r>
              <a:rPr lang="en-US" dirty="0">
                <a:highlight>
                  <a:srgbClr val="FFFF00"/>
                </a:highlight>
                <a:latin typeface="Times-Roman"/>
              </a:rPr>
              <a:t>reliably. </a:t>
            </a:r>
          </a:p>
          <a:p>
            <a:pPr lvl="1" algn="just"/>
            <a:r>
              <a:rPr lang="en-US" dirty="0">
                <a:latin typeface="Times-Roman"/>
              </a:rPr>
              <a:t>If the arrived</a:t>
            </a:r>
            <a:r>
              <a:rPr lang="en-US" b="0" i="0" u="none" strike="noStrike" baseline="0" dirty="0">
                <a:latin typeface="Times-Roman"/>
              </a:rPr>
              <a:t> codeword is 1111101010, here also 3</a:t>
            </a:r>
            <a:r>
              <a:rPr lang="en-US" dirty="0">
                <a:latin typeface="Times-Roman"/>
              </a:rPr>
              <a:t> single-bit errors have occurred. However, this time error can not be detected. When the number of error bits and hamming distance matches, both cases can happen. So detection becomes unreliable. </a:t>
            </a:r>
          </a:p>
          <a:p>
            <a:pPr algn="just"/>
            <a:r>
              <a:rPr lang="en-US" b="1" dirty="0">
                <a:latin typeface="Times-Roman"/>
              </a:rPr>
              <a:t>Case 3 (Error-bit&gt; 3) :  </a:t>
            </a:r>
            <a:r>
              <a:rPr lang="en-US" dirty="0">
                <a:latin typeface="Times-Roman"/>
              </a:rPr>
              <a:t>Suppose, the arrived</a:t>
            </a:r>
            <a:r>
              <a:rPr lang="en-US" b="0" i="0" u="none" strike="noStrike" baseline="0" dirty="0">
                <a:latin typeface="Times-Roman"/>
              </a:rPr>
              <a:t> codeword is 1000100111, instead of 1111111111. </a:t>
            </a:r>
          </a:p>
          <a:p>
            <a:pPr lvl="1" algn="just"/>
            <a:r>
              <a:rPr lang="en-US" b="0" i="0" u="none" strike="noStrike" baseline="0" dirty="0">
                <a:latin typeface="Times-Roman"/>
              </a:rPr>
              <a:t>So here 5</a:t>
            </a:r>
            <a:r>
              <a:rPr lang="en-US" dirty="0">
                <a:latin typeface="Times-Roman"/>
              </a:rPr>
              <a:t> single-bit errors have occurred, the error is detected and the receiver discards it. But, if the arrived</a:t>
            </a:r>
            <a:r>
              <a:rPr lang="en-US" b="0" i="0" u="none" strike="noStrike" baseline="0" dirty="0">
                <a:latin typeface="Times-Roman"/>
              </a:rPr>
              <a:t> codeword is 0000011111, here also 5</a:t>
            </a:r>
            <a:r>
              <a:rPr lang="en-US" dirty="0">
                <a:latin typeface="Times-Roman"/>
              </a:rPr>
              <a:t> single-bit errors have occurred. However, this time error can not be detected. So sometimes it can be, sometimes not (unreliable). </a:t>
            </a:r>
          </a:p>
          <a:p>
            <a:pPr lvl="1" algn="just"/>
            <a:endParaRPr lang="en-US" dirty="0"/>
          </a:p>
        </p:txBody>
      </p:sp>
    </p:spTree>
    <p:extLst>
      <p:ext uri="{BB962C8B-B14F-4D97-AF65-F5344CB8AC3E}">
        <p14:creationId xmlns:p14="http://schemas.microsoft.com/office/powerpoint/2010/main" val="186459732"/>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26490" y="222593"/>
            <a:ext cx="8675370" cy="614912"/>
          </a:xfrm>
          <a:prstGeom prst="rect">
            <a:avLst/>
          </a:prstGeom>
        </p:spPr>
        <p:txBody>
          <a:bodyPr vert="horz" wrap="square" lIns="0" tIns="75565" rIns="0" bIns="0" rtlCol="0">
            <a:spAutoFit/>
          </a:bodyPr>
          <a:lstStyle/>
          <a:p>
            <a:pPr marL="12700" marR="5080">
              <a:lnSpc>
                <a:spcPts val="4200"/>
              </a:lnSpc>
              <a:spcBef>
                <a:spcPts val="595"/>
              </a:spcBef>
            </a:pPr>
            <a:r>
              <a:rPr spc="-5" dirty="0"/>
              <a:t>Hamming</a:t>
            </a:r>
            <a:r>
              <a:rPr spc="-20" dirty="0"/>
              <a:t> </a:t>
            </a:r>
            <a:r>
              <a:rPr dirty="0"/>
              <a:t>Codes</a:t>
            </a:r>
            <a:endParaRPr spc="-5" dirty="0"/>
          </a:p>
        </p:txBody>
      </p:sp>
      <p:sp>
        <p:nvSpPr>
          <p:cNvPr id="10" name="object 10"/>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28</a:t>
            </a:fld>
            <a:r>
              <a:rPr spc="10" dirty="0"/>
              <a:t>/69</a:t>
            </a:r>
          </a:p>
        </p:txBody>
      </p:sp>
      <p:sp>
        <p:nvSpPr>
          <p:cNvPr id="9" name="object 9"/>
          <p:cNvSpPr txBox="1"/>
          <p:nvPr/>
        </p:nvSpPr>
        <p:spPr>
          <a:xfrm>
            <a:off x="993456" y="999673"/>
            <a:ext cx="8071485" cy="1224181"/>
          </a:xfrm>
          <a:prstGeom prst="rect">
            <a:avLst/>
          </a:prstGeom>
        </p:spPr>
        <p:txBody>
          <a:bodyPr vert="horz" wrap="square" lIns="0" tIns="15875" rIns="0" bIns="0" rtlCol="0">
            <a:spAutoFit/>
          </a:bodyPr>
          <a:lstStyle/>
          <a:p>
            <a:pPr marL="12700" marR="17780" algn="just">
              <a:lnSpc>
                <a:spcPts val="3170"/>
              </a:lnSpc>
              <a:spcBef>
                <a:spcPts val="2225"/>
              </a:spcBef>
              <a:tabLst>
                <a:tab pos="2166620" algn="l"/>
              </a:tabLst>
            </a:pPr>
            <a:r>
              <a:rPr lang="en-US" sz="2650" spc="-150" dirty="0">
                <a:solidFill>
                  <a:srgbClr val="9B0707"/>
                </a:solidFill>
                <a:cs typeface="Arial MT"/>
              </a:rPr>
              <a:t>To</a:t>
            </a:r>
            <a:r>
              <a:rPr lang="en-US" sz="2650" spc="-5" dirty="0">
                <a:solidFill>
                  <a:srgbClr val="9B0707"/>
                </a:solidFill>
                <a:cs typeface="Arial MT"/>
              </a:rPr>
              <a:t> </a:t>
            </a:r>
            <a:r>
              <a:rPr lang="en-US" sz="2650" spc="10" dirty="0">
                <a:solidFill>
                  <a:srgbClr val="9B0707"/>
                </a:solidFill>
                <a:highlight>
                  <a:srgbClr val="FFFF00"/>
                </a:highlight>
                <a:cs typeface="Arial MT"/>
              </a:rPr>
              <a:t>correct</a:t>
            </a:r>
            <a:r>
              <a:rPr lang="en-US" sz="2650" spc="-25" dirty="0">
                <a:solidFill>
                  <a:srgbClr val="9B0707"/>
                </a:solidFill>
                <a:cs typeface="Arial MT"/>
              </a:rPr>
              <a:t> </a:t>
            </a:r>
            <a:r>
              <a:rPr lang="en-US" sz="2950" i="1" spc="10" dirty="0">
                <a:solidFill>
                  <a:srgbClr val="9B0707"/>
                </a:solidFill>
                <a:cs typeface="Times New Roman"/>
              </a:rPr>
              <a:t>d</a:t>
            </a:r>
            <a:r>
              <a:rPr lang="en-US" sz="2950" i="1" spc="155" dirty="0">
                <a:solidFill>
                  <a:srgbClr val="9B0707"/>
                </a:solidFill>
                <a:cs typeface="Times New Roman"/>
              </a:rPr>
              <a:t>  </a:t>
            </a:r>
            <a:r>
              <a:rPr lang="en-US" sz="2650" spc="10" dirty="0">
                <a:solidFill>
                  <a:srgbClr val="9B0707"/>
                </a:solidFill>
                <a:cs typeface="Arial MT"/>
              </a:rPr>
              <a:t>single</a:t>
            </a:r>
            <a:r>
              <a:rPr lang="en-US" sz="2650" spc="-15" dirty="0">
                <a:solidFill>
                  <a:srgbClr val="9B0707"/>
                </a:solidFill>
                <a:cs typeface="Arial MT"/>
              </a:rPr>
              <a:t> </a:t>
            </a:r>
            <a:r>
              <a:rPr lang="en-US" sz="2650" spc="5" dirty="0">
                <a:solidFill>
                  <a:srgbClr val="9B0707"/>
                </a:solidFill>
                <a:cs typeface="Arial MT"/>
              </a:rPr>
              <a:t>bit </a:t>
            </a:r>
            <a:r>
              <a:rPr lang="en-US" sz="2650" dirty="0">
                <a:solidFill>
                  <a:srgbClr val="9B0707"/>
                </a:solidFill>
                <a:cs typeface="Arial MT"/>
              </a:rPr>
              <a:t>errors,</a:t>
            </a:r>
            <a:r>
              <a:rPr lang="en-US" sz="2650" spc="5" dirty="0">
                <a:solidFill>
                  <a:srgbClr val="9B0707"/>
                </a:solidFill>
                <a:cs typeface="Arial MT"/>
              </a:rPr>
              <a:t> the</a:t>
            </a:r>
            <a:r>
              <a:rPr lang="en-US" sz="2650" spc="-5" dirty="0">
                <a:solidFill>
                  <a:srgbClr val="9B0707"/>
                </a:solidFill>
                <a:cs typeface="Arial MT"/>
              </a:rPr>
              <a:t> </a:t>
            </a:r>
            <a:r>
              <a:rPr lang="en-US" sz="2650" spc="15" dirty="0">
                <a:solidFill>
                  <a:srgbClr val="9B0707"/>
                </a:solidFill>
                <a:cs typeface="Arial MT"/>
              </a:rPr>
              <a:t>code</a:t>
            </a:r>
            <a:r>
              <a:rPr lang="en-US" sz="2650" spc="-10" dirty="0">
                <a:solidFill>
                  <a:srgbClr val="9B0707"/>
                </a:solidFill>
                <a:cs typeface="Arial MT"/>
              </a:rPr>
              <a:t> </a:t>
            </a:r>
            <a:r>
              <a:rPr lang="en-US" sz="2650" spc="5" dirty="0">
                <a:solidFill>
                  <a:srgbClr val="9B0707"/>
                </a:solidFill>
                <a:cs typeface="Arial MT"/>
              </a:rPr>
              <a:t>must </a:t>
            </a:r>
            <a:r>
              <a:rPr lang="en-US" sz="2650" spc="-20" dirty="0">
                <a:solidFill>
                  <a:srgbClr val="9B0707"/>
                </a:solidFill>
                <a:cs typeface="Arial MT"/>
              </a:rPr>
              <a:t>have </a:t>
            </a:r>
            <a:r>
              <a:rPr lang="en-US" sz="2650" spc="-720" dirty="0">
                <a:solidFill>
                  <a:srgbClr val="9B0707"/>
                </a:solidFill>
                <a:cs typeface="Arial MT"/>
              </a:rPr>
              <a:t> </a:t>
            </a:r>
            <a:r>
              <a:rPr lang="en-US" sz="2650" spc="5" dirty="0">
                <a:solidFill>
                  <a:srgbClr val="9B0707"/>
                </a:solidFill>
                <a:cs typeface="Arial MT"/>
              </a:rPr>
              <a:t>distance</a:t>
            </a:r>
            <a:r>
              <a:rPr lang="en-US" sz="2650" spc="20" dirty="0">
                <a:solidFill>
                  <a:srgbClr val="9B0707"/>
                </a:solidFill>
                <a:cs typeface="Arial MT"/>
              </a:rPr>
              <a:t> </a:t>
            </a:r>
            <a:r>
              <a:rPr lang="en-US" sz="2950" spc="10" dirty="0">
                <a:solidFill>
                  <a:srgbClr val="9B0707"/>
                </a:solidFill>
                <a:cs typeface="Times New Roman"/>
              </a:rPr>
              <a:t>2</a:t>
            </a:r>
            <a:r>
              <a:rPr lang="en-US" sz="2950" i="1" spc="10" dirty="0">
                <a:solidFill>
                  <a:srgbClr val="9B0707"/>
                </a:solidFill>
                <a:cs typeface="Times New Roman"/>
              </a:rPr>
              <a:t>d+</a:t>
            </a:r>
            <a:r>
              <a:rPr lang="en-US" sz="2950" spc="10" dirty="0">
                <a:solidFill>
                  <a:srgbClr val="9B0707"/>
                </a:solidFill>
                <a:cs typeface="Times New Roman"/>
              </a:rPr>
              <a:t>1</a:t>
            </a:r>
            <a:r>
              <a:rPr lang="en-US" sz="2650" spc="10" dirty="0">
                <a:solidFill>
                  <a:srgbClr val="9B0707"/>
                </a:solidFill>
                <a:cs typeface="Arial MT"/>
              </a:rPr>
              <a:t>, </a:t>
            </a:r>
            <a:r>
              <a:rPr lang="en-US" sz="2650" spc="5" dirty="0">
                <a:solidFill>
                  <a:srgbClr val="9B0707"/>
                </a:solidFill>
                <a:cs typeface="Arial MT"/>
              </a:rPr>
              <a:t>to </a:t>
            </a:r>
            <a:r>
              <a:rPr lang="en-US" sz="2650" spc="10" dirty="0">
                <a:solidFill>
                  <a:srgbClr val="9B0707"/>
                </a:solidFill>
                <a:cs typeface="Arial MT"/>
              </a:rPr>
              <a:t>ensure </a:t>
            </a:r>
            <a:r>
              <a:rPr lang="en-US" sz="2650" spc="5" dirty="0">
                <a:solidFill>
                  <a:srgbClr val="9B0707"/>
                </a:solidFill>
                <a:cs typeface="Arial MT"/>
              </a:rPr>
              <a:t>that the </a:t>
            </a:r>
            <a:r>
              <a:rPr lang="en-US" sz="2650" spc="10" dirty="0">
                <a:solidFill>
                  <a:srgbClr val="9B0707"/>
                </a:solidFill>
                <a:cs typeface="Arial MT"/>
              </a:rPr>
              <a:t>original </a:t>
            </a:r>
            <a:r>
              <a:rPr lang="en-US" sz="2650" spc="15" dirty="0">
                <a:solidFill>
                  <a:srgbClr val="9B0707"/>
                </a:solidFill>
                <a:cs typeface="Arial MT"/>
              </a:rPr>
              <a:t> </a:t>
            </a:r>
            <a:r>
              <a:rPr lang="en-US" sz="2650" dirty="0">
                <a:solidFill>
                  <a:srgbClr val="9B0707"/>
                </a:solidFill>
                <a:cs typeface="Arial MT"/>
              </a:rPr>
              <a:t>codeword</a:t>
            </a:r>
            <a:r>
              <a:rPr lang="en-US" sz="2650" spc="-15" dirty="0">
                <a:solidFill>
                  <a:srgbClr val="9B0707"/>
                </a:solidFill>
                <a:cs typeface="Arial MT"/>
              </a:rPr>
              <a:t> </a:t>
            </a:r>
            <a:r>
              <a:rPr lang="en-US" sz="2650" spc="10" dirty="0">
                <a:solidFill>
                  <a:srgbClr val="9B0707"/>
                </a:solidFill>
                <a:cs typeface="Arial MT"/>
              </a:rPr>
              <a:t>is closer</a:t>
            </a:r>
            <a:r>
              <a:rPr lang="en-US" sz="2650" spc="-20" dirty="0">
                <a:solidFill>
                  <a:srgbClr val="9B0707"/>
                </a:solidFill>
                <a:cs typeface="Arial MT"/>
              </a:rPr>
              <a:t> </a:t>
            </a:r>
            <a:r>
              <a:rPr lang="en-US" sz="2650" spc="5" dirty="0">
                <a:solidFill>
                  <a:srgbClr val="9B0707"/>
                </a:solidFill>
                <a:cs typeface="Arial MT"/>
              </a:rPr>
              <a:t>than</a:t>
            </a:r>
            <a:r>
              <a:rPr lang="en-US" sz="2650" dirty="0">
                <a:solidFill>
                  <a:srgbClr val="9B0707"/>
                </a:solidFill>
                <a:cs typeface="Arial MT"/>
              </a:rPr>
              <a:t> any</a:t>
            </a:r>
            <a:r>
              <a:rPr lang="en-US" sz="2650" spc="-10" dirty="0">
                <a:solidFill>
                  <a:srgbClr val="9B0707"/>
                </a:solidFill>
                <a:cs typeface="Arial MT"/>
              </a:rPr>
              <a:t> </a:t>
            </a:r>
            <a:r>
              <a:rPr lang="en-US" sz="2650" spc="5" dirty="0">
                <a:solidFill>
                  <a:srgbClr val="9B0707"/>
                </a:solidFill>
                <a:cs typeface="Arial MT"/>
              </a:rPr>
              <a:t>other</a:t>
            </a:r>
            <a:endParaRPr lang="en-US" sz="2650" dirty="0">
              <a:cs typeface="Arial MT"/>
            </a:endParaRPr>
          </a:p>
        </p:txBody>
      </p:sp>
      <p:sp>
        <p:nvSpPr>
          <p:cNvPr id="7" name="TextBox 6">
            <a:extLst>
              <a:ext uri="{FF2B5EF4-FFF2-40B4-BE49-F238E27FC236}">
                <a16:creationId xmlns:a16="http://schemas.microsoft.com/office/drawing/2014/main" id="{25194E90-EED4-0063-E2D7-EA43339EFE29}"/>
              </a:ext>
            </a:extLst>
          </p:cNvPr>
          <p:cNvSpPr txBox="1"/>
          <p:nvPr/>
        </p:nvSpPr>
        <p:spPr>
          <a:xfrm>
            <a:off x="1600200" y="2143035"/>
            <a:ext cx="7118350" cy="830997"/>
          </a:xfrm>
          <a:prstGeom prst="rect">
            <a:avLst/>
          </a:prstGeom>
          <a:noFill/>
        </p:spPr>
        <p:txBody>
          <a:bodyPr wrap="square">
            <a:spAutoFit/>
          </a:bodyPr>
          <a:lstStyle/>
          <a:p>
            <a:r>
              <a:rPr lang="en-US" sz="2400" b="0" i="0" u="none" strike="noStrike" baseline="0" dirty="0">
                <a:latin typeface="Times-Roman"/>
              </a:rPr>
              <a:t>0000000000, 0000011111, 1111100010, and 1111111111</a:t>
            </a:r>
          </a:p>
          <a:p>
            <a:endParaRPr lang="en-US" sz="2400" dirty="0">
              <a:latin typeface="Times-Roman"/>
            </a:endParaRPr>
          </a:p>
        </p:txBody>
      </p:sp>
      <p:sp>
        <p:nvSpPr>
          <p:cNvPr id="8" name="TextBox 7">
            <a:extLst>
              <a:ext uri="{FF2B5EF4-FFF2-40B4-BE49-F238E27FC236}">
                <a16:creationId xmlns:a16="http://schemas.microsoft.com/office/drawing/2014/main" id="{360C60DC-44EE-6ED3-47C7-5FDA7DE76E85}"/>
              </a:ext>
            </a:extLst>
          </p:cNvPr>
          <p:cNvSpPr txBox="1"/>
          <p:nvPr/>
        </p:nvSpPr>
        <p:spPr>
          <a:xfrm>
            <a:off x="701675" y="5189110"/>
            <a:ext cx="8915400" cy="1815882"/>
          </a:xfrm>
          <a:prstGeom prst="rect">
            <a:avLst/>
          </a:prstGeom>
          <a:noFill/>
        </p:spPr>
        <p:txBody>
          <a:bodyPr wrap="square" rtlCol="0">
            <a:spAutoFit/>
          </a:bodyPr>
          <a:lstStyle/>
          <a:p>
            <a:r>
              <a:rPr lang="en-US" sz="2800" dirty="0"/>
              <a:t>Here, minimum Hamming distance: 5 ( value of d=2)</a:t>
            </a:r>
          </a:p>
          <a:p>
            <a:r>
              <a:rPr lang="en-US" sz="2800" dirty="0"/>
              <a:t>So double-bit errors can be corrected. </a:t>
            </a:r>
          </a:p>
          <a:p>
            <a:r>
              <a:rPr lang="en-US" sz="2800" dirty="0">
                <a:latin typeface="Times-Roman"/>
              </a:rPr>
              <a:t>if the arrived codeword is 0000000111, after correcting two bits we can say that </a:t>
            </a:r>
            <a:r>
              <a:rPr lang="en-US" sz="2800" dirty="0"/>
              <a:t>the original must have been 0000011111</a:t>
            </a:r>
          </a:p>
        </p:txBody>
      </p:sp>
      <p:sp>
        <p:nvSpPr>
          <p:cNvPr id="5" name="TextBox 4">
            <a:extLst>
              <a:ext uri="{FF2B5EF4-FFF2-40B4-BE49-F238E27FC236}">
                <a16:creationId xmlns:a16="http://schemas.microsoft.com/office/drawing/2014/main" id="{DD1B054D-FFF6-99B2-9808-080DF9B960C9}"/>
              </a:ext>
            </a:extLst>
          </p:cNvPr>
          <p:cNvSpPr txBox="1"/>
          <p:nvPr/>
        </p:nvSpPr>
        <p:spPr>
          <a:xfrm>
            <a:off x="993456" y="2639347"/>
            <a:ext cx="7388544" cy="2585323"/>
          </a:xfrm>
          <a:prstGeom prst="rect">
            <a:avLst/>
          </a:prstGeom>
          <a:noFill/>
        </p:spPr>
        <p:txBody>
          <a:bodyPr wrap="square">
            <a:spAutoFit/>
          </a:bodyPr>
          <a:lstStyle/>
          <a:p>
            <a:pPr>
              <a:buFont typeface="Arial" panose="020B0604020202020204" pitchFamily="34" charset="0"/>
              <a:buChar char="•"/>
            </a:pPr>
            <a:r>
              <a:rPr lang="en-US" dirty="0"/>
              <a:t>Hamming distance between Codewords 1 and 2: 5 (five bits differ).</a:t>
            </a:r>
          </a:p>
          <a:p>
            <a:pPr>
              <a:buFont typeface="Arial" panose="020B0604020202020204" pitchFamily="34" charset="0"/>
              <a:buChar char="•"/>
            </a:pPr>
            <a:r>
              <a:rPr lang="en-US" dirty="0"/>
              <a:t>Hamming distance between Codewords 1 and 3: 5 (five bits differ).</a:t>
            </a:r>
          </a:p>
          <a:p>
            <a:pPr>
              <a:buFont typeface="Arial" panose="020B0604020202020204" pitchFamily="34" charset="0"/>
              <a:buChar char="•"/>
            </a:pPr>
            <a:r>
              <a:rPr lang="en-US" dirty="0"/>
              <a:t>Hamming distance between Codewords 1 and 4: 10 (ten bits differ).</a:t>
            </a:r>
          </a:p>
          <a:p>
            <a:pPr>
              <a:buFont typeface="Arial" panose="020B0604020202020204" pitchFamily="34" charset="0"/>
              <a:buChar char="•"/>
            </a:pPr>
            <a:endParaRPr lang="en-US" dirty="0"/>
          </a:p>
          <a:p>
            <a:pPr>
              <a:buFont typeface="Arial" panose="020B0604020202020204" pitchFamily="34" charset="0"/>
              <a:buChar char="•"/>
            </a:pPr>
            <a:r>
              <a:rPr lang="en-US" dirty="0"/>
              <a:t>Hamming distance between Codewords 2 and 3: 10 (ten bits differ).</a:t>
            </a:r>
          </a:p>
          <a:p>
            <a:pPr>
              <a:buFont typeface="Arial" panose="020B0604020202020204" pitchFamily="34" charset="0"/>
              <a:buChar char="•"/>
            </a:pPr>
            <a:r>
              <a:rPr lang="en-US" dirty="0"/>
              <a:t>Hamming distance between Codewords 2 and 4: 5 (five bits differ).</a:t>
            </a:r>
          </a:p>
          <a:p>
            <a:pPr>
              <a:buFont typeface="Arial" panose="020B0604020202020204" pitchFamily="34" charset="0"/>
              <a:buChar char="•"/>
            </a:pPr>
            <a:endParaRPr lang="en-US" dirty="0"/>
          </a:p>
          <a:p>
            <a:pPr>
              <a:buFont typeface="Arial" panose="020B0604020202020204" pitchFamily="34" charset="0"/>
              <a:buChar char="•"/>
            </a:pPr>
            <a:r>
              <a:rPr lang="en-US" dirty="0"/>
              <a:t>Hamming distance between Codewords 3 and 4: 5 (five bits differ).</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387748640"/>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6346"/>
            <a:ext cx="5353685" cy="572080"/>
          </a:xfrm>
          <a:prstGeom prst="rect">
            <a:avLst/>
          </a:prstGeom>
        </p:spPr>
        <p:txBody>
          <a:bodyPr vert="horz" wrap="square" lIns="0" tIns="13335" rIns="0" bIns="0" rtlCol="0">
            <a:spAutoFit/>
          </a:bodyPr>
          <a:lstStyle/>
          <a:p>
            <a:pPr marL="12700">
              <a:lnSpc>
                <a:spcPct val="100000"/>
              </a:lnSpc>
              <a:spcBef>
                <a:spcPts val="105"/>
              </a:spcBef>
            </a:pPr>
            <a:r>
              <a:rPr spc="-5" dirty="0"/>
              <a:t>Hamming</a:t>
            </a:r>
            <a:r>
              <a:rPr spc="-20" dirty="0"/>
              <a:t> </a:t>
            </a:r>
            <a:r>
              <a:rPr dirty="0"/>
              <a:t>Codes</a:t>
            </a:r>
            <a:endParaRPr spc="-5" dirty="0"/>
          </a:p>
        </p:txBody>
      </p:sp>
      <p:sp>
        <p:nvSpPr>
          <p:cNvPr id="8" name="object 8"/>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29</a:t>
            </a:fld>
            <a:r>
              <a:rPr spc="10" dirty="0"/>
              <a:t>/69</a:t>
            </a:r>
          </a:p>
        </p:txBody>
      </p:sp>
      <p:sp>
        <p:nvSpPr>
          <p:cNvPr id="3" name="object 3"/>
          <p:cNvSpPr/>
          <p:nvPr/>
        </p:nvSpPr>
        <p:spPr>
          <a:xfrm>
            <a:off x="1616049" y="308977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4" name="object 4"/>
          <p:cNvSpPr/>
          <p:nvPr/>
        </p:nvSpPr>
        <p:spPr>
          <a:xfrm>
            <a:off x="1616049" y="409408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5" name="object 5"/>
          <p:cNvSpPr/>
          <p:nvPr/>
        </p:nvSpPr>
        <p:spPr>
          <a:xfrm>
            <a:off x="1616049" y="5563222"/>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pic>
        <p:nvPicPr>
          <p:cNvPr id="6" name="object 6"/>
          <p:cNvPicPr/>
          <p:nvPr/>
        </p:nvPicPr>
        <p:blipFill>
          <a:blip r:embed="rId2" cstate="print"/>
          <a:stretch>
            <a:fillRect/>
          </a:stretch>
        </p:blipFill>
        <p:spPr>
          <a:xfrm>
            <a:off x="5211978" y="5926480"/>
            <a:ext cx="188976" cy="353568"/>
          </a:xfrm>
          <a:prstGeom prst="rect">
            <a:avLst/>
          </a:prstGeom>
        </p:spPr>
      </p:pic>
      <p:sp>
        <p:nvSpPr>
          <p:cNvPr id="7" name="object 7"/>
          <p:cNvSpPr txBox="1"/>
          <p:nvPr/>
        </p:nvSpPr>
        <p:spPr>
          <a:xfrm>
            <a:off x="1579372" y="1871040"/>
            <a:ext cx="7942580" cy="4415790"/>
          </a:xfrm>
          <a:prstGeom prst="rect">
            <a:avLst/>
          </a:prstGeom>
        </p:spPr>
        <p:txBody>
          <a:bodyPr vert="horz" wrap="square" lIns="0" tIns="15875" rIns="0" bIns="0" rtlCol="0">
            <a:spAutoFit/>
          </a:bodyPr>
          <a:lstStyle/>
          <a:p>
            <a:pPr marL="25400">
              <a:lnSpc>
                <a:spcPct val="100000"/>
              </a:lnSpc>
              <a:spcBef>
                <a:spcPts val="125"/>
              </a:spcBef>
            </a:pPr>
            <a:r>
              <a:rPr sz="2650" spc="10" dirty="0">
                <a:solidFill>
                  <a:srgbClr val="9B0707"/>
                </a:solidFill>
                <a:latin typeface="Arial MT"/>
                <a:cs typeface="Arial MT"/>
              </a:rPr>
              <a:t>Attaining</a:t>
            </a:r>
            <a:r>
              <a:rPr sz="2650" spc="-25" dirty="0">
                <a:solidFill>
                  <a:srgbClr val="9B0707"/>
                </a:solidFill>
                <a:latin typeface="Arial MT"/>
                <a:cs typeface="Arial MT"/>
              </a:rPr>
              <a:t> </a:t>
            </a:r>
            <a:r>
              <a:rPr sz="2650" spc="15" dirty="0">
                <a:solidFill>
                  <a:srgbClr val="9B0707"/>
                </a:solidFill>
                <a:latin typeface="Arial MT"/>
                <a:cs typeface="Arial MT"/>
              </a:rPr>
              <a:t>a</a:t>
            </a:r>
            <a:r>
              <a:rPr sz="2650" spc="-5" dirty="0">
                <a:solidFill>
                  <a:srgbClr val="9B0707"/>
                </a:solidFill>
                <a:latin typeface="Arial MT"/>
                <a:cs typeface="Arial MT"/>
              </a:rPr>
              <a:t> </a:t>
            </a:r>
            <a:r>
              <a:rPr sz="2650" spc="15" dirty="0">
                <a:solidFill>
                  <a:srgbClr val="9B0707"/>
                </a:solidFill>
                <a:latin typeface="Arial MT"/>
                <a:cs typeface="Arial MT"/>
              </a:rPr>
              <a:t>code</a:t>
            </a:r>
            <a:r>
              <a:rPr sz="2650" spc="-15" dirty="0">
                <a:solidFill>
                  <a:srgbClr val="9B0707"/>
                </a:solidFill>
                <a:latin typeface="Arial MT"/>
                <a:cs typeface="Arial MT"/>
              </a:rPr>
              <a:t> </a:t>
            </a:r>
            <a:r>
              <a:rPr sz="2650" spc="5" dirty="0">
                <a:solidFill>
                  <a:srgbClr val="9B0707"/>
                </a:solidFill>
                <a:latin typeface="Arial MT"/>
                <a:cs typeface="Arial MT"/>
              </a:rPr>
              <a:t>with </a:t>
            </a:r>
            <a:r>
              <a:rPr sz="2650" spc="10" dirty="0">
                <a:solidFill>
                  <a:srgbClr val="9B0707"/>
                </a:solidFill>
                <a:latin typeface="Arial MT"/>
                <a:cs typeface="Arial MT"/>
              </a:rPr>
              <a:t>minimal</a:t>
            </a:r>
            <a:r>
              <a:rPr sz="2650" spc="-20" dirty="0">
                <a:solidFill>
                  <a:srgbClr val="9B0707"/>
                </a:solidFill>
                <a:latin typeface="Arial MT"/>
                <a:cs typeface="Arial MT"/>
              </a:rPr>
              <a:t> </a:t>
            </a:r>
            <a:r>
              <a:rPr sz="2950" i="1" spc="10" dirty="0">
                <a:solidFill>
                  <a:srgbClr val="9B0707"/>
                </a:solidFill>
                <a:latin typeface="Times New Roman"/>
                <a:cs typeface="Times New Roman"/>
              </a:rPr>
              <a:t>n</a:t>
            </a:r>
            <a:endParaRPr sz="2950" dirty="0">
              <a:latin typeface="Times New Roman"/>
              <a:cs typeface="Times New Roman"/>
            </a:endParaRPr>
          </a:p>
          <a:p>
            <a:pPr>
              <a:lnSpc>
                <a:spcPct val="100000"/>
              </a:lnSpc>
              <a:spcBef>
                <a:spcPts val="10"/>
              </a:spcBef>
            </a:pPr>
            <a:endParaRPr sz="4050" dirty="0">
              <a:latin typeface="Times New Roman"/>
              <a:cs typeface="Times New Roman"/>
            </a:endParaRPr>
          </a:p>
          <a:p>
            <a:pPr marL="403225">
              <a:lnSpc>
                <a:spcPct val="100000"/>
              </a:lnSpc>
            </a:pPr>
            <a:r>
              <a:rPr sz="2650" spc="10" dirty="0">
                <a:solidFill>
                  <a:srgbClr val="9B0707"/>
                </a:solidFill>
                <a:latin typeface="Arial MT"/>
                <a:cs typeface="Arial MT"/>
              </a:rPr>
              <a:t>Bits</a:t>
            </a:r>
            <a:r>
              <a:rPr sz="2650" dirty="0">
                <a:solidFill>
                  <a:srgbClr val="9B0707"/>
                </a:solidFill>
                <a:latin typeface="Arial MT"/>
                <a:cs typeface="Arial MT"/>
              </a:rPr>
              <a:t> </a:t>
            </a:r>
            <a:r>
              <a:rPr sz="2650" spc="5" dirty="0">
                <a:solidFill>
                  <a:srgbClr val="9B0707"/>
                </a:solidFill>
                <a:latin typeface="Arial MT"/>
                <a:cs typeface="Arial MT"/>
              </a:rPr>
              <a:t>1, 2, 4, 8, 16, .</a:t>
            </a:r>
            <a:r>
              <a:rPr sz="2650" spc="-295" dirty="0">
                <a:solidFill>
                  <a:srgbClr val="9B0707"/>
                </a:solidFill>
                <a:latin typeface="Arial MT"/>
                <a:cs typeface="Arial MT"/>
              </a:rPr>
              <a:t> </a:t>
            </a:r>
            <a:r>
              <a:rPr sz="2650" spc="5" dirty="0">
                <a:solidFill>
                  <a:srgbClr val="9B0707"/>
                </a:solidFill>
                <a:latin typeface="Arial MT"/>
                <a:cs typeface="Arial MT"/>
              </a:rPr>
              <a:t>.</a:t>
            </a:r>
            <a:r>
              <a:rPr sz="2650" spc="-295" dirty="0">
                <a:solidFill>
                  <a:srgbClr val="9B0707"/>
                </a:solidFill>
                <a:latin typeface="Arial MT"/>
                <a:cs typeface="Arial MT"/>
              </a:rPr>
              <a:t> </a:t>
            </a:r>
            <a:r>
              <a:rPr sz="2650" spc="5" dirty="0">
                <a:solidFill>
                  <a:srgbClr val="9B0707"/>
                </a:solidFill>
                <a:latin typeface="Arial MT"/>
                <a:cs typeface="Arial MT"/>
              </a:rPr>
              <a:t>.</a:t>
            </a:r>
            <a:r>
              <a:rPr sz="2650" spc="-295" dirty="0">
                <a:solidFill>
                  <a:srgbClr val="9B0707"/>
                </a:solidFill>
                <a:latin typeface="Arial MT"/>
                <a:cs typeface="Arial MT"/>
              </a:rPr>
              <a:t> </a:t>
            </a:r>
            <a:r>
              <a:rPr sz="2650" spc="10" dirty="0">
                <a:solidFill>
                  <a:srgbClr val="9B0707"/>
                </a:solidFill>
                <a:latin typeface="Arial MT"/>
                <a:cs typeface="Arial MT"/>
              </a:rPr>
              <a:t>are used as parity</a:t>
            </a:r>
            <a:r>
              <a:rPr sz="2650" dirty="0">
                <a:solidFill>
                  <a:srgbClr val="9B0707"/>
                </a:solidFill>
                <a:latin typeface="Arial MT"/>
                <a:cs typeface="Arial MT"/>
              </a:rPr>
              <a:t> </a:t>
            </a:r>
            <a:r>
              <a:rPr sz="2650" spc="5" dirty="0">
                <a:solidFill>
                  <a:srgbClr val="9B0707"/>
                </a:solidFill>
                <a:latin typeface="Arial MT"/>
                <a:cs typeface="Arial MT"/>
              </a:rPr>
              <a:t>bits</a:t>
            </a:r>
            <a:endParaRPr sz="2650" dirty="0">
              <a:latin typeface="Arial MT"/>
              <a:cs typeface="Arial MT"/>
            </a:endParaRPr>
          </a:p>
          <a:p>
            <a:pPr>
              <a:lnSpc>
                <a:spcPct val="100000"/>
              </a:lnSpc>
              <a:spcBef>
                <a:spcPts val="10"/>
              </a:spcBef>
            </a:pPr>
            <a:endParaRPr sz="4100" dirty="0">
              <a:latin typeface="Arial MT"/>
              <a:cs typeface="Arial MT"/>
            </a:endParaRPr>
          </a:p>
          <a:p>
            <a:pPr marL="403225" marR="1029335" indent="-635">
              <a:lnSpc>
                <a:spcPct val="100000"/>
              </a:lnSpc>
              <a:spcBef>
                <a:spcPts val="5"/>
              </a:spcBef>
            </a:pPr>
            <a:r>
              <a:rPr sz="2650" spc="10" dirty="0">
                <a:solidFill>
                  <a:srgbClr val="9B0707"/>
                </a:solidFill>
                <a:latin typeface="Arial MT"/>
                <a:cs typeface="Arial MT"/>
              </a:rPr>
              <a:t>Bits</a:t>
            </a:r>
            <a:r>
              <a:rPr sz="2650" dirty="0">
                <a:solidFill>
                  <a:srgbClr val="9B0707"/>
                </a:solidFill>
                <a:latin typeface="Arial MT"/>
                <a:cs typeface="Arial MT"/>
              </a:rPr>
              <a:t> </a:t>
            </a:r>
            <a:r>
              <a:rPr sz="2650" spc="5" dirty="0">
                <a:solidFill>
                  <a:srgbClr val="9B0707"/>
                </a:solidFill>
                <a:latin typeface="Arial MT"/>
                <a:cs typeface="Arial MT"/>
              </a:rPr>
              <a:t>3, 5, 6, 7, 9, 10,</a:t>
            </a:r>
            <a:r>
              <a:rPr sz="2650" spc="20" dirty="0">
                <a:solidFill>
                  <a:srgbClr val="9B0707"/>
                </a:solidFill>
                <a:latin typeface="Arial MT"/>
                <a:cs typeface="Arial MT"/>
              </a:rPr>
              <a:t> </a:t>
            </a:r>
            <a:r>
              <a:rPr sz="2650" spc="5" dirty="0">
                <a:solidFill>
                  <a:srgbClr val="9B0707"/>
                </a:solidFill>
                <a:latin typeface="Arial MT"/>
                <a:cs typeface="Arial MT"/>
              </a:rPr>
              <a:t>11, .</a:t>
            </a:r>
            <a:r>
              <a:rPr sz="2650" spc="-295" dirty="0">
                <a:solidFill>
                  <a:srgbClr val="9B0707"/>
                </a:solidFill>
                <a:latin typeface="Arial MT"/>
                <a:cs typeface="Arial MT"/>
              </a:rPr>
              <a:t> </a:t>
            </a:r>
            <a:r>
              <a:rPr sz="2650" spc="5" dirty="0">
                <a:solidFill>
                  <a:srgbClr val="9B0707"/>
                </a:solidFill>
                <a:latin typeface="Arial MT"/>
                <a:cs typeface="Arial MT"/>
              </a:rPr>
              <a:t>.</a:t>
            </a:r>
            <a:r>
              <a:rPr sz="2650" spc="-295" dirty="0">
                <a:solidFill>
                  <a:srgbClr val="9B0707"/>
                </a:solidFill>
                <a:latin typeface="Arial MT"/>
                <a:cs typeface="Arial MT"/>
              </a:rPr>
              <a:t> </a:t>
            </a:r>
            <a:r>
              <a:rPr sz="2650" spc="5" dirty="0">
                <a:solidFill>
                  <a:srgbClr val="9B0707"/>
                </a:solidFill>
                <a:latin typeface="Arial MT"/>
                <a:cs typeface="Arial MT"/>
              </a:rPr>
              <a:t>.</a:t>
            </a:r>
            <a:r>
              <a:rPr sz="2650" spc="-295" dirty="0">
                <a:solidFill>
                  <a:srgbClr val="9B0707"/>
                </a:solidFill>
                <a:latin typeface="Arial MT"/>
                <a:cs typeface="Arial MT"/>
              </a:rPr>
              <a:t> </a:t>
            </a:r>
            <a:r>
              <a:rPr sz="2650" spc="10" dirty="0">
                <a:solidFill>
                  <a:srgbClr val="9B0707"/>
                </a:solidFill>
                <a:latin typeface="Arial MT"/>
                <a:cs typeface="Arial MT"/>
              </a:rPr>
              <a:t>are used</a:t>
            </a:r>
            <a:r>
              <a:rPr sz="2650" spc="-5" dirty="0">
                <a:solidFill>
                  <a:srgbClr val="9B0707"/>
                </a:solidFill>
                <a:latin typeface="Arial MT"/>
                <a:cs typeface="Arial MT"/>
              </a:rPr>
              <a:t> </a:t>
            </a:r>
            <a:r>
              <a:rPr sz="2650" spc="-25" dirty="0">
                <a:solidFill>
                  <a:srgbClr val="9B0707"/>
                </a:solidFill>
                <a:latin typeface="Arial MT"/>
                <a:cs typeface="Arial MT"/>
              </a:rPr>
              <a:t>for</a:t>
            </a:r>
            <a:r>
              <a:rPr sz="2650" spc="15" dirty="0">
                <a:solidFill>
                  <a:srgbClr val="9B0707"/>
                </a:solidFill>
                <a:latin typeface="Arial MT"/>
                <a:cs typeface="Arial MT"/>
              </a:rPr>
              <a:t> </a:t>
            </a:r>
            <a:r>
              <a:rPr sz="2650" spc="5" dirty="0">
                <a:solidFill>
                  <a:srgbClr val="9B0707"/>
                </a:solidFill>
                <a:latin typeface="Arial MT"/>
                <a:cs typeface="Arial MT"/>
              </a:rPr>
              <a:t>the </a:t>
            </a:r>
            <a:r>
              <a:rPr sz="2650" spc="-725" dirty="0">
                <a:solidFill>
                  <a:srgbClr val="9B0707"/>
                </a:solidFill>
                <a:latin typeface="Arial MT"/>
                <a:cs typeface="Arial MT"/>
              </a:rPr>
              <a:t> </a:t>
            </a:r>
            <a:r>
              <a:rPr sz="2650" spc="15" dirty="0">
                <a:solidFill>
                  <a:srgbClr val="9B0707"/>
                </a:solidFill>
                <a:latin typeface="Arial MT"/>
                <a:cs typeface="Arial MT"/>
              </a:rPr>
              <a:t>message</a:t>
            </a:r>
            <a:endParaRPr sz="2650" dirty="0">
              <a:latin typeface="Arial MT"/>
              <a:cs typeface="Arial MT"/>
            </a:endParaRPr>
          </a:p>
          <a:p>
            <a:pPr>
              <a:lnSpc>
                <a:spcPct val="100000"/>
              </a:lnSpc>
              <a:spcBef>
                <a:spcPts val="5"/>
              </a:spcBef>
            </a:pPr>
            <a:endParaRPr sz="4200" dirty="0">
              <a:latin typeface="Arial MT"/>
              <a:cs typeface="Arial MT"/>
            </a:endParaRPr>
          </a:p>
          <a:p>
            <a:pPr marL="403225" marR="81280">
              <a:lnSpc>
                <a:spcPct val="102000"/>
              </a:lnSpc>
              <a:tabLst>
                <a:tab pos="1632585" algn="l"/>
                <a:tab pos="3958590" algn="l"/>
              </a:tabLst>
            </a:pPr>
            <a:r>
              <a:rPr sz="2650" spc="-75" dirty="0">
                <a:solidFill>
                  <a:srgbClr val="9B0707"/>
                </a:solidFill>
                <a:latin typeface="Arial MT"/>
                <a:cs typeface="Arial MT"/>
              </a:rPr>
              <a:t>F</a:t>
            </a:r>
            <a:r>
              <a:rPr sz="2650" spc="10" dirty="0">
                <a:solidFill>
                  <a:srgbClr val="9B0707"/>
                </a:solidFill>
                <a:latin typeface="Arial MT"/>
                <a:cs typeface="Arial MT"/>
              </a:rPr>
              <a:t>o</a:t>
            </a:r>
            <a:r>
              <a:rPr sz="2650" spc="5" dirty="0">
                <a:solidFill>
                  <a:srgbClr val="9B0707"/>
                </a:solidFill>
                <a:latin typeface="Arial MT"/>
                <a:cs typeface="Arial MT"/>
              </a:rPr>
              <a:t>r</a:t>
            </a:r>
            <a:r>
              <a:rPr sz="2650" spc="10" dirty="0">
                <a:solidFill>
                  <a:srgbClr val="9B0707"/>
                </a:solidFill>
                <a:latin typeface="Arial MT"/>
                <a:cs typeface="Arial MT"/>
              </a:rPr>
              <a:t> </a:t>
            </a:r>
            <a:r>
              <a:rPr sz="2950" i="1" spc="10" dirty="0">
                <a:solidFill>
                  <a:srgbClr val="9B0707"/>
                </a:solidFill>
                <a:latin typeface="Times New Roman"/>
                <a:cs typeface="Times New Roman"/>
              </a:rPr>
              <a:t>k</a:t>
            </a:r>
            <a:r>
              <a:rPr sz="2950" i="1" dirty="0">
                <a:solidFill>
                  <a:srgbClr val="9B0707"/>
                </a:solidFill>
                <a:latin typeface="Times New Roman"/>
                <a:cs typeface="Times New Roman"/>
              </a:rPr>
              <a:t>	</a:t>
            </a:r>
            <a:r>
              <a:rPr sz="4425" spc="22" baseline="-3766" dirty="0">
                <a:solidFill>
                  <a:srgbClr val="9B0707"/>
                </a:solidFill>
                <a:latin typeface="Symbol"/>
                <a:cs typeface="Symbol"/>
              </a:rPr>
              <a:t></a:t>
            </a:r>
            <a:r>
              <a:rPr sz="4425" spc="-622" baseline="-3766" dirty="0">
                <a:solidFill>
                  <a:srgbClr val="9B0707"/>
                </a:solidFill>
                <a:latin typeface="Times New Roman"/>
                <a:cs typeface="Times New Roman"/>
              </a:rPr>
              <a:t> </a:t>
            </a:r>
            <a:r>
              <a:rPr sz="2950" i="1" spc="5" dirty="0">
                <a:solidFill>
                  <a:srgbClr val="9B0707"/>
                </a:solidFill>
                <a:latin typeface="Times New Roman"/>
                <a:cs typeface="Times New Roman"/>
              </a:rPr>
              <a:t>c</a:t>
            </a:r>
            <a:r>
              <a:rPr sz="3375" i="1" spc="150" baseline="-11111" dirty="0">
                <a:solidFill>
                  <a:srgbClr val="9B0707"/>
                </a:solidFill>
                <a:latin typeface="Times New Roman"/>
                <a:cs typeface="Times New Roman"/>
              </a:rPr>
              <a:t>i</a:t>
            </a:r>
            <a:r>
              <a:rPr sz="2950" spc="10" dirty="0">
                <a:solidFill>
                  <a:srgbClr val="9B0707"/>
                </a:solidFill>
                <a:latin typeface="Times New Roman"/>
                <a:cs typeface="Times New Roman"/>
              </a:rPr>
              <a:t>2</a:t>
            </a:r>
            <a:r>
              <a:rPr sz="3375" i="1" spc="150" baseline="27160" dirty="0">
                <a:solidFill>
                  <a:srgbClr val="9B0707"/>
                </a:solidFill>
                <a:latin typeface="Times New Roman"/>
                <a:cs typeface="Times New Roman"/>
              </a:rPr>
              <a:t>i</a:t>
            </a:r>
            <a:r>
              <a:rPr sz="2650" spc="5" dirty="0">
                <a:solidFill>
                  <a:srgbClr val="9B0707"/>
                </a:solidFill>
                <a:latin typeface="Arial MT"/>
                <a:cs typeface="Arial MT"/>
              </a:rPr>
              <a:t>, bit</a:t>
            </a:r>
            <a:r>
              <a:rPr sz="2650" spc="10" dirty="0">
                <a:solidFill>
                  <a:srgbClr val="9B0707"/>
                </a:solidFill>
                <a:latin typeface="Arial MT"/>
                <a:cs typeface="Arial MT"/>
              </a:rPr>
              <a:t> is</a:t>
            </a:r>
            <a:r>
              <a:rPr sz="2650" spc="-5" dirty="0">
                <a:solidFill>
                  <a:srgbClr val="9B0707"/>
                </a:solidFill>
                <a:latin typeface="Arial MT"/>
                <a:cs typeface="Arial MT"/>
              </a:rPr>
              <a:t> </a:t>
            </a:r>
            <a:r>
              <a:rPr sz="2650" spc="5" dirty="0">
                <a:solidFill>
                  <a:srgbClr val="9B0707"/>
                </a:solidFill>
                <a:latin typeface="Arial MT"/>
                <a:cs typeface="Arial MT"/>
              </a:rPr>
              <a:t>positio</a:t>
            </a:r>
            <a:r>
              <a:rPr sz="2650" spc="15" dirty="0">
                <a:solidFill>
                  <a:srgbClr val="9B0707"/>
                </a:solidFill>
                <a:latin typeface="Arial MT"/>
                <a:cs typeface="Arial MT"/>
              </a:rPr>
              <a:t>n </a:t>
            </a:r>
            <a:r>
              <a:rPr sz="2950" i="1" spc="10" dirty="0">
                <a:solidFill>
                  <a:srgbClr val="9B0707"/>
                </a:solidFill>
                <a:latin typeface="Times New Roman"/>
                <a:cs typeface="Times New Roman"/>
              </a:rPr>
              <a:t>k</a:t>
            </a:r>
            <a:r>
              <a:rPr sz="2950" i="1" spc="60" dirty="0">
                <a:solidFill>
                  <a:srgbClr val="9B0707"/>
                </a:solidFill>
                <a:latin typeface="Times New Roman"/>
                <a:cs typeface="Times New Roman"/>
              </a:rPr>
              <a:t> </a:t>
            </a:r>
            <a:r>
              <a:rPr sz="2650" spc="10" dirty="0">
                <a:solidFill>
                  <a:srgbClr val="9B0707"/>
                </a:solidFill>
                <a:latin typeface="Arial MT"/>
                <a:cs typeface="Arial MT"/>
              </a:rPr>
              <a:t>is</a:t>
            </a:r>
            <a:r>
              <a:rPr sz="2650" spc="-5" dirty="0">
                <a:solidFill>
                  <a:srgbClr val="9B0707"/>
                </a:solidFill>
                <a:latin typeface="Arial MT"/>
                <a:cs typeface="Arial MT"/>
              </a:rPr>
              <a:t> </a:t>
            </a:r>
            <a:r>
              <a:rPr sz="2650" spc="15" dirty="0">
                <a:solidFill>
                  <a:srgbClr val="9B0707"/>
                </a:solidFill>
                <a:latin typeface="Arial MT"/>
                <a:cs typeface="Arial MT"/>
              </a:rPr>
              <a:t>che</a:t>
            </a:r>
            <a:r>
              <a:rPr sz="2650" spc="-50" dirty="0">
                <a:solidFill>
                  <a:srgbClr val="9B0707"/>
                </a:solidFill>
                <a:latin typeface="Arial MT"/>
                <a:cs typeface="Arial MT"/>
              </a:rPr>
              <a:t>c</a:t>
            </a:r>
            <a:r>
              <a:rPr sz="2650" spc="-40" dirty="0">
                <a:solidFill>
                  <a:srgbClr val="9B0707"/>
                </a:solidFill>
                <a:latin typeface="Arial MT"/>
                <a:cs typeface="Arial MT"/>
              </a:rPr>
              <a:t>k</a:t>
            </a:r>
            <a:r>
              <a:rPr sz="2650" spc="10" dirty="0">
                <a:solidFill>
                  <a:srgbClr val="9B0707"/>
                </a:solidFill>
                <a:latin typeface="Arial MT"/>
                <a:cs typeface="Arial MT"/>
              </a:rPr>
              <a:t>e</a:t>
            </a:r>
            <a:r>
              <a:rPr sz="2650" spc="15" dirty="0">
                <a:solidFill>
                  <a:srgbClr val="9B0707"/>
                </a:solidFill>
                <a:latin typeface="Arial MT"/>
                <a:cs typeface="Arial MT"/>
              </a:rPr>
              <a:t>d</a:t>
            </a:r>
            <a:r>
              <a:rPr sz="2650" spc="-20" dirty="0">
                <a:solidFill>
                  <a:srgbClr val="9B0707"/>
                </a:solidFill>
                <a:latin typeface="Arial MT"/>
                <a:cs typeface="Arial MT"/>
              </a:rPr>
              <a:t> </a:t>
            </a:r>
            <a:r>
              <a:rPr sz="2650" spc="-40" dirty="0">
                <a:solidFill>
                  <a:srgbClr val="9B0707"/>
                </a:solidFill>
                <a:latin typeface="Arial MT"/>
                <a:cs typeface="Arial MT"/>
              </a:rPr>
              <a:t>b</a:t>
            </a:r>
            <a:r>
              <a:rPr sz="2650" spc="10" dirty="0">
                <a:solidFill>
                  <a:srgbClr val="9B0707"/>
                </a:solidFill>
                <a:latin typeface="Arial MT"/>
                <a:cs typeface="Arial MT"/>
              </a:rPr>
              <a:t>y</a:t>
            </a:r>
            <a:r>
              <a:rPr sz="2650" spc="-5" dirty="0">
                <a:solidFill>
                  <a:srgbClr val="9B0707"/>
                </a:solidFill>
                <a:latin typeface="Arial MT"/>
                <a:cs typeface="Arial MT"/>
              </a:rPr>
              <a:t> </a:t>
            </a:r>
            <a:r>
              <a:rPr sz="2650" spc="5" dirty="0">
                <a:solidFill>
                  <a:srgbClr val="9B0707"/>
                </a:solidFill>
                <a:latin typeface="Arial MT"/>
                <a:cs typeface="Arial MT"/>
              </a:rPr>
              <a:t>bit</a:t>
            </a:r>
            <a:r>
              <a:rPr sz="2650" spc="10" dirty="0">
                <a:solidFill>
                  <a:srgbClr val="9B0707"/>
                </a:solidFill>
                <a:latin typeface="Arial MT"/>
                <a:cs typeface="Arial MT"/>
              </a:rPr>
              <a:t> </a:t>
            </a:r>
            <a:r>
              <a:rPr sz="2650" spc="5" dirty="0">
                <a:solidFill>
                  <a:srgbClr val="9B0707"/>
                </a:solidFill>
                <a:latin typeface="Arial MT"/>
                <a:cs typeface="Arial MT"/>
              </a:rPr>
              <a:t>in  positions</a:t>
            </a:r>
            <a:r>
              <a:rPr sz="2650" spc="15" dirty="0">
                <a:solidFill>
                  <a:srgbClr val="9B0707"/>
                </a:solidFill>
                <a:latin typeface="Arial MT"/>
                <a:cs typeface="Arial MT"/>
              </a:rPr>
              <a:t> </a:t>
            </a:r>
            <a:r>
              <a:rPr sz="2950" spc="10" dirty="0">
                <a:solidFill>
                  <a:srgbClr val="9B0707"/>
                </a:solidFill>
                <a:latin typeface="Times New Roman"/>
                <a:cs typeface="Times New Roman"/>
              </a:rPr>
              <a:t>2</a:t>
            </a:r>
            <a:r>
              <a:rPr sz="3375" i="1" spc="15" baseline="27160" dirty="0">
                <a:solidFill>
                  <a:srgbClr val="9B0707"/>
                </a:solidFill>
                <a:latin typeface="Times New Roman"/>
                <a:cs typeface="Times New Roman"/>
              </a:rPr>
              <a:t>i</a:t>
            </a:r>
            <a:r>
              <a:rPr sz="3375" i="1" spc="442" baseline="27160" dirty="0">
                <a:solidFill>
                  <a:srgbClr val="9B0707"/>
                </a:solidFill>
                <a:latin typeface="Times New Roman"/>
                <a:cs typeface="Times New Roman"/>
              </a:rPr>
              <a:t> </a:t>
            </a:r>
            <a:r>
              <a:rPr sz="2650" spc="10" dirty="0">
                <a:solidFill>
                  <a:srgbClr val="9B0707"/>
                </a:solidFill>
                <a:latin typeface="Arial MT"/>
                <a:cs typeface="Arial MT"/>
              </a:rPr>
              <a:t>where</a:t>
            </a:r>
            <a:r>
              <a:rPr sz="2650" spc="25" dirty="0">
                <a:solidFill>
                  <a:srgbClr val="9B0707"/>
                </a:solidFill>
                <a:latin typeface="Arial MT"/>
                <a:cs typeface="Arial MT"/>
              </a:rPr>
              <a:t> </a:t>
            </a:r>
            <a:r>
              <a:rPr sz="2950" i="1" spc="5" dirty="0">
                <a:solidFill>
                  <a:srgbClr val="9B0707"/>
                </a:solidFill>
                <a:latin typeface="Times New Roman"/>
                <a:cs typeface="Times New Roman"/>
              </a:rPr>
              <a:t>c</a:t>
            </a:r>
            <a:r>
              <a:rPr sz="3375" i="1" spc="7" baseline="-11111" dirty="0">
                <a:solidFill>
                  <a:srgbClr val="9B0707"/>
                </a:solidFill>
                <a:latin typeface="Times New Roman"/>
                <a:cs typeface="Times New Roman"/>
              </a:rPr>
              <a:t>i	</a:t>
            </a:r>
            <a:r>
              <a:rPr sz="2950" spc="10" dirty="0">
                <a:solidFill>
                  <a:srgbClr val="9B0707"/>
                </a:solidFill>
                <a:latin typeface="Times New Roman"/>
                <a:cs typeface="Times New Roman"/>
              </a:rPr>
              <a:t>0</a:t>
            </a:r>
            <a:endParaRPr sz="2950" dirty="0">
              <a:latin typeface="Times New Roman"/>
              <a:cs typeface="Times New Roman"/>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2357" y="284424"/>
            <a:ext cx="5353685" cy="572080"/>
          </a:xfrm>
          <a:prstGeom prst="rect">
            <a:avLst/>
          </a:prstGeom>
        </p:spPr>
        <p:txBody>
          <a:bodyPr vert="horz" wrap="square" lIns="0" tIns="13335" rIns="0" bIns="0" rtlCol="0">
            <a:spAutoFit/>
          </a:bodyPr>
          <a:lstStyle/>
          <a:p>
            <a:pPr marL="12700">
              <a:lnSpc>
                <a:spcPct val="100000"/>
              </a:lnSpc>
              <a:spcBef>
                <a:spcPts val="105"/>
              </a:spcBef>
            </a:pPr>
            <a:r>
              <a:rPr spc="-5" dirty="0"/>
              <a:t>Hamming</a:t>
            </a:r>
            <a:r>
              <a:rPr spc="-20" dirty="0"/>
              <a:t> </a:t>
            </a:r>
            <a:r>
              <a:rPr dirty="0"/>
              <a:t>Codes</a:t>
            </a:r>
            <a:r>
              <a:rPr spc="-20" dirty="0"/>
              <a:t> </a:t>
            </a:r>
            <a:r>
              <a:rPr dirty="0"/>
              <a:t>(</a:t>
            </a:r>
            <a:r>
              <a:rPr lang="en-US" dirty="0"/>
              <a:t>5</a:t>
            </a:r>
            <a:r>
              <a:rPr spc="-20" dirty="0"/>
              <a:t> </a:t>
            </a:r>
            <a:r>
              <a:rPr dirty="0"/>
              <a:t>of</a:t>
            </a:r>
            <a:r>
              <a:rPr spc="-15" dirty="0"/>
              <a:t> </a:t>
            </a:r>
            <a:r>
              <a:rPr spc="-5" dirty="0"/>
              <a:t>8)</a:t>
            </a:r>
          </a:p>
        </p:txBody>
      </p:sp>
      <p:sp>
        <p:nvSpPr>
          <p:cNvPr id="6" name="object 6"/>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30</a:t>
            </a:fld>
            <a:r>
              <a:rPr spc="10" dirty="0"/>
              <a:t>/69</a:t>
            </a:r>
          </a:p>
        </p:txBody>
      </p:sp>
      <p:pic>
        <p:nvPicPr>
          <p:cNvPr id="10" name="Picture 9">
            <a:extLst>
              <a:ext uri="{FF2B5EF4-FFF2-40B4-BE49-F238E27FC236}">
                <a16:creationId xmlns:a16="http://schemas.microsoft.com/office/drawing/2014/main" id="{D2CE3D88-F39E-9BB6-4CE6-DA65D4AC55F3}"/>
              </a:ext>
            </a:extLst>
          </p:cNvPr>
          <p:cNvPicPr>
            <a:picLocks noChangeAspect="1"/>
          </p:cNvPicPr>
          <p:nvPr/>
        </p:nvPicPr>
        <p:blipFill>
          <a:blip r:embed="rId2"/>
          <a:stretch>
            <a:fillRect/>
          </a:stretch>
        </p:blipFill>
        <p:spPr>
          <a:xfrm>
            <a:off x="585788" y="1100137"/>
            <a:ext cx="4929530" cy="3090863"/>
          </a:xfrm>
          <a:prstGeom prst="rect">
            <a:avLst/>
          </a:prstGeom>
        </p:spPr>
      </p:pic>
      <p:pic>
        <p:nvPicPr>
          <p:cNvPr id="14" name="Picture 13">
            <a:extLst>
              <a:ext uri="{FF2B5EF4-FFF2-40B4-BE49-F238E27FC236}">
                <a16:creationId xmlns:a16="http://schemas.microsoft.com/office/drawing/2014/main" id="{FA5B0302-29CA-040A-7551-0FD980026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1082826"/>
            <a:ext cx="3640270" cy="5606747"/>
          </a:xfrm>
          <a:prstGeom prst="rect">
            <a:avLst/>
          </a:prstGeom>
        </p:spPr>
      </p:pic>
      <p:graphicFrame>
        <p:nvGraphicFramePr>
          <p:cNvPr id="15" name="Table 15">
            <a:extLst>
              <a:ext uri="{FF2B5EF4-FFF2-40B4-BE49-F238E27FC236}">
                <a16:creationId xmlns:a16="http://schemas.microsoft.com/office/drawing/2014/main" id="{1C2DBACB-EB97-571E-023F-702764A099FA}"/>
              </a:ext>
            </a:extLst>
          </p:cNvPr>
          <p:cNvGraphicFramePr>
            <a:graphicFrameLocks noGrp="1"/>
          </p:cNvGraphicFramePr>
          <p:nvPr>
            <p:extLst>
              <p:ext uri="{D42A27DB-BD31-4B8C-83A1-F6EECF244321}">
                <p14:modId xmlns:p14="http://schemas.microsoft.com/office/powerpoint/2010/main" val="1666885753"/>
              </p:ext>
            </p:extLst>
          </p:nvPr>
        </p:nvGraphicFramePr>
        <p:xfrm>
          <a:off x="585788" y="4648200"/>
          <a:ext cx="5353689" cy="792480"/>
        </p:xfrm>
        <a:graphic>
          <a:graphicData uri="http://schemas.openxmlformats.org/drawingml/2006/table">
            <a:tbl>
              <a:tblPr firstRow="1" bandRow="1">
                <a:tableStyleId>{5940675A-B579-460E-94D1-54222C63F5DA}</a:tableStyleId>
              </a:tblPr>
              <a:tblGrid>
                <a:gridCol w="486699">
                  <a:extLst>
                    <a:ext uri="{9D8B030D-6E8A-4147-A177-3AD203B41FA5}">
                      <a16:colId xmlns:a16="http://schemas.microsoft.com/office/drawing/2014/main" val="2496275721"/>
                    </a:ext>
                  </a:extLst>
                </a:gridCol>
                <a:gridCol w="486699">
                  <a:extLst>
                    <a:ext uri="{9D8B030D-6E8A-4147-A177-3AD203B41FA5}">
                      <a16:colId xmlns:a16="http://schemas.microsoft.com/office/drawing/2014/main" val="3718242496"/>
                    </a:ext>
                  </a:extLst>
                </a:gridCol>
                <a:gridCol w="486699">
                  <a:extLst>
                    <a:ext uri="{9D8B030D-6E8A-4147-A177-3AD203B41FA5}">
                      <a16:colId xmlns:a16="http://schemas.microsoft.com/office/drawing/2014/main" val="4128892922"/>
                    </a:ext>
                  </a:extLst>
                </a:gridCol>
                <a:gridCol w="486699">
                  <a:extLst>
                    <a:ext uri="{9D8B030D-6E8A-4147-A177-3AD203B41FA5}">
                      <a16:colId xmlns:a16="http://schemas.microsoft.com/office/drawing/2014/main" val="1486309498"/>
                    </a:ext>
                  </a:extLst>
                </a:gridCol>
                <a:gridCol w="486699">
                  <a:extLst>
                    <a:ext uri="{9D8B030D-6E8A-4147-A177-3AD203B41FA5}">
                      <a16:colId xmlns:a16="http://schemas.microsoft.com/office/drawing/2014/main" val="3335653472"/>
                    </a:ext>
                  </a:extLst>
                </a:gridCol>
                <a:gridCol w="486699">
                  <a:extLst>
                    <a:ext uri="{9D8B030D-6E8A-4147-A177-3AD203B41FA5}">
                      <a16:colId xmlns:a16="http://schemas.microsoft.com/office/drawing/2014/main" val="4136690477"/>
                    </a:ext>
                  </a:extLst>
                </a:gridCol>
                <a:gridCol w="486699">
                  <a:extLst>
                    <a:ext uri="{9D8B030D-6E8A-4147-A177-3AD203B41FA5}">
                      <a16:colId xmlns:a16="http://schemas.microsoft.com/office/drawing/2014/main" val="563851975"/>
                    </a:ext>
                  </a:extLst>
                </a:gridCol>
                <a:gridCol w="486699">
                  <a:extLst>
                    <a:ext uri="{9D8B030D-6E8A-4147-A177-3AD203B41FA5}">
                      <a16:colId xmlns:a16="http://schemas.microsoft.com/office/drawing/2014/main" val="3331793043"/>
                    </a:ext>
                  </a:extLst>
                </a:gridCol>
                <a:gridCol w="486699">
                  <a:extLst>
                    <a:ext uri="{9D8B030D-6E8A-4147-A177-3AD203B41FA5}">
                      <a16:colId xmlns:a16="http://schemas.microsoft.com/office/drawing/2014/main" val="3090512446"/>
                    </a:ext>
                  </a:extLst>
                </a:gridCol>
                <a:gridCol w="486699">
                  <a:extLst>
                    <a:ext uri="{9D8B030D-6E8A-4147-A177-3AD203B41FA5}">
                      <a16:colId xmlns:a16="http://schemas.microsoft.com/office/drawing/2014/main" val="590774086"/>
                    </a:ext>
                  </a:extLst>
                </a:gridCol>
                <a:gridCol w="486699">
                  <a:extLst>
                    <a:ext uri="{9D8B030D-6E8A-4147-A177-3AD203B41FA5}">
                      <a16:colId xmlns:a16="http://schemas.microsoft.com/office/drawing/2014/main" val="2222483770"/>
                    </a:ext>
                  </a:extLst>
                </a:gridCol>
              </a:tblGrid>
              <a:tr h="370840">
                <a:tc>
                  <a:txBody>
                    <a:bodyPr/>
                    <a:lstStyle/>
                    <a:p>
                      <a:pPr algn="ctr"/>
                      <a:r>
                        <a:rPr lang="en-US" sz="2000" dirty="0"/>
                        <a:t>1</a:t>
                      </a:r>
                    </a:p>
                  </a:txBody>
                  <a:tcPr>
                    <a:solidFill>
                      <a:schemeClr val="bg2"/>
                    </a:solidFill>
                  </a:tcPr>
                </a:tc>
                <a:tc>
                  <a:txBody>
                    <a:bodyPr/>
                    <a:lstStyle/>
                    <a:p>
                      <a:pPr algn="ctr"/>
                      <a:r>
                        <a:rPr lang="en-US" sz="2000" dirty="0"/>
                        <a:t>2</a:t>
                      </a:r>
                    </a:p>
                  </a:txBody>
                  <a:tcPr>
                    <a:solidFill>
                      <a:schemeClr val="bg2"/>
                    </a:solidFill>
                  </a:tcPr>
                </a:tc>
                <a:tc>
                  <a:txBody>
                    <a:bodyPr/>
                    <a:lstStyle/>
                    <a:p>
                      <a:pPr algn="ctr"/>
                      <a:r>
                        <a:rPr lang="en-US" sz="2000" dirty="0"/>
                        <a:t>3</a:t>
                      </a:r>
                    </a:p>
                  </a:txBody>
                  <a:tcPr>
                    <a:solidFill>
                      <a:schemeClr val="bg2"/>
                    </a:solidFill>
                  </a:tcPr>
                </a:tc>
                <a:tc>
                  <a:txBody>
                    <a:bodyPr/>
                    <a:lstStyle/>
                    <a:p>
                      <a:pPr algn="ctr"/>
                      <a:r>
                        <a:rPr lang="en-US" sz="2000" dirty="0"/>
                        <a:t>4</a:t>
                      </a:r>
                    </a:p>
                  </a:txBody>
                  <a:tcPr>
                    <a:solidFill>
                      <a:schemeClr val="bg2"/>
                    </a:solidFill>
                  </a:tcPr>
                </a:tc>
                <a:tc>
                  <a:txBody>
                    <a:bodyPr/>
                    <a:lstStyle/>
                    <a:p>
                      <a:pPr algn="ctr"/>
                      <a:r>
                        <a:rPr lang="en-US" sz="2000" dirty="0"/>
                        <a:t>5</a:t>
                      </a:r>
                    </a:p>
                  </a:txBody>
                  <a:tcPr>
                    <a:solidFill>
                      <a:schemeClr val="bg2"/>
                    </a:solidFill>
                  </a:tcPr>
                </a:tc>
                <a:tc>
                  <a:txBody>
                    <a:bodyPr/>
                    <a:lstStyle/>
                    <a:p>
                      <a:pPr algn="ctr"/>
                      <a:r>
                        <a:rPr lang="en-US" sz="2000" dirty="0"/>
                        <a:t>6</a:t>
                      </a:r>
                    </a:p>
                  </a:txBody>
                  <a:tcPr>
                    <a:solidFill>
                      <a:schemeClr val="bg2"/>
                    </a:solidFill>
                  </a:tcPr>
                </a:tc>
                <a:tc>
                  <a:txBody>
                    <a:bodyPr/>
                    <a:lstStyle/>
                    <a:p>
                      <a:pPr algn="ctr"/>
                      <a:r>
                        <a:rPr lang="en-US" sz="2000" dirty="0"/>
                        <a:t>7</a:t>
                      </a:r>
                    </a:p>
                  </a:txBody>
                  <a:tcPr>
                    <a:solidFill>
                      <a:schemeClr val="bg2"/>
                    </a:solidFill>
                  </a:tcPr>
                </a:tc>
                <a:tc>
                  <a:txBody>
                    <a:bodyPr/>
                    <a:lstStyle/>
                    <a:p>
                      <a:pPr algn="ctr"/>
                      <a:r>
                        <a:rPr lang="en-US" sz="2000" dirty="0"/>
                        <a:t>8</a:t>
                      </a:r>
                    </a:p>
                  </a:txBody>
                  <a:tcPr>
                    <a:solidFill>
                      <a:schemeClr val="bg2"/>
                    </a:solidFill>
                  </a:tcPr>
                </a:tc>
                <a:tc>
                  <a:txBody>
                    <a:bodyPr/>
                    <a:lstStyle/>
                    <a:p>
                      <a:pPr algn="ctr"/>
                      <a:r>
                        <a:rPr lang="en-US" sz="2000" dirty="0"/>
                        <a:t>9</a:t>
                      </a:r>
                    </a:p>
                  </a:txBody>
                  <a:tcPr>
                    <a:solidFill>
                      <a:schemeClr val="bg2"/>
                    </a:solidFill>
                  </a:tcPr>
                </a:tc>
                <a:tc>
                  <a:txBody>
                    <a:bodyPr/>
                    <a:lstStyle/>
                    <a:p>
                      <a:pPr algn="ctr"/>
                      <a:r>
                        <a:rPr lang="en-US" sz="2000" dirty="0"/>
                        <a:t>10</a:t>
                      </a:r>
                    </a:p>
                  </a:txBody>
                  <a:tcPr>
                    <a:solidFill>
                      <a:schemeClr val="bg2"/>
                    </a:solidFill>
                  </a:tcPr>
                </a:tc>
                <a:tc>
                  <a:txBody>
                    <a:bodyPr/>
                    <a:lstStyle/>
                    <a:p>
                      <a:pPr algn="ctr"/>
                      <a:r>
                        <a:rPr lang="en-US" sz="2000" dirty="0"/>
                        <a:t>11</a:t>
                      </a:r>
                    </a:p>
                  </a:txBody>
                  <a:tcPr>
                    <a:solidFill>
                      <a:schemeClr val="bg2"/>
                    </a:solidFill>
                  </a:tcPr>
                </a:tc>
                <a:extLst>
                  <a:ext uri="{0D108BD9-81ED-4DB2-BD59-A6C34878D82A}">
                    <a16:rowId xmlns:a16="http://schemas.microsoft.com/office/drawing/2014/main" val="3806410987"/>
                  </a:ext>
                </a:extLst>
              </a:tr>
              <a:tr h="370840">
                <a:tc>
                  <a:txBody>
                    <a:bodyPr/>
                    <a:lstStyle/>
                    <a:p>
                      <a:pPr algn="ctr"/>
                      <a:endParaRPr lang="en-US" sz="2000" dirty="0"/>
                    </a:p>
                  </a:txBody>
                  <a:tcPr/>
                </a:tc>
                <a:tc>
                  <a:txBody>
                    <a:bodyPr/>
                    <a:lstStyle/>
                    <a:p>
                      <a:pPr algn="ctr"/>
                      <a:endParaRPr lang="en-US" sz="2000" dirty="0"/>
                    </a:p>
                  </a:txBody>
                  <a:tcPr/>
                </a:tc>
                <a:tc>
                  <a:txBody>
                    <a:bodyPr/>
                    <a:lstStyle/>
                    <a:p>
                      <a:pPr algn="ctr"/>
                      <a:r>
                        <a:rPr lang="en-US" sz="2000" dirty="0"/>
                        <a:t>1</a:t>
                      </a:r>
                    </a:p>
                  </a:txBody>
                  <a:tcPr/>
                </a:tc>
                <a:tc>
                  <a:txBody>
                    <a:bodyPr/>
                    <a:lstStyle/>
                    <a:p>
                      <a:pPr algn="ctr"/>
                      <a:endParaRPr lang="en-US" sz="2000" dirty="0"/>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endParaRPr lang="en-US" sz="2000" dirty="0"/>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extLst>
                  <a:ext uri="{0D108BD9-81ED-4DB2-BD59-A6C34878D82A}">
                    <a16:rowId xmlns:a16="http://schemas.microsoft.com/office/drawing/2014/main" val="1248844111"/>
                  </a:ext>
                </a:extLst>
              </a:tr>
            </a:tbl>
          </a:graphicData>
        </a:graphic>
      </p:graphicFrame>
      <p:sp>
        <p:nvSpPr>
          <p:cNvPr id="16" name="TextBox 15">
            <a:extLst>
              <a:ext uri="{FF2B5EF4-FFF2-40B4-BE49-F238E27FC236}">
                <a16:creationId xmlns:a16="http://schemas.microsoft.com/office/drawing/2014/main" id="{F8D99BD1-16E3-DD10-E445-6FC97B29D1A2}"/>
              </a:ext>
            </a:extLst>
          </p:cNvPr>
          <p:cNvSpPr txBox="1"/>
          <p:nvPr/>
        </p:nvSpPr>
        <p:spPr>
          <a:xfrm>
            <a:off x="786317" y="5897880"/>
            <a:ext cx="5269522" cy="1200329"/>
          </a:xfrm>
          <a:prstGeom prst="rect">
            <a:avLst/>
          </a:prstGeom>
          <a:noFill/>
        </p:spPr>
        <p:txBody>
          <a:bodyPr wrap="square" rtlCol="0">
            <a:spAutoFit/>
          </a:bodyPr>
          <a:lstStyle/>
          <a:p>
            <a:r>
              <a:rPr lang="en-US" dirty="0"/>
              <a:t>R1/P1: </a:t>
            </a:r>
            <a:r>
              <a:rPr lang="en-US" i="1" dirty="0"/>
              <a:t>P1</a:t>
            </a:r>
            <a:r>
              <a:rPr lang="en-US" dirty="0"/>
              <a:t> 10001( p1 will be 0 to make it even) </a:t>
            </a:r>
          </a:p>
          <a:p>
            <a:r>
              <a:rPr lang="en-US" dirty="0"/>
              <a:t>R2/P2: </a:t>
            </a:r>
            <a:r>
              <a:rPr lang="en-US" i="1" dirty="0"/>
              <a:t>P2</a:t>
            </a:r>
            <a:r>
              <a:rPr lang="en-US" dirty="0"/>
              <a:t> 10001(p2 will be 0 to make it even parity)</a:t>
            </a:r>
          </a:p>
          <a:p>
            <a:r>
              <a:rPr lang="en-US" dirty="0"/>
              <a:t>R3/P4: </a:t>
            </a:r>
            <a:r>
              <a:rPr lang="en-US" i="1" dirty="0"/>
              <a:t>P4</a:t>
            </a:r>
            <a:r>
              <a:rPr lang="en-US" dirty="0"/>
              <a:t> 000( p4 =0)</a:t>
            </a:r>
          </a:p>
          <a:p>
            <a:r>
              <a:rPr lang="en-US" dirty="0"/>
              <a:t>R4/P8: </a:t>
            </a:r>
            <a:r>
              <a:rPr lang="en-US" i="1" dirty="0"/>
              <a:t>P8 </a:t>
            </a:r>
            <a:r>
              <a:rPr lang="en-US" dirty="0"/>
              <a:t>001( p8=1)</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2357" y="284424"/>
            <a:ext cx="5353685" cy="572080"/>
          </a:xfrm>
          <a:prstGeom prst="rect">
            <a:avLst/>
          </a:prstGeom>
        </p:spPr>
        <p:txBody>
          <a:bodyPr vert="horz" wrap="square" lIns="0" tIns="13335" rIns="0" bIns="0" rtlCol="0">
            <a:spAutoFit/>
          </a:bodyPr>
          <a:lstStyle/>
          <a:p>
            <a:pPr marL="12700">
              <a:lnSpc>
                <a:spcPct val="100000"/>
              </a:lnSpc>
              <a:spcBef>
                <a:spcPts val="105"/>
              </a:spcBef>
            </a:pPr>
            <a:r>
              <a:rPr spc="-5" dirty="0"/>
              <a:t>Hamming</a:t>
            </a:r>
            <a:r>
              <a:rPr spc="-20" dirty="0"/>
              <a:t> </a:t>
            </a:r>
            <a:r>
              <a:rPr dirty="0"/>
              <a:t>Codes</a:t>
            </a:r>
            <a:endParaRPr spc="-5" dirty="0"/>
          </a:p>
        </p:txBody>
      </p:sp>
      <p:sp>
        <p:nvSpPr>
          <p:cNvPr id="6" name="object 6"/>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31</a:t>
            </a:fld>
            <a:r>
              <a:rPr spc="10" dirty="0"/>
              <a:t>/69</a:t>
            </a:r>
          </a:p>
        </p:txBody>
      </p:sp>
      <p:pic>
        <p:nvPicPr>
          <p:cNvPr id="14" name="Picture 13">
            <a:extLst>
              <a:ext uri="{FF2B5EF4-FFF2-40B4-BE49-F238E27FC236}">
                <a16:creationId xmlns:a16="http://schemas.microsoft.com/office/drawing/2014/main" id="{FA5B0302-29CA-040A-7551-0FD9800265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3000" y="1098853"/>
            <a:ext cx="3640270" cy="5606747"/>
          </a:xfrm>
          <a:prstGeom prst="rect">
            <a:avLst/>
          </a:prstGeom>
        </p:spPr>
      </p:pic>
      <p:graphicFrame>
        <p:nvGraphicFramePr>
          <p:cNvPr id="15" name="Table 15">
            <a:extLst>
              <a:ext uri="{FF2B5EF4-FFF2-40B4-BE49-F238E27FC236}">
                <a16:creationId xmlns:a16="http://schemas.microsoft.com/office/drawing/2014/main" id="{1C2DBACB-EB97-571E-023F-702764A099FA}"/>
              </a:ext>
            </a:extLst>
          </p:cNvPr>
          <p:cNvGraphicFramePr>
            <a:graphicFrameLocks noGrp="1"/>
          </p:cNvGraphicFramePr>
          <p:nvPr>
            <p:extLst>
              <p:ext uri="{D42A27DB-BD31-4B8C-83A1-F6EECF244321}">
                <p14:modId xmlns:p14="http://schemas.microsoft.com/office/powerpoint/2010/main" val="3392204084"/>
              </p:ext>
            </p:extLst>
          </p:nvPr>
        </p:nvGraphicFramePr>
        <p:xfrm>
          <a:off x="152408" y="3694173"/>
          <a:ext cx="5960592" cy="76708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val="2496275721"/>
                    </a:ext>
                  </a:extLst>
                </a:gridCol>
                <a:gridCol w="457200">
                  <a:extLst>
                    <a:ext uri="{9D8B030D-6E8A-4147-A177-3AD203B41FA5}">
                      <a16:colId xmlns:a16="http://schemas.microsoft.com/office/drawing/2014/main" val="3718242496"/>
                    </a:ext>
                  </a:extLst>
                </a:gridCol>
                <a:gridCol w="533400">
                  <a:extLst>
                    <a:ext uri="{9D8B030D-6E8A-4147-A177-3AD203B41FA5}">
                      <a16:colId xmlns:a16="http://schemas.microsoft.com/office/drawing/2014/main" val="4128892922"/>
                    </a:ext>
                  </a:extLst>
                </a:gridCol>
                <a:gridCol w="533400">
                  <a:extLst>
                    <a:ext uri="{9D8B030D-6E8A-4147-A177-3AD203B41FA5}">
                      <a16:colId xmlns:a16="http://schemas.microsoft.com/office/drawing/2014/main" val="1486309498"/>
                    </a:ext>
                  </a:extLst>
                </a:gridCol>
                <a:gridCol w="533400">
                  <a:extLst>
                    <a:ext uri="{9D8B030D-6E8A-4147-A177-3AD203B41FA5}">
                      <a16:colId xmlns:a16="http://schemas.microsoft.com/office/drawing/2014/main" val="3335653472"/>
                    </a:ext>
                  </a:extLst>
                </a:gridCol>
                <a:gridCol w="609600">
                  <a:extLst>
                    <a:ext uri="{9D8B030D-6E8A-4147-A177-3AD203B41FA5}">
                      <a16:colId xmlns:a16="http://schemas.microsoft.com/office/drawing/2014/main" val="4136690477"/>
                    </a:ext>
                  </a:extLst>
                </a:gridCol>
                <a:gridCol w="533400">
                  <a:extLst>
                    <a:ext uri="{9D8B030D-6E8A-4147-A177-3AD203B41FA5}">
                      <a16:colId xmlns:a16="http://schemas.microsoft.com/office/drawing/2014/main" val="563851975"/>
                    </a:ext>
                  </a:extLst>
                </a:gridCol>
                <a:gridCol w="533400">
                  <a:extLst>
                    <a:ext uri="{9D8B030D-6E8A-4147-A177-3AD203B41FA5}">
                      <a16:colId xmlns:a16="http://schemas.microsoft.com/office/drawing/2014/main" val="3331793043"/>
                    </a:ext>
                  </a:extLst>
                </a:gridCol>
                <a:gridCol w="533400">
                  <a:extLst>
                    <a:ext uri="{9D8B030D-6E8A-4147-A177-3AD203B41FA5}">
                      <a16:colId xmlns:a16="http://schemas.microsoft.com/office/drawing/2014/main" val="3090512446"/>
                    </a:ext>
                  </a:extLst>
                </a:gridCol>
                <a:gridCol w="694320">
                  <a:extLst>
                    <a:ext uri="{9D8B030D-6E8A-4147-A177-3AD203B41FA5}">
                      <a16:colId xmlns:a16="http://schemas.microsoft.com/office/drawing/2014/main" val="590774086"/>
                    </a:ext>
                  </a:extLst>
                </a:gridCol>
                <a:gridCol w="541872">
                  <a:extLst>
                    <a:ext uri="{9D8B030D-6E8A-4147-A177-3AD203B41FA5}">
                      <a16:colId xmlns:a16="http://schemas.microsoft.com/office/drawing/2014/main" val="2222483770"/>
                    </a:ext>
                  </a:extLst>
                </a:gridCol>
              </a:tblGrid>
              <a:tr h="370840">
                <a:tc>
                  <a:txBody>
                    <a:bodyPr/>
                    <a:lstStyle/>
                    <a:p>
                      <a:pPr algn="ctr"/>
                      <a:r>
                        <a:rPr lang="en-US" sz="1600" dirty="0"/>
                        <a:t>p1</a:t>
                      </a:r>
                    </a:p>
                  </a:txBody>
                  <a:tcPr>
                    <a:solidFill>
                      <a:schemeClr val="bg2"/>
                    </a:solidFill>
                  </a:tcPr>
                </a:tc>
                <a:tc>
                  <a:txBody>
                    <a:bodyPr/>
                    <a:lstStyle/>
                    <a:p>
                      <a:pPr algn="ctr"/>
                      <a:r>
                        <a:rPr lang="en-US" sz="1600" dirty="0"/>
                        <a:t>p2</a:t>
                      </a:r>
                    </a:p>
                  </a:txBody>
                  <a:tcPr>
                    <a:solidFill>
                      <a:schemeClr val="bg2"/>
                    </a:solidFill>
                  </a:tcPr>
                </a:tc>
                <a:tc>
                  <a:txBody>
                    <a:bodyPr/>
                    <a:lstStyle/>
                    <a:p>
                      <a:pPr algn="ctr"/>
                      <a:r>
                        <a:rPr lang="en-US" sz="1600" dirty="0"/>
                        <a:t>m3</a:t>
                      </a:r>
                    </a:p>
                  </a:txBody>
                  <a:tcPr>
                    <a:solidFill>
                      <a:schemeClr val="bg2"/>
                    </a:solidFill>
                  </a:tcPr>
                </a:tc>
                <a:tc>
                  <a:txBody>
                    <a:bodyPr/>
                    <a:lstStyle/>
                    <a:p>
                      <a:pPr algn="ctr"/>
                      <a:r>
                        <a:rPr lang="en-US" sz="1600" dirty="0"/>
                        <a:t>p4</a:t>
                      </a:r>
                    </a:p>
                  </a:txBody>
                  <a:tcPr>
                    <a:solidFill>
                      <a:schemeClr val="bg2"/>
                    </a:solidFill>
                  </a:tcPr>
                </a:tc>
                <a:tc>
                  <a:txBody>
                    <a:bodyPr/>
                    <a:lstStyle/>
                    <a:p>
                      <a:pPr algn="ctr"/>
                      <a:r>
                        <a:rPr lang="en-US" sz="1600" b="1" dirty="0"/>
                        <a:t>m5</a:t>
                      </a:r>
                    </a:p>
                  </a:txBody>
                  <a:tcPr>
                    <a:solidFill>
                      <a:schemeClr val="bg2"/>
                    </a:solidFill>
                  </a:tcPr>
                </a:tc>
                <a:tc>
                  <a:txBody>
                    <a:bodyPr/>
                    <a:lstStyle/>
                    <a:p>
                      <a:pPr algn="ctr"/>
                      <a:r>
                        <a:rPr lang="en-US" sz="1600" dirty="0"/>
                        <a:t>m6</a:t>
                      </a:r>
                    </a:p>
                  </a:txBody>
                  <a:tcPr>
                    <a:solidFill>
                      <a:schemeClr val="bg2"/>
                    </a:solidFill>
                  </a:tcPr>
                </a:tc>
                <a:tc>
                  <a:txBody>
                    <a:bodyPr/>
                    <a:lstStyle/>
                    <a:p>
                      <a:pPr algn="ctr"/>
                      <a:r>
                        <a:rPr lang="en-US" sz="1600" dirty="0"/>
                        <a:t>m7</a:t>
                      </a:r>
                    </a:p>
                  </a:txBody>
                  <a:tcPr>
                    <a:solidFill>
                      <a:schemeClr val="bg2"/>
                    </a:solidFill>
                  </a:tcPr>
                </a:tc>
                <a:tc>
                  <a:txBody>
                    <a:bodyPr/>
                    <a:lstStyle/>
                    <a:p>
                      <a:pPr algn="ctr"/>
                      <a:r>
                        <a:rPr lang="en-US" sz="1600" dirty="0"/>
                        <a:t>p8</a:t>
                      </a:r>
                    </a:p>
                  </a:txBody>
                  <a:tcPr>
                    <a:solidFill>
                      <a:schemeClr val="bg2"/>
                    </a:solidFill>
                  </a:tcPr>
                </a:tc>
                <a:tc>
                  <a:txBody>
                    <a:bodyPr/>
                    <a:lstStyle/>
                    <a:p>
                      <a:pPr algn="ctr"/>
                      <a:r>
                        <a:rPr lang="en-US" sz="1600" dirty="0"/>
                        <a:t>m9</a:t>
                      </a:r>
                    </a:p>
                  </a:txBody>
                  <a:tcPr>
                    <a:solidFill>
                      <a:schemeClr val="bg2"/>
                    </a:solidFill>
                  </a:tcPr>
                </a:tc>
                <a:tc>
                  <a:txBody>
                    <a:bodyPr/>
                    <a:lstStyle/>
                    <a:p>
                      <a:pPr algn="ctr"/>
                      <a:r>
                        <a:rPr lang="en-US" sz="1600" dirty="0"/>
                        <a:t>m10</a:t>
                      </a:r>
                    </a:p>
                  </a:txBody>
                  <a:tcPr>
                    <a:solidFill>
                      <a:schemeClr val="bg2"/>
                    </a:solidFill>
                  </a:tcPr>
                </a:tc>
                <a:tc>
                  <a:txBody>
                    <a:bodyPr/>
                    <a:lstStyle/>
                    <a:p>
                      <a:pPr algn="ctr"/>
                      <a:r>
                        <a:rPr lang="en-US" sz="1600" dirty="0"/>
                        <a:t>m11</a:t>
                      </a:r>
                    </a:p>
                  </a:txBody>
                  <a:tcPr>
                    <a:solidFill>
                      <a:schemeClr val="bg2"/>
                    </a:solidFill>
                  </a:tcPr>
                </a:tc>
                <a:extLst>
                  <a:ext uri="{0D108BD9-81ED-4DB2-BD59-A6C34878D82A}">
                    <a16:rowId xmlns:a16="http://schemas.microsoft.com/office/drawing/2014/main" val="3806410987"/>
                  </a:ext>
                </a:extLst>
              </a:tr>
              <a:tr h="370840">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solidFill>
                            <a:srgbClr val="FF0000"/>
                          </a:solidFill>
                          <a:highlight>
                            <a:srgbClr val="FFFF00"/>
                          </a:highlight>
                        </a:rPr>
                        <a:t>1</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1</a:t>
                      </a:r>
                    </a:p>
                  </a:txBody>
                  <a:tcPr/>
                </a:tc>
                <a:extLst>
                  <a:ext uri="{0D108BD9-81ED-4DB2-BD59-A6C34878D82A}">
                    <a16:rowId xmlns:a16="http://schemas.microsoft.com/office/drawing/2014/main" val="1248844111"/>
                  </a:ext>
                </a:extLst>
              </a:tr>
            </a:tbl>
          </a:graphicData>
        </a:graphic>
      </p:graphicFrame>
      <p:sp>
        <p:nvSpPr>
          <p:cNvPr id="16" name="TextBox 15">
            <a:extLst>
              <a:ext uri="{FF2B5EF4-FFF2-40B4-BE49-F238E27FC236}">
                <a16:creationId xmlns:a16="http://schemas.microsoft.com/office/drawing/2014/main" id="{F8D99BD1-16E3-DD10-E445-6FC97B29D1A2}"/>
              </a:ext>
            </a:extLst>
          </p:cNvPr>
          <p:cNvSpPr txBox="1"/>
          <p:nvPr/>
        </p:nvSpPr>
        <p:spPr>
          <a:xfrm>
            <a:off x="550400" y="4841516"/>
            <a:ext cx="5562600" cy="1631216"/>
          </a:xfrm>
          <a:prstGeom prst="rect">
            <a:avLst/>
          </a:prstGeom>
          <a:noFill/>
        </p:spPr>
        <p:txBody>
          <a:bodyPr wrap="square" rtlCol="0">
            <a:spAutoFit/>
          </a:bodyPr>
          <a:lstStyle/>
          <a:p>
            <a:r>
              <a:rPr lang="en-US" sz="2000" dirty="0"/>
              <a:t>Similar Even parity calculation to </a:t>
            </a:r>
            <a:r>
              <a:rPr lang="en-US" sz="2000" b="1" dirty="0"/>
              <a:t>find the position:</a:t>
            </a:r>
          </a:p>
          <a:p>
            <a:r>
              <a:rPr lang="en-US" sz="2000" dirty="0"/>
              <a:t>R1: 01</a:t>
            </a:r>
            <a:r>
              <a:rPr lang="en-US" sz="2000" dirty="0">
                <a:highlight>
                  <a:srgbClr val="FFFF00"/>
                </a:highlight>
              </a:rPr>
              <a:t>1</a:t>
            </a:r>
            <a:r>
              <a:rPr lang="en-US" sz="2000" dirty="0"/>
              <a:t>001</a:t>
            </a:r>
            <a:r>
              <a:rPr lang="en-US" dirty="0"/>
              <a:t>( R1 should be1 to make it even) </a:t>
            </a:r>
            <a:endParaRPr lang="en-US" sz="2000" dirty="0"/>
          </a:p>
          <a:p>
            <a:r>
              <a:rPr lang="en-US" sz="2000" dirty="0"/>
              <a:t>R2: 10001(</a:t>
            </a:r>
            <a:r>
              <a:rPr lang="en-US" dirty="0"/>
              <a:t>R2 should be 0 to make it even </a:t>
            </a:r>
            <a:r>
              <a:rPr lang="en-US" sz="2000" dirty="0"/>
              <a:t>)</a:t>
            </a:r>
          </a:p>
          <a:p>
            <a:r>
              <a:rPr lang="en-US" sz="2000" dirty="0"/>
              <a:t>R3: 0</a:t>
            </a:r>
            <a:r>
              <a:rPr lang="en-US" sz="2000" dirty="0">
                <a:highlight>
                  <a:srgbClr val="FFFF00"/>
                </a:highlight>
              </a:rPr>
              <a:t>1</a:t>
            </a:r>
            <a:r>
              <a:rPr lang="en-US" sz="2000" dirty="0"/>
              <a:t>00( R3 should be 1)</a:t>
            </a:r>
          </a:p>
          <a:p>
            <a:r>
              <a:rPr lang="en-US" sz="2000" dirty="0"/>
              <a:t>R4: 1001( R4 should be 0)</a:t>
            </a:r>
          </a:p>
        </p:txBody>
      </p:sp>
      <p:pic>
        <p:nvPicPr>
          <p:cNvPr id="4" name="Picture 3">
            <a:extLst>
              <a:ext uri="{FF2B5EF4-FFF2-40B4-BE49-F238E27FC236}">
                <a16:creationId xmlns:a16="http://schemas.microsoft.com/office/drawing/2014/main" id="{62C2E50B-7985-E735-0DE0-03B94DC85095}"/>
              </a:ext>
            </a:extLst>
          </p:cNvPr>
          <p:cNvPicPr>
            <a:picLocks noChangeAspect="1"/>
          </p:cNvPicPr>
          <p:nvPr/>
        </p:nvPicPr>
        <p:blipFill>
          <a:blip r:embed="rId3"/>
          <a:stretch>
            <a:fillRect/>
          </a:stretch>
        </p:blipFill>
        <p:spPr>
          <a:xfrm>
            <a:off x="1140011" y="1126762"/>
            <a:ext cx="4473888" cy="2406695"/>
          </a:xfrm>
          <a:prstGeom prst="rect">
            <a:avLst/>
          </a:prstGeom>
        </p:spPr>
      </p:pic>
      <p:sp>
        <p:nvSpPr>
          <p:cNvPr id="5" name="TextBox 4">
            <a:extLst>
              <a:ext uri="{FF2B5EF4-FFF2-40B4-BE49-F238E27FC236}">
                <a16:creationId xmlns:a16="http://schemas.microsoft.com/office/drawing/2014/main" id="{7647300F-7148-28D0-FB2B-70A7D9B4C836}"/>
              </a:ext>
            </a:extLst>
          </p:cNvPr>
          <p:cNvSpPr txBox="1"/>
          <p:nvPr/>
        </p:nvSpPr>
        <p:spPr>
          <a:xfrm>
            <a:off x="1853255" y="6636476"/>
            <a:ext cx="3760644" cy="461665"/>
          </a:xfrm>
          <a:prstGeom prst="rect">
            <a:avLst/>
          </a:prstGeom>
          <a:solidFill>
            <a:schemeClr val="accent2">
              <a:lumMod val="60000"/>
              <a:lumOff val="40000"/>
            </a:schemeClr>
          </a:solidFill>
        </p:spPr>
        <p:txBody>
          <a:bodyPr wrap="square" rtlCol="0">
            <a:spAutoFit/>
          </a:bodyPr>
          <a:lstStyle/>
          <a:p>
            <a:r>
              <a:rPr lang="en-US" sz="2400" dirty="0"/>
              <a:t>Error found in 0101 position</a:t>
            </a:r>
          </a:p>
        </p:txBody>
      </p:sp>
      <p:sp>
        <p:nvSpPr>
          <p:cNvPr id="3" name="TextBox 2">
            <a:extLst>
              <a:ext uri="{FF2B5EF4-FFF2-40B4-BE49-F238E27FC236}">
                <a16:creationId xmlns:a16="http://schemas.microsoft.com/office/drawing/2014/main" id="{C2B85329-530C-5B61-5D16-CA896723FA5E}"/>
              </a:ext>
            </a:extLst>
          </p:cNvPr>
          <p:cNvSpPr txBox="1"/>
          <p:nvPr/>
        </p:nvSpPr>
        <p:spPr>
          <a:xfrm>
            <a:off x="2247899" y="7364580"/>
            <a:ext cx="5562600" cy="307777"/>
          </a:xfrm>
          <a:prstGeom prst="rect">
            <a:avLst/>
          </a:prstGeom>
          <a:noFill/>
        </p:spPr>
        <p:txBody>
          <a:bodyPr wrap="square" rtlCol="0">
            <a:spAutoFit/>
          </a:bodyPr>
          <a:lstStyle/>
          <a:p>
            <a:r>
              <a:rPr lang="en-US" sz="1400" dirty="0"/>
              <a:t>**R1,R2,R3 represent the redundant bits, it can also be known as parity bit </a:t>
            </a:r>
          </a:p>
        </p:txBody>
      </p:sp>
    </p:spTree>
    <p:extLst>
      <p:ext uri="{BB962C8B-B14F-4D97-AF65-F5344CB8AC3E}">
        <p14:creationId xmlns:p14="http://schemas.microsoft.com/office/powerpoint/2010/main" val="340764172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5">
            <a:extLst>
              <a:ext uri="{FF2B5EF4-FFF2-40B4-BE49-F238E27FC236}">
                <a16:creationId xmlns:a16="http://schemas.microsoft.com/office/drawing/2014/main" id="{1C2DBACB-EB97-571E-023F-702764A099FA}"/>
              </a:ext>
            </a:extLst>
          </p:cNvPr>
          <p:cNvGraphicFramePr>
            <a:graphicFrameLocks noGrp="1"/>
          </p:cNvGraphicFramePr>
          <p:nvPr>
            <p:extLst>
              <p:ext uri="{D42A27DB-BD31-4B8C-83A1-F6EECF244321}">
                <p14:modId xmlns:p14="http://schemas.microsoft.com/office/powerpoint/2010/main" val="19051091"/>
              </p:ext>
            </p:extLst>
          </p:nvPr>
        </p:nvGraphicFramePr>
        <p:xfrm>
          <a:off x="258772" y="3162830"/>
          <a:ext cx="5989632" cy="767080"/>
        </p:xfrm>
        <a:graphic>
          <a:graphicData uri="http://schemas.openxmlformats.org/drawingml/2006/table">
            <a:tbl>
              <a:tblPr firstRow="1" bandRow="1">
                <a:tableStyleId>{5940675A-B579-460E-94D1-54222C63F5DA}</a:tableStyleId>
              </a:tblPr>
              <a:tblGrid>
                <a:gridCol w="499136">
                  <a:extLst>
                    <a:ext uri="{9D8B030D-6E8A-4147-A177-3AD203B41FA5}">
                      <a16:colId xmlns:a16="http://schemas.microsoft.com/office/drawing/2014/main" val="2496275721"/>
                    </a:ext>
                  </a:extLst>
                </a:gridCol>
                <a:gridCol w="499136">
                  <a:extLst>
                    <a:ext uri="{9D8B030D-6E8A-4147-A177-3AD203B41FA5}">
                      <a16:colId xmlns:a16="http://schemas.microsoft.com/office/drawing/2014/main" val="3718242496"/>
                    </a:ext>
                  </a:extLst>
                </a:gridCol>
                <a:gridCol w="499136">
                  <a:extLst>
                    <a:ext uri="{9D8B030D-6E8A-4147-A177-3AD203B41FA5}">
                      <a16:colId xmlns:a16="http://schemas.microsoft.com/office/drawing/2014/main" val="4128892922"/>
                    </a:ext>
                  </a:extLst>
                </a:gridCol>
                <a:gridCol w="499136">
                  <a:extLst>
                    <a:ext uri="{9D8B030D-6E8A-4147-A177-3AD203B41FA5}">
                      <a16:colId xmlns:a16="http://schemas.microsoft.com/office/drawing/2014/main" val="1486309498"/>
                    </a:ext>
                  </a:extLst>
                </a:gridCol>
                <a:gridCol w="499136">
                  <a:extLst>
                    <a:ext uri="{9D8B030D-6E8A-4147-A177-3AD203B41FA5}">
                      <a16:colId xmlns:a16="http://schemas.microsoft.com/office/drawing/2014/main" val="3335653472"/>
                    </a:ext>
                  </a:extLst>
                </a:gridCol>
                <a:gridCol w="499136">
                  <a:extLst>
                    <a:ext uri="{9D8B030D-6E8A-4147-A177-3AD203B41FA5}">
                      <a16:colId xmlns:a16="http://schemas.microsoft.com/office/drawing/2014/main" val="4136690477"/>
                    </a:ext>
                  </a:extLst>
                </a:gridCol>
                <a:gridCol w="499136">
                  <a:extLst>
                    <a:ext uri="{9D8B030D-6E8A-4147-A177-3AD203B41FA5}">
                      <a16:colId xmlns:a16="http://schemas.microsoft.com/office/drawing/2014/main" val="563851975"/>
                    </a:ext>
                  </a:extLst>
                </a:gridCol>
                <a:gridCol w="499136">
                  <a:extLst>
                    <a:ext uri="{9D8B030D-6E8A-4147-A177-3AD203B41FA5}">
                      <a16:colId xmlns:a16="http://schemas.microsoft.com/office/drawing/2014/main" val="3331793043"/>
                    </a:ext>
                  </a:extLst>
                </a:gridCol>
                <a:gridCol w="499136">
                  <a:extLst>
                    <a:ext uri="{9D8B030D-6E8A-4147-A177-3AD203B41FA5}">
                      <a16:colId xmlns:a16="http://schemas.microsoft.com/office/drawing/2014/main" val="3090512446"/>
                    </a:ext>
                  </a:extLst>
                </a:gridCol>
                <a:gridCol w="499136">
                  <a:extLst>
                    <a:ext uri="{9D8B030D-6E8A-4147-A177-3AD203B41FA5}">
                      <a16:colId xmlns:a16="http://schemas.microsoft.com/office/drawing/2014/main" val="590774086"/>
                    </a:ext>
                  </a:extLst>
                </a:gridCol>
                <a:gridCol w="499136">
                  <a:extLst>
                    <a:ext uri="{9D8B030D-6E8A-4147-A177-3AD203B41FA5}">
                      <a16:colId xmlns:a16="http://schemas.microsoft.com/office/drawing/2014/main" val="2222483770"/>
                    </a:ext>
                  </a:extLst>
                </a:gridCol>
                <a:gridCol w="499136">
                  <a:extLst>
                    <a:ext uri="{9D8B030D-6E8A-4147-A177-3AD203B41FA5}">
                      <a16:colId xmlns:a16="http://schemas.microsoft.com/office/drawing/2014/main" val="2485186283"/>
                    </a:ext>
                  </a:extLst>
                </a:gridCol>
              </a:tblGrid>
              <a:tr h="370840">
                <a:tc>
                  <a:txBody>
                    <a:bodyPr/>
                    <a:lstStyle/>
                    <a:p>
                      <a:pPr algn="ctr"/>
                      <a:r>
                        <a:rPr lang="en-US" sz="1400" dirty="0"/>
                        <a:t>P1</a:t>
                      </a:r>
                    </a:p>
                  </a:txBody>
                  <a:tcPr>
                    <a:solidFill>
                      <a:schemeClr val="bg2"/>
                    </a:solidFill>
                  </a:tcPr>
                </a:tc>
                <a:tc>
                  <a:txBody>
                    <a:bodyPr/>
                    <a:lstStyle/>
                    <a:p>
                      <a:pPr algn="ctr"/>
                      <a:r>
                        <a:rPr lang="en-US" sz="1400" dirty="0"/>
                        <a:t>p2</a:t>
                      </a:r>
                    </a:p>
                  </a:txBody>
                  <a:tcPr>
                    <a:solidFill>
                      <a:schemeClr val="bg2"/>
                    </a:solidFill>
                  </a:tcPr>
                </a:tc>
                <a:tc>
                  <a:txBody>
                    <a:bodyPr/>
                    <a:lstStyle/>
                    <a:p>
                      <a:pPr algn="ctr"/>
                      <a:r>
                        <a:rPr lang="en-US" sz="1400" dirty="0"/>
                        <a:t>m3</a:t>
                      </a:r>
                    </a:p>
                  </a:txBody>
                  <a:tcPr>
                    <a:solidFill>
                      <a:schemeClr val="bg2"/>
                    </a:solidFill>
                  </a:tcPr>
                </a:tc>
                <a:tc>
                  <a:txBody>
                    <a:bodyPr/>
                    <a:lstStyle/>
                    <a:p>
                      <a:pPr algn="ctr"/>
                      <a:r>
                        <a:rPr lang="en-US" sz="1400" dirty="0"/>
                        <a:t>p4</a:t>
                      </a:r>
                    </a:p>
                  </a:txBody>
                  <a:tcPr>
                    <a:solidFill>
                      <a:schemeClr val="bg2"/>
                    </a:solidFill>
                  </a:tcPr>
                </a:tc>
                <a:tc>
                  <a:txBody>
                    <a:bodyPr/>
                    <a:lstStyle/>
                    <a:p>
                      <a:pPr algn="ctr"/>
                      <a:r>
                        <a:rPr lang="en-US" sz="1400" b="1" dirty="0"/>
                        <a:t>m5</a:t>
                      </a:r>
                    </a:p>
                  </a:txBody>
                  <a:tcPr>
                    <a:solidFill>
                      <a:schemeClr val="bg2"/>
                    </a:solidFill>
                  </a:tcPr>
                </a:tc>
                <a:tc>
                  <a:txBody>
                    <a:bodyPr/>
                    <a:lstStyle/>
                    <a:p>
                      <a:pPr algn="ctr"/>
                      <a:r>
                        <a:rPr lang="en-US" sz="1400" dirty="0"/>
                        <a:t>m6</a:t>
                      </a:r>
                    </a:p>
                  </a:txBody>
                  <a:tcPr>
                    <a:solidFill>
                      <a:schemeClr val="bg2"/>
                    </a:solidFill>
                  </a:tcPr>
                </a:tc>
                <a:tc>
                  <a:txBody>
                    <a:bodyPr/>
                    <a:lstStyle/>
                    <a:p>
                      <a:pPr algn="ctr"/>
                      <a:r>
                        <a:rPr lang="en-US" sz="1400" dirty="0"/>
                        <a:t>m7</a:t>
                      </a:r>
                    </a:p>
                  </a:txBody>
                  <a:tcPr>
                    <a:solidFill>
                      <a:schemeClr val="bg2"/>
                    </a:solidFill>
                  </a:tcPr>
                </a:tc>
                <a:tc>
                  <a:txBody>
                    <a:bodyPr/>
                    <a:lstStyle/>
                    <a:p>
                      <a:pPr algn="ctr"/>
                      <a:r>
                        <a:rPr lang="en-US" sz="1400" dirty="0"/>
                        <a:t>p8</a:t>
                      </a:r>
                    </a:p>
                  </a:txBody>
                  <a:tcPr>
                    <a:solidFill>
                      <a:schemeClr val="bg2"/>
                    </a:solidFill>
                  </a:tcPr>
                </a:tc>
                <a:tc>
                  <a:txBody>
                    <a:bodyPr/>
                    <a:lstStyle/>
                    <a:p>
                      <a:pPr algn="ctr"/>
                      <a:r>
                        <a:rPr lang="en-US" sz="1400" dirty="0"/>
                        <a:t>m9</a:t>
                      </a:r>
                    </a:p>
                  </a:txBody>
                  <a:tcPr>
                    <a:solidFill>
                      <a:schemeClr val="bg2"/>
                    </a:solidFill>
                  </a:tcPr>
                </a:tc>
                <a:tc>
                  <a:txBody>
                    <a:bodyPr/>
                    <a:lstStyle/>
                    <a:p>
                      <a:pPr algn="ctr"/>
                      <a:r>
                        <a:rPr lang="en-US" sz="1400" dirty="0"/>
                        <a:t>m10</a:t>
                      </a:r>
                    </a:p>
                  </a:txBody>
                  <a:tcPr>
                    <a:solidFill>
                      <a:schemeClr val="bg2"/>
                    </a:solidFill>
                  </a:tcPr>
                </a:tc>
                <a:tc>
                  <a:txBody>
                    <a:bodyPr/>
                    <a:lstStyle/>
                    <a:p>
                      <a:pPr algn="ctr"/>
                      <a:r>
                        <a:rPr lang="en-US" sz="1400" dirty="0"/>
                        <a:t>m11</a:t>
                      </a:r>
                    </a:p>
                  </a:txBody>
                  <a:tcPr>
                    <a:solidFill>
                      <a:schemeClr val="bg2"/>
                    </a:solidFill>
                  </a:tcPr>
                </a:tc>
                <a:tc>
                  <a:txBody>
                    <a:bodyPr/>
                    <a:lstStyle/>
                    <a:p>
                      <a:pPr algn="ctr"/>
                      <a:r>
                        <a:rPr lang="en-US" sz="1400" dirty="0"/>
                        <a:t>m12</a:t>
                      </a:r>
                    </a:p>
                  </a:txBody>
                  <a:tcPr>
                    <a:solidFill>
                      <a:schemeClr val="bg2"/>
                    </a:solidFill>
                  </a:tcPr>
                </a:tc>
                <a:extLst>
                  <a:ext uri="{0D108BD9-81ED-4DB2-BD59-A6C34878D82A}">
                    <a16:rowId xmlns:a16="http://schemas.microsoft.com/office/drawing/2014/main" val="3806410987"/>
                  </a:ext>
                </a:extLst>
              </a:tr>
              <a:tr h="370840">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solidFill>
                            <a:schemeClr val="tx1"/>
                          </a:solidFill>
                        </a:rPr>
                        <a:t>0</a:t>
                      </a:r>
                    </a:p>
                  </a:txBody>
                  <a:tcPr/>
                </a:tc>
                <a:tc>
                  <a:txBody>
                    <a:bodyPr/>
                    <a:lstStyle/>
                    <a:p>
                      <a:pPr algn="ctr"/>
                      <a:r>
                        <a:rPr lang="en-US" sz="2000" dirty="0"/>
                        <a:t>1</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highlight>
                            <a:srgbClr val="FFFF00"/>
                          </a:highlight>
                        </a:rPr>
                        <a:t>0</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0</a:t>
                      </a:r>
                    </a:p>
                  </a:txBody>
                  <a:tcPr/>
                </a:tc>
                <a:extLst>
                  <a:ext uri="{0D108BD9-81ED-4DB2-BD59-A6C34878D82A}">
                    <a16:rowId xmlns:a16="http://schemas.microsoft.com/office/drawing/2014/main" val="1248844111"/>
                  </a:ext>
                </a:extLst>
              </a:tr>
            </a:tbl>
          </a:graphicData>
        </a:graphic>
      </p:graphicFrame>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8D99BD1-16E3-DD10-E445-6FC97B29D1A2}"/>
                  </a:ext>
                </a:extLst>
              </p:cNvPr>
              <p:cNvSpPr txBox="1"/>
              <p:nvPr/>
            </p:nvSpPr>
            <p:spPr>
              <a:xfrm>
                <a:off x="374631" y="4532178"/>
                <a:ext cx="5989632" cy="1938992"/>
              </a:xfrm>
              <a:prstGeom prst="rect">
                <a:avLst/>
              </a:prstGeom>
              <a:noFill/>
            </p:spPr>
            <p:txBody>
              <a:bodyPr wrap="square" rtlCol="0">
                <a:spAutoFit/>
              </a:bodyPr>
              <a:lstStyle/>
              <a:p>
                <a:r>
                  <a:rPr lang="en-US" sz="2000" dirty="0"/>
                  <a:t>Similar Even parity calculation to </a:t>
                </a:r>
                <a:r>
                  <a:rPr lang="en-US" sz="2000" b="1" dirty="0"/>
                  <a:t>find if any error has been occurred or not:</a:t>
                </a:r>
              </a:p>
              <a:p>
                <a:r>
                  <a:rPr lang="en-US" sz="2000" dirty="0"/>
                  <a:t>P1: 110001</a:t>
                </a:r>
                <a:r>
                  <a:rPr lang="en-US" dirty="0"/>
                  <a:t>(</a:t>
                </a:r>
                <a14:m>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rPr>
                          <m:t>𝑃</m:t>
                        </m:r>
                      </m:e>
                      <m:sub>
                        <m:r>
                          <a:rPr lang="en-US" b="0" i="1" smtClean="0">
                            <a:latin typeface="Cambria Math" panose="02040503050406030204" pitchFamily="18" charset="0"/>
                          </a:rPr>
                          <m:t>1</m:t>
                        </m:r>
                      </m:sub>
                    </m:sSub>
                  </m:oMath>
                </a14:m>
                <a:r>
                  <a:rPr lang="en-US" dirty="0"/>
                  <a:t> will be 1 to make it even, Error detected) </a:t>
                </a:r>
                <a:endParaRPr lang="en-US" sz="2000" dirty="0"/>
              </a:p>
              <a:p>
                <a:r>
                  <a:rPr lang="en-US" sz="2000" dirty="0"/>
                  <a:t>P2: 011011(</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will be 0 to make it even parity, No error)</a:t>
                </a:r>
              </a:p>
              <a:p>
                <a:r>
                  <a:rPr lang="en-US" sz="2000" dirty="0"/>
                  <a:t>P4: </a:t>
                </a:r>
                <a14:m>
                  <m:oMath xmlns:m="http://schemas.openxmlformats.org/officeDocument/2006/math">
                    <m:r>
                      <a:rPr lang="en-US" sz="2000" b="0" i="0" smtClean="0">
                        <a:latin typeface="Cambria Math" panose="02040503050406030204" pitchFamily="18" charset="0"/>
                      </a:rPr>
                      <m:t>1010</m:t>
                    </m:r>
                  </m:oMath>
                </a14:m>
                <a:r>
                  <a:rPr lang="en-US" sz="2000" dirty="0"/>
                  <a:t>(</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4</m:t>
                        </m:r>
                      </m:sub>
                    </m:sSub>
                  </m:oMath>
                </a14:m>
                <a:r>
                  <a:rPr lang="en-US" sz="2000" dirty="0"/>
                  <a:t> =0, No error)</a:t>
                </a:r>
              </a:p>
              <a:p>
                <a:r>
                  <a:rPr lang="en-US" sz="2000" dirty="0"/>
                  <a:t>P8: 1011(</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8</m:t>
                        </m:r>
                      </m:sub>
                    </m:sSub>
                  </m:oMath>
                </a14:m>
                <a:r>
                  <a:rPr lang="en-US" sz="2000" dirty="0"/>
                  <a:t> =1, Error detected)</a:t>
                </a:r>
              </a:p>
            </p:txBody>
          </p:sp>
        </mc:Choice>
        <mc:Fallback xmlns="">
          <p:sp>
            <p:nvSpPr>
              <p:cNvPr id="16" name="TextBox 15">
                <a:extLst>
                  <a:ext uri="{FF2B5EF4-FFF2-40B4-BE49-F238E27FC236}">
                    <a16:creationId xmlns:a16="http://schemas.microsoft.com/office/drawing/2014/main" id="{F8D99BD1-16E3-DD10-E445-6FC97B29D1A2}"/>
                  </a:ext>
                </a:extLst>
              </p:cNvPr>
              <p:cNvSpPr txBox="1">
                <a:spLocks noRot="1" noChangeAspect="1" noMove="1" noResize="1" noEditPoints="1" noAdjustHandles="1" noChangeArrowheads="1" noChangeShapeType="1" noTextEdit="1"/>
              </p:cNvSpPr>
              <p:nvPr/>
            </p:nvSpPr>
            <p:spPr>
              <a:xfrm>
                <a:off x="374631" y="4532178"/>
                <a:ext cx="5989632" cy="1938992"/>
              </a:xfrm>
              <a:prstGeom prst="rect">
                <a:avLst/>
              </a:prstGeom>
              <a:blipFill>
                <a:blip r:embed="rId2"/>
                <a:stretch>
                  <a:fillRect l="-1017" t="-1567" r="-610" b="-4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47300F-7148-28D0-FB2B-70A7D9B4C836}"/>
                  </a:ext>
                </a:extLst>
              </p:cNvPr>
              <p:cNvSpPr txBox="1"/>
              <p:nvPr/>
            </p:nvSpPr>
            <p:spPr>
              <a:xfrm>
                <a:off x="444245" y="6705600"/>
                <a:ext cx="9410365" cy="713400"/>
              </a:xfrm>
              <a:prstGeom prst="rect">
                <a:avLst/>
              </a:prstGeom>
              <a:solidFill>
                <a:schemeClr val="accent2">
                  <a:lumMod val="60000"/>
                  <a:lumOff val="40000"/>
                </a:schemeClr>
              </a:solidFill>
            </p:spPr>
            <p:txBody>
              <a:bodyPr wrap="square" rtlCol="0">
                <a:spAutoFit/>
              </a:bodyPr>
              <a:lstStyle/>
              <a:p>
                <a:pPr algn="ctr"/>
                <a:r>
                  <a:rPr lang="en-US" sz="2000" dirty="0"/>
                  <a:t>If the Calculated Parity or check bit is ‘1’, error is detected. </a:t>
                </a:r>
              </a:p>
              <a:p>
                <a:r>
                  <a:rPr lang="en-US" sz="2000" dirty="0"/>
                  <a:t>Now lets find out, where the error is.  Error found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8</m:t>
                        </m:r>
                      </m:sub>
                    </m:sSub>
                  </m:oMath>
                </a14:m>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4</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=1001=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9</m:t>
                        </m:r>
                      </m:e>
                      <m:sup>
                        <m:r>
                          <a:rPr lang="en-US" sz="2000" b="0" i="1" smtClean="0">
                            <a:latin typeface="Cambria Math" panose="02040503050406030204" pitchFamily="18" charset="0"/>
                          </a:rPr>
                          <m:t>𝑡h</m:t>
                        </m:r>
                      </m:sup>
                    </m:sSup>
                    <m:r>
                      <a:rPr lang="en-US" sz="2000" b="0" i="1" smtClean="0">
                        <a:latin typeface="Cambria Math" panose="02040503050406030204" pitchFamily="18" charset="0"/>
                      </a:rPr>
                      <m:t> </m:t>
                    </m:r>
                    <m:r>
                      <a:rPr lang="en-US" sz="2000" b="0" i="1" smtClean="0">
                        <a:latin typeface="Cambria Math" panose="02040503050406030204" pitchFamily="18" charset="0"/>
                      </a:rPr>
                      <m:t>𝑝𝑜𝑠𝑖𝑡𝑖𝑜𝑛</m:t>
                    </m:r>
                  </m:oMath>
                </a14:m>
                <a:r>
                  <a:rPr lang="en-US" sz="2000" dirty="0"/>
                  <a:t> </a:t>
                </a:r>
              </a:p>
            </p:txBody>
          </p:sp>
        </mc:Choice>
        <mc:Fallback xmlns="">
          <p:sp>
            <p:nvSpPr>
              <p:cNvPr id="5" name="TextBox 4">
                <a:extLst>
                  <a:ext uri="{FF2B5EF4-FFF2-40B4-BE49-F238E27FC236}">
                    <a16:creationId xmlns:a16="http://schemas.microsoft.com/office/drawing/2014/main" id="{7647300F-7148-28D0-FB2B-70A7D9B4C836}"/>
                  </a:ext>
                </a:extLst>
              </p:cNvPr>
              <p:cNvSpPr txBox="1">
                <a:spLocks noRot="1" noChangeAspect="1" noMove="1" noResize="1" noEditPoints="1" noAdjustHandles="1" noChangeArrowheads="1" noChangeShapeType="1" noTextEdit="1"/>
              </p:cNvSpPr>
              <p:nvPr/>
            </p:nvSpPr>
            <p:spPr>
              <a:xfrm>
                <a:off x="444245" y="6705600"/>
                <a:ext cx="9410365" cy="713400"/>
              </a:xfrm>
              <a:prstGeom prst="rect">
                <a:avLst/>
              </a:prstGeom>
              <a:blipFill>
                <a:blip r:embed="rId3"/>
                <a:stretch>
                  <a:fillRect l="-712" t="-4274" b="-1453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D27B35D-44B6-BB2E-FCD0-BC28A5770765}"/>
              </a:ext>
            </a:extLst>
          </p:cNvPr>
          <p:cNvSpPr txBox="1"/>
          <p:nvPr/>
        </p:nvSpPr>
        <p:spPr>
          <a:xfrm>
            <a:off x="469054" y="895874"/>
            <a:ext cx="6529046" cy="2003112"/>
          </a:xfrm>
          <a:prstGeom prst="rect">
            <a:avLst/>
          </a:prstGeom>
          <a:noFill/>
        </p:spPr>
        <p:txBody>
          <a:bodyPr wrap="square">
            <a:spAutoFit/>
          </a:bodyPr>
          <a:lstStyle/>
          <a:p>
            <a:pPr marR="859536" algn="just">
              <a:spcBef>
                <a:spcPts val="48"/>
              </a:spcBef>
              <a:spcAft>
                <a:spcPts val="0"/>
              </a:spcAft>
            </a:pPr>
            <a:r>
              <a:rPr lang="en-US" sz="2000" dirty="0"/>
              <a:t>Sender and Receiver have agreed upon Hamming code for error  correction. Now at a certain time receiver has received the following message. </a:t>
            </a:r>
          </a:p>
          <a:p>
            <a:pPr marR="2764536" algn="ctr">
              <a:spcBef>
                <a:spcPts val="480"/>
              </a:spcBef>
              <a:spcAft>
                <a:spcPts val="0"/>
              </a:spcAft>
            </a:pPr>
            <a:r>
              <a:rPr lang="en-US" sz="2000" dirty="0"/>
              <a:t>101101010110 </a:t>
            </a:r>
          </a:p>
          <a:p>
            <a:pPr marR="911352">
              <a:spcBef>
                <a:spcPts val="0"/>
              </a:spcBef>
              <a:spcAft>
                <a:spcPts val="0"/>
              </a:spcAft>
            </a:pPr>
            <a:r>
              <a:rPr lang="en-US" sz="2000" dirty="0"/>
              <a:t>Find out the position in which the error occurred if any error is detected. </a:t>
            </a:r>
          </a:p>
        </p:txBody>
      </p:sp>
      <p:sp>
        <p:nvSpPr>
          <p:cNvPr id="11" name="TextBox 10">
            <a:extLst>
              <a:ext uri="{FF2B5EF4-FFF2-40B4-BE49-F238E27FC236}">
                <a16:creationId xmlns:a16="http://schemas.microsoft.com/office/drawing/2014/main" id="{6232107D-3709-6026-8E53-0426064C570C}"/>
              </a:ext>
            </a:extLst>
          </p:cNvPr>
          <p:cNvSpPr txBox="1"/>
          <p:nvPr/>
        </p:nvSpPr>
        <p:spPr>
          <a:xfrm>
            <a:off x="6850876" y="5340436"/>
            <a:ext cx="2535502" cy="1200329"/>
          </a:xfrm>
          <a:prstGeom prst="rect">
            <a:avLst/>
          </a:prstGeom>
          <a:noFill/>
        </p:spPr>
        <p:txBody>
          <a:bodyPr wrap="square" rtlCol="0">
            <a:spAutoFit/>
          </a:bodyPr>
          <a:lstStyle/>
          <a:p>
            <a:r>
              <a:rPr lang="en-US" dirty="0"/>
              <a:t>P1/R1</a:t>
            </a:r>
            <a:r>
              <a:rPr lang="en-US" dirty="0">
                <a:sym typeface="Wingdings" panose="05000000000000000000" pitchFamily="2" charset="2"/>
              </a:rPr>
              <a:t> 1,3,5,7,9,11</a:t>
            </a:r>
          </a:p>
          <a:p>
            <a:r>
              <a:rPr lang="en-US" dirty="0">
                <a:sym typeface="Wingdings" panose="05000000000000000000" pitchFamily="2" charset="2"/>
              </a:rPr>
              <a:t>P2/R2 2,3,6,7,10,11</a:t>
            </a:r>
          </a:p>
          <a:p>
            <a:r>
              <a:rPr lang="en-US" dirty="0">
                <a:sym typeface="Wingdings" panose="05000000000000000000" pitchFamily="2" charset="2"/>
              </a:rPr>
              <a:t>P4/R3 4,5,6,7,12</a:t>
            </a:r>
          </a:p>
          <a:p>
            <a:r>
              <a:rPr lang="en-US" dirty="0">
                <a:sym typeface="Wingdings" panose="05000000000000000000" pitchFamily="2" charset="2"/>
              </a:rPr>
              <a:t>P8/R4 8,9,10,11,12</a:t>
            </a:r>
            <a:endParaRPr lang="en-US" dirty="0"/>
          </a:p>
        </p:txBody>
      </p:sp>
      <p:pic>
        <p:nvPicPr>
          <p:cNvPr id="13" name="Picture 12">
            <a:extLst>
              <a:ext uri="{FF2B5EF4-FFF2-40B4-BE49-F238E27FC236}">
                <a16:creationId xmlns:a16="http://schemas.microsoft.com/office/drawing/2014/main" id="{F5DBBC98-D470-A3BF-FB1C-A7ABE9DB48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8400" y="517529"/>
            <a:ext cx="3551228" cy="4762913"/>
          </a:xfrm>
          <a:prstGeom prst="rect">
            <a:avLst/>
          </a:prstGeom>
        </p:spPr>
      </p:pic>
    </p:spTree>
    <p:extLst>
      <p:ext uri="{BB962C8B-B14F-4D97-AF65-F5344CB8AC3E}">
        <p14:creationId xmlns:p14="http://schemas.microsoft.com/office/powerpoint/2010/main" val="2019592547"/>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4328" y="320490"/>
            <a:ext cx="5312728" cy="572080"/>
          </a:xfrm>
          <a:prstGeom prst="rect">
            <a:avLst/>
          </a:prstGeom>
        </p:spPr>
        <p:txBody>
          <a:bodyPr vert="horz" wrap="square" lIns="0" tIns="13335" rIns="0" bIns="0" rtlCol="0">
            <a:spAutoFit/>
          </a:bodyPr>
          <a:lstStyle/>
          <a:p>
            <a:pPr marL="12700">
              <a:lnSpc>
                <a:spcPct val="100000"/>
              </a:lnSpc>
              <a:spcBef>
                <a:spcPts val="105"/>
              </a:spcBef>
            </a:pPr>
            <a:r>
              <a:rPr lang="en-US" spc="10" dirty="0"/>
              <a:t>3.3 </a:t>
            </a:r>
            <a:r>
              <a:rPr spc="10" dirty="0"/>
              <a:t>Elementary</a:t>
            </a:r>
            <a:r>
              <a:rPr spc="-85" dirty="0"/>
              <a:t> </a:t>
            </a:r>
            <a:r>
              <a:rPr spc="-10" dirty="0"/>
              <a:t>Protocols</a:t>
            </a:r>
          </a:p>
        </p:txBody>
      </p:sp>
      <p:sp>
        <p:nvSpPr>
          <p:cNvPr id="9" name="object 9"/>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33</a:t>
            </a:fld>
            <a:r>
              <a:rPr spc="10" dirty="0"/>
              <a:t>/69</a:t>
            </a:r>
          </a:p>
        </p:txBody>
      </p:sp>
      <p:sp>
        <p:nvSpPr>
          <p:cNvPr id="11" name="TextBox 10">
            <a:extLst>
              <a:ext uri="{FF2B5EF4-FFF2-40B4-BE49-F238E27FC236}">
                <a16:creationId xmlns:a16="http://schemas.microsoft.com/office/drawing/2014/main" id="{B2415B82-DBB7-884E-A73D-8C5D22CEC57D}"/>
              </a:ext>
            </a:extLst>
          </p:cNvPr>
          <p:cNvSpPr txBox="1"/>
          <p:nvPr/>
        </p:nvSpPr>
        <p:spPr>
          <a:xfrm>
            <a:off x="990599" y="990153"/>
            <a:ext cx="8001001" cy="5693866"/>
          </a:xfrm>
          <a:prstGeom prst="rect">
            <a:avLst/>
          </a:prstGeom>
          <a:noFill/>
        </p:spPr>
        <p:txBody>
          <a:bodyPr wrap="square" rtlCol="0">
            <a:spAutoFit/>
          </a:bodyPr>
          <a:lstStyle/>
          <a:p>
            <a:pPr>
              <a:lnSpc>
                <a:spcPct val="200000"/>
              </a:lnSpc>
            </a:pPr>
            <a:r>
              <a:rPr lang="pt-BR" sz="2800" i="0" u="none" strike="noStrike" baseline="0" dirty="0">
                <a:highlight>
                  <a:srgbClr val="FFFF00"/>
                </a:highlight>
                <a:latin typeface="+mj-lt"/>
              </a:rPr>
              <a:t>Three simplex protocol:</a:t>
            </a:r>
          </a:p>
          <a:p>
            <a:pPr marL="514350" indent="-514350" algn="just">
              <a:lnSpc>
                <a:spcPct val="200000"/>
              </a:lnSpc>
              <a:buFont typeface="+mj-lt"/>
              <a:buAutoNum type="arabicPeriod"/>
            </a:pPr>
            <a:r>
              <a:rPr lang="pt-BR" sz="2800" i="0" u="none" strike="noStrike" baseline="0" dirty="0">
                <a:latin typeface="+mj-lt"/>
              </a:rPr>
              <a:t>A Utopian Simplex Protocol</a:t>
            </a:r>
          </a:p>
          <a:p>
            <a:pPr marL="514350" indent="-514350" algn="just">
              <a:lnSpc>
                <a:spcPct val="200000"/>
              </a:lnSpc>
              <a:buFont typeface="+mj-lt"/>
              <a:buAutoNum type="arabicPeriod"/>
            </a:pPr>
            <a:r>
              <a:rPr lang="en-US" sz="2800" i="0" u="none" strike="noStrike" baseline="0" dirty="0">
                <a:latin typeface="+mj-lt"/>
              </a:rPr>
              <a:t>Simplex Stop-and-Wait Protocol for an Error-Free Channel </a:t>
            </a:r>
          </a:p>
          <a:p>
            <a:pPr marL="514350" indent="-514350" algn="just">
              <a:lnSpc>
                <a:spcPct val="200000"/>
              </a:lnSpc>
              <a:buFont typeface="+mj-lt"/>
              <a:buAutoNum type="arabicPeriod"/>
            </a:pPr>
            <a:r>
              <a:rPr lang="en-US" sz="2800" i="0" u="none" strike="noStrike" baseline="0" dirty="0">
                <a:latin typeface="+mj-lt"/>
              </a:rPr>
              <a:t>A Simplex Stop-and-Wait Protocol for a Noisy Channel</a:t>
            </a:r>
            <a:endParaRPr lang="pt-BR" sz="2800" i="0" u="none" strike="noStrike" baseline="0" dirty="0">
              <a:latin typeface="+mj-lt"/>
            </a:endParaRPr>
          </a:p>
          <a:p>
            <a:endParaRPr lang="en-US" sz="2800" dirty="0">
              <a:latin typeface="+mj-lt"/>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4328" y="320490"/>
            <a:ext cx="5312728" cy="572080"/>
          </a:xfrm>
          <a:prstGeom prst="rect">
            <a:avLst/>
          </a:prstGeom>
        </p:spPr>
        <p:txBody>
          <a:bodyPr vert="horz" wrap="square" lIns="0" tIns="13335" rIns="0" bIns="0" rtlCol="0">
            <a:spAutoFit/>
          </a:bodyPr>
          <a:lstStyle/>
          <a:p>
            <a:pPr marL="12700">
              <a:lnSpc>
                <a:spcPct val="100000"/>
              </a:lnSpc>
              <a:spcBef>
                <a:spcPts val="105"/>
              </a:spcBef>
            </a:pPr>
            <a:r>
              <a:rPr lang="en-US" spc="10" dirty="0"/>
              <a:t>3.3 </a:t>
            </a:r>
            <a:r>
              <a:rPr spc="10" dirty="0"/>
              <a:t>Elementary</a:t>
            </a:r>
            <a:r>
              <a:rPr spc="-85" dirty="0"/>
              <a:t> </a:t>
            </a:r>
            <a:r>
              <a:rPr spc="-10" dirty="0"/>
              <a:t>Protocols</a:t>
            </a:r>
          </a:p>
        </p:txBody>
      </p:sp>
      <p:sp>
        <p:nvSpPr>
          <p:cNvPr id="11" name="TextBox 10">
            <a:extLst>
              <a:ext uri="{FF2B5EF4-FFF2-40B4-BE49-F238E27FC236}">
                <a16:creationId xmlns:a16="http://schemas.microsoft.com/office/drawing/2014/main" id="{B2415B82-DBB7-884E-A73D-8C5D22CEC57D}"/>
              </a:ext>
            </a:extLst>
          </p:cNvPr>
          <p:cNvSpPr txBox="1"/>
          <p:nvPr/>
        </p:nvSpPr>
        <p:spPr>
          <a:xfrm>
            <a:off x="668750" y="652865"/>
            <a:ext cx="8001001" cy="1384995"/>
          </a:xfrm>
          <a:prstGeom prst="rect">
            <a:avLst/>
          </a:prstGeom>
          <a:noFill/>
        </p:spPr>
        <p:txBody>
          <a:bodyPr wrap="square" rtlCol="0">
            <a:spAutoFit/>
          </a:bodyPr>
          <a:lstStyle/>
          <a:p>
            <a:pPr algn="just">
              <a:lnSpc>
                <a:spcPct val="200000"/>
              </a:lnSpc>
            </a:pPr>
            <a:r>
              <a:rPr lang="pt-BR" sz="2800" i="0" u="none" strike="noStrike" baseline="0" dirty="0">
                <a:latin typeface="+mj-lt"/>
              </a:rPr>
              <a:t>3.3.1 A Utopian Simplex Protocol</a:t>
            </a:r>
          </a:p>
          <a:p>
            <a:endParaRPr lang="en-US" sz="2800" dirty="0">
              <a:latin typeface="+mj-lt"/>
            </a:endParaRPr>
          </a:p>
        </p:txBody>
      </p:sp>
      <p:pic>
        <p:nvPicPr>
          <p:cNvPr id="4" name="Picture 3">
            <a:extLst>
              <a:ext uri="{FF2B5EF4-FFF2-40B4-BE49-F238E27FC236}">
                <a16:creationId xmlns:a16="http://schemas.microsoft.com/office/drawing/2014/main" id="{3546218A-FC33-A1B0-53F4-2F857D9E9CC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68000"/>
                    </a14:imgEffect>
                  </a14:imgLayer>
                </a14:imgProps>
              </a:ext>
              <a:ext uri="{28A0092B-C50C-407E-A947-70E740481C1C}">
                <a14:useLocalDpi xmlns:a14="http://schemas.microsoft.com/office/drawing/2010/main" val="0"/>
              </a:ext>
            </a:extLst>
          </a:blip>
          <a:stretch>
            <a:fillRect/>
          </a:stretch>
        </p:blipFill>
        <p:spPr>
          <a:xfrm>
            <a:off x="2362200" y="3870510"/>
            <a:ext cx="5900204" cy="3581400"/>
          </a:xfrm>
          <a:prstGeom prst="rect">
            <a:avLst/>
          </a:prstGeom>
        </p:spPr>
      </p:pic>
      <p:sp>
        <p:nvSpPr>
          <p:cNvPr id="6" name="TextBox 5">
            <a:extLst>
              <a:ext uri="{FF2B5EF4-FFF2-40B4-BE49-F238E27FC236}">
                <a16:creationId xmlns:a16="http://schemas.microsoft.com/office/drawing/2014/main" id="{E3E4C18F-EC11-5028-A6D7-A06D79F5706A}"/>
              </a:ext>
            </a:extLst>
          </p:cNvPr>
          <p:cNvSpPr txBox="1"/>
          <p:nvPr/>
        </p:nvSpPr>
        <p:spPr>
          <a:xfrm>
            <a:off x="668750" y="1452685"/>
            <a:ext cx="8458199" cy="2246769"/>
          </a:xfrm>
          <a:prstGeom prst="rect">
            <a:avLst/>
          </a:prstGeom>
          <a:noFill/>
        </p:spPr>
        <p:txBody>
          <a:bodyPr wrap="square">
            <a:spAutoFit/>
          </a:bodyPr>
          <a:lstStyle/>
          <a:p>
            <a:pPr marL="342900" indent="-342900" algn="just">
              <a:buFont typeface="Arial" panose="020B0604020202020204" pitchFamily="34" charset="0"/>
              <a:buChar char="•"/>
            </a:pPr>
            <a:r>
              <a:rPr lang="en-US" sz="2000" b="0" i="0" u="none" strike="noStrike" baseline="0" dirty="0">
                <a:latin typeface="Times-Roman"/>
              </a:rPr>
              <a:t>It is unrealistic because it does not handle either flow control or error correction. </a:t>
            </a:r>
          </a:p>
          <a:p>
            <a:pPr marL="342900" indent="-342900" algn="just">
              <a:buFont typeface="Arial" panose="020B0604020202020204" pitchFamily="34" charset="0"/>
              <a:buChar char="•"/>
            </a:pPr>
            <a:r>
              <a:rPr lang="en-US" sz="2000" b="0" i="0" u="none" strike="noStrike" baseline="0" dirty="0">
                <a:latin typeface="Times-Roman"/>
              </a:rPr>
              <a:t>Its processing is close to that of an unacknowledged connectionless</a:t>
            </a:r>
            <a:r>
              <a:rPr lang="en-US" sz="2000" dirty="0">
                <a:latin typeface="Times-Roman"/>
              </a:rPr>
              <a:t> </a:t>
            </a:r>
            <a:r>
              <a:rPr lang="en-US" sz="2000" b="0" i="0" u="none" strike="noStrike" baseline="0" dirty="0">
                <a:latin typeface="Times-Roman"/>
              </a:rPr>
              <a:t>service. </a:t>
            </a:r>
          </a:p>
          <a:p>
            <a:pPr marL="342900" indent="-342900" algn="just">
              <a:buFont typeface="Arial" panose="020B0604020202020204" pitchFamily="34" charset="0"/>
              <a:buChar char="•"/>
            </a:pPr>
            <a:r>
              <a:rPr lang="en-US" sz="2000" b="0" i="0" u="none" strike="noStrike" baseline="0" dirty="0">
                <a:latin typeface="Times-Roman"/>
              </a:rPr>
              <a:t>The sender is in an infinite while loop just pumping data out onto the line as fast as it can.</a:t>
            </a:r>
          </a:p>
          <a:p>
            <a:pPr marL="342900" indent="-342900" algn="just">
              <a:buFont typeface="Arial" panose="020B0604020202020204" pitchFamily="34" charset="0"/>
              <a:buChar char="•"/>
            </a:pPr>
            <a:r>
              <a:rPr lang="en-US" sz="2000" b="0" i="0" u="none" strike="noStrike" baseline="0" dirty="0">
                <a:latin typeface="Times-Roman"/>
              </a:rPr>
              <a:t>The receiver is equally simple. Initially, it waits for something to happen, the only possibility being the arrival of an undamaged frame.</a:t>
            </a:r>
            <a:endParaRPr lang="en-US" sz="2000" dirty="0"/>
          </a:p>
        </p:txBody>
      </p:sp>
    </p:spTree>
    <p:extLst>
      <p:ext uri="{BB962C8B-B14F-4D97-AF65-F5344CB8AC3E}">
        <p14:creationId xmlns:p14="http://schemas.microsoft.com/office/powerpoint/2010/main" val="1876280678"/>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91425"/>
            <a:ext cx="8763000" cy="998350"/>
          </a:xfrm>
          <a:prstGeom prst="rect">
            <a:avLst/>
          </a:prstGeom>
        </p:spPr>
        <p:txBody>
          <a:bodyPr vert="horz" wrap="square" lIns="0" tIns="13335" rIns="0" bIns="0" rtlCol="0">
            <a:spAutoFit/>
          </a:bodyPr>
          <a:lstStyle/>
          <a:p>
            <a:pPr>
              <a:lnSpc>
                <a:spcPct val="100000"/>
              </a:lnSpc>
            </a:pPr>
            <a:r>
              <a:rPr lang="en-US" sz="3200" i="0" u="none" strike="noStrike" baseline="0" dirty="0">
                <a:latin typeface="+mj-lt"/>
              </a:rPr>
              <a:t>3.3.2 Simplex Stop-and-Wait Protocol for an </a:t>
            </a:r>
            <a:r>
              <a:rPr lang="en-US" sz="3200" b="1" i="0" u="none" strike="noStrike" baseline="0" dirty="0">
                <a:latin typeface="+mj-lt"/>
              </a:rPr>
              <a:t>Error-Free Channel </a:t>
            </a:r>
          </a:p>
        </p:txBody>
      </p:sp>
      <p:sp>
        <p:nvSpPr>
          <p:cNvPr id="6" name="object 6"/>
          <p:cNvSpPr txBox="1">
            <a:spLocks noGrp="1"/>
          </p:cNvSpPr>
          <p:nvPr>
            <p:ph type="sldNum" sz="quarter" idx="7"/>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35</a:t>
            </a:fld>
            <a:r>
              <a:rPr spc="10" dirty="0"/>
              <a:t>/69</a:t>
            </a:r>
          </a:p>
        </p:txBody>
      </p:sp>
      <p:pic>
        <p:nvPicPr>
          <p:cNvPr id="13" name="Picture 12">
            <a:extLst>
              <a:ext uri="{FF2B5EF4-FFF2-40B4-BE49-F238E27FC236}">
                <a16:creationId xmlns:a16="http://schemas.microsoft.com/office/drawing/2014/main" id="{13BD4895-8038-4487-DDEA-BF07047E7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938755"/>
            <a:ext cx="4577948" cy="3895777"/>
          </a:xfrm>
          <a:prstGeom prst="rect">
            <a:avLst/>
          </a:prstGeom>
        </p:spPr>
      </p:pic>
      <p:sp>
        <p:nvSpPr>
          <p:cNvPr id="4" name="TextBox 3">
            <a:extLst>
              <a:ext uri="{FF2B5EF4-FFF2-40B4-BE49-F238E27FC236}">
                <a16:creationId xmlns:a16="http://schemas.microsoft.com/office/drawing/2014/main" id="{B4D1E3E4-6EAF-80D5-6C1A-441FA156989A}"/>
              </a:ext>
            </a:extLst>
          </p:cNvPr>
          <p:cNvSpPr txBox="1"/>
          <p:nvPr/>
        </p:nvSpPr>
        <p:spPr>
          <a:xfrm>
            <a:off x="838199" y="1752600"/>
            <a:ext cx="8528685" cy="923330"/>
          </a:xfrm>
          <a:prstGeom prst="rect">
            <a:avLst/>
          </a:prstGeom>
          <a:noFill/>
        </p:spPr>
        <p:txBody>
          <a:bodyPr wrap="square">
            <a:spAutoFit/>
          </a:bodyPr>
          <a:lstStyle/>
          <a:p>
            <a:pPr algn="just"/>
            <a:r>
              <a:rPr lang="en-US" sz="1800" b="0" i="0" u="none" strike="noStrike" baseline="0" dirty="0">
                <a:latin typeface="Times-Roman"/>
              </a:rPr>
              <a:t>Utopian Protocol doesn’t have any flow control. To prevent the sender from flooding the receiver with frames faster than the latter is able to process, a general solution involves enabling the receiver to provide feedback to the sender. </a:t>
            </a:r>
            <a:endParaRPr lang="en-US" dirty="0"/>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1" y="207815"/>
            <a:ext cx="7696200" cy="875240"/>
          </a:xfrm>
          <a:prstGeom prst="rect">
            <a:avLst/>
          </a:prstGeom>
        </p:spPr>
        <p:txBody>
          <a:bodyPr vert="horz" wrap="square" lIns="0" tIns="13335" rIns="0" bIns="0" rtlCol="0">
            <a:spAutoFit/>
          </a:bodyPr>
          <a:lstStyle/>
          <a:p>
            <a:pPr marL="12700">
              <a:lnSpc>
                <a:spcPct val="100000"/>
              </a:lnSpc>
              <a:spcBef>
                <a:spcPts val="105"/>
              </a:spcBef>
            </a:pPr>
            <a:r>
              <a:rPr lang="en-US" sz="2800" b="1" i="0" u="none" strike="noStrike" baseline="0" dirty="0">
                <a:latin typeface="Times-Bold"/>
              </a:rPr>
              <a:t>3.3.3 A Simplex Stop-and-Wait Protocol for a Noisy Channel</a:t>
            </a:r>
            <a:endParaRPr sz="4800" spc="-15" dirty="0"/>
          </a:p>
        </p:txBody>
      </p:sp>
      <p:sp>
        <p:nvSpPr>
          <p:cNvPr id="6" name="object 6"/>
          <p:cNvSpPr txBox="1">
            <a:spLocks noGrp="1"/>
          </p:cNvSpPr>
          <p:nvPr>
            <p:ph type="sldNum" sz="quarter" idx="7"/>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36</a:t>
            </a:fld>
            <a:r>
              <a:rPr spc="10" dirty="0"/>
              <a:t>/69</a:t>
            </a:r>
          </a:p>
        </p:txBody>
      </p:sp>
      <p:pic>
        <p:nvPicPr>
          <p:cNvPr id="13" name="Picture 12">
            <a:extLst>
              <a:ext uri="{FF2B5EF4-FFF2-40B4-BE49-F238E27FC236}">
                <a16:creationId xmlns:a16="http://schemas.microsoft.com/office/drawing/2014/main" id="{FDD29161-8E30-6EFE-118D-CEE238C75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990600"/>
            <a:ext cx="5035667" cy="6441073"/>
          </a:xfrm>
          <a:prstGeom prst="rect">
            <a:avLst/>
          </a:prstGeom>
        </p:spPr>
      </p:pic>
    </p:spTree>
    <p:extLst>
      <p:ext uri="{BB962C8B-B14F-4D97-AF65-F5344CB8AC3E}">
        <p14:creationId xmlns:p14="http://schemas.microsoft.com/office/powerpoint/2010/main" val="662717403"/>
      </p:ext>
    </p:extLst>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6346"/>
            <a:ext cx="6280912" cy="572080"/>
          </a:xfrm>
          <a:prstGeom prst="rect">
            <a:avLst/>
          </a:prstGeom>
        </p:spPr>
        <p:txBody>
          <a:bodyPr vert="horz" wrap="square" lIns="0" tIns="13335" rIns="0" bIns="0" rtlCol="0">
            <a:spAutoFit/>
          </a:bodyPr>
          <a:lstStyle/>
          <a:p>
            <a:pPr marL="12700">
              <a:lnSpc>
                <a:spcPct val="100000"/>
              </a:lnSpc>
              <a:spcBef>
                <a:spcPts val="105"/>
              </a:spcBef>
            </a:pPr>
            <a:r>
              <a:rPr lang="en-US" spc="-10" dirty="0"/>
              <a:t>**3.4 </a:t>
            </a:r>
            <a:r>
              <a:rPr spc="-10" dirty="0"/>
              <a:t>Sliding</a:t>
            </a:r>
            <a:r>
              <a:rPr spc="10" dirty="0"/>
              <a:t> </a:t>
            </a:r>
            <a:r>
              <a:rPr spc="-15" dirty="0"/>
              <a:t>Window</a:t>
            </a:r>
            <a:r>
              <a:rPr spc="-20" dirty="0"/>
              <a:t> </a:t>
            </a:r>
            <a:r>
              <a:rPr spc="-10" dirty="0"/>
              <a:t>Protocols</a:t>
            </a:r>
          </a:p>
        </p:txBody>
      </p:sp>
      <p:sp>
        <p:nvSpPr>
          <p:cNvPr id="8" name="object 8"/>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37</a:t>
            </a:fld>
            <a:r>
              <a:rPr spc="10" dirty="0"/>
              <a:t>/69</a:t>
            </a:r>
          </a:p>
        </p:txBody>
      </p:sp>
      <p:sp>
        <p:nvSpPr>
          <p:cNvPr id="7" name="object 7"/>
          <p:cNvSpPr txBox="1"/>
          <p:nvPr/>
        </p:nvSpPr>
        <p:spPr>
          <a:xfrm>
            <a:off x="3429000" y="3124200"/>
            <a:ext cx="4961890" cy="3889398"/>
          </a:xfrm>
          <a:prstGeom prst="rect">
            <a:avLst/>
          </a:prstGeom>
        </p:spPr>
        <p:txBody>
          <a:bodyPr vert="horz" wrap="square" lIns="0" tIns="15875" rIns="0" bIns="0" rtlCol="0">
            <a:spAutoFit/>
          </a:bodyPr>
          <a:lstStyle/>
          <a:p>
            <a:pPr marL="469900" indent="-457200">
              <a:lnSpc>
                <a:spcPct val="100000"/>
              </a:lnSpc>
              <a:spcBef>
                <a:spcPts val="125"/>
              </a:spcBef>
              <a:buFont typeface="Arial" panose="020B0604020202020204" pitchFamily="34" charset="0"/>
              <a:buChar char="•"/>
            </a:pPr>
            <a:r>
              <a:rPr sz="2650" spc="5" dirty="0">
                <a:latin typeface="+mj-lt"/>
                <a:cs typeface="Arial MT"/>
              </a:rPr>
              <a:t>Piggybacking</a:t>
            </a:r>
            <a:endParaRPr sz="2650" dirty="0">
              <a:latin typeface="+mj-lt"/>
              <a:cs typeface="Arial MT"/>
            </a:endParaRPr>
          </a:p>
          <a:p>
            <a:pPr marL="12700" marR="5080">
              <a:lnSpc>
                <a:spcPct val="294700"/>
              </a:lnSpc>
              <a:spcBef>
                <a:spcPts val="15"/>
              </a:spcBef>
            </a:pPr>
            <a:r>
              <a:rPr lang="en-US" sz="2800" spc="10" dirty="0">
                <a:latin typeface="+mj-lt"/>
                <a:cs typeface="Arial MT"/>
              </a:rPr>
              <a:t>3.4.1 </a:t>
            </a:r>
            <a:r>
              <a:rPr sz="2800" spc="10" dirty="0">
                <a:latin typeface="+mj-lt"/>
                <a:cs typeface="Arial MT"/>
              </a:rPr>
              <a:t>One-Bit</a:t>
            </a:r>
            <a:r>
              <a:rPr sz="2800" spc="-55" dirty="0">
                <a:latin typeface="+mj-lt"/>
                <a:cs typeface="Arial MT"/>
              </a:rPr>
              <a:t> </a:t>
            </a:r>
            <a:r>
              <a:rPr sz="2800" spc="10" dirty="0">
                <a:latin typeface="+mj-lt"/>
                <a:cs typeface="Arial MT"/>
              </a:rPr>
              <a:t>Sliding</a:t>
            </a:r>
            <a:r>
              <a:rPr sz="2800" spc="-20" dirty="0">
                <a:latin typeface="+mj-lt"/>
                <a:cs typeface="Arial MT"/>
              </a:rPr>
              <a:t> </a:t>
            </a:r>
            <a:endParaRPr lang="en-US" sz="2800" spc="-20" dirty="0">
              <a:latin typeface="+mj-lt"/>
              <a:cs typeface="Arial MT"/>
            </a:endParaRPr>
          </a:p>
          <a:p>
            <a:pPr marL="12700" marR="5080">
              <a:lnSpc>
                <a:spcPct val="294700"/>
              </a:lnSpc>
              <a:spcBef>
                <a:spcPts val="15"/>
              </a:spcBef>
            </a:pPr>
            <a:r>
              <a:rPr lang="en-US" sz="2800" spc="-20" dirty="0">
                <a:latin typeface="+mj-lt"/>
                <a:cs typeface="Arial MT"/>
              </a:rPr>
              <a:t>3.4.2 </a:t>
            </a:r>
            <a:r>
              <a:rPr sz="2800" spc="5" dirty="0">
                <a:latin typeface="+mj-lt"/>
                <a:cs typeface="Arial MT"/>
              </a:rPr>
              <a:t> </a:t>
            </a:r>
            <a:r>
              <a:rPr sz="2800" spc="-720" dirty="0">
                <a:latin typeface="+mj-lt"/>
                <a:cs typeface="Arial MT"/>
              </a:rPr>
              <a:t> </a:t>
            </a:r>
            <a:r>
              <a:rPr sz="2800" spc="15" dirty="0">
                <a:latin typeface="+mj-lt"/>
                <a:cs typeface="Arial MT"/>
              </a:rPr>
              <a:t>Go</a:t>
            </a:r>
            <a:r>
              <a:rPr sz="2800" spc="-15" dirty="0">
                <a:latin typeface="+mj-lt"/>
                <a:cs typeface="Arial MT"/>
              </a:rPr>
              <a:t> </a:t>
            </a:r>
            <a:r>
              <a:rPr sz="2800" dirty="0">
                <a:latin typeface="+mj-lt"/>
                <a:cs typeface="Arial MT"/>
              </a:rPr>
              <a:t>Back</a:t>
            </a:r>
            <a:r>
              <a:rPr sz="2800" spc="-10" dirty="0">
                <a:latin typeface="+mj-lt"/>
                <a:cs typeface="Arial MT"/>
              </a:rPr>
              <a:t> </a:t>
            </a:r>
            <a:r>
              <a:rPr sz="2800" spc="20" dirty="0">
                <a:latin typeface="+mj-lt"/>
                <a:cs typeface="Arial MT"/>
              </a:rPr>
              <a:t>N</a:t>
            </a:r>
            <a:endParaRPr sz="2800" dirty="0">
              <a:latin typeface="+mj-lt"/>
              <a:cs typeface="Arial MT"/>
            </a:endParaRPr>
          </a:p>
          <a:p>
            <a:pPr>
              <a:lnSpc>
                <a:spcPct val="100000"/>
              </a:lnSpc>
            </a:pPr>
            <a:endParaRPr sz="3200" dirty="0">
              <a:latin typeface="+mj-lt"/>
              <a:cs typeface="Arial MT"/>
            </a:endParaRPr>
          </a:p>
          <a:p>
            <a:pPr marL="12700">
              <a:lnSpc>
                <a:spcPct val="100000"/>
              </a:lnSpc>
            </a:pPr>
            <a:r>
              <a:rPr lang="en-US" sz="2800" dirty="0">
                <a:latin typeface="+mj-lt"/>
                <a:cs typeface="Arial MT"/>
              </a:rPr>
              <a:t>3.4.3 </a:t>
            </a:r>
            <a:r>
              <a:rPr sz="2800" dirty="0">
                <a:latin typeface="+mj-lt"/>
                <a:cs typeface="Arial MT"/>
              </a:rPr>
              <a:t>Selective</a:t>
            </a:r>
            <a:r>
              <a:rPr sz="2800" spc="-50" dirty="0">
                <a:latin typeface="+mj-lt"/>
                <a:cs typeface="Arial MT"/>
              </a:rPr>
              <a:t> </a:t>
            </a:r>
            <a:r>
              <a:rPr sz="2800" spc="10" dirty="0">
                <a:latin typeface="+mj-lt"/>
                <a:cs typeface="Arial MT"/>
              </a:rPr>
              <a:t>Repeat</a:t>
            </a:r>
            <a:endParaRPr sz="2800" dirty="0">
              <a:latin typeface="+mj-lt"/>
              <a:cs typeface="Arial MT"/>
            </a:endParaRPr>
          </a:p>
        </p:txBody>
      </p:sp>
      <p:sp>
        <p:nvSpPr>
          <p:cNvPr id="10" name="TextBox 9">
            <a:extLst>
              <a:ext uri="{FF2B5EF4-FFF2-40B4-BE49-F238E27FC236}">
                <a16:creationId xmlns:a16="http://schemas.microsoft.com/office/drawing/2014/main" id="{D889069C-DD30-C65A-C4EB-04052869981B}"/>
              </a:ext>
            </a:extLst>
          </p:cNvPr>
          <p:cNvSpPr txBox="1"/>
          <p:nvPr/>
        </p:nvSpPr>
        <p:spPr>
          <a:xfrm>
            <a:off x="990600" y="1192447"/>
            <a:ext cx="8376285" cy="1569660"/>
          </a:xfrm>
          <a:prstGeom prst="rect">
            <a:avLst/>
          </a:prstGeom>
          <a:noFill/>
        </p:spPr>
        <p:txBody>
          <a:bodyPr wrap="square">
            <a:spAutoFit/>
          </a:bodyPr>
          <a:lstStyle/>
          <a:p>
            <a:pPr marL="342900" indent="-342900" algn="just">
              <a:buFont typeface="Wingdings" panose="05000000000000000000" pitchFamily="2" charset="2"/>
              <a:buChar char="q"/>
            </a:pPr>
            <a:r>
              <a:rPr lang="en-US" sz="2400" dirty="0"/>
              <a:t> The sliding window protocol is a specific approach to flow control that allows a sender to transmit a "window" of data before requiring an acknowledgment from the receiver. </a:t>
            </a:r>
            <a:endParaRPr lang="en-US" sz="2400" dirty="0">
              <a:latin typeface="Times-Roman"/>
            </a:endParaRPr>
          </a:p>
          <a:p>
            <a:pPr marL="342900" indent="-342900" algn="just">
              <a:buFont typeface="Wingdings" panose="05000000000000000000" pitchFamily="2" charset="2"/>
              <a:buChar char="q"/>
            </a:pPr>
            <a:r>
              <a:rPr lang="en-US" sz="2400" dirty="0">
                <a:latin typeface="Times-Roman"/>
              </a:rPr>
              <a:t>S</a:t>
            </a:r>
            <a:r>
              <a:rPr lang="en-US" sz="2400" b="0" i="0" u="none" strike="noStrike" baseline="0" dirty="0">
                <a:latin typeface="Times-Roman"/>
              </a:rPr>
              <a:t>ame link for data in both directions.</a:t>
            </a:r>
            <a:endParaRPr lang="en-US" sz="2400" dirty="0"/>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29585"/>
            <a:ext cx="2927985" cy="613410"/>
          </a:xfrm>
          <a:prstGeom prst="rect">
            <a:avLst/>
          </a:prstGeom>
        </p:spPr>
        <p:txBody>
          <a:bodyPr vert="horz" wrap="square" lIns="0" tIns="13335" rIns="0" bIns="0" rtlCol="0">
            <a:spAutoFit/>
          </a:bodyPr>
          <a:lstStyle/>
          <a:p>
            <a:pPr marL="12700">
              <a:lnSpc>
                <a:spcPct val="100000"/>
              </a:lnSpc>
              <a:spcBef>
                <a:spcPts val="105"/>
              </a:spcBef>
            </a:pPr>
            <a:r>
              <a:rPr spc="-10" dirty="0"/>
              <a:t>Piggybacking</a:t>
            </a:r>
          </a:p>
        </p:txBody>
      </p:sp>
      <p:sp>
        <p:nvSpPr>
          <p:cNvPr id="8" name="object 8"/>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38</a:t>
            </a:fld>
            <a:r>
              <a:rPr spc="10" dirty="0"/>
              <a:t>/69</a:t>
            </a:r>
          </a:p>
        </p:txBody>
      </p:sp>
      <p:pic>
        <p:nvPicPr>
          <p:cNvPr id="10" name="Picture 9">
            <a:extLst>
              <a:ext uri="{FF2B5EF4-FFF2-40B4-BE49-F238E27FC236}">
                <a16:creationId xmlns:a16="http://schemas.microsoft.com/office/drawing/2014/main" id="{9C0C879D-D9B2-EA7B-1981-7C2C7C96E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371600"/>
            <a:ext cx="7239000" cy="4170982"/>
          </a:xfrm>
          <a:prstGeom prst="rect">
            <a:avLst/>
          </a:prstGeom>
        </p:spPr>
      </p:pic>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29585"/>
            <a:ext cx="2927985" cy="613410"/>
          </a:xfrm>
          <a:prstGeom prst="rect">
            <a:avLst/>
          </a:prstGeom>
        </p:spPr>
        <p:txBody>
          <a:bodyPr vert="horz" wrap="square" lIns="0" tIns="13335" rIns="0" bIns="0" rtlCol="0">
            <a:spAutoFit/>
          </a:bodyPr>
          <a:lstStyle/>
          <a:p>
            <a:pPr marL="12700">
              <a:lnSpc>
                <a:spcPct val="100000"/>
              </a:lnSpc>
              <a:spcBef>
                <a:spcPts val="105"/>
              </a:spcBef>
            </a:pPr>
            <a:r>
              <a:rPr spc="-10" dirty="0"/>
              <a:t>Piggybacking</a:t>
            </a:r>
          </a:p>
        </p:txBody>
      </p:sp>
      <p:sp>
        <p:nvSpPr>
          <p:cNvPr id="8" name="object 8"/>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39</a:t>
            </a:fld>
            <a:r>
              <a:rPr spc="10" dirty="0"/>
              <a:t>/69</a:t>
            </a:r>
          </a:p>
        </p:txBody>
      </p:sp>
      <p:sp>
        <p:nvSpPr>
          <p:cNvPr id="3" name="object 3"/>
          <p:cNvSpPr/>
          <p:nvPr/>
        </p:nvSpPr>
        <p:spPr>
          <a:xfrm>
            <a:off x="1616049" y="209307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4" name="object 4"/>
          <p:cNvSpPr/>
          <p:nvPr/>
        </p:nvSpPr>
        <p:spPr>
          <a:xfrm>
            <a:off x="1616049" y="308062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5" name="object 5"/>
          <p:cNvSpPr/>
          <p:nvPr/>
        </p:nvSpPr>
        <p:spPr>
          <a:xfrm>
            <a:off x="1616049" y="446899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6" name="object 6"/>
          <p:cNvSpPr/>
          <p:nvPr/>
        </p:nvSpPr>
        <p:spPr>
          <a:xfrm>
            <a:off x="1616049" y="5858878"/>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7" name="object 7"/>
          <p:cNvSpPr txBox="1"/>
          <p:nvPr/>
        </p:nvSpPr>
        <p:spPr>
          <a:xfrm>
            <a:off x="1970007" y="1916450"/>
            <a:ext cx="7661909" cy="4330032"/>
          </a:xfrm>
          <a:prstGeom prst="rect">
            <a:avLst/>
          </a:prstGeom>
        </p:spPr>
        <p:txBody>
          <a:bodyPr vert="horz" wrap="square" lIns="0" tIns="15875" rIns="0" bIns="0" rtlCol="0">
            <a:spAutoFit/>
          </a:bodyPr>
          <a:lstStyle/>
          <a:p>
            <a:pPr marL="12700">
              <a:lnSpc>
                <a:spcPct val="100000"/>
              </a:lnSpc>
              <a:spcBef>
                <a:spcPts val="125"/>
              </a:spcBef>
            </a:pPr>
            <a:r>
              <a:rPr sz="2650" spc="-10" dirty="0">
                <a:cs typeface="Arial MT"/>
              </a:rPr>
              <a:t>Wasted</a:t>
            </a:r>
            <a:r>
              <a:rPr sz="2650" spc="-5" dirty="0">
                <a:cs typeface="Arial MT"/>
              </a:rPr>
              <a:t> </a:t>
            </a:r>
            <a:r>
              <a:rPr sz="2650" spc="5" dirty="0">
                <a:cs typeface="Arial MT"/>
              </a:rPr>
              <a:t>bandwidth</a:t>
            </a:r>
            <a:r>
              <a:rPr sz="2650" spc="15" dirty="0">
                <a:cs typeface="Arial MT"/>
              </a:rPr>
              <a:t> </a:t>
            </a:r>
            <a:r>
              <a:rPr sz="2650" spc="10" dirty="0">
                <a:cs typeface="Arial MT"/>
              </a:rPr>
              <a:t>on</a:t>
            </a:r>
            <a:r>
              <a:rPr sz="2650" spc="20" dirty="0">
                <a:cs typeface="Arial MT"/>
              </a:rPr>
              <a:t> </a:t>
            </a:r>
            <a:r>
              <a:rPr sz="2650" spc="-15" dirty="0">
                <a:cs typeface="Arial MT"/>
              </a:rPr>
              <a:t>ACK</a:t>
            </a:r>
            <a:r>
              <a:rPr sz="2650" spc="5" dirty="0">
                <a:cs typeface="Arial MT"/>
              </a:rPr>
              <a:t> </a:t>
            </a:r>
            <a:r>
              <a:rPr sz="2650" spc="10" dirty="0">
                <a:cs typeface="Arial MT"/>
              </a:rPr>
              <a:t>channel</a:t>
            </a:r>
            <a:endParaRPr sz="2650" dirty="0">
              <a:cs typeface="Arial MT"/>
            </a:endParaRPr>
          </a:p>
          <a:p>
            <a:pPr>
              <a:lnSpc>
                <a:spcPct val="100000"/>
              </a:lnSpc>
              <a:spcBef>
                <a:spcPts val="55"/>
              </a:spcBef>
            </a:pPr>
            <a:endParaRPr sz="4050" dirty="0">
              <a:cs typeface="Arial MT"/>
            </a:endParaRPr>
          </a:p>
          <a:p>
            <a:pPr marL="12700" marR="994410" indent="-635">
              <a:lnSpc>
                <a:spcPts val="3170"/>
              </a:lnSpc>
            </a:pPr>
            <a:r>
              <a:rPr sz="2650" spc="-5" dirty="0">
                <a:cs typeface="Arial MT"/>
              </a:rPr>
              <a:t>Interleave</a:t>
            </a:r>
            <a:r>
              <a:rPr sz="2650" spc="5" dirty="0">
                <a:cs typeface="Arial MT"/>
              </a:rPr>
              <a:t> </a:t>
            </a:r>
            <a:r>
              <a:rPr sz="2650" spc="-10" dirty="0">
                <a:cs typeface="Arial MT"/>
              </a:rPr>
              <a:t>ACKs</a:t>
            </a:r>
            <a:r>
              <a:rPr sz="2650" spc="20" dirty="0">
                <a:cs typeface="Arial MT"/>
              </a:rPr>
              <a:t> </a:t>
            </a:r>
            <a:r>
              <a:rPr sz="2650" spc="10" dirty="0">
                <a:cs typeface="Arial MT"/>
              </a:rPr>
              <a:t>in</a:t>
            </a:r>
            <a:r>
              <a:rPr sz="2650" spc="-5" dirty="0">
                <a:cs typeface="Arial MT"/>
              </a:rPr>
              <a:t> </a:t>
            </a:r>
            <a:r>
              <a:rPr sz="2650" spc="-15" dirty="0">
                <a:cs typeface="Arial MT"/>
              </a:rPr>
              <a:t>reverse</a:t>
            </a:r>
            <a:r>
              <a:rPr sz="2650" spc="30" dirty="0">
                <a:cs typeface="Arial MT"/>
              </a:rPr>
              <a:t> </a:t>
            </a:r>
            <a:r>
              <a:rPr sz="2650" spc="5" dirty="0">
                <a:cs typeface="Arial MT"/>
              </a:rPr>
              <a:t>data</a:t>
            </a:r>
            <a:r>
              <a:rPr sz="2650" spc="10" dirty="0">
                <a:cs typeface="Arial MT"/>
              </a:rPr>
              <a:t> channel</a:t>
            </a:r>
            <a:r>
              <a:rPr sz="2650" spc="-10" dirty="0">
                <a:cs typeface="Arial MT"/>
              </a:rPr>
              <a:t> </a:t>
            </a:r>
            <a:r>
              <a:rPr sz="2650" spc="-25" dirty="0">
                <a:cs typeface="Arial MT"/>
              </a:rPr>
              <a:t>(it’s </a:t>
            </a:r>
            <a:r>
              <a:rPr sz="2650" spc="-720" dirty="0">
                <a:cs typeface="Arial MT"/>
              </a:rPr>
              <a:t> </a:t>
            </a:r>
            <a:r>
              <a:rPr sz="2650" dirty="0">
                <a:cs typeface="Arial MT"/>
              </a:rPr>
              <a:t>probably</a:t>
            </a:r>
            <a:r>
              <a:rPr sz="2650" spc="-10" dirty="0">
                <a:cs typeface="Arial MT"/>
              </a:rPr>
              <a:t> </a:t>
            </a:r>
            <a:r>
              <a:rPr sz="2650" spc="5" dirty="0">
                <a:cs typeface="Arial MT"/>
              </a:rPr>
              <a:t>there)</a:t>
            </a:r>
            <a:endParaRPr sz="2650" dirty="0">
              <a:cs typeface="Arial MT"/>
            </a:endParaRPr>
          </a:p>
          <a:p>
            <a:pPr>
              <a:lnSpc>
                <a:spcPct val="100000"/>
              </a:lnSpc>
              <a:spcBef>
                <a:spcPts val="50"/>
              </a:spcBef>
            </a:pPr>
            <a:endParaRPr sz="3950" dirty="0">
              <a:cs typeface="Arial MT"/>
            </a:endParaRPr>
          </a:p>
          <a:p>
            <a:pPr marL="12700" marR="69215">
              <a:lnSpc>
                <a:spcPts val="3170"/>
              </a:lnSpc>
            </a:pPr>
            <a:r>
              <a:rPr sz="2650" spc="10" dirty="0">
                <a:cs typeface="Arial MT"/>
              </a:rPr>
              <a:t>Piggybacking–add </a:t>
            </a:r>
            <a:r>
              <a:rPr sz="2650" spc="-10" dirty="0">
                <a:cs typeface="Arial MT"/>
              </a:rPr>
              <a:t>ACKs </a:t>
            </a:r>
            <a:r>
              <a:rPr sz="2650" spc="10" dirty="0">
                <a:cs typeface="Arial MT"/>
              </a:rPr>
              <a:t>in </a:t>
            </a:r>
            <a:r>
              <a:rPr sz="2650" spc="5" dirty="0">
                <a:cs typeface="Arial MT"/>
              </a:rPr>
              <a:t>the </a:t>
            </a:r>
            <a:r>
              <a:rPr sz="2650" spc="10" dirty="0">
                <a:cs typeface="Arial MT"/>
              </a:rPr>
              <a:t>header </a:t>
            </a:r>
            <a:r>
              <a:rPr sz="2650" spc="5" dirty="0">
                <a:cs typeface="Arial MT"/>
              </a:rPr>
              <a:t>of outgoing </a:t>
            </a:r>
            <a:r>
              <a:rPr sz="2650" spc="-730" dirty="0">
                <a:cs typeface="Arial MT"/>
              </a:rPr>
              <a:t> </a:t>
            </a:r>
            <a:r>
              <a:rPr sz="2650" spc="5" dirty="0">
                <a:cs typeface="Arial MT"/>
              </a:rPr>
              <a:t>data</a:t>
            </a:r>
            <a:r>
              <a:rPr sz="2650" dirty="0">
                <a:cs typeface="Arial MT"/>
              </a:rPr>
              <a:t> </a:t>
            </a:r>
            <a:r>
              <a:rPr sz="2650" spc="-5" dirty="0">
                <a:cs typeface="Arial MT"/>
              </a:rPr>
              <a:t>packets</a:t>
            </a:r>
            <a:endParaRPr sz="2650" dirty="0">
              <a:cs typeface="Arial MT"/>
            </a:endParaRPr>
          </a:p>
          <a:p>
            <a:pPr>
              <a:lnSpc>
                <a:spcPct val="100000"/>
              </a:lnSpc>
              <a:spcBef>
                <a:spcPts val="5"/>
              </a:spcBef>
            </a:pPr>
            <a:endParaRPr sz="3900" dirty="0">
              <a:cs typeface="Arial MT"/>
            </a:endParaRPr>
          </a:p>
          <a:p>
            <a:pPr marL="12700">
              <a:lnSpc>
                <a:spcPct val="100000"/>
              </a:lnSpc>
            </a:pPr>
            <a:r>
              <a:rPr sz="2650" spc="5" dirty="0">
                <a:cs typeface="Arial MT"/>
              </a:rPr>
              <a:t>Issue:</a:t>
            </a:r>
            <a:r>
              <a:rPr sz="2650" spc="185" dirty="0">
                <a:cs typeface="Arial MT"/>
              </a:rPr>
              <a:t> </a:t>
            </a:r>
            <a:r>
              <a:rPr sz="2650" dirty="0">
                <a:cs typeface="Arial MT"/>
              </a:rPr>
              <a:t>how</a:t>
            </a:r>
            <a:r>
              <a:rPr sz="2650" spc="5" dirty="0">
                <a:cs typeface="Arial MT"/>
              </a:rPr>
              <a:t> </a:t>
            </a:r>
            <a:r>
              <a:rPr sz="2650" spc="10" dirty="0">
                <a:cs typeface="Arial MT"/>
              </a:rPr>
              <a:t>long</a:t>
            </a:r>
            <a:r>
              <a:rPr sz="2650" spc="-10" dirty="0">
                <a:cs typeface="Arial MT"/>
              </a:rPr>
              <a:t> </a:t>
            </a:r>
            <a:r>
              <a:rPr sz="2650" spc="5" dirty="0">
                <a:cs typeface="Arial MT"/>
              </a:rPr>
              <a:t>to</a:t>
            </a:r>
            <a:r>
              <a:rPr sz="2650" spc="10" dirty="0">
                <a:cs typeface="Arial MT"/>
              </a:rPr>
              <a:t> </a:t>
            </a:r>
            <a:r>
              <a:rPr sz="2650" spc="-5" dirty="0">
                <a:cs typeface="Arial MT"/>
              </a:rPr>
              <a:t>wait</a:t>
            </a:r>
            <a:r>
              <a:rPr sz="2650" spc="5" dirty="0">
                <a:cs typeface="Arial MT"/>
              </a:rPr>
              <a:t> </a:t>
            </a:r>
            <a:r>
              <a:rPr sz="2650" spc="-25" dirty="0">
                <a:cs typeface="Arial MT"/>
              </a:rPr>
              <a:t>for</a:t>
            </a:r>
            <a:r>
              <a:rPr sz="2650" spc="15" dirty="0">
                <a:cs typeface="Arial MT"/>
              </a:rPr>
              <a:t> </a:t>
            </a:r>
            <a:r>
              <a:rPr sz="2650" spc="10" dirty="0">
                <a:cs typeface="Arial MT"/>
              </a:rPr>
              <a:t>an</a:t>
            </a:r>
            <a:r>
              <a:rPr sz="2650" spc="5" dirty="0">
                <a:cs typeface="Arial MT"/>
              </a:rPr>
              <a:t> outgoing</a:t>
            </a:r>
            <a:r>
              <a:rPr sz="2650" spc="15" dirty="0">
                <a:cs typeface="Arial MT"/>
              </a:rPr>
              <a:t> </a:t>
            </a:r>
            <a:r>
              <a:rPr sz="2650" spc="5" dirty="0">
                <a:cs typeface="Arial MT"/>
              </a:rPr>
              <a:t>data</a:t>
            </a:r>
            <a:r>
              <a:rPr sz="2650" spc="15" dirty="0">
                <a:cs typeface="Arial MT"/>
              </a:rPr>
              <a:t> </a:t>
            </a:r>
            <a:r>
              <a:rPr sz="2650" spc="-10" dirty="0">
                <a:cs typeface="Arial MT"/>
              </a:rPr>
              <a:t>packet</a:t>
            </a:r>
            <a:endParaRPr sz="2650" dirty="0">
              <a:cs typeface="Arial MT"/>
            </a:endParaRPr>
          </a:p>
        </p:txBody>
      </p:sp>
    </p:spTree>
    <p:extLst>
      <p:ext uri="{BB962C8B-B14F-4D97-AF65-F5344CB8AC3E}">
        <p14:creationId xmlns:p14="http://schemas.microsoft.com/office/powerpoint/2010/main" val="1804236391"/>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895" y="277888"/>
            <a:ext cx="7315834" cy="1130694"/>
          </a:xfrm>
          <a:prstGeom prst="rect">
            <a:avLst/>
          </a:prstGeom>
        </p:spPr>
        <p:txBody>
          <a:bodyPr vert="horz" wrap="square" lIns="0" tIns="13335" rIns="0" bIns="0" rtlCol="0">
            <a:spAutoFit/>
          </a:bodyPr>
          <a:lstStyle/>
          <a:p>
            <a:pPr marL="12700" algn="ctr">
              <a:lnSpc>
                <a:spcPct val="100000"/>
              </a:lnSpc>
              <a:spcBef>
                <a:spcPts val="105"/>
              </a:spcBef>
            </a:pPr>
            <a:r>
              <a:rPr lang="en-US" spc="-10" dirty="0"/>
              <a:t>Bidirectional protocol: </a:t>
            </a:r>
            <a:r>
              <a:rPr spc="-10" dirty="0"/>
              <a:t>Sliding</a:t>
            </a:r>
            <a:r>
              <a:rPr spc="10" dirty="0"/>
              <a:t> </a:t>
            </a:r>
            <a:r>
              <a:rPr spc="-15" dirty="0"/>
              <a:t>Window</a:t>
            </a:r>
            <a:r>
              <a:rPr spc="-20" dirty="0"/>
              <a:t> </a:t>
            </a:r>
            <a:r>
              <a:rPr dirty="0"/>
              <a:t>of</a:t>
            </a:r>
            <a:r>
              <a:rPr spc="-15" dirty="0"/>
              <a:t> </a:t>
            </a:r>
            <a:r>
              <a:rPr spc="-20" dirty="0"/>
              <a:t>Size</a:t>
            </a:r>
            <a:r>
              <a:rPr spc="-5" dirty="0"/>
              <a:t> </a:t>
            </a:r>
            <a:r>
              <a:rPr dirty="0"/>
              <a:t>1</a:t>
            </a:r>
          </a:p>
        </p:txBody>
      </p:sp>
      <p:sp>
        <p:nvSpPr>
          <p:cNvPr id="60" name="object 60"/>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40</a:t>
            </a:fld>
            <a:r>
              <a:rPr spc="10" dirty="0"/>
              <a:t>/69</a:t>
            </a:r>
          </a:p>
        </p:txBody>
      </p:sp>
      <p:sp>
        <p:nvSpPr>
          <p:cNvPr id="3" name="object 3"/>
          <p:cNvSpPr/>
          <p:nvPr/>
        </p:nvSpPr>
        <p:spPr>
          <a:xfrm>
            <a:off x="2740672" y="2440647"/>
            <a:ext cx="1011555" cy="1011555"/>
          </a:xfrm>
          <a:custGeom>
            <a:avLst/>
            <a:gdLst/>
            <a:ahLst/>
            <a:cxnLst/>
            <a:rect l="l" t="t" r="r" b="b"/>
            <a:pathLst>
              <a:path w="1011554" h="1011554">
                <a:moveTo>
                  <a:pt x="505726" y="1011440"/>
                </a:moveTo>
                <a:lnTo>
                  <a:pt x="554430" y="1009125"/>
                </a:lnTo>
                <a:lnTo>
                  <a:pt x="601824" y="1002321"/>
                </a:lnTo>
                <a:lnTo>
                  <a:pt x="647697" y="991240"/>
                </a:lnTo>
                <a:lnTo>
                  <a:pt x="691836" y="976094"/>
                </a:lnTo>
                <a:lnTo>
                  <a:pt x="734030" y="957094"/>
                </a:lnTo>
                <a:lnTo>
                  <a:pt x="774066" y="934454"/>
                </a:lnTo>
                <a:lnTo>
                  <a:pt x="811733" y="908384"/>
                </a:lnTo>
                <a:lnTo>
                  <a:pt x="846818" y="879097"/>
                </a:lnTo>
                <a:lnTo>
                  <a:pt x="879110" y="846805"/>
                </a:lnTo>
                <a:lnTo>
                  <a:pt x="908397" y="811720"/>
                </a:lnTo>
                <a:lnTo>
                  <a:pt x="934467" y="774053"/>
                </a:lnTo>
                <a:lnTo>
                  <a:pt x="957107" y="734017"/>
                </a:lnTo>
                <a:lnTo>
                  <a:pt x="976106" y="691823"/>
                </a:lnTo>
                <a:lnTo>
                  <a:pt x="991253" y="647684"/>
                </a:lnTo>
                <a:lnTo>
                  <a:pt x="1002334" y="601812"/>
                </a:lnTo>
                <a:lnTo>
                  <a:pt x="1009138" y="554417"/>
                </a:lnTo>
                <a:lnTo>
                  <a:pt x="1011453" y="505714"/>
                </a:lnTo>
                <a:lnTo>
                  <a:pt x="1009138" y="457010"/>
                </a:lnTo>
                <a:lnTo>
                  <a:pt x="1002334" y="409616"/>
                </a:lnTo>
                <a:lnTo>
                  <a:pt x="991253" y="363744"/>
                </a:lnTo>
                <a:lnTo>
                  <a:pt x="976106" y="319606"/>
                </a:lnTo>
                <a:lnTo>
                  <a:pt x="957107" y="277413"/>
                </a:lnTo>
                <a:lnTo>
                  <a:pt x="934467" y="237378"/>
                </a:lnTo>
                <a:lnTo>
                  <a:pt x="908397" y="199712"/>
                </a:lnTo>
                <a:lnTo>
                  <a:pt x="879110" y="164628"/>
                </a:lnTo>
                <a:lnTo>
                  <a:pt x="846818" y="132337"/>
                </a:lnTo>
                <a:lnTo>
                  <a:pt x="811733" y="103051"/>
                </a:lnTo>
                <a:lnTo>
                  <a:pt x="774066" y="76982"/>
                </a:lnTo>
                <a:lnTo>
                  <a:pt x="734030" y="54343"/>
                </a:lnTo>
                <a:lnTo>
                  <a:pt x="691836" y="35344"/>
                </a:lnTo>
                <a:lnTo>
                  <a:pt x="647697" y="20199"/>
                </a:lnTo>
                <a:lnTo>
                  <a:pt x="601824" y="9118"/>
                </a:lnTo>
                <a:lnTo>
                  <a:pt x="554430" y="2315"/>
                </a:lnTo>
                <a:lnTo>
                  <a:pt x="505726" y="0"/>
                </a:lnTo>
                <a:lnTo>
                  <a:pt x="457022" y="2315"/>
                </a:lnTo>
                <a:lnTo>
                  <a:pt x="409628" y="9118"/>
                </a:lnTo>
                <a:lnTo>
                  <a:pt x="363756" y="20199"/>
                </a:lnTo>
                <a:lnTo>
                  <a:pt x="319616" y="35344"/>
                </a:lnTo>
                <a:lnTo>
                  <a:pt x="277423" y="54343"/>
                </a:lnTo>
                <a:lnTo>
                  <a:pt x="237387" y="76982"/>
                </a:lnTo>
                <a:lnTo>
                  <a:pt x="199720" y="103051"/>
                </a:lnTo>
                <a:lnTo>
                  <a:pt x="164634" y="132337"/>
                </a:lnTo>
                <a:lnTo>
                  <a:pt x="132342" y="164628"/>
                </a:lnTo>
                <a:lnTo>
                  <a:pt x="103055" y="199712"/>
                </a:lnTo>
                <a:lnTo>
                  <a:pt x="76986" y="237378"/>
                </a:lnTo>
                <a:lnTo>
                  <a:pt x="54345" y="277413"/>
                </a:lnTo>
                <a:lnTo>
                  <a:pt x="35346" y="319606"/>
                </a:lnTo>
                <a:lnTo>
                  <a:pt x="20200" y="363744"/>
                </a:lnTo>
                <a:lnTo>
                  <a:pt x="9119" y="409616"/>
                </a:lnTo>
                <a:lnTo>
                  <a:pt x="2315" y="457010"/>
                </a:lnTo>
                <a:lnTo>
                  <a:pt x="0" y="505714"/>
                </a:lnTo>
                <a:lnTo>
                  <a:pt x="2315" y="554417"/>
                </a:lnTo>
                <a:lnTo>
                  <a:pt x="9119" y="601812"/>
                </a:lnTo>
                <a:lnTo>
                  <a:pt x="20200" y="647684"/>
                </a:lnTo>
                <a:lnTo>
                  <a:pt x="35346" y="691823"/>
                </a:lnTo>
                <a:lnTo>
                  <a:pt x="54345" y="734017"/>
                </a:lnTo>
                <a:lnTo>
                  <a:pt x="76986" y="774053"/>
                </a:lnTo>
                <a:lnTo>
                  <a:pt x="103055" y="811720"/>
                </a:lnTo>
                <a:lnTo>
                  <a:pt x="132342" y="846805"/>
                </a:lnTo>
                <a:lnTo>
                  <a:pt x="164634" y="879097"/>
                </a:lnTo>
                <a:lnTo>
                  <a:pt x="199720" y="908384"/>
                </a:lnTo>
                <a:lnTo>
                  <a:pt x="237387" y="934454"/>
                </a:lnTo>
                <a:lnTo>
                  <a:pt x="277423" y="957094"/>
                </a:lnTo>
                <a:lnTo>
                  <a:pt x="319616" y="976094"/>
                </a:lnTo>
                <a:lnTo>
                  <a:pt x="363756" y="991240"/>
                </a:lnTo>
                <a:lnTo>
                  <a:pt x="409628" y="1002321"/>
                </a:lnTo>
                <a:lnTo>
                  <a:pt x="457022" y="1009125"/>
                </a:lnTo>
                <a:lnTo>
                  <a:pt x="505726" y="1011440"/>
                </a:lnTo>
                <a:close/>
              </a:path>
              <a:path w="1011554" h="1011554">
                <a:moveTo>
                  <a:pt x="230505" y="226987"/>
                </a:moveTo>
                <a:lnTo>
                  <a:pt x="74053" y="70535"/>
                </a:lnTo>
              </a:path>
              <a:path w="1011554" h="1011554">
                <a:moveTo>
                  <a:pt x="230505" y="763384"/>
                </a:moveTo>
                <a:lnTo>
                  <a:pt x="74053" y="919835"/>
                </a:lnTo>
              </a:path>
              <a:path w="1011554" h="1011554">
                <a:moveTo>
                  <a:pt x="766902" y="763384"/>
                </a:moveTo>
                <a:lnTo>
                  <a:pt x="923353" y="919835"/>
                </a:lnTo>
              </a:path>
              <a:path w="1011554" h="1011554">
                <a:moveTo>
                  <a:pt x="766902" y="226987"/>
                </a:moveTo>
                <a:lnTo>
                  <a:pt x="923353" y="70523"/>
                </a:lnTo>
              </a:path>
            </a:pathLst>
          </a:custGeom>
          <a:ln w="10535">
            <a:solidFill>
              <a:srgbClr val="000000"/>
            </a:solidFill>
          </a:ln>
        </p:spPr>
        <p:txBody>
          <a:bodyPr wrap="square" lIns="0" tIns="0" rIns="0" bIns="0" rtlCol="0"/>
          <a:lstStyle/>
          <a:p>
            <a:endParaRPr/>
          </a:p>
        </p:txBody>
      </p:sp>
      <p:grpSp>
        <p:nvGrpSpPr>
          <p:cNvPr id="4" name="object 4"/>
          <p:cNvGrpSpPr/>
          <p:nvPr/>
        </p:nvGrpSpPr>
        <p:grpSpPr>
          <a:xfrm>
            <a:off x="4589731" y="2435380"/>
            <a:ext cx="1022350" cy="1022350"/>
            <a:chOff x="4589731" y="2435380"/>
            <a:chExt cx="1022350" cy="1022350"/>
          </a:xfrm>
        </p:grpSpPr>
        <p:sp>
          <p:nvSpPr>
            <p:cNvPr id="5" name="object 5"/>
            <p:cNvSpPr/>
            <p:nvPr/>
          </p:nvSpPr>
          <p:spPr>
            <a:xfrm>
              <a:off x="5098961" y="2437574"/>
              <a:ext cx="358140" cy="507365"/>
            </a:xfrm>
            <a:custGeom>
              <a:avLst/>
              <a:gdLst/>
              <a:ahLst/>
              <a:cxnLst/>
              <a:rect l="l" t="t" r="r" b="b"/>
              <a:pathLst>
                <a:path w="358139" h="507364">
                  <a:moveTo>
                    <a:pt x="358038" y="147688"/>
                  </a:moveTo>
                  <a:lnTo>
                    <a:pt x="322183" y="115323"/>
                  </a:lnTo>
                  <a:lnTo>
                    <a:pt x="283348" y="86461"/>
                  </a:lnTo>
                  <a:lnTo>
                    <a:pt x="241783" y="61353"/>
                  </a:lnTo>
                  <a:lnTo>
                    <a:pt x="197737" y="40249"/>
                  </a:lnTo>
                  <a:lnTo>
                    <a:pt x="151462" y="23399"/>
                  </a:lnTo>
                  <a:lnTo>
                    <a:pt x="103208" y="11053"/>
                  </a:lnTo>
                  <a:lnTo>
                    <a:pt x="53225" y="3462"/>
                  </a:lnTo>
                  <a:lnTo>
                    <a:pt x="1765" y="876"/>
                  </a:lnTo>
                  <a:lnTo>
                    <a:pt x="0" y="0"/>
                  </a:lnTo>
                  <a:lnTo>
                    <a:pt x="0" y="507034"/>
                  </a:lnTo>
                  <a:lnTo>
                    <a:pt x="358000" y="149034"/>
                  </a:lnTo>
                  <a:lnTo>
                    <a:pt x="358038" y="147688"/>
                  </a:lnTo>
                  <a:close/>
                </a:path>
              </a:pathLst>
            </a:custGeom>
            <a:solidFill>
              <a:srgbClr val="CCCCCC"/>
            </a:solidFill>
          </p:spPr>
          <p:txBody>
            <a:bodyPr wrap="square" lIns="0" tIns="0" rIns="0" bIns="0" rtlCol="0"/>
            <a:lstStyle/>
            <a:p>
              <a:endParaRPr/>
            </a:p>
          </p:txBody>
        </p:sp>
        <p:sp>
          <p:nvSpPr>
            <p:cNvPr id="6" name="object 6"/>
            <p:cNvSpPr/>
            <p:nvPr/>
          </p:nvSpPr>
          <p:spPr>
            <a:xfrm>
              <a:off x="4594999" y="2440647"/>
              <a:ext cx="1011555" cy="1011555"/>
            </a:xfrm>
            <a:custGeom>
              <a:avLst/>
              <a:gdLst/>
              <a:ahLst/>
              <a:cxnLst/>
              <a:rect l="l" t="t" r="r" b="b"/>
              <a:pathLst>
                <a:path w="1011554" h="1011554">
                  <a:moveTo>
                    <a:pt x="505726" y="1011440"/>
                  </a:moveTo>
                  <a:lnTo>
                    <a:pt x="554430" y="1009125"/>
                  </a:lnTo>
                  <a:lnTo>
                    <a:pt x="601824" y="1002321"/>
                  </a:lnTo>
                  <a:lnTo>
                    <a:pt x="647696" y="991240"/>
                  </a:lnTo>
                  <a:lnTo>
                    <a:pt x="691834" y="976094"/>
                  </a:lnTo>
                  <a:lnTo>
                    <a:pt x="734027" y="957094"/>
                  </a:lnTo>
                  <a:lnTo>
                    <a:pt x="774062" y="934454"/>
                  </a:lnTo>
                  <a:lnTo>
                    <a:pt x="811728" y="908384"/>
                  </a:lnTo>
                  <a:lnTo>
                    <a:pt x="846812" y="879097"/>
                  </a:lnTo>
                  <a:lnTo>
                    <a:pt x="879103" y="846805"/>
                  </a:lnTo>
                  <a:lnTo>
                    <a:pt x="908389" y="811720"/>
                  </a:lnTo>
                  <a:lnTo>
                    <a:pt x="934458" y="774053"/>
                  </a:lnTo>
                  <a:lnTo>
                    <a:pt x="957097" y="734017"/>
                  </a:lnTo>
                  <a:lnTo>
                    <a:pt x="976095" y="691823"/>
                  </a:lnTo>
                  <a:lnTo>
                    <a:pt x="991241" y="647684"/>
                  </a:lnTo>
                  <a:lnTo>
                    <a:pt x="1002321" y="601812"/>
                  </a:lnTo>
                  <a:lnTo>
                    <a:pt x="1009125" y="554417"/>
                  </a:lnTo>
                  <a:lnTo>
                    <a:pt x="1011440" y="505714"/>
                  </a:lnTo>
                  <a:lnTo>
                    <a:pt x="1009125" y="457010"/>
                  </a:lnTo>
                  <a:lnTo>
                    <a:pt x="1002321" y="409616"/>
                  </a:lnTo>
                  <a:lnTo>
                    <a:pt x="991241" y="363744"/>
                  </a:lnTo>
                  <a:lnTo>
                    <a:pt x="976095" y="319606"/>
                  </a:lnTo>
                  <a:lnTo>
                    <a:pt x="957097" y="277413"/>
                  </a:lnTo>
                  <a:lnTo>
                    <a:pt x="934458" y="237378"/>
                  </a:lnTo>
                  <a:lnTo>
                    <a:pt x="908389" y="199712"/>
                  </a:lnTo>
                  <a:lnTo>
                    <a:pt x="879103" y="164628"/>
                  </a:lnTo>
                  <a:lnTo>
                    <a:pt x="846812" y="132337"/>
                  </a:lnTo>
                  <a:lnTo>
                    <a:pt x="811728" y="103051"/>
                  </a:lnTo>
                  <a:lnTo>
                    <a:pt x="774062" y="76982"/>
                  </a:lnTo>
                  <a:lnTo>
                    <a:pt x="734027" y="54343"/>
                  </a:lnTo>
                  <a:lnTo>
                    <a:pt x="691834" y="35344"/>
                  </a:lnTo>
                  <a:lnTo>
                    <a:pt x="647696" y="20199"/>
                  </a:lnTo>
                  <a:lnTo>
                    <a:pt x="601824" y="9118"/>
                  </a:lnTo>
                  <a:lnTo>
                    <a:pt x="554430" y="2315"/>
                  </a:lnTo>
                  <a:lnTo>
                    <a:pt x="505726" y="0"/>
                  </a:lnTo>
                  <a:lnTo>
                    <a:pt x="457020" y="2315"/>
                  </a:lnTo>
                  <a:lnTo>
                    <a:pt x="409625" y="9118"/>
                  </a:lnTo>
                  <a:lnTo>
                    <a:pt x="363751" y="20199"/>
                  </a:lnTo>
                  <a:lnTo>
                    <a:pt x="319611" y="35344"/>
                  </a:lnTo>
                  <a:lnTo>
                    <a:pt x="277417" y="54343"/>
                  </a:lnTo>
                  <a:lnTo>
                    <a:pt x="237381" y="76982"/>
                  </a:lnTo>
                  <a:lnTo>
                    <a:pt x="199714" y="103051"/>
                  </a:lnTo>
                  <a:lnTo>
                    <a:pt x="164629" y="132337"/>
                  </a:lnTo>
                  <a:lnTo>
                    <a:pt x="132338" y="164628"/>
                  </a:lnTo>
                  <a:lnTo>
                    <a:pt x="103052" y="199712"/>
                  </a:lnTo>
                  <a:lnTo>
                    <a:pt x="76983" y="237378"/>
                  </a:lnTo>
                  <a:lnTo>
                    <a:pt x="54343" y="277413"/>
                  </a:lnTo>
                  <a:lnTo>
                    <a:pt x="35344" y="319606"/>
                  </a:lnTo>
                  <a:lnTo>
                    <a:pt x="20199" y="363744"/>
                  </a:lnTo>
                  <a:lnTo>
                    <a:pt x="9118" y="409616"/>
                  </a:lnTo>
                  <a:lnTo>
                    <a:pt x="2315" y="457010"/>
                  </a:lnTo>
                  <a:lnTo>
                    <a:pt x="0" y="505714"/>
                  </a:lnTo>
                  <a:lnTo>
                    <a:pt x="2315" y="554417"/>
                  </a:lnTo>
                  <a:lnTo>
                    <a:pt x="9118" y="601812"/>
                  </a:lnTo>
                  <a:lnTo>
                    <a:pt x="20199" y="647684"/>
                  </a:lnTo>
                  <a:lnTo>
                    <a:pt x="35344" y="691823"/>
                  </a:lnTo>
                  <a:lnTo>
                    <a:pt x="54343" y="734017"/>
                  </a:lnTo>
                  <a:lnTo>
                    <a:pt x="76983" y="774053"/>
                  </a:lnTo>
                  <a:lnTo>
                    <a:pt x="103052" y="811720"/>
                  </a:lnTo>
                  <a:lnTo>
                    <a:pt x="132338" y="846805"/>
                  </a:lnTo>
                  <a:lnTo>
                    <a:pt x="164629" y="879097"/>
                  </a:lnTo>
                  <a:lnTo>
                    <a:pt x="199714" y="908384"/>
                  </a:lnTo>
                  <a:lnTo>
                    <a:pt x="237381" y="934454"/>
                  </a:lnTo>
                  <a:lnTo>
                    <a:pt x="277417" y="957094"/>
                  </a:lnTo>
                  <a:lnTo>
                    <a:pt x="319611" y="976094"/>
                  </a:lnTo>
                  <a:lnTo>
                    <a:pt x="363751" y="991240"/>
                  </a:lnTo>
                  <a:lnTo>
                    <a:pt x="409625" y="1002321"/>
                  </a:lnTo>
                  <a:lnTo>
                    <a:pt x="457020" y="1009125"/>
                  </a:lnTo>
                  <a:lnTo>
                    <a:pt x="505726" y="1011440"/>
                  </a:lnTo>
                  <a:close/>
                </a:path>
                <a:path w="1011554" h="1011554">
                  <a:moveTo>
                    <a:pt x="498703" y="505714"/>
                  </a:moveTo>
                  <a:lnTo>
                    <a:pt x="930795" y="73621"/>
                  </a:lnTo>
                </a:path>
                <a:path w="1011554" h="1011554">
                  <a:moveTo>
                    <a:pt x="230492" y="226987"/>
                  </a:moveTo>
                  <a:lnTo>
                    <a:pt x="74041" y="70535"/>
                  </a:lnTo>
                </a:path>
                <a:path w="1011554" h="1011554">
                  <a:moveTo>
                    <a:pt x="230492" y="763384"/>
                  </a:moveTo>
                  <a:lnTo>
                    <a:pt x="74041" y="919835"/>
                  </a:lnTo>
                </a:path>
                <a:path w="1011554" h="1011554">
                  <a:moveTo>
                    <a:pt x="766902" y="763384"/>
                  </a:moveTo>
                  <a:lnTo>
                    <a:pt x="923353" y="919835"/>
                  </a:lnTo>
                </a:path>
              </a:pathLst>
            </a:custGeom>
            <a:ln w="10535">
              <a:solidFill>
                <a:srgbClr val="000000"/>
              </a:solidFill>
            </a:ln>
          </p:spPr>
          <p:txBody>
            <a:bodyPr wrap="square" lIns="0" tIns="0" rIns="0" bIns="0" rtlCol="0"/>
            <a:lstStyle/>
            <a:p>
              <a:endParaRPr/>
            </a:p>
          </p:txBody>
        </p:sp>
      </p:grpSp>
      <p:grpSp>
        <p:nvGrpSpPr>
          <p:cNvPr id="7" name="object 7"/>
          <p:cNvGrpSpPr/>
          <p:nvPr/>
        </p:nvGrpSpPr>
        <p:grpSpPr>
          <a:xfrm>
            <a:off x="6444046" y="2435380"/>
            <a:ext cx="1022350" cy="1022350"/>
            <a:chOff x="6444046" y="2435380"/>
            <a:chExt cx="1022350" cy="1022350"/>
          </a:xfrm>
        </p:grpSpPr>
        <p:sp>
          <p:nvSpPr>
            <p:cNvPr id="8" name="object 8"/>
            <p:cNvSpPr/>
            <p:nvPr/>
          </p:nvSpPr>
          <p:spPr>
            <a:xfrm>
              <a:off x="6954164" y="2437574"/>
              <a:ext cx="358140" cy="507365"/>
            </a:xfrm>
            <a:custGeom>
              <a:avLst/>
              <a:gdLst/>
              <a:ahLst/>
              <a:cxnLst/>
              <a:rect l="l" t="t" r="r" b="b"/>
              <a:pathLst>
                <a:path w="358140" h="507364">
                  <a:moveTo>
                    <a:pt x="358038" y="147688"/>
                  </a:moveTo>
                  <a:lnTo>
                    <a:pt x="322183" y="115323"/>
                  </a:lnTo>
                  <a:lnTo>
                    <a:pt x="283348" y="86461"/>
                  </a:lnTo>
                  <a:lnTo>
                    <a:pt x="241782" y="61353"/>
                  </a:lnTo>
                  <a:lnTo>
                    <a:pt x="197735" y="40249"/>
                  </a:lnTo>
                  <a:lnTo>
                    <a:pt x="151459" y="23399"/>
                  </a:lnTo>
                  <a:lnTo>
                    <a:pt x="103202" y="11053"/>
                  </a:lnTo>
                  <a:lnTo>
                    <a:pt x="53217" y="3462"/>
                  </a:lnTo>
                  <a:lnTo>
                    <a:pt x="1752" y="876"/>
                  </a:lnTo>
                  <a:lnTo>
                    <a:pt x="0" y="0"/>
                  </a:lnTo>
                  <a:lnTo>
                    <a:pt x="0" y="507034"/>
                  </a:lnTo>
                  <a:lnTo>
                    <a:pt x="358000" y="149034"/>
                  </a:lnTo>
                  <a:lnTo>
                    <a:pt x="358038" y="147688"/>
                  </a:lnTo>
                  <a:close/>
                </a:path>
              </a:pathLst>
            </a:custGeom>
            <a:solidFill>
              <a:srgbClr val="CCCCCC"/>
            </a:solidFill>
          </p:spPr>
          <p:txBody>
            <a:bodyPr wrap="square" lIns="0" tIns="0" rIns="0" bIns="0" rtlCol="0"/>
            <a:lstStyle/>
            <a:p>
              <a:endParaRPr/>
            </a:p>
          </p:txBody>
        </p:sp>
        <p:sp>
          <p:nvSpPr>
            <p:cNvPr id="9" name="object 9"/>
            <p:cNvSpPr/>
            <p:nvPr/>
          </p:nvSpPr>
          <p:spPr>
            <a:xfrm>
              <a:off x="6449314" y="2440647"/>
              <a:ext cx="1011555" cy="1011555"/>
            </a:xfrm>
            <a:custGeom>
              <a:avLst/>
              <a:gdLst/>
              <a:ahLst/>
              <a:cxnLst/>
              <a:rect l="l" t="t" r="r" b="b"/>
              <a:pathLst>
                <a:path w="1011554" h="1011554">
                  <a:moveTo>
                    <a:pt x="505726" y="1011440"/>
                  </a:moveTo>
                  <a:lnTo>
                    <a:pt x="554430" y="1009125"/>
                  </a:lnTo>
                  <a:lnTo>
                    <a:pt x="601824" y="1002321"/>
                  </a:lnTo>
                  <a:lnTo>
                    <a:pt x="647697" y="991240"/>
                  </a:lnTo>
                  <a:lnTo>
                    <a:pt x="691836" y="976094"/>
                  </a:lnTo>
                  <a:lnTo>
                    <a:pt x="734030" y="957094"/>
                  </a:lnTo>
                  <a:lnTo>
                    <a:pt x="774066" y="934454"/>
                  </a:lnTo>
                  <a:lnTo>
                    <a:pt x="811733" y="908384"/>
                  </a:lnTo>
                  <a:lnTo>
                    <a:pt x="846818" y="879097"/>
                  </a:lnTo>
                  <a:lnTo>
                    <a:pt x="879110" y="846805"/>
                  </a:lnTo>
                  <a:lnTo>
                    <a:pt x="908397" y="811720"/>
                  </a:lnTo>
                  <a:lnTo>
                    <a:pt x="934467" y="774053"/>
                  </a:lnTo>
                  <a:lnTo>
                    <a:pt x="957107" y="734017"/>
                  </a:lnTo>
                  <a:lnTo>
                    <a:pt x="976106" y="691823"/>
                  </a:lnTo>
                  <a:lnTo>
                    <a:pt x="991253" y="647684"/>
                  </a:lnTo>
                  <a:lnTo>
                    <a:pt x="1002334" y="601812"/>
                  </a:lnTo>
                  <a:lnTo>
                    <a:pt x="1009138" y="554417"/>
                  </a:lnTo>
                  <a:lnTo>
                    <a:pt x="1011453" y="505714"/>
                  </a:lnTo>
                  <a:lnTo>
                    <a:pt x="1009138" y="457010"/>
                  </a:lnTo>
                  <a:lnTo>
                    <a:pt x="1002334" y="409616"/>
                  </a:lnTo>
                  <a:lnTo>
                    <a:pt x="991253" y="363744"/>
                  </a:lnTo>
                  <a:lnTo>
                    <a:pt x="976106" y="319606"/>
                  </a:lnTo>
                  <a:lnTo>
                    <a:pt x="957107" y="277413"/>
                  </a:lnTo>
                  <a:lnTo>
                    <a:pt x="934467" y="237378"/>
                  </a:lnTo>
                  <a:lnTo>
                    <a:pt x="908397" y="199712"/>
                  </a:lnTo>
                  <a:lnTo>
                    <a:pt x="879110" y="164628"/>
                  </a:lnTo>
                  <a:lnTo>
                    <a:pt x="846818" y="132337"/>
                  </a:lnTo>
                  <a:lnTo>
                    <a:pt x="811733" y="103051"/>
                  </a:lnTo>
                  <a:lnTo>
                    <a:pt x="774066" y="76982"/>
                  </a:lnTo>
                  <a:lnTo>
                    <a:pt x="734030" y="54343"/>
                  </a:lnTo>
                  <a:lnTo>
                    <a:pt x="691836" y="35344"/>
                  </a:lnTo>
                  <a:lnTo>
                    <a:pt x="647697" y="20199"/>
                  </a:lnTo>
                  <a:lnTo>
                    <a:pt x="601824" y="9118"/>
                  </a:lnTo>
                  <a:lnTo>
                    <a:pt x="554430" y="2315"/>
                  </a:lnTo>
                  <a:lnTo>
                    <a:pt x="505726" y="0"/>
                  </a:lnTo>
                  <a:lnTo>
                    <a:pt x="457022" y="2315"/>
                  </a:lnTo>
                  <a:lnTo>
                    <a:pt x="409628" y="9118"/>
                  </a:lnTo>
                  <a:lnTo>
                    <a:pt x="363756" y="20199"/>
                  </a:lnTo>
                  <a:lnTo>
                    <a:pt x="319616" y="35344"/>
                  </a:lnTo>
                  <a:lnTo>
                    <a:pt x="277423" y="54343"/>
                  </a:lnTo>
                  <a:lnTo>
                    <a:pt x="237387" y="76982"/>
                  </a:lnTo>
                  <a:lnTo>
                    <a:pt x="199720" y="103051"/>
                  </a:lnTo>
                  <a:lnTo>
                    <a:pt x="164634" y="132337"/>
                  </a:lnTo>
                  <a:lnTo>
                    <a:pt x="132342" y="164628"/>
                  </a:lnTo>
                  <a:lnTo>
                    <a:pt x="103055" y="199712"/>
                  </a:lnTo>
                  <a:lnTo>
                    <a:pt x="76986" y="237378"/>
                  </a:lnTo>
                  <a:lnTo>
                    <a:pt x="54345" y="277413"/>
                  </a:lnTo>
                  <a:lnTo>
                    <a:pt x="35346" y="319606"/>
                  </a:lnTo>
                  <a:lnTo>
                    <a:pt x="20200" y="363744"/>
                  </a:lnTo>
                  <a:lnTo>
                    <a:pt x="9119" y="409616"/>
                  </a:lnTo>
                  <a:lnTo>
                    <a:pt x="2315" y="457010"/>
                  </a:lnTo>
                  <a:lnTo>
                    <a:pt x="0" y="505714"/>
                  </a:lnTo>
                  <a:lnTo>
                    <a:pt x="2315" y="554417"/>
                  </a:lnTo>
                  <a:lnTo>
                    <a:pt x="9119" y="601812"/>
                  </a:lnTo>
                  <a:lnTo>
                    <a:pt x="20200" y="647684"/>
                  </a:lnTo>
                  <a:lnTo>
                    <a:pt x="35346" y="691823"/>
                  </a:lnTo>
                  <a:lnTo>
                    <a:pt x="54345" y="734017"/>
                  </a:lnTo>
                  <a:lnTo>
                    <a:pt x="76986" y="774053"/>
                  </a:lnTo>
                  <a:lnTo>
                    <a:pt x="103055" y="811720"/>
                  </a:lnTo>
                  <a:lnTo>
                    <a:pt x="132342" y="846805"/>
                  </a:lnTo>
                  <a:lnTo>
                    <a:pt x="164634" y="879097"/>
                  </a:lnTo>
                  <a:lnTo>
                    <a:pt x="199720" y="908384"/>
                  </a:lnTo>
                  <a:lnTo>
                    <a:pt x="237387" y="934454"/>
                  </a:lnTo>
                  <a:lnTo>
                    <a:pt x="277423" y="957094"/>
                  </a:lnTo>
                  <a:lnTo>
                    <a:pt x="319616" y="976094"/>
                  </a:lnTo>
                  <a:lnTo>
                    <a:pt x="363756" y="991240"/>
                  </a:lnTo>
                  <a:lnTo>
                    <a:pt x="409628" y="1002321"/>
                  </a:lnTo>
                  <a:lnTo>
                    <a:pt x="457022" y="1009125"/>
                  </a:lnTo>
                  <a:lnTo>
                    <a:pt x="505726" y="1011440"/>
                  </a:lnTo>
                  <a:close/>
                </a:path>
                <a:path w="1011554" h="1011554">
                  <a:moveTo>
                    <a:pt x="498703" y="505714"/>
                  </a:moveTo>
                  <a:lnTo>
                    <a:pt x="930808" y="73621"/>
                  </a:lnTo>
                </a:path>
                <a:path w="1011554" h="1011554">
                  <a:moveTo>
                    <a:pt x="230505" y="226987"/>
                  </a:moveTo>
                  <a:lnTo>
                    <a:pt x="74053" y="70535"/>
                  </a:lnTo>
                </a:path>
                <a:path w="1011554" h="1011554">
                  <a:moveTo>
                    <a:pt x="230505" y="763384"/>
                  </a:moveTo>
                  <a:lnTo>
                    <a:pt x="74053" y="919835"/>
                  </a:lnTo>
                </a:path>
                <a:path w="1011554" h="1011554">
                  <a:moveTo>
                    <a:pt x="766902" y="763384"/>
                  </a:moveTo>
                  <a:lnTo>
                    <a:pt x="923353" y="919835"/>
                  </a:lnTo>
                </a:path>
              </a:pathLst>
            </a:custGeom>
            <a:ln w="10535">
              <a:solidFill>
                <a:srgbClr val="000000"/>
              </a:solidFill>
            </a:ln>
          </p:spPr>
          <p:txBody>
            <a:bodyPr wrap="square" lIns="0" tIns="0" rIns="0" bIns="0" rtlCol="0"/>
            <a:lstStyle/>
            <a:p>
              <a:endParaRPr/>
            </a:p>
          </p:txBody>
        </p:sp>
      </p:grpSp>
      <p:grpSp>
        <p:nvGrpSpPr>
          <p:cNvPr id="10" name="object 10"/>
          <p:cNvGrpSpPr/>
          <p:nvPr/>
        </p:nvGrpSpPr>
        <p:grpSpPr>
          <a:xfrm>
            <a:off x="2638818" y="4589970"/>
            <a:ext cx="1201420" cy="1201420"/>
            <a:chOff x="2638818" y="4589970"/>
            <a:chExt cx="1201420" cy="1201420"/>
          </a:xfrm>
        </p:grpSpPr>
        <p:sp>
          <p:nvSpPr>
            <p:cNvPr id="11" name="object 11"/>
            <p:cNvSpPr/>
            <p:nvPr/>
          </p:nvSpPr>
          <p:spPr>
            <a:xfrm>
              <a:off x="3241573" y="4695329"/>
              <a:ext cx="358140" cy="507365"/>
            </a:xfrm>
            <a:custGeom>
              <a:avLst/>
              <a:gdLst/>
              <a:ahLst/>
              <a:cxnLst/>
              <a:rect l="l" t="t" r="r" b="b"/>
              <a:pathLst>
                <a:path w="358139" h="507364">
                  <a:moveTo>
                    <a:pt x="358038" y="147688"/>
                  </a:moveTo>
                  <a:lnTo>
                    <a:pt x="322183" y="115327"/>
                  </a:lnTo>
                  <a:lnTo>
                    <a:pt x="283346" y="86467"/>
                  </a:lnTo>
                  <a:lnTo>
                    <a:pt x="241779" y="61359"/>
                  </a:lnTo>
                  <a:lnTo>
                    <a:pt x="197731" y="40254"/>
                  </a:lnTo>
                  <a:lnTo>
                    <a:pt x="151453" y="23402"/>
                  </a:lnTo>
                  <a:lnTo>
                    <a:pt x="103197" y="11055"/>
                  </a:lnTo>
                  <a:lnTo>
                    <a:pt x="53213" y="3462"/>
                  </a:lnTo>
                  <a:lnTo>
                    <a:pt x="1752" y="876"/>
                  </a:lnTo>
                  <a:lnTo>
                    <a:pt x="0" y="0"/>
                  </a:lnTo>
                  <a:lnTo>
                    <a:pt x="0" y="507034"/>
                  </a:lnTo>
                  <a:lnTo>
                    <a:pt x="358000" y="149034"/>
                  </a:lnTo>
                  <a:lnTo>
                    <a:pt x="358038" y="147688"/>
                  </a:lnTo>
                  <a:close/>
                </a:path>
              </a:pathLst>
            </a:custGeom>
            <a:solidFill>
              <a:srgbClr val="CCCCCC"/>
            </a:solidFill>
          </p:spPr>
          <p:txBody>
            <a:bodyPr wrap="square" lIns="0" tIns="0" rIns="0" bIns="0" rtlCol="0"/>
            <a:lstStyle/>
            <a:p>
              <a:endParaRPr/>
            </a:p>
          </p:txBody>
        </p:sp>
        <p:sp>
          <p:nvSpPr>
            <p:cNvPr id="12" name="object 12"/>
            <p:cNvSpPr/>
            <p:nvPr/>
          </p:nvSpPr>
          <p:spPr>
            <a:xfrm>
              <a:off x="2638818" y="4589970"/>
              <a:ext cx="1201420" cy="1201420"/>
            </a:xfrm>
            <a:custGeom>
              <a:avLst/>
              <a:gdLst/>
              <a:ahLst/>
              <a:cxnLst/>
              <a:rect l="l" t="t" r="r" b="b"/>
              <a:pathLst>
                <a:path w="1201420" h="1201420">
                  <a:moveTo>
                    <a:pt x="607580" y="1116812"/>
                  </a:moveTo>
                  <a:lnTo>
                    <a:pt x="656284" y="1114497"/>
                  </a:lnTo>
                  <a:lnTo>
                    <a:pt x="703678" y="1107693"/>
                  </a:lnTo>
                  <a:lnTo>
                    <a:pt x="749551" y="1096612"/>
                  </a:lnTo>
                  <a:lnTo>
                    <a:pt x="793690" y="1081466"/>
                  </a:lnTo>
                  <a:lnTo>
                    <a:pt x="835884" y="1062466"/>
                  </a:lnTo>
                  <a:lnTo>
                    <a:pt x="875920" y="1039826"/>
                  </a:lnTo>
                  <a:lnTo>
                    <a:pt x="913587" y="1013756"/>
                  </a:lnTo>
                  <a:lnTo>
                    <a:pt x="948672" y="984469"/>
                  </a:lnTo>
                  <a:lnTo>
                    <a:pt x="980964" y="952177"/>
                  </a:lnTo>
                  <a:lnTo>
                    <a:pt x="1010251" y="917092"/>
                  </a:lnTo>
                  <a:lnTo>
                    <a:pt x="1036321" y="879425"/>
                  </a:lnTo>
                  <a:lnTo>
                    <a:pt x="1058961" y="839389"/>
                  </a:lnTo>
                  <a:lnTo>
                    <a:pt x="1077960" y="797195"/>
                  </a:lnTo>
                  <a:lnTo>
                    <a:pt x="1093107" y="753056"/>
                  </a:lnTo>
                  <a:lnTo>
                    <a:pt x="1104188" y="707183"/>
                  </a:lnTo>
                  <a:lnTo>
                    <a:pt x="1110992" y="659789"/>
                  </a:lnTo>
                  <a:lnTo>
                    <a:pt x="1113307" y="611085"/>
                  </a:lnTo>
                  <a:lnTo>
                    <a:pt x="1110992" y="562382"/>
                  </a:lnTo>
                  <a:lnTo>
                    <a:pt x="1104188" y="514987"/>
                  </a:lnTo>
                  <a:lnTo>
                    <a:pt x="1093107" y="469115"/>
                  </a:lnTo>
                  <a:lnTo>
                    <a:pt x="1077960" y="424976"/>
                  </a:lnTo>
                  <a:lnTo>
                    <a:pt x="1058961" y="382782"/>
                  </a:lnTo>
                  <a:lnTo>
                    <a:pt x="1036321" y="342746"/>
                  </a:lnTo>
                  <a:lnTo>
                    <a:pt x="1010251" y="305079"/>
                  </a:lnTo>
                  <a:lnTo>
                    <a:pt x="980964" y="269994"/>
                  </a:lnTo>
                  <a:lnTo>
                    <a:pt x="948672" y="237702"/>
                  </a:lnTo>
                  <a:lnTo>
                    <a:pt x="913587" y="208415"/>
                  </a:lnTo>
                  <a:lnTo>
                    <a:pt x="875920" y="182345"/>
                  </a:lnTo>
                  <a:lnTo>
                    <a:pt x="835884" y="159705"/>
                  </a:lnTo>
                  <a:lnTo>
                    <a:pt x="793690" y="140705"/>
                  </a:lnTo>
                  <a:lnTo>
                    <a:pt x="749551" y="125559"/>
                  </a:lnTo>
                  <a:lnTo>
                    <a:pt x="703678" y="114478"/>
                  </a:lnTo>
                  <a:lnTo>
                    <a:pt x="656284" y="107674"/>
                  </a:lnTo>
                  <a:lnTo>
                    <a:pt x="607580" y="105359"/>
                  </a:lnTo>
                  <a:lnTo>
                    <a:pt x="558876" y="107674"/>
                  </a:lnTo>
                  <a:lnTo>
                    <a:pt x="511482" y="114478"/>
                  </a:lnTo>
                  <a:lnTo>
                    <a:pt x="465610" y="125559"/>
                  </a:lnTo>
                  <a:lnTo>
                    <a:pt x="421470" y="140705"/>
                  </a:lnTo>
                  <a:lnTo>
                    <a:pt x="379277" y="159705"/>
                  </a:lnTo>
                  <a:lnTo>
                    <a:pt x="339241" y="182345"/>
                  </a:lnTo>
                  <a:lnTo>
                    <a:pt x="301574" y="208415"/>
                  </a:lnTo>
                  <a:lnTo>
                    <a:pt x="266488" y="237702"/>
                  </a:lnTo>
                  <a:lnTo>
                    <a:pt x="234196" y="269994"/>
                  </a:lnTo>
                  <a:lnTo>
                    <a:pt x="204909" y="305079"/>
                  </a:lnTo>
                  <a:lnTo>
                    <a:pt x="178840" y="342746"/>
                  </a:lnTo>
                  <a:lnTo>
                    <a:pt x="156199" y="382782"/>
                  </a:lnTo>
                  <a:lnTo>
                    <a:pt x="137200" y="424976"/>
                  </a:lnTo>
                  <a:lnTo>
                    <a:pt x="122054" y="469115"/>
                  </a:lnTo>
                  <a:lnTo>
                    <a:pt x="110973" y="514987"/>
                  </a:lnTo>
                  <a:lnTo>
                    <a:pt x="104169" y="562382"/>
                  </a:lnTo>
                  <a:lnTo>
                    <a:pt x="101854" y="611085"/>
                  </a:lnTo>
                  <a:lnTo>
                    <a:pt x="104169" y="659789"/>
                  </a:lnTo>
                  <a:lnTo>
                    <a:pt x="110973" y="707183"/>
                  </a:lnTo>
                  <a:lnTo>
                    <a:pt x="122054" y="753056"/>
                  </a:lnTo>
                  <a:lnTo>
                    <a:pt x="137200" y="797195"/>
                  </a:lnTo>
                  <a:lnTo>
                    <a:pt x="156199" y="839389"/>
                  </a:lnTo>
                  <a:lnTo>
                    <a:pt x="178840" y="879425"/>
                  </a:lnTo>
                  <a:lnTo>
                    <a:pt x="204909" y="917092"/>
                  </a:lnTo>
                  <a:lnTo>
                    <a:pt x="234196" y="952177"/>
                  </a:lnTo>
                  <a:lnTo>
                    <a:pt x="266488" y="984469"/>
                  </a:lnTo>
                  <a:lnTo>
                    <a:pt x="301574" y="1013756"/>
                  </a:lnTo>
                  <a:lnTo>
                    <a:pt x="339241" y="1039826"/>
                  </a:lnTo>
                  <a:lnTo>
                    <a:pt x="379277" y="1062466"/>
                  </a:lnTo>
                  <a:lnTo>
                    <a:pt x="421470" y="1081466"/>
                  </a:lnTo>
                  <a:lnTo>
                    <a:pt x="465610" y="1096612"/>
                  </a:lnTo>
                  <a:lnTo>
                    <a:pt x="511482" y="1107693"/>
                  </a:lnTo>
                  <a:lnTo>
                    <a:pt x="558876" y="1114497"/>
                  </a:lnTo>
                  <a:lnTo>
                    <a:pt x="607580" y="1116812"/>
                  </a:lnTo>
                  <a:close/>
                </a:path>
                <a:path w="1201420" h="1201420">
                  <a:moveTo>
                    <a:pt x="605828" y="611085"/>
                  </a:moveTo>
                  <a:lnTo>
                    <a:pt x="605828" y="0"/>
                  </a:lnTo>
                </a:path>
                <a:path w="1201420" h="1201420">
                  <a:moveTo>
                    <a:pt x="605828" y="611085"/>
                  </a:moveTo>
                  <a:lnTo>
                    <a:pt x="1037920" y="178981"/>
                  </a:lnTo>
                </a:path>
                <a:path w="1201420" h="1201420">
                  <a:moveTo>
                    <a:pt x="332359" y="332346"/>
                  </a:moveTo>
                  <a:lnTo>
                    <a:pt x="175907" y="175895"/>
                  </a:lnTo>
                </a:path>
                <a:path w="1201420" h="1201420">
                  <a:moveTo>
                    <a:pt x="221259" y="611085"/>
                  </a:moveTo>
                  <a:lnTo>
                    <a:pt x="0" y="611085"/>
                  </a:lnTo>
                </a:path>
                <a:path w="1201420" h="1201420">
                  <a:moveTo>
                    <a:pt x="332359" y="868743"/>
                  </a:moveTo>
                  <a:lnTo>
                    <a:pt x="175907" y="1025194"/>
                  </a:lnTo>
                </a:path>
                <a:path w="1201420" h="1201420">
                  <a:moveTo>
                    <a:pt x="605828" y="979843"/>
                  </a:moveTo>
                  <a:lnTo>
                    <a:pt x="605828" y="1201102"/>
                  </a:lnTo>
                </a:path>
                <a:path w="1201420" h="1201420">
                  <a:moveTo>
                    <a:pt x="868756" y="868743"/>
                  </a:moveTo>
                  <a:lnTo>
                    <a:pt x="1025207" y="1025194"/>
                  </a:lnTo>
                </a:path>
                <a:path w="1201420" h="1201420">
                  <a:moveTo>
                    <a:pt x="979855" y="611085"/>
                  </a:moveTo>
                  <a:lnTo>
                    <a:pt x="1201102" y="611085"/>
                  </a:lnTo>
                </a:path>
              </a:pathLst>
            </a:custGeom>
            <a:ln w="10535">
              <a:solidFill>
                <a:srgbClr val="000000"/>
              </a:solidFill>
            </a:ln>
          </p:spPr>
          <p:txBody>
            <a:bodyPr wrap="square" lIns="0" tIns="0" rIns="0" bIns="0" rtlCol="0"/>
            <a:lstStyle/>
            <a:p>
              <a:endParaRPr/>
            </a:p>
          </p:txBody>
        </p:sp>
      </p:grpSp>
      <p:sp>
        <p:nvSpPr>
          <p:cNvPr id="13" name="object 13"/>
          <p:cNvSpPr txBox="1"/>
          <p:nvPr/>
        </p:nvSpPr>
        <p:spPr>
          <a:xfrm>
            <a:off x="1899145" y="2101334"/>
            <a:ext cx="569595"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Sender</a:t>
            </a:r>
            <a:endParaRPr sz="1300">
              <a:latin typeface="Arial MT"/>
              <a:cs typeface="Arial MT"/>
            </a:endParaRPr>
          </a:p>
        </p:txBody>
      </p:sp>
      <p:sp>
        <p:nvSpPr>
          <p:cNvPr id="14" name="object 14"/>
          <p:cNvSpPr txBox="1"/>
          <p:nvPr/>
        </p:nvSpPr>
        <p:spPr>
          <a:xfrm>
            <a:off x="1899145" y="4197982"/>
            <a:ext cx="690880" cy="227965"/>
          </a:xfrm>
          <a:prstGeom prst="rect">
            <a:avLst/>
          </a:prstGeom>
        </p:spPr>
        <p:txBody>
          <a:bodyPr vert="horz" wrap="square" lIns="0" tIns="15875" rIns="0" bIns="0" rtlCol="0">
            <a:spAutoFit/>
          </a:bodyPr>
          <a:lstStyle/>
          <a:p>
            <a:pPr marL="12700">
              <a:lnSpc>
                <a:spcPct val="100000"/>
              </a:lnSpc>
              <a:spcBef>
                <a:spcPts val="125"/>
              </a:spcBef>
            </a:pPr>
            <a:r>
              <a:rPr sz="1300" spc="5" dirty="0">
                <a:latin typeface="Arial MT"/>
                <a:cs typeface="Arial MT"/>
              </a:rPr>
              <a:t>Receiver</a:t>
            </a:r>
            <a:endParaRPr sz="1300">
              <a:latin typeface="Arial MT"/>
              <a:cs typeface="Arial MT"/>
            </a:endParaRPr>
          </a:p>
        </p:txBody>
      </p:sp>
      <p:graphicFrame>
        <p:nvGraphicFramePr>
          <p:cNvPr id="15" name="object 15"/>
          <p:cNvGraphicFramePr>
            <a:graphicFrameLocks noGrp="1"/>
          </p:cNvGraphicFramePr>
          <p:nvPr/>
        </p:nvGraphicFramePr>
        <p:xfrm>
          <a:off x="2512250" y="2193210"/>
          <a:ext cx="6993880" cy="1521125"/>
        </p:xfrm>
        <a:graphic>
          <a:graphicData uri="http://schemas.openxmlformats.org/drawingml/2006/table">
            <a:tbl>
              <a:tblPr firstRow="1" bandRow="1">
                <a:tableStyleId>{2D5ABB26-0587-4C30-8999-92F81FD0307C}</a:tableStyleId>
              </a:tblPr>
              <a:tblGrid>
                <a:gridCol w="135890">
                  <a:extLst>
                    <a:ext uri="{9D8B030D-6E8A-4147-A177-3AD203B41FA5}">
                      <a16:colId xmlns:a16="http://schemas.microsoft.com/office/drawing/2014/main" val="20000"/>
                    </a:ext>
                  </a:extLst>
                </a:gridCol>
                <a:gridCol w="211454">
                  <a:extLst>
                    <a:ext uri="{9D8B030D-6E8A-4147-A177-3AD203B41FA5}">
                      <a16:colId xmlns:a16="http://schemas.microsoft.com/office/drawing/2014/main" val="20001"/>
                    </a:ext>
                  </a:extLst>
                </a:gridCol>
                <a:gridCol w="384174">
                  <a:extLst>
                    <a:ext uri="{9D8B030D-6E8A-4147-A177-3AD203B41FA5}">
                      <a16:colId xmlns:a16="http://schemas.microsoft.com/office/drawing/2014/main" val="20002"/>
                    </a:ext>
                  </a:extLst>
                </a:gridCol>
                <a:gridCol w="373380">
                  <a:extLst>
                    <a:ext uri="{9D8B030D-6E8A-4147-A177-3AD203B41FA5}">
                      <a16:colId xmlns:a16="http://schemas.microsoft.com/office/drawing/2014/main" val="20003"/>
                    </a:ext>
                  </a:extLst>
                </a:gridCol>
                <a:gridCol w="220344">
                  <a:extLst>
                    <a:ext uri="{9D8B030D-6E8A-4147-A177-3AD203B41FA5}">
                      <a16:colId xmlns:a16="http://schemas.microsoft.com/office/drawing/2014/main" val="20004"/>
                    </a:ext>
                  </a:extLst>
                </a:gridCol>
                <a:gridCol w="340994">
                  <a:extLst>
                    <a:ext uri="{9D8B030D-6E8A-4147-A177-3AD203B41FA5}">
                      <a16:colId xmlns:a16="http://schemas.microsoft.com/office/drawing/2014/main" val="20005"/>
                    </a:ext>
                  </a:extLst>
                </a:gridCol>
                <a:gridCol w="320039">
                  <a:extLst>
                    <a:ext uri="{9D8B030D-6E8A-4147-A177-3AD203B41FA5}">
                      <a16:colId xmlns:a16="http://schemas.microsoft.com/office/drawing/2014/main" val="20006"/>
                    </a:ext>
                  </a:extLst>
                </a:gridCol>
                <a:gridCol w="210819">
                  <a:extLst>
                    <a:ext uri="{9D8B030D-6E8A-4147-A177-3AD203B41FA5}">
                      <a16:colId xmlns:a16="http://schemas.microsoft.com/office/drawing/2014/main" val="20007"/>
                    </a:ext>
                  </a:extLst>
                </a:gridCol>
                <a:gridCol w="383539">
                  <a:extLst>
                    <a:ext uri="{9D8B030D-6E8A-4147-A177-3AD203B41FA5}">
                      <a16:colId xmlns:a16="http://schemas.microsoft.com/office/drawing/2014/main" val="20008"/>
                    </a:ext>
                  </a:extLst>
                </a:gridCol>
                <a:gridCol w="372744">
                  <a:extLst>
                    <a:ext uri="{9D8B030D-6E8A-4147-A177-3AD203B41FA5}">
                      <a16:colId xmlns:a16="http://schemas.microsoft.com/office/drawing/2014/main" val="20009"/>
                    </a:ext>
                  </a:extLst>
                </a:gridCol>
                <a:gridCol w="219710">
                  <a:extLst>
                    <a:ext uri="{9D8B030D-6E8A-4147-A177-3AD203B41FA5}">
                      <a16:colId xmlns:a16="http://schemas.microsoft.com/office/drawing/2014/main" val="20010"/>
                    </a:ext>
                  </a:extLst>
                </a:gridCol>
                <a:gridCol w="340360">
                  <a:extLst>
                    <a:ext uri="{9D8B030D-6E8A-4147-A177-3AD203B41FA5}">
                      <a16:colId xmlns:a16="http://schemas.microsoft.com/office/drawing/2014/main" val="20011"/>
                    </a:ext>
                  </a:extLst>
                </a:gridCol>
                <a:gridCol w="319404">
                  <a:extLst>
                    <a:ext uri="{9D8B030D-6E8A-4147-A177-3AD203B41FA5}">
                      <a16:colId xmlns:a16="http://schemas.microsoft.com/office/drawing/2014/main" val="20012"/>
                    </a:ext>
                  </a:extLst>
                </a:gridCol>
                <a:gridCol w="210185">
                  <a:extLst>
                    <a:ext uri="{9D8B030D-6E8A-4147-A177-3AD203B41FA5}">
                      <a16:colId xmlns:a16="http://schemas.microsoft.com/office/drawing/2014/main" val="20013"/>
                    </a:ext>
                  </a:extLst>
                </a:gridCol>
                <a:gridCol w="382904">
                  <a:extLst>
                    <a:ext uri="{9D8B030D-6E8A-4147-A177-3AD203B41FA5}">
                      <a16:colId xmlns:a16="http://schemas.microsoft.com/office/drawing/2014/main" val="20014"/>
                    </a:ext>
                  </a:extLst>
                </a:gridCol>
                <a:gridCol w="372110">
                  <a:extLst>
                    <a:ext uri="{9D8B030D-6E8A-4147-A177-3AD203B41FA5}">
                      <a16:colId xmlns:a16="http://schemas.microsoft.com/office/drawing/2014/main" val="20015"/>
                    </a:ext>
                  </a:extLst>
                </a:gridCol>
                <a:gridCol w="219075">
                  <a:extLst>
                    <a:ext uri="{9D8B030D-6E8A-4147-A177-3AD203B41FA5}">
                      <a16:colId xmlns:a16="http://schemas.microsoft.com/office/drawing/2014/main" val="20016"/>
                    </a:ext>
                  </a:extLst>
                </a:gridCol>
                <a:gridCol w="330200">
                  <a:extLst>
                    <a:ext uri="{9D8B030D-6E8A-4147-A177-3AD203B41FA5}">
                      <a16:colId xmlns:a16="http://schemas.microsoft.com/office/drawing/2014/main" val="20017"/>
                    </a:ext>
                  </a:extLst>
                </a:gridCol>
                <a:gridCol w="309245">
                  <a:extLst>
                    <a:ext uri="{9D8B030D-6E8A-4147-A177-3AD203B41FA5}">
                      <a16:colId xmlns:a16="http://schemas.microsoft.com/office/drawing/2014/main" val="20018"/>
                    </a:ext>
                  </a:extLst>
                </a:gridCol>
                <a:gridCol w="209550">
                  <a:extLst>
                    <a:ext uri="{9D8B030D-6E8A-4147-A177-3AD203B41FA5}">
                      <a16:colId xmlns:a16="http://schemas.microsoft.com/office/drawing/2014/main" val="20019"/>
                    </a:ext>
                  </a:extLst>
                </a:gridCol>
                <a:gridCol w="381635">
                  <a:extLst>
                    <a:ext uri="{9D8B030D-6E8A-4147-A177-3AD203B41FA5}">
                      <a16:colId xmlns:a16="http://schemas.microsoft.com/office/drawing/2014/main" val="20020"/>
                    </a:ext>
                  </a:extLst>
                </a:gridCol>
                <a:gridCol w="372110">
                  <a:extLst>
                    <a:ext uri="{9D8B030D-6E8A-4147-A177-3AD203B41FA5}">
                      <a16:colId xmlns:a16="http://schemas.microsoft.com/office/drawing/2014/main" val="20021"/>
                    </a:ext>
                  </a:extLst>
                </a:gridCol>
                <a:gridCol w="219075">
                  <a:extLst>
                    <a:ext uri="{9D8B030D-6E8A-4147-A177-3AD203B41FA5}">
                      <a16:colId xmlns:a16="http://schemas.microsoft.com/office/drawing/2014/main" val="20022"/>
                    </a:ext>
                  </a:extLst>
                </a:gridCol>
                <a:gridCol w="154940">
                  <a:extLst>
                    <a:ext uri="{9D8B030D-6E8A-4147-A177-3AD203B41FA5}">
                      <a16:colId xmlns:a16="http://schemas.microsoft.com/office/drawing/2014/main" val="20023"/>
                    </a:ext>
                  </a:extLst>
                </a:gridCol>
              </a:tblGrid>
              <a:tr h="363324">
                <a:tc gridSpan="2">
                  <a:txBody>
                    <a:bodyPr/>
                    <a:lstStyle/>
                    <a:p>
                      <a:pPr>
                        <a:lnSpc>
                          <a:spcPct val="100000"/>
                        </a:lnSpc>
                      </a:pPr>
                      <a:endParaRPr sz="2000">
                        <a:latin typeface="Times New Roman"/>
                        <a:cs typeface="Times New Roman"/>
                      </a:endParaRPr>
                    </a:p>
                  </a:txBody>
                  <a:tcPr marL="0" marR="0" marT="0" marB="0"/>
                </a:tc>
                <a:tc hMerge="1">
                  <a:txBody>
                    <a:bodyPr/>
                    <a:lstStyle/>
                    <a:p>
                      <a:endParaRPr/>
                    </a:p>
                  </a:txBody>
                  <a:tcPr marL="0" marR="0" marT="0" marB="0"/>
                </a:tc>
                <a:tc>
                  <a:txBody>
                    <a:bodyPr/>
                    <a:lstStyle/>
                    <a:p>
                      <a:pPr marL="115570">
                        <a:lnSpc>
                          <a:spcPts val="1460"/>
                        </a:lnSpc>
                      </a:pPr>
                      <a:r>
                        <a:rPr sz="1300" dirty="0">
                          <a:latin typeface="Arial MT"/>
                          <a:cs typeface="Arial MT"/>
                        </a:rPr>
                        <a:t>7</a:t>
                      </a:r>
                      <a:endParaRPr sz="1300">
                        <a:latin typeface="Arial MT"/>
                        <a:cs typeface="Arial MT"/>
                      </a:endParaRPr>
                    </a:p>
                  </a:txBody>
                  <a:tcPr marL="0" marR="0" marT="0" marB="0">
                    <a:lnR w="12700">
                      <a:solidFill>
                        <a:srgbClr val="000000"/>
                      </a:solidFill>
                      <a:prstDash val="solid"/>
                    </a:lnR>
                  </a:tcPr>
                </a:tc>
                <a:tc>
                  <a:txBody>
                    <a:bodyPr/>
                    <a:lstStyle/>
                    <a:p>
                      <a:pPr marR="45720" algn="r">
                        <a:lnSpc>
                          <a:spcPts val="1460"/>
                        </a:lnSpc>
                      </a:pPr>
                      <a:r>
                        <a:rPr sz="1300" dirty="0">
                          <a:latin typeface="Arial MT"/>
                          <a:cs typeface="Arial MT"/>
                        </a:rPr>
                        <a:t>0</a:t>
                      </a:r>
                      <a:endParaRPr sz="1300">
                        <a:latin typeface="Arial MT"/>
                        <a:cs typeface="Arial MT"/>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marL="115570">
                        <a:lnSpc>
                          <a:spcPts val="1460"/>
                        </a:lnSpc>
                      </a:pPr>
                      <a:r>
                        <a:rPr sz="1300" dirty="0">
                          <a:latin typeface="Arial MT"/>
                          <a:cs typeface="Arial MT"/>
                        </a:rPr>
                        <a:t>7</a:t>
                      </a:r>
                      <a:endParaRPr sz="1300">
                        <a:latin typeface="Arial MT"/>
                        <a:cs typeface="Arial MT"/>
                      </a:endParaRPr>
                    </a:p>
                  </a:txBody>
                  <a:tcPr marL="0" marR="0" marT="0" marB="0">
                    <a:lnR w="12700">
                      <a:solidFill>
                        <a:srgbClr val="000000"/>
                      </a:solidFill>
                      <a:prstDash val="solid"/>
                    </a:lnR>
                  </a:tcPr>
                </a:tc>
                <a:tc>
                  <a:txBody>
                    <a:bodyPr/>
                    <a:lstStyle/>
                    <a:p>
                      <a:pPr marR="45720" algn="r">
                        <a:lnSpc>
                          <a:spcPts val="1460"/>
                        </a:lnSpc>
                      </a:pPr>
                      <a:r>
                        <a:rPr sz="1300" dirty="0">
                          <a:latin typeface="Arial MT"/>
                          <a:cs typeface="Arial MT"/>
                        </a:rPr>
                        <a:t>0</a:t>
                      </a:r>
                      <a:endParaRPr sz="1300">
                        <a:latin typeface="Arial MT"/>
                        <a:cs typeface="Arial MT"/>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marL="115570">
                        <a:lnSpc>
                          <a:spcPts val="1460"/>
                        </a:lnSpc>
                      </a:pPr>
                      <a:r>
                        <a:rPr sz="1300" dirty="0">
                          <a:latin typeface="Arial MT"/>
                          <a:cs typeface="Arial MT"/>
                        </a:rPr>
                        <a:t>7</a:t>
                      </a:r>
                      <a:endParaRPr sz="1300">
                        <a:latin typeface="Arial MT"/>
                        <a:cs typeface="Arial MT"/>
                      </a:endParaRPr>
                    </a:p>
                  </a:txBody>
                  <a:tcPr marL="0" marR="0" marT="0" marB="0">
                    <a:lnR w="12700">
                      <a:solidFill>
                        <a:srgbClr val="000000"/>
                      </a:solidFill>
                      <a:prstDash val="solid"/>
                    </a:lnR>
                  </a:tcPr>
                </a:tc>
                <a:tc>
                  <a:txBody>
                    <a:bodyPr/>
                    <a:lstStyle/>
                    <a:p>
                      <a:pPr marR="45720" algn="r">
                        <a:lnSpc>
                          <a:spcPts val="1460"/>
                        </a:lnSpc>
                      </a:pPr>
                      <a:r>
                        <a:rPr sz="1300" dirty="0">
                          <a:latin typeface="Arial MT"/>
                          <a:cs typeface="Arial MT"/>
                        </a:rPr>
                        <a:t>0</a:t>
                      </a:r>
                      <a:endParaRPr sz="1300">
                        <a:latin typeface="Arial MT"/>
                        <a:cs typeface="Arial MT"/>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marR="50800" algn="ctr">
                        <a:lnSpc>
                          <a:spcPts val="1505"/>
                        </a:lnSpc>
                      </a:pPr>
                      <a:r>
                        <a:rPr sz="1300" dirty="0">
                          <a:latin typeface="Arial MT"/>
                          <a:cs typeface="Arial MT"/>
                        </a:rPr>
                        <a:t>7</a:t>
                      </a:r>
                      <a:endParaRPr sz="1300">
                        <a:latin typeface="Arial MT"/>
                        <a:cs typeface="Arial MT"/>
                      </a:endParaRPr>
                    </a:p>
                  </a:txBody>
                  <a:tcPr marL="0" marR="0" marT="0" marB="0">
                    <a:lnR w="12700">
                      <a:solidFill>
                        <a:srgbClr val="000000"/>
                      </a:solidFill>
                      <a:prstDash val="solid"/>
                    </a:lnR>
                  </a:tcPr>
                </a:tc>
                <a:tc>
                  <a:txBody>
                    <a:bodyPr/>
                    <a:lstStyle/>
                    <a:p>
                      <a:pPr marR="45720" algn="r">
                        <a:lnSpc>
                          <a:spcPts val="1505"/>
                        </a:lnSpc>
                      </a:pPr>
                      <a:r>
                        <a:rPr sz="1300" dirty="0">
                          <a:latin typeface="Arial MT"/>
                          <a:cs typeface="Arial MT"/>
                        </a:rPr>
                        <a:t>0</a:t>
                      </a:r>
                      <a:endParaRPr sz="1300">
                        <a:latin typeface="Arial MT"/>
                        <a:cs typeface="Arial MT"/>
                      </a:endParaRPr>
                    </a:p>
                  </a:txBody>
                  <a:tcPr marL="0" marR="0" marT="0" marB="0">
                    <a:lnL w="12700">
                      <a:solidFill>
                        <a:srgbClr val="000000"/>
                      </a:solidFill>
                      <a:prstDash val="solid"/>
                    </a:lnL>
                  </a:tcPr>
                </a:tc>
                <a:tc gridSpan="2">
                  <a:txBody>
                    <a:bodyPr/>
                    <a:lstStyle/>
                    <a:p>
                      <a:pPr>
                        <a:lnSpc>
                          <a:spcPct val="100000"/>
                        </a:lnSpc>
                      </a:pPr>
                      <a:endParaRPr sz="2000">
                        <a:latin typeface="Times New Roman"/>
                        <a:cs typeface="Times New Roman"/>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95097">
                <a:tc>
                  <a:txBody>
                    <a:bodyPr/>
                    <a:lstStyle/>
                    <a:p>
                      <a:pPr algn="r">
                        <a:lnSpc>
                          <a:spcPct val="100000"/>
                        </a:lnSpc>
                        <a:spcBef>
                          <a:spcPts val="275"/>
                        </a:spcBef>
                      </a:pPr>
                      <a:r>
                        <a:rPr sz="1300" dirty="0">
                          <a:latin typeface="Arial MT"/>
                          <a:cs typeface="Arial MT"/>
                        </a:rPr>
                        <a:t>6</a:t>
                      </a:r>
                      <a:endParaRPr sz="1300">
                        <a:latin typeface="Arial MT"/>
                        <a:cs typeface="Arial MT"/>
                      </a:endParaRPr>
                    </a:p>
                  </a:txBody>
                  <a:tcPr marL="0" marR="0" marT="34925" marB="0"/>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marL="31115">
                        <a:lnSpc>
                          <a:spcPct val="100000"/>
                        </a:lnSpc>
                        <a:spcBef>
                          <a:spcPts val="275"/>
                        </a:spcBef>
                      </a:pPr>
                      <a:r>
                        <a:rPr sz="1300" dirty="0">
                          <a:latin typeface="Arial MT"/>
                          <a:cs typeface="Arial MT"/>
                        </a:rPr>
                        <a:t>1</a:t>
                      </a:r>
                      <a:endParaRPr sz="1300">
                        <a:latin typeface="Arial MT"/>
                        <a:cs typeface="Arial MT"/>
                      </a:endParaRPr>
                    </a:p>
                  </a:txBody>
                  <a:tcPr marL="0" marR="0" marT="34925" marB="0"/>
                </a:tc>
                <a:tc>
                  <a:txBody>
                    <a:bodyPr/>
                    <a:lstStyle/>
                    <a:p>
                      <a:pPr algn="r">
                        <a:lnSpc>
                          <a:spcPct val="100000"/>
                        </a:lnSpc>
                        <a:spcBef>
                          <a:spcPts val="275"/>
                        </a:spcBef>
                      </a:pPr>
                      <a:r>
                        <a:rPr sz="1300" dirty="0">
                          <a:latin typeface="Arial MT"/>
                          <a:cs typeface="Arial MT"/>
                        </a:rPr>
                        <a:t>6</a:t>
                      </a:r>
                      <a:endParaRPr sz="1300">
                        <a:latin typeface="Arial MT"/>
                        <a:cs typeface="Arial MT"/>
                      </a:endParaRPr>
                    </a:p>
                  </a:txBody>
                  <a:tcPr marL="0" marR="0" marT="34925" marB="0"/>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marL="31115">
                        <a:lnSpc>
                          <a:spcPct val="100000"/>
                        </a:lnSpc>
                        <a:spcBef>
                          <a:spcPts val="275"/>
                        </a:spcBef>
                      </a:pPr>
                      <a:r>
                        <a:rPr sz="1300" dirty="0">
                          <a:latin typeface="Arial MT"/>
                          <a:cs typeface="Arial MT"/>
                        </a:rPr>
                        <a:t>1</a:t>
                      </a:r>
                      <a:endParaRPr sz="1300">
                        <a:latin typeface="Arial MT"/>
                        <a:cs typeface="Arial MT"/>
                      </a:endParaRPr>
                    </a:p>
                  </a:txBody>
                  <a:tcPr marL="0" marR="0" marT="34925" marB="0"/>
                </a:tc>
                <a:tc>
                  <a:txBody>
                    <a:bodyPr/>
                    <a:lstStyle/>
                    <a:p>
                      <a:pPr algn="r">
                        <a:lnSpc>
                          <a:spcPct val="100000"/>
                        </a:lnSpc>
                        <a:spcBef>
                          <a:spcPts val="275"/>
                        </a:spcBef>
                      </a:pPr>
                      <a:r>
                        <a:rPr sz="1300" dirty="0">
                          <a:latin typeface="Arial MT"/>
                          <a:cs typeface="Arial MT"/>
                        </a:rPr>
                        <a:t>6</a:t>
                      </a:r>
                      <a:endParaRPr sz="1300">
                        <a:latin typeface="Arial MT"/>
                        <a:cs typeface="Arial MT"/>
                      </a:endParaRPr>
                    </a:p>
                  </a:txBody>
                  <a:tcPr marL="0" marR="0" marT="34925" marB="0"/>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marL="31115">
                        <a:lnSpc>
                          <a:spcPct val="100000"/>
                        </a:lnSpc>
                        <a:spcBef>
                          <a:spcPts val="275"/>
                        </a:spcBef>
                      </a:pPr>
                      <a:r>
                        <a:rPr sz="1300" dirty="0">
                          <a:latin typeface="Arial MT"/>
                          <a:cs typeface="Arial MT"/>
                        </a:rPr>
                        <a:t>1</a:t>
                      </a:r>
                      <a:endParaRPr sz="1300">
                        <a:latin typeface="Arial MT"/>
                        <a:cs typeface="Arial MT"/>
                      </a:endParaRPr>
                    </a:p>
                  </a:txBody>
                  <a:tcPr marL="0" marR="0" marT="34925" marB="0"/>
                </a:tc>
                <a:tc>
                  <a:txBody>
                    <a:bodyPr/>
                    <a:lstStyle/>
                    <a:p>
                      <a:pPr algn="r">
                        <a:lnSpc>
                          <a:spcPct val="100000"/>
                        </a:lnSpc>
                        <a:spcBef>
                          <a:spcPts val="315"/>
                        </a:spcBef>
                      </a:pPr>
                      <a:r>
                        <a:rPr sz="1300" dirty="0">
                          <a:latin typeface="Arial MT"/>
                          <a:cs typeface="Arial MT"/>
                        </a:rPr>
                        <a:t>6</a:t>
                      </a:r>
                      <a:endParaRPr sz="1300">
                        <a:latin typeface="Arial MT"/>
                        <a:cs typeface="Arial MT"/>
                      </a:endParaRPr>
                    </a:p>
                  </a:txBody>
                  <a:tcPr marL="0" marR="0" marT="40005" marB="0"/>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lnB w="12700">
                      <a:solidFill>
                        <a:srgbClr val="000000"/>
                      </a:solidFill>
                      <a:prstDash val="solid"/>
                    </a:lnB>
                  </a:tcPr>
                </a:tc>
                <a:tc>
                  <a:txBody>
                    <a:bodyPr/>
                    <a:lstStyle/>
                    <a:p>
                      <a:pPr marL="31115">
                        <a:lnSpc>
                          <a:spcPct val="100000"/>
                        </a:lnSpc>
                        <a:spcBef>
                          <a:spcPts val="315"/>
                        </a:spcBef>
                      </a:pPr>
                      <a:r>
                        <a:rPr sz="1300" dirty="0">
                          <a:latin typeface="Arial MT"/>
                          <a:cs typeface="Arial MT"/>
                        </a:rPr>
                        <a:t>1</a:t>
                      </a:r>
                      <a:endParaRPr sz="1300">
                        <a:latin typeface="Arial MT"/>
                        <a:cs typeface="Arial MT"/>
                      </a:endParaRPr>
                    </a:p>
                  </a:txBody>
                  <a:tcPr marL="0" marR="0" marT="40005" marB="0"/>
                </a:tc>
                <a:extLst>
                  <a:ext uri="{0D108BD9-81ED-4DB2-BD59-A6C34878D82A}">
                    <a16:rowId xmlns:a16="http://schemas.microsoft.com/office/drawing/2014/main" val="10001"/>
                  </a:ext>
                </a:extLst>
              </a:tr>
              <a:tr h="378143">
                <a:tc>
                  <a:txBody>
                    <a:bodyPr/>
                    <a:lstStyle/>
                    <a:p>
                      <a:pPr>
                        <a:lnSpc>
                          <a:spcPct val="100000"/>
                        </a:lnSpc>
                        <a:spcBef>
                          <a:spcPts val="15"/>
                        </a:spcBef>
                      </a:pPr>
                      <a:endParaRPr sz="1200">
                        <a:latin typeface="Times New Roman"/>
                        <a:cs typeface="Times New Roman"/>
                      </a:endParaRPr>
                    </a:p>
                    <a:p>
                      <a:pPr marR="2540" algn="r">
                        <a:lnSpc>
                          <a:spcPts val="1525"/>
                        </a:lnSpc>
                      </a:pPr>
                      <a:r>
                        <a:rPr sz="1300" dirty="0">
                          <a:latin typeface="Arial MT"/>
                          <a:cs typeface="Arial MT"/>
                        </a:rPr>
                        <a:t>5</a:t>
                      </a:r>
                      <a:endParaRPr sz="1300">
                        <a:latin typeface="Arial MT"/>
                        <a:cs typeface="Arial MT"/>
                      </a:endParaRPr>
                    </a:p>
                  </a:txBody>
                  <a:tcPr marL="0" marR="0" marT="1905"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spcBef>
                          <a:spcPts val="30"/>
                        </a:spcBef>
                      </a:pPr>
                      <a:endParaRPr sz="1150">
                        <a:latin typeface="Times New Roman"/>
                        <a:cs typeface="Times New Roman"/>
                      </a:endParaRPr>
                    </a:p>
                    <a:p>
                      <a:pPr marL="10160">
                        <a:lnSpc>
                          <a:spcPts val="1525"/>
                        </a:lnSpc>
                      </a:pPr>
                      <a:r>
                        <a:rPr sz="1300" dirty="0">
                          <a:latin typeface="Arial MT"/>
                          <a:cs typeface="Arial MT"/>
                        </a:rPr>
                        <a:t>2</a:t>
                      </a:r>
                      <a:endParaRPr sz="1300">
                        <a:latin typeface="Arial MT"/>
                        <a:cs typeface="Arial MT"/>
                      </a:endParaRPr>
                    </a:p>
                  </a:txBody>
                  <a:tcPr marL="0" marR="0" marT="3810" marB="0"/>
                </a:tc>
                <a:tc>
                  <a:txBody>
                    <a:bodyPr/>
                    <a:lstStyle/>
                    <a:p>
                      <a:pPr>
                        <a:lnSpc>
                          <a:spcPct val="100000"/>
                        </a:lnSpc>
                        <a:spcBef>
                          <a:spcPts val="15"/>
                        </a:spcBef>
                      </a:pPr>
                      <a:endParaRPr sz="1200">
                        <a:latin typeface="Times New Roman"/>
                        <a:cs typeface="Times New Roman"/>
                      </a:endParaRPr>
                    </a:p>
                    <a:p>
                      <a:pPr marR="2540" algn="r">
                        <a:lnSpc>
                          <a:spcPts val="1525"/>
                        </a:lnSpc>
                      </a:pPr>
                      <a:r>
                        <a:rPr sz="1300" dirty="0">
                          <a:latin typeface="Arial MT"/>
                          <a:cs typeface="Arial MT"/>
                        </a:rPr>
                        <a:t>5</a:t>
                      </a:r>
                      <a:endParaRPr sz="1300">
                        <a:latin typeface="Arial MT"/>
                        <a:cs typeface="Arial MT"/>
                      </a:endParaRPr>
                    </a:p>
                  </a:txBody>
                  <a:tcPr marL="0" marR="0" marT="1905"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spcBef>
                          <a:spcPts val="30"/>
                        </a:spcBef>
                      </a:pPr>
                      <a:endParaRPr sz="1150">
                        <a:latin typeface="Times New Roman"/>
                        <a:cs typeface="Times New Roman"/>
                      </a:endParaRPr>
                    </a:p>
                    <a:p>
                      <a:pPr marL="10160">
                        <a:lnSpc>
                          <a:spcPts val="1525"/>
                        </a:lnSpc>
                      </a:pPr>
                      <a:r>
                        <a:rPr sz="1300" dirty="0">
                          <a:latin typeface="Arial MT"/>
                          <a:cs typeface="Arial MT"/>
                        </a:rPr>
                        <a:t>2</a:t>
                      </a:r>
                      <a:endParaRPr sz="1300">
                        <a:latin typeface="Arial MT"/>
                        <a:cs typeface="Arial MT"/>
                      </a:endParaRPr>
                    </a:p>
                  </a:txBody>
                  <a:tcPr marL="0" marR="0" marT="3810" marB="0"/>
                </a:tc>
                <a:tc>
                  <a:txBody>
                    <a:bodyPr/>
                    <a:lstStyle/>
                    <a:p>
                      <a:pPr>
                        <a:lnSpc>
                          <a:spcPct val="100000"/>
                        </a:lnSpc>
                        <a:spcBef>
                          <a:spcPts val="30"/>
                        </a:spcBef>
                      </a:pPr>
                      <a:endParaRPr sz="1150">
                        <a:latin typeface="Times New Roman"/>
                        <a:cs typeface="Times New Roman"/>
                      </a:endParaRPr>
                    </a:p>
                    <a:p>
                      <a:pPr marR="2540" algn="r">
                        <a:lnSpc>
                          <a:spcPts val="1525"/>
                        </a:lnSpc>
                      </a:pPr>
                      <a:r>
                        <a:rPr sz="1300" dirty="0">
                          <a:latin typeface="Arial MT"/>
                          <a:cs typeface="Arial MT"/>
                        </a:rPr>
                        <a:t>5</a:t>
                      </a:r>
                      <a:endParaRPr sz="1300">
                        <a:latin typeface="Arial MT"/>
                        <a:cs typeface="Arial MT"/>
                      </a:endParaRPr>
                    </a:p>
                  </a:txBody>
                  <a:tcPr marL="0" marR="0" marT="3810"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dirty="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spcBef>
                          <a:spcPts val="30"/>
                        </a:spcBef>
                      </a:pPr>
                      <a:endParaRPr sz="1150">
                        <a:latin typeface="Times New Roman"/>
                        <a:cs typeface="Times New Roman"/>
                      </a:endParaRPr>
                    </a:p>
                    <a:p>
                      <a:pPr marL="10160">
                        <a:lnSpc>
                          <a:spcPts val="1525"/>
                        </a:lnSpc>
                      </a:pPr>
                      <a:r>
                        <a:rPr sz="1300" dirty="0">
                          <a:latin typeface="Arial MT"/>
                          <a:cs typeface="Arial MT"/>
                        </a:rPr>
                        <a:t>2</a:t>
                      </a:r>
                      <a:endParaRPr sz="1300">
                        <a:latin typeface="Arial MT"/>
                        <a:cs typeface="Arial MT"/>
                      </a:endParaRPr>
                    </a:p>
                  </a:txBody>
                  <a:tcPr marL="0" marR="0" marT="3810" marB="0"/>
                </a:tc>
                <a:tc>
                  <a:txBody>
                    <a:bodyPr/>
                    <a:lstStyle/>
                    <a:p>
                      <a:pPr>
                        <a:lnSpc>
                          <a:spcPct val="100000"/>
                        </a:lnSpc>
                        <a:spcBef>
                          <a:spcPts val="15"/>
                        </a:spcBef>
                      </a:pPr>
                      <a:endParaRPr sz="1200">
                        <a:latin typeface="Times New Roman"/>
                        <a:cs typeface="Times New Roman"/>
                      </a:endParaRPr>
                    </a:p>
                    <a:p>
                      <a:pPr marR="2540" algn="r">
                        <a:lnSpc>
                          <a:spcPts val="1480"/>
                        </a:lnSpc>
                      </a:pPr>
                      <a:r>
                        <a:rPr sz="1300" dirty="0">
                          <a:latin typeface="Arial MT"/>
                          <a:cs typeface="Arial MT"/>
                        </a:rPr>
                        <a:t>5</a:t>
                      </a:r>
                      <a:endParaRPr sz="1300">
                        <a:latin typeface="Arial MT"/>
                        <a:cs typeface="Arial MT"/>
                      </a:endParaRPr>
                    </a:p>
                  </a:txBody>
                  <a:tcPr marL="0" marR="0" marT="1905"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txBody>
                  <a:tcPr marL="0" marR="0" marT="0" marB="0">
                    <a:lnT w="12700">
                      <a:solidFill>
                        <a:srgbClr val="000000"/>
                      </a:solidFill>
                      <a:prstDash val="solid"/>
                    </a:lnT>
                  </a:tcPr>
                </a:tc>
                <a:tc>
                  <a:txBody>
                    <a:bodyPr/>
                    <a:lstStyle/>
                    <a:p>
                      <a:pPr>
                        <a:lnSpc>
                          <a:spcPct val="100000"/>
                        </a:lnSpc>
                        <a:spcBef>
                          <a:spcPts val="15"/>
                        </a:spcBef>
                      </a:pPr>
                      <a:endParaRPr sz="1200">
                        <a:latin typeface="Times New Roman"/>
                        <a:cs typeface="Times New Roman"/>
                      </a:endParaRPr>
                    </a:p>
                    <a:p>
                      <a:pPr marL="10160">
                        <a:lnSpc>
                          <a:spcPts val="1480"/>
                        </a:lnSpc>
                      </a:pPr>
                      <a:r>
                        <a:rPr sz="1300" dirty="0">
                          <a:latin typeface="Arial MT"/>
                          <a:cs typeface="Arial MT"/>
                        </a:rPr>
                        <a:t>2</a:t>
                      </a:r>
                      <a:endParaRPr sz="1300">
                        <a:latin typeface="Arial MT"/>
                        <a:cs typeface="Arial MT"/>
                      </a:endParaRPr>
                    </a:p>
                  </a:txBody>
                  <a:tcPr marL="0" marR="0" marT="1905" marB="0"/>
                </a:tc>
                <a:extLst>
                  <a:ext uri="{0D108BD9-81ED-4DB2-BD59-A6C34878D82A}">
                    <a16:rowId xmlns:a16="http://schemas.microsoft.com/office/drawing/2014/main" val="10002"/>
                  </a:ext>
                </a:extLst>
              </a:tr>
              <a:tr h="190961">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3"/>
                  </a:ext>
                </a:extLst>
              </a:tr>
              <a:tr h="193600">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L="115570">
                        <a:lnSpc>
                          <a:spcPts val="1425"/>
                        </a:lnSpc>
                      </a:pPr>
                      <a:r>
                        <a:rPr sz="1300" dirty="0">
                          <a:latin typeface="Arial MT"/>
                          <a:cs typeface="Arial MT"/>
                        </a:rPr>
                        <a:t>4</a:t>
                      </a:r>
                      <a:endParaRPr sz="1300">
                        <a:latin typeface="Arial MT"/>
                        <a:cs typeface="Arial MT"/>
                      </a:endParaRPr>
                    </a:p>
                  </a:txBody>
                  <a:tcPr marL="0" marR="0" marT="0" marB="0"/>
                </a:tc>
                <a:tc>
                  <a:txBody>
                    <a:bodyPr/>
                    <a:lstStyle/>
                    <a:p>
                      <a:pPr marR="45720" algn="r">
                        <a:lnSpc>
                          <a:spcPts val="1425"/>
                        </a:lnSpc>
                      </a:pPr>
                      <a:r>
                        <a:rPr sz="1300" dirty="0">
                          <a:latin typeface="Arial MT"/>
                          <a:cs typeface="Arial MT"/>
                        </a:rPr>
                        <a:t>3</a:t>
                      </a:r>
                      <a:endParaRPr sz="1300">
                        <a:latin typeface="Arial MT"/>
                        <a:cs typeface="Arial MT"/>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L="115570">
                        <a:lnSpc>
                          <a:spcPts val="1425"/>
                        </a:lnSpc>
                      </a:pPr>
                      <a:r>
                        <a:rPr sz="1300" dirty="0">
                          <a:latin typeface="Arial MT"/>
                          <a:cs typeface="Arial MT"/>
                        </a:rPr>
                        <a:t>4</a:t>
                      </a:r>
                      <a:endParaRPr sz="1300">
                        <a:latin typeface="Arial MT"/>
                        <a:cs typeface="Arial MT"/>
                      </a:endParaRPr>
                    </a:p>
                  </a:txBody>
                  <a:tcPr marL="0" marR="0" marT="0" marB="0"/>
                </a:tc>
                <a:tc>
                  <a:txBody>
                    <a:bodyPr/>
                    <a:lstStyle/>
                    <a:p>
                      <a:pPr marR="45720" algn="r">
                        <a:lnSpc>
                          <a:spcPts val="1425"/>
                        </a:lnSpc>
                      </a:pPr>
                      <a:r>
                        <a:rPr sz="1300" dirty="0">
                          <a:latin typeface="Arial MT"/>
                          <a:cs typeface="Arial MT"/>
                        </a:rPr>
                        <a:t>3</a:t>
                      </a:r>
                      <a:endParaRPr sz="1300">
                        <a:latin typeface="Arial MT"/>
                        <a:cs typeface="Arial MT"/>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L="115570">
                        <a:lnSpc>
                          <a:spcPts val="1425"/>
                        </a:lnSpc>
                      </a:pPr>
                      <a:r>
                        <a:rPr sz="1300" dirty="0">
                          <a:latin typeface="Arial MT"/>
                          <a:cs typeface="Arial MT"/>
                        </a:rPr>
                        <a:t>4</a:t>
                      </a:r>
                      <a:endParaRPr sz="1300">
                        <a:latin typeface="Arial MT"/>
                        <a:cs typeface="Arial MT"/>
                      </a:endParaRPr>
                    </a:p>
                  </a:txBody>
                  <a:tcPr marL="0" marR="0" marT="0" marB="0"/>
                </a:tc>
                <a:tc>
                  <a:txBody>
                    <a:bodyPr/>
                    <a:lstStyle/>
                    <a:p>
                      <a:pPr marR="45720" algn="r">
                        <a:lnSpc>
                          <a:spcPts val="1425"/>
                        </a:lnSpc>
                      </a:pPr>
                      <a:r>
                        <a:rPr sz="1300" dirty="0">
                          <a:latin typeface="Arial MT"/>
                          <a:cs typeface="Arial MT"/>
                        </a:rPr>
                        <a:t>3</a:t>
                      </a:r>
                      <a:endParaRPr sz="1300">
                        <a:latin typeface="Arial MT"/>
                        <a:cs typeface="Arial MT"/>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R="50165" algn="ctr">
                        <a:lnSpc>
                          <a:spcPts val="1425"/>
                        </a:lnSpc>
                      </a:pPr>
                      <a:r>
                        <a:rPr sz="1300" dirty="0">
                          <a:latin typeface="Arial MT"/>
                          <a:cs typeface="Arial MT"/>
                        </a:rPr>
                        <a:t>4</a:t>
                      </a:r>
                      <a:endParaRPr sz="1300">
                        <a:latin typeface="Arial MT"/>
                        <a:cs typeface="Arial MT"/>
                      </a:endParaRPr>
                    </a:p>
                  </a:txBody>
                  <a:tcPr marL="0" marR="0" marT="0" marB="0"/>
                </a:tc>
                <a:tc>
                  <a:txBody>
                    <a:bodyPr/>
                    <a:lstStyle/>
                    <a:p>
                      <a:pPr marR="45720" algn="r">
                        <a:lnSpc>
                          <a:spcPts val="1425"/>
                        </a:lnSpc>
                      </a:pPr>
                      <a:r>
                        <a:rPr sz="1300" dirty="0">
                          <a:latin typeface="Arial MT"/>
                          <a:cs typeface="Arial MT"/>
                        </a:rPr>
                        <a:t>3</a:t>
                      </a:r>
                      <a:endParaRPr sz="1300">
                        <a:latin typeface="Arial MT"/>
                        <a:cs typeface="Arial MT"/>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dirty="0">
                        <a:latin typeface="Times New Roman"/>
                        <a:cs typeface="Times New Roman"/>
                      </a:endParaRPr>
                    </a:p>
                  </a:txBody>
                  <a:tcPr marL="0" marR="0" marT="0" marB="0"/>
                </a:tc>
                <a:extLst>
                  <a:ext uri="{0D108BD9-81ED-4DB2-BD59-A6C34878D82A}">
                    <a16:rowId xmlns:a16="http://schemas.microsoft.com/office/drawing/2014/main" val="10004"/>
                  </a:ext>
                </a:extLst>
              </a:tr>
            </a:tbl>
          </a:graphicData>
        </a:graphic>
      </p:graphicFrame>
      <p:sp>
        <p:nvSpPr>
          <p:cNvPr id="16" name="object 16"/>
          <p:cNvSpPr/>
          <p:nvPr/>
        </p:nvSpPr>
        <p:spPr>
          <a:xfrm>
            <a:off x="8285200" y="2445905"/>
            <a:ext cx="1011555" cy="1011555"/>
          </a:xfrm>
          <a:custGeom>
            <a:avLst/>
            <a:gdLst/>
            <a:ahLst/>
            <a:cxnLst/>
            <a:rect l="l" t="t" r="r" b="b"/>
            <a:pathLst>
              <a:path w="1011554" h="1011554">
                <a:moveTo>
                  <a:pt x="505726" y="1011453"/>
                </a:moveTo>
                <a:lnTo>
                  <a:pt x="554430" y="1009138"/>
                </a:lnTo>
                <a:lnTo>
                  <a:pt x="601824" y="1002334"/>
                </a:lnTo>
                <a:lnTo>
                  <a:pt x="647697" y="991253"/>
                </a:lnTo>
                <a:lnTo>
                  <a:pt x="691836" y="976106"/>
                </a:lnTo>
                <a:lnTo>
                  <a:pt x="734030" y="957107"/>
                </a:lnTo>
                <a:lnTo>
                  <a:pt x="774066" y="934467"/>
                </a:lnTo>
                <a:lnTo>
                  <a:pt x="811733" y="908397"/>
                </a:lnTo>
                <a:lnTo>
                  <a:pt x="846818" y="879110"/>
                </a:lnTo>
                <a:lnTo>
                  <a:pt x="879110" y="846818"/>
                </a:lnTo>
                <a:lnTo>
                  <a:pt x="908397" y="811733"/>
                </a:lnTo>
                <a:lnTo>
                  <a:pt x="934467" y="774066"/>
                </a:lnTo>
                <a:lnTo>
                  <a:pt x="957107" y="734030"/>
                </a:lnTo>
                <a:lnTo>
                  <a:pt x="976106" y="691836"/>
                </a:lnTo>
                <a:lnTo>
                  <a:pt x="991253" y="647697"/>
                </a:lnTo>
                <a:lnTo>
                  <a:pt x="1002334" y="601824"/>
                </a:lnTo>
                <a:lnTo>
                  <a:pt x="1009138" y="554430"/>
                </a:lnTo>
                <a:lnTo>
                  <a:pt x="1011453" y="505726"/>
                </a:lnTo>
                <a:lnTo>
                  <a:pt x="1009138" y="457022"/>
                </a:lnTo>
                <a:lnTo>
                  <a:pt x="1002334" y="409628"/>
                </a:lnTo>
                <a:lnTo>
                  <a:pt x="991253" y="363756"/>
                </a:lnTo>
                <a:lnTo>
                  <a:pt x="976106" y="319616"/>
                </a:lnTo>
                <a:lnTo>
                  <a:pt x="957107" y="277423"/>
                </a:lnTo>
                <a:lnTo>
                  <a:pt x="934467" y="237387"/>
                </a:lnTo>
                <a:lnTo>
                  <a:pt x="908397" y="199720"/>
                </a:lnTo>
                <a:lnTo>
                  <a:pt x="879110" y="164634"/>
                </a:lnTo>
                <a:lnTo>
                  <a:pt x="846818" y="132342"/>
                </a:lnTo>
                <a:lnTo>
                  <a:pt x="811733" y="103055"/>
                </a:lnTo>
                <a:lnTo>
                  <a:pt x="774066" y="76986"/>
                </a:lnTo>
                <a:lnTo>
                  <a:pt x="734030" y="54345"/>
                </a:lnTo>
                <a:lnTo>
                  <a:pt x="691836" y="35346"/>
                </a:lnTo>
                <a:lnTo>
                  <a:pt x="647697" y="20200"/>
                </a:lnTo>
                <a:lnTo>
                  <a:pt x="601824" y="9119"/>
                </a:lnTo>
                <a:lnTo>
                  <a:pt x="554430" y="2315"/>
                </a:lnTo>
                <a:lnTo>
                  <a:pt x="505726" y="0"/>
                </a:lnTo>
                <a:lnTo>
                  <a:pt x="457022" y="2315"/>
                </a:lnTo>
                <a:lnTo>
                  <a:pt x="409628" y="9119"/>
                </a:lnTo>
                <a:lnTo>
                  <a:pt x="363756" y="20200"/>
                </a:lnTo>
                <a:lnTo>
                  <a:pt x="319616" y="35346"/>
                </a:lnTo>
                <a:lnTo>
                  <a:pt x="277423" y="54345"/>
                </a:lnTo>
                <a:lnTo>
                  <a:pt x="237387" y="76986"/>
                </a:lnTo>
                <a:lnTo>
                  <a:pt x="199720" y="103055"/>
                </a:lnTo>
                <a:lnTo>
                  <a:pt x="164634" y="132342"/>
                </a:lnTo>
                <a:lnTo>
                  <a:pt x="132342" y="164634"/>
                </a:lnTo>
                <a:lnTo>
                  <a:pt x="103055" y="199720"/>
                </a:lnTo>
                <a:lnTo>
                  <a:pt x="76986" y="237387"/>
                </a:lnTo>
                <a:lnTo>
                  <a:pt x="54345" y="277423"/>
                </a:lnTo>
                <a:lnTo>
                  <a:pt x="35346" y="319616"/>
                </a:lnTo>
                <a:lnTo>
                  <a:pt x="20200" y="363756"/>
                </a:lnTo>
                <a:lnTo>
                  <a:pt x="9119" y="409628"/>
                </a:lnTo>
                <a:lnTo>
                  <a:pt x="2315" y="457022"/>
                </a:lnTo>
                <a:lnTo>
                  <a:pt x="0" y="505726"/>
                </a:lnTo>
                <a:lnTo>
                  <a:pt x="2315" y="554430"/>
                </a:lnTo>
                <a:lnTo>
                  <a:pt x="9119" y="601824"/>
                </a:lnTo>
                <a:lnTo>
                  <a:pt x="20200" y="647697"/>
                </a:lnTo>
                <a:lnTo>
                  <a:pt x="35346" y="691836"/>
                </a:lnTo>
                <a:lnTo>
                  <a:pt x="54345" y="734030"/>
                </a:lnTo>
                <a:lnTo>
                  <a:pt x="76986" y="774066"/>
                </a:lnTo>
                <a:lnTo>
                  <a:pt x="103055" y="811733"/>
                </a:lnTo>
                <a:lnTo>
                  <a:pt x="132342" y="846818"/>
                </a:lnTo>
                <a:lnTo>
                  <a:pt x="164634" y="879110"/>
                </a:lnTo>
                <a:lnTo>
                  <a:pt x="199720" y="908397"/>
                </a:lnTo>
                <a:lnTo>
                  <a:pt x="237387" y="934467"/>
                </a:lnTo>
                <a:lnTo>
                  <a:pt x="277423" y="957107"/>
                </a:lnTo>
                <a:lnTo>
                  <a:pt x="319616" y="976106"/>
                </a:lnTo>
                <a:lnTo>
                  <a:pt x="363756" y="991253"/>
                </a:lnTo>
                <a:lnTo>
                  <a:pt x="409628" y="1002334"/>
                </a:lnTo>
                <a:lnTo>
                  <a:pt x="457022" y="1009138"/>
                </a:lnTo>
                <a:lnTo>
                  <a:pt x="505726" y="1011453"/>
                </a:lnTo>
                <a:close/>
              </a:path>
              <a:path w="1011554" h="1011554">
                <a:moveTo>
                  <a:pt x="498703" y="505726"/>
                </a:moveTo>
                <a:lnTo>
                  <a:pt x="930808" y="73621"/>
                </a:lnTo>
              </a:path>
              <a:path w="1011554" h="1011554">
                <a:moveTo>
                  <a:pt x="230505" y="226987"/>
                </a:moveTo>
                <a:lnTo>
                  <a:pt x="74053" y="70535"/>
                </a:lnTo>
              </a:path>
              <a:path w="1011554" h="1011554">
                <a:moveTo>
                  <a:pt x="230505" y="763397"/>
                </a:moveTo>
                <a:lnTo>
                  <a:pt x="74053" y="919848"/>
                </a:lnTo>
              </a:path>
              <a:path w="1011554" h="1011554">
                <a:moveTo>
                  <a:pt x="766902" y="763397"/>
                </a:moveTo>
                <a:lnTo>
                  <a:pt x="923353" y="919848"/>
                </a:lnTo>
              </a:path>
            </a:pathLst>
          </a:custGeom>
          <a:ln w="10535">
            <a:solidFill>
              <a:srgbClr val="000000"/>
            </a:solidFill>
          </a:ln>
        </p:spPr>
        <p:txBody>
          <a:bodyPr wrap="square" lIns="0" tIns="0" rIns="0" bIns="0" rtlCol="0"/>
          <a:lstStyle/>
          <a:p>
            <a:endParaRPr/>
          </a:p>
        </p:txBody>
      </p:sp>
      <p:grpSp>
        <p:nvGrpSpPr>
          <p:cNvPr id="17" name="object 17"/>
          <p:cNvGrpSpPr/>
          <p:nvPr/>
        </p:nvGrpSpPr>
        <p:grpSpPr>
          <a:xfrm>
            <a:off x="4493145" y="4589970"/>
            <a:ext cx="1201420" cy="1201420"/>
            <a:chOff x="4493145" y="4589970"/>
            <a:chExt cx="1201420" cy="1201420"/>
          </a:xfrm>
        </p:grpSpPr>
        <p:sp>
          <p:nvSpPr>
            <p:cNvPr id="18" name="object 18"/>
            <p:cNvSpPr/>
            <p:nvPr/>
          </p:nvSpPr>
          <p:spPr>
            <a:xfrm>
              <a:off x="5098961" y="4692256"/>
              <a:ext cx="358140" cy="507365"/>
            </a:xfrm>
            <a:custGeom>
              <a:avLst/>
              <a:gdLst/>
              <a:ahLst/>
              <a:cxnLst/>
              <a:rect l="l" t="t" r="r" b="b"/>
              <a:pathLst>
                <a:path w="358139" h="507364">
                  <a:moveTo>
                    <a:pt x="358038" y="147688"/>
                  </a:moveTo>
                  <a:lnTo>
                    <a:pt x="322183" y="115327"/>
                  </a:lnTo>
                  <a:lnTo>
                    <a:pt x="283348" y="86467"/>
                  </a:lnTo>
                  <a:lnTo>
                    <a:pt x="241783" y="61359"/>
                  </a:lnTo>
                  <a:lnTo>
                    <a:pt x="197737" y="40254"/>
                  </a:lnTo>
                  <a:lnTo>
                    <a:pt x="151462" y="23402"/>
                  </a:lnTo>
                  <a:lnTo>
                    <a:pt x="103208" y="11055"/>
                  </a:lnTo>
                  <a:lnTo>
                    <a:pt x="53225" y="3462"/>
                  </a:lnTo>
                  <a:lnTo>
                    <a:pt x="1765" y="876"/>
                  </a:lnTo>
                  <a:lnTo>
                    <a:pt x="0" y="0"/>
                  </a:lnTo>
                  <a:lnTo>
                    <a:pt x="0" y="507034"/>
                  </a:lnTo>
                  <a:lnTo>
                    <a:pt x="358000" y="149034"/>
                  </a:lnTo>
                  <a:lnTo>
                    <a:pt x="358038" y="147688"/>
                  </a:lnTo>
                  <a:close/>
                </a:path>
              </a:pathLst>
            </a:custGeom>
            <a:solidFill>
              <a:srgbClr val="CCCCCC"/>
            </a:solidFill>
          </p:spPr>
          <p:txBody>
            <a:bodyPr wrap="square" lIns="0" tIns="0" rIns="0" bIns="0" rtlCol="0"/>
            <a:lstStyle/>
            <a:p>
              <a:endParaRPr/>
            </a:p>
          </p:txBody>
        </p:sp>
        <p:sp>
          <p:nvSpPr>
            <p:cNvPr id="19" name="object 19"/>
            <p:cNvSpPr/>
            <p:nvPr/>
          </p:nvSpPr>
          <p:spPr>
            <a:xfrm>
              <a:off x="4493145" y="4589970"/>
              <a:ext cx="1201420" cy="1201420"/>
            </a:xfrm>
            <a:custGeom>
              <a:avLst/>
              <a:gdLst/>
              <a:ahLst/>
              <a:cxnLst/>
              <a:rect l="l" t="t" r="r" b="b"/>
              <a:pathLst>
                <a:path w="1201420" h="1201420">
                  <a:moveTo>
                    <a:pt x="607580" y="1116812"/>
                  </a:moveTo>
                  <a:lnTo>
                    <a:pt x="656284" y="1114497"/>
                  </a:lnTo>
                  <a:lnTo>
                    <a:pt x="703678" y="1107693"/>
                  </a:lnTo>
                  <a:lnTo>
                    <a:pt x="749550" y="1096612"/>
                  </a:lnTo>
                  <a:lnTo>
                    <a:pt x="793688" y="1081466"/>
                  </a:lnTo>
                  <a:lnTo>
                    <a:pt x="835881" y="1062466"/>
                  </a:lnTo>
                  <a:lnTo>
                    <a:pt x="875916" y="1039826"/>
                  </a:lnTo>
                  <a:lnTo>
                    <a:pt x="913582" y="1013756"/>
                  </a:lnTo>
                  <a:lnTo>
                    <a:pt x="948666" y="984469"/>
                  </a:lnTo>
                  <a:lnTo>
                    <a:pt x="980957" y="952177"/>
                  </a:lnTo>
                  <a:lnTo>
                    <a:pt x="1010243" y="917092"/>
                  </a:lnTo>
                  <a:lnTo>
                    <a:pt x="1036312" y="879425"/>
                  </a:lnTo>
                  <a:lnTo>
                    <a:pt x="1058951" y="839389"/>
                  </a:lnTo>
                  <a:lnTo>
                    <a:pt x="1077949" y="797195"/>
                  </a:lnTo>
                  <a:lnTo>
                    <a:pt x="1093095" y="753056"/>
                  </a:lnTo>
                  <a:lnTo>
                    <a:pt x="1104175" y="707183"/>
                  </a:lnTo>
                  <a:lnTo>
                    <a:pt x="1110979" y="659789"/>
                  </a:lnTo>
                  <a:lnTo>
                    <a:pt x="1113294" y="611085"/>
                  </a:lnTo>
                  <a:lnTo>
                    <a:pt x="1110979" y="562382"/>
                  </a:lnTo>
                  <a:lnTo>
                    <a:pt x="1104175" y="514987"/>
                  </a:lnTo>
                  <a:lnTo>
                    <a:pt x="1093095" y="469115"/>
                  </a:lnTo>
                  <a:lnTo>
                    <a:pt x="1077949" y="424976"/>
                  </a:lnTo>
                  <a:lnTo>
                    <a:pt x="1058951" y="382782"/>
                  </a:lnTo>
                  <a:lnTo>
                    <a:pt x="1036312" y="342746"/>
                  </a:lnTo>
                  <a:lnTo>
                    <a:pt x="1010243" y="305079"/>
                  </a:lnTo>
                  <a:lnTo>
                    <a:pt x="980957" y="269994"/>
                  </a:lnTo>
                  <a:lnTo>
                    <a:pt x="948666" y="237702"/>
                  </a:lnTo>
                  <a:lnTo>
                    <a:pt x="913582" y="208415"/>
                  </a:lnTo>
                  <a:lnTo>
                    <a:pt x="875916" y="182345"/>
                  </a:lnTo>
                  <a:lnTo>
                    <a:pt x="835881" y="159705"/>
                  </a:lnTo>
                  <a:lnTo>
                    <a:pt x="793688" y="140705"/>
                  </a:lnTo>
                  <a:lnTo>
                    <a:pt x="749550" y="125559"/>
                  </a:lnTo>
                  <a:lnTo>
                    <a:pt x="703678" y="114478"/>
                  </a:lnTo>
                  <a:lnTo>
                    <a:pt x="656284" y="107674"/>
                  </a:lnTo>
                  <a:lnTo>
                    <a:pt x="607580" y="105359"/>
                  </a:lnTo>
                  <a:lnTo>
                    <a:pt x="558874" y="107674"/>
                  </a:lnTo>
                  <a:lnTo>
                    <a:pt x="511479" y="114478"/>
                  </a:lnTo>
                  <a:lnTo>
                    <a:pt x="465605" y="125559"/>
                  </a:lnTo>
                  <a:lnTo>
                    <a:pt x="421465" y="140705"/>
                  </a:lnTo>
                  <a:lnTo>
                    <a:pt x="379271" y="159705"/>
                  </a:lnTo>
                  <a:lnTo>
                    <a:pt x="339235" y="182345"/>
                  </a:lnTo>
                  <a:lnTo>
                    <a:pt x="301568" y="208415"/>
                  </a:lnTo>
                  <a:lnTo>
                    <a:pt x="266483" y="237702"/>
                  </a:lnTo>
                  <a:lnTo>
                    <a:pt x="234192" y="269994"/>
                  </a:lnTo>
                  <a:lnTo>
                    <a:pt x="204906" y="305079"/>
                  </a:lnTo>
                  <a:lnTo>
                    <a:pt x="178837" y="342746"/>
                  </a:lnTo>
                  <a:lnTo>
                    <a:pt x="156197" y="382782"/>
                  </a:lnTo>
                  <a:lnTo>
                    <a:pt x="137198" y="424976"/>
                  </a:lnTo>
                  <a:lnTo>
                    <a:pt x="122053" y="469115"/>
                  </a:lnTo>
                  <a:lnTo>
                    <a:pt x="110972" y="514987"/>
                  </a:lnTo>
                  <a:lnTo>
                    <a:pt x="104169" y="562382"/>
                  </a:lnTo>
                  <a:lnTo>
                    <a:pt x="101854" y="611085"/>
                  </a:lnTo>
                  <a:lnTo>
                    <a:pt x="104169" y="659789"/>
                  </a:lnTo>
                  <a:lnTo>
                    <a:pt x="110972" y="707183"/>
                  </a:lnTo>
                  <a:lnTo>
                    <a:pt x="122053" y="753056"/>
                  </a:lnTo>
                  <a:lnTo>
                    <a:pt x="137198" y="797195"/>
                  </a:lnTo>
                  <a:lnTo>
                    <a:pt x="156197" y="839389"/>
                  </a:lnTo>
                  <a:lnTo>
                    <a:pt x="178837" y="879425"/>
                  </a:lnTo>
                  <a:lnTo>
                    <a:pt x="204906" y="917092"/>
                  </a:lnTo>
                  <a:lnTo>
                    <a:pt x="234192" y="952177"/>
                  </a:lnTo>
                  <a:lnTo>
                    <a:pt x="266483" y="984469"/>
                  </a:lnTo>
                  <a:lnTo>
                    <a:pt x="301568" y="1013756"/>
                  </a:lnTo>
                  <a:lnTo>
                    <a:pt x="339235" y="1039826"/>
                  </a:lnTo>
                  <a:lnTo>
                    <a:pt x="379271" y="1062466"/>
                  </a:lnTo>
                  <a:lnTo>
                    <a:pt x="421465" y="1081466"/>
                  </a:lnTo>
                  <a:lnTo>
                    <a:pt x="465605" y="1096612"/>
                  </a:lnTo>
                  <a:lnTo>
                    <a:pt x="511479" y="1107693"/>
                  </a:lnTo>
                  <a:lnTo>
                    <a:pt x="558874" y="1114497"/>
                  </a:lnTo>
                  <a:lnTo>
                    <a:pt x="607580" y="1116812"/>
                  </a:lnTo>
                  <a:close/>
                </a:path>
                <a:path w="1201420" h="1201420">
                  <a:moveTo>
                    <a:pt x="605815" y="611085"/>
                  </a:moveTo>
                  <a:lnTo>
                    <a:pt x="605815" y="0"/>
                  </a:lnTo>
                </a:path>
                <a:path w="1201420" h="1201420">
                  <a:moveTo>
                    <a:pt x="600557" y="611085"/>
                  </a:moveTo>
                  <a:lnTo>
                    <a:pt x="1032649" y="178981"/>
                  </a:lnTo>
                </a:path>
                <a:path w="1201420" h="1201420">
                  <a:moveTo>
                    <a:pt x="332346" y="332346"/>
                  </a:moveTo>
                  <a:lnTo>
                    <a:pt x="175895" y="175895"/>
                  </a:lnTo>
                </a:path>
                <a:path w="1201420" h="1201420">
                  <a:moveTo>
                    <a:pt x="221259" y="611085"/>
                  </a:moveTo>
                  <a:lnTo>
                    <a:pt x="0" y="611085"/>
                  </a:lnTo>
                </a:path>
                <a:path w="1201420" h="1201420">
                  <a:moveTo>
                    <a:pt x="332346" y="868743"/>
                  </a:moveTo>
                  <a:lnTo>
                    <a:pt x="175895" y="1025194"/>
                  </a:lnTo>
                </a:path>
                <a:path w="1201420" h="1201420">
                  <a:moveTo>
                    <a:pt x="600544" y="979843"/>
                  </a:moveTo>
                  <a:lnTo>
                    <a:pt x="600544" y="1201102"/>
                  </a:lnTo>
                </a:path>
                <a:path w="1201420" h="1201420">
                  <a:moveTo>
                    <a:pt x="868756" y="868743"/>
                  </a:moveTo>
                  <a:lnTo>
                    <a:pt x="1025207" y="1025194"/>
                  </a:lnTo>
                </a:path>
                <a:path w="1201420" h="1201420">
                  <a:moveTo>
                    <a:pt x="979843" y="611085"/>
                  </a:moveTo>
                  <a:lnTo>
                    <a:pt x="1201102" y="611085"/>
                  </a:lnTo>
                </a:path>
              </a:pathLst>
            </a:custGeom>
            <a:ln w="10535">
              <a:solidFill>
                <a:srgbClr val="000000"/>
              </a:solidFill>
            </a:ln>
          </p:spPr>
          <p:txBody>
            <a:bodyPr wrap="square" lIns="0" tIns="0" rIns="0" bIns="0" rtlCol="0"/>
            <a:lstStyle/>
            <a:p>
              <a:endParaRPr/>
            </a:p>
          </p:txBody>
        </p:sp>
      </p:grpSp>
      <p:grpSp>
        <p:nvGrpSpPr>
          <p:cNvPr id="20" name="object 20"/>
          <p:cNvGrpSpPr/>
          <p:nvPr/>
        </p:nvGrpSpPr>
        <p:grpSpPr>
          <a:xfrm>
            <a:off x="6342075" y="4689932"/>
            <a:ext cx="1223010" cy="1106805"/>
            <a:chOff x="6342075" y="4689932"/>
            <a:chExt cx="1223010" cy="1106805"/>
          </a:xfrm>
        </p:grpSpPr>
        <p:sp>
          <p:nvSpPr>
            <p:cNvPr id="21" name="object 21"/>
            <p:cNvSpPr/>
            <p:nvPr/>
          </p:nvSpPr>
          <p:spPr>
            <a:xfrm>
              <a:off x="6953605" y="4845621"/>
              <a:ext cx="507365" cy="358775"/>
            </a:xfrm>
            <a:custGeom>
              <a:avLst/>
              <a:gdLst/>
              <a:ahLst/>
              <a:cxnLst/>
              <a:rect l="l" t="t" r="r" b="b"/>
              <a:pathLst>
                <a:path w="507365" h="358775">
                  <a:moveTo>
                    <a:pt x="507276" y="357606"/>
                  </a:moveTo>
                  <a:lnTo>
                    <a:pt x="504807" y="309370"/>
                  </a:lnTo>
                  <a:lnTo>
                    <a:pt x="497753" y="261502"/>
                  </a:lnTo>
                  <a:lnTo>
                    <a:pt x="486115" y="214357"/>
                  </a:lnTo>
                  <a:lnTo>
                    <a:pt x="469892" y="168287"/>
                  </a:lnTo>
                  <a:lnTo>
                    <a:pt x="449084" y="123649"/>
                  </a:lnTo>
                  <a:lnTo>
                    <a:pt x="423692" y="80797"/>
                  </a:lnTo>
                  <a:lnTo>
                    <a:pt x="393716" y="40084"/>
                  </a:lnTo>
                  <a:lnTo>
                    <a:pt x="359156" y="1866"/>
                  </a:lnTo>
                  <a:lnTo>
                    <a:pt x="358533" y="0"/>
                  </a:lnTo>
                  <a:lnTo>
                    <a:pt x="0" y="358533"/>
                  </a:lnTo>
                  <a:lnTo>
                    <a:pt x="506285" y="358533"/>
                  </a:lnTo>
                  <a:lnTo>
                    <a:pt x="507276" y="357606"/>
                  </a:lnTo>
                  <a:close/>
                </a:path>
              </a:pathLst>
            </a:custGeom>
            <a:solidFill>
              <a:srgbClr val="CCCCCC"/>
            </a:solidFill>
          </p:spPr>
          <p:txBody>
            <a:bodyPr wrap="square" lIns="0" tIns="0" rIns="0" bIns="0" rtlCol="0"/>
            <a:lstStyle/>
            <a:p>
              <a:endParaRPr/>
            </a:p>
          </p:txBody>
        </p:sp>
        <p:sp>
          <p:nvSpPr>
            <p:cNvPr id="22" name="object 22"/>
            <p:cNvSpPr/>
            <p:nvPr/>
          </p:nvSpPr>
          <p:spPr>
            <a:xfrm>
              <a:off x="6347472" y="4695329"/>
              <a:ext cx="1212215" cy="1096010"/>
            </a:xfrm>
            <a:custGeom>
              <a:avLst/>
              <a:gdLst/>
              <a:ahLst/>
              <a:cxnLst/>
              <a:rect l="l" t="t" r="r" b="b"/>
              <a:pathLst>
                <a:path w="1212215" h="1096010">
                  <a:moveTo>
                    <a:pt x="607568" y="1011453"/>
                  </a:moveTo>
                  <a:lnTo>
                    <a:pt x="656271" y="1009138"/>
                  </a:lnTo>
                  <a:lnTo>
                    <a:pt x="703666" y="1002334"/>
                  </a:lnTo>
                  <a:lnTo>
                    <a:pt x="749538" y="991253"/>
                  </a:lnTo>
                  <a:lnTo>
                    <a:pt x="793677" y="976106"/>
                  </a:lnTo>
                  <a:lnTo>
                    <a:pt x="835871" y="957107"/>
                  </a:lnTo>
                  <a:lnTo>
                    <a:pt x="875907" y="934467"/>
                  </a:lnTo>
                  <a:lnTo>
                    <a:pt x="913574" y="908397"/>
                  </a:lnTo>
                  <a:lnTo>
                    <a:pt x="948659" y="879110"/>
                  </a:lnTo>
                  <a:lnTo>
                    <a:pt x="980951" y="846818"/>
                  </a:lnTo>
                  <a:lnTo>
                    <a:pt x="1010238" y="811733"/>
                  </a:lnTo>
                  <a:lnTo>
                    <a:pt x="1036308" y="774066"/>
                  </a:lnTo>
                  <a:lnTo>
                    <a:pt x="1058948" y="734030"/>
                  </a:lnTo>
                  <a:lnTo>
                    <a:pt x="1077948" y="691836"/>
                  </a:lnTo>
                  <a:lnTo>
                    <a:pt x="1093094" y="647697"/>
                  </a:lnTo>
                  <a:lnTo>
                    <a:pt x="1104175" y="601824"/>
                  </a:lnTo>
                  <a:lnTo>
                    <a:pt x="1110979" y="554430"/>
                  </a:lnTo>
                  <a:lnTo>
                    <a:pt x="1113294" y="505726"/>
                  </a:lnTo>
                  <a:lnTo>
                    <a:pt x="1110979" y="457022"/>
                  </a:lnTo>
                  <a:lnTo>
                    <a:pt x="1104175" y="409628"/>
                  </a:lnTo>
                  <a:lnTo>
                    <a:pt x="1093094" y="363756"/>
                  </a:lnTo>
                  <a:lnTo>
                    <a:pt x="1077948" y="319616"/>
                  </a:lnTo>
                  <a:lnTo>
                    <a:pt x="1058948" y="277423"/>
                  </a:lnTo>
                  <a:lnTo>
                    <a:pt x="1036308" y="237387"/>
                  </a:lnTo>
                  <a:lnTo>
                    <a:pt x="1010238" y="199720"/>
                  </a:lnTo>
                  <a:lnTo>
                    <a:pt x="980951" y="164634"/>
                  </a:lnTo>
                  <a:lnTo>
                    <a:pt x="948659" y="132342"/>
                  </a:lnTo>
                  <a:lnTo>
                    <a:pt x="913574" y="103055"/>
                  </a:lnTo>
                  <a:lnTo>
                    <a:pt x="875907" y="76986"/>
                  </a:lnTo>
                  <a:lnTo>
                    <a:pt x="835871" y="54345"/>
                  </a:lnTo>
                  <a:lnTo>
                    <a:pt x="793677" y="35346"/>
                  </a:lnTo>
                  <a:lnTo>
                    <a:pt x="749538" y="20200"/>
                  </a:lnTo>
                  <a:lnTo>
                    <a:pt x="703666" y="9119"/>
                  </a:lnTo>
                  <a:lnTo>
                    <a:pt x="656271" y="2315"/>
                  </a:lnTo>
                  <a:lnTo>
                    <a:pt x="607568" y="0"/>
                  </a:lnTo>
                  <a:lnTo>
                    <a:pt x="558864" y="2315"/>
                  </a:lnTo>
                  <a:lnTo>
                    <a:pt x="511470" y="9119"/>
                  </a:lnTo>
                  <a:lnTo>
                    <a:pt x="465597" y="20200"/>
                  </a:lnTo>
                  <a:lnTo>
                    <a:pt x="421458" y="35346"/>
                  </a:lnTo>
                  <a:lnTo>
                    <a:pt x="379264" y="54345"/>
                  </a:lnTo>
                  <a:lnTo>
                    <a:pt x="339228" y="76986"/>
                  </a:lnTo>
                  <a:lnTo>
                    <a:pt x="301561" y="103055"/>
                  </a:lnTo>
                  <a:lnTo>
                    <a:pt x="266476" y="132342"/>
                  </a:lnTo>
                  <a:lnTo>
                    <a:pt x="234184" y="164634"/>
                  </a:lnTo>
                  <a:lnTo>
                    <a:pt x="204897" y="199720"/>
                  </a:lnTo>
                  <a:lnTo>
                    <a:pt x="178827" y="237387"/>
                  </a:lnTo>
                  <a:lnTo>
                    <a:pt x="156187" y="277423"/>
                  </a:lnTo>
                  <a:lnTo>
                    <a:pt x="137187" y="319616"/>
                  </a:lnTo>
                  <a:lnTo>
                    <a:pt x="122041" y="363756"/>
                  </a:lnTo>
                  <a:lnTo>
                    <a:pt x="110960" y="409628"/>
                  </a:lnTo>
                  <a:lnTo>
                    <a:pt x="104156" y="457022"/>
                  </a:lnTo>
                  <a:lnTo>
                    <a:pt x="101841" y="505726"/>
                  </a:lnTo>
                  <a:lnTo>
                    <a:pt x="104156" y="554430"/>
                  </a:lnTo>
                  <a:lnTo>
                    <a:pt x="110960" y="601824"/>
                  </a:lnTo>
                  <a:lnTo>
                    <a:pt x="122041" y="647697"/>
                  </a:lnTo>
                  <a:lnTo>
                    <a:pt x="137187" y="691836"/>
                  </a:lnTo>
                  <a:lnTo>
                    <a:pt x="156187" y="734030"/>
                  </a:lnTo>
                  <a:lnTo>
                    <a:pt x="178827" y="774066"/>
                  </a:lnTo>
                  <a:lnTo>
                    <a:pt x="204897" y="811733"/>
                  </a:lnTo>
                  <a:lnTo>
                    <a:pt x="234184" y="846818"/>
                  </a:lnTo>
                  <a:lnTo>
                    <a:pt x="266476" y="879110"/>
                  </a:lnTo>
                  <a:lnTo>
                    <a:pt x="301561" y="908397"/>
                  </a:lnTo>
                  <a:lnTo>
                    <a:pt x="339228" y="934467"/>
                  </a:lnTo>
                  <a:lnTo>
                    <a:pt x="379264" y="957107"/>
                  </a:lnTo>
                  <a:lnTo>
                    <a:pt x="421458" y="976106"/>
                  </a:lnTo>
                  <a:lnTo>
                    <a:pt x="465597" y="991253"/>
                  </a:lnTo>
                  <a:lnTo>
                    <a:pt x="511470" y="1002334"/>
                  </a:lnTo>
                  <a:lnTo>
                    <a:pt x="558864" y="1009138"/>
                  </a:lnTo>
                  <a:lnTo>
                    <a:pt x="607568" y="1011453"/>
                  </a:lnTo>
                  <a:close/>
                </a:path>
                <a:path w="1212215" h="1096010">
                  <a:moveTo>
                    <a:pt x="604266" y="509447"/>
                  </a:moveTo>
                  <a:lnTo>
                    <a:pt x="1036370" y="77343"/>
                  </a:lnTo>
                </a:path>
                <a:path w="1212215" h="1096010">
                  <a:moveTo>
                    <a:pt x="600544" y="505726"/>
                  </a:moveTo>
                  <a:lnTo>
                    <a:pt x="1211630" y="505726"/>
                  </a:lnTo>
                </a:path>
                <a:path w="1212215" h="1096010">
                  <a:moveTo>
                    <a:pt x="332346" y="226987"/>
                  </a:moveTo>
                  <a:lnTo>
                    <a:pt x="175895" y="70535"/>
                  </a:lnTo>
                </a:path>
                <a:path w="1212215" h="1096010">
                  <a:moveTo>
                    <a:pt x="221246" y="510984"/>
                  </a:moveTo>
                  <a:lnTo>
                    <a:pt x="0" y="510984"/>
                  </a:lnTo>
                </a:path>
                <a:path w="1212215" h="1096010">
                  <a:moveTo>
                    <a:pt x="332346" y="763384"/>
                  </a:moveTo>
                  <a:lnTo>
                    <a:pt x="175895" y="919835"/>
                  </a:lnTo>
                </a:path>
                <a:path w="1212215" h="1096010">
                  <a:moveTo>
                    <a:pt x="605815" y="874483"/>
                  </a:moveTo>
                  <a:lnTo>
                    <a:pt x="605815" y="1095743"/>
                  </a:lnTo>
                </a:path>
                <a:path w="1212215" h="1096010">
                  <a:moveTo>
                    <a:pt x="868743" y="763384"/>
                  </a:moveTo>
                  <a:lnTo>
                    <a:pt x="1025194" y="919835"/>
                  </a:lnTo>
                </a:path>
              </a:pathLst>
            </a:custGeom>
            <a:ln w="10535">
              <a:solidFill>
                <a:srgbClr val="000000"/>
              </a:solidFill>
            </a:ln>
          </p:spPr>
          <p:txBody>
            <a:bodyPr wrap="square" lIns="0" tIns="0" rIns="0" bIns="0" rtlCol="0"/>
            <a:lstStyle/>
            <a:p>
              <a:endParaRPr/>
            </a:p>
          </p:txBody>
        </p:sp>
      </p:grpSp>
      <p:sp>
        <p:nvSpPr>
          <p:cNvPr id="23" name="object 23"/>
          <p:cNvSpPr txBox="1"/>
          <p:nvPr/>
        </p:nvSpPr>
        <p:spPr>
          <a:xfrm>
            <a:off x="2963278" y="441923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7</a:t>
            </a:r>
            <a:endParaRPr sz="1300">
              <a:latin typeface="Arial MT"/>
              <a:cs typeface="Arial MT"/>
            </a:endParaRPr>
          </a:p>
        </p:txBody>
      </p:sp>
      <p:sp>
        <p:nvSpPr>
          <p:cNvPr id="24" name="object 24"/>
          <p:cNvSpPr txBox="1"/>
          <p:nvPr/>
        </p:nvSpPr>
        <p:spPr>
          <a:xfrm>
            <a:off x="2541841" y="483013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6</a:t>
            </a:r>
            <a:endParaRPr sz="1300">
              <a:latin typeface="Arial MT"/>
              <a:cs typeface="Arial MT"/>
            </a:endParaRPr>
          </a:p>
        </p:txBody>
      </p:sp>
      <p:sp>
        <p:nvSpPr>
          <p:cNvPr id="25" name="object 25"/>
          <p:cNvSpPr txBox="1"/>
          <p:nvPr/>
        </p:nvSpPr>
        <p:spPr>
          <a:xfrm>
            <a:off x="3858831" y="483013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26" name="object 26"/>
          <p:cNvSpPr txBox="1"/>
          <p:nvPr/>
        </p:nvSpPr>
        <p:spPr>
          <a:xfrm>
            <a:off x="2531305" y="5362201"/>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5</a:t>
            </a:r>
            <a:endParaRPr sz="1300">
              <a:latin typeface="Arial MT"/>
              <a:cs typeface="Arial MT"/>
            </a:endParaRPr>
          </a:p>
        </p:txBody>
      </p:sp>
      <p:sp>
        <p:nvSpPr>
          <p:cNvPr id="27" name="object 27"/>
          <p:cNvSpPr txBox="1"/>
          <p:nvPr/>
        </p:nvSpPr>
        <p:spPr>
          <a:xfrm>
            <a:off x="3837759" y="5362201"/>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28" name="object 28"/>
          <p:cNvSpPr txBox="1"/>
          <p:nvPr/>
        </p:nvSpPr>
        <p:spPr>
          <a:xfrm>
            <a:off x="3458466" y="441923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0</a:t>
            </a:r>
            <a:endParaRPr sz="1300">
              <a:latin typeface="Arial MT"/>
              <a:cs typeface="Arial MT"/>
            </a:endParaRPr>
          </a:p>
        </p:txBody>
      </p:sp>
      <p:sp>
        <p:nvSpPr>
          <p:cNvPr id="29" name="object 29"/>
          <p:cNvSpPr txBox="1"/>
          <p:nvPr/>
        </p:nvSpPr>
        <p:spPr>
          <a:xfrm>
            <a:off x="2963278" y="574676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30" name="object 30"/>
          <p:cNvSpPr txBox="1"/>
          <p:nvPr/>
        </p:nvSpPr>
        <p:spPr>
          <a:xfrm>
            <a:off x="3458466" y="574676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31" name="object 31"/>
          <p:cNvSpPr txBox="1"/>
          <p:nvPr/>
        </p:nvSpPr>
        <p:spPr>
          <a:xfrm>
            <a:off x="4817605" y="441923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7</a:t>
            </a:r>
            <a:endParaRPr sz="1300">
              <a:latin typeface="Arial MT"/>
              <a:cs typeface="Arial MT"/>
            </a:endParaRPr>
          </a:p>
        </p:txBody>
      </p:sp>
      <p:sp>
        <p:nvSpPr>
          <p:cNvPr id="32" name="object 32"/>
          <p:cNvSpPr txBox="1"/>
          <p:nvPr/>
        </p:nvSpPr>
        <p:spPr>
          <a:xfrm>
            <a:off x="4396168" y="483013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6</a:t>
            </a:r>
            <a:endParaRPr sz="1300">
              <a:latin typeface="Arial MT"/>
              <a:cs typeface="Arial MT"/>
            </a:endParaRPr>
          </a:p>
        </p:txBody>
      </p:sp>
      <p:sp>
        <p:nvSpPr>
          <p:cNvPr id="33" name="object 33"/>
          <p:cNvSpPr txBox="1"/>
          <p:nvPr/>
        </p:nvSpPr>
        <p:spPr>
          <a:xfrm>
            <a:off x="5713158" y="483013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34" name="object 34"/>
          <p:cNvSpPr txBox="1"/>
          <p:nvPr/>
        </p:nvSpPr>
        <p:spPr>
          <a:xfrm>
            <a:off x="4385632" y="5362201"/>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5</a:t>
            </a:r>
            <a:endParaRPr sz="1300">
              <a:latin typeface="Arial MT"/>
              <a:cs typeface="Arial MT"/>
            </a:endParaRPr>
          </a:p>
        </p:txBody>
      </p:sp>
      <p:sp>
        <p:nvSpPr>
          <p:cNvPr id="35" name="object 35"/>
          <p:cNvSpPr txBox="1"/>
          <p:nvPr/>
        </p:nvSpPr>
        <p:spPr>
          <a:xfrm>
            <a:off x="5692086" y="5362201"/>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36" name="object 36"/>
          <p:cNvSpPr txBox="1"/>
          <p:nvPr/>
        </p:nvSpPr>
        <p:spPr>
          <a:xfrm>
            <a:off x="5312793" y="441923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0</a:t>
            </a:r>
            <a:endParaRPr sz="1300">
              <a:latin typeface="Arial MT"/>
              <a:cs typeface="Arial MT"/>
            </a:endParaRPr>
          </a:p>
        </p:txBody>
      </p:sp>
      <p:sp>
        <p:nvSpPr>
          <p:cNvPr id="37" name="object 37"/>
          <p:cNvSpPr txBox="1"/>
          <p:nvPr/>
        </p:nvSpPr>
        <p:spPr>
          <a:xfrm>
            <a:off x="4817605" y="574676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38" name="object 38"/>
          <p:cNvSpPr txBox="1"/>
          <p:nvPr/>
        </p:nvSpPr>
        <p:spPr>
          <a:xfrm>
            <a:off x="5312793" y="574676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grpSp>
        <p:nvGrpSpPr>
          <p:cNvPr id="39" name="object 39"/>
          <p:cNvGrpSpPr/>
          <p:nvPr/>
        </p:nvGrpSpPr>
        <p:grpSpPr>
          <a:xfrm>
            <a:off x="8183359" y="4589970"/>
            <a:ext cx="1207770" cy="1206500"/>
            <a:chOff x="8183359" y="4589970"/>
            <a:chExt cx="1207770" cy="1206500"/>
          </a:xfrm>
        </p:grpSpPr>
        <p:sp>
          <p:nvSpPr>
            <p:cNvPr id="40" name="object 40"/>
            <p:cNvSpPr/>
            <p:nvPr/>
          </p:nvSpPr>
          <p:spPr>
            <a:xfrm>
              <a:off x="8785542" y="4845621"/>
              <a:ext cx="507365" cy="358775"/>
            </a:xfrm>
            <a:custGeom>
              <a:avLst/>
              <a:gdLst/>
              <a:ahLst/>
              <a:cxnLst/>
              <a:rect l="l" t="t" r="r" b="b"/>
              <a:pathLst>
                <a:path w="507365" h="358775">
                  <a:moveTo>
                    <a:pt x="507263" y="357606"/>
                  </a:moveTo>
                  <a:lnTo>
                    <a:pt x="504795" y="309370"/>
                  </a:lnTo>
                  <a:lnTo>
                    <a:pt x="497742" y="261502"/>
                  </a:lnTo>
                  <a:lnTo>
                    <a:pt x="486106" y="214357"/>
                  </a:lnTo>
                  <a:lnTo>
                    <a:pt x="469885" y="168287"/>
                  </a:lnTo>
                  <a:lnTo>
                    <a:pt x="449080" y="123649"/>
                  </a:lnTo>
                  <a:lnTo>
                    <a:pt x="423690" y="80797"/>
                  </a:lnTo>
                  <a:lnTo>
                    <a:pt x="393715" y="40084"/>
                  </a:lnTo>
                  <a:lnTo>
                    <a:pt x="359156" y="1866"/>
                  </a:lnTo>
                  <a:lnTo>
                    <a:pt x="358533" y="0"/>
                  </a:lnTo>
                  <a:lnTo>
                    <a:pt x="0" y="358533"/>
                  </a:lnTo>
                  <a:lnTo>
                    <a:pt x="506285" y="358533"/>
                  </a:lnTo>
                  <a:lnTo>
                    <a:pt x="507263" y="357606"/>
                  </a:lnTo>
                  <a:close/>
                </a:path>
              </a:pathLst>
            </a:custGeom>
            <a:solidFill>
              <a:srgbClr val="CCCCCC"/>
            </a:solidFill>
          </p:spPr>
          <p:txBody>
            <a:bodyPr wrap="square" lIns="0" tIns="0" rIns="0" bIns="0" rtlCol="0"/>
            <a:lstStyle/>
            <a:p>
              <a:endParaRPr/>
            </a:p>
          </p:txBody>
        </p:sp>
        <p:sp>
          <p:nvSpPr>
            <p:cNvPr id="41" name="object 41"/>
            <p:cNvSpPr/>
            <p:nvPr/>
          </p:nvSpPr>
          <p:spPr>
            <a:xfrm>
              <a:off x="8183359" y="4589970"/>
              <a:ext cx="1207770" cy="1206500"/>
            </a:xfrm>
            <a:custGeom>
              <a:avLst/>
              <a:gdLst/>
              <a:ahLst/>
              <a:cxnLst/>
              <a:rect l="l" t="t" r="r" b="b"/>
              <a:pathLst>
                <a:path w="1207770" h="1206500">
                  <a:moveTo>
                    <a:pt x="600316" y="614807"/>
                  </a:moveTo>
                  <a:lnTo>
                    <a:pt x="1032421" y="182702"/>
                  </a:lnTo>
                </a:path>
                <a:path w="1207770" h="1206500">
                  <a:moveTo>
                    <a:pt x="596595" y="611085"/>
                  </a:moveTo>
                  <a:lnTo>
                    <a:pt x="1207681" y="611085"/>
                  </a:lnTo>
                </a:path>
                <a:path w="1207770" h="1206500">
                  <a:moveTo>
                    <a:pt x="607568" y="1122070"/>
                  </a:moveTo>
                  <a:lnTo>
                    <a:pt x="656271" y="1119755"/>
                  </a:lnTo>
                  <a:lnTo>
                    <a:pt x="703666" y="1112951"/>
                  </a:lnTo>
                  <a:lnTo>
                    <a:pt x="749538" y="1101871"/>
                  </a:lnTo>
                  <a:lnTo>
                    <a:pt x="793677" y="1086725"/>
                  </a:lnTo>
                  <a:lnTo>
                    <a:pt x="835871" y="1067727"/>
                  </a:lnTo>
                  <a:lnTo>
                    <a:pt x="875907" y="1045087"/>
                  </a:lnTo>
                  <a:lnTo>
                    <a:pt x="913574" y="1019019"/>
                  </a:lnTo>
                  <a:lnTo>
                    <a:pt x="948659" y="989733"/>
                  </a:lnTo>
                  <a:lnTo>
                    <a:pt x="980951" y="957442"/>
                  </a:lnTo>
                  <a:lnTo>
                    <a:pt x="1010238" y="922358"/>
                  </a:lnTo>
                  <a:lnTo>
                    <a:pt x="1036308" y="884692"/>
                  </a:lnTo>
                  <a:lnTo>
                    <a:pt x="1058948" y="844657"/>
                  </a:lnTo>
                  <a:lnTo>
                    <a:pt x="1077948" y="802464"/>
                  </a:lnTo>
                  <a:lnTo>
                    <a:pt x="1093094" y="758325"/>
                  </a:lnTo>
                  <a:lnTo>
                    <a:pt x="1104175" y="712453"/>
                  </a:lnTo>
                  <a:lnTo>
                    <a:pt x="1110979" y="665060"/>
                  </a:lnTo>
                  <a:lnTo>
                    <a:pt x="1113294" y="616356"/>
                  </a:lnTo>
                  <a:lnTo>
                    <a:pt x="1110979" y="567650"/>
                  </a:lnTo>
                  <a:lnTo>
                    <a:pt x="1104175" y="520254"/>
                  </a:lnTo>
                  <a:lnTo>
                    <a:pt x="1093094" y="474381"/>
                  </a:lnTo>
                  <a:lnTo>
                    <a:pt x="1077948" y="430241"/>
                  </a:lnTo>
                  <a:lnTo>
                    <a:pt x="1058948" y="388047"/>
                  </a:lnTo>
                  <a:lnTo>
                    <a:pt x="1036308" y="348011"/>
                  </a:lnTo>
                  <a:lnTo>
                    <a:pt x="1010238" y="310344"/>
                  </a:lnTo>
                  <a:lnTo>
                    <a:pt x="980951" y="275259"/>
                  </a:lnTo>
                  <a:lnTo>
                    <a:pt x="948659" y="242968"/>
                  </a:lnTo>
                  <a:lnTo>
                    <a:pt x="913574" y="213681"/>
                  </a:lnTo>
                  <a:lnTo>
                    <a:pt x="875907" y="187612"/>
                  </a:lnTo>
                  <a:lnTo>
                    <a:pt x="835871" y="164973"/>
                  </a:lnTo>
                  <a:lnTo>
                    <a:pt x="793677" y="145974"/>
                  </a:lnTo>
                  <a:lnTo>
                    <a:pt x="749538" y="130829"/>
                  </a:lnTo>
                  <a:lnTo>
                    <a:pt x="703666" y="119748"/>
                  </a:lnTo>
                  <a:lnTo>
                    <a:pt x="656271" y="112944"/>
                  </a:lnTo>
                  <a:lnTo>
                    <a:pt x="607568" y="110629"/>
                  </a:lnTo>
                  <a:lnTo>
                    <a:pt x="558864" y="112944"/>
                  </a:lnTo>
                  <a:lnTo>
                    <a:pt x="511470" y="119748"/>
                  </a:lnTo>
                  <a:lnTo>
                    <a:pt x="465597" y="130829"/>
                  </a:lnTo>
                  <a:lnTo>
                    <a:pt x="421458" y="145974"/>
                  </a:lnTo>
                  <a:lnTo>
                    <a:pt x="379264" y="164973"/>
                  </a:lnTo>
                  <a:lnTo>
                    <a:pt x="339228" y="187612"/>
                  </a:lnTo>
                  <a:lnTo>
                    <a:pt x="301561" y="213681"/>
                  </a:lnTo>
                  <a:lnTo>
                    <a:pt x="266476" y="242968"/>
                  </a:lnTo>
                  <a:lnTo>
                    <a:pt x="234184" y="275259"/>
                  </a:lnTo>
                  <a:lnTo>
                    <a:pt x="204897" y="310344"/>
                  </a:lnTo>
                  <a:lnTo>
                    <a:pt x="178827" y="348011"/>
                  </a:lnTo>
                  <a:lnTo>
                    <a:pt x="156187" y="388047"/>
                  </a:lnTo>
                  <a:lnTo>
                    <a:pt x="137187" y="430241"/>
                  </a:lnTo>
                  <a:lnTo>
                    <a:pt x="122041" y="474381"/>
                  </a:lnTo>
                  <a:lnTo>
                    <a:pt x="110960" y="520254"/>
                  </a:lnTo>
                  <a:lnTo>
                    <a:pt x="104156" y="567650"/>
                  </a:lnTo>
                  <a:lnTo>
                    <a:pt x="101841" y="616356"/>
                  </a:lnTo>
                  <a:lnTo>
                    <a:pt x="104156" y="665060"/>
                  </a:lnTo>
                  <a:lnTo>
                    <a:pt x="110960" y="712453"/>
                  </a:lnTo>
                  <a:lnTo>
                    <a:pt x="122041" y="758325"/>
                  </a:lnTo>
                  <a:lnTo>
                    <a:pt x="137187" y="802464"/>
                  </a:lnTo>
                  <a:lnTo>
                    <a:pt x="156187" y="844657"/>
                  </a:lnTo>
                  <a:lnTo>
                    <a:pt x="178827" y="884692"/>
                  </a:lnTo>
                  <a:lnTo>
                    <a:pt x="204897" y="922358"/>
                  </a:lnTo>
                  <a:lnTo>
                    <a:pt x="234184" y="957442"/>
                  </a:lnTo>
                  <a:lnTo>
                    <a:pt x="266476" y="989733"/>
                  </a:lnTo>
                  <a:lnTo>
                    <a:pt x="301561" y="1019019"/>
                  </a:lnTo>
                  <a:lnTo>
                    <a:pt x="339228" y="1045087"/>
                  </a:lnTo>
                  <a:lnTo>
                    <a:pt x="379264" y="1067727"/>
                  </a:lnTo>
                  <a:lnTo>
                    <a:pt x="421458" y="1086725"/>
                  </a:lnTo>
                  <a:lnTo>
                    <a:pt x="465597" y="1101871"/>
                  </a:lnTo>
                  <a:lnTo>
                    <a:pt x="511470" y="1112951"/>
                  </a:lnTo>
                  <a:lnTo>
                    <a:pt x="558864" y="1119755"/>
                  </a:lnTo>
                  <a:lnTo>
                    <a:pt x="607568" y="1122070"/>
                  </a:lnTo>
                  <a:close/>
                </a:path>
                <a:path w="1207770" h="1206500">
                  <a:moveTo>
                    <a:pt x="332346" y="337616"/>
                  </a:moveTo>
                  <a:lnTo>
                    <a:pt x="175895" y="181165"/>
                  </a:lnTo>
                </a:path>
                <a:path w="1207770" h="1206500">
                  <a:moveTo>
                    <a:pt x="221246" y="616343"/>
                  </a:moveTo>
                  <a:lnTo>
                    <a:pt x="0" y="616343"/>
                  </a:lnTo>
                </a:path>
                <a:path w="1207770" h="1206500">
                  <a:moveTo>
                    <a:pt x="332346" y="874014"/>
                  </a:moveTo>
                  <a:lnTo>
                    <a:pt x="175895" y="1030465"/>
                  </a:lnTo>
                </a:path>
                <a:path w="1207770" h="1206500">
                  <a:moveTo>
                    <a:pt x="604939" y="985113"/>
                  </a:moveTo>
                  <a:lnTo>
                    <a:pt x="604939" y="1206360"/>
                  </a:lnTo>
                </a:path>
                <a:path w="1207770" h="1206500">
                  <a:moveTo>
                    <a:pt x="605370" y="0"/>
                  </a:moveTo>
                  <a:lnTo>
                    <a:pt x="605370" y="221259"/>
                  </a:lnTo>
                </a:path>
                <a:path w="1207770" h="1206500">
                  <a:moveTo>
                    <a:pt x="868743" y="874014"/>
                  </a:moveTo>
                  <a:lnTo>
                    <a:pt x="1025194" y="1030465"/>
                  </a:lnTo>
                </a:path>
              </a:pathLst>
            </a:custGeom>
            <a:ln w="10535">
              <a:solidFill>
                <a:srgbClr val="000000"/>
              </a:solidFill>
            </a:ln>
          </p:spPr>
          <p:txBody>
            <a:bodyPr wrap="square" lIns="0" tIns="0" rIns="0" bIns="0" rtlCol="0"/>
            <a:lstStyle/>
            <a:p>
              <a:endParaRPr/>
            </a:p>
          </p:txBody>
        </p:sp>
      </p:grpSp>
      <p:sp>
        <p:nvSpPr>
          <p:cNvPr id="42" name="object 42"/>
          <p:cNvSpPr txBox="1"/>
          <p:nvPr/>
        </p:nvSpPr>
        <p:spPr>
          <a:xfrm>
            <a:off x="6671919" y="441923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7</a:t>
            </a:r>
            <a:endParaRPr sz="1300">
              <a:latin typeface="Arial MT"/>
              <a:cs typeface="Arial MT"/>
            </a:endParaRPr>
          </a:p>
        </p:txBody>
      </p:sp>
      <p:sp>
        <p:nvSpPr>
          <p:cNvPr id="43" name="object 43"/>
          <p:cNvSpPr txBox="1"/>
          <p:nvPr/>
        </p:nvSpPr>
        <p:spPr>
          <a:xfrm>
            <a:off x="6250482" y="483013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6</a:t>
            </a:r>
            <a:endParaRPr sz="1300">
              <a:latin typeface="Arial MT"/>
              <a:cs typeface="Arial MT"/>
            </a:endParaRPr>
          </a:p>
        </p:txBody>
      </p:sp>
      <p:sp>
        <p:nvSpPr>
          <p:cNvPr id="44" name="object 44"/>
          <p:cNvSpPr txBox="1"/>
          <p:nvPr/>
        </p:nvSpPr>
        <p:spPr>
          <a:xfrm>
            <a:off x="7567472" y="4830137"/>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45" name="object 45"/>
          <p:cNvSpPr txBox="1"/>
          <p:nvPr/>
        </p:nvSpPr>
        <p:spPr>
          <a:xfrm>
            <a:off x="6239947" y="5362201"/>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5</a:t>
            </a:r>
            <a:endParaRPr sz="1300">
              <a:latin typeface="Arial MT"/>
              <a:cs typeface="Arial MT"/>
            </a:endParaRPr>
          </a:p>
        </p:txBody>
      </p:sp>
      <p:sp>
        <p:nvSpPr>
          <p:cNvPr id="46" name="object 46"/>
          <p:cNvSpPr txBox="1"/>
          <p:nvPr/>
        </p:nvSpPr>
        <p:spPr>
          <a:xfrm>
            <a:off x="7546400" y="5362201"/>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47" name="object 47"/>
          <p:cNvSpPr txBox="1"/>
          <p:nvPr/>
        </p:nvSpPr>
        <p:spPr>
          <a:xfrm>
            <a:off x="7167107" y="4419236"/>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0</a:t>
            </a:r>
            <a:endParaRPr sz="1300">
              <a:latin typeface="Arial MT"/>
              <a:cs typeface="Arial MT"/>
            </a:endParaRPr>
          </a:p>
        </p:txBody>
      </p:sp>
      <p:sp>
        <p:nvSpPr>
          <p:cNvPr id="48" name="object 48"/>
          <p:cNvSpPr txBox="1"/>
          <p:nvPr/>
        </p:nvSpPr>
        <p:spPr>
          <a:xfrm>
            <a:off x="6671919" y="574676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49" name="object 49"/>
          <p:cNvSpPr txBox="1"/>
          <p:nvPr/>
        </p:nvSpPr>
        <p:spPr>
          <a:xfrm>
            <a:off x="7167107" y="5746762"/>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50" name="object 50"/>
          <p:cNvSpPr/>
          <p:nvPr/>
        </p:nvSpPr>
        <p:spPr>
          <a:xfrm>
            <a:off x="6957238" y="4589970"/>
            <a:ext cx="0" cy="221615"/>
          </a:xfrm>
          <a:custGeom>
            <a:avLst/>
            <a:gdLst/>
            <a:ahLst/>
            <a:cxnLst/>
            <a:rect l="l" t="t" r="r" b="b"/>
            <a:pathLst>
              <a:path h="221614">
                <a:moveTo>
                  <a:pt x="0" y="0"/>
                </a:moveTo>
                <a:lnTo>
                  <a:pt x="0" y="221259"/>
                </a:lnTo>
              </a:path>
            </a:pathLst>
          </a:custGeom>
          <a:ln w="10535">
            <a:solidFill>
              <a:srgbClr val="000000"/>
            </a:solidFill>
          </a:ln>
        </p:spPr>
        <p:txBody>
          <a:bodyPr wrap="square" lIns="0" tIns="0" rIns="0" bIns="0" rtlCol="0"/>
          <a:lstStyle/>
          <a:p>
            <a:endParaRPr/>
          </a:p>
        </p:txBody>
      </p:sp>
      <p:sp>
        <p:nvSpPr>
          <p:cNvPr id="51" name="object 51"/>
          <p:cNvSpPr txBox="1"/>
          <p:nvPr/>
        </p:nvSpPr>
        <p:spPr>
          <a:xfrm>
            <a:off x="8507806" y="4424494"/>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7</a:t>
            </a:r>
            <a:endParaRPr sz="1300">
              <a:latin typeface="Arial MT"/>
              <a:cs typeface="Arial MT"/>
            </a:endParaRPr>
          </a:p>
        </p:txBody>
      </p:sp>
      <p:sp>
        <p:nvSpPr>
          <p:cNvPr id="52" name="object 52"/>
          <p:cNvSpPr txBox="1"/>
          <p:nvPr/>
        </p:nvSpPr>
        <p:spPr>
          <a:xfrm>
            <a:off x="8086369" y="4835395"/>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6</a:t>
            </a:r>
            <a:endParaRPr sz="1300">
              <a:latin typeface="Arial MT"/>
              <a:cs typeface="Arial MT"/>
            </a:endParaRPr>
          </a:p>
        </p:txBody>
      </p:sp>
      <p:sp>
        <p:nvSpPr>
          <p:cNvPr id="53" name="object 53"/>
          <p:cNvSpPr txBox="1"/>
          <p:nvPr/>
        </p:nvSpPr>
        <p:spPr>
          <a:xfrm>
            <a:off x="9403359" y="4835395"/>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1</a:t>
            </a:r>
            <a:endParaRPr sz="1300">
              <a:latin typeface="Arial MT"/>
              <a:cs typeface="Arial MT"/>
            </a:endParaRPr>
          </a:p>
        </p:txBody>
      </p:sp>
      <p:sp>
        <p:nvSpPr>
          <p:cNvPr id="54" name="object 54"/>
          <p:cNvSpPr txBox="1"/>
          <p:nvPr/>
        </p:nvSpPr>
        <p:spPr>
          <a:xfrm>
            <a:off x="8075833" y="5367459"/>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5</a:t>
            </a:r>
            <a:endParaRPr sz="1300">
              <a:latin typeface="Arial MT"/>
              <a:cs typeface="Arial MT"/>
            </a:endParaRPr>
          </a:p>
        </p:txBody>
      </p:sp>
      <p:sp>
        <p:nvSpPr>
          <p:cNvPr id="55" name="object 55"/>
          <p:cNvSpPr txBox="1"/>
          <p:nvPr/>
        </p:nvSpPr>
        <p:spPr>
          <a:xfrm>
            <a:off x="9382287" y="5367459"/>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2</a:t>
            </a:r>
            <a:endParaRPr sz="1300">
              <a:latin typeface="Arial MT"/>
              <a:cs typeface="Arial MT"/>
            </a:endParaRPr>
          </a:p>
        </p:txBody>
      </p:sp>
      <p:sp>
        <p:nvSpPr>
          <p:cNvPr id="56" name="object 56"/>
          <p:cNvSpPr txBox="1"/>
          <p:nvPr/>
        </p:nvSpPr>
        <p:spPr>
          <a:xfrm>
            <a:off x="9002994" y="4424494"/>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0</a:t>
            </a:r>
            <a:endParaRPr sz="1300">
              <a:latin typeface="Arial MT"/>
              <a:cs typeface="Arial MT"/>
            </a:endParaRPr>
          </a:p>
        </p:txBody>
      </p:sp>
      <p:sp>
        <p:nvSpPr>
          <p:cNvPr id="57" name="object 57"/>
          <p:cNvSpPr txBox="1"/>
          <p:nvPr/>
        </p:nvSpPr>
        <p:spPr>
          <a:xfrm>
            <a:off x="8507806" y="5752020"/>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58" name="object 58"/>
          <p:cNvSpPr txBox="1"/>
          <p:nvPr/>
        </p:nvSpPr>
        <p:spPr>
          <a:xfrm>
            <a:off x="9002994" y="5752020"/>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3</a:t>
            </a:r>
            <a:endParaRPr sz="1300">
              <a:latin typeface="Arial MT"/>
              <a:cs typeface="Arial MT"/>
            </a:endParaRPr>
          </a:p>
        </p:txBody>
      </p:sp>
      <p:sp>
        <p:nvSpPr>
          <p:cNvPr id="59" name="object 59"/>
          <p:cNvSpPr txBox="1"/>
          <p:nvPr/>
        </p:nvSpPr>
        <p:spPr>
          <a:xfrm>
            <a:off x="1592072" y="6022716"/>
            <a:ext cx="7315834" cy="1286510"/>
          </a:xfrm>
          <a:prstGeom prst="rect">
            <a:avLst/>
          </a:prstGeom>
        </p:spPr>
        <p:txBody>
          <a:bodyPr vert="horz" wrap="square" lIns="0" tIns="98425" rIns="0" bIns="0" rtlCol="0">
            <a:spAutoFit/>
          </a:bodyPr>
          <a:lstStyle/>
          <a:p>
            <a:pPr marL="1544320">
              <a:lnSpc>
                <a:spcPct val="100000"/>
              </a:lnSpc>
              <a:spcBef>
                <a:spcPts val="775"/>
              </a:spcBef>
              <a:tabLst>
                <a:tab pos="3408679" algn="l"/>
                <a:tab pos="5267960" algn="l"/>
                <a:tab pos="7096125" algn="l"/>
              </a:tabLst>
            </a:pPr>
            <a:r>
              <a:rPr sz="1300" spc="10" dirty="0">
                <a:latin typeface="Arial MT"/>
                <a:cs typeface="Arial MT"/>
              </a:rPr>
              <a:t>(a)	(b)	(c)	(d)</a:t>
            </a:r>
            <a:endParaRPr sz="1300" dirty="0">
              <a:latin typeface="Arial MT"/>
              <a:cs typeface="Arial MT"/>
            </a:endParaRPr>
          </a:p>
          <a:p>
            <a:pPr>
              <a:lnSpc>
                <a:spcPct val="100000"/>
              </a:lnSpc>
              <a:spcBef>
                <a:spcPts val="15"/>
              </a:spcBef>
            </a:pPr>
            <a:endParaRPr sz="1250" dirty="0">
              <a:latin typeface="Arial MT"/>
              <a:cs typeface="Arial MT"/>
            </a:endParaRPr>
          </a:p>
          <a:p>
            <a:pPr marL="12700" marR="113664" indent="-635" algn="ctr">
              <a:lnSpc>
                <a:spcPts val="3170"/>
              </a:lnSpc>
            </a:pPr>
            <a:r>
              <a:rPr sz="2650" dirty="0">
                <a:cs typeface="Arial MT"/>
              </a:rPr>
              <a:t>(a) </a:t>
            </a:r>
            <a:r>
              <a:rPr sz="2650" spc="5" dirty="0">
                <a:cs typeface="Arial MT"/>
              </a:rPr>
              <a:t>initial; </a:t>
            </a:r>
            <a:r>
              <a:rPr sz="2650" dirty="0">
                <a:cs typeface="Arial MT"/>
              </a:rPr>
              <a:t>(b) </a:t>
            </a:r>
            <a:r>
              <a:rPr sz="2650" spc="5" dirty="0">
                <a:cs typeface="Arial MT"/>
              </a:rPr>
              <a:t>after first frame </a:t>
            </a:r>
            <a:r>
              <a:rPr sz="2650" spc="10" dirty="0">
                <a:cs typeface="Arial MT"/>
              </a:rPr>
              <a:t>sent; </a:t>
            </a:r>
            <a:r>
              <a:rPr sz="2650" dirty="0">
                <a:cs typeface="Arial MT"/>
              </a:rPr>
              <a:t>(c) </a:t>
            </a:r>
            <a:r>
              <a:rPr sz="2650" spc="5" dirty="0">
                <a:cs typeface="Arial MT"/>
              </a:rPr>
              <a:t>first </a:t>
            </a:r>
            <a:r>
              <a:rPr sz="2650" dirty="0">
                <a:cs typeface="Arial MT"/>
              </a:rPr>
              <a:t>frame </a:t>
            </a:r>
            <a:r>
              <a:rPr sz="2650" spc="-725" dirty="0">
                <a:cs typeface="Arial MT"/>
              </a:rPr>
              <a:t> </a:t>
            </a:r>
            <a:r>
              <a:rPr sz="2650" dirty="0">
                <a:cs typeface="Arial MT"/>
              </a:rPr>
              <a:t>received; (d) </a:t>
            </a:r>
            <a:r>
              <a:rPr sz="2650" spc="5" dirty="0">
                <a:cs typeface="Arial MT"/>
              </a:rPr>
              <a:t>first</a:t>
            </a:r>
            <a:r>
              <a:rPr sz="2650" spc="-5" dirty="0">
                <a:cs typeface="Arial MT"/>
              </a:rPr>
              <a:t> </a:t>
            </a:r>
            <a:r>
              <a:rPr sz="2650" spc="5" dirty="0">
                <a:cs typeface="Arial MT"/>
              </a:rPr>
              <a:t>frame </a:t>
            </a:r>
            <a:r>
              <a:rPr sz="2650" dirty="0">
                <a:cs typeface="Arial MT"/>
              </a:rPr>
              <a:t>acknowledged</a:t>
            </a: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137AB-B462-33BB-EAC1-4D4A05CA43F8}"/>
              </a:ext>
            </a:extLst>
          </p:cNvPr>
          <p:cNvSpPr>
            <a:spLocks noGrp="1"/>
          </p:cNvSpPr>
          <p:nvPr>
            <p:ph type="title"/>
          </p:nvPr>
        </p:nvSpPr>
        <p:spPr>
          <a:xfrm>
            <a:off x="691515" y="316560"/>
            <a:ext cx="8675370" cy="646331"/>
          </a:xfrm>
        </p:spPr>
        <p:txBody>
          <a:bodyPr/>
          <a:lstStyle/>
          <a:p>
            <a:r>
              <a:rPr lang="en-US" spc="-10" dirty="0"/>
              <a:t>Sliding</a:t>
            </a:r>
            <a:r>
              <a:rPr lang="en-US" spc="10" dirty="0"/>
              <a:t> </a:t>
            </a:r>
            <a:r>
              <a:rPr lang="en-US" spc="-15" dirty="0"/>
              <a:t>Window Protocol</a:t>
            </a:r>
            <a:endParaRPr lang="en-US" dirty="0"/>
          </a:p>
        </p:txBody>
      </p:sp>
      <p:sp>
        <p:nvSpPr>
          <p:cNvPr id="3" name="Content Placeholder 2">
            <a:extLst>
              <a:ext uri="{FF2B5EF4-FFF2-40B4-BE49-F238E27FC236}">
                <a16:creationId xmlns:a16="http://schemas.microsoft.com/office/drawing/2014/main" id="{756A1263-7C05-CBE6-C240-2ECF608EAB99}"/>
              </a:ext>
            </a:extLst>
          </p:cNvPr>
          <p:cNvSpPr>
            <a:spLocks noGrp="1"/>
          </p:cNvSpPr>
          <p:nvPr>
            <p:ph idx="1"/>
          </p:nvPr>
        </p:nvSpPr>
        <p:spPr>
          <a:xfrm>
            <a:off x="623198" y="1143000"/>
            <a:ext cx="8675370" cy="4931516"/>
          </a:xfrm>
        </p:spPr>
        <p:txBody>
          <a:bodyPr/>
          <a:lstStyle/>
          <a:p>
            <a:pPr algn="just"/>
            <a:r>
              <a:rPr lang="en-US" sz="1800" b="0" i="0" u="none" strike="noStrike" baseline="0" dirty="0">
                <a:latin typeface="Times-Roman"/>
              </a:rPr>
              <a:t>The essence of all sliding window protocols is that at any instant of time, the sender maintains a set of sequence numbers corresponding to frames it is permitted to send. These frames are said to fall within the </a:t>
            </a:r>
            <a:r>
              <a:rPr lang="en-US" sz="1800" b="1" i="0" u="none" strike="noStrike" baseline="0" dirty="0">
                <a:latin typeface="Times-Bold"/>
              </a:rPr>
              <a:t>sending window</a:t>
            </a:r>
            <a:r>
              <a:rPr lang="en-US" sz="1800" b="0" i="0" u="none" strike="noStrike" baseline="0" dirty="0">
                <a:latin typeface="Times-Roman"/>
              </a:rPr>
              <a:t>. Similarly, the receiver also maintains a </a:t>
            </a:r>
            <a:r>
              <a:rPr lang="en-US" sz="1800" b="1" i="0" u="none" strike="noStrike" baseline="0" dirty="0">
                <a:latin typeface="Times-Bold"/>
              </a:rPr>
              <a:t>receiving window </a:t>
            </a:r>
            <a:r>
              <a:rPr lang="en-US" sz="1800" b="0" i="0" u="none" strike="noStrike" baseline="0" dirty="0">
                <a:latin typeface="Times-Roman"/>
              </a:rPr>
              <a:t>corresponding to the set of frames it is permitted to accept.</a:t>
            </a:r>
          </a:p>
          <a:p>
            <a:pPr algn="just"/>
            <a:r>
              <a:rPr lang="en-US" sz="1800" b="0" i="0" u="none" strike="noStrike" baseline="0" dirty="0">
                <a:latin typeface="Times-Roman"/>
              </a:rPr>
              <a:t>The sender’s window and the receiver’s window need not have the same lower and upper limits or even have the same size.</a:t>
            </a:r>
            <a:endParaRPr lang="en-US" dirty="0"/>
          </a:p>
        </p:txBody>
      </p:sp>
      <p:sp>
        <p:nvSpPr>
          <p:cNvPr id="7" name="TextBox 6">
            <a:extLst>
              <a:ext uri="{FF2B5EF4-FFF2-40B4-BE49-F238E27FC236}">
                <a16:creationId xmlns:a16="http://schemas.microsoft.com/office/drawing/2014/main" id="{8F18362B-4434-50C6-DF7D-E8F38D105AF5}"/>
              </a:ext>
            </a:extLst>
          </p:cNvPr>
          <p:cNvSpPr txBox="1"/>
          <p:nvPr/>
        </p:nvSpPr>
        <p:spPr>
          <a:xfrm>
            <a:off x="1300525" y="6712260"/>
            <a:ext cx="8029574" cy="646331"/>
          </a:xfrm>
          <a:prstGeom prst="rect">
            <a:avLst/>
          </a:prstGeom>
          <a:noFill/>
        </p:spPr>
        <p:txBody>
          <a:bodyPr wrap="square">
            <a:spAutoFit/>
          </a:bodyPr>
          <a:lstStyle/>
          <a:p>
            <a:pPr algn="l"/>
            <a:r>
              <a:rPr lang="en-US" sz="1800" b="0" i="0" u="none" strike="noStrike" baseline="0" dirty="0">
                <a:latin typeface="Times-Roman"/>
              </a:rPr>
              <a:t>The sequence numbers within the sender’s window represent frames that have been sent or can be sent but are as yet not acknowledged.</a:t>
            </a:r>
            <a:endParaRPr lang="en-US" dirty="0"/>
          </a:p>
        </p:txBody>
      </p:sp>
      <p:pic>
        <p:nvPicPr>
          <p:cNvPr id="9" name="Picture 8">
            <a:extLst>
              <a:ext uri="{FF2B5EF4-FFF2-40B4-BE49-F238E27FC236}">
                <a16:creationId xmlns:a16="http://schemas.microsoft.com/office/drawing/2014/main" id="{F38ABE11-BFEB-EE95-F8EE-7A759CBB6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1555" y="2969365"/>
            <a:ext cx="6535290" cy="3285260"/>
          </a:xfrm>
          <a:prstGeom prst="rect">
            <a:avLst/>
          </a:prstGeom>
        </p:spPr>
      </p:pic>
      <p:sp>
        <p:nvSpPr>
          <p:cNvPr id="10" name="TextBox 9">
            <a:extLst>
              <a:ext uri="{FF2B5EF4-FFF2-40B4-BE49-F238E27FC236}">
                <a16:creationId xmlns:a16="http://schemas.microsoft.com/office/drawing/2014/main" id="{1AD8F123-A18B-CEE3-BC1E-1E72D711572A}"/>
              </a:ext>
            </a:extLst>
          </p:cNvPr>
          <p:cNvSpPr txBox="1"/>
          <p:nvPr/>
        </p:nvSpPr>
        <p:spPr>
          <a:xfrm>
            <a:off x="4191000" y="4038600"/>
            <a:ext cx="1341383" cy="646331"/>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Already Sent and Acknowledged </a:t>
            </a:r>
          </a:p>
        </p:txBody>
      </p:sp>
      <p:sp>
        <p:nvSpPr>
          <p:cNvPr id="12" name="Left Brace 11">
            <a:extLst>
              <a:ext uri="{FF2B5EF4-FFF2-40B4-BE49-F238E27FC236}">
                <a16:creationId xmlns:a16="http://schemas.microsoft.com/office/drawing/2014/main" id="{9E670B8D-C99D-D62E-6330-A989C45DC12F}"/>
              </a:ext>
            </a:extLst>
          </p:cNvPr>
          <p:cNvSpPr/>
          <p:nvPr/>
        </p:nvSpPr>
        <p:spPr>
          <a:xfrm rot="16200000">
            <a:off x="4652010" y="3647555"/>
            <a:ext cx="274319" cy="55626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ectangle 12">
            <a:extLst>
              <a:ext uri="{FF2B5EF4-FFF2-40B4-BE49-F238E27FC236}">
                <a16:creationId xmlns:a16="http://schemas.microsoft.com/office/drawing/2014/main" id="{7B4B3F5A-5025-CB06-632C-3C201B35B1EC}"/>
              </a:ext>
            </a:extLst>
          </p:cNvPr>
          <p:cNvSpPr/>
          <p:nvPr/>
        </p:nvSpPr>
        <p:spPr>
          <a:xfrm>
            <a:off x="3733800" y="5715000"/>
            <a:ext cx="1341383"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3616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515" y="858788"/>
            <a:ext cx="8675370" cy="612347"/>
          </a:xfrm>
          <a:prstGeom prst="rect">
            <a:avLst/>
          </a:prstGeom>
        </p:spPr>
        <p:txBody>
          <a:bodyPr vert="horz" wrap="square" lIns="0" tIns="85725" rIns="0" bIns="0" rtlCol="0">
            <a:spAutoFit/>
          </a:bodyPr>
          <a:lstStyle/>
          <a:p>
            <a:pPr marL="12700" marR="5080">
              <a:lnSpc>
                <a:spcPts val="4100"/>
              </a:lnSpc>
              <a:spcBef>
                <a:spcPts val="675"/>
              </a:spcBef>
            </a:pPr>
            <a:r>
              <a:rPr lang="en-US" spc="-5" dirty="0"/>
              <a:t>3.4.1 </a:t>
            </a:r>
            <a:r>
              <a:rPr spc="-5" dirty="0"/>
              <a:t>One-Bit </a:t>
            </a:r>
            <a:r>
              <a:rPr spc="-10" dirty="0"/>
              <a:t>Sliding </a:t>
            </a:r>
            <a:r>
              <a:rPr spc="-15" dirty="0"/>
              <a:t>Window</a:t>
            </a:r>
            <a:r>
              <a:rPr lang="en-US" spc="-15" dirty="0"/>
              <a:t> Protocol</a:t>
            </a:r>
            <a:endParaRPr spc="-10" dirty="0"/>
          </a:p>
        </p:txBody>
      </p:sp>
      <p:sp>
        <p:nvSpPr>
          <p:cNvPr id="4" name="object 4"/>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42</a:t>
            </a:fld>
            <a:r>
              <a:rPr spc="10" dirty="0"/>
              <a:t>/69</a:t>
            </a:r>
          </a:p>
        </p:txBody>
      </p:sp>
      <p:sp>
        <p:nvSpPr>
          <p:cNvPr id="6" name="TextBox 5">
            <a:extLst>
              <a:ext uri="{FF2B5EF4-FFF2-40B4-BE49-F238E27FC236}">
                <a16:creationId xmlns:a16="http://schemas.microsoft.com/office/drawing/2014/main" id="{ABF0CD5D-235E-135B-7AE7-242F603FFF8B}"/>
              </a:ext>
            </a:extLst>
          </p:cNvPr>
          <p:cNvSpPr txBox="1"/>
          <p:nvPr/>
        </p:nvSpPr>
        <p:spPr>
          <a:xfrm>
            <a:off x="1143000" y="1828800"/>
            <a:ext cx="7924800" cy="4401205"/>
          </a:xfrm>
          <a:prstGeom prst="rect">
            <a:avLst/>
          </a:prstGeom>
          <a:noFill/>
        </p:spPr>
        <p:txBody>
          <a:bodyPr wrap="square">
            <a:spAutoFit/>
          </a:bodyPr>
          <a:lstStyle/>
          <a:p>
            <a:pPr marL="285750" indent="-285750" algn="just">
              <a:buFont typeface="Arial" panose="020B0604020202020204" pitchFamily="34" charset="0"/>
              <a:buChar char="•"/>
            </a:pPr>
            <a:r>
              <a:rPr lang="en-US" sz="2400" b="0" i="0" u="none" strike="noStrike" baseline="0" dirty="0">
                <a:latin typeface="Times-Roman"/>
              </a:rPr>
              <a:t>Window Size, W=1 (Both Sender &amp; Receiver)</a:t>
            </a:r>
          </a:p>
          <a:p>
            <a:pPr marL="285750" indent="-285750" algn="just">
              <a:buFont typeface="Arial" panose="020B0604020202020204" pitchFamily="34" charset="0"/>
              <a:buChar char="•"/>
            </a:pPr>
            <a:r>
              <a:rPr lang="en-US" sz="2400" b="0" i="0" u="none" strike="noStrike" baseline="0" dirty="0">
                <a:latin typeface="Times-Roman"/>
              </a:rPr>
              <a:t>Similar to stop-and-wait</a:t>
            </a:r>
          </a:p>
          <a:p>
            <a:pPr algn="just"/>
            <a:endParaRPr lang="en-US" sz="2400" b="0" i="0" u="none" strike="noStrike" baseline="0" dirty="0">
              <a:latin typeface="Times-Roman"/>
            </a:endParaRPr>
          </a:p>
          <a:p>
            <a:pPr marL="285750" indent="-285750" algn="just">
              <a:buFont typeface="Arial" panose="020B0604020202020204" pitchFamily="34" charset="0"/>
              <a:buChar char="•"/>
            </a:pPr>
            <a:r>
              <a:rPr lang="en-US" sz="2400" dirty="0">
                <a:latin typeface="Times-Roman"/>
              </a:rPr>
              <a:t>Two circumstances can happen:</a:t>
            </a:r>
          </a:p>
          <a:p>
            <a:pPr algn="just"/>
            <a:endParaRPr lang="en-US" sz="2400" dirty="0">
              <a:latin typeface="Times-Roman"/>
            </a:endParaRPr>
          </a:p>
          <a:p>
            <a:pPr marL="800100" lvl="1" indent="-342900" algn="just">
              <a:buFont typeface="+mj-lt"/>
              <a:buAutoNum type="arabicPeriod"/>
            </a:pPr>
            <a:r>
              <a:rPr lang="en-US" sz="2000" b="1" i="0" u="none" strike="noStrike" baseline="0" dirty="0">
                <a:latin typeface="Times-Roman"/>
              </a:rPr>
              <a:t>Under normal circumstances</a:t>
            </a:r>
            <a:r>
              <a:rPr lang="en-US" sz="2000" b="0" i="0" u="none" strike="noStrike" baseline="0" dirty="0">
                <a:latin typeface="Times-Roman"/>
              </a:rPr>
              <a:t>, one of the two data link layers goes first and transmits the first frame. No combination of lost frames or premature timeouts can cause the protocol to deliver duplicate packets to either network layer, to skip a packet, or to deadlock. The protocol is correct. (No duplicate)</a:t>
            </a:r>
          </a:p>
          <a:p>
            <a:pPr lvl="1" algn="just"/>
            <a:endParaRPr lang="en-US" sz="2000" b="0" i="0" u="none" strike="noStrike" baseline="0" dirty="0">
              <a:latin typeface="Times-Roman"/>
            </a:endParaRPr>
          </a:p>
          <a:p>
            <a:pPr marL="800100" lvl="1" indent="-342900" algn="just">
              <a:buFont typeface="+mj-lt"/>
              <a:buAutoNum type="arabicPeriod"/>
            </a:pPr>
            <a:r>
              <a:rPr lang="en-US" sz="2000" b="1" dirty="0"/>
              <a:t>In a peculiar situation, </a:t>
            </a:r>
            <a:r>
              <a:rPr lang="en-US" sz="2000" dirty="0"/>
              <a:t>both sides simultaneously send an initial packet which causes </a:t>
            </a:r>
            <a:r>
              <a:rPr lang="en-US" sz="2000" b="0" i="0" u="none" strike="noStrike" baseline="0" dirty="0">
                <a:latin typeface="Times-Roman"/>
              </a:rPr>
              <a:t>synchronization difficulty. (Many duplicates)</a:t>
            </a:r>
            <a:endParaRPr lang="en-US" sz="2000" dirty="0"/>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6357" y="224740"/>
            <a:ext cx="8300085" cy="614912"/>
          </a:xfrm>
          <a:prstGeom prst="rect">
            <a:avLst/>
          </a:prstGeom>
        </p:spPr>
        <p:txBody>
          <a:bodyPr vert="horz" wrap="square" lIns="0" tIns="75565" rIns="0" bIns="0" rtlCol="0">
            <a:spAutoFit/>
          </a:bodyPr>
          <a:lstStyle/>
          <a:p>
            <a:pPr marL="12700" marR="5080">
              <a:lnSpc>
                <a:spcPts val="4200"/>
              </a:lnSpc>
              <a:spcBef>
                <a:spcPts val="595"/>
              </a:spcBef>
            </a:pPr>
            <a:r>
              <a:rPr spc="-5" dirty="0"/>
              <a:t>One-Bit </a:t>
            </a:r>
            <a:r>
              <a:rPr spc="-10" dirty="0"/>
              <a:t>Sliding </a:t>
            </a:r>
            <a:r>
              <a:rPr spc="-15" dirty="0"/>
              <a:t>Window </a:t>
            </a:r>
            <a:r>
              <a:rPr spc="-1055" dirty="0"/>
              <a:t> </a:t>
            </a:r>
            <a:r>
              <a:rPr spc="15" dirty="0"/>
              <a:t>Normal</a:t>
            </a:r>
            <a:r>
              <a:rPr spc="-20" dirty="0"/>
              <a:t> </a:t>
            </a:r>
            <a:r>
              <a:rPr spc="-5" dirty="0"/>
              <a:t>Case</a:t>
            </a:r>
          </a:p>
        </p:txBody>
      </p:sp>
      <p:sp>
        <p:nvSpPr>
          <p:cNvPr id="36" name="object 36"/>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43</a:t>
            </a:fld>
            <a:r>
              <a:rPr spc="10" dirty="0"/>
              <a:t>/69</a:t>
            </a:r>
          </a:p>
        </p:txBody>
      </p:sp>
      <p:grpSp>
        <p:nvGrpSpPr>
          <p:cNvPr id="3" name="object 3"/>
          <p:cNvGrpSpPr/>
          <p:nvPr/>
        </p:nvGrpSpPr>
        <p:grpSpPr>
          <a:xfrm>
            <a:off x="7257084" y="2606826"/>
            <a:ext cx="80645" cy="3926204"/>
            <a:chOff x="8157641" y="2530716"/>
            <a:chExt cx="80645" cy="3926204"/>
          </a:xfrm>
        </p:grpSpPr>
        <p:sp>
          <p:nvSpPr>
            <p:cNvPr id="4" name="object 4"/>
            <p:cNvSpPr/>
            <p:nvPr/>
          </p:nvSpPr>
          <p:spPr>
            <a:xfrm>
              <a:off x="8197964" y="2530716"/>
              <a:ext cx="0" cy="3858895"/>
            </a:xfrm>
            <a:custGeom>
              <a:avLst/>
              <a:gdLst/>
              <a:ahLst/>
              <a:cxnLst/>
              <a:rect l="l" t="t" r="r" b="b"/>
              <a:pathLst>
                <a:path h="3858895">
                  <a:moveTo>
                    <a:pt x="0" y="3858488"/>
                  </a:moveTo>
                  <a:lnTo>
                    <a:pt x="0" y="0"/>
                  </a:lnTo>
                </a:path>
              </a:pathLst>
            </a:custGeom>
            <a:ln w="14486">
              <a:solidFill>
                <a:srgbClr val="000000"/>
              </a:solidFill>
            </a:ln>
          </p:spPr>
          <p:txBody>
            <a:bodyPr wrap="square" lIns="0" tIns="0" rIns="0" bIns="0" rtlCol="0"/>
            <a:lstStyle/>
            <a:p>
              <a:endParaRPr/>
            </a:p>
          </p:txBody>
        </p:sp>
        <p:sp>
          <p:nvSpPr>
            <p:cNvPr id="5" name="object 5"/>
            <p:cNvSpPr/>
            <p:nvPr/>
          </p:nvSpPr>
          <p:spPr>
            <a:xfrm>
              <a:off x="8157641" y="6306972"/>
              <a:ext cx="80645" cy="149860"/>
            </a:xfrm>
            <a:custGeom>
              <a:avLst/>
              <a:gdLst/>
              <a:ahLst/>
              <a:cxnLst/>
              <a:rect l="l" t="t" r="r" b="b"/>
              <a:pathLst>
                <a:path w="80645" h="149860">
                  <a:moveTo>
                    <a:pt x="80022" y="0"/>
                  </a:moveTo>
                  <a:lnTo>
                    <a:pt x="0" y="0"/>
                  </a:lnTo>
                  <a:lnTo>
                    <a:pt x="39865" y="149364"/>
                  </a:lnTo>
                  <a:lnTo>
                    <a:pt x="80022" y="0"/>
                  </a:lnTo>
                  <a:close/>
                </a:path>
              </a:pathLst>
            </a:custGeom>
            <a:solidFill>
              <a:srgbClr val="000000"/>
            </a:solidFill>
          </p:spPr>
          <p:txBody>
            <a:bodyPr wrap="square" lIns="0" tIns="0" rIns="0" bIns="0" rtlCol="0"/>
            <a:lstStyle/>
            <a:p>
              <a:endParaRPr/>
            </a:p>
          </p:txBody>
        </p:sp>
        <p:sp>
          <p:nvSpPr>
            <p:cNvPr id="6" name="object 6"/>
            <p:cNvSpPr/>
            <p:nvPr/>
          </p:nvSpPr>
          <p:spPr>
            <a:xfrm>
              <a:off x="8197506" y="6316027"/>
              <a:ext cx="0" cy="80010"/>
            </a:xfrm>
            <a:custGeom>
              <a:avLst/>
              <a:gdLst/>
              <a:ahLst/>
              <a:cxnLst/>
              <a:rect l="l" t="t" r="r" b="b"/>
              <a:pathLst>
                <a:path h="80010">
                  <a:moveTo>
                    <a:pt x="0" y="0"/>
                  </a:moveTo>
                  <a:lnTo>
                    <a:pt x="0" y="80010"/>
                  </a:lnTo>
                </a:path>
              </a:pathLst>
            </a:custGeom>
            <a:ln w="14486">
              <a:solidFill>
                <a:srgbClr val="000000"/>
              </a:solidFill>
            </a:ln>
          </p:spPr>
          <p:txBody>
            <a:bodyPr wrap="square" lIns="0" tIns="0" rIns="0" bIns="0" rtlCol="0"/>
            <a:lstStyle/>
            <a:p>
              <a:endParaRPr/>
            </a:p>
          </p:txBody>
        </p:sp>
      </p:grpSp>
      <p:grpSp>
        <p:nvGrpSpPr>
          <p:cNvPr id="7" name="object 7"/>
          <p:cNvGrpSpPr/>
          <p:nvPr/>
        </p:nvGrpSpPr>
        <p:grpSpPr>
          <a:xfrm>
            <a:off x="4010094" y="2733450"/>
            <a:ext cx="1027430" cy="306705"/>
            <a:chOff x="4910651" y="2657340"/>
            <a:chExt cx="1027430" cy="306705"/>
          </a:xfrm>
        </p:grpSpPr>
        <p:sp>
          <p:nvSpPr>
            <p:cNvPr id="8" name="object 8"/>
            <p:cNvSpPr/>
            <p:nvPr/>
          </p:nvSpPr>
          <p:spPr>
            <a:xfrm>
              <a:off x="4922240" y="2668930"/>
              <a:ext cx="951230" cy="275590"/>
            </a:xfrm>
            <a:custGeom>
              <a:avLst/>
              <a:gdLst/>
              <a:ahLst/>
              <a:cxnLst/>
              <a:rect l="l" t="t" r="r" b="b"/>
              <a:pathLst>
                <a:path w="951229" h="275589">
                  <a:moveTo>
                    <a:pt x="950963" y="275450"/>
                  </a:moveTo>
                  <a:lnTo>
                    <a:pt x="0" y="0"/>
                  </a:lnTo>
                </a:path>
              </a:pathLst>
            </a:custGeom>
            <a:ln w="23179">
              <a:solidFill>
                <a:srgbClr val="000000"/>
              </a:solidFill>
            </a:ln>
          </p:spPr>
          <p:txBody>
            <a:bodyPr wrap="square" lIns="0" tIns="0" rIns="0" bIns="0" rtlCol="0"/>
            <a:lstStyle/>
            <a:p>
              <a:endParaRPr/>
            </a:p>
          </p:txBody>
        </p:sp>
        <p:sp>
          <p:nvSpPr>
            <p:cNvPr id="9" name="object 9"/>
            <p:cNvSpPr/>
            <p:nvPr/>
          </p:nvSpPr>
          <p:spPr>
            <a:xfrm>
              <a:off x="5783008" y="2883395"/>
              <a:ext cx="154940" cy="80645"/>
            </a:xfrm>
            <a:custGeom>
              <a:avLst/>
              <a:gdLst/>
              <a:ahLst/>
              <a:cxnLst/>
              <a:rect l="l" t="t" r="r" b="b"/>
              <a:pathLst>
                <a:path w="154939" h="80644">
                  <a:moveTo>
                    <a:pt x="154546" y="80137"/>
                  </a:moveTo>
                  <a:lnTo>
                    <a:pt x="22250" y="0"/>
                  </a:lnTo>
                  <a:lnTo>
                    <a:pt x="0" y="76860"/>
                  </a:lnTo>
                  <a:lnTo>
                    <a:pt x="154546" y="80137"/>
                  </a:lnTo>
                  <a:close/>
                </a:path>
              </a:pathLst>
            </a:custGeom>
            <a:solidFill>
              <a:srgbClr val="000000"/>
            </a:solidFill>
          </p:spPr>
          <p:txBody>
            <a:bodyPr wrap="square" lIns="0" tIns="0" rIns="0" bIns="0" rtlCol="0"/>
            <a:lstStyle/>
            <a:p>
              <a:endParaRPr/>
            </a:p>
          </p:txBody>
        </p:sp>
        <p:sp>
          <p:nvSpPr>
            <p:cNvPr id="10" name="object 10"/>
            <p:cNvSpPr/>
            <p:nvPr/>
          </p:nvSpPr>
          <p:spPr>
            <a:xfrm>
              <a:off x="5802795" y="2924479"/>
              <a:ext cx="76835" cy="22860"/>
            </a:xfrm>
            <a:custGeom>
              <a:avLst/>
              <a:gdLst/>
              <a:ahLst/>
              <a:cxnLst/>
              <a:rect l="l" t="t" r="r" b="b"/>
              <a:pathLst>
                <a:path w="76835" h="22860">
                  <a:moveTo>
                    <a:pt x="0" y="0"/>
                  </a:moveTo>
                  <a:lnTo>
                    <a:pt x="76835" y="22250"/>
                  </a:lnTo>
                </a:path>
              </a:pathLst>
            </a:custGeom>
            <a:ln w="14486">
              <a:solidFill>
                <a:srgbClr val="000000"/>
              </a:solidFill>
            </a:ln>
          </p:spPr>
          <p:txBody>
            <a:bodyPr wrap="square" lIns="0" tIns="0" rIns="0" bIns="0" rtlCol="0"/>
            <a:lstStyle/>
            <a:p>
              <a:endParaRPr/>
            </a:p>
          </p:txBody>
        </p:sp>
      </p:grpSp>
      <p:grpSp>
        <p:nvGrpSpPr>
          <p:cNvPr id="11" name="object 11"/>
          <p:cNvGrpSpPr/>
          <p:nvPr/>
        </p:nvGrpSpPr>
        <p:grpSpPr>
          <a:xfrm>
            <a:off x="3977645" y="3955381"/>
            <a:ext cx="1059815" cy="172720"/>
            <a:chOff x="4878202" y="3879271"/>
            <a:chExt cx="1059815" cy="172720"/>
          </a:xfrm>
        </p:grpSpPr>
        <p:sp>
          <p:nvSpPr>
            <p:cNvPr id="12" name="object 12"/>
            <p:cNvSpPr/>
            <p:nvPr/>
          </p:nvSpPr>
          <p:spPr>
            <a:xfrm>
              <a:off x="4889792" y="3890860"/>
              <a:ext cx="981710" cy="132080"/>
            </a:xfrm>
            <a:custGeom>
              <a:avLst/>
              <a:gdLst/>
              <a:ahLst/>
              <a:cxnLst/>
              <a:rect l="l" t="t" r="r" b="b"/>
              <a:pathLst>
                <a:path w="981710" h="132079">
                  <a:moveTo>
                    <a:pt x="981290" y="131483"/>
                  </a:moveTo>
                  <a:lnTo>
                    <a:pt x="0" y="0"/>
                  </a:lnTo>
                </a:path>
              </a:pathLst>
            </a:custGeom>
            <a:ln w="23179">
              <a:solidFill>
                <a:srgbClr val="000000"/>
              </a:solidFill>
            </a:ln>
          </p:spPr>
          <p:txBody>
            <a:bodyPr wrap="square" lIns="0" tIns="0" rIns="0" bIns="0" rtlCol="0"/>
            <a:lstStyle/>
            <a:p>
              <a:endParaRPr/>
            </a:p>
          </p:txBody>
        </p:sp>
        <p:sp>
          <p:nvSpPr>
            <p:cNvPr id="13" name="object 13"/>
            <p:cNvSpPr/>
            <p:nvPr/>
          </p:nvSpPr>
          <p:spPr>
            <a:xfrm>
              <a:off x="5784227" y="3972090"/>
              <a:ext cx="153670" cy="79375"/>
            </a:xfrm>
            <a:custGeom>
              <a:avLst/>
              <a:gdLst/>
              <a:ahLst/>
              <a:cxnLst/>
              <a:rect l="l" t="t" r="r" b="b"/>
              <a:pathLst>
                <a:path w="153670" h="79375">
                  <a:moveTo>
                    <a:pt x="153327" y="59639"/>
                  </a:moveTo>
                  <a:lnTo>
                    <a:pt x="10629" y="0"/>
                  </a:lnTo>
                  <a:lnTo>
                    <a:pt x="0" y="79336"/>
                  </a:lnTo>
                  <a:lnTo>
                    <a:pt x="153327" y="59639"/>
                  </a:lnTo>
                  <a:close/>
                </a:path>
              </a:pathLst>
            </a:custGeom>
            <a:solidFill>
              <a:srgbClr val="000000"/>
            </a:solidFill>
          </p:spPr>
          <p:txBody>
            <a:bodyPr wrap="square" lIns="0" tIns="0" rIns="0" bIns="0" rtlCol="0"/>
            <a:lstStyle/>
            <a:p>
              <a:endParaRPr/>
            </a:p>
          </p:txBody>
        </p:sp>
        <p:sp>
          <p:nvSpPr>
            <p:cNvPr id="14" name="object 14"/>
            <p:cNvSpPr/>
            <p:nvPr/>
          </p:nvSpPr>
          <p:spPr>
            <a:xfrm>
              <a:off x="5798502" y="4013098"/>
              <a:ext cx="79375" cy="10795"/>
            </a:xfrm>
            <a:custGeom>
              <a:avLst/>
              <a:gdLst/>
              <a:ahLst/>
              <a:cxnLst/>
              <a:rect l="l" t="t" r="r" b="b"/>
              <a:pathLst>
                <a:path w="79375" h="10795">
                  <a:moveTo>
                    <a:pt x="0" y="0"/>
                  </a:moveTo>
                  <a:lnTo>
                    <a:pt x="79298" y="10617"/>
                  </a:lnTo>
                </a:path>
              </a:pathLst>
            </a:custGeom>
            <a:ln w="14486">
              <a:solidFill>
                <a:srgbClr val="000000"/>
              </a:solidFill>
            </a:ln>
          </p:spPr>
          <p:txBody>
            <a:bodyPr wrap="square" lIns="0" tIns="0" rIns="0" bIns="0" rtlCol="0"/>
            <a:lstStyle/>
            <a:p>
              <a:endParaRPr/>
            </a:p>
          </p:txBody>
        </p:sp>
      </p:grpSp>
      <p:grpSp>
        <p:nvGrpSpPr>
          <p:cNvPr id="15" name="object 15"/>
          <p:cNvGrpSpPr/>
          <p:nvPr/>
        </p:nvGrpSpPr>
        <p:grpSpPr>
          <a:xfrm>
            <a:off x="3964241" y="3348118"/>
            <a:ext cx="1024890" cy="313690"/>
            <a:chOff x="4864798" y="3272008"/>
            <a:chExt cx="1024890" cy="313690"/>
          </a:xfrm>
        </p:grpSpPr>
        <p:sp>
          <p:nvSpPr>
            <p:cNvPr id="16" name="object 16"/>
            <p:cNvSpPr/>
            <p:nvPr/>
          </p:nvSpPr>
          <p:spPr>
            <a:xfrm>
              <a:off x="4929022" y="3283597"/>
              <a:ext cx="949325" cy="282575"/>
            </a:xfrm>
            <a:custGeom>
              <a:avLst/>
              <a:gdLst/>
              <a:ahLst/>
              <a:cxnLst/>
              <a:rect l="l" t="t" r="r" b="b"/>
              <a:pathLst>
                <a:path w="949325" h="282575">
                  <a:moveTo>
                    <a:pt x="0" y="282003"/>
                  </a:moveTo>
                  <a:lnTo>
                    <a:pt x="949045" y="0"/>
                  </a:lnTo>
                </a:path>
              </a:pathLst>
            </a:custGeom>
            <a:ln w="23179">
              <a:solidFill>
                <a:srgbClr val="000000"/>
              </a:solidFill>
            </a:ln>
          </p:spPr>
          <p:txBody>
            <a:bodyPr wrap="square" lIns="0" tIns="0" rIns="0" bIns="0" rtlCol="0"/>
            <a:lstStyle/>
            <a:p>
              <a:endParaRPr/>
            </a:p>
          </p:txBody>
        </p:sp>
        <p:sp>
          <p:nvSpPr>
            <p:cNvPr id="17" name="object 17"/>
            <p:cNvSpPr/>
            <p:nvPr/>
          </p:nvSpPr>
          <p:spPr>
            <a:xfrm>
              <a:off x="4864798" y="3504120"/>
              <a:ext cx="154940" cy="81280"/>
            </a:xfrm>
            <a:custGeom>
              <a:avLst/>
              <a:gdLst/>
              <a:ahLst/>
              <a:cxnLst/>
              <a:rect l="l" t="t" r="r" b="b"/>
              <a:pathLst>
                <a:path w="154939" h="81279">
                  <a:moveTo>
                    <a:pt x="154533" y="76720"/>
                  </a:moveTo>
                  <a:lnTo>
                    <a:pt x="131737" y="0"/>
                  </a:lnTo>
                  <a:lnTo>
                    <a:pt x="0" y="81038"/>
                  </a:lnTo>
                  <a:lnTo>
                    <a:pt x="154533" y="76720"/>
                  </a:lnTo>
                  <a:close/>
                </a:path>
              </a:pathLst>
            </a:custGeom>
            <a:solidFill>
              <a:srgbClr val="000000"/>
            </a:solidFill>
          </p:spPr>
          <p:txBody>
            <a:bodyPr wrap="square" lIns="0" tIns="0" rIns="0" bIns="0" rtlCol="0"/>
            <a:lstStyle/>
            <a:p>
              <a:endParaRPr/>
            </a:p>
          </p:txBody>
        </p:sp>
        <p:sp>
          <p:nvSpPr>
            <p:cNvPr id="18" name="object 18"/>
            <p:cNvSpPr/>
            <p:nvPr/>
          </p:nvSpPr>
          <p:spPr>
            <a:xfrm>
              <a:off x="4922596" y="3545205"/>
              <a:ext cx="76835" cy="22860"/>
            </a:xfrm>
            <a:custGeom>
              <a:avLst/>
              <a:gdLst/>
              <a:ahLst/>
              <a:cxnLst/>
              <a:rect l="l" t="t" r="r" b="b"/>
              <a:pathLst>
                <a:path w="76835" h="22860">
                  <a:moveTo>
                    <a:pt x="76695" y="0"/>
                  </a:moveTo>
                  <a:lnTo>
                    <a:pt x="0" y="22771"/>
                  </a:lnTo>
                </a:path>
              </a:pathLst>
            </a:custGeom>
            <a:ln w="14486">
              <a:solidFill>
                <a:srgbClr val="000000"/>
              </a:solidFill>
            </a:ln>
          </p:spPr>
          <p:txBody>
            <a:bodyPr wrap="square" lIns="0" tIns="0" rIns="0" bIns="0" rtlCol="0"/>
            <a:lstStyle/>
            <a:p>
              <a:endParaRPr/>
            </a:p>
          </p:txBody>
        </p:sp>
      </p:grpSp>
      <p:grpSp>
        <p:nvGrpSpPr>
          <p:cNvPr id="19" name="object 19"/>
          <p:cNvGrpSpPr/>
          <p:nvPr/>
        </p:nvGrpSpPr>
        <p:grpSpPr>
          <a:xfrm>
            <a:off x="3935285" y="4366708"/>
            <a:ext cx="1052830" cy="208915"/>
            <a:chOff x="4835842" y="4290598"/>
            <a:chExt cx="1052830" cy="208915"/>
          </a:xfrm>
        </p:grpSpPr>
        <p:sp>
          <p:nvSpPr>
            <p:cNvPr id="20" name="object 20"/>
            <p:cNvSpPr/>
            <p:nvPr/>
          </p:nvSpPr>
          <p:spPr>
            <a:xfrm>
              <a:off x="4901882" y="4302188"/>
              <a:ext cx="975360" cy="172085"/>
            </a:xfrm>
            <a:custGeom>
              <a:avLst/>
              <a:gdLst/>
              <a:ahLst/>
              <a:cxnLst/>
              <a:rect l="l" t="t" r="r" b="b"/>
              <a:pathLst>
                <a:path w="975360" h="172085">
                  <a:moveTo>
                    <a:pt x="0" y="171754"/>
                  </a:moveTo>
                  <a:lnTo>
                    <a:pt x="975055" y="0"/>
                  </a:lnTo>
                </a:path>
              </a:pathLst>
            </a:custGeom>
            <a:ln w="23179">
              <a:solidFill>
                <a:srgbClr val="000000"/>
              </a:solidFill>
            </a:ln>
          </p:spPr>
          <p:txBody>
            <a:bodyPr wrap="square" lIns="0" tIns="0" rIns="0" bIns="0" rtlCol="0"/>
            <a:lstStyle/>
            <a:p>
              <a:endParaRPr/>
            </a:p>
          </p:txBody>
        </p:sp>
        <p:sp>
          <p:nvSpPr>
            <p:cNvPr id="21" name="object 21"/>
            <p:cNvSpPr/>
            <p:nvPr/>
          </p:nvSpPr>
          <p:spPr>
            <a:xfrm>
              <a:off x="4835842" y="4420590"/>
              <a:ext cx="154305" cy="79375"/>
            </a:xfrm>
            <a:custGeom>
              <a:avLst/>
              <a:gdLst/>
              <a:ahLst/>
              <a:cxnLst/>
              <a:rect l="l" t="t" r="r" b="b"/>
              <a:pathLst>
                <a:path w="154304" h="79375">
                  <a:moveTo>
                    <a:pt x="154025" y="78828"/>
                  </a:moveTo>
                  <a:lnTo>
                    <a:pt x="140131" y="0"/>
                  </a:lnTo>
                  <a:lnTo>
                    <a:pt x="0" y="65468"/>
                  </a:lnTo>
                  <a:lnTo>
                    <a:pt x="154025" y="78828"/>
                  </a:lnTo>
                  <a:close/>
                </a:path>
              </a:pathLst>
            </a:custGeom>
            <a:solidFill>
              <a:srgbClr val="000000"/>
            </a:solidFill>
          </p:spPr>
          <p:txBody>
            <a:bodyPr wrap="square" lIns="0" tIns="0" rIns="0" bIns="0" rtlCol="0"/>
            <a:lstStyle/>
            <a:p>
              <a:endParaRPr/>
            </a:p>
          </p:txBody>
        </p:sp>
        <p:sp>
          <p:nvSpPr>
            <p:cNvPr id="22" name="object 22"/>
            <p:cNvSpPr/>
            <p:nvPr/>
          </p:nvSpPr>
          <p:spPr>
            <a:xfrm>
              <a:off x="4895227" y="4461713"/>
              <a:ext cx="79375" cy="13970"/>
            </a:xfrm>
            <a:custGeom>
              <a:avLst/>
              <a:gdLst/>
              <a:ahLst/>
              <a:cxnLst/>
              <a:rect l="l" t="t" r="r" b="b"/>
              <a:pathLst>
                <a:path w="79375" h="13970">
                  <a:moveTo>
                    <a:pt x="78803" y="0"/>
                  </a:moveTo>
                  <a:lnTo>
                    <a:pt x="0" y="13881"/>
                  </a:lnTo>
                </a:path>
              </a:pathLst>
            </a:custGeom>
            <a:ln w="14486">
              <a:solidFill>
                <a:srgbClr val="000000"/>
              </a:solidFill>
            </a:ln>
          </p:spPr>
          <p:txBody>
            <a:bodyPr wrap="square" lIns="0" tIns="0" rIns="0" bIns="0" rtlCol="0"/>
            <a:lstStyle/>
            <a:p>
              <a:endParaRPr/>
            </a:p>
          </p:txBody>
        </p:sp>
      </p:grpSp>
      <p:grpSp>
        <p:nvGrpSpPr>
          <p:cNvPr id="23" name="object 23"/>
          <p:cNvGrpSpPr/>
          <p:nvPr/>
        </p:nvGrpSpPr>
        <p:grpSpPr>
          <a:xfrm>
            <a:off x="3935285" y="5292602"/>
            <a:ext cx="1054100" cy="203835"/>
            <a:chOff x="4835842" y="5216492"/>
            <a:chExt cx="1054100" cy="203835"/>
          </a:xfrm>
        </p:grpSpPr>
        <p:sp>
          <p:nvSpPr>
            <p:cNvPr id="24" name="object 24"/>
            <p:cNvSpPr/>
            <p:nvPr/>
          </p:nvSpPr>
          <p:spPr>
            <a:xfrm>
              <a:off x="4901958" y="5228081"/>
              <a:ext cx="976630" cy="165735"/>
            </a:xfrm>
            <a:custGeom>
              <a:avLst/>
              <a:gdLst/>
              <a:ahLst/>
              <a:cxnLst/>
              <a:rect l="l" t="t" r="r" b="b"/>
              <a:pathLst>
                <a:path w="976629" h="165735">
                  <a:moveTo>
                    <a:pt x="0" y="165595"/>
                  </a:moveTo>
                  <a:lnTo>
                    <a:pt x="976109" y="0"/>
                  </a:lnTo>
                </a:path>
              </a:pathLst>
            </a:custGeom>
            <a:ln w="23179">
              <a:solidFill>
                <a:srgbClr val="000000"/>
              </a:solidFill>
            </a:ln>
          </p:spPr>
          <p:txBody>
            <a:bodyPr wrap="square" lIns="0" tIns="0" rIns="0" bIns="0" rtlCol="0"/>
            <a:lstStyle/>
            <a:p>
              <a:endParaRPr/>
            </a:p>
          </p:txBody>
        </p:sp>
        <p:sp>
          <p:nvSpPr>
            <p:cNvPr id="25" name="object 25"/>
            <p:cNvSpPr/>
            <p:nvPr/>
          </p:nvSpPr>
          <p:spPr>
            <a:xfrm>
              <a:off x="4835842" y="5340794"/>
              <a:ext cx="154305" cy="79375"/>
            </a:xfrm>
            <a:custGeom>
              <a:avLst/>
              <a:gdLst/>
              <a:ahLst/>
              <a:cxnLst/>
              <a:rect l="l" t="t" r="r" b="b"/>
              <a:pathLst>
                <a:path w="154304" h="79375">
                  <a:moveTo>
                    <a:pt x="153936" y="78905"/>
                  </a:moveTo>
                  <a:lnTo>
                    <a:pt x="140550" y="0"/>
                  </a:lnTo>
                  <a:lnTo>
                    <a:pt x="0" y="64566"/>
                  </a:lnTo>
                  <a:lnTo>
                    <a:pt x="153936" y="78905"/>
                  </a:lnTo>
                  <a:close/>
                </a:path>
              </a:pathLst>
            </a:custGeom>
            <a:solidFill>
              <a:srgbClr val="000000"/>
            </a:solidFill>
          </p:spPr>
          <p:txBody>
            <a:bodyPr wrap="square" lIns="0" tIns="0" rIns="0" bIns="0" rtlCol="0"/>
            <a:lstStyle/>
            <a:p>
              <a:endParaRPr/>
            </a:p>
          </p:txBody>
        </p:sp>
        <p:sp>
          <p:nvSpPr>
            <p:cNvPr id="26" name="object 26"/>
            <p:cNvSpPr/>
            <p:nvPr/>
          </p:nvSpPr>
          <p:spPr>
            <a:xfrm>
              <a:off x="4895291" y="5381891"/>
              <a:ext cx="79375" cy="13970"/>
            </a:xfrm>
            <a:custGeom>
              <a:avLst/>
              <a:gdLst/>
              <a:ahLst/>
              <a:cxnLst/>
              <a:rect l="l" t="t" r="r" b="b"/>
              <a:pathLst>
                <a:path w="79375" h="13970">
                  <a:moveTo>
                    <a:pt x="78892" y="0"/>
                  </a:moveTo>
                  <a:lnTo>
                    <a:pt x="0" y="13398"/>
                  </a:lnTo>
                </a:path>
              </a:pathLst>
            </a:custGeom>
            <a:ln w="14486">
              <a:solidFill>
                <a:srgbClr val="000000"/>
              </a:solidFill>
            </a:ln>
          </p:spPr>
          <p:txBody>
            <a:bodyPr wrap="square" lIns="0" tIns="0" rIns="0" bIns="0" rtlCol="0"/>
            <a:lstStyle/>
            <a:p>
              <a:endParaRPr/>
            </a:p>
          </p:txBody>
        </p:sp>
      </p:grpSp>
      <p:grpSp>
        <p:nvGrpSpPr>
          <p:cNvPr id="27" name="object 27"/>
          <p:cNvGrpSpPr/>
          <p:nvPr/>
        </p:nvGrpSpPr>
        <p:grpSpPr>
          <a:xfrm>
            <a:off x="3987919" y="4814917"/>
            <a:ext cx="1049020" cy="227965"/>
            <a:chOff x="4888476" y="4738807"/>
            <a:chExt cx="1049020" cy="227965"/>
          </a:xfrm>
        </p:grpSpPr>
        <p:sp>
          <p:nvSpPr>
            <p:cNvPr id="28" name="object 28"/>
            <p:cNvSpPr/>
            <p:nvPr/>
          </p:nvSpPr>
          <p:spPr>
            <a:xfrm>
              <a:off x="4900066" y="4750397"/>
              <a:ext cx="971550" cy="193040"/>
            </a:xfrm>
            <a:custGeom>
              <a:avLst/>
              <a:gdLst/>
              <a:ahLst/>
              <a:cxnLst/>
              <a:rect l="l" t="t" r="r" b="b"/>
              <a:pathLst>
                <a:path w="971550" h="193039">
                  <a:moveTo>
                    <a:pt x="971105" y="192773"/>
                  </a:moveTo>
                  <a:lnTo>
                    <a:pt x="0" y="0"/>
                  </a:lnTo>
                </a:path>
              </a:pathLst>
            </a:custGeom>
            <a:ln w="23179">
              <a:solidFill>
                <a:srgbClr val="000000"/>
              </a:solidFill>
            </a:ln>
          </p:spPr>
          <p:txBody>
            <a:bodyPr wrap="square" lIns="0" tIns="0" rIns="0" bIns="0" rtlCol="0"/>
            <a:lstStyle/>
            <a:p>
              <a:endParaRPr/>
            </a:p>
          </p:txBody>
        </p:sp>
        <p:sp>
          <p:nvSpPr>
            <p:cNvPr id="29" name="object 29"/>
            <p:cNvSpPr/>
            <p:nvPr/>
          </p:nvSpPr>
          <p:spPr>
            <a:xfrm>
              <a:off x="5782652" y="4888230"/>
              <a:ext cx="154305" cy="78740"/>
            </a:xfrm>
            <a:custGeom>
              <a:avLst/>
              <a:gdLst/>
              <a:ahLst/>
              <a:cxnLst/>
              <a:rect l="l" t="t" r="r" b="b"/>
              <a:pathLst>
                <a:path w="154304" h="78739">
                  <a:moveTo>
                    <a:pt x="154292" y="68465"/>
                  </a:moveTo>
                  <a:lnTo>
                    <a:pt x="15595" y="0"/>
                  </a:lnTo>
                  <a:lnTo>
                    <a:pt x="0" y="78511"/>
                  </a:lnTo>
                  <a:lnTo>
                    <a:pt x="154292" y="68465"/>
                  </a:lnTo>
                  <a:close/>
                </a:path>
              </a:pathLst>
            </a:custGeom>
            <a:solidFill>
              <a:srgbClr val="000000"/>
            </a:solidFill>
          </p:spPr>
          <p:txBody>
            <a:bodyPr wrap="square" lIns="0" tIns="0" rIns="0" bIns="0" rtlCol="0"/>
            <a:lstStyle/>
            <a:p>
              <a:endParaRPr/>
            </a:p>
          </p:txBody>
        </p:sp>
        <p:sp>
          <p:nvSpPr>
            <p:cNvPr id="30" name="object 30"/>
            <p:cNvSpPr/>
            <p:nvPr/>
          </p:nvSpPr>
          <p:spPr>
            <a:xfrm>
              <a:off x="5799315" y="4929390"/>
              <a:ext cx="78740" cy="15875"/>
            </a:xfrm>
            <a:custGeom>
              <a:avLst/>
              <a:gdLst/>
              <a:ahLst/>
              <a:cxnLst/>
              <a:rect l="l" t="t" r="r" b="b"/>
              <a:pathLst>
                <a:path w="78739" h="15875">
                  <a:moveTo>
                    <a:pt x="0" y="0"/>
                  </a:moveTo>
                  <a:lnTo>
                    <a:pt x="78486" y="15570"/>
                  </a:lnTo>
                </a:path>
              </a:pathLst>
            </a:custGeom>
            <a:ln w="14486">
              <a:solidFill>
                <a:srgbClr val="000000"/>
              </a:solidFill>
            </a:ln>
          </p:spPr>
          <p:txBody>
            <a:bodyPr wrap="square" lIns="0" tIns="0" rIns="0" bIns="0" rtlCol="0"/>
            <a:lstStyle/>
            <a:p>
              <a:endParaRPr/>
            </a:p>
          </p:txBody>
        </p:sp>
      </p:grpSp>
      <p:grpSp>
        <p:nvGrpSpPr>
          <p:cNvPr id="31" name="object 31"/>
          <p:cNvGrpSpPr/>
          <p:nvPr/>
        </p:nvGrpSpPr>
        <p:grpSpPr>
          <a:xfrm>
            <a:off x="3990675" y="5713429"/>
            <a:ext cx="1046480" cy="236854"/>
            <a:chOff x="4891232" y="5637319"/>
            <a:chExt cx="1046480" cy="236854"/>
          </a:xfrm>
        </p:grpSpPr>
        <p:sp>
          <p:nvSpPr>
            <p:cNvPr id="32" name="object 32"/>
            <p:cNvSpPr/>
            <p:nvPr/>
          </p:nvSpPr>
          <p:spPr>
            <a:xfrm>
              <a:off x="4902822" y="5648909"/>
              <a:ext cx="969644" cy="202565"/>
            </a:xfrm>
            <a:custGeom>
              <a:avLst/>
              <a:gdLst/>
              <a:ahLst/>
              <a:cxnLst/>
              <a:rect l="l" t="t" r="r" b="b"/>
              <a:pathLst>
                <a:path w="969645" h="202564">
                  <a:moveTo>
                    <a:pt x="969137" y="202539"/>
                  </a:moveTo>
                  <a:lnTo>
                    <a:pt x="0" y="0"/>
                  </a:lnTo>
                </a:path>
              </a:pathLst>
            </a:custGeom>
            <a:ln w="23179">
              <a:solidFill>
                <a:srgbClr val="000000"/>
              </a:solidFill>
            </a:ln>
          </p:spPr>
          <p:txBody>
            <a:bodyPr wrap="square" lIns="0" tIns="0" rIns="0" bIns="0" rtlCol="0"/>
            <a:lstStyle/>
            <a:p>
              <a:endParaRPr/>
            </a:p>
          </p:txBody>
        </p:sp>
        <p:sp>
          <p:nvSpPr>
            <p:cNvPr id="33" name="object 33"/>
            <p:cNvSpPr/>
            <p:nvPr/>
          </p:nvSpPr>
          <p:spPr>
            <a:xfrm>
              <a:off x="5783211" y="5795772"/>
              <a:ext cx="154940" cy="78740"/>
            </a:xfrm>
            <a:custGeom>
              <a:avLst/>
              <a:gdLst/>
              <a:ahLst/>
              <a:cxnLst/>
              <a:rect l="l" t="t" r="r" b="b"/>
              <a:pathLst>
                <a:path w="154939" h="78739">
                  <a:moveTo>
                    <a:pt x="154343" y="69875"/>
                  </a:moveTo>
                  <a:lnTo>
                    <a:pt x="16370" y="0"/>
                  </a:lnTo>
                  <a:lnTo>
                    <a:pt x="0" y="78359"/>
                  </a:lnTo>
                  <a:lnTo>
                    <a:pt x="154343" y="69875"/>
                  </a:lnTo>
                  <a:close/>
                </a:path>
              </a:pathLst>
            </a:custGeom>
            <a:solidFill>
              <a:srgbClr val="000000"/>
            </a:solidFill>
          </p:spPr>
          <p:txBody>
            <a:bodyPr wrap="square" lIns="0" tIns="0" rIns="0" bIns="0" rtlCol="0"/>
            <a:lstStyle/>
            <a:p>
              <a:endParaRPr/>
            </a:p>
          </p:txBody>
        </p:sp>
        <p:sp>
          <p:nvSpPr>
            <p:cNvPr id="34" name="object 34"/>
            <p:cNvSpPr/>
            <p:nvPr/>
          </p:nvSpPr>
          <p:spPr>
            <a:xfrm>
              <a:off x="5800217" y="5836945"/>
              <a:ext cx="78740" cy="16510"/>
            </a:xfrm>
            <a:custGeom>
              <a:avLst/>
              <a:gdLst/>
              <a:ahLst/>
              <a:cxnLst/>
              <a:rect l="l" t="t" r="r" b="b"/>
              <a:pathLst>
                <a:path w="78739" h="16510">
                  <a:moveTo>
                    <a:pt x="0" y="0"/>
                  </a:moveTo>
                  <a:lnTo>
                    <a:pt x="78308" y="16357"/>
                  </a:lnTo>
                </a:path>
              </a:pathLst>
            </a:custGeom>
            <a:ln w="14486">
              <a:solidFill>
                <a:srgbClr val="000000"/>
              </a:solidFill>
            </a:ln>
          </p:spPr>
          <p:txBody>
            <a:bodyPr wrap="square" lIns="0" tIns="0" rIns="0" bIns="0" rtlCol="0"/>
            <a:lstStyle/>
            <a:p>
              <a:endParaRPr/>
            </a:p>
          </p:txBody>
        </p:sp>
      </p:grpSp>
      <p:sp>
        <p:nvSpPr>
          <p:cNvPr id="35" name="object 35"/>
          <p:cNvSpPr txBox="1"/>
          <p:nvPr/>
        </p:nvSpPr>
        <p:spPr>
          <a:xfrm>
            <a:off x="596519" y="1242848"/>
            <a:ext cx="6890384" cy="5783635"/>
          </a:xfrm>
          <a:prstGeom prst="rect">
            <a:avLst/>
          </a:prstGeom>
        </p:spPr>
        <p:txBody>
          <a:bodyPr vert="horz" wrap="square" lIns="0" tIns="241300" rIns="0" bIns="0" rtlCol="0">
            <a:spAutoFit/>
          </a:bodyPr>
          <a:lstStyle/>
          <a:p>
            <a:pPr marL="12700">
              <a:lnSpc>
                <a:spcPct val="100000"/>
              </a:lnSpc>
              <a:spcBef>
                <a:spcPts val="1900"/>
              </a:spcBef>
            </a:pPr>
            <a:r>
              <a:rPr sz="2400" spc="5" dirty="0">
                <a:solidFill>
                  <a:srgbClr val="9B0707"/>
                </a:solidFill>
                <a:cs typeface="Arial MT"/>
              </a:rPr>
              <a:t>Notation:</a:t>
            </a:r>
            <a:r>
              <a:rPr sz="2400" spc="190" dirty="0">
                <a:solidFill>
                  <a:srgbClr val="9B0707"/>
                </a:solidFill>
                <a:cs typeface="Arial MT"/>
              </a:rPr>
              <a:t> </a:t>
            </a:r>
            <a:r>
              <a:rPr sz="2400" dirty="0">
                <a:solidFill>
                  <a:srgbClr val="9B0707"/>
                </a:solidFill>
                <a:cs typeface="Arial MT"/>
              </a:rPr>
              <a:t>(</a:t>
            </a:r>
            <a:r>
              <a:rPr lang="en-US" sz="2400" dirty="0">
                <a:solidFill>
                  <a:srgbClr val="9B0707"/>
                </a:solidFill>
                <a:cs typeface="Arial MT"/>
              </a:rPr>
              <a:t>frame </a:t>
            </a:r>
            <a:r>
              <a:rPr sz="2400" dirty="0">
                <a:solidFill>
                  <a:srgbClr val="9B0707"/>
                </a:solidFill>
                <a:cs typeface="Arial MT"/>
              </a:rPr>
              <a:t>sequence,</a:t>
            </a:r>
            <a:r>
              <a:rPr sz="2400" spc="-15" dirty="0">
                <a:solidFill>
                  <a:srgbClr val="9B0707"/>
                </a:solidFill>
                <a:cs typeface="Arial MT"/>
              </a:rPr>
              <a:t> </a:t>
            </a:r>
            <a:r>
              <a:rPr sz="2400" b="1" spc="-5" dirty="0">
                <a:solidFill>
                  <a:srgbClr val="9B0707"/>
                </a:solidFill>
                <a:cs typeface="Arial MT"/>
              </a:rPr>
              <a:t>ack</a:t>
            </a:r>
            <a:r>
              <a:rPr sz="2400" spc="-5" dirty="0">
                <a:solidFill>
                  <a:srgbClr val="9B0707"/>
                </a:solidFill>
                <a:cs typeface="Arial MT"/>
              </a:rPr>
              <a:t>,</a:t>
            </a:r>
            <a:r>
              <a:rPr sz="2400" spc="-10" dirty="0">
                <a:solidFill>
                  <a:srgbClr val="9B0707"/>
                </a:solidFill>
                <a:cs typeface="Arial MT"/>
              </a:rPr>
              <a:t> </a:t>
            </a:r>
            <a:r>
              <a:rPr sz="2400" spc="-5" dirty="0">
                <a:solidFill>
                  <a:srgbClr val="9B0707"/>
                </a:solidFill>
                <a:cs typeface="Arial MT"/>
              </a:rPr>
              <a:t>packet)</a:t>
            </a:r>
            <a:endParaRPr lang="en-US" sz="2400" spc="-5" dirty="0">
              <a:solidFill>
                <a:srgbClr val="9B0707"/>
              </a:solidFill>
              <a:cs typeface="Arial MT"/>
            </a:endParaRPr>
          </a:p>
          <a:p>
            <a:pPr marL="12700">
              <a:lnSpc>
                <a:spcPct val="100000"/>
              </a:lnSpc>
              <a:spcBef>
                <a:spcPts val="1900"/>
              </a:spcBef>
            </a:pPr>
            <a:endParaRPr sz="2000" dirty="0">
              <a:cs typeface="Arial MT"/>
            </a:endParaRPr>
          </a:p>
          <a:p>
            <a:pPr marL="1414145">
              <a:lnSpc>
                <a:spcPct val="100000"/>
              </a:lnSpc>
              <a:spcBef>
                <a:spcPts val="1240"/>
              </a:spcBef>
            </a:pPr>
            <a:r>
              <a:rPr sz="2000" spc="15" dirty="0">
                <a:cs typeface="Arial MT"/>
              </a:rPr>
              <a:t>A</a:t>
            </a:r>
            <a:r>
              <a:rPr sz="2000" spc="-10" dirty="0">
                <a:cs typeface="Arial MT"/>
              </a:rPr>
              <a:t> </a:t>
            </a:r>
            <a:r>
              <a:rPr sz="2000" spc="10" dirty="0">
                <a:cs typeface="Arial MT"/>
              </a:rPr>
              <a:t>sends</a:t>
            </a:r>
            <a:r>
              <a:rPr sz="2000" spc="-5" dirty="0">
                <a:cs typeface="Arial MT"/>
              </a:rPr>
              <a:t> </a:t>
            </a:r>
            <a:r>
              <a:rPr sz="2000" spc="5" dirty="0">
                <a:cs typeface="Arial MT"/>
              </a:rPr>
              <a:t>(</a:t>
            </a:r>
            <a:r>
              <a:rPr sz="2000" spc="5" dirty="0">
                <a:highlight>
                  <a:srgbClr val="FFFF00"/>
                </a:highlight>
                <a:cs typeface="Arial MT"/>
              </a:rPr>
              <a:t>0</a:t>
            </a:r>
            <a:r>
              <a:rPr sz="2000" spc="5" dirty="0">
                <a:cs typeface="Arial MT"/>
              </a:rPr>
              <a:t>,</a:t>
            </a:r>
            <a:r>
              <a:rPr sz="2000" spc="-5" dirty="0">
                <a:cs typeface="Arial MT"/>
              </a:rPr>
              <a:t> </a:t>
            </a:r>
            <a:r>
              <a:rPr lang="en-US" sz="2000" b="1" spc="10" dirty="0">
                <a:cs typeface="Arial MT"/>
              </a:rPr>
              <a:t>X</a:t>
            </a:r>
            <a:r>
              <a:rPr sz="2000" spc="10" dirty="0">
                <a:cs typeface="Arial MT"/>
              </a:rPr>
              <a:t>,</a:t>
            </a:r>
            <a:r>
              <a:rPr sz="2000" spc="-5" dirty="0">
                <a:cs typeface="Arial MT"/>
              </a:rPr>
              <a:t> </a:t>
            </a:r>
            <a:r>
              <a:rPr sz="2000" spc="10" dirty="0">
                <a:cs typeface="Arial MT"/>
              </a:rPr>
              <a:t>A0)</a:t>
            </a:r>
            <a:endParaRPr sz="2000" dirty="0">
              <a:cs typeface="Arial MT"/>
            </a:endParaRPr>
          </a:p>
          <a:p>
            <a:pPr marL="4471035">
              <a:lnSpc>
                <a:spcPts val="1995"/>
              </a:lnSpc>
              <a:spcBef>
                <a:spcPts val="580"/>
              </a:spcBef>
            </a:pPr>
            <a:r>
              <a:rPr sz="2000" spc="15" dirty="0">
                <a:cs typeface="Arial MT"/>
              </a:rPr>
              <a:t>B</a:t>
            </a:r>
            <a:r>
              <a:rPr sz="2000" spc="-10" dirty="0">
                <a:cs typeface="Arial MT"/>
              </a:rPr>
              <a:t> </a:t>
            </a:r>
            <a:r>
              <a:rPr sz="2000" spc="10" dirty="0">
                <a:cs typeface="Arial MT"/>
              </a:rPr>
              <a:t>gets</a:t>
            </a:r>
            <a:r>
              <a:rPr sz="2000" spc="-10" dirty="0">
                <a:cs typeface="Arial MT"/>
              </a:rPr>
              <a:t> </a:t>
            </a:r>
            <a:r>
              <a:rPr sz="2000" spc="5" dirty="0">
                <a:cs typeface="Arial MT"/>
              </a:rPr>
              <a:t>(0,</a:t>
            </a:r>
            <a:r>
              <a:rPr sz="2000" spc="-5" dirty="0">
                <a:cs typeface="Arial MT"/>
              </a:rPr>
              <a:t> </a:t>
            </a:r>
            <a:r>
              <a:rPr lang="en-US" sz="2000" b="1" spc="10" dirty="0">
                <a:cs typeface="Arial MT"/>
              </a:rPr>
              <a:t>X</a:t>
            </a:r>
            <a:r>
              <a:rPr sz="2000" spc="10" dirty="0">
                <a:cs typeface="Arial MT"/>
              </a:rPr>
              <a:t>,</a:t>
            </a:r>
            <a:r>
              <a:rPr sz="2000" spc="-10" dirty="0">
                <a:cs typeface="Arial MT"/>
              </a:rPr>
              <a:t> </a:t>
            </a:r>
            <a:r>
              <a:rPr sz="2000" spc="10" dirty="0">
                <a:cs typeface="Arial MT"/>
              </a:rPr>
              <a:t>A0)*</a:t>
            </a:r>
            <a:endParaRPr sz="2000" dirty="0">
              <a:cs typeface="Arial MT"/>
            </a:endParaRPr>
          </a:p>
          <a:p>
            <a:pPr marL="4471035">
              <a:lnSpc>
                <a:spcPts val="1995"/>
              </a:lnSpc>
            </a:pPr>
            <a:r>
              <a:rPr sz="2000" spc="15" dirty="0">
                <a:cs typeface="Arial MT"/>
              </a:rPr>
              <a:t>B</a:t>
            </a:r>
            <a:r>
              <a:rPr sz="2000" spc="-10" dirty="0">
                <a:cs typeface="Arial MT"/>
              </a:rPr>
              <a:t> </a:t>
            </a:r>
            <a:r>
              <a:rPr sz="2000" spc="10" dirty="0">
                <a:cs typeface="Arial MT"/>
              </a:rPr>
              <a:t>sends</a:t>
            </a:r>
            <a:r>
              <a:rPr sz="2000" spc="-5" dirty="0">
                <a:cs typeface="Arial MT"/>
              </a:rPr>
              <a:t> </a:t>
            </a:r>
            <a:r>
              <a:rPr sz="2000" spc="5" dirty="0">
                <a:cs typeface="Arial MT"/>
              </a:rPr>
              <a:t>(0,</a:t>
            </a:r>
            <a:r>
              <a:rPr sz="2000" spc="-5" dirty="0">
                <a:cs typeface="Arial MT"/>
              </a:rPr>
              <a:t> </a:t>
            </a:r>
            <a:r>
              <a:rPr sz="2000" spc="10" dirty="0">
                <a:highlight>
                  <a:srgbClr val="FFFF00"/>
                </a:highlight>
                <a:cs typeface="Arial MT"/>
              </a:rPr>
              <a:t>0</a:t>
            </a:r>
            <a:r>
              <a:rPr sz="2000" spc="10" dirty="0">
                <a:cs typeface="Arial MT"/>
              </a:rPr>
              <a:t>,</a:t>
            </a:r>
            <a:r>
              <a:rPr sz="2000" spc="-5" dirty="0">
                <a:cs typeface="Arial MT"/>
              </a:rPr>
              <a:t> </a:t>
            </a:r>
            <a:r>
              <a:rPr sz="2000" spc="10" dirty="0">
                <a:cs typeface="Arial MT"/>
              </a:rPr>
              <a:t>B0)</a:t>
            </a:r>
            <a:endParaRPr sz="2000" dirty="0">
              <a:cs typeface="Arial MT"/>
            </a:endParaRPr>
          </a:p>
          <a:p>
            <a:pPr marL="1414145">
              <a:lnSpc>
                <a:spcPts val="1975"/>
              </a:lnSpc>
              <a:spcBef>
                <a:spcPts val="919"/>
              </a:spcBef>
            </a:pPr>
            <a:r>
              <a:rPr sz="2000" spc="15" dirty="0">
                <a:cs typeface="Arial MT"/>
              </a:rPr>
              <a:t>A</a:t>
            </a:r>
            <a:r>
              <a:rPr sz="2000" spc="-10" dirty="0">
                <a:cs typeface="Arial MT"/>
              </a:rPr>
              <a:t> </a:t>
            </a:r>
            <a:r>
              <a:rPr sz="2000" spc="10" dirty="0">
                <a:cs typeface="Arial MT"/>
              </a:rPr>
              <a:t>gets</a:t>
            </a:r>
            <a:r>
              <a:rPr sz="2000" spc="-10" dirty="0">
                <a:cs typeface="Arial MT"/>
              </a:rPr>
              <a:t> </a:t>
            </a:r>
            <a:r>
              <a:rPr sz="2000" spc="5" dirty="0">
                <a:cs typeface="Arial MT"/>
              </a:rPr>
              <a:t>(0,</a:t>
            </a:r>
            <a:r>
              <a:rPr sz="2000" spc="-5" dirty="0">
                <a:cs typeface="Arial MT"/>
              </a:rPr>
              <a:t> </a:t>
            </a:r>
            <a:r>
              <a:rPr sz="2000" spc="10" dirty="0">
                <a:solidFill>
                  <a:schemeClr val="accent1"/>
                </a:solidFill>
                <a:cs typeface="Arial MT"/>
              </a:rPr>
              <a:t>0</a:t>
            </a:r>
            <a:r>
              <a:rPr sz="2000" spc="10" dirty="0">
                <a:cs typeface="Arial MT"/>
              </a:rPr>
              <a:t>,</a:t>
            </a:r>
            <a:r>
              <a:rPr sz="2000" spc="-10" dirty="0">
                <a:cs typeface="Arial MT"/>
              </a:rPr>
              <a:t> </a:t>
            </a:r>
            <a:r>
              <a:rPr sz="2000" spc="10" dirty="0">
                <a:cs typeface="Arial MT"/>
              </a:rPr>
              <a:t>B0)*</a:t>
            </a:r>
            <a:endParaRPr sz="2000" dirty="0">
              <a:cs typeface="Arial MT"/>
            </a:endParaRPr>
          </a:p>
          <a:p>
            <a:pPr marL="1414145">
              <a:lnSpc>
                <a:spcPts val="1750"/>
              </a:lnSpc>
            </a:pPr>
            <a:r>
              <a:rPr sz="2000" spc="15" dirty="0">
                <a:cs typeface="Arial MT"/>
              </a:rPr>
              <a:t>A</a:t>
            </a:r>
            <a:r>
              <a:rPr sz="2000" spc="-10" dirty="0">
                <a:cs typeface="Arial MT"/>
              </a:rPr>
              <a:t> </a:t>
            </a:r>
            <a:r>
              <a:rPr sz="2000" spc="10" dirty="0">
                <a:cs typeface="Arial MT"/>
              </a:rPr>
              <a:t>sends</a:t>
            </a:r>
            <a:r>
              <a:rPr sz="2000" spc="-5" dirty="0">
                <a:cs typeface="Arial MT"/>
              </a:rPr>
              <a:t> </a:t>
            </a:r>
            <a:r>
              <a:rPr sz="2000" spc="5" dirty="0">
                <a:cs typeface="Arial MT"/>
              </a:rPr>
              <a:t>(1,</a:t>
            </a:r>
            <a:r>
              <a:rPr sz="2000" spc="-5" dirty="0">
                <a:cs typeface="Arial MT"/>
              </a:rPr>
              <a:t> </a:t>
            </a:r>
            <a:r>
              <a:rPr sz="2000" spc="10" dirty="0">
                <a:highlight>
                  <a:srgbClr val="FFFF00"/>
                </a:highlight>
                <a:cs typeface="Arial MT"/>
              </a:rPr>
              <a:t>0</a:t>
            </a:r>
            <a:r>
              <a:rPr sz="2000" spc="10" dirty="0">
                <a:cs typeface="Arial MT"/>
              </a:rPr>
              <a:t>,</a:t>
            </a:r>
            <a:r>
              <a:rPr sz="2000" spc="-5" dirty="0">
                <a:cs typeface="Arial MT"/>
              </a:rPr>
              <a:t> </a:t>
            </a:r>
            <a:r>
              <a:rPr sz="2000" spc="10" dirty="0">
                <a:cs typeface="Arial MT"/>
              </a:rPr>
              <a:t>A1)</a:t>
            </a:r>
            <a:endParaRPr sz="2000" dirty="0">
              <a:cs typeface="Arial MT"/>
            </a:endParaRPr>
          </a:p>
          <a:p>
            <a:pPr marL="4471035">
              <a:lnSpc>
                <a:spcPts val="1770"/>
              </a:lnSpc>
            </a:pPr>
            <a:r>
              <a:rPr sz="2000" spc="15" dirty="0">
                <a:cs typeface="Arial MT"/>
              </a:rPr>
              <a:t>B</a:t>
            </a:r>
            <a:r>
              <a:rPr sz="2000" spc="-10" dirty="0">
                <a:cs typeface="Arial MT"/>
              </a:rPr>
              <a:t> </a:t>
            </a:r>
            <a:r>
              <a:rPr sz="2000" spc="10" dirty="0">
                <a:cs typeface="Arial MT"/>
              </a:rPr>
              <a:t>gets</a:t>
            </a:r>
            <a:r>
              <a:rPr sz="2000" spc="-10" dirty="0">
                <a:cs typeface="Arial MT"/>
              </a:rPr>
              <a:t> </a:t>
            </a:r>
            <a:r>
              <a:rPr sz="2000" spc="5" dirty="0">
                <a:cs typeface="Arial MT"/>
              </a:rPr>
              <a:t>(1,</a:t>
            </a:r>
            <a:r>
              <a:rPr sz="2000" spc="-5" dirty="0">
                <a:cs typeface="Arial MT"/>
              </a:rPr>
              <a:t> </a:t>
            </a:r>
            <a:r>
              <a:rPr sz="2000" spc="10" dirty="0">
                <a:cs typeface="Arial MT"/>
              </a:rPr>
              <a:t>0,</a:t>
            </a:r>
            <a:r>
              <a:rPr sz="2000" spc="-10" dirty="0">
                <a:cs typeface="Arial MT"/>
              </a:rPr>
              <a:t> </a:t>
            </a:r>
            <a:r>
              <a:rPr sz="2000" spc="10" dirty="0">
                <a:cs typeface="Arial MT"/>
              </a:rPr>
              <a:t>A1)*</a:t>
            </a:r>
            <a:endParaRPr sz="2000" dirty="0">
              <a:cs typeface="Arial MT"/>
            </a:endParaRPr>
          </a:p>
          <a:p>
            <a:pPr marL="4471035">
              <a:lnSpc>
                <a:spcPts val="1770"/>
              </a:lnSpc>
            </a:pPr>
            <a:r>
              <a:rPr sz="2000" spc="15" dirty="0">
                <a:cs typeface="Arial MT"/>
              </a:rPr>
              <a:t>B</a:t>
            </a:r>
            <a:r>
              <a:rPr sz="2000" spc="-10" dirty="0">
                <a:cs typeface="Arial MT"/>
              </a:rPr>
              <a:t> </a:t>
            </a:r>
            <a:r>
              <a:rPr sz="2000" spc="10" dirty="0">
                <a:cs typeface="Arial MT"/>
              </a:rPr>
              <a:t>sends</a:t>
            </a:r>
            <a:r>
              <a:rPr sz="2000" spc="-5" dirty="0">
                <a:cs typeface="Arial MT"/>
              </a:rPr>
              <a:t> </a:t>
            </a:r>
            <a:r>
              <a:rPr sz="2000" spc="5" dirty="0">
                <a:cs typeface="Arial MT"/>
              </a:rPr>
              <a:t>(1,</a:t>
            </a:r>
            <a:r>
              <a:rPr sz="2000" spc="-5" dirty="0">
                <a:cs typeface="Arial MT"/>
              </a:rPr>
              <a:t> </a:t>
            </a:r>
            <a:r>
              <a:rPr sz="2000" spc="10" dirty="0">
                <a:cs typeface="Arial MT"/>
              </a:rPr>
              <a:t>1,</a:t>
            </a:r>
            <a:r>
              <a:rPr sz="2000" spc="-5" dirty="0">
                <a:cs typeface="Arial MT"/>
              </a:rPr>
              <a:t> </a:t>
            </a:r>
            <a:r>
              <a:rPr sz="2000" spc="10" dirty="0">
                <a:cs typeface="Arial MT"/>
              </a:rPr>
              <a:t>B1)</a:t>
            </a:r>
            <a:endParaRPr sz="2000" dirty="0">
              <a:cs typeface="Arial MT"/>
            </a:endParaRPr>
          </a:p>
          <a:p>
            <a:pPr marL="1414145">
              <a:lnSpc>
                <a:spcPts val="1770"/>
              </a:lnSpc>
            </a:pPr>
            <a:r>
              <a:rPr sz="2000" spc="15" dirty="0">
                <a:cs typeface="Arial MT"/>
              </a:rPr>
              <a:t>A</a:t>
            </a:r>
            <a:r>
              <a:rPr sz="2000" spc="-10" dirty="0">
                <a:cs typeface="Arial MT"/>
              </a:rPr>
              <a:t> </a:t>
            </a:r>
            <a:r>
              <a:rPr sz="2000" spc="10" dirty="0">
                <a:cs typeface="Arial MT"/>
              </a:rPr>
              <a:t>gets</a:t>
            </a:r>
            <a:r>
              <a:rPr sz="2000" spc="-10" dirty="0">
                <a:cs typeface="Arial MT"/>
              </a:rPr>
              <a:t> </a:t>
            </a:r>
            <a:r>
              <a:rPr sz="2000" spc="5" dirty="0">
                <a:cs typeface="Arial MT"/>
              </a:rPr>
              <a:t>(1,</a:t>
            </a:r>
            <a:r>
              <a:rPr sz="2000" spc="-5" dirty="0">
                <a:cs typeface="Arial MT"/>
              </a:rPr>
              <a:t> </a:t>
            </a:r>
            <a:r>
              <a:rPr sz="2000" spc="10" dirty="0">
                <a:highlight>
                  <a:srgbClr val="00FFFF"/>
                </a:highlight>
                <a:cs typeface="Arial MT"/>
              </a:rPr>
              <a:t>1</a:t>
            </a:r>
            <a:r>
              <a:rPr sz="2000" spc="10" dirty="0">
                <a:cs typeface="Arial MT"/>
              </a:rPr>
              <a:t>,</a:t>
            </a:r>
            <a:r>
              <a:rPr sz="2000" spc="-10" dirty="0">
                <a:cs typeface="Arial MT"/>
              </a:rPr>
              <a:t> </a:t>
            </a:r>
            <a:r>
              <a:rPr sz="2000" spc="10" dirty="0">
                <a:cs typeface="Arial MT"/>
              </a:rPr>
              <a:t>B1)*</a:t>
            </a:r>
            <a:endParaRPr sz="2000" dirty="0">
              <a:cs typeface="Arial MT"/>
            </a:endParaRPr>
          </a:p>
          <a:p>
            <a:pPr marL="1414145">
              <a:lnSpc>
                <a:spcPts val="1770"/>
              </a:lnSpc>
            </a:pPr>
            <a:r>
              <a:rPr sz="2000" spc="15" dirty="0">
                <a:cs typeface="Arial MT"/>
              </a:rPr>
              <a:t>A</a:t>
            </a:r>
            <a:r>
              <a:rPr sz="2000" spc="-10" dirty="0">
                <a:cs typeface="Arial MT"/>
              </a:rPr>
              <a:t> </a:t>
            </a:r>
            <a:r>
              <a:rPr sz="2000" spc="10" dirty="0">
                <a:cs typeface="Arial MT"/>
              </a:rPr>
              <a:t>sends</a:t>
            </a:r>
            <a:r>
              <a:rPr sz="2000" spc="-5" dirty="0">
                <a:cs typeface="Arial MT"/>
              </a:rPr>
              <a:t> </a:t>
            </a:r>
            <a:r>
              <a:rPr sz="2000" spc="5" dirty="0">
                <a:cs typeface="Arial MT"/>
              </a:rPr>
              <a:t>(0,</a:t>
            </a:r>
            <a:r>
              <a:rPr sz="2000" spc="-5" dirty="0">
                <a:cs typeface="Arial MT"/>
              </a:rPr>
              <a:t> </a:t>
            </a:r>
            <a:r>
              <a:rPr sz="2000" spc="10" dirty="0">
                <a:highlight>
                  <a:srgbClr val="00FFFF"/>
                </a:highlight>
                <a:cs typeface="Arial MT"/>
              </a:rPr>
              <a:t>1</a:t>
            </a:r>
            <a:r>
              <a:rPr sz="2000" spc="10" dirty="0">
                <a:cs typeface="Arial MT"/>
              </a:rPr>
              <a:t>,</a:t>
            </a:r>
            <a:r>
              <a:rPr sz="2000" spc="-5" dirty="0">
                <a:cs typeface="Arial MT"/>
              </a:rPr>
              <a:t> </a:t>
            </a:r>
            <a:r>
              <a:rPr sz="2000" spc="10" dirty="0">
                <a:cs typeface="Arial MT"/>
              </a:rPr>
              <a:t>A2)</a:t>
            </a:r>
            <a:endParaRPr sz="2000" dirty="0">
              <a:cs typeface="Arial MT"/>
            </a:endParaRPr>
          </a:p>
          <a:p>
            <a:pPr marL="4471035">
              <a:lnSpc>
                <a:spcPts val="1785"/>
              </a:lnSpc>
            </a:pPr>
            <a:r>
              <a:rPr sz="2000" spc="15" dirty="0">
                <a:cs typeface="Arial MT"/>
              </a:rPr>
              <a:t>B</a:t>
            </a:r>
            <a:r>
              <a:rPr sz="2000" spc="-10" dirty="0">
                <a:cs typeface="Arial MT"/>
              </a:rPr>
              <a:t> </a:t>
            </a:r>
            <a:r>
              <a:rPr sz="2000" spc="10" dirty="0">
                <a:cs typeface="Arial MT"/>
              </a:rPr>
              <a:t>gets</a:t>
            </a:r>
            <a:r>
              <a:rPr sz="2000" spc="-10" dirty="0">
                <a:cs typeface="Arial MT"/>
              </a:rPr>
              <a:t> </a:t>
            </a:r>
            <a:r>
              <a:rPr sz="2000" spc="5" dirty="0">
                <a:cs typeface="Arial MT"/>
              </a:rPr>
              <a:t>(0,</a:t>
            </a:r>
            <a:r>
              <a:rPr sz="2000" spc="-5" dirty="0">
                <a:cs typeface="Arial MT"/>
              </a:rPr>
              <a:t> </a:t>
            </a:r>
            <a:r>
              <a:rPr sz="2000" spc="10" dirty="0">
                <a:cs typeface="Arial MT"/>
              </a:rPr>
              <a:t>1,</a:t>
            </a:r>
            <a:r>
              <a:rPr sz="2000" spc="-10" dirty="0">
                <a:cs typeface="Arial MT"/>
              </a:rPr>
              <a:t> </a:t>
            </a:r>
            <a:r>
              <a:rPr sz="2000" spc="10" dirty="0">
                <a:cs typeface="Arial MT"/>
              </a:rPr>
              <a:t>A2)*</a:t>
            </a:r>
            <a:endParaRPr sz="2000" dirty="0">
              <a:cs typeface="Arial MT"/>
            </a:endParaRPr>
          </a:p>
          <a:p>
            <a:pPr marL="4471035">
              <a:lnSpc>
                <a:spcPts val="1785"/>
              </a:lnSpc>
            </a:pPr>
            <a:r>
              <a:rPr sz="2000" spc="15" dirty="0">
                <a:cs typeface="Arial MT"/>
              </a:rPr>
              <a:t>B</a:t>
            </a:r>
            <a:r>
              <a:rPr sz="2000" spc="-10" dirty="0">
                <a:cs typeface="Arial MT"/>
              </a:rPr>
              <a:t> </a:t>
            </a:r>
            <a:r>
              <a:rPr sz="2000" spc="10" dirty="0">
                <a:cs typeface="Arial MT"/>
              </a:rPr>
              <a:t>sends</a:t>
            </a:r>
            <a:r>
              <a:rPr sz="2000" spc="-5" dirty="0">
                <a:cs typeface="Arial MT"/>
              </a:rPr>
              <a:t> </a:t>
            </a:r>
            <a:r>
              <a:rPr sz="2000" spc="5" dirty="0">
                <a:cs typeface="Arial MT"/>
              </a:rPr>
              <a:t>(0,</a:t>
            </a:r>
            <a:r>
              <a:rPr sz="2000" spc="-5" dirty="0">
                <a:cs typeface="Arial MT"/>
              </a:rPr>
              <a:t> </a:t>
            </a:r>
            <a:r>
              <a:rPr sz="2000" spc="10" dirty="0">
                <a:cs typeface="Arial MT"/>
              </a:rPr>
              <a:t>0,</a:t>
            </a:r>
            <a:r>
              <a:rPr sz="2000" spc="-5" dirty="0">
                <a:cs typeface="Arial MT"/>
              </a:rPr>
              <a:t> </a:t>
            </a:r>
            <a:r>
              <a:rPr sz="2000" spc="10" dirty="0">
                <a:cs typeface="Arial MT"/>
              </a:rPr>
              <a:t>B2)</a:t>
            </a:r>
            <a:endParaRPr sz="2000" dirty="0">
              <a:cs typeface="Arial MT"/>
            </a:endParaRPr>
          </a:p>
          <a:p>
            <a:pPr marL="1414145">
              <a:lnSpc>
                <a:spcPts val="1750"/>
              </a:lnSpc>
            </a:pPr>
            <a:r>
              <a:rPr sz="2000" spc="15" dirty="0">
                <a:cs typeface="Arial MT"/>
              </a:rPr>
              <a:t>A</a:t>
            </a:r>
            <a:r>
              <a:rPr sz="2000" spc="-10" dirty="0">
                <a:cs typeface="Arial MT"/>
              </a:rPr>
              <a:t> </a:t>
            </a:r>
            <a:r>
              <a:rPr sz="2000" spc="10" dirty="0">
                <a:cs typeface="Arial MT"/>
              </a:rPr>
              <a:t>gets</a:t>
            </a:r>
            <a:r>
              <a:rPr sz="2000" spc="-10" dirty="0">
                <a:cs typeface="Arial MT"/>
              </a:rPr>
              <a:t> </a:t>
            </a:r>
            <a:r>
              <a:rPr sz="2000" spc="5" dirty="0">
                <a:cs typeface="Arial MT"/>
              </a:rPr>
              <a:t>(0,</a:t>
            </a:r>
            <a:r>
              <a:rPr sz="2000" spc="-5" dirty="0">
                <a:cs typeface="Arial MT"/>
              </a:rPr>
              <a:t> </a:t>
            </a:r>
            <a:r>
              <a:rPr sz="2000" spc="10" dirty="0">
                <a:highlight>
                  <a:srgbClr val="00FFFF"/>
                </a:highlight>
                <a:cs typeface="Arial MT"/>
              </a:rPr>
              <a:t>0</a:t>
            </a:r>
            <a:r>
              <a:rPr sz="2000" spc="10" dirty="0">
                <a:cs typeface="Arial MT"/>
              </a:rPr>
              <a:t>,</a:t>
            </a:r>
            <a:r>
              <a:rPr sz="2000" spc="-10" dirty="0">
                <a:cs typeface="Arial MT"/>
              </a:rPr>
              <a:t> </a:t>
            </a:r>
            <a:r>
              <a:rPr sz="2000" spc="10" dirty="0">
                <a:cs typeface="Arial MT"/>
              </a:rPr>
              <a:t>B2)*</a:t>
            </a:r>
            <a:endParaRPr sz="2000" dirty="0">
              <a:cs typeface="Arial MT"/>
            </a:endParaRPr>
          </a:p>
          <a:p>
            <a:pPr marL="1414145">
              <a:lnSpc>
                <a:spcPts val="1750"/>
              </a:lnSpc>
            </a:pPr>
            <a:r>
              <a:rPr sz="2000" spc="15" dirty="0">
                <a:cs typeface="Arial MT"/>
              </a:rPr>
              <a:t>A</a:t>
            </a:r>
            <a:r>
              <a:rPr sz="2000" spc="-10" dirty="0">
                <a:cs typeface="Arial MT"/>
              </a:rPr>
              <a:t> </a:t>
            </a:r>
            <a:r>
              <a:rPr sz="2000" spc="10" dirty="0">
                <a:cs typeface="Arial MT"/>
              </a:rPr>
              <a:t>sends</a:t>
            </a:r>
            <a:r>
              <a:rPr sz="2000" spc="-5" dirty="0">
                <a:cs typeface="Arial MT"/>
              </a:rPr>
              <a:t> </a:t>
            </a:r>
            <a:r>
              <a:rPr sz="2000" spc="5" dirty="0">
                <a:cs typeface="Arial MT"/>
              </a:rPr>
              <a:t>(1,</a:t>
            </a:r>
            <a:r>
              <a:rPr sz="2000" spc="-5" dirty="0">
                <a:cs typeface="Arial MT"/>
              </a:rPr>
              <a:t> </a:t>
            </a:r>
            <a:r>
              <a:rPr sz="2000" spc="10" dirty="0">
                <a:highlight>
                  <a:srgbClr val="00FFFF"/>
                </a:highlight>
                <a:cs typeface="Arial MT"/>
              </a:rPr>
              <a:t>0</a:t>
            </a:r>
            <a:r>
              <a:rPr sz="2000" spc="10" dirty="0">
                <a:cs typeface="Arial MT"/>
              </a:rPr>
              <a:t>,</a:t>
            </a:r>
            <a:r>
              <a:rPr sz="2000" spc="-5" dirty="0">
                <a:cs typeface="Arial MT"/>
              </a:rPr>
              <a:t> </a:t>
            </a:r>
            <a:r>
              <a:rPr sz="2000" spc="10" dirty="0">
                <a:cs typeface="Arial MT"/>
              </a:rPr>
              <a:t>A3)</a:t>
            </a:r>
            <a:endParaRPr sz="2000" dirty="0">
              <a:cs typeface="Arial MT"/>
            </a:endParaRPr>
          </a:p>
          <a:p>
            <a:pPr marL="4471035">
              <a:lnSpc>
                <a:spcPts val="1935"/>
              </a:lnSpc>
            </a:pPr>
            <a:r>
              <a:rPr sz="2000" spc="15" dirty="0">
                <a:cs typeface="Arial MT"/>
              </a:rPr>
              <a:t>B</a:t>
            </a:r>
            <a:r>
              <a:rPr sz="2000" spc="-10" dirty="0">
                <a:cs typeface="Arial MT"/>
              </a:rPr>
              <a:t> </a:t>
            </a:r>
            <a:r>
              <a:rPr sz="2000" spc="10" dirty="0">
                <a:cs typeface="Arial MT"/>
              </a:rPr>
              <a:t>gets</a:t>
            </a:r>
            <a:r>
              <a:rPr sz="2000" spc="-10" dirty="0">
                <a:cs typeface="Arial MT"/>
              </a:rPr>
              <a:t> </a:t>
            </a:r>
            <a:r>
              <a:rPr sz="2000" spc="5" dirty="0">
                <a:cs typeface="Arial MT"/>
              </a:rPr>
              <a:t>(1,</a:t>
            </a:r>
            <a:r>
              <a:rPr sz="2000" spc="-5" dirty="0">
                <a:cs typeface="Arial MT"/>
              </a:rPr>
              <a:t> </a:t>
            </a:r>
            <a:r>
              <a:rPr sz="2000" spc="10" dirty="0">
                <a:cs typeface="Arial MT"/>
              </a:rPr>
              <a:t>0,</a:t>
            </a:r>
            <a:r>
              <a:rPr sz="2000" spc="-10" dirty="0">
                <a:cs typeface="Arial MT"/>
              </a:rPr>
              <a:t> </a:t>
            </a:r>
            <a:r>
              <a:rPr sz="2000" spc="10" dirty="0">
                <a:cs typeface="Arial MT"/>
              </a:rPr>
              <a:t>A3)*</a:t>
            </a:r>
            <a:endParaRPr sz="2000" dirty="0">
              <a:cs typeface="Arial MT"/>
            </a:endParaRPr>
          </a:p>
          <a:p>
            <a:pPr marL="4471035">
              <a:lnSpc>
                <a:spcPct val="100000"/>
              </a:lnSpc>
              <a:spcBef>
                <a:spcPts val="5"/>
              </a:spcBef>
            </a:pPr>
            <a:r>
              <a:rPr sz="2000" spc="15" dirty="0">
                <a:cs typeface="Arial MT"/>
              </a:rPr>
              <a:t>B</a:t>
            </a:r>
            <a:r>
              <a:rPr sz="2000" spc="-10" dirty="0">
                <a:cs typeface="Arial MT"/>
              </a:rPr>
              <a:t> </a:t>
            </a:r>
            <a:r>
              <a:rPr sz="2000" spc="10" dirty="0">
                <a:cs typeface="Arial MT"/>
              </a:rPr>
              <a:t>sends</a:t>
            </a:r>
            <a:r>
              <a:rPr sz="2000" spc="-5" dirty="0">
                <a:cs typeface="Arial MT"/>
              </a:rPr>
              <a:t> </a:t>
            </a:r>
            <a:r>
              <a:rPr sz="2000" spc="5" dirty="0">
                <a:cs typeface="Arial MT"/>
              </a:rPr>
              <a:t>(1,</a:t>
            </a:r>
            <a:r>
              <a:rPr sz="2000" spc="-5" dirty="0">
                <a:cs typeface="Arial MT"/>
              </a:rPr>
              <a:t> </a:t>
            </a:r>
            <a:r>
              <a:rPr sz="2000" spc="10" dirty="0">
                <a:cs typeface="Arial MT"/>
              </a:rPr>
              <a:t>1,</a:t>
            </a:r>
            <a:r>
              <a:rPr sz="2000" spc="-5" dirty="0">
                <a:cs typeface="Arial MT"/>
              </a:rPr>
              <a:t> </a:t>
            </a:r>
            <a:r>
              <a:rPr sz="2000" spc="10" dirty="0">
                <a:cs typeface="Arial MT"/>
              </a:rPr>
              <a:t>B3)</a:t>
            </a:r>
            <a:endParaRPr sz="2000" dirty="0">
              <a:cs typeface="Arial MT"/>
            </a:endParaRPr>
          </a:p>
          <a:p>
            <a:pPr>
              <a:lnSpc>
                <a:spcPct val="100000"/>
              </a:lnSpc>
              <a:spcBef>
                <a:spcPts val="50"/>
              </a:spcBef>
            </a:pPr>
            <a:endParaRPr sz="1600" dirty="0">
              <a:cs typeface="Arial MT"/>
            </a:endParaRPr>
          </a:p>
          <a:p>
            <a:pPr marR="5080" algn="r">
              <a:lnSpc>
                <a:spcPct val="100000"/>
              </a:lnSpc>
            </a:pPr>
            <a:r>
              <a:rPr sz="2000" spc="10" dirty="0">
                <a:cs typeface="Arial MT"/>
              </a:rPr>
              <a:t>Time</a:t>
            </a:r>
            <a:endParaRPr sz="2000" dirty="0">
              <a:cs typeface="Arial MT"/>
            </a:endParaRPr>
          </a:p>
        </p:txBody>
      </p:sp>
      <p:sp>
        <p:nvSpPr>
          <p:cNvPr id="38" name="TextBox 37">
            <a:extLst>
              <a:ext uri="{FF2B5EF4-FFF2-40B4-BE49-F238E27FC236}">
                <a16:creationId xmlns:a16="http://schemas.microsoft.com/office/drawing/2014/main" id="{39FB1F7E-FA82-DFE7-58F2-18D13F9D12D7}"/>
              </a:ext>
            </a:extLst>
          </p:cNvPr>
          <p:cNvSpPr txBox="1"/>
          <p:nvPr/>
        </p:nvSpPr>
        <p:spPr>
          <a:xfrm>
            <a:off x="1765782" y="7026483"/>
            <a:ext cx="7229729" cy="369332"/>
          </a:xfrm>
          <a:prstGeom prst="rect">
            <a:avLst/>
          </a:prstGeom>
          <a:noFill/>
        </p:spPr>
        <p:txBody>
          <a:bodyPr wrap="square">
            <a:spAutoFit/>
          </a:bodyPr>
          <a:lstStyle/>
          <a:p>
            <a:pPr algn="l"/>
            <a:r>
              <a:rPr lang="en-US" sz="1800" b="0" i="0" u="none" strike="noStrike" baseline="0" dirty="0">
                <a:latin typeface="Times-Roman"/>
              </a:rPr>
              <a:t>An asterisk indicates where a network layer accepts a packet.</a:t>
            </a:r>
            <a:endParaRPr lang="en-US" dirty="0"/>
          </a:p>
        </p:txBody>
      </p:sp>
      <p:sp>
        <p:nvSpPr>
          <p:cNvPr id="39" name="TextBox 38">
            <a:extLst>
              <a:ext uri="{FF2B5EF4-FFF2-40B4-BE49-F238E27FC236}">
                <a16:creationId xmlns:a16="http://schemas.microsoft.com/office/drawing/2014/main" id="{760A00B3-D834-6C17-CDA6-8FC67EAC0C27}"/>
              </a:ext>
            </a:extLst>
          </p:cNvPr>
          <p:cNvSpPr txBox="1"/>
          <p:nvPr/>
        </p:nvSpPr>
        <p:spPr>
          <a:xfrm>
            <a:off x="533400" y="777313"/>
            <a:ext cx="8275526" cy="646331"/>
          </a:xfrm>
          <a:prstGeom prst="rect">
            <a:avLst/>
          </a:prstGeom>
          <a:noFill/>
        </p:spPr>
        <p:txBody>
          <a:bodyPr wrap="square">
            <a:spAutoFit/>
          </a:bodyPr>
          <a:lstStyle/>
          <a:p>
            <a:pPr algn="l"/>
            <a:r>
              <a:rPr lang="en-US" sz="1800" b="0" i="0" u="none" strike="noStrike" baseline="0" dirty="0">
                <a:latin typeface="Times-Roman"/>
              </a:rPr>
              <a:t>The acknowledgement field contains the number of the </a:t>
            </a:r>
            <a:r>
              <a:rPr lang="en-US" sz="1800" b="1" i="0" u="none" strike="noStrike" baseline="0" dirty="0">
                <a:latin typeface="Times-Roman"/>
              </a:rPr>
              <a:t>last frame received </a:t>
            </a:r>
            <a:r>
              <a:rPr lang="en-US" sz="1800" b="0" i="0" u="none" strike="noStrike" baseline="0" dirty="0">
                <a:latin typeface="Times-Roman"/>
              </a:rPr>
              <a:t>without error.</a:t>
            </a:r>
            <a:endParaRPr lang="en-US" dirty="0"/>
          </a:p>
        </p:txBody>
      </p:sp>
      <p:sp>
        <p:nvSpPr>
          <p:cNvPr id="40" name="TextBox 39">
            <a:extLst>
              <a:ext uri="{FF2B5EF4-FFF2-40B4-BE49-F238E27FC236}">
                <a16:creationId xmlns:a16="http://schemas.microsoft.com/office/drawing/2014/main" id="{D5273657-21DD-BB43-CAC7-173067499C64}"/>
              </a:ext>
            </a:extLst>
          </p:cNvPr>
          <p:cNvSpPr txBox="1"/>
          <p:nvPr/>
        </p:nvSpPr>
        <p:spPr>
          <a:xfrm>
            <a:off x="3352800" y="1888066"/>
            <a:ext cx="4699666" cy="73866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just"/>
            <a:r>
              <a:rPr lang="en-US" sz="1400" dirty="0">
                <a:solidFill>
                  <a:schemeClr val="accent1"/>
                </a:solidFill>
              </a:rPr>
              <a:t>Here we don’t know what frame, A has received without error </a:t>
            </a:r>
            <a:r>
              <a:rPr lang="en-US" sz="1400" b="1" dirty="0">
                <a:solidFill>
                  <a:schemeClr val="accent1"/>
                </a:solidFill>
              </a:rPr>
              <a:t>previously</a:t>
            </a:r>
            <a:r>
              <a:rPr lang="en-US" sz="1400" dirty="0">
                <a:solidFill>
                  <a:schemeClr val="accent1"/>
                </a:solidFill>
              </a:rPr>
              <a:t>. So assume the acknowledgement field is X, we can also assume it as 1. </a:t>
            </a:r>
          </a:p>
        </p:txBody>
      </p:sp>
      <p:pic>
        <p:nvPicPr>
          <p:cNvPr id="42" name="Graphic 41" descr="Line arrow Slight curve">
            <a:extLst>
              <a:ext uri="{FF2B5EF4-FFF2-40B4-BE49-F238E27FC236}">
                <a16:creationId xmlns:a16="http://schemas.microsoft.com/office/drawing/2014/main" id="{DE19C9A3-AE08-5B7A-FC89-056BF91AF13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253271">
            <a:off x="6274644" y="3204310"/>
            <a:ext cx="914400" cy="914400"/>
          </a:xfrm>
          <a:prstGeom prst="rect">
            <a:avLst/>
          </a:prstGeom>
        </p:spPr>
      </p:pic>
      <p:sp>
        <p:nvSpPr>
          <p:cNvPr id="43" name="TextBox 42">
            <a:extLst>
              <a:ext uri="{FF2B5EF4-FFF2-40B4-BE49-F238E27FC236}">
                <a16:creationId xmlns:a16="http://schemas.microsoft.com/office/drawing/2014/main" id="{BA3B6DFB-A76A-B6A5-0681-525798EAC4E4}"/>
              </a:ext>
            </a:extLst>
          </p:cNvPr>
          <p:cNvSpPr txBox="1"/>
          <p:nvPr/>
        </p:nvSpPr>
        <p:spPr>
          <a:xfrm>
            <a:off x="7395230" y="3029841"/>
            <a:ext cx="2411049" cy="30777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just"/>
            <a:r>
              <a:rPr lang="en-US" sz="1400" dirty="0">
                <a:solidFill>
                  <a:schemeClr val="accent1"/>
                </a:solidFill>
              </a:rPr>
              <a:t>Acknowledgment for frame 0</a:t>
            </a:r>
          </a:p>
        </p:txBody>
      </p:sp>
      <p:sp>
        <p:nvSpPr>
          <p:cNvPr id="44" name="TextBox 43">
            <a:extLst>
              <a:ext uri="{FF2B5EF4-FFF2-40B4-BE49-F238E27FC236}">
                <a16:creationId xmlns:a16="http://schemas.microsoft.com/office/drawing/2014/main" id="{99CE81A2-B377-D2CB-4F14-866FD75C5BFC}"/>
              </a:ext>
            </a:extLst>
          </p:cNvPr>
          <p:cNvSpPr txBox="1"/>
          <p:nvPr/>
        </p:nvSpPr>
        <p:spPr>
          <a:xfrm>
            <a:off x="134776" y="3578423"/>
            <a:ext cx="1508743" cy="95410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just"/>
            <a:r>
              <a:rPr lang="en-US" sz="1400" dirty="0">
                <a:solidFill>
                  <a:schemeClr val="accent1"/>
                </a:solidFill>
              </a:rPr>
              <a:t>Now we know last frame that was received without error is 0.</a:t>
            </a:r>
          </a:p>
        </p:txBody>
      </p:sp>
      <p:pic>
        <p:nvPicPr>
          <p:cNvPr id="45" name="Graphic 44" descr="Line arrow Slight curve">
            <a:extLst>
              <a:ext uri="{FF2B5EF4-FFF2-40B4-BE49-F238E27FC236}">
                <a16:creationId xmlns:a16="http://schemas.microsoft.com/office/drawing/2014/main" id="{00B5740A-8F04-3D14-2B83-833C1C1DDA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846376" y="3578424"/>
            <a:ext cx="1508742" cy="1247562"/>
          </a:xfrm>
          <a:prstGeom prst="rect">
            <a:avLst/>
          </a:prstGeom>
        </p:spPr>
      </p:pic>
      <p:sp>
        <p:nvSpPr>
          <p:cNvPr id="46" name="TextBox 45">
            <a:extLst>
              <a:ext uri="{FF2B5EF4-FFF2-40B4-BE49-F238E27FC236}">
                <a16:creationId xmlns:a16="http://schemas.microsoft.com/office/drawing/2014/main" id="{DDECBB43-81D6-9062-7FB2-788059A5D23D}"/>
              </a:ext>
            </a:extLst>
          </p:cNvPr>
          <p:cNvSpPr txBox="1"/>
          <p:nvPr/>
        </p:nvSpPr>
        <p:spPr>
          <a:xfrm>
            <a:off x="7441067" y="4245328"/>
            <a:ext cx="2411049" cy="30777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just"/>
            <a:r>
              <a:rPr lang="en-US" sz="1400" dirty="0">
                <a:solidFill>
                  <a:schemeClr val="accent1"/>
                </a:solidFill>
              </a:rPr>
              <a:t>Acknowledgment for frame 1</a:t>
            </a:r>
          </a:p>
        </p:txBody>
      </p:sp>
      <p:pic>
        <p:nvPicPr>
          <p:cNvPr id="47" name="Graphic 46" descr="Line arrow Slight curve">
            <a:extLst>
              <a:ext uri="{FF2B5EF4-FFF2-40B4-BE49-F238E27FC236}">
                <a16:creationId xmlns:a16="http://schemas.microsoft.com/office/drawing/2014/main" id="{2C475724-6643-3709-DDF5-D5DAFF09DD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253271">
            <a:off x="6297428" y="4179940"/>
            <a:ext cx="914400" cy="914400"/>
          </a:xfrm>
          <a:prstGeom prst="rect">
            <a:avLst/>
          </a:prstGeom>
        </p:spPr>
      </p:pic>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91080"/>
            <a:ext cx="9214485" cy="614912"/>
          </a:xfrm>
          <a:prstGeom prst="rect">
            <a:avLst/>
          </a:prstGeom>
        </p:spPr>
        <p:txBody>
          <a:bodyPr vert="horz" wrap="square" lIns="0" tIns="75565" rIns="0" bIns="0" rtlCol="0">
            <a:spAutoFit/>
          </a:bodyPr>
          <a:lstStyle/>
          <a:p>
            <a:pPr marL="12700" marR="5080">
              <a:lnSpc>
                <a:spcPts val="4200"/>
              </a:lnSpc>
              <a:spcBef>
                <a:spcPts val="595"/>
              </a:spcBef>
            </a:pPr>
            <a:r>
              <a:rPr spc="-5" dirty="0">
                <a:latin typeface="+mn-lt"/>
              </a:rPr>
              <a:t>One-Bit </a:t>
            </a:r>
            <a:r>
              <a:rPr spc="-10" dirty="0">
                <a:latin typeface="+mn-lt"/>
              </a:rPr>
              <a:t>Sliding </a:t>
            </a:r>
            <a:r>
              <a:rPr spc="-15" dirty="0">
                <a:latin typeface="+mn-lt"/>
              </a:rPr>
              <a:t>Window </a:t>
            </a:r>
            <a:r>
              <a:rPr spc="-1055" dirty="0">
                <a:latin typeface="+mn-lt"/>
              </a:rPr>
              <a:t> </a:t>
            </a:r>
            <a:r>
              <a:rPr spc="-5" dirty="0">
                <a:latin typeface="+mn-lt"/>
              </a:rPr>
              <a:t>Degenerate</a:t>
            </a:r>
            <a:r>
              <a:rPr spc="-45" dirty="0">
                <a:latin typeface="+mn-lt"/>
              </a:rPr>
              <a:t> </a:t>
            </a:r>
            <a:r>
              <a:rPr spc="-5" dirty="0">
                <a:latin typeface="+mn-lt"/>
              </a:rPr>
              <a:t>Case</a:t>
            </a:r>
          </a:p>
        </p:txBody>
      </p:sp>
      <p:sp>
        <p:nvSpPr>
          <p:cNvPr id="23" name="object 23"/>
          <p:cNvSpPr txBox="1">
            <a:spLocks noGrp="1"/>
          </p:cNvSpPr>
          <p:nvPr>
            <p:ph type="sldNum" sz="quarter" idx="7"/>
          </p:nvPr>
        </p:nvSpPr>
        <p:spPr>
          <a:xfrm>
            <a:off x="7103745" y="7332541"/>
            <a:ext cx="2263140" cy="156453"/>
          </a:xfrm>
          <a:prstGeom prst="rect">
            <a:avLst/>
          </a:prstGeom>
        </p:spPr>
        <p:txBody>
          <a:bodyPr vert="horz" wrap="square" lIns="0" tIns="2540" rIns="0" bIns="0" rtlCol="0">
            <a:spAutoFit/>
          </a:bodyPr>
          <a:lstStyle/>
          <a:p>
            <a:pPr marL="12700">
              <a:lnSpc>
                <a:spcPct val="100000"/>
              </a:lnSpc>
              <a:spcBef>
                <a:spcPts val="20"/>
              </a:spcBef>
            </a:pPr>
            <a:r>
              <a:rPr spc="5" dirty="0">
                <a:latin typeface="+mn-lt"/>
              </a:rPr>
              <a:t>Chapter</a:t>
            </a:r>
            <a:r>
              <a:rPr spc="10" dirty="0">
                <a:latin typeface="+mn-lt"/>
              </a:rPr>
              <a:t> </a:t>
            </a:r>
            <a:r>
              <a:rPr spc="15" dirty="0">
                <a:latin typeface="+mn-lt"/>
              </a:rPr>
              <a:t>3</a:t>
            </a:r>
            <a:r>
              <a:rPr spc="-15" dirty="0">
                <a:latin typeface="+mn-lt"/>
              </a:rPr>
              <a:t> </a:t>
            </a:r>
            <a:r>
              <a:rPr spc="15" dirty="0">
                <a:latin typeface="+mn-lt"/>
              </a:rPr>
              <a:t>–</a:t>
            </a:r>
            <a:r>
              <a:rPr spc="-10" dirty="0">
                <a:latin typeface="+mn-lt"/>
              </a:rPr>
              <a:t> </a:t>
            </a:r>
            <a:r>
              <a:rPr spc="10" dirty="0">
                <a:latin typeface="+mn-lt"/>
              </a:rPr>
              <a:t>p.</a:t>
            </a:r>
            <a:fld id="{81D60167-4931-47E6-BA6A-407CBD079E47}" type="slidenum">
              <a:rPr spc="10" dirty="0">
                <a:latin typeface="+mn-lt"/>
              </a:rPr>
              <a:t>44</a:t>
            </a:fld>
            <a:r>
              <a:rPr spc="10" dirty="0">
                <a:latin typeface="+mn-lt"/>
              </a:rPr>
              <a:t>/69</a:t>
            </a:r>
          </a:p>
        </p:txBody>
      </p:sp>
      <p:grpSp>
        <p:nvGrpSpPr>
          <p:cNvPr id="3" name="object 3"/>
          <p:cNvGrpSpPr/>
          <p:nvPr/>
        </p:nvGrpSpPr>
        <p:grpSpPr>
          <a:xfrm>
            <a:off x="4419600" y="5430380"/>
            <a:ext cx="1721485" cy="312420"/>
            <a:chOff x="4747691" y="6119342"/>
            <a:chExt cx="1721485" cy="312420"/>
          </a:xfrm>
        </p:grpSpPr>
        <p:sp>
          <p:nvSpPr>
            <p:cNvPr id="4" name="object 4"/>
            <p:cNvSpPr/>
            <p:nvPr/>
          </p:nvSpPr>
          <p:spPr>
            <a:xfrm>
              <a:off x="4754803" y="6126454"/>
              <a:ext cx="1706880" cy="284480"/>
            </a:xfrm>
            <a:custGeom>
              <a:avLst/>
              <a:gdLst/>
              <a:ahLst/>
              <a:cxnLst/>
              <a:rect l="l" t="t" r="r" b="b"/>
              <a:pathLst>
                <a:path w="1706879" h="284479">
                  <a:moveTo>
                    <a:pt x="0" y="0"/>
                  </a:moveTo>
                  <a:lnTo>
                    <a:pt x="1706816" y="284467"/>
                  </a:lnTo>
                </a:path>
              </a:pathLst>
            </a:custGeom>
            <a:ln w="14223">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6189954" y="6305194"/>
              <a:ext cx="248436" cy="126110"/>
            </a:xfrm>
            <a:prstGeom prst="rect">
              <a:avLst/>
            </a:prstGeom>
          </p:spPr>
        </p:pic>
      </p:grpSp>
      <p:grpSp>
        <p:nvGrpSpPr>
          <p:cNvPr id="6" name="object 6"/>
          <p:cNvGrpSpPr/>
          <p:nvPr/>
        </p:nvGrpSpPr>
        <p:grpSpPr>
          <a:xfrm>
            <a:off x="4114801" y="2372322"/>
            <a:ext cx="2026286" cy="2646045"/>
            <a:chOff x="4676572" y="3061284"/>
            <a:chExt cx="1792605" cy="2646045"/>
          </a:xfrm>
        </p:grpSpPr>
        <p:sp>
          <p:nvSpPr>
            <p:cNvPr id="7" name="object 7"/>
            <p:cNvSpPr/>
            <p:nvPr/>
          </p:nvSpPr>
          <p:spPr>
            <a:xfrm>
              <a:off x="4683684" y="4419638"/>
              <a:ext cx="1778000" cy="1280160"/>
            </a:xfrm>
            <a:custGeom>
              <a:avLst/>
              <a:gdLst/>
              <a:ahLst/>
              <a:cxnLst/>
              <a:rect l="l" t="t" r="r" b="b"/>
              <a:pathLst>
                <a:path w="1778000" h="1280160">
                  <a:moveTo>
                    <a:pt x="1777936" y="0"/>
                  </a:moveTo>
                  <a:lnTo>
                    <a:pt x="0" y="1280109"/>
                  </a:lnTo>
                </a:path>
              </a:pathLst>
            </a:custGeom>
            <a:ln w="14223">
              <a:solidFill>
                <a:srgbClr val="000000"/>
              </a:solidFill>
            </a:ln>
          </p:spPr>
          <p:txBody>
            <a:bodyPr wrap="square" lIns="0" tIns="0" rIns="0" bIns="0" rtlCol="0"/>
            <a:lstStyle/>
            <a:p>
              <a:endParaRPr/>
            </a:p>
          </p:txBody>
        </p:sp>
        <p:pic>
          <p:nvPicPr>
            <p:cNvPr id="8" name="object 8"/>
            <p:cNvPicPr/>
            <p:nvPr/>
          </p:nvPicPr>
          <p:blipFill>
            <a:blip r:embed="rId3" cstate="print"/>
            <a:stretch>
              <a:fillRect/>
            </a:stretch>
          </p:blipFill>
          <p:spPr>
            <a:xfrm>
              <a:off x="4701222" y="5495404"/>
              <a:ext cx="231380" cy="193433"/>
            </a:xfrm>
            <a:prstGeom prst="rect">
              <a:avLst/>
            </a:prstGeom>
          </p:spPr>
        </p:pic>
        <p:sp>
          <p:nvSpPr>
            <p:cNvPr id="9" name="object 9"/>
            <p:cNvSpPr/>
            <p:nvPr/>
          </p:nvSpPr>
          <p:spPr>
            <a:xfrm>
              <a:off x="4754804" y="4704105"/>
              <a:ext cx="1706880" cy="568960"/>
            </a:xfrm>
            <a:custGeom>
              <a:avLst/>
              <a:gdLst/>
              <a:ahLst/>
              <a:cxnLst/>
              <a:rect l="l" t="t" r="r" b="b"/>
              <a:pathLst>
                <a:path w="1706879" h="568960">
                  <a:moveTo>
                    <a:pt x="0" y="0"/>
                  </a:moveTo>
                  <a:lnTo>
                    <a:pt x="1706816" y="568934"/>
                  </a:lnTo>
                </a:path>
              </a:pathLst>
            </a:custGeom>
            <a:ln w="14223">
              <a:solidFill>
                <a:srgbClr val="000000"/>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6190907" y="5130330"/>
              <a:ext cx="248436" cy="140347"/>
            </a:xfrm>
            <a:prstGeom prst="rect">
              <a:avLst/>
            </a:prstGeom>
          </p:spPr>
        </p:pic>
        <p:sp>
          <p:nvSpPr>
            <p:cNvPr id="11" name="object 11"/>
            <p:cNvSpPr/>
            <p:nvPr/>
          </p:nvSpPr>
          <p:spPr>
            <a:xfrm>
              <a:off x="4683684" y="3068396"/>
              <a:ext cx="1778000" cy="1422400"/>
            </a:xfrm>
            <a:custGeom>
              <a:avLst/>
              <a:gdLst/>
              <a:ahLst/>
              <a:cxnLst/>
              <a:rect l="l" t="t" r="r" b="b"/>
              <a:pathLst>
                <a:path w="1778000" h="1422400">
                  <a:moveTo>
                    <a:pt x="1777936" y="0"/>
                  </a:moveTo>
                  <a:lnTo>
                    <a:pt x="0" y="1422349"/>
                  </a:lnTo>
                </a:path>
              </a:pathLst>
            </a:custGeom>
            <a:ln w="14223">
              <a:solidFill>
                <a:srgbClr val="000000"/>
              </a:solidFill>
            </a:ln>
          </p:spPr>
          <p:txBody>
            <a:bodyPr wrap="square" lIns="0" tIns="0" rIns="0" bIns="0" rtlCol="0"/>
            <a:lstStyle/>
            <a:p>
              <a:endParaRPr/>
            </a:p>
          </p:txBody>
        </p:sp>
        <p:pic>
          <p:nvPicPr>
            <p:cNvPr id="12" name="object 12"/>
            <p:cNvPicPr/>
            <p:nvPr/>
          </p:nvPicPr>
          <p:blipFill>
            <a:blip r:embed="rId5" cstate="print"/>
            <a:stretch>
              <a:fillRect/>
            </a:stretch>
          </p:blipFill>
          <p:spPr>
            <a:xfrm>
              <a:off x="4700283" y="4277868"/>
              <a:ext cx="226630" cy="201027"/>
            </a:xfrm>
            <a:prstGeom prst="rect">
              <a:avLst/>
            </a:prstGeom>
          </p:spPr>
        </p:pic>
        <p:sp>
          <p:nvSpPr>
            <p:cNvPr id="13" name="object 13"/>
            <p:cNvSpPr/>
            <p:nvPr/>
          </p:nvSpPr>
          <p:spPr>
            <a:xfrm>
              <a:off x="4754804" y="3281756"/>
              <a:ext cx="1706880" cy="853440"/>
            </a:xfrm>
            <a:custGeom>
              <a:avLst/>
              <a:gdLst/>
              <a:ahLst/>
              <a:cxnLst/>
              <a:rect l="l" t="t" r="r" b="b"/>
              <a:pathLst>
                <a:path w="1706879" h="853439">
                  <a:moveTo>
                    <a:pt x="0" y="0"/>
                  </a:moveTo>
                  <a:lnTo>
                    <a:pt x="1706816" y="853401"/>
                  </a:lnTo>
                </a:path>
              </a:pathLst>
            </a:custGeom>
            <a:ln w="14223">
              <a:solidFill>
                <a:srgbClr val="000000"/>
              </a:solidFill>
            </a:ln>
          </p:spPr>
          <p:txBody>
            <a:bodyPr wrap="square" lIns="0" tIns="0" rIns="0" bIns="0" rtlCol="0"/>
            <a:lstStyle/>
            <a:p>
              <a:endParaRPr/>
            </a:p>
          </p:txBody>
        </p:sp>
        <p:pic>
          <p:nvPicPr>
            <p:cNvPr id="14" name="object 14"/>
            <p:cNvPicPr/>
            <p:nvPr/>
          </p:nvPicPr>
          <p:blipFill>
            <a:blip r:embed="rId6" cstate="print"/>
            <a:stretch>
              <a:fillRect/>
            </a:stretch>
          </p:blipFill>
          <p:spPr>
            <a:xfrm>
              <a:off x="6197537" y="3962108"/>
              <a:ext cx="243699" cy="166890"/>
            </a:xfrm>
            <a:prstGeom prst="rect">
              <a:avLst/>
            </a:prstGeom>
          </p:spPr>
        </p:pic>
      </p:grpSp>
      <p:grpSp>
        <p:nvGrpSpPr>
          <p:cNvPr id="15" name="object 15"/>
          <p:cNvGrpSpPr/>
          <p:nvPr/>
        </p:nvGrpSpPr>
        <p:grpSpPr>
          <a:xfrm>
            <a:off x="4419600" y="1447800"/>
            <a:ext cx="1721485" cy="868044"/>
            <a:chOff x="4747691" y="2136762"/>
            <a:chExt cx="1721485" cy="868044"/>
          </a:xfrm>
        </p:grpSpPr>
        <p:sp>
          <p:nvSpPr>
            <p:cNvPr id="16" name="object 16"/>
            <p:cNvSpPr/>
            <p:nvPr/>
          </p:nvSpPr>
          <p:spPr>
            <a:xfrm>
              <a:off x="4754803" y="2214994"/>
              <a:ext cx="1706880" cy="782320"/>
            </a:xfrm>
            <a:custGeom>
              <a:avLst/>
              <a:gdLst/>
              <a:ahLst/>
              <a:cxnLst/>
              <a:rect l="l" t="t" r="r" b="b"/>
              <a:pathLst>
                <a:path w="1706879" h="782319">
                  <a:moveTo>
                    <a:pt x="1706816" y="0"/>
                  </a:moveTo>
                  <a:lnTo>
                    <a:pt x="0" y="782294"/>
                  </a:lnTo>
                </a:path>
              </a:pathLst>
            </a:custGeom>
            <a:ln w="14223">
              <a:solidFill>
                <a:srgbClr val="000000"/>
              </a:solidFill>
            </a:ln>
          </p:spPr>
          <p:txBody>
            <a:bodyPr wrap="square" lIns="0" tIns="0" rIns="0" bIns="0" rtlCol="0"/>
            <a:lstStyle/>
            <a:p>
              <a:endParaRPr/>
            </a:p>
          </p:txBody>
        </p:sp>
        <p:pic>
          <p:nvPicPr>
            <p:cNvPr id="17" name="object 17"/>
            <p:cNvPicPr/>
            <p:nvPr/>
          </p:nvPicPr>
          <p:blipFill>
            <a:blip r:embed="rId7" cstate="print"/>
            <a:stretch>
              <a:fillRect/>
            </a:stretch>
          </p:blipFill>
          <p:spPr>
            <a:xfrm>
              <a:off x="4775187" y="2830868"/>
              <a:ext cx="244652" cy="161200"/>
            </a:xfrm>
            <a:prstGeom prst="rect">
              <a:avLst/>
            </a:prstGeom>
          </p:spPr>
        </p:pic>
        <p:sp>
          <p:nvSpPr>
            <p:cNvPr id="18" name="object 18"/>
            <p:cNvSpPr/>
            <p:nvPr/>
          </p:nvSpPr>
          <p:spPr>
            <a:xfrm>
              <a:off x="4754803" y="2143874"/>
              <a:ext cx="1706880" cy="568960"/>
            </a:xfrm>
            <a:custGeom>
              <a:avLst/>
              <a:gdLst/>
              <a:ahLst/>
              <a:cxnLst/>
              <a:rect l="l" t="t" r="r" b="b"/>
              <a:pathLst>
                <a:path w="1706879" h="568960">
                  <a:moveTo>
                    <a:pt x="0" y="0"/>
                  </a:moveTo>
                  <a:lnTo>
                    <a:pt x="1706816" y="568934"/>
                  </a:lnTo>
                </a:path>
              </a:pathLst>
            </a:custGeom>
            <a:ln w="14223">
              <a:solidFill>
                <a:srgbClr val="000000"/>
              </a:solidFill>
            </a:ln>
          </p:spPr>
          <p:txBody>
            <a:bodyPr wrap="square" lIns="0" tIns="0" rIns="0" bIns="0" rtlCol="0"/>
            <a:lstStyle/>
            <a:p>
              <a:endParaRPr/>
            </a:p>
          </p:txBody>
        </p:sp>
        <p:pic>
          <p:nvPicPr>
            <p:cNvPr id="19" name="object 19"/>
            <p:cNvPicPr/>
            <p:nvPr/>
          </p:nvPicPr>
          <p:blipFill>
            <a:blip r:embed="rId8" cstate="print"/>
            <a:stretch>
              <a:fillRect/>
            </a:stretch>
          </p:blipFill>
          <p:spPr>
            <a:xfrm>
              <a:off x="6190907" y="2570099"/>
              <a:ext cx="248436" cy="140347"/>
            </a:xfrm>
            <a:prstGeom prst="rect">
              <a:avLst/>
            </a:prstGeom>
          </p:spPr>
        </p:pic>
      </p:grpSp>
      <p:sp>
        <p:nvSpPr>
          <p:cNvPr id="20" name="object 20"/>
          <p:cNvSpPr txBox="1"/>
          <p:nvPr/>
        </p:nvSpPr>
        <p:spPr>
          <a:xfrm>
            <a:off x="6263069" y="1328426"/>
            <a:ext cx="2159635" cy="5059717"/>
          </a:xfrm>
          <a:prstGeom prst="rect">
            <a:avLst/>
          </a:prstGeom>
        </p:spPr>
        <p:txBody>
          <a:bodyPr vert="horz" wrap="square" lIns="0" tIns="14604" rIns="0" bIns="0" rtlCol="0">
            <a:spAutoFit/>
          </a:bodyPr>
          <a:lstStyle/>
          <a:p>
            <a:pPr marL="12700">
              <a:lnSpc>
                <a:spcPct val="100000"/>
              </a:lnSpc>
              <a:spcBef>
                <a:spcPts val="114"/>
              </a:spcBef>
            </a:pPr>
            <a:r>
              <a:rPr sz="2000" b="1" spc="10" dirty="0">
                <a:cs typeface="Arial"/>
              </a:rPr>
              <a:t>B</a:t>
            </a:r>
            <a:r>
              <a:rPr sz="2000" b="1" spc="-15" dirty="0">
                <a:cs typeface="Arial"/>
              </a:rPr>
              <a:t> </a:t>
            </a:r>
            <a:r>
              <a:rPr sz="2000" b="1" spc="5" dirty="0">
                <a:cs typeface="Arial"/>
              </a:rPr>
              <a:t>sends</a:t>
            </a:r>
            <a:r>
              <a:rPr sz="2000" b="1" spc="-15" dirty="0">
                <a:cs typeface="Arial"/>
              </a:rPr>
              <a:t> </a:t>
            </a:r>
            <a:r>
              <a:rPr sz="2000" b="1" spc="5" dirty="0">
                <a:cs typeface="Arial"/>
              </a:rPr>
              <a:t>(0,</a:t>
            </a:r>
            <a:r>
              <a:rPr sz="2000" b="1" spc="-15" dirty="0">
                <a:cs typeface="Arial"/>
              </a:rPr>
              <a:t> </a:t>
            </a:r>
            <a:r>
              <a:rPr sz="2000" b="1" spc="5" dirty="0">
                <a:cs typeface="Arial"/>
              </a:rPr>
              <a:t>1</a:t>
            </a:r>
            <a:r>
              <a:rPr sz="2000" b="1" spc="5" dirty="0">
                <a:highlight>
                  <a:srgbClr val="FFFF00"/>
                </a:highlight>
                <a:cs typeface="Arial"/>
              </a:rPr>
              <a:t>,</a:t>
            </a:r>
            <a:r>
              <a:rPr sz="2000" b="1" spc="-15" dirty="0">
                <a:highlight>
                  <a:srgbClr val="FFFF00"/>
                </a:highlight>
                <a:cs typeface="Arial"/>
              </a:rPr>
              <a:t> </a:t>
            </a:r>
            <a:r>
              <a:rPr sz="2000" b="1" spc="5" dirty="0">
                <a:highlight>
                  <a:srgbClr val="FFFF00"/>
                </a:highlight>
                <a:cs typeface="Arial"/>
              </a:rPr>
              <a:t>B0</a:t>
            </a:r>
            <a:r>
              <a:rPr sz="2000" b="1" spc="5" dirty="0">
                <a:cs typeface="Arial"/>
              </a:rPr>
              <a:t>)</a:t>
            </a:r>
            <a:endParaRPr sz="2000" dirty="0">
              <a:cs typeface="Arial"/>
            </a:endParaRPr>
          </a:p>
          <a:p>
            <a:pPr>
              <a:lnSpc>
                <a:spcPct val="100000"/>
              </a:lnSpc>
              <a:spcBef>
                <a:spcPts val="10"/>
              </a:spcBef>
            </a:pPr>
            <a:endParaRPr sz="1800" dirty="0">
              <a:cs typeface="Arial"/>
            </a:endParaRPr>
          </a:p>
          <a:p>
            <a:pPr marL="12700">
              <a:lnSpc>
                <a:spcPts val="2320"/>
              </a:lnSpc>
            </a:pPr>
            <a:r>
              <a:rPr sz="2000" b="1" spc="10" dirty="0">
                <a:cs typeface="Arial"/>
              </a:rPr>
              <a:t>B</a:t>
            </a:r>
            <a:r>
              <a:rPr sz="2000" b="1" spc="-15" dirty="0">
                <a:cs typeface="Arial"/>
              </a:rPr>
              <a:t> </a:t>
            </a:r>
            <a:r>
              <a:rPr sz="2000" b="1" spc="5" dirty="0">
                <a:cs typeface="Arial"/>
              </a:rPr>
              <a:t>gets</a:t>
            </a:r>
            <a:r>
              <a:rPr sz="2000" b="1" spc="-10" dirty="0">
                <a:cs typeface="Arial"/>
              </a:rPr>
              <a:t> </a:t>
            </a:r>
            <a:r>
              <a:rPr sz="2000" b="1" spc="5" dirty="0">
                <a:cs typeface="Arial"/>
              </a:rPr>
              <a:t>(0,</a:t>
            </a:r>
            <a:r>
              <a:rPr sz="2000" b="1" spc="-10" dirty="0">
                <a:cs typeface="Arial"/>
              </a:rPr>
              <a:t> </a:t>
            </a:r>
            <a:r>
              <a:rPr sz="2000" b="1" spc="5" dirty="0">
                <a:cs typeface="Arial"/>
              </a:rPr>
              <a:t>1,</a:t>
            </a:r>
            <a:r>
              <a:rPr sz="2000" b="1" spc="-15" dirty="0">
                <a:cs typeface="Arial"/>
              </a:rPr>
              <a:t> </a:t>
            </a:r>
            <a:r>
              <a:rPr sz="2000" b="1" spc="5" dirty="0">
                <a:cs typeface="Arial"/>
              </a:rPr>
              <a:t>A0)</a:t>
            </a:r>
            <a:r>
              <a:rPr sz="2000" b="1" spc="-10" dirty="0">
                <a:cs typeface="Arial"/>
              </a:rPr>
              <a:t> </a:t>
            </a:r>
            <a:r>
              <a:rPr sz="2000" b="1" spc="5" dirty="0">
                <a:cs typeface="Arial"/>
              </a:rPr>
              <a:t>*</a:t>
            </a:r>
            <a:endParaRPr sz="2000" dirty="0">
              <a:cs typeface="Arial"/>
            </a:endParaRPr>
          </a:p>
          <a:p>
            <a:pPr marL="12700">
              <a:lnSpc>
                <a:spcPts val="2320"/>
              </a:lnSpc>
            </a:pPr>
            <a:r>
              <a:rPr sz="2000" b="1" spc="10" dirty="0">
                <a:cs typeface="Arial"/>
              </a:rPr>
              <a:t>B</a:t>
            </a:r>
            <a:r>
              <a:rPr sz="2000" b="1" spc="-15" dirty="0">
                <a:cs typeface="Arial"/>
              </a:rPr>
              <a:t> </a:t>
            </a:r>
            <a:r>
              <a:rPr sz="2000" b="1" spc="5" dirty="0">
                <a:cs typeface="Arial"/>
              </a:rPr>
              <a:t>sends</a:t>
            </a:r>
            <a:r>
              <a:rPr sz="2000" b="1" spc="-15" dirty="0">
                <a:cs typeface="Arial"/>
              </a:rPr>
              <a:t> </a:t>
            </a:r>
            <a:r>
              <a:rPr sz="2000" b="1" spc="5" dirty="0">
                <a:cs typeface="Arial"/>
              </a:rPr>
              <a:t>(0,</a:t>
            </a:r>
            <a:r>
              <a:rPr sz="2000" b="1" spc="-15" dirty="0">
                <a:cs typeface="Arial"/>
              </a:rPr>
              <a:t> </a:t>
            </a:r>
            <a:r>
              <a:rPr sz="2000" b="1" spc="5" dirty="0">
                <a:cs typeface="Arial"/>
              </a:rPr>
              <a:t>0,</a:t>
            </a:r>
            <a:r>
              <a:rPr sz="2000" b="1" spc="-15" dirty="0">
                <a:cs typeface="Arial"/>
              </a:rPr>
              <a:t> </a:t>
            </a:r>
            <a:r>
              <a:rPr sz="2000" b="1" spc="5" dirty="0">
                <a:highlight>
                  <a:srgbClr val="FFFF00"/>
                </a:highlight>
                <a:cs typeface="Arial"/>
              </a:rPr>
              <a:t>B0</a:t>
            </a:r>
            <a:r>
              <a:rPr sz="2000" b="1" spc="5" dirty="0">
                <a:cs typeface="Arial"/>
              </a:rPr>
              <a:t>)</a:t>
            </a:r>
            <a:endParaRPr sz="2000" dirty="0">
              <a:cs typeface="Arial"/>
            </a:endParaRPr>
          </a:p>
          <a:p>
            <a:pPr>
              <a:lnSpc>
                <a:spcPct val="100000"/>
              </a:lnSpc>
            </a:pPr>
            <a:endParaRPr sz="2200" dirty="0">
              <a:cs typeface="Arial"/>
            </a:endParaRPr>
          </a:p>
          <a:p>
            <a:pPr>
              <a:lnSpc>
                <a:spcPct val="100000"/>
              </a:lnSpc>
              <a:spcBef>
                <a:spcPts val="20"/>
              </a:spcBef>
            </a:pPr>
            <a:endParaRPr sz="3000" dirty="0">
              <a:cs typeface="Arial"/>
            </a:endParaRPr>
          </a:p>
          <a:p>
            <a:pPr marL="12700">
              <a:lnSpc>
                <a:spcPct val="100000"/>
              </a:lnSpc>
            </a:pPr>
            <a:r>
              <a:rPr sz="2000" b="1" spc="10" dirty="0">
                <a:cs typeface="Arial"/>
              </a:rPr>
              <a:t>B</a:t>
            </a:r>
            <a:r>
              <a:rPr sz="2000" b="1" spc="-15" dirty="0">
                <a:cs typeface="Arial"/>
              </a:rPr>
              <a:t> </a:t>
            </a:r>
            <a:r>
              <a:rPr sz="2000" b="1" spc="5" dirty="0">
                <a:cs typeface="Arial"/>
              </a:rPr>
              <a:t>gets</a:t>
            </a:r>
            <a:r>
              <a:rPr sz="2000" b="1" spc="-15" dirty="0">
                <a:cs typeface="Arial"/>
              </a:rPr>
              <a:t> </a:t>
            </a:r>
            <a:r>
              <a:rPr sz="2000" b="1" spc="5" dirty="0">
                <a:cs typeface="Arial"/>
              </a:rPr>
              <a:t>(0,</a:t>
            </a:r>
            <a:r>
              <a:rPr sz="2000" b="1" spc="-10" dirty="0">
                <a:cs typeface="Arial"/>
              </a:rPr>
              <a:t> </a:t>
            </a:r>
            <a:r>
              <a:rPr sz="2000" b="1" spc="5" dirty="0">
                <a:cs typeface="Arial"/>
              </a:rPr>
              <a:t>0,</a:t>
            </a:r>
            <a:r>
              <a:rPr sz="2000" b="1" spc="-15" dirty="0">
                <a:cs typeface="Arial"/>
              </a:rPr>
              <a:t> </a:t>
            </a:r>
            <a:r>
              <a:rPr sz="2000" b="1" spc="5" dirty="0">
                <a:cs typeface="Arial"/>
              </a:rPr>
              <a:t>A0)</a:t>
            </a:r>
            <a:endParaRPr sz="2000" dirty="0">
              <a:cs typeface="Arial"/>
            </a:endParaRPr>
          </a:p>
          <a:p>
            <a:pPr marL="12700">
              <a:lnSpc>
                <a:spcPct val="100000"/>
              </a:lnSpc>
              <a:spcBef>
                <a:spcPts val="400"/>
              </a:spcBef>
            </a:pPr>
            <a:r>
              <a:rPr sz="2000" b="1" spc="10" dirty="0">
                <a:cs typeface="Arial"/>
              </a:rPr>
              <a:t>B</a:t>
            </a:r>
            <a:r>
              <a:rPr sz="2000" b="1" spc="-15" dirty="0">
                <a:cs typeface="Arial"/>
              </a:rPr>
              <a:t> </a:t>
            </a:r>
            <a:r>
              <a:rPr sz="2000" b="1" spc="5" dirty="0">
                <a:cs typeface="Arial"/>
              </a:rPr>
              <a:t>sends</a:t>
            </a:r>
            <a:r>
              <a:rPr sz="2000" b="1" spc="-15" dirty="0">
                <a:cs typeface="Arial"/>
              </a:rPr>
              <a:t> </a:t>
            </a:r>
            <a:r>
              <a:rPr sz="2000" b="1" spc="5" dirty="0">
                <a:cs typeface="Arial"/>
              </a:rPr>
              <a:t>(1,</a:t>
            </a:r>
            <a:r>
              <a:rPr sz="2000" b="1" spc="-15" dirty="0">
                <a:cs typeface="Arial"/>
              </a:rPr>
              <a:t> </a:t>
            </a:r>
            <a:r>
              <a:rPr sz="2000" b="1" spc="5" dirty="0">
                <a:cs typeface="Arial"/>
              </a:rPr>
              <a:t>0,</a:t>
            </a:r>
            <a:r>
              <a:rPr sz="2000" b="1" spc="-15" dirty="0">
                <a:cs typeface="Arial"/>
              </a:rPr>
              <a:t> </a:t>
            </a:r>
            <a:r>
              <a:rPr sz="2000" b="1" spc="5" dirty="0">
                <a:highlight>
                  <a:srgbClr val="00FFFF"/>
                </a:highlight>
                <a:cs typeface="Arial"/>
              </a:rPr>
              <a:t>B1</a:t>
            </a:r>
            <a:r>
              <a:rPr sz="2000" b="1" spc="5" dirty="0">
                <a:cs typeface="Arial"/>
              </a:rPr>
              <a:t>)</a:t>
            </a:r>
            <a:endParaRPr sz="2000" dirty="0">
              <a:cs typeface="Arial"/>
            </a:endParaRPr>
          </a:p>
          <a:p>
            <a:pPr>
              <a:lnSpc>
                <a:spcPct val="100000"/>
              </a:lnSpc>
            </a:pPr>
            <a:endParaRPr sz="2200" dirty="0">
              <a:cs typeface="Arial"/>
            </a:endParaRPr>
          </a:p>
          <a:p>
            <a:pPr marL="12700">
              <a:lnSpc>
                <a:spcPct val="100000"/>
              </a:lnSpc>
              <a:spcBef>
                <a:spcPts val="1789"/>
              </a:spcBef>
            </a:pPr>
            <a:r>
              <a:rPr sz="2000" b="1" spc="10" dirty="0">
                <a:cs typeface="Arial"/>
              </a:rPr>
              <a:t>B</a:t>
            </a:r>
            <a:r>
              <a:rPr sz="2000" b="1" spc="-15" dirty="0">
                <a:cs typeface="Arial"/>
              </a:rPr>
              <a:t> </a:t>
            </a:r>
            <a:r>
              <a:rPr sz="2000" b="1" spc="5" dirty="0">
                <a:cs typeface="Arial"/>
              </a:rPr>
              <a:t>gets</a:t>
            </a:r>
            <a:r>
              <a:rPr sz="2000" b="1" spc="-15" dirty="0">
                <a:cs typeface="Arial"/>
              </a:rPr>
              <a:t> </a:t>
            </a:r>
            <a:r>
              <a:rPr sz="2000" b="1" spc="5" dirty="0">
                <a:cs typeface="Arial"/>
              </a:rPr>
              <a:t>(1,</a:t>
            </a:r>
            <a:r>
              <a:rPr sz="2000" b="1" spc="-10" dirty="0">
                <a:cs typeface="Arial"/>
              </a:rPr>
              <a:t> </a:t>
            </a:r>
            <a:r>
              <a:rPr sz="2000" b="1" spc="5" dirty="0">
                <a:cs typeface="Arial"/>
              </a:rPr>
              <a:t>0,</a:t>
            </a:r>
            <a:r>
              <a:rPr sz="2000" b="1" spc="-15" dirty="0">
                <a:cs typeface="Arial"/>
              </a:rPr>
              <a:t> </a:t>
            </a:r>
            <a:r>
              <a:rPr sz="2000" b="1" spc="5" dirty="0">
                <a:cs typeface="Arial"/>
              </a:rPr>
              <a:t>A1)*</a:t>
            </a:r>
            <a:endParaRPr sz="2000" dirty="0">
              <a:cs typeface="Arial"/>
            </a:endParaRPr>
          </a:p>
          <a:p>
            <a:pPr marL="12700">
              <a:lnSpc>
                <a:spcPct val="100000"/>
              </a:lnSpc>
              <a:spcBef>
                <a:spcPts val="400"/>
              </a:spcBef>
            </a:pPr>
            <a:r>
              <a:rPr sz="2000" b="1" spc="10" dirty="0">
                <a:cs typeface="Arial"/>
              </a:rPr>
              <a:t>B</a:t>
            </a:r>
            <a:r>
              <a:rPr sz="2000" b="1" spc="-15" dirty="0">
                <a:cs typeface="Arial"/>
              </a:rPr>
              <a:t> </a:t>
            </a:r>
            <a:r>
              <a:rPr sz="2000" b="1" spc="5" dirty="0">
                <a:cs typeface="Arial"/>
              </a:rPr>
              <a:t>sends</a:t>
            </a:r>
            <a:r>
              <a:rPr sz="2000" b="1" spc="-15" dirty="0">
                <a:cs typeface="Arial"/>
              </a:rPr>
              <a:t> </a:t>
            </a:r>
            <a:r>
              <a:rPr sz="2000" b="1" spc="5" dirty="0">
                <a:cs typeface="Arial"/>
              </a:rPr>
              <a:t>(1,</a:t>
            </a:r>
            <a:r>
              <a:rPr sz="2000" b="1" spc="-15" dirty="0">
                <a:cs typeface="Arial"/>
              </a:rPr>
              <a:t> </a:t>
            </a:r>
            <a:r>
              <a:rPr sz="2000" b="1" spc="5" dirty="0">
                <a:cs typeface="Arial"/>
              </a:rPr>
              <a:t>1</a:t>
            </a:r>
            <a:r>
              <a:rPr sz="2000" b="1" spc="5" dirty="0">
                <a:highlight>
                  <a:srgbClr val="00FFFF"/>
                </a:highlight>
                <a:cs typeface="Arial"/>
              </a:rPr>
              <a:t>,</a:t>
            </a:r>
            <a:r>
              <a:rPr sz="2000" b="1" spc="-15" dirty="0">
                <a:highlight>
                  <a:srgbClr val="00FFFF"/>
                </a:highlight>
                <a:cs typeface="Arial"/>
              </a:rPr>
              <a:t> </a:t>
            </a:r>
            <a:r>
              <a:rPr sz="2000" b="1" spc="5" dirty="0">
                <a:highlight>
                  <a:srgbClr val="00FFFF"/>
                </a:highlight>
                <a:cs typeface="Arial"/>
              </a:rPr>
              <a:t>B1</a:t>
            </a:r>
            <a:r>
              <a:rPr sz="2000" b="1" spc="5" dirty="0">
                <a:cs typeface="Arial"/>
              </a:rPr>
              <a:t>)</a:t>
            </a:r>
            <a:endParaRPr sz="2000" dirty="0">
              <a:cs typeface="Arial"/>
            </a:endParaRPr>
          </a:p>
          <a:p>
            <a:pPr>
              <a:lnSpc>
                <a:spcPct val="100000"/>
              </a:lnSpc>
              <a:spcBef>
                <a:spcPts val="20"/>
              </a:spcBef>
            </a:pPr>
            <a:endParaRPr sz="3250" dirty="0">
              <a:cs typeface="Arial"/>
            </a:endParaRPr>
          </a:p>
          <a:p>
            <a:pPr marL="12700">
              <a:lnSpc>
                <a:spcPct val="100000"/>
              </a:lnSpc>
            </a:pPr>
            <a:r>
              <a:rPr sz="2000" b="1" spc="10" dirty="0">
                <a:cs typeface="Arial"/>
              </a:rPr>
              <a:t>B</a:t>
            </a:r>
            <a:r>
              <a:rPr sz="2000" b="1" spc="-15" dirty="0">
                <a:cs typeface="Arial"/>
              </a:rPr>
              <a:t> </a:t>
            </a:r>
            <a:r>
              <a:rPr sz="2000" b="1" spc="5" dirty="0">
                <a:cs typeface="Arial"/>
              </a:rPr>
              <a:t>gets</a:t>
            </a:r>
            <a:r>
              <a:rPr sz="2000" b="1" spc="-15" dirty="0">
                <a:cs typeface="Arial"/>
              </a:rPr>
              <a:t> </a:t>
            </a:r>
            <a:r>
              <a:rPr sz="2000" b="1" spc="5" dirty="0">
                <a:cs typeface="Arial"/>
              </a:rPr>
              <a:t>(1,</a:t>
            </a:r>
            <a:r>
              <a:rPr sz="2000" b="1" spc="-10" dirty="0">
                <a:cs typeface="Arial"/>
              </a:rPr>
              <a:t> </a:t>
            </a:r>
            <a:r>
              <a:rPr sz="2000" b="1" spc="5" dirty="0">
                <a:cs typeface="Arial"/>
              </a:rPr>
              <a:t>1,</a:t>
            </a:r>
            <a:r>
              <a:rPr sz="2000" b="1" spc="-15" dirty="0">
                <a:cs typeface="Arial"/>
              </a:rPr>
              <a:t> </a:t>
            </a:r>
            <a:r>
              <a:rPr sz="2000" b="1" spc="5" dirty="0">
                <a:cs typeface="Arial"/>
              </a:rPr>
              <a:t>A1)</a:t>
            </a:r>
            <a:endParaRPr sz="2000" dirty="0">
              <a:cs typeface="Arial"/>
            </a:endParaRPr>
          </a:p>
          <a:p>
            <a:pPr marL="12700">
              <a:lnSpc>
                <a:spcPct val="100000"/>
              </a:lnSpc>
              <a:spcBef>
                <a:spcPts val="400"/>
              </a:spcBef>
            </a:pPr>
            <a:r>
              <a:rPr sz="2000" b="1" spc="10" dirty="0">
                <a:cs typeface="Arial"/>
              </a:rPr>
              <a:t>B</a:t>
            </a:r>
            <a:r>
              <a:rPr sz="2000" b="1" spc="-15" dirty="0">
                <a:cs typeface="Arial"/>
              </a:rPr>
              <a:t> </a:t>
            </a:r>
            <a:r>
              <a:rPr sz="2000" b="1" spc="5" dirty="0">
                <a:cs typeface="Arial"/>
              </a:rPr>
              <a:t>sends</a:t>
            </a:r>
            <a:r>
              <a:rPr sz="2000" b="1" spc="-15" dirty="0">
                <a:cs typeface="Arial"/>
              </a:rPr>
              <a:t> </a:t>
            </a:r>
            <a:r>
              <a:rPr sz="2000" b="1" spc="5" dirty="0">
                <a:cs typeface="Arial"/>
              </a:rPr>
              <a:t>(0,</a:t>
            </a:r>
            <a:r>
              <a:rPr sz="2000" b="1" spc="-15" dirty="0">
                <a:cs typeface="Arial"/>
              </a:rPr>
              <a:t> </a:t>
            </a:r>
            <a:r>
              <a:rPr sz="2000" b="1" spc="5" dirty="0">
                <a:cs typeface="Arial"/>
              </a:rPr>
              <a:t>1,</a:t>
            </a:r>
            <a:r>
              <a:rPr sz="2000" b="1" spc="-15" dirty="0">
                <a:cs typeface="Arial"/>
              </a:rPr>
              <a:t> </a:t>
            </a:r>
            <a:r>
              <a:rPr sz="2000" b="1" spc="5" dirty="0">
                <a:cs typeface="Arial"/>
              </a:rPr>
              <a:t>B2)</a:t>
            </a:r>
            <a:endParaRPr sz="2000" dirty="0">
              <a:cs typeface="Arial"/>
            </a:endParaRPr>
          </a:p>
        </p:txBody>
      </p:sp>
      <p:sp>
        <p:nvSpPr>
          <p:cNvPr id="21" name="object 21"/>
          <p:cNvSpPr txBox="1"/>
          <p:nvPr/>
        </p:nvSpPr>
        <p:spPr>
          <a:xfrm>
            <a:off x="2280476" y="1257308"/>
            <a:ext cx="2159635" cy="1571583"/>
          </a:xfrm>
          <a:prstGeom prst="rect">
            <a:avLst/>
          </a:prstGeom>
        </p:spPr>
        <p:txBody>
          <a:bodyPr vert="horz" wrap="square" lIns="0" tIns="14604" rIns="0" bIns="0" rtlCol="0">
            <a:spAutoFit/>
          </a:bodyPr>
          <a:lstStyle/>
          <a:p>
            <a:pPr marL="12700">
              <a:lnSpc>
                <a:spcPct val="100000"/>
              </a:lnSpc>
              <a:spcBef>
                <a:spcPts val="114"/>
              </a:spcBef>
            </a:pPr>
            <a:r>
              <a:rPr sz="2000" b="1" spc="10" dirty="0">
                <a:cs typeface="Arial"/>
              </a:rPr>
              <a:t>A</a:t>
            </a:r>
            <a:r>
              <a:rPr sz="2000" b="1" spc="-15" dirty="0">
                <a:cs typeface="Arial"/>
              </a:rPr>
              <a:t> </a:t>
            </a:r>
            <a:r>
              <a:rPr sz="2000" b="1" spc="5" dirty="0">
                <a:cs typeface="Arial"/>
              </a:rPr>
              <a:t>sends</a:t>
            </a:r>
            <a:r>
              <a:rPr sz="2000" b="1" spc="-15" dirty="0">
                <a:cs typeface="Arial"/>
              </a:rPr>
              <a:t> </a:t>
            </a:r>
            <a:r>
              <a:rPr sz="2000" b="1" spc="5" dirty="0">
                <a:cs typeface="Arial"/>
              </a:rPr>
              <a:t>(0,</a:t>
            </a:r>
            <a:r>
              <a:rPr sz="2000" b="1" spc="-15" dirty="0">
                <a:cs typeface="Arial"/>
              </a:rPr>
              <a:t> </a:t>
            </a:r>
            <a:r>
              <a:rPr sz="2000" b="1" spc="5" dirty="0">
                <a:cs typeface="Arial"/>
              </a:rPr>
              <a:t>1,</a:t>
            </a:r>
            <a:r>
              <a:rPr sz="2000" b="1" spc="-15" dirty="0">
                <a:cs typeface="Arial"/>
              </a:rPr>
              <a:t> </a:t>
            </a:r>
            <a:r>
              <a:rPr sz="2000" b="1" spc="5" dirty="0">
                <a:highlight>
                  <a:srgbClr val="FFFF00"/>
                </a:highlight>
                <a:cs typeface="Arial"/>
              </a:rPr>
              <a:t>A0</a:t>
            </a:r>
            <a:r>
              <a:rPr sz="2000" b="1" spc="5" dirty="0">
                <a:cs typeface="Arial"/>
              </a:rPr>
              <a:t>)</a:t>
            </a:r>
            <a:endParaRPr sz="2000" dirty="0">
              <a:cs typeface="Arial"/>
            </a:endParaRPr>
          </a:p>
          <a:p>
            <a:pPr>
              <a:lnSpc>
                <a:spcPct val="100000"/>
              </a:lnSpc>
            </a:pPr>
            <a:endParaRPr sz="2200" dirty="0">
              <a:cs typeface="Arial"/>
            </a:endParaRPr>
          </a:p>
          <a:p>
            <a:pPr>
              <a:lnSpc>
                <a:spcPct val="100000"/>
              </a:lnSpc>
              <a:spcBef>
                <a:spcPts val="50"/>
              </a:spcBef>
            </a:pPr>
            <a:endParaRPr sz="2000" dirty="0">
              <a:cs typeface="Arial"/>
            </a:endParaRPr>
          </a:p>
          <a:p>
            <a:pPr marL="12700">
              <a:lnSpc>
                <a:spcPts val="2320"/>
              </a:lnSpc>
            </a:pPr>
            <a:r>
              <a:rPr sz="2000" b="1" spc="10" dirty="0">
                <a:cs typeface="Arial"/>
              </a:rPr>
              <a:t>A</a:t>
            </a:r>
            <a:r>
              <a:rPr sz="2000" b="1" spc="-15" dirty="0">
                <a:cs typeface="Arial"/>
              </a:rPr>
              <a:t> </a:t>
            </a:r>
            <a:r>
              <a:rPr sz="2000" b="1" spc="5" dirty="0">
                <a:cs typeface="Arial"/>
              </a:rPr>
              <a:t>gets</a:t>
            </a:r>
            <a:r>
              <a:rPr sz="2000" b="1" spc="-15" dirty="0">
                <a:cs typeface="Arial"/>
              </a:rPr>
              <a:t> </a:t>
            </a:r>
            <a:r>
              <a:rPr sz="2000" b="1" spc="5" dirty="0">
                <a:cs typeface="Arial"/>
              </a:rPr>
              <a:t>(0,</a:t>
            </a:r>
            <a:r>
              <a:rPr sz="2000" b="1" spc="-10" dirty="0">
                <a:cs typeface="Arial"/>
              </a:rPr>
              <a:t> </a:t>
            </a:r>
            <a:r>
              <a:rPr sz="2000" b="1" spc="5" dirty="0">
                <a:solidFill>
                  <a:srgbClr val="FF0000"/>
                </a:solidFill>
                <a:cs typeface="Arial"/>
              </a:rPr>
              <a:t>1</a:t>
            </a:r>
            <a:r>
              <a:rPr sz="2000" b="1" spc="5" dirty="0">
                <a:cs typeface="Arial"/>
              </a:rPr>
              <a:t>,</a:t>
            </a:r>
            <a:r>
              <a:rPr sz="2000" b="1" spc="-15" dirty="0">
                <a:cs typeface="Arial"/>
              </a:rPr>
              <a:t> </a:t>
            </a:r>
            <a:r>
              <a:rPr sz="2000" b="1" spc="5" dirty="0">
                <a:cs typeface="Arial"/>
              </a:rPr>
              <a:t>B0)*</a:t>
            </a:r>
            <a:endParaRPr sz="2000" dirty="0">
              <a:cs typeface="Arial"/>
            </a:endParaRPr>
          </a:p>
          <a:p>
            <a:pPr marL="12700">
              <a:lnSpc>
                <a:spcPts val="2320"/>
              </a:lnSpc>
            </a:pPr>
            <a:r>
              <a:rPr sz="2000" b="1" spc="10" dirty="0">
                <a:cs typeface="Arial"/>
              </a:rPr>
              <a:t>A</a:t>
            </a:r>
            <a:r>
              <a:rPr sz="2000" b="1" spc="-15" dirty="0">
                <a:cs typeface="Arial"/>
              </a:rPr>
              <a:t> </a:t>
            </a:r>
            <a:r>
              <a:rPr sz="2000" b="1" spc="5" dirty="0">
                <a:cs typeface="Arial"/>
              </a:rPr>
              <a:t>sends</a:t>
            </a:r>
            <a:r>
              <a:rPr sz="2000" b="1" spc="-15" dirty="0">
                <a:cs typeface="Arial"/>
              </a:rPr>
              <a:t> </a:t>
            </a:r>
            <a:r>
              <a:rPr sz="2000" b="1" spc="5" dirty="0">
                <a:cs typeface="Arial"/>
              </a:rPr>
              <a:t>(0,</a:t>
            </a:r>
            <a:r>
              <a:rPr sz="2000" b="1" spc="-15" dirty="0">
                <a:solidFill>
                  <a:srgbClr val="FF0000"/>
                </a:solidFill>
                <a:cs typeface="Arial"/>
              </a:rPr>
              <a:t> </a:t>
            </a:r>
            <a:r>
              <a:rPr sz="2000" b="1" spc="5" dirty="0">
                <a:solidFill>
                  <a:srgbClr val="FF0000"/>
                </a:solidFill>
                <a:cs typeface="Arial"/>
              </a:rPr>
              <a:t>0</a:t>
            </a:r>
            <a:r>
              <a:rPr sz="2000" b="1" spc="5" dirty="0">
                <a:cs typeface="Arial"/>
              </a:rPr>
              <a:t>,</a:t>
            </a:r>
            <a:r>
              <a:rPr sz="2000" b="1" spc="-15" dirty="0">
                <a:cs typeface="Arial"/>
              </a:rPr>
              <a:t> </a:t>
            </a:r>
            <a:r>
              <a:rPr sz="2000" b="1" spc="5" dirty="0">
                <a:highlight>
                  <a:srgbClr val="FFFF00"/>
                </a:highlight>
                <a:cs typeface="Arial"/>
              </a:rPr>
              <a:t>A0</a:t>
            </a:r>
            <a:r>
              <a:rPr sz="2000" b="1" spc="5" dirty="0">
                <a:cs typeface="Arial"/>
              </a:rPr>
              <a:t>)</a:t>
            </a:r>
            <a:endParaRPr sz="2000" dirty="0">
              <a:cs typeface="Arial"/>
            </a:endParaRPr>
          </a:p>
        </p:txBody>
      </p:sp>
      <p:sp>
        <p:nvSpPr>
          <p:cNvPr id="22" name="object 22"/>
          <p:cNvSpPr txBox="1"/>
          <p:nvPr/>
        </p:nvSpPr>
        <p:spPr>
          <a:xfrm>
            <a:off x="2280476" y="3604185"/>
            <a:ext cx="2159635" cy="1930656"/>
          </a:xfrm>
          <a:prstGeom prst="rect">
            <a:avLst/>
          </a:prstGeom>
        </p:spPr>
        <p:txBody>
          <a:bodyPr vert="horz" wrap="square" lIns="0" tIns="14604" rIns="0" bIns="0" rtlCol="0">
            <a:spAutoFit/>
          </a:bodyPr>
          <a:lstStyle/>
          <a:p>
            <a:pPr marL="12700">
              <a:lnSpc>
                <a:spcPts val="2320"/>
              </a:lnSpc>
              <a:spcBef>
                <a:spcPts val="114"/>
              </a:spcBef>
            </a:pPr>
            <a:r>
              <a:rPr sz="2000" b="1" spc="10" dirty="0">
                <a:cs typeface="Arial"/>
              </a:rPr>
              <a:t>A</a:t>
            </a:r>
            <a:r>
              <a:rPr sz="2000" b="1" spc="-15" dirty="0">
                <a:cs typeface="Arial"/>
              </a:rPr>
              <a:t> </a:t>
            </a:r>
            <a:r>
              <a:rPr sz="2000" b="1" spc="5" dirty="0">
                <a:cs typeface="Arial"/>
              </a:rPr>
              <a:t>gets</a:t>
            </a:r>
            <a:r>
              <a:rPr sz="2000" b="1" spc="-15" dirty="0">
                <a:cs typeface="Arial"/>
              </a:rPr>
              <a:t> </a:t>
            </a:r>
            <a:r>
              <a:rPr sz="2000" b="1" spc="5" dirty="0">
                <a:cs typeface="Arial"/>
              </a:rPr>
              <a:t>(0,</a:t>
            </a:r>
            <a:r>
              <a:rPr sz="2000" b="1" spc="-10" dirty="0">
                <a:cs typeface="Arial"/>
              </a:rPr>
              <a:t> </a:t>
            </a:r>
            <a:r>
              <a:rPr sz="2000" b="1" spc="5" dirty="0">
                <a:cs typeface="Arial"/>
              </a:rPr>
              <a:t>0,</a:t>
            </a:r>
            <a:r>
              <a:rPr sz="2000" b="1" spc="-15" dirty="0">
                <a:cs typeface="Arial"/>
              </a:rPr>
              <a:t> </a:t>
            </a:r>
            <a:r>
              <a:rPr sz="2000" b="1" spc="5" dirty="0">
                <a:cs typeface="Arial"/>
              </a:rPr>
              <a:t>B0)</a:t>
            </a:r>
            <a:endParaRPr sz="2000" dirty="0">
              <a:cs typeface="Arial"/>
            </a:endParaRPr>
          </a:p>
          <a:p>
            <a:pPr marL="12700">
              <a:lnSpc>
                <a:spcPts val="2320"/>
              </a:lnSpc>
            </a:pPr>
            <a:r>
              <a:rPr sz="2000" b="1" spc="10" dirty="0">
                <a:cs typeface="Arial"/>
              </a:rPr>
              <a:t>A</a:t>
            </a:r>
            <a:r>
              <a:rPr sz="2000" b="1" spc="-15" dirty="0">
                <a:cs typeface="Arial"/>
              </a:rPr>
              <a:t> </a:t>
            </a:r>
            <a:r>
              <a:rPr sz="2000" b="1" spc="5" dirty="0">
                <a:cs typeface="Arial"/>
              </a:rPr>
              <a:t>sends</a:t>
            </a:r>
            <a:r>
              <a:rPr sz="2000" b="1" spc="-15" dirty="0">
                <a:cs typeface="Arial"/>
              </a:rPr>
              <a:t> </a:t>
            </a:r>
            <a:r>
              <a:rPr sz="2000" b="1" spc="5" dirty="0">
                <a:cs typeface="Arial"/>
              </a:rPr>
              <a:t>(1,</a:t>
            </a:r>
            <a:r>
              <a:rPr sz="2000" b="1" spc="-15" dirty="0">
                <a:cs typeface="Arial"/>
              </a:rPr>
              <a:t> </a:t>
            </a:r>
            <a:r>
              <a:rPr sz="2000" b="1" spc="5" dirty="0">
                <a:cs typeface="Arial"/>
              </a:rPr>
              <a:t>0,</a:t>
            </a:r>
            <a:r>
              <a:rPr sz="2000" b="1" spc="-15" dirty="0">
                <a:cs typeface="Arial"/>
              </a:rPr>
              <a:t> </a:t>
            </a:r>
            <a:r>
              <a:rPr sz="2000" b="1" spc="5" dirty="0">
                <a:highlight>
                  <a:srgbClr val="00FFFF"/>
                </a:highlight>
                <a:cs typeface="Arial"/>
              </a:rPr>
              <a:t>A1</a:t>
            </a:r>
            <a:r>
              <a:rPr sz="2000" b="1" spc="5" dirty="0">
                <a:cs typeface="Arial"/>
              </a:rPr>
              <a:t>)</a:t>
            </a:r>
            <a:endParaRPr sz="2000" dirty="0">
              <a:cs typeface="Arial"/>
            </a:endParaRPr>
          </a:p>
          <a:p>
            <a:pPr>
              <a:lnSpc>
                <a:spcPct val="100000"/>
              </a:lnSpc>
            </a:pPr>
            <a:endParaRPr sz="2200" dirty="0">
              <a:cs typeface="Arial"/>
            </a:endParaRPr>
          </a:p>
          <a:p>
            <a:pPr>
              <a:lnSpc>
                <a:spcPct val="100000"/>
              </a:lnSpc>
              <a:spcBef>
                <a:spcPts val="50"/>
              </a:spcBef>
            </a:pPr>
            <a:endParaRPr sz="2000" dirty="0">
              <a:cs typeface="Arial"/>
            </a:endParaRPr>
          </a:p>
          <a:p>
            <a:pPr marL="12700">
              <a:lnSpc>
                <a:spcPct val="100000"/>
              </a:lnSpc>
            </a:pPr>
            <a:r>
              <a:rPr sz="2000" b="1" spc="10" dirty="0">
                <a:cs typeface="Arial"/>
              </a:rPr>
              <a:t>A</a:t>
            </a:r>
            <a:r>
              <a:rPr sz="2000" b="1" spc="-15" dirty="0">
                <a:cs typeface="Arial"/>
              </a:rPr>
              <a:t> </a:t>
            </a:r>
            <a:r>
              <a:rPr sz="2000" b="1" spc="5" dirty="0">
                <a:cs typeface="Arial"/>
              </a:rPr>
              <a:t>gets</a:t>
            </a:r>
            <a:r>
              <a:rPr sz="2000" b="1" spc="-15" dirty="0">
                <a:cs typeface="Arial"/>
              </a:rPr>
              <a:t> </a:t>
            </a:r>
            <a:r>
              <a:rPr sz="2000" b="1" spc="5" dirty="0">
                <a:cs typeface="Arial"/>
              </a:rPr>
              <a:t>(1,</a:t>
            </a:r>
            <a:r>
              <a:rPr sz="2000" b="1" spc="-10" dirty="0">
                <a:cs typeface="Arial"/>
              </a:rPr>
              <a:t> </a:t>
            </a:r>
            <a:r>
              <a:rPr sz="2000" b="1" spc="5" dirty="0">
                <a:solidFill>
                  <a:srgbClr val="FF0000"/>
                </a:solidFill>
                <a:cs typeface="Arial"/>
              </a:rPr>
              <a:t>0</a:t>
            </a:r>
            <a:r>
              <a:rPr sz="2000" b="1" spc="5" dirty="0">
                <a:cs typeface="Arial"/>
              </a:rPr>
              <a:t>,</a:t>
            </a:r>
            <a:r>
              <a:rPr sz="2000" b="1" spc="-15" dirty="0">
                <a:cs typeface="Arial"/>
              </a:rPr>
              <a:t> </a:t>
            </a:r>
            <a:r>
              <a:rPr sz="2000" b="1" spc="5" dirty="0">
                <a:cs typeface="Arial"/>
              </a:rPr>
              <a:t>B1)*</a:t>
            </a:r>
            <a:endParaRPr sz="2000" dirty="0">
              <a:cs typeface="Arial"/>
            </a:endParaRPr>
          </a:p>
          <a:p>
            <a:pPr marL="12700">
              <a:lnSpc>
                <a:spcPct val="100000"/>
              </a:lnSpc>
              <a:spcBef>
                <a:spcPts val="400"/>
              </a:spcBef>
            </a:pPr>
            <a:r>
              <a:rPr sz="2000" b="1" spc="10" dirty="0">
                <a:cs typeface="Arial"/>
              </a:rPr>
              <a:t>A</a:t>
            </a:r>
            <a:r>
              <a:rPr sz="2000" b="1" spc="-15" dirty="0">
                <a:cs typeface="Arial"/>
              </a:rPr>
              <a:t> </a:t>
            </a:r>
            <a:r>
              <a:rPr sz="2000" b="1" spc="5" dirty="0">
                <a:cs typeface="Arial"/>
              </a:rPr>
              <a:t>sends</a:t>
            </a:r>
            <a:r>
              <a:rPr sz="2000" b="1" spc="-15" dirty="0">
                <a:cs typeface="Arial"/>
              </a:rPr>
              <a:t> </a:t>
            </a:r>
            <a:r>
              <a:rPr sz="2000" b="1" spc="5" dirty="0">
                <a:cs typeface="Arial"/>
              </a:rPr>
              <a:t>(1,</a:t>
            </a:r>
            <a:r>
              <a:rPr sz="2000" b="1" spc="-15" dirty="0">
                <a:cs typeface="Arial"/>
              </a:rPr>
              <a:t> </a:t>
            </a:r>
            <a:r>
              <a:rPr sz="2000" b="1" spc="5" dirty="0">
                <a:solidFill>
                  <a:srgbClr val="FF0000"/>
                </a:solidFill>
                <a:cs typeface="Arial"/>
              </a:rPr>
              <a:t>1</a:t>
            </a:r>
            <a:r>
              <a:rPr sz="2000" b="1" spc="5" dirty="0">
                <a:highlight>
                  <a:srgbClr val="00FFFF"/>
                </a:highlight>
                <a:cs typeface="Arial"/>
              </a:rPr>
              <a:t>,</a:t>
            </a:r>
            <a:r>
              <a:rPr sz="2000" b="1" spc="-15" dirty="0">
                <a:highlight>
                  <a:srgbClr val="00FFFF"/>
                </a:highlight>
                <a:cs typeface="Arial"/>
              </a:rPr>
              <a:t> </a:t>
            </a:r>
            <a:r>
              <a:rPr sz="2000" b="1" spc="5" dirty="0">
                <a:highlight>
                  <a:srgbClr val="00FFFF"/>
                </a:highlight>
                <a:cs typeface="Arial"/>
              </a:rPr>
              <a:t>A1</a:t>
            </a:r>
            <a:r>
              <a:rPr sz="2000" b="1" spc="5" dirty="0">
                <a:cs typeface="Arial"/>
              </a:rPr>
              <a:t>)</a:t>
            </a:r>
            <a:endParaRPr sz="2000" dirty="0">
              <a:cs typeface="Arial"/>
            </a:endParaRPr>
          </a:p>
        </p:txBody>
      </p:sp>
      <p:sp>
        <p:nvSpPr>
          <p:cNvPr id="25" name="TextBox 24">
            <a:extLst>
              <a:ext uri="{FF2B5EF4-FFF2-40B4-BE49-F238E27FC236}">
                <a16:creationId xmlns:a16="http://schemas.microsoft.com/office/drawing/2014/main" id="{B2A3C51A-1178-4AF8-D722-FD982858B8F1}"/>
              </a:ext>
            </a:extLst>
          </p:cNvPr>
          <p:cNvSpPr txBox="1"/>
          <p:nvPr/>
        </p:nvSpPr>
        <p:spPr>
          <a:xfrm>
            <a:off x="999553" y="6838076"/>
            <a:ext cx="8824532" cy="369332"/>
          </a:xfrm>
          <a:prstGeom prst="rect">
            <a:avLst/>
          </a:prstGeom>
          <a:noFill/>
        </p:spPr>
        <p:txBody>
          <a:bodyPr wrap="square">
            <a:spAutoFit/>
          </a:bodyPr>
          <a:lstStyle/>
          <a:p>
            <a:pPr algn="l"/>
            <a:r>
              <a:rPr lang="en-US" dirty="0"/>
              <a:t>H</a:t>
            </a:r>
            <a:r>
              <a:rPr lang="en-US" sz="1800" b="0" i="0" u="none" strike="noStrike" baseline="0" dirty="0"/>
              <a:t>alf of the frames contain </a:t>
            </a:r>
            <a:r>
              <a:rPr lang="en-US" sz="1800" b="0" i="0" u="none" strike="noStrike" baseline="0" dirty="0">
                <a:highlight>
                  <a:srgbClr val="FFFF00"/>
                </a:highlight>
              </a:rPr>
              <a:t>duplicates</a:t>
            </a:r>
            <a:r>
              <a:rPr lang="en-US" sz="1800" b="0" i="0" u="none" strike="noStrike" baseline="0" dirty="0"/>
              <a:t>, even though there are no transmission errors.</a:t>
            </a:r>
            <a:endParaRPr lang="en-US" dirty="0"/>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0250"/>
            <a:ext cx="2139950" cy="572080"/>
          </a:xfrm>
          <a:prstGeom prst="rect">
            <a:avLst/>
          </a:prstGeom>
        </p:spPr>
        <p:txBody>
          <a:bodyPr vert="horz" wrap="square" lIns="0" tIns="13335" rIns="0" bIns="0" rtlCol="0">
            <a:spAutoFit/>
          </a:bodyPr>
          <a:lstStyle/>
          <a:p>
            <a:pPr marL="12700">
              <a:lnSpc>
                <a:spcPct val="100000"/>
              </a:lnSpc>
              <a:spcBef>
                <a:spcPts val="105"/>
              </a:spcBef>
            </a:pPr>
            <a:r>
              <a:rPr spc="-10" dirty="0">
                <a:latin typeface="+mn-lt"/>
              </a:rPr>
              <a:t>Pipelining</a:t>
            </a:r>
          </a:p>
        </p:txBody>
      </p:sp>
      <p:sp>
        <p:nvSpPr>
          <p:cNvPr id="19" name="object 19"/>
          <p:cNvSpPr txBox="1">
            <a:spLocks noGrp="1"/>
          </p:cNvSpPr>
          <p:nvPr>
            <p:ph type="sldNum" sz="quarter" idx="12"/>
          </p:nvPr>
        </p:nvSpPr>
        <p:spPr>
          <a:xfrm>
            <a:off x="7103745" y="7333311"/>
            <a:ext cx="2263140" cy="154914"/>
          </a:xfrm>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45</a:t>
            </a:fld>
            <a:r>
              <a:rPr spc="10" dirty="0"/>
              <a:t>/69</a:t>
            </a:r>
          </a:p>
        </p:txBody>
      </p:sp>
      <p:sp>
        <p:nvSpPr>
          <p:cNvPr id="3" name="object 3"/>
          <p:cNvSpPr/>
          <p:nvPr/>
        </p:nvSpPr>
        <p:spPr>
          <a:xfrm>
            <a:off x="1616049" y="208545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4" name="object 4"/>
          <p:cNvSpPr/>
          <p:nvPr/>
        </p:nvSpPr>
        <p:spPr>
          <a:xfrm>
            <a:off x="1955901" y="250150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5" name="object 5"/>
          <p:cNvSpPr/>
          <p:nvPr/>
        </p:nvSpPr>
        <p:spPr>
          <a:xfrm>
            <a:off x="1616049" y="331227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6" name="object 6"/>
          <p:cNvSpPr/>
          <p:nvPr/>
        </p:nvSpPr>
        <p:spPr>
          <a:xfrm>
            <a:off x="1955901" y="372832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7" name="object 7"/>
          <p:cNvSpPr/>
          <p:nvPr/>
        </p:nvSpPr>
        <p:spPr>
          <a:xfrm>
            <a:off x="1955901" y="4145902"/>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8" name="object 8"/>
          <p:cNvSpPr/>
          <p:nvPr/>
        </p:nvSpPr>
        <p:spPr>
          <a:xfrm>
            <a:off x="1955901" y="456195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9" name="object 9"/>
          <p:cNvSpPr txBox="1"/>
          <p:nvPr/>
        </p:nvSpPr>
        <p:spPr>
          <a:xfrm>
            <a:off x="1970023" y="1831273"/>
            <a:ext cx="7602220" cy="2976245"/>
          </a:xfrm>
          <a:prstGeom prst="rect">
            <a:avLst/>
          </a:prstGeom>
        </p:spPr>
        <p:txBody>
          <a:bodyPr vert="horz" wrap="square" lIns="0" tIns="93345" rIns="0" bIns="0" rtlCol="0">
            <a:spAutoFit/>
          </a:bodyPr>
          <a:lstStyle/>
          <a:p>
            <a:pPr marL="12700">
              <a:lnSpc>
                <a:spcPct val="100000"/>
              </a:lnSpc>
              <a:spcBef>
                <a:spcPts val="735"/>
              </a:spcBef>
            </a:pPr>
            <a:r>
              <a:rPr sz="2650" spc="-15" dirty="0">
                <a:solidFill>
                  <a:srgbClr val="9B0707"/>
                </a:solidFill>
                <a:cs typeface="Arial MT"/>
              </a:rPr>
              <a:t>Want</a:t>
            </a:r>
            <a:r>
              <a:rPr sz="2650" spc="-5" dirty="0">
                <a:solidFill>
                  <a:srgbClr val="9B0707"/>
                </a:solidFill>
                <a:cs typeface="Arial MT"/>
              </a:rPr>
              <a:t> </a:t>
            </a:r>
            <a:r>
              <a:rPr sz="2650" spc="5" dirty="0">
                <a:solidFill>
                  <a:srgbClr val="9B0707"/>
                </a:solidFill>
                <a:cs typeface="Arial MT"/>
              </a:rPr>
              <a:t>to</a:t>
            </a:r>
            <a:r>
              <a:rPr sz="2650" spc="-10" dirty="0">
                <a:solidFill>
                  <a:srgbClr val="9B0707"/>
                </a:solidFill>
                <a:cs typeface="Arial MT"/>
              </a:rPr>
              <a:t> </a:t>
            </a:r>
            <a:r>
              <a:rPr sz="2650" spc="-15" dirty="0">
                <a:solidFill>
                  <a:srgbClr val="9B0707"/>
                </a:solidFill>
                <a:cs typeface="Arial MT"/>
              </a:rPr>
              <a:t>avoid</a:t>
            </a:r>
            <a:r>
              <a:rPr sz="2650" spc="-10" dirty="0">
                <a:solidFill>
                  <a:srgbClr val="9B0707"/>
                </a:solidFill>
                <a:cs typeface="Arial MT"/>
              </a:rPr>
              <a:t> </a:t>
            </a:r>
            <a:r>
              <a:rPr sz="2650" spc="10" dirty="0">
                <a:solidFill>
                  <a:srgbClr val="9B0707"/>
                </a:solidFill>
                <a:cs typeface="Arial MT"/>
              </a:rPr>
              <a:t>stalls</a:t>
            </a:r>
            <a:r>
              <a:rPr sz="2650" spc="-30" dirty="0">
                <a:solidFill>
                  <a:srgbClr val="9B0707"/>
                </a:solidFill>
                <a:cs typeface="Arial MT"/>
              </a:rPr>
              <a:t> </a:t>
            </a:r>
            <a:r>
              <a:rPr sz="2650" spc="10" dirty="0">
                <a:solidFill>
                  <a:srgbClr val="9B0707"/>
                </a:solidFill>
                <a:cs typeface="Arial MT"/>
              </a:rPr>
              <a:t>in</a:t>
            </a:r>
            <a:r>
              <a:rPr sz="2650" spc="-10" dirty="0">
                <a:solidFill>
                  <a:srgbClr val="9B0707"/>
                </a:solidFill>
                <a:cs typeface="Arial MT"/>
              </a:rPr>
              <a:t> </a:t>
            </a:r>
            <a:r>
              <a:rPr sz="2650" spc="5" dirty="0">
                <a:solidFill>
                  <a:srgbClr val="9B0707"/>
                </a:solidFill>
                <a:cs typeface="Arial MT"/>
              </a:rPr>
              <a:t>transmission</a:t>
            </a:r>
            <a:endParaRPr sz="2650" dirty="0">
              <a:cs typeface="Arial MT"/>
            </a:endParaRPr>
          </a:p>
          <a:p>
            <a:pPr marL="352425">
              <a:lnSpc>
                <a:spcPct val="100000"/>
              </a:lnSpc>
              <a:spcBef>
                <a:spcPts val="550"/>
              </a:spcBef>
            </a:pPr>
            <a:r>
              <a:rPr sz="2200" spc="5" dirty="0">
                <a:solidFill>
                  <a:srgbClr val="006699"/>
                </a:solidFill>
                <a:cs typeface="Arial MT"/>
              </a:rPr>
              <a:t>in</a:t>
            </a:r>
            <a:r>
              <a:rPr sz="2200" dirty="0">
                <a:solidFill>
                  <a:srgbClr val="006699"/>
                </a:solidFill>
                <a:cs typeface="Arial MT"/>
              </a:rPr>
              <a:t> </a:t>
            </a:r>
            <a:r>
              <a:rPr sz="2200" spc="5" dirty="0">
                <a:solidFill>
                  <a:srgbClr val="006699"/>
                </a:solidFill>
                <a:cs typeface="Arial MT"/>
              </a:rPr>
              <a:t>one-bit</a:t>
            </a:r>
            <a:r>
              <a:rPr sz="2200" spc="35" dirty="0">
                <a:solidFill>
                  <a:srgbClr val="006699"/>
                </a:solidFill>
                <a:cs typeface="Arial MT"/>
              </a:rPr>
              <a:t> </a:t>
            </a:r>
            <a:r>
              <a:rPr sz="2200" spc="10" dirty="0">
                <a:solidFill>
                  <a:srgbClr val="006699"/>
                </a:solidFill>
                <a:cs typeface="Arial MT"/>
              </a:rPr>
              <a:t>sliding</a:t>
            </a:r>
            <a:r>
              <a:rPr sz="2200" spc="-5" dirty="0">
                <a:solidFill>
                  <a:srgbClr val="006699"/>
                </a:solidFill>
                <a:cs typeface="Arial MT"/>
              </a:rPr>
              <a:t> </a:t>
            </a:r>
            <a:r>
              <a:rPr sz="2200" spc="-15" dirty="0">
                <a:solidFill>
                  <a:srgbClr val="006699"/>
                </a:solidFill>
                <a:cs typeface="Arial MT"/>
              </a:rPr>
              <a:t>window,</a:t>
            </a:r>
            <a:r>
              <a:rPr sz="2200" spc="35" dirty="0">
                <a:solidFill>
                  <a:srgbClr val="006699"/>
                </a:solidFill>
                <a:cs typeface="Arial MT"/>
              </a:rPr>
              <a:t> </a:t>
            </a:r>
            <a:r>
              <a:rPr sz="2200" spc="5" dirty="0">
                <a:solidFill>
                  <a:srgbClr val="006699"/>
                </a:solidFill>
                <a:cs typeface="Arial MT"/>
              </a:rPr>
              <a:t>we</a:t>
            </a:r>
            <a:r>
              <a:rPr sz="2200" dirty="0">
                <a:solidFill>
                  <a:srgbClr val="006699"/>
                </a:solidFill>
                <a:cs typeface="Arial MT"/>
              </a:rPr>
              <a:t> </a:t>
            </a:r>
            <a:r>
              <a:rPr sz="2200" spc="-5" dirty="0">
                <a:solidFill>
                  <a:srgbClr val="006699"/>
                </a:solidFill>
                <a:cs typeface="Arial MT"/>
              </a:rPr>
              <a:t>wait</a:t>
            </a:r>
            <a:r>
              <a:rPr sz="2200" spc="25" dirty="0">
                <a:solidFill>
                  <a:srgbClr val="006699"/>
                </a:solidFill>
                <a:cs typeface="Arial MT"/>
              </a:rPr>
              <a:t> </a:t>
            </a:r>
            <a:r>
              <a:rPr sz="2200" spc="15" dirty="0">
                <a:solidFill>
                  <a:srgbClr val="006699"/>
                </a:solidFill>
                <a:cs typeface="Arial MT"/>
              </a:rPr>
              <a:t>a</a:t>
            </a:r>
            <a:r>
              <a:rPr sz="2200" dirty="0">
                <a:solidFill>
                  <a:srgbClr val="006699"/>
                </a:solidFill>
                <a:cs typeface="Arial MT"/>
              </a:rPr>
              <a:t> </a:t>
            </a:r>
            <a:r>
              <a:rPr sz="2200" spc="10" dirty="0">
                <a:solidFill>
                  <a:srgbClr val="006699"/>
                </a:solidFill>
                <a:cs typeface="Arial MT"/>
              </a:rPr>
              <a:t>full</a:t>
            </a:r>
            <a:r>
              <a:rPr sz="2200" spc="-10" dirty="0">
                <a:solidFill>
                  <a:srgbClr val="006699"/>
                </a:solidFill>
                <a:cs typeface="Arial MT"/>
              </a:rPr>
              <a:t> </a:t>
            </a:r>
            <a:r>
              <a:rPr sz="2200" spc="15" dirty="0">
                <a:solidFill>
                  <a:srgbClr val="006699"/>
                </a:solidFill>
                <a:cs typeface="Arial MT"/>
              </a:rPr>
              <a:t>round</a:t>
            </a:r>
            <a:r>
              <a:rPr sz="2200" spc="-10" dirty="0">
                <a:solidFill>
                  <a:srgbClr val="006699"/>
                </a:solidFill>
                <a:cs typeface="Arial MT"/>
              </a:rPr>
              <a:t> </a:t>
            </a:r>
            <a:r>
              <a:rPr sz="2200" spc="15" dirty="0">
                <a:solidFill>
                  <a:srgbClr val="006699"/>
                </a:solidFill>
                <a:cs typeface="Arial MT"/>
              </a:rPr>
              <a:t>trip</a:t>
            </a:r>
            <a:r>
              <a:rPr sz="2200" spc="5" dirty="0">
                <a:solidFill>
                  <a:srgbClr val="006699"/>
                </a:solidFill>
                <a:cs typeface="Arial MT"/>
              </a:rPr>
              <a:t> between</a:t>
            </a:r>
            <a:endParaRPr sz="2200" dirty="0">
              <a:cs typeface="Arial MT"/>
            </a:endParaRPr>
          </a:p>
          <a:p>
            <a:pPr marL="352425">
              <a:lnSpc>
                <a:spcPts val="2560"/>
              </a:lnSpc>
              <a:spcBef>
                <a:spcPts val="815"/>
              </a:spcBef>
            </a:pPr>
            <a:r>
              <a:rPr sz="2200" spc="-10" dirty="0">
                <a:solidFill>
                  <a:srgbClr val="006699"/>
                </a:solidFill>
                <a:cs typeface="Arial MT"/>
              </a:rPr>
              <a:t>packet </a:t>
            </a:r>
            <a:r>
              <a:rPr sz="2200" spc="15" dirty="0">
                <a:solidFill>
                  <a:srgbClr val="006699"/>
                </a:solidFill>
                <a:cs typeface="Arial MT"/>
              </a:rPr>
              <a:t>sends</a:t>
            </a:r>
            <a:endParaRPr sz="2200" dirty="0">
              <a:cs typeface="Arial MT"/>
            </a:endParaRPr>
          </a:p>
          <a:p>
            <a:pPr marL="12700">
              <a:lnSpc>
                <a:spcPts val="3100"/>
              </a:lnSpc>
            </a:pPr>
            <a:r>
              <a:rPr sz="2650" dirty="0">
                <a:solidFill>
                  <a:srgbClr val="9B0707"/>
                </a:solidFill>
                <a:cs typeface="Arial MT"/>
              </a:rPr>
              <a:t>Make</a:t>
            </a:r>
            <a:r>
              <a:rPr sz="2650" spc="-15" dirty="0">
                <a:solidFill>
                  <a:srgbClr val="9B0707"/>
                </a:solidFill>
                <a:cs typeface="Arial MT"/>
              </a:rPr>
              <a:t> </a:t>
            </a:r>
            <a:r>
              <a:rPr sz="2650" spc="10" dirty="0">
                <a:solidFill>
                  <a:srgbClr val="9B0707"/>
                </a:solidFill>
                <a:cs typeface="Arial MT"/>
              </a:rPr>
              <a:t>sender</a:t>
            </a:r>
            <a:r>
              <a:rPr sz="2650" spc="-25" dirty="0">
                <a:solidFill>
                  <a:srgbClr val="9B0707"/>
                </a:solidFill>
                <a:cs typeface="Arial MT"/>
              </a:rPr>
              <a:t> </a:t>
            </a:r>
            <a:r>
              <a:rPr sz="2650" spc="5" dirty="0">
                <a:solidFill>
                  <a:srgbClr val="9B0707"/>
                </a:solidFill>
                <a:cs typeface="Arial MT"/>
              </a:rPr>
              <a:t>window</a:t>
            </a:r>
            <a:r>
              <a:rPr sz="2650" spc="-5" dirty="0">
                <a:solidFill>
                  <a:srgbClr val="9B0707"/>
                </a:solidFill>
                <a:cs typeface="Arial MT"/>
              </a:rPr>
              <a:t> </a:t>
            </a:r>
            <a:r>
              <a:rPr sz="2650" spc="10" dirty="0">
                <a:solidFill>
                  <a:srgbClr val="9B0707"/>
                </a:solidFill>
                <a:cs typeface="Arial MT"/>
              </a:rPr>
              <a:t>large</a:t>
            </a:r>
            <a:r>
              <a:rPr sz="2650" spc="-25" dirty="0">
                <a:solidFill>
                  <a:srgbClr val="9B0707"/>
                </a:solidFill>
                <a:cs typeface="Arial MT"/>
              </a:rPr>
              <a:t> </a:t>
            </a:r>
            <a:r>
              <a:rPr sz="2650" spc="5" dirty="0">
                <a:solidFill>
                  <a:srgbClr val="9B0707"/>
                </a:solidFill>
                <a:cs typeface="Arial MT"/>
              </a:rPr>
              <a:t>when:</a:t>
            </a:r>
            <a:endParaRPr sz="2650" dirty="0">
              <a:cs typeface="Arial MT"/>
            </a:endParaRPr>
          </a:p>
          <a:p>
            <a:pPr marL="352425">
              <a:lnSpc>
                <a:spcPct val="100000"/>
              </a:lnSpc>
              <a:spcBef>
                <a:spcPts val="545"/>
              </a:spcBef>
            </a:pPr>
            <a:r>
              <a:rPr sz="2200" spc="5" dirty="0">
                <a:solidFill>
                  <a:srgbClr val="006699"/>
                </a:solidFill>
                <a:cs typeface="Arial MT"/>
              </a:rPr>
              <a:t>bandwidth</a:t>
            </a:r>
            <a:r>
              <a:rPr sz="2200" spc="25" dirty="0">
                <a:solidFill>
                  <a:srgbClr val="006699"/>
                </a:solidFill>
                <a:cs typeface="Arial MT"/>
              </a:rPr>
              <a:t> </a:t>
            </a:r>
            <a:r>
              <a:rPr sz="2200" spc="5" dirty="0">
                <a:solidFill>
                  <a:srgbClr val="006699"/>
                </a:solidFill>
                <a:cs typeface="Arial MT"/>
              </a:rPr>
              <a:t>is</a:t>
            </a:r>
            <a:r>
              <a:rPr sz="2200" spc="-5" dirty="0">
                <a:solidFill>
                  <a:srgbClr val="006699"/>
                </a:solidFill>
                <a:cs typeface="Arial MT"/>
              </a:rPr>
              <a:t> </a:t>
            </a:r>
            <a:r>
              <a:rPr sz="2200" spc="5" dirty="0">
                <a:solidFill>
                  <a:srgbClr val="006699"/>
                </a:solidFill>
                <a:cs typeface="Arial MT"/>
              </a:rPr>
              <a:t>high</a:t>
            </a:r>
            <a:r>
              <a:rPr sz="2200" dirty="0">
                <a:solidFill>
                  <a:srgbClr val="006699"/>
                </a:solidFill>
                <a:cs typeface="Arial MT"/>
              </a:rPr>
              <a:t> or</a:t>
            </a:r>
            <a:endParaRPr sz="2200" dirty="0">
              <a:cs typeface="Arial MT"/>
            </a:endParaRPr>
          </a:p>
          <a:p>
            <a:pPr marL="352425" marR="3718560">
              <a:lnSpc>
                <a:spcPct val="124100"/>
              </a:lnSpc>
              <a:spcBef>
                <a:spcPts val="10"/>
              </a:spcBef>
              <a:tabLst>
                <a:tab pos="2043430" algn="l"/>
              </a:tabLst>
            </a:pPr>
            <a:r>
              <a:rPr sz="2200" spc="10" dirty="0">
                <a:solidFill>
                  <a:srgbClr val="006699"/>
                </a:solidFill>
                <a:cs typeface="Arial MT"/>
              </a:rPr>
              <a:t>the round-trip time </a:t>
            </a:r>
            <a:r>
              <a:rPr sz="2200" spc="5" dirty="0">
                <a:solidFill>
                  <a:srgbClr val="006699"/>
                </a:solidFill>
                <a:cs typeface="Arial MT"/>
              </a:rPr>
              <a:t>is </a:t>
            </a:r>
            <a:r>
              <a:rPr sz="2200" dirty="0">
                <a:solidFill>
                  <a:srgbClr val="006699"/>
                </a:solidFill>
                <a:cs typeface="Arial MT"/>
              </a:rPr>
              <a:t>high </a:t>
            </a:r>
            <a:r>
              <a:rPr sz="2200" spc="5" dirty="0">
                <a:solidFill>
                  <a:srgbClr val="006699"/>
                </a:solidFill>
                <a:cs typeface="Arial MT"/>
              </a:rPr>
              <a:t> bandwidth</a:t>
            </a:r>
            <a:r>
              <a:rPr lang="en-US" sz="2200" spc="5" dirty="0">
                <a:solidFill>
                  <a:srgbClr val="006699"/>
                </a:solidFill>
                <a:cs typeface="Arial MT"/>
              </a:rPr>
              <a:t> </a:t>
            </a:r>
            <a:r>
              <a:rPr lang="en-US" sz="2200" spc="5" dirty="0">
                <a:solidFill>
                  <a:schemeClr val="accent2">
                    <a:lumMod val="75000"/>
                  </a:schemeClr>
                </a:solidFill>
                <a:cs typeface="Arial MT"/>
              </a:rPr>
              <a:t>x</a:t>
            </a:r>
            <a:r>
              <a:rPr lang="en-US" sz="2200" spc="5" dirty="0">
                <a:solidFill>
                  <a:srgbClr val="006699"/>
                </a:solidFill>
                <a:cs typeface="Arial MT"/>
              </a:rPr>
              <a:t> </a:t>
            </a:r>
            <a:r>
              <a:rPr sz="2200" spc="10" dirty="0">
                <a:solidFill>
                  <a:srgbClr val="006699"/>
                </a:solidFill>
                <a:cs typeface="Arial MT"/>
              </a:rPr>
              <a:t>round-trip</a:t>
            </a:r>
            <a:r>
              <a:rPr sz="2200" spc="-15" dirty="0">
                <a:solidFill>
                  <a:srgbClr val="006699"/>
                </a:solidFill>
                <a:cs typeface="Arial MT"/>
              </a:rPr>
              <a:t> </a:t>
            </a:r>
            <a:r>
              <a:rPr sz="2200" spc="10" dirty="0">
                <a:solidFill>
                  <a:srgbClr val="006699"/>
                </a:solidFill>
                <a:cs typeface="Arial MT"/>
              </a:rPr>
              <a:t>time</a:t>
            </a:r>
            <a:endParaRPr sz="2200" dirty="0">
              <a:cs typeface="Arial MT"/>
            </a:endParaRPr>
          </a:p>
        </p:txBody>
      </p:sp>
      <p:sp>
        <p:nvSpPr>
          <p:cNvPr id="10" name="object 10"/>
          <p:cNvSpPr/>
          <p:nvPr/>
        </p:nvSpPr>
        <p:spPr>
          <a:xfrm>
            <a:off x="1616049" y="493381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11" name="object 11"/>
          <p:cNvSpPr txBox="1"/>
          <p:nvPr/>
        </p:nvSpPr>
        <p:spPr>
          <a:xfrm>
            <a:off x="1970023" y="4757186"/>
            <a:ext cx="2500033" cy="423834"/>
          </a:xfrm>
          <a:prstGeom prst="rect">
            <a:avLst/>
          </a:prstGeom>
        </p:spPr>
        <p:txBody>
          <a:bodyPr vert="horz" wrap="square" lIns="0" tIns="15875" rIns="0" bIns="0" rtlCol="0">
            <a:spAutoFit/>
          </a:bodyPr>
          <a:lstStyle/>
          <a:p>
            <a:pPr marL="12700">
              <a:lnSpc>
                <a:spcPct val="100000"/>
              </a:lnSpc>
              <a:spcBef>
                <a:spcPts val="125"/>
              </a:spcBef>
            </a:pPr>
            <a:r>
              <a:rPr sz="2650" spc="10" dirty="0">
                <a:solidFill>
                  <a:srgbClr val="9B0707"/>
                </a:solidFill>
                <a:cs typeface="Arial MT"/>
              </a:rPr>
              <a:t>line</a:t>
            </a:r>
            <a:r>
              <a:rPr sz="2650" spc="-100" dirty="0">
                <a:solidFill>
                  <a:srgbClr val="9B0707"/>
                </a:solidFill>
                <a:cs typeface="Arial MT"/>
              </a:rPr>
              <a:t> </a:t>
            </a:r>
            <a:r>
              <a:rPr sz="2650" spc="5" dirty="0">
                <a:solidFill>
                  <a:srgbClr val="9B0707"/>
                </a:solidFill>
                <a:cs typeface="Arial MT"/>
              </a:rPr>
              <a:t>utilization</a:t>
            </a:r>
            <a:r>
              <a:rPr lang="en-US" sz="2650" spc="5" dirty="0">
                <a:solidFill>
                  <a:srgbClr val="9B0707"/>
                </a:solidFill>
                <a:cs typeface="Arial MT"/>
              </a:rPr>
              <a:t> =</a:t>
            </a:r>
            <a:endParaRPr sz="2650" dirty="0">
              <a:cs typeface="Arial MT"/>
            </a:endParaRPr>
          </a:p>
        </p:txBody>
      </p:sp>
      <p:pic>
        <p:nvPicPr>
          <p:cNvPr id="12" name="object 12"/>
          <p:cNvPicPr/>
          <p:nvPr/>
        </p:nvPicPr>
        <p:blipFill>
          <a:blip r:embed="rId2" cstate="print"/>
          <a:stretch>
            <a:fillRect/>
          </a:stretch>
        </p:blipFill>
        <p:spPr>
          <a:xfrm>
            <a:off x="5140858" y="4889652"/>
            <a:ext cx="249936" cy="252984"/>
          </a:xfrm>
          <a:prstGeom prst="rect">
            <a:avLst/>
          </a:prstGeom>
        </p:spPr>
      </p:pic>
      <p:sp>
        <p:nvSpPr>
          <p:cNvPr id="13" name="object 13"/>
          <p:cNvSpPr txBox="1"/>
          <p:nvPr/>
        </p:nvSpPr>
        <p:spPr>
          <a:xfrm>
            <a:off x="4470056" y="4719396"/>
            <a:ext cx="1702144" cy="479425"/>
          </a:xfrm>
          <a:prstGeom prst="rect">
            <a:avLst/>
          </a:prstGeom>
        </p:spPr>
        <p:txBody>
          <a:bodyPr vert="horz" wrap="square" lIns="0" tIns="15875" rIns="0" bIns="0" rtlCol="0">
            <a:spAutoFit/>
          </a:bodyPr>
          <a:lstStyle/>
          <a:p>
            <a:pPr marL="12700">
              <a:lnSpc>
                <a:spcPct val="100000"/>
              </a:lnSpc>
              <a:spcBef>
                <a:spcPts val="125"/>
              </a:spcBef>
              <a:tabLst>
                <a:tab pos="472440" algn="l"/>
                <a:tab pos="995044" algn="l"/>
              </a:tabLst>
            </a:pPr>
            <a:r>
              <a:rPr lang="en-US" sz="2950" i="1" spc="5" dirty="0">
                <a:solidFill>
                  <a:srgbClr val="9B0707"/>
                </a:solidFill>
                <a:cs typeface="Times New Roman"/>
              </a:rPr>
              <a:t>l /(</a:t>
            </a:r>
            <a:r>
              <a:rPr sz="2950" i="1" spc="5" dirty="0">
                <a:solidFill>
                  <a:srgbClr val="9B0707"/>
                </a:solidFill>
                <a:cs typeface="Times New Roman"/>
              </a:rPr>
              <a:t>l	</a:t>
            </a:r>
            <a:r>
              <a:rPr sz="2950" i="1" spc="10" dirty="0" err="1">
                <a:solidFill>
                  <a:srgbClr val="9B0707"/>
                </a:solidFill>
                <a:cs typeface="Times New Roman"/>
              </a:rPr>
              <a:t>bR</a:t>
            </a:r>
            <a:r>
              <a:rPr lang="en-US" sz="2950" i="1" spc="10" dirty="0">
                <a:solidFill>
                  <a:srgbClr val="9B0707"/>
                </a:solidFill>
                <a:cs typeface="Times New Roman"/>
              </a:rPr>
              <a:t>)</a:t>
            </a:r>
            <a:endParaRPr sz="2950" dirty="0">
              <a:cs typeface="Times New Roman"/>
            </a:endParaRPr>
          </a:p>
        </p:txBody>
      </p:sp>
      <p:sp>
        <p:nvSpPr>
          <p:cNvPr id="14" name="object 14"/>
          <p:cNvSpPr/>
          <p:nvPr/>
        </p:nvSpPr>
        <p:spPr>
          <a:xfrm>
            <a:off x="1955901" y="5351386"/>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5" name="object 15"/>
          <p:cNvSpPr/>
          <p:nvPr/>
        </p:nvSpPr>
        <p:spPr>
          <a:xfrm>
            <a:off x="1955901" y="5767438"/>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6" name="object 16"/>
          <p:cNvSpPr/>
          <p:nvPr/>
        </p:nvSpPr>
        <p:spPr>
          <a:xfrm>
            <a:off x="1955901" y="618349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006699"/>
          </a:solidFill>
        </p:spPr>
        <p:txBody>
          <a:bodyPr wrap="square" lIns="0" tIns="0" rIns="0" bIns="0" rtlCol="0"/>
          <a:lstStyle/>
          <a:p>
            <a:endParaRPr/>
          </a:p>
        </p:txBody>
      </p:sp>
      <p:sp>
        <p:nvSpPr>
          <p:cNvPr id="17" name="object 17"/>
          <p:cNvSpPr/>
          <p:nvPr/>
        </p:nvSpPr>
        <p:spPr>
          <a:xfrm>
            <a:off x="1616049" y="6520294"/>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18" name="object 18"/>
          <p:cNvSpPr txBox="1"/>
          <p:nvPr/>
        </p:nvSpPr>
        <p:spPr>
          <a:xfrm>
            <a:off x="1970023" y="5161775"/>
            <a:ext cx="5956935" cy="1623060"/>
          </a:xfrm>
          <a:prstGeom prst="rect">
            <a:avLst/>
          </a:prstGeom>
        </p:spPr>
        <p:txBody>
          <a:bodyPr vert="horz" wrap="square" lIns="0" tIns="54610" rIns="0" bIns="0" rtlCol="0">
            <a:spAutoFit/>
          </a:bodyPr>
          <a:lstStyle/>
          <a:p>
            <a:pPr marL="352425">
              <a:lnSpc>
                <a:spcPct val="100000"/>
              </a:lnSpc>
              <a:spcBef>
                <a:spcPts val="430"/>
              </a:spcBef>
            </a:pPr>
            <a:r>
              <a:rPr sz="2450" i="1" spc="5" dirty="0">
                <a:solidFill>
                  <a:srgbClr val="006699"/>
                </a:solidFill>
                <a:cs typeface="Times New Roman"/>
              </a:rPr>
              <a:t>l</a:t>
            </a:r>
            <a:r>
              <a:rPr sz="2450" i="1" spc="110" dirty="0">
                <a:solidFill>
                  <a:srgbClr val="006699"/>
                </a:solidFill>
                <a:cs typeface="Times New Roman"/>
              </a:rPr>
              <a:t> </a:t>
            </a:r>
            <a:r>
              <a:rPr sz="2200" spc="5" dirty="0">
                <a:solidFill>
                  <a:srgbClr val="006699"/>
                </a:solidFill>
                <a:cs typeface="Arial MT"/>
              </a:rPr>
              <a:t>is </a:t>
            </a:r>
            <a:r>
              <a:rPr sz="2200" spc="10" dirty="0">
                <a:solidFill>
                  <a:srgbClr val="006699"/>
                </a:solidFill>
                <a:cs typeface="Arial MT"/>
              </a:rPr>
              <a:t>the</a:t>
            </a:r>
            <a:r>
              <a:rPr sz="2200" dirty="0">
                <a:solidFill>
                  <a:srgbClr val="006699"/>
                </a:solidFill>
                <a:cs typeface="Arial MT"/>
              </a:rPr>
              <a:t> </a:t>
            </a:r>
            <a:r>
              <a:rPr sz="2200" spc="5" dirty="0">
                <a:solidFill>
                  <a:srgbClr val="006699"/>
                </a:solidFill>
                <a:cs typeface="Arial MT"/>
              </a:rPr>
              <a:t>frame </a:t>
            </a:r>
            <a:r>
              <a:rPr sz="2200" dirty="0">
                <a:solidFill>
                  <a:srgbClr val="006699"/>
                </a:solidFill>
                <a:cs typeface="Arial MT"/>
              </a:rPr>
              <a:t>size </a:t>
            </a:r>
            <a:r>
              <a:rPr sz="2200" spc="10" dirty="0">
                <a:solidFill>
                  <a:srgbClr val="006699"/>
                </a:solidFill>
                <a:cs typeface="Arial MT"/>
              </a:rPr>
              <a:t>(in</a:t>
            </a:r>
            <a:r>
              <a:rPr sz="2200" spc="5" dirty="0">
                <a:solidFill>
                  <a:srgbClr val="006699"/>
                </a:solidFill>
                <a:cs typeface="Arial MT"/>
              </a:rPr>
              <a:t> </a:t>
            </a:r>
            <a:r>
              <a:rPr sz="2200" dirty="0">
                <a:solidFill>
                  <a:srgbClr val="006699"/>
                </a:solidFill>
                <a:cs typeface="Arial MT"/>
              </a:rPr>
              <a:t>bits)</a:t>
            </a:r>
            <a:endParaRPr sz="2200" dirty="0">
              <a:cs typeface="Arial MT"/>
            </a:endParaRPr>
          </a:p>
          <a:p>
            <a:pPr marL="352425">
              <a:lnSpc>
                <a:spcPct val="100000"/>
              </a:lnSpc>
              <a:spcBef>
                <a:spcPts val="335"/>
              </a:spcBef>
            </a:pPr>
            <a:r>
              <a:rPr sz="2450" i="1" spc="10" dirty="0">
                <a:solidFill>
                  <a:srgbClr val="006699"/>
                </a:solidFill>
                <a:cs typeface="Times New Roman"/>
              </a:rPr>
              <a:t>b</a:t>
            </a:r>
            <a:r>
              <a:rPr sz="2450" i="1" spc="5" dirty="0">
                <a:solidFill>
                  <a:srgbClr val="006699"/>
                </a:solidFill>
                <a:cs typeface="Times New Roman"/>
              </a:rPr>
              <a:t> </a:t>
            </a:r>
            <a:r>
              <a:rPr sz="2200" spc="5" dirty="0">
                <a:solidFill>
                  <a:srgbClr val="006699"/>
                </a:solidFill>
                <a:cs typeface="Arial MT"/>
              </a:rPr>
              <a:t>is</a:t>
            </a:r>
            <a:r>
              <a:rPr sz="2200" spc="10" dirty="0">
                <a:solidFill>
                  <a:srgbClr val="006699"/>
                </a:solidFill>
                <a:cs typeface="Arial MT"/>
              </a:rPr>
              <a:t> the</a:t>
            </a:r>
            <a:r>
              <a:rPr sz="2200" spc="-10" dirty="0">
                <a:solidFill>
                  <a:srgbClr val="006699"/>
                </a:solidFill>
                <a:cs typeface="Arial MT"/>
              </a:rPr>
              <a:t> </a:t>
            </a:r>
            <a:r>
              <a:rPr sz="2200" spc="15" dirty="0">
                <a:solidFill>
                  <a:srgbClr val="006699"/>
                </a:solidFill>
                <a:cs typeface="Arial MT"/>
              </a:rPr>
              <a:t>channel</a:t>
            </a:r>
            <a:r>
              <a:rPr sz="2200" spc="-5" dirty="0">
                <a:solidFill>
                  <a:srgbClr val="006699"/>
                </a:solidFill>
                <a:cs typeface="Arial MT"/>
              </a:rPr>
              <a:t> </a:t>
            </a:r>
            <a:r>
              <a:rPr sz="2200" spc="10" dirty="0">
                <a:solidFill>
                  <a:srgbClr val="006699"/>
                </a:solidFill>
                <a:cs typeface="Arial MT"/>
              </a:rPr>
              <a:t>capacity</a:t>
            </a:r>
            <a:r>
              <a:rPr sz="2200" dirty="0">
                <a:solidFill>
                  <a:srgbClr val="006699"/>
                </a:solidFill>
                <a:cs typeface="Arial MT"/>
              </a:rPr>
              <a:t> </a:t>
            </a:r>
            <a:r>
              <a:rPr sz="2200" spc="10" dirty="0">
                <a:solidFill>
                  <a:srgbClr val="006699"/>
                </a:solidFill>
                <a:cs typeface="Arial MT"/>
              </a:rPr>
              <a:t>(in</a:t>
            </a:r>
            <a:r>
              <a:rPr sz="2200" dirty="0">
                <a:solidFill>
                  <a:srgbClr val="006699"/>
                </a:solidFill>
                <a:cs typeface="Arial MT"/>
              </a:rPr>
              <a:t> bits/sec)</a:t>
            </a:r>
            <a:endParaRPr sz="2200" dirty="0">
              <a:cs typeface="Arial MT"/>
            </a:endParaRPr>
          </a:p>
          <a:p>
            <a:pPr marL="352425">
              <a:lnSpc>
                <a:spcPts val="2545"/>
              </a:lnSpc>
              <a:spcBef>
                <a:spcPts val="335"/>
              </a:spcBef>
            </a:pPr>
            <a:r>
              <a:rPr sz="2450" i="1" spc="15" dirty="0">
                <a:solidFill>
                  <a:srgbClr val="006699"/>
                </a:solidFill>
                <a:cs typeface="Times New Roman"/>
              </a:rPr>
              <a:t>R</a:t>
            </a:r>
            <a:r>
              <a:rPr sz="2450" i="1" spc="5" dirty="0">
                <a:solidFill>
                  <a:srgbClr val="006699"/>
                </a:solidFill>
                <a:cs typeface="Times New Roman"/>
              </a:rPr>
              <a:t> </a:t>
            </a:r>
            <a:r>
              <a:rPr sz="2200" spc="5" dirty="0">
                <a:solidFill>
                  <a:srgbClr val="006699"/>
                </a:solidFill>
                <a:cs typeface="Arial MT"/>
              </a:rPr>
              <a:t>is</a:t>
            </a:r>
            <a:r>
              <a:rPr sz="2200" spc="10" dirty="0">
                <a:solidFill>
                  <a:srgbClr val="006699"/>
                </a:solidFill>
                <a:cs typeface="Arial MT"/>
              </a:rPr>
              <a:t> the</a:t>
            </a:r>
            <a:r>
              <a:rPr sz="2200" spc="-5" dirty="0">
                <a:solidFill>
                  <a:srgbClr val="006699"/>
                </a:solidFill>
                <a:cs typeface="Arial MT"/>
              </a:rPr>
              <a:t> </a:t>
            </a:r>
            <a:r>
              <a:rPr sz="2200" spc="10" dirty="0">
                <a:solidFill>
                  <a:srgbClr val="006699"/>
                </a:solidFill>
                <a:cs typeface="Arial MT"/>
              </a:rPr>
              <a:t>round-trip</a:t>
            </a:r>
            <a:r>
              <a:rPr sz="2200" spc="15" dirty="0">
                <a:solidFill>
                  <a:srgbClr val="006699"/>
                </a:solidFill>
                <a:cs typeface="Arial MT"/>
              </a:rPr>
              <a:t> </a:t>
            </a:r>
            <a:r>
              <a:rPr sz="2200" spc="10" dirty="0">
                <a:solidFill>
                  <a:srgbClr val="006699"/>
                </a:solidFill>
                <a:cs typeface="Arial MT"/>
              </a:rPr>
              <a:t>time</a:t>
            </a:r>
            <a:r>
              <a:rPr sz="2200" dirty="0">
                <a:solidFill>
                  <a:srgbClr val="006699"/>
                </a:solidFill>
                <a:cs typeface="Arial MT"/>
              </a:rPr>
              <a:t> </a:t>
            </a:r>
            <a:r>
              <a:rPr sz="2200" spc="10" dirty="0">
                <a:solidFill>
                  <a:srgbClr val="006699"/>
                </a:solidFill>
                <a:cs typeface="Arial MT"/>
              </a:rPr>
              <a:t>(in</a:t>
            </a:r>
            <a:r>
              <a:rPr sz="2200" dirty="0">
                <a:solidFill>
                  <a:srgbClr val="006699"/>
                </a:solidFill>
                <a:cs typeface="Arial MT"/>
              </a:rPr>
              <a:t> </a:t>
            </a:r>
            <a:r>
              <a:rPr sz="2200" spc="10" dirty="0">
                <a:solidFill>
                  <a:srgbClr val="006699"/>
                </a:solidFill>
                <a:cs typeface="Arial MT"/>
              </a:rPr>
              <a:t>sec)</a:t>
            </a:r>
            <a:endParaRPr sz="2200" dirty="0">
              <a:cs typeface="Arial MT"/>
            </a:endParaRPr>
          </a:p>
          <a:p>
            <a:pPr marL="12700">
              <a:lnSpc>
                <a:spcPts val="3145"/>
              </a:lnSpc>
              <a:tabLst>
                <a:tab pos="880110" algn="l"/>
              </a:tabLst>
            </a:pPr>
            <a:r>
              <a:rPr sz="2650" spc="5" dirty="0">
                <a:solidFill>
                  <a:srgbClr val="9B0707"/>
                </a:solidFill>
                <a:cs typeface="Arial MT"/>
              </a:rPr>
              <a:t>If </a:t>
            </a:r>
            <a:r>
              <a:rPr sz="2950" i="1" spc="5" dirty="0">
                <a:solidFill>
                  <a:srgbClr val="9B0707"/>
                </a:solidFill>
                <a:cs typeface="Times New Roman"/>
              </a:rPr>
              <a:t>l</a:t>
            </a:r>
            <a:r>
              <a:rPr lang="en-US" sz="2950" i="1" spc="5" dirty="0">
                <a:solidFill>
                  <a:srgbClr val="9B0707"/>
                </a:solidFill>
                <a:cs typeface="Times New Roman"/>
              </a:rPr>
              <a:t>&lt;</a:t>
            </a:r>
            <a:r>
              <a:rPr sz="2950" i="1" spc="10" dirty="0" err="1">
                <a:solidFill>
                  <a:srgbClr val="9B0707"/>
                </a:solidFill>
                <a:cs typeface="Times New Roman"/>
              </a:rPr>
              <a:t>bR</a:t>
            </a:r>
            <a:r>
              <a:rPr sz="2950" i="1" spc="5" dirty="0">
                <a:solidFill>
                  <a:srgbClr val="9B0707"/>
                </a:solidFill>
                <a:cs typeface="Times New Roman"/>
              </a:rPr>
              <a:t> </a:t>
            </a:r>
            <a:r>
              <a:rPr sz="2650" spc="5" dirty="0">
                <a:solidFill>
                  <a:srgbClr val="9B0707"/>
                </a:solidFill>
                <a:cs typeface="Arial MT"/>
              </a:rPr>
              <a:t>the</a:t>
            </a:r>
            <a:r>
              <a:rPr sz="2650" dirty="0">
                <a:solidFill>
                  <a:srgbClr val="9B0707"/>
                </a:solidFill>
                <a:cs typeface="Arial MT"/>
              </a:rPr>
              <a:t> </a:t>
            </a:r>
            <a:r>
              <a:rPr sz="2650" spc="5" dirty="0">
                <a:solidFill>
                  <a:srgbClr val="9B0707"/>
                </a:solidFill>
                <a:cs typeface="Arial MT"/>
              </a:rPr>
              <a:t>efficiency </a:t>
            </a:r>
            <a:r>
              <a:rPr sz="2650" spc="10" dirty="0">
                <a:solidFill>
                  <a:srgbClr val="9B0707"/>
                </a:solidFill>
                <a:cs typeface="Arial MT"/>
              </a:rPr>
              <a:t>is</a:t>
            </a:r>
            <a:r>
              <a:rPr sz="2650" spc="-10" dirty="0">
                <a:solidFill>
                  <a:srgbClr val="9B0707"/>
                </a:solidFill>
                <a:cs typeface="Arial MT"/>
              </a:rPr>
              <a:t> </a:t>
            </a:r>
            <a:r>
              <a:rPr sz="2650" spc="10" dirty="0">
                <a:solidFill>
                  <a:srgbClr val="9B0707"/>
                </a:solidFill>
                <a:cs typeface="Arial MT"/>
              </a:rPr>
              <a:t>less</a:t>
            </a:r>
            <a:r>
              <a:rPr sz="2650" spc="-15" dirty="0">
                <a:solidFill>
                  <a:srgbClr val="9B0707"/>
                </a:solidFill>
                <a:cs typeface="Arial MT"/>
              </a:rPr>
              <a:t> </a:t>
            </a:r>
            <a:r>
              <a:rPr sz="2650" spc="5" dirty="0">
                <a:solidFill>
                  <a:srgbClr val="9B0707"/>
                </a:solidFill>
                <a:cs typeface="Arial MT"/>
              </a:rPr>
              <a:t>than</a:t>
            </a:r>
            <a:r>
              <a:rPr sz="2650" spc="-5" dirty="0">
                <a:solidFill>
                  <a:srgbClr val="9B0707"/>
                </a:solidFill>
                <a:cs typeface="Arial MT"/>
              </a:rPr>
              <a:t> </a:t>
            </a:r>
            <a:r>
              <a:rPr sz="2650" spc="10" dirty="0">
                <a:solidFill>
                  <a:srgbClr val="9B0707"/>
                </a:solidFill>
                <a:cs typeface="Arial MT"/>
              </a:rPr>
              <a:t>50%</a:t>
            </a:r>
            <a:endParaRPr sz="2650" dirty="0">
              <a:cs typeface="Arial MT"/>
            </a:endParaRPr>
          </a:p>
        </p:txBody>
      </p:sp>
      <p:sp>
        <p:nvSpPr>
          <p:cNvPr id="21" name="TextBox 20">
            <a:extLst>
              <a:ext uri="{FF2B5EF4-FFF2-40B4-BE49-F238E27FC236}">
                <a16:creationId xmlns:a16="http://schemas.microsoft.com/office/drawing/2014/main" id="{F8CA1E86-9498-5912-2808-709C13AD7AA1}"/>
              </a:ext>
            </a:extLst>
          </p:cNvPr>
          <p:cNvSpPr txBox="1"/>
          <p:nvPr/>
        </p:nvSpPr>
        <p:spPr>
          <a:xfrm>
            <a:off x="1934635" y="1024447"/>
            <a:ext cx="7602219" cy="369332"/>
          </a:xfrm>
          <a:prstGeom prst="rect">
            <a:avLst/>
          </a:prstGeom>
          <a:noFill/>
        </p:spPr>
        <p:txBody>
          <a:bodyPr wrap="square">
            <a:spAutoFit/>
          </a:bodyPr>
          <a:lstStyle/>
          <a:p>
            <a:r>
              <a:rPr lang="en-US" sz="1800" b="0" i="0" u="none" strike="noStrike" baseline="0" dirty="0"/>
              <a:t>The technique of keeping multiple frames in flight is an example of </a:t>
            </a:r>
            <a:r>
              <a:rPr lang="en-US" sz="1800" b="1" i="0" u="none" strike="noStrike" baseline="0" dirty="0"/>
              <a:t>pipelining</a:t>
            </a:r>
            <a:r>
              <a:rPr lang="en-US" sz="1800" b="0" i="0" u="none" strike="noStrike" baseline="0" dirty="0"/>
              <a:t>.</a:t>
            </a:r>
            <a:endParaRPr lang="en-US" dirty="0"/>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5414" y="3091464"/>
            <a:ext cx="4371162" cy="444352"/>
          </a:xfrm>
          <a:prstGeom prst="rect">
            <a:avLst/>
          </a:prstGeom>
        </p:spPr>
        <p:txBody>
          <a:bodyPr vert="horz" wrap="square" lIns="0" tIns="13335" rIns="0" bIns="0" rtlCol="0">
            <a:spAutoFit/>
          </a:bodyPr>
          <a:lstStyle/>
          <a:p>
            <a:pPr marL="12700">
              <a:lnSpc>
                <a:spcPct val="100000"/>
              </a:lnSpc>
              <a:spcBef>
                <a:spcPts val="105"/>
              </a:spcBef>
            </a:pPr>
            <a:r>
              <a:rPr sz="2800" spc="-15" dirty="0"/>
              <a:t>Receiver</a:t>
            </a:r>
            <a:r>
              <a:rPr sz="2800" spc="-30" dirty="0"/>
              <a:t> </a:t>
            </a:r>
            <a:r>
              <a:rPr sz="2800" spc="-15" dirty="0"/>
              <a:t>Window </a:t>
            </a:r>
            <a:r>
              <a:rPr sz="2800" spc="-20" dirty="0"/>
              <a:t>Size</a:t>
            </a:r>
            <a:r>
              <a:rPr sz="2800" dirty="0"/>
              <a:t> </a:t>
            </a:r>
            <a:r>
              <a:rPr sz="2800" spc="-5" dirty="0"/>
              <a:t>is</a:t>
            </a:r>
            <a:r>
              <a:rPr sz="2800" spc="-10" dirty="0"/>
              <a:t> </a:t>
            </a:r>
            <a:r>
              <a:rPr sz="2800" spc="-5" dirty="0">
                <a:highlight>
                  <a:srgbClr val="FFFF00"/>
                </a:highlight>
              </a:rPr>
              <a:t>One</a:t>
            </a:r>
          </a:p>
        </p:txBody>
      </p:sp>
      <p:sp>
        <p:nvSpPr>
          <p:cNvPr id="153" name="object 153"/>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46</a:t>
            </a:fld>
            <a:r>
              <a:rPr spc="10" dirty="0"/>
              <a:t>/69</a:t>
            </a:r>
          </a:p>
        </p:txBody>
      </p:sp>
      <p:grpSp>
        <p:nvGrpSpPr>
          <p:cNvPr id="154" name="Group 153">
            <a:extLst>
              <a:ext uri="{FF2B5EF4-FFF2-40B4-BE49-F238E27FC236}">
                <a16:creationId xmlns:a16="http://schemas.microsoft.com/office/drawing/2014/main" id="{4E1D1DE6-F0DE-4E95-60A6-9231FB5E4C39}"/>
              </a:ext>
            </a:extLst>
          </p:cNvPr>
          <p:cNvGrpSpPr/>
          <p:nvPr/>
        </p:nvGrpSpPr>
        <p:grpSpPr>
          <a:xfrm>
            <a:off x="1524000" y="3657600"/>
            <a:ext cx="7590942" cy="2756599"/>
            <a:chOff x="1935048" y="2077648"/>
            <a:chExt cx="7590942" cy="2756599"/>
          </a:xfrm>
        </p:grpSpPr>
        <p:sp>
          <p:nvSpPr>
            <p:cNvPr id="3" name="object 3"/>
            <p:cNvSpPr txBox="1"/>
            <p:nvPr/>
          </p:nvSpPr>
          <p:spPr>
            <a:xfrm>
              <a:off x="1935048" y="2459113"/>
              <a:ext cx="253365" cy="253365"/>
            </a:xfrm>
            <a:prstGeom prst="rect">
              <a:avLst/>
            </a:prstGeom>
            <a:ln w="10535">
              <a:solidFill>
                <a:srgbClr val="000000"/>
              </a:solidFill>
            </a:ln>
          </p:spPr>
          <p:txBody>
            <a:bodyPr vert="horz" wrap="square" lIns="0" tIns="17145" rIns="0" bIns="0" rtlCol="0">
              <a:spAutoFit/>
            </a:bodyPr>
            <a:lstStyle/>
            <a:p>
              <a:pPr marL="72390">
                <a:lnSpc>
                  <a:spcPct val="100000"/>
                </a:lnSpc>
                <a:spcBef>
                  <a:spcPts val="135"/>
                </a:spcBef>
              </a:pPr>
              <a:r>
                <a:rPr sz="1300" spc="15" dirty="0">
                  <a:latin typeface="Arial MT"/>
                  <a:cs typeface="Arial MT"/>
                </a:rPr>
                <a:t>0</a:t>
              </a:r>
              <a:endParaRPr sz="1300">
                <a:latin typeface="Arial MT"/>
                <a:cs typeface="Arial MT"/>
              </a:endParaRPr>
            </a:p>
          </p:txBody>
        </p:sp>
        <p:sp>
          <p:nvSpPr>
            <p:cNvPr id="4" name="object 4"/>
            <p:cNvSpPr txBox="1"/>
            <p:nvPr/>
          </p:nvSpPr>
          <p:spPr>
            <a:xfrm>
              <a:off x="2366391" y="2459113"/>
              <a:ext cx="253365" cy="253365"/>
            </a:xfrm>
            <a:prstGeom prst="rect">
              <a:avLst/>
            </a:prstGeom>
            <a:ln w="10535">
              <a:solidFill>
                <a:srgbClr val="000000"/>
              </a:solidFill>
            </a:ln>
          </p:spPr>
          <p:txBody>
            <a:bodyPr vert="horz" wrap="square" lIns="0" tIns="17145" rIns="0" bIns="0" rtlCol="0">
              <a:spAutoFit/>
            </a:bodyPr>
            <a:lstStyle/>
            <a:p>
              <a:pPr marL="59055">
                <a:lnSpc>
                  <a:spcPct val="100000"/>
                </a:lnSpc>
                <a:spcBef>
                  <a:spcPts val="135"/>
                </a:spcBef>
              </a:pPr>
              <a:r>
                <a:rPr sz="1300" spc="15" dirty="0">
                  <a:latin typeface="Arial MT"/>
                  <a:cs typeface="Arial MT"/>
                </a:rPr>
                <a:t>1</a:t>
              </a:r>
              <a:endParaRPr sz="1300">
                <a:latin typeface="Arial MT"/>
                <a:cs typeface="Arial MT"/>
              </a:endParaRPr>
            </a:p>
          </p:txBody>
        </p:sp>
        <p:sp>
          <p:nvSpPr>
            <p:cNvPr id="5" name="object 5"/>
            <p:cNvSpPr txBox="1"/>
            <p:nvPr/>
          </p:nvSpPr>
          <p:spPr>
            <a:xfrm>
              <a:off x="2619260" y="3691826"/>
              <a:ext cx="253365" cy="253365"/>
            </a:xfrm>
            <a:prstGeom prst="rect">
              <a:avLst/>
            </a:prstGeom>
            <a:ln w="10535">
              <a:solidFill>
                <a:srgbClr val="000000"/>
              </a:solidFill>
            </a:ln>
          </p:spPr>
          <p:txBody>
            <a:bodyPr vert="horz" wrap="square" lIns="0" tIns="13970" rIns="0" bIns="0" rtlCol="0">
              <a:spAutoFit/>
            </a:bodyPr>
            <a:lstStyle/>
            <a:p>
              <a:pPr marL="73025">
                <a:lnSpc>
                  <a:spcPct val="100000"/>
                </a:lnSpc>
                <a:spcBef>
                  <a:spcPts val="110"/>
                </a:spcBef>
              </a:pPr>
              <a:r>
                <a:rPr sz="1300" spc="15" dirty="0">
                  <a:latin typeface="Arial MT"/>
                  <a:cs typeface="Arial MT"/>
                </a:rPr>
                <a:t>0</a:t>
              </a:r>
              <a:endParaRPr sz="1300">
                <a:latin typeface="Arial MT"/>
                <a:cs typeface="Arial MT"/>
              </a:endParaRPr>
            </a:p>
          </p:txBody>
        </p:sp>
        <p:sp>
          <p:nvSpPr>
            <p:cNvPr id="6" name="object 6"/>
            <p:cNvSpPr txBox="1"/>
            <p:nvPr/>
          </p:nvSpPr>
          <p:spPr>
            <a:xfrm>
              <a:off x="3050603" y="3691826"/>
              <a:ext cx="253365" cy="253365"/>
            </a:xfrm>
            <a:prstGeom prst="rect">
              <a:avLst/>
            </a:prstGeom>
            <a:ln w="10535">
              <a:solidFill>
                <a:srgbClr val="000000"/>
              </a:solidFill>
            </a:ln>
          </p:spPr>
          <p:txBody>
            <a:bodyPr vert="horz" wrap="square" lIns="0" tIns="13970" rIns="0" bIns="0" rtlCol="0">
              <a:spAutoFit/>
            </a:bodyPr>
            <a:lstStyle/>
            <a:p>
              <a:pPr marL="59690">
                <a:lnSpc>
                  <a:spcPct val="100000"/>
                </a:lnSpc>
                <a:spcBef>
                  <a:spcPts val="110"/>
                </a:spcBef>
              </a:pPr>
              <a:r>
                <a:rPr sz="1300" spc="15" dirty="0">
                  <a:latin typeface="Arial MT"/>
                  <a:cs typeface="Arial MT"/>
                </a:rPr>
                <a:t>1</a:t>
              </a:r>
              <a:endParaRPr sz="1300">
                <a:latin typeface="Arial MT"/>
                <a:cs typeface="Arial MT"/>
              </a:endParaRPr>
            </a:p>
          </p:txBody>
        </p:sp>
        <p:sp>
          <p:nvSpPr>
            <p:cNvPr id="7" name="object 7"/>
            <p:cNvSpPr txBox="1"/>
            <p:nvPr/>
          </p:nvSpPr>
          <p:spPr>
            <a:xfrm>
              <a:off x="6484188" y="3691826"/>
              <a:ext cx="253365" cy="253365"/>
            </a:xfrm>
            <a:prstGeom prst="rect">
              <a:avLst/>
            </a:prstGeom>
            <a:ln w="10535">
              <a:solidFill>
                <a:srgbClr val="000000"/>
              </a:solidFill>
            </a:ln>
          </p:spPr>
          <p:txBody>
            <a:bodyPr vert="horz" wrap="square" lIns="0" tIns="13970" rIns="0" bIns="0" rtlCol="0">
              <a:spAutoFit/>
            </a:bodyPr>
            <a:lstStyle/>
            <a:p>
              <a:pPr marL="81915">
                <a:lnSpc>
                  <a:spcPct val="100000"/>
                </a:lnSpc>
                <a:spcBef>
                  <a:spcPts val="110"/>
                </a:spcBef>
              </a:pPr>
              <a:r>
                <a:rPr sz="1300" spc="15" dirty="0">
                  <a:latin typeface="Arial MT"/>
                  <a:cs typeface="Arial MT"/>
                </a:rPr>
                <a:t>2</a:t>
              </a:r>
              <a:endParaRPr sz="1300">
                <a:latin typeface="Arial MT"/>
                <a:cs typeface="Arial MT"/>
              </a:endParaRPr>
            </a:p>
          </p:txBody>
        </p:sp>
        <p:sp>
          <p:nvSpPr>
            <p:cNvPr id="8" name="object 8"/>
            <p:cNvSpPr txBox="1"/>
            <p:nvPr/>
          </p:nvSpPr>
          <p:spPr>
            <a:xfrm>
              <a:off x="6915518" y="3691826"/>
              <a:ext cx="253365" cy="253365"/>
            </a:xfrm>
            <a:prstGeom prst="rect">
              <a:avLst/>
            </a:prstGeom>
            <a:ln w="10535">
              <a:solidFill>
                <a:srgbClr val="000000"/>
              </a:solidFill>
            </a:ln>
          </p:spPr>
          <p:txBody>
            <a:bodyPr vert="horz" wrap="square" lIns="0" tIns="13970" rIns="0" bIns="0" rtlCol="0">
              <a:spAutoFit/>
            </a:bodyPr>
            <a:lstStyle/>
            <a:p>
              <a:pPr marL="71755">
                <a:lnSpc>
                  <a:spcPct val="100000"/>
                </a:lnSpc>
                <a:spcBef>
                  <a:spcPts val="110"/>
                </a:spcBef>
              </a:pPr>
              <a:r>
                <a:rPr sz="1300" spc="15" dirty="0">
                  <a:latin typeface="Arial MT"/>
                  <a:cs typeface="Arial MT"/>
                </a:rPr>
                <a:t>3</a:t>
              </a:r>
              <a:endParaRPr sz="1300">
                <a:latin typeface="Arial MT"/>
                <a:cs typeface="Arial MT"/>
              </a:endParaRPr>
            </a:p>
          </p:txBody>
        </p:sp>
        <p:sp>
          <p:nvSpPr>
            <p:cNvPr id="9" name="object 9"/>
            <p:cNvSpPr txBox="1"/>
            <p:nvPr/>
          </p:nvSpPr>
          <p:spPr>
            <a:xfrm>
              <a:off x="7346860" y="3691826"/>
              <a:ext cx="253365" cy="253365"/>
            </a:xfrm>
            <a:prstGeom prst="rect">
              <a:avLst/>
            </a:prstGeom>
            <a:ln w="10535">
              <a:solidFill>
                <a:srgbClr val="000000"/>
              </a:solidFill>
            </a:ln>
          </p:spPr>
          <p:txBody>
            <a:bodyPr vert="horz" wrap="square" lIns="0" tIns="13970" rIns="0" bIns="0" rtlCol="0">
              <a:spAutoFit/>
            </a:bodyPr>
            <a:lstStyle/>
            <a:p>
              <a:pPr marL="72390">
                <a:lnSpc>
                  <a:spcPct val="100000"/>
                </a:lnSpc>
                <a:spcBef>
                  <a:spcPts val="110"/>
                </a:spcBef>
              </a:pPr>
              <a:r>
                <a:rPr sz="1300" spc="15" dirty="0">
                  <a:latin typeface="Arial MT"/>
                  <a:cs typeface="Arial MT"/>
                </a:rPr>
                <a:t>4</a:t>
              </a:r>
              <a:endParaRPr sz="1300">
                <a:latin typeface="Arial MT"/>
                <a:cs typeface="Arial MT"/>
              </a:endParaRPr>
            </a:p>
          </p:txBody>
        </p:sp>
        <p:sp>
          <p:nvSpPr>
            <p:cNvPr id="10" name="object 10"/>
            <p:cNvSpPr txBox="1"/>
            <p:nvPr/>
          </p:nvSpPr>
          <p:spPr>
            <a:xfrm>
              <a:off x="7778229" y="3691826"/>
              <a:ext cx="253365" cy="253365"/>
            </a:xfrm>
            <a:prstGeom prst="rect">
              <a:avLst/>
            </a:prstGeom>
            <a:ln w="10535">
              <a:solidFill>
                <a:srgbClr val="000000"/>
              </a:solidFill>
            </a:ln>
          </p:spPr>
          <p:txBody>
            <a:bodyPr vert="horz" wrap="square" lIns="0" tIns="13970" rIns="0" bIns="0" rtlCol="0">
              <a:spAutoFit/>
            </a:bodyPr>
            <a:lstStyle/>
            <a:p>
              <a:pPr marL="73025">
                <a:lnSpc>
                  <a:spcPct val="100000"/>
                </a:lnSpc>
                <a:spcBef>
                  <a:spcPts val="110"/>
                </a:spcBef>
              </a:pPr>
              <a:r>
                <a:rPr sz="1300" spc="15" dirty="0">
                  <a:latin typeface="Arial MT"/>
                  <a:cs typeface="Arial MT"/>
                </a:rPr>
                <a:t>5</a:t>
              </a:r>
              <a:endParaRPr sz="1300">
                <a:latin typeface="Arial MT"/>
                <a:cs typeface="Arial MT"/>
              </a:endParaRPr>
            </a:p>
          </p:txBody>
        </p:sp>
        <p:sp>
          <p:nvSpPr>
            <p:cNvPr id="11" name="object 11"/>
            <p:cNvSpPr txBox="1"/>
            <p:nvPr/>
          </p:nvSpPr>
          <p:spPr>
            <a:xfrm>
              <a:off x="8209572" y="3691826"/>
              <a:ext cx="253365" cy="253365"/>
            </a:xfrm>
            <a:prstGeom prst="rect">
              <a:avLst/>
            </a:prstGeom>
            <a:ln w="10535">
              <a:solidFill>
                <a:srgbClr val="000000"/>
              </a:solidFill>
            </a:ln>
          </p:spPr>
          <p:txBody>
            <a:bodyPr vert="horz" wrap="square" lIns="0" tIns="13970" rIns="0" bIns="0" rtlCol="0">
              <a:spAutoFit/>
            </a:bodyPr>
            <a:lstStyle/>
            <a:p>
              <a:pPr marL="73660">
                <a:lnSpc>
                  <a:spcPct val="100000"/>
                </a:lnSpc>
                <a:spcBef>
                  <a:spcPts val="110"/>
                </a:spcBef>
              </a:pPr>
              <a:r>
                <a:rPr sz="1300" spc="15" dirty="0">
                  <a:latin typeface="Arial MT"/>
                  <a:cs typeface="Arial MT"/>
                </a:rPr>
                <a:t>6</a:t>
              </a:r>
              <a:endParaRPr sz="1300">
                <a:latin typeface="Arial MT"/>
                <a:cs typeface="Arial MT"/>
              </a:endParaRPr>
            </a:p>
          </p:txBody>
        </p:sp>
        <p:sp>
          <p:nvSpPr>
            <p:cNvPr id="12" name="object 12"/>
            <p:cNvSpPr txBox="1"/>
            <p:nvPr/>
          </p:nvSpPr>
          <p:spPr>
            <a:xfrm>
              <a:off x="8640902" y="3691826"/>
              <a:ext cx="253365" cy="253365"/>
            </a:xfrm>
            <a:prstGeom prst="rect">
              <a:avLst/>
            </a:prstGeom>
            <a:ln w="10535">
              <a:solidFill>
                <a:srgbClr val="000000"/>
              </a:solidFill>
            </a:ln>
          </p:spPr>
          <p:txBody>
            <a:bodyPr vert="horz" wrap="square" lIns="0" tIns="13970" rIns="0" bIns="0" rtlCol="0">
              <a:spAutoFit/>
            </a:bodyPr>
            <a:lstStyle/>
            <a:p>
              <a:pPr marL="85090">
                <a:lnSpc>
                  <a:spcPct val="100000"/>
                </a:lnSpc>
                <a:spcBef>
                  <a:spcPts val="110"/>
                </a:spcBef>
              </a:pPr>
              <a:r>
                <a:rPr sz="1300" spc="15" dirty="0">
                  <a:latin typeface="Arial MT"/>
                  <a:cs typeface="Arial MT"/>
                </a:rPr>
                <a:t>7</a:t>
              </a:r>
              <a:endParaRPr sz="1300">
                <a:latin typeface="Arial MT"/>
                <a:cs typeface="Arial MT"/>
              </a:endParaRPr>
            </a:p>
          </p:txBody>
        </p:sp>
        <p:sp>
          <p:nvSpPr>
            <p:cNvPr id="13" name="object 13"/>
            <p:cNvSpPr txBox="1"/>
            <p:nvPr/>
          </p:nvSpPr>
          <p:spPr>
            <a:xfrm>
              <a:off x="9072245" y="3691826"/>
              <a:ext cx="253365" cy="253365"/>
            </a:xfrm>
            <a:prstGeom prst="rect">
              <a:avLst/>
            </a:prstGeom>
            <a:ln w="10535">
              <a:solidFill>
                <a:srgbClr val="000000"/>
              </a:solidFill>
            </a:ln>
          </p:spPr>
          <p:txBody>
            <a:bodyPr vert="horz" wrap="square" lIns="0" tIns="13970" rIns="0" bIns="0" rtlCol="0">
              <a:spAutoFit/>
            </a:bodyPr>
            <a:lstStyle/>
            <a:p>
              <a:pPr marL="74930">
                <a:lnSpc>
                  <a:spcPct val="100000"/>
                </a:lnSpc>
                <a:spcBef>
                  <a:spcPts val="110"/>
                </a:spcBef>
              </a:pPr>
              <a:r>
                <a:rPr sz="1300" spc="15" dirty="0">
                  <a:latin typeface="Arial MT"/>
                  <a:cs typeface="Arial MT"/>
                </a:rPr>
                <a:t>8</a:t>
              </a:r>
              <a:endParaRPr sz="1300">
                <a:latin typeface="Arial MT"/>
                <a:cs typeface="Arial MT"/>
              </a:endParaRPr>
            </a:p>
          </p:txBody>
        </p:sp>
        <p:sp>
          <p:nvSpPr>
            <p:cNvPr id="14" name="object 14"/>
            <p:cNvSpPr txBox="1"/>
            <p:nvPr/>
          </p:nvSpPr>
          <p:spPr>
            <a:xfrm>
              <a:off x="2797746" y="2459113"/>
              <a:ext cx="253365" cy="253365"/>
            </a:xfrm>
            <a:prstGeom prst="rect">
              <a:avLst/>
            </a:prstGeom>
            <a:ln w="10535">
              <a:solidFill>
                <a:srgbClr val="000000"/>
              </a:solidFill>
            </a:ln>
          </p:spPr>
          <p:txBody>
            <a:bodyPr vert="horz" wrap="square" lIns="0" tIns="17145" rIns="0" bIns="0" rtlCol="0">
              <a:spAutoFit/>
            </a:bodyPr>
            <a:lstStyle/>
            <a:p>
              <a:pPr marL="66675">
                <a:lnSpc>
                  <a:spcPct val="100000"/>
                </a:lnSpc>
                <a:spcBef>
                  <a:spcPts val="135"/>
                </a:spcBef>
              </a:pPr>
              <a:r>
                <a:rPr sz="1300" spc="15" dirty="0">
                  <a:latin typeface="Arial MT"/>
                  <a:cs typeface="Arial MT"/>
                </a:rPr>
                <a:t>2</a:t>
              </a:r>
              <a:endParaRPr sz="1300">
                <a:latin typeface="Arial MT"/>
                <a:cs typeface="Arial MT"/>
              </a:endParaRPr>
            </a:p>
          </p:txBody>
        </p:sp>
        <p:sp>
          <p:nvSpPr>
            <p:cNvPr id="15" name="object 15"/>
            <p:cNvSpPr txBox="1"/>
            <p:nvPr/>
          </p:nvSpPr>
          <p:spPr>
            <a:xfrm>
              <a:off x="3229089" y="2459113"/>
              <a:ext cx="253365" cy="253365"/>
            </a:xfrm>
            <a:prstGeom prst="rect">
              <a:avLst/>
            </a:prstGeom>
            <a:ln w="10535">
              <a:solidFill>
                <a:srgbClr val="000000"/>
              </a:solidFill>
            </a:ln>
          </p:spPr>
          <p:txBody>
            <a:bodyPr vert="horz" wrap="square" lIns="0" tIns="17145" rIns="0" bIns="0" rtlCol="0">
              <a:spAutoFit/>
            </a:bodyPr>
            <a:lstStyle/>
            <a:p>
              <a:pPr marL="74295">
                <a:lnSpc>
                  <a:spcPct val="100000"/>
                </a:lnSpc>
                <a:spcBef>
                  <a:spcPts val="135"/>
                </a:spcBef>
              </a:pPr>
              <a:r>
                <a:rPr sz="1300" spc="15" dirty="0">
                  <a:latin typeface="Arial MT"/>
                  <a:cs typeface="Arial MT"/>
                </a:rPr>
                <a:t>3</a:t>
              </a:r>
              <a:endParaRPr sz="1300">
                <a:latin typeface="Arial MT"/>
                <a:cs typeface="Arial MT"/>
              </a:endParaRPr>
            </a:p>
          </p:txBody>
        </p:sp>
        <p:sp>
          <p:nvSpPr>
            <p:cNvPr id="16" name="object 16"/>
            <p:cNvSpPr txBox="1"/>
            <p:nvPr/>
          </p:nvSpPr>
          <p:spPr>
            <a:xfrm>
              <a:off x="3660431" y="2459113"/>
              <a:ext cx="253365" cy="253365"/>
            </a:xfrm>
            <a:prstGeom prst="rect">
              <a:avLst/>
            </a:prstGeom>
            <a:ln w="10535">
              <a:solidFill>
                <a:srgbClr val="000000"/>
              </a:solidFill>
            </a:ln>
          </p:spPr>
          <p:txBody>
            <a:bodyPr vert="horz" wrap="square" lIns="0" tIns="17145" rIns="0" bIns="0" rtlCol="0">
              <a:spAutoFit/>
            </a:bodyPr>
            <a:lstStyle/>
            <a:p>
              <a:pPr marL="74930">
                <a:lnSpc>
                  <a:spcPct val="100000"/>
                </a:lnSpc>
                <a:spcBef>
                  <a:spcPts val="135"/>
                </a:spcBef>
              </a:pPr>
              <a:r>
                <a:rPr sz="1300" spc="15" dirty="0">
                  <a:latin typeface="Arial MT"/>
                  <a:cs typeface="Arial MT"/>
                </a:rPr>
                <a:t>4</a:t>
              </a:r>
              <a:endParaRPr sz="1300">
                <a:latin typeface="Arial MT"/>
                <a:cs typeface="Arial MT"/>
              </a:endParaRPr>
            </a:p>
          </p:txBody>
        </p:sp>
        <p:sp>
          <p:nvSpPr>
            <p:cNvPr id="17" name="object 17"/>
            <p:cNvSpPr txBox="1"/>
            <p:nvPr/>
          </p:nvSpPr>
          <p:spPr>
            <a:xfrm>
              <a:off x="4091775" y="2459113"/>
              <a:ext cx="253365" cy="253365"/>
            </a:xfrm>
            <a:prstGeom prst="rect">
              <a:avLst/>
            </a:prstGeom>
            <a:ln w="10535">
              <a:solidFill>
                <a:srgbClr val="000000"/>
              </a:solidFill>
            </a:ln>
          </p:spPr>
          <p:txBody>
            <a:bodyPr vert="horz" wrap="square" lIns="0" tIns="17145" rIns="0" bIns="0" rtlCol="0">
              <a:spAutoFit/>
            </a:bodyPr>
            <a:lstStyle/>
            <a:p>
              <a:pPr marL="75565">
                <a:lnSpc>
                  <a:spcPct val="100000"/>
                </a:lnSpc>
                <a:spcBef>
                  <a:spcPts val="135"/>
                </a:spcBef>
              </a:pPr>
              <a:r>
                <a:rPr sz="1300" spc="15" dirty="0">
                  <a:latin typeface="Arial MT"/>
                  <a:cs typeface="Arial MT"/>
                </a:rPr>
                <a:t>5</a:t>
              </a:r>
              <a:endParaRPr sz="1300">
                <a:latin typeface="Arial MT"/>
                <a:cs typeface="Arial MT"/>
              </a:endParaRPr>
            </a:p>
          </p:txBody>
        </p:sp>
        <p:sp>
          <p:nvSpPr>
            <p:cNvPr id="18" name="object 18"/>
            <p:cNvSpPr txBox="1"/>
            <p:nvPr/>
          </p:nvSpPr>
          <p:spPr>
            <a:xfrm>
              <a:off x="4523130" y="2459113"/>
              <a:ext cx="253365" cy="253365"/>
            </a:xfrm>
            <a:prstGeom prst="rect">
              <a:avLst/>
            </a:prstGeom>
            <a:ln w="10535">
              <a:solidFill>
                <a:srgbClr val="000000"/>
              </a:solidFill>
            </a:ln>
          </p:spPr>
          <p:txBody>
            <a:bodyPr vert="horz" wrap="square" lIns="0" tIns="17145" rIns="0" bIns="0" rtlCol="0">
              <a:spAutoFit/>
            </a:bodyPr>
            <a:lstStyle/>
            <a:p>
              <a:pPr marL="76200">
                <a:lnSpc>
                  <a:spcPct val="100000"/>
                </a:lnSpc>
                <a:spcBef>
                  <a:spcPts val="135"/>
                </a:spcBef>
              </a:pPr>
              <a:r>
                <a:rPr sz="1300" spc="15" dirty="0">
                  <a:latin typeface="Arial MT"/>
                  <a:cs typeface="Arial MT"/>
                </a:rPr>
                <a:t>6</a:t>
              </a:r>
              <a:endParaRPr sz="1300">
                <a:latin typeface="Arial MT"/>
                <a:cs typeface="Arial MT"/>
              </a:endParaRPr>
            </a:p>
          </p:txBody>
        </p:sp>
        <p:sp>
          <p:nvSpPr>
            <p:cNvPr id="19" name="object 19"/>
            <p:cNvSpPr txBox="1"/>
            <p:nvPr/>
          </p:nvSpPr>
          <p:spPr>
            <a:xfrm>
              <a:off x="4954473" y="2459113"/>
              <a:ext cx="253365" cy="253365"/>
            </a:xfrm>
            <a:prstGeom prst="rect">
              <a:avLst/>
            </a:prstGeom>
            <a:ln w="10535">
              <a:solidFill>
                <a:srgbClr val="000000"/>
              </a:solidFill>
            </a:ln>
          </p:spPr>
          <p:txBody>
            <a:bodyPr vert="horz" wrap="square" lIns="0" tIns="17145" rIns="0" bIns="0" rtlCol="0">
              <a:spAutoFit/>
            </a:bodyPr>
            <a:lstStyle/>
            <a:p>
              <a:pPr marL="69850">
                <a:lnSpc>
                  <a:spcPct val="100000"/>
                </a:lnSpc>
                <a:spcBef>
                  <a:spcPts val="135"/>
                </a:spcBef>
              </a:pPr>
              <a:r>
                <a:rPr sz="1300" spc="15" dirty="0">
                  <a:latin typeface="Arial MT"/>
                  <a:cs typeface="Arial MT"/>
                </a:rPr>
                <a:t>7</a:t>
              </a:r>
              <a:endParaRPr sz="1300">
                <a:latin typeface="Arial MT"/>
                <a:cs typeface="Arial MT"/>
              </a:endParaRPr>
            </a:p>
          </p:txBody>
        </p:sp>
        <p:sp>
          <p:nvSpPr>
            <p:cNvPr id="20" name="object 20"/>
            <p:cNvSpPr txBox="1"/>
            <p:nvPr/>
          </p:nvSpPr>
          <p:spPr>
            <a:xfrm>
              <a:off x="5385816" y="2459113"/>
              <a:ext cx="253365" cy="253365"/>
            </a:xfrm>
            <a:prstGeom prst="rect">
              <a:avLst/>
            </a:prstGeom>
            <a:ln w="10535">
              <a:solidFill>
                <a:srgbClr val="000000"/>
              </a:solidFill>
            </a:ln>
          </p:spPr>
          <p:txBody>
            <a:bodyPr vert="horz" wrap="square" lIns="0" tIns="17145" rIns="0" bIns="0" rtlCol="0">
              <a:spAutoFit/>
            </a:bodyPr>
            <a:lstStyle/>
            <a:p>
              <a:pPr marL="73660">
                <a:lnSpc>
                  <a:spcPct val="100000"/>
                </a:lnSpc>
                <a:spcBef>
                  <a:spcPts val="135"/>
                </a:spcBef>
              </a:pPr>
              <a:r>
                <a:rPr sz="1300" spc="15" dirty="0">
                  <a:latin typeface="Arial MT"/>
                  <a:cs typeface="Arial MT"/>
                </a:rPr>
                <a:t>8</a:t>
              </a:r>
              <a:endParaRPr sz="1300">
                <a:latin typeface="Arial MT"/>
                <a:cs typeface="Arial MT"/>
              </a:endParaRPr>
            </a:p>
          </p:txBody>
        </p:sp>
        <p:sp>
          <p:nvSpPr>
            <p:cNvPr id="21" name="object 21"/>
            <p:cNvSpPr txBox="1"/>
            <p:nvPr/>
          </p:nvSpPr>
          <p:spPr>
            <a:xfrm>
              <a:off x="5817286" y="2459113"/>
              <a:ext cx="253365" cy="253365"/>
            </a:xfrm>
            <a:prstGeom prst="rect">
              <a:avLst/>
            </a:prstGeom>
            <a:ln w="10535">
              <a:solidFill>
                <a:srgbClr val="000000"/>
              </a:solidFill>
            </a:ln>
          </p:spPr>
          <p:txBody>
            <a:bodyPr vert="horz" wrap="square" lIns="0" tIns="17145" rIns="0" bIns="0" rtlCol="0">
              <a:spAutoFit/>
            </a:bodyPr>
            <a:lstStyle/>
            <a:p>
              <a:pPr marL="60325">
                <a:lnSpc>
                  <a:spcPct val="100000"/>
                </a:lnSpc>
                <a:spcBef>
                  <a:spcPts val="135"/>
                </a:spcBef>
              </a:pPr>
              <a:r>
                <a:rPr sz="1300" spc="15" dirty="0">
                  <a:latin typeface="Arial MT"/>
                  <a:cs typeface="Arial MT"/>
                </a:rPr>
                <a:t>2</a:t>
              </a:r>
              <a:endParaRPr sz="1300">
                <a:latin typeface="Arial MT"/>
                <a:cs typeface="Arial MT"/>
              </a:endParaRPr>
            </a:p>
          </p:txBody>
        </p:sp>
        <p:sp>
          <p:nvSpPr>
            <p:cNvPr id="22" name="object 22"/>
            <p:cNvSpPr txBox="1"/>
            <p:nvPr/>
          </p:nvSpPr>
          <p:spPr>
            <a:xfrm>
              <a:off x="6248615" y="2459113"/>
              <a:ext cx="253365" cy="253365"/>
            </a:xfrm>
            <a:prstGeom prst="rect">
              <a:avLst/>
            </a:prstGeom>
            <a:ln w="10535">
              <a:solidFill>
                <a:srgbClr val="000000"/>
              </a:solidFill>
            </a:ln>
          </p:spPr>
          <p:txBody>
            <a:bodyPr vert="horz" wrap="square" lIns="0" tIns="17145" rIns="0" bIns="0" rtlCol="0">
              <a:spAutoFit/>
            </a:bodyPr>
            <a:lstStyle/>
            <a:p>
              <a:pPr marL="67945">
                <a:lnSpc>
                  <a:spcPct val="100000"/>
                </a:lnSpc>
                <a:spcBef>
                  <a:spcPts val="135"/>
                </a:spcBef>
              </a:pPr>
              <a:r>
                <a:rPr sz="1300" spc="15" dirty="0">
                  <a:latin typeface="Arial MT"/>
                  <a:cs typeface="Arial MT"/>
                </a:rPr>
                <a:t>3</a:t>
              </a:r>
              <a:endParaRPr sz="1300">
                <a:latin typeface="Arial MT"/>
                <a:cs typeface="Arial MT"/>
              </a:endParaRPr>
            </a:p>
          </p:txBody>
        </p:sp>
        <p:sp>
          <p:nvSpPr>
            <p:cNvPr id="23" name="object 23"/>
            <p:cNvSpPr txBox="1"/>
            <p:nvPr/>
          </p:nvSpPr>
          <p:spPr>
            <a:xfrm>
              <a:off x="6679958" y="2459113"/>
              <a:ext cx="253365" cy="253365"/>
            </a:xfrm>
            <a:prstGeom prst="rect">
              <a:avLst/>
            </a:prstGeom>
            <a:ln w="10535">
              <a:solidFill>
                <a:srgbClr val="000000"/>
              </a:solidFill>
            </a:ln>
          </p:spPr>
          <p:txBody>
            <a:bodyPr vert="horz" wrap="square" lIns="0" tIns="17145" rIns="0" bIns="0" rtlCol="0">
              <a:spAutoFit/>
            </a:bodyPr>
            <a:lstStyle/>
            <a:p>
              <a:pPr marL="75565">
                <a:lnSpc>
                  <a:spcPct val="100000"/>
                </a:lnSpc>
                <a:spcBef>
                  <a:spcPts val="135"/>
                </a:spcBef>
              </a:pPr>
              <a:r>
                <a:rPr sz="1300" spc="15" dirty="0">
                  <a:latin typeface="Arial MT"/>
                  <a:cs typeface="Arial MT"/>
                </a:rPr>
                <a:t>4</a:t>
              </a:r>
              <a:endParaRPr sz="1300">
                <a:latin typeface="Arial MT"/>
                <a:cs typeface="Arial MT"/>
              </a:endParaRPr>
            </a:p>
          </p:txBody>
        </p:sp>
        <p:sp>
          <p:nvSpPr>
            <p:cNvPr id="24" name="object 24"/>
            <p:cNvSpPr txBox="1"/>
            <p:nvPr/>
          </p:nvSpPr>
          <p:spPr>
            <a:xfrm>
              <a:off x="7111327" y="2459113"/>
              <a:ext cx="253365" cy="253365"/>
            </a:xfrm>
            <a:prstGeom prst="rect">
              <a:avLst/>
            </a:prstGeom>
            <a:ln w="10535">
              <a:solidFill>
                <a:srgbClr val="000000"/>
              </a:solidFill>
            </a:ln>
          </p:spPr>
          <p:txBody>
            <a:bodyPr vert="horz" wrap="square" lIns="0" tIns="17145" rIns="0" bIns="0" rtlCol="0">
              <a:spAutoFit/>
            </a:bodyPr>
            <a:lstStyle/>
            <a:p>
              <a:pPr marL="76200">
                <a:lnSpc>
                  <a:spcPct val="100000"/>
                </a:lnSpc>
                <a:spcBef>
                  <a:spcPts val="135"/>
                </a:spcBef>
              </a:pPr>
              <a:r>
                <a:rPr sz="1300" spc="15" dirty="0">
                  <a:latin typeface="Arial MT"/>
                  <a:cs typeface="Arial MT"/>
                </a:rPr>
                <a:t>5</a:t>
              </a:r>
              <a:endParaRPr sz="1300">
                <a:latin typeface="Arial MT"/>
                <a:cs typeface="Arial MT"/>
              </a:endParaRPr>
            </a:p>
          </p:txBody>
        </p:sp>
        <p:sp>
          <p:nvSpPr>
            <p:cNvPr id="25" name="object 25"/>
            <p:cNvSpPr txBox="1"/>
            <p:nvPr/>
          </p:nvSpPr>
          <p:spPr>
            <a:xfrm>
              <a:off x="7542669" y="2459113"/>
              <a:ext cx="253365" cy="253365"/>
            </a:xfrm>
            <a:prstGeom prst="rect">
              <a:avLst/>
            </a:prstGeom>
            <a:ln w="10535">
              <a:solidFill>
                <a:srgbClr val="000000"/>
              </a:solidFill>
            </a:ln>
          </p:spPr>
          <p:txBody>
            <a:bodyPr vert="horz" wrap="square" lIns="0" tIns="17145" rIns="0" bIns="0" rtlCol="0">
              <a:spAutoFit/>
            </a:bodyPr>
            <a:lstStyle/>
            <a:p>
              <a:pPr marL="76835">
                <a:lnSpc>
                  <a:spcPct val="100000"/>
                </a:lnSpc>
                <a:spcBef>
                  <a:spcPts val="135"/>
                </a:spcBef>
              </a:pPr>
              <a:r>
                <a:rPr sz="1300" spc="15" dirty="0">
                  <a:latin typeface="Arial MT"/>
                  <a:cs typeface="Arial MT"/>
                </a:rPr>
                <a:t>6</a:t>
              </a:r>
              <a:endParaRPr sz="1300">
                <a:latin typeface="Arial MT"/>
                <a:cs typeface="Arial MT"/>
              </a:endParaRPr>
            </a:p>
          </p:txBody>
        </p:sp>
        <p:sp>
          <p:nvSpPr>
            <p:cNvPr id="26" name="object 26"/>
            <p:cNvSpPr txBox="1"/>
            <p:nvPr/>
          </p:nvSpPr>
          <p:spPr>
            <a:xfrm>
              <a:off x="7974000" y="2459113"/>
              <a:ext cx="253365" cy="253365"/>
            </a:xfrm>
            <a:prstGeom prst="rect">
              <a:avLst/>
            </a:prstGeom>
            <a:ln w="10535">
              <a:solidFill>
                <a:srgbClr val="000000"/>
              </a:solidFill>
            </a:ln>
          </p:spPr>
          <p:txBody>
            <a:bodyPr vert="horz" wrap="square" lIns="0" tIns="17145" rIns="0" bIns="0" rtlCol="0">
              <a:spAutoFit/>
            </a:bodyPr>
            <a:lstStyle/>
            <a:p>
              <a:pPr marL="77470">
                <a:lnSpc>
                  <a:spcPct val="100000"/>
                </a:lnSpc>
                <a:spcBef>
                  <a:spcPts val="135"/>
                </a:spcBef>
              </a:pPr>
              <a:r>
                <a:rPr sz="1300" spc="15" dirty="0">
                  <a:latin typeface="Arial MT"/>
                  <a:cs typeface="Arial MT"/>
                </a:rPr>
                <a:t>7</a:t>
              </a:r>
              <a:endParaRPr sz="1300">
                <a:latin typeface="Arial MT"/>
                <a:cs typeface="Arial MT"/>
              </a:endParaRPr>
            </a:p>
          </p:txBody>
        </p:sp>
        <p:sp>
          <p:nvSpPr>
            <p:cNvPr id="27" name="object 27"/>
            <p:cNvSpPr txBox="1"/>
            <p:nvPr/>
          </p:nvSpPr>
          <p:spPr>
            <a:xfrm>
              <a:off x="8405342" y="2459113"/>
              <a:ext cx="253365" cy="253365"/>
            </a:xfrm>
            <a:prstGeom prst="rect">
              <a:avLst/>
            </a:prstGeom>
            <a:ln w="10535">
              <a:solidFill>
                <a:srgbClr val="000000"/>
              </a:solidFill>
            </a:ln>
          </p:spPr>
          <p:txBody>
            <a:bodyPr vert="horz" wrap="square" lIns="0" tIns="17145" rIns="0" bIns="0" rtlCol="0">
              <a:spAutoFit/>
            </a:bodyPr>
            <a:lstStyle/>
            <a:p>
              <a:pPr marL="71120">
                <a:lnSpc>
                  <a:spcPct val="100000"/>
                </a:lnSpc>
                <a:spcBef>
                  <a:spcPts val="135"/>
                </a:spcBef>
              </a:pPr>
              <a:r>
                <a:rPr sz="1300" spc="15" dirty="0">
                  <a:latin typeface="Arial MT"/>
                  <a:cs typeface="Arial MT"/>
                </a:rPr>
                <a:t>8</a:t>
              </a:r>
              <a:endParaRPr sz="1300">
                <a:latin typeface="Arial MT"/>
                <a:cs typeface="Arial MT"/>
              </a:endParaRPr>
            </a:p>
          </p:txBody>
        </p:sp>
        <p:sp>
          <p:nvSpPr>
            <p:cNvPr id="28" name="object 28"/>
            <p:cNvSpPr txBox="1"/>
            <p:nvPr/>
          </p:nvSpPr>
          <p:spPr>
            <a:xfrm>
              <a:off x="8836711" y="2459113"/>
              <a:ext cx="253365" cy="253365"/>
            </a:xfrm>
            <a:prstGeom prst="rect">
              <a:avLst/>
            </a:prstGeom>
            <a:ln w="10535">
              <a:solidFill>
                <a:srgbClr val="000000"/>
              </a:solidFill>
            </a:ln>
          </p:spPr>
          <p:txBody>
            <a:bodyPr vert="horz" wrap="square" lIns="0" tIns="17145" rIns="0" bIns="0" rtlCol="0">
              <a:spAutoFit/>
            </a:bodyPr>
            <a:lstStyle/>
            <a:p>
              <a:pPr marL="74930">
                <a:lnSpc>
                  <a:spcPct val="100000"/>
                </a:lnSpc>
                <a:spcBef>
                  <a:spcPts val="135"/>
                </a:spcBef>
              </a:pPr>
              <a:r>
                <a:rPr sz="1300" spc="15" dirty="0">
                  <a:latin typeface="Arial MT"/>
                  <a:cs typeface="Arial MT"/>
                </a:rPr>
                <a:t>9</a:t>
              </a:r>
              <a:endParaRPr sz="1300">
                <a:latin typeface="Arial MT"/>
                <a:cs typeface="Arial MT"/>
              </a:endParaRPr>
            </a:p>
          </p:txBody>
        </p:sp>
        <p:grpSp>
          <p:nvGrpSpPr>
            <p:cNvPr id="29" name="object 29"/>
            <p:cNvGrpSpPr/>
            <p:nvPr/>
          </p:nvGrpSpPr>
          <p:grpSpPr>
            <a:xfrm>
              <a:off x="5562269" y="4705616"/>
              <a:ext cx="727710" cy="58419"/>
              <a:chOff x="5562269" y="4705616"/>
              <a:chExt cx="727710" cy="58419"/>
            </a:xfrm>
          </p:grpSpPr>
          <p:sp>
            <p:nvSpPr>
              <p:cNvPr id="30" name="object 30"/>
              <p:cNvSpPr/>
              <p:nvPr/>
            </p:nvSpPr>
            <p:spPr>
              <a:xfrm>
                <a:off x="5562269" y="4734928"/>
                <a:ext cx="678815" cy="0"/>
              </a:xfrm>
              <a:custGeom>
                <a:avLst/>
                <a:gdLst/>
                <a:ahLst/>
                <a:cxnLst/>
                <a:rect l="l" t="t" r="r" b="b"/>
                <a:pathLst>
                  <a:path w="678814">
                    <a:moveTo>
                      <a:pt x="678802" y="0"/>
                    </a:moveTo>
                    <a:lnTo>
                      <a:pt x="0" y="0"/>
                    </a:lnTo>
                  </a:path>
                </a:pathLst>
              </a:custGeom>
              <a:ln w="16857">
                <a:solidFill>
                  <a:srgbClr val="000000"/>
                </a:solidFill>
              </a:ln>
            </p:spPr>
            <p:txBody>
              <a:bodyPr wrap="square" lIns="0" tIns="0" rIns="0" bIns="0" rtlCol="0"/>
              <a:lstStyle/>
              <a:p>
                <a:endParaRPr/>
              </a:p>
            </p:txBody>
          </p:sp>
          <p:sp>
            <p:nvSpPr>
              <p:cNvPr id="31" name="object 31"/>
              <p:cNvSpPr/>
              <p:nvPr/>
            </p:nvSpPr>
            <p:spPr>
              <a:xfrm>
                <a:off x="6181026" y="4705616"/>
                <a:ext cx="109220" cy="58419"/>
              </a:xfrm>
              <a:custGeom>
                <a:avLst/>
                <a:gdLst/>
                <a:ahLst/>
                <a:cxnLst/>
                <a:rect l="l" t="t" r="r" b="b"/>
                <a:pathLst>
                  <a:path w="109220" h="58420">
                    <a:moveTo>
                      <a:pt x="108877" y="30162"/>
                    </a:moveTo>
                    <a:lnTo>
                      <a:pt x="508" y="0"/>
                    </a:lnTo>
                    <a:lnTo>
                      <a:pt x="0" y="58204"/>
                    </a:lnTo>
                    <a:lnTo>
                      <a:pt x="108877" y="30162"/>
                    </a:lnTo>
                    <a:close/>
                  </a:path>
                </a:pathLst>
              </a:custGeom>
              <a:solidFill>
                <a:srgbClr val="000000"/>
              </a:solidFill>
            </p:spPr>
            <p:txBody>
              <a:bodyPr wrap="square" lIns="0" tIns="0" rIns="0" bIns="0" rtlCol="0"/>
              <a:lstStyle/>
              <a:p>
                <a:endParaRPr/>
              </a:p>
            </p:txBody>
          </p:sp>
          <p:sp>
            <p:nvSpPr>
              <p:cNvPr id="32" name="object 32"/>
              <p:cNvSpPr/>
              <p:nvPr/>
            </p:nvSpPr>
            <p:spPr>
              <a:xfrm>
                <a:off x="6187846" y="4734877"/>
                <a:ext cx="58419" cy="635"/>
              </a:xfrm>
              <a:custGeom>
                <a:avLst/>
                <a:gdLst/>
                <a:ahLst/>
                <a:cxnLst/>
                <a:rect l="l" t="t" r="r" b="b"/>
                <a:pathLst>
                  <a:path w="58420" h="635">
                    <a:moveTo>
                      <a:pt x="-5267" y="260"/>
                    </a:moveTo>
                    <a:lnTo>
                      <a:pt x="63472" y="260"/>
                    </a:lnTo>
                  </a:path>
                </a:pathLst>
              </a:custGeom>
              <a:ln w="11056">
                <a:solidFill>
                  <a:srgbClr val="000000"/>
                </a:solidFill>
              </a:ln>
            </p:spPr>
            <p:txBody>
              <a:bodyPr wrap="square" lIns="0" tIns="0" rIns="0" bIns="0" rtlCol="0"/>
              <a:lstStyle/>
              <a:p>
                <a:endParaRPr/>
              </a:p>
            </p:txBody>
          </p:sp>
        </p:grpSp>
        <p:grpSp>
          <p:nvGrpSpPr>
            <p:cNvPr id="33" name="object 33"/>
            <p:cNvGrpSpPr/>
            <p:nvPr/>
          </p:nvGrpSpPr>
          <p:grpSpPr>
            <a:xfrm>
              <a:off x="3368957" y="3920147"/>
              <a:ext cx="234315" cy="267335"/>
              <a:chOff x="3368957" y="3920147"/>
              <a:chExt cx="234315" cy="267335"/>
            </a:xfrm>
          </p:grpSpPr>
          <p:sp>
            <p:nvSpPr>
              <p:cNvPr id="34" name="object 34"/>
              <p:cNvSpPr/>
              <p:nvPr/>
            </p:nvSpPr>
            <p:spPr>
              <a:xfrm>
                <a:off x="3374225" y="3956418"/>
                <a:ext cx="196850" cy="226060"/>
              </a:xfrm>
              <a:custGeom>
                <a:avLst/>
                <a:gdLst/>
                <a:ahLst/>
                <a:cxnLst/>
                <a:rect l="l" t="t" r="r" b="b"/>
                <a:pathLst>
                  <a:path w="196850" h="226060">
                    <a:moveTo>
                      <a:pt x="196316" y="0"/>
                    </a:moveTo>
                    <a:lnTo>
                      <a:pt x="0" y="225526"/>
                    </a:lnTo>
                  </a:path>
                </a:pathLst>
              </a:custGeom>
              <a:ln w="10535">
                <a:solidFill>
                  <a:srgbClr val="000000"/>
                </a:solidFill>
              </a:ln>
            </p:spPr>
            <p:txBody>
              <a:bodyPr wrap="square" lIns="0" tIns="0" rIns="0" bIns="0" rtlCol="0"/>
              <a:lstStyle/>
              <a:p>
                <a:endParaRPr/>
              </a:p>
            </p:txBody>
          </p:sp>
          <p:sp>
            <p:nvSpPr>
              <p:cNvPr id="35" name="object 35"/>
              <p:cNvSpPr/>
              <p:nvPr/>
            </p:nvSpPr>
            <p:spPr>
              <a:xfrm>
                <a:off x="3509340" y="3920147"/>
                <a:ext cx="93980" cy="100965"/>
              </a:xfrm>
              <a:custGeom>
                <a:avLst/>
                <a:gdLst/>
                <a:ahLst/>
                <a:cxnLst/>
                <a:rect l="l" t="t" r="r" b="b"/>
                <a:pathLst>
                  <a:path w="93979" h="100964">
                    <a:moveTo>
                      <a:pt x="93903" y="0"/>
                    </a:moveTo>
                    <a:lnTo>
                      <a:pt x="0" y="61925"/>
                    </a:lnTo>
                    <a:lnTo>
                      <a:pt x="43586" y="100545"/>
                    </a:lnTo>
                    <a:lnTo>
                      <a:pt x="93903" y="0"/>
                    </a:lnTo>
                    <a:close/>
                  </a:path>
                </a:pathLst>
              </a:custGeom>
              <a:solidFill>
                <a:srgbClr val="000000"/>
              </a:solidFill>
            </p:spPr>
            <p:txBody>
              <a:bodyPr wrap="square" lIns="0" tIns="0" rIns="0" bIns="0" rtlCol="0"/>
              <a:lstStyle/>
              <a:p>
                <a:endParaRPr/>
              </a:p>
            </p:txBody>
          </p:sp>
          <p:sp>
            <p:nvSpPr>
              <p:cNvPr id="36" name="object 36"/>
              <p:cNvSpPr/>
              <p:nvPr/>
            </p:nvSpPr>
            <p:spPr>
              <a:xfrm>
                <a:off x="3535565" y="3952963"/>
                <a:ext cx="38735" cy="43815"/>
              </a:xfrm>
              <a:custGeom>
                <a:avLst/>
                <a:gdLst/>
                <a:ahLst/>
                <a:cxnLst/>
                <a:rect l="l" t="t" r="r" b="b"/>
                <a:pathLst>
                  <a:path w="38735" h="43814">
                    <a:moveTo>
                      <a:pt x="0" y="43561"/>
                    </a:moveTo>
                    <a:lnTo>
                      <a:pt x="38595" y="0"/>
                    </a:lnTo>
                  </a:path>
                </a:pathLst>
              </a:custGeom>
              <a:ln w="10535">
                <a:solidFill>
                  <a:srgbClr val="000000"/>
                </a:solidFill>
              </a:ln>
            </p:spPr>
            <p:txBody>
              <a:bodyPr wrap="square" lIns="0" tIns="0" rIns="0" bIns="0" rtlCol="0"/>
              <a:lstStyle/>
              <a:p>
                <a:endParaRPr/>
              </a:p>
            </p:txBody>
          </p:sp>
        </p:grpSp>
        <p:grpSp>
          <p:nvGrpSpPr>
            <p:cNvPr id="37" name="object 37"/>
            <p:cNvGrpSpPr/>
            <p:nvPr/>
          </p:nvGrpSpPr>
          <p:grpSpPr>
            <a:xfrm>
              <a:off x="2055622" y="2706751"/>
              <a:ext cx="7138034" cy="998855"/>
              <a:chOff x="2055622" y="2706751"/>
              <a:chExt cx="7138034" cy="998855"/>
            </a:xfrm>
          </p:grpSpPr>
          <p:sp>
            <p:nvSpPr>
              <p:cNvPr id="38" name="object 38"/>
              <p:cNvSpPr/>
              <p:nvPr/>
            </p:nvSpPr>
            <p:spPr>
              <a:xfrm>
                <a:off x="2064194" y="2715361"/>
                <a:ext cx="636270" cy="932180"/>
              </a:xfrm>
              <a:custGeom>
                <a:avLst/>
                <a:gdLst/>
                <a:ahLst/>
                <a:cxnLst/>
                <a:rect l="l" t="t" r="r" b="b"/>
                <a:pathLst>
                  <a:path w="636269" h="932179">
                    <a:moveTo>
                      <a:pt x="635698" y="931583"/>
                    </a:moveTo>
                    <a:lnTo>
                      <a:pt x="0" y="0"/>
                    </a:lnTo>
                  </a:path>
                </a:pathLst>
              </a:custGeom>
              <a:ln w="16857">
                <a:solidFill>
                  <a:srgbClr val="000000"/>
                </a:solidFill>
              </a:ln>
            </p:spPr>
            <p:txBody>
              <a:bodyPr wrap="square" lIns="0" tIns="0" rIns="0" bIns="0" rtlCol="0"/>
              <a:lstStyle/>
              <a:p>
                <a:endParaRPr/>
              </a:p>
            </p:txBody>
          </p:sp>
          <p:sp>
            <p:nvSpPr>
              <p:cNvPr id="39" name="object 39"/>
              <p:cNvSpPr/>
              <p:nvPr/>
            </p:nvSpPr>
            <p:spPr>
              <a:xfrm>
                <a:off x="2642235" y="3581184"/>
                <a:ext cx="85090" cy="106680"/>
              </a:xfrm>
              <a:custGeom>
                <a:avLst/>
                <a:gdLst/>
                <a:ahLst/>
                <a:cxnLst/>
                <a:rect l="l" t="t" r="r" b="b"/>
                <a:pathLst>
                  <a:path w="85089" h="106679">
                    <a:moveTo>
                      <a:pt x="84543" y="106514"/>
                    </a:moveTo>
                    <a:lnTo>
                      <a:pt x="48374" y="0"/>
                    </a:lnTo>
                    <a:lnTo>
                      <a:pt x="0" y="32385"/>
                    </a:lnTo>
                    <a:lnTo>
                      <a:pt x="84543" y="106514"/>
                    </a:lnTo>
                    <a:close/>
                  </a:path>
                </a:pathLst>
              </a:custGeom>
              <a:solidFill>
                <a:srgbClr val="000000"/>
              </a:solidFill>
            </p:spPr>
            <p:txBody>
              <a:bodyPr wrap="square" lIns="0" tIns="0" rIns="0" bIns="0" rtlCol="0"/>
              <a:lstStyle/>
              <a:p>
                <a:endParaRPr/>
              </a:p>
            </p:txBody>
          </p:sp>
          <p:sp>
            <p:nvSpPr>
              <p:cNvPr id="40" name="object 40"/>
              <p:cNvSpPr/>
              <p:nvPr/>
            </p:nvSpPr>
            <p:spPr>
              <a:xfrm>
                <a:off x="2669997" y="3602901"/>
                <a:ext cx="32384" cy="48895"/>
              </a:xfrm>
              <a:custGeom>
                <a:avLst/>
                <a:gdLst/>
                <a:ahLst/>
                <a:cxnLst/>
                <a:rect l="l" t="t" r="r" b="b"/>
                <a:pathLst>
                  <a:path w="32385" h="48895">
                    <a:moveTo>
                      <a:pt x="0" y="0"/>
                    </a:moveTo>
                    <a:lnTo>
                      <a:pt x="32372" y="48348"/>
                    </a:lnTo>
                  </a:path>
                </a:pathLst>
              </a:custGeom>
              <a:ln w="10535">
                <a:solidFill>
                  <a:srgbClr val="000000"/>
                </a:solidFill>
              </a:ln>
            </p:spPr>
            <p:txBody>
              <a:bodyPr wrap="square" lIns="0" tIns="0" rIns="0" bIns="0" rtlCol="0"/>
              <a:lstStyle/>
              <a:p>
                <a:endParaRPr/>
              </a:p>
            </p:txBody>
          </p:sp>
          <p:sp>
            <p:nvSpPr>
              <p:cNvPr id="41" name="object 41"/>
              <p:cNvSpPr/>
              <p:nvPr/>
            </p:nvSpPr>
            <p:spPr>
              <a:xfrm>
                <a:off x="2485682" y="2715323"/>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42" name="object 42"/>
              <p:cNvSpPr/>
              <p:nvPr/>
            </p:nvSpPr>
            <p:spPr>
              <a:xfrm>
                <a:off x="3072295"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43" name="object 43"/>
              <p:cNvSpPr/>
              <p:nvPr/>
            </p:nvSpPr>
            <p:spPr>
              <a:xfrm>
                <a:off x="3099955" y="3597046"/>
                <a:ext cx="33020" cy="48260"/>
              </a:xfrm>
              <a:custGeom>
                <a:avLst/>
                <a:gdLst/>
                <a:ahLst/>
                <a:cxnLst/>
                <a:rect l="l" t="t" r="r" b="b"/>
                <a:pathLst>
                  <a:path w="33019" h="48260">
                    <a:moveTo>
                      <a:pt x="0" y="0"/>
                    </a:moveTo>
                    <a:lnTo>
                      <a:pt x="32842" y="48044"/>
                    </a:lnTo>
                  </a:path>
                </a:pathLst>
              </a:custGeom>
              <a:ln w="10535">
                <a:solidFill>
                  <a:srgbClr val="000000"/>
                </a:solidFill>
              </a:ln>
            </p:spPr>
            <p:txBody>
              <a:bodyPr wrap="square" lIns="0" tIns="0" rIns="0" bIns="0" rtlCol="0"/>
              <a:lstStyle/>
              <a:p>
                <a:endParaRPr/>
              </a:p>
            </p:txBody>
          </p:sp>
          <p:sp>
            <p:nvSpPr>
              <p:cNvPr id="44" name="object 44"/>
              <p:cNvSpPr/>
              <p:nvPr/>
            </p:nvSpPr>
            <p:spPr>
              <a:xfrm>
                <a:off x="2727236" y="2758376"/>
                <a:ext cx="602615" cy="938530"/>
              </a:xfrm>
              <a:custGeom>
                <a:avLst/>
                <a:gdLst/>
                <a:ahLst/>
                <a:cxnLst/>
                <a:rect l="l" t="t" r="r" b="b"/>
                <a:pathLst>
                  <a:path w="602614" h="938529">
                    <a:moveTo>
                      <a:pt x="602500" y="0"/>
                    </a:moveTo>
                    <a:lnTo>
                      <a:pt x="0" y="938276"/>
                    </a:lnTo>
                  </a:path>
                </a:pathLst>
              </a:custGeom>
              <a:ln w="16857">
                <a:solidFill>
                  <a:srgbClr val="000000"/>
                </a:solidFill>
                <a:prstDash val="lgDash"/>
              </a:ln>
            </p:spPr>
            <p:txBody>
              <a:bodyPr wrap="square" lIns="0" tIns="0" rIns="0" bIns="0" rtlCol="0"/>
              <a:lstStyle/>
              <a:p>
                <a:endParaRPr/>
              </a:p>
            </p:txBody>
          </p:sp>
          <p:sp>
            <p:nvSpPr>
              <p:cNvPr id="45" name="object 45"/>
              <p:cNvSpPr/>
              <p:nvPr/>
            </p:nvSpPr>
            <p:spPr>
              <a:xfrm>
                <a:off x="3273018" y="2716885"/>
                <a:ext cx="82550" cy="107950"/>
              </a:xfrm>
              <a:custGeom>
                <a:avLst/>
                <a:gdLst/>
                <a:ahLst/>
                <a:cxnLst/>
                <a:rect l="l" t="t" r="r" b="b"/>
                <a:pathLst>
                  <a:path w="82550" h="107950">
                    <a:moveTo>
                      <a:pt x="82448" y="0"/>
                    </a:moveTo>
                    <a:lnTo>
                      <a:pt x="0" y="76441"/>
                    </a:lnTo>
                    <a:lnTo>
                      <a:pt x="49250" y="107480"/>
                    </a:lnTo>
                    <a:lnTo>
                      <a:pt x="82448" y="0"/>
                    </a:lnTo>
                    <a:close/>
                  </a:path>
                </a:pathLst>
              </a:custGeom>
              <a:solidFill>
                <a:srgbClr val="000000"/>
              </a:solidFill>
            </p:spPr>
            <p:txBody>
              <a:bodyPr wrap="square" lIns="0" tIns="0" rIns="0" bIns="0" rtlCol="0"/>
              <a:lstStyle/>
              <a:p>
                <a:endParaRPr/>
              </a:p>
            </p:txBody>
          </p:sp>
          <p:sp>
            <p:nvSpPr>
              <p:cNvPr id="46" name="object 46"/>
              <p:cNvSpPr/>
              <p:nvPr/>
            </p:nvSpPr>
            <p:spPr>
              <a:xfrm>
                <a:off x="3301072" y="2753995"/>
                <a:ext cx="31115" cy="49530"/>
              </a:xfrm>
              <a:custGeom>
                <a:avLst/>
                <a:gdLst/>
                <a:ahLst/>
                <a:cxnLst/>
                <a:rect l="l" t="t" r="r" b="b"/>
                <a:pathLst>
                  <a:path w="31114" h="49530">
                    <a:moveTo>
                      <a:pt x="0" y="49225"/>
                    </a:moveTo>
                    <a:lnTo>
                      <a:pt x="31013" y="0"/>
                    </a:lnTo>
                  </a:path>
                </a:pathLst>
              </a:custGeom>
              <a:ln w="10535">
                <a:solidFill>
                  <a:srgbClr val="000000"/>
                </a:solidFill>
              </a:ln>
            </p:spPr>
            <p:txBody>
              <a:bodyPr wrap="square" lIns="0" tIns="0" rIns="0" bIns="0" rtlCol="0"/>
              <a:lstStyle/>
              <a:p>
                <a:endParaRPr/>
              </a:p>
            </p:txBody>
          </p:sp>
          <p:sp>
            <p:nvSpPr>
              <p:cNvPr id="47" name="object 47"/>
              <p:cNvSpPr/>
              <p:nvPr/>
            </p:nvSpPr>
            <p:spPr>
              <a:xfrm>
                <a:off x="3494366" y="3575138"/>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48" name="object 48"/>
              <p:cNvSpPr/>
              <p:nvPr/>
            </p:nvSpPr>
            <p:spPr>
              <a:xfrm>
                <a:off x="3522027" y="3597046"/>
                <a:ext cx="33020" cy="48260"/>
              </a:xfrm>
              <a:custGeom>
                <a:avLst/>
                <a:gdLst/>
                <a:ahLst/>
                <a:cxnLst/>
                <a:rect l="l" t="t" r="r" b="b"/>
                <a:pathLst>
                  <a:path w="33020" h="48260">
                    <a:moveTo>
                      <a:pt x="0" y="0"/>
                    </a:moveTo>
                    <a:lnTo>
                      <a:pt x="32829" y="48044"/>
                    </a:lnTo>
                  </a:path>
                </a:pathLst>
              </a:custGeom>
              <a:ln w="10535">
                <a:solidFill>
                  <a:srgbClr val="000000"/>
                </a:solidFill>
              </a:ln>
            </p:spPr>
            <p:txBody>
              <a:bodyPr wrap="square" lIns="0" tIns="0" rIns="0" bIns="0" rtlCol="0"/>
              <a:lstStyle/>
              <a:p>
                <a:endParaRPr/>
              </a:p>
            </p:txBody>
          </p:sp>
          <p:sp>
            <p:nvSpPr>
              <p:cNvPr id="49" name="object 49"/>
              <p:cNvSpPr/>
              <p:nvPr/>
            </p:nvSpPr>
            <p:spPr>
              <a:xfrm>
                <a:off x="2907766" y="2715323"/>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50" name="object 50"/>
              <p:cNvSpPr/>
              <p:nvPr/>
            </p:nvSpPr>
            <p:spPr>
              <a:xfrm>
                <a:off x="3494366" y="3575138"/>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51" name="object 51"/>
              <p:cNvSpPr/>
              <p:nvPr/>
            </p:nvSpPr>
            <p:spPr>
              <a:xfrm>
                <a:off x="3522027" y="3597046"/>
                <a:ext cx="33020" cy="48260"/>
              </a:xfrm>
              <a:custGeom>
                <a:avLst/>
                <a:gdLst/>
                <a:ahLst/>
                <a:cxnLst/>
                <a:rect l="l" t="t" r="r" b="b"/>
                <a:pathLst>
                  <a:path w="33020" h="48260">
                    <a:moveTo>
                      <a:pt x="0" y="0"/>
                    </a:moveTo>
                    <a:lnTo>
                      <a:pt x="32829" y="48044"/>
                    </a:lnTo>
                  </a:path>
                </a:pathLst>
              </a:custGeom>
              <a:ln w="10535">
                <a:solidFill>
                  <a:srgbClr val="000000"/>
                </a:solidFill>
              </a:ln>
            </p:spPr>
            <p:txBody>
              <a:bodyPr wrap="square" lIns="0" tIns="0" rIns="0" bIns="0" rtlCol="0"/>
              <a:lstStyle/>
              <a:p>
                <a:endParaRPr/>
              </a:p>
            </p:txBody>
          </p:sp>
          <p:sp>
            <p:nvSpPr>
              <p:cNvPr id="52" name="object 52"/>
              <p:cNvSpPr/>
              <p:nvPr/>
            </p:nvSpPr>
            <p:spPr>
              <a:xfrm>
                <a:off x="3358819" y="2715323"/>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53" name="object 53"/>
              <p:cNvSpPr/>
              <p:nvPr/>
            </p:nvSpPr>
            <p:spPr>
              <a:xfrm>
                <a:off x="3945432" y="3575138"/>
                <a:ext cx="85725" cy="106680"/>
              </a:xfrm>
              <a:custGeom>
                <a:avLst/>
                <a:gdLst/>
                <a:ahLst/>
                <a:cxnLst/>
                <a:rect l="l" t="t" r="r" b="b"/>
                <a:pathLst>
                  <a:path w="85725" h="106679">
                    <a:moveTo>
                      <a:pt x="85229" y="106159"/>
                    </a:moveTo>
                    <a:lnTo>
                      <a:pt x="48044" y="0"/>
                    </a:lnTo>
                    <a:lnTo>
                      <a:pt x="0" y="32854"/>
                    </a:lnTo>
                    <a:lnTo>
                      <a:pt x="85229" y="106159"/>
                    </a:lnTo>
                    <a:close/>
                  </a:path>
                </a:pathLst>
              </a:custGeom>
              <a:solidFill>
                <a:srgbClr val="000000"/>
              </a:solidFill>
            </p:spPr>
            <p:txBody>
              <a:bodyPr wrap="square" lIns="0" tIns="0" rIns="0" bIns="0" rtlCol="0"/>
              <a:lstStyle/>
              <a:p>
                <a:endParaRPr/>
              </a:p>
            </p:txBody>
          </p:sp>
          <p:sp>
            <p:nvSpPr>
              <p:cNvPr id="54" name="object 54"/>
              <p:cNvSpPr/>
              <p:nvPr/>
            </p:nvSpPr>
            <p:spPr>
              <a:xfrm>
                <a:off x="3973067"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55" name="object 55"/>
              <p:cNvSpPr/>
              <p:nvPr/>
            </p:nvSpPr>
            <p:spPr>
              <a:xfrm>
                <a:off x="3780904" y="2715323"/>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56" name="object 56"/>
              <p:cNvSpPr/>
              <p:nvPr/>
            </p:nvSpPr>
            <p:spPr>
              <a:xfrm>
                <a:off x="4367491"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57" name="object 57"/>
              <p:cNvSpPr/>
              <p:nvPr/>
            </p:nvSpPr>
            <p:spPr>
              <a:xfrm>
                <a:off x="4395139"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58" name="object 58"/>
              <p:cNvSpPr/>
              <p:nvPr/>
            </p:nvSpPr>
            <p:spPr>
              <a:xfrm>
                <a:off x="4216311" y="2715323"/>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59" name="object 59"/>
              <p:cNvSpPr/>
              <p:nvPr/>
            </p:nvSpPr>
            <p:spPr>
              <a:xfrm>
                <a:off x="4802886" y="3575138"/>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60" name="object 60"/>
              <p:cNvSpPr/>
              <p:nvPr/>
            </p:nvSpPr>
            <p:spPr>
              <a:xfrm>
                <a:off x="4830546"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61" name="object 61"/>
              <p:cNvSpPr/>
              <p:nvPr/>
            </p:nvSpPr>
            <p:spPr>
              <a:xfrm>
                <a:off x="4638370" y="2715323"/>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62" name="object 62"/>
              <p:cNvSpPr/>
              <p:nvPr/>
            </p:nvSpPr>
            <p:spPr>
              <a:xfrm>
                <a:off x="5224970"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63" name="object 63"/>
              <p:cNvSpPr/>
              <p:nvPr/>
            </p:nvSpPr>
            <p:spPr>
              <a:xfrm>
                <a:off x="5252643" y="3597046"/>
                <a:ext cx="33020" cy="48260"/>
              </a:xfrm>
              <a:custGeom>
                <a:avLst/>
                <a:gdLst/>
                <a:ahLst/>
                <a:cxnLst/>
                <a:rect l="l" t="t" r="r" b="b"/>
                <a:pathLst>
                  <a:path w="33020" h="48260">
                    <a:moveTo>
                      <a:pt x="0" y="0"/>
                    </a:moveTo>
                    <a:lnTo>
                      <a:pt x="32829" y="48044"/>
                    </a:lnTo>
                  </a:path>
                </a:pathLst>
              </a:custGeom>
              <a:ln w="10535">
                <a:solidFill>
                  <a:srgbClr val="000000"/>
                </a:solidFill>
              </a:ln>
            </p:spPr>
            <p:txBody>
              <a:bodyPr wrap="square" lIns="0" tIns="0" rIns="0" bIns="0" rtlCol="0"/>
              <a:lstStyle/>
              <a:p>
                <a:endParaRPr/>
              </a:p>
            </p:txBody>
          </p:sp>
          <p:sp>
            <p:nvSpPr>
              <p:cNvPr id="64" name="object 64"/>
              <p:cNvSpPr/>
              <p:nvPr/>
            </p:nvSpPr>
            <p:spPr>
              <a:xfrm>
                <a:off x="5082882" y="2715323"/>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65" name="object 65"/>
              <p:cNvSpPr/>
              <p:nvPr/>
            </p:nvSpPr>
            <p:spPr>
              <a:xfrm>
                <a:off x="5669458" y="3575138"/>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66" name="object 66"/>
              <p:cNvSpPr/>
              <p:nvPr/>
            </p:nvSpPr>
            <p:spPr>
              <a:xfrm>
                <a:off x="5697131"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67" name="object 67"/>
              <p:cNvSpPr/>
              <p:nvPr/>
            </p:nvSpPr>
            <p:spPr>
              <a:xfrm>
                <a:off x="5504954" y="2715323"/>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68" name="object 68"/>
              <p:cNvSpPr/>
              <p:nvPr/>
            </p:nvSpPr>
            <p:spPr>
              <a:xfrm>
                <a:off x="6091555"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69" name="object 69"/>
              <p:cNvSpPr/>
              <p:nvPr/>
            </p:nvSpPr>
            <p:spPr>
              <a:xfrm>
                <a:off x="6119215" y="3597046"/>
                <a:ext cx="33020" cy="48260"/>
              </a:xfrm>
              <a:custGeom>
                <a:avLst/>
                <a:gdLst/>
                <a:ahLst/>
                <a:cxnLst/>
                <a:rect l="l" t="t" r="r" b="b"/>
                <a:pathLst>
                  <a:path w="33020" h="48260">
                    <a:moveTo>
                      <a:pt x="0" y="0"/>
                    </a:moveTo>
                    <a:lnTo>
                      <a:pt x="32829" y="48044"/>
                    </a:lnTo>
                  </a:path>
                </a:pathLst>
              </a:custGeom>
              <a:ln w="10535">
                <a:solidFill>
                  <a:srgbClr val="000000"/>
                </a:solidFill>
              </a:ln>
            </p:spPr>
            <p:txBody>
              <a:bodyPr wrap="square" lIns="0" tIns="0" rIns="0" bIns="0" rtlCol="0"/>
              <a:lstStyle/>
              <a:p>
                <a:endParaRPr/>
              </a:p>
            </p:txBody>
          </p:sp>
          <p:sp>
            <p:nvSpPr>
              <p:cNvPr id="70" name="object 70"/>
              <p:cNvSpPr/>
              <p:nvPr/>
            </p:nvSpPr>
            <p:spPr>
              <a:xfrm>
                <a:off x="5946825" y="2715323"/>
                <a:ext cx="645160" cy="925830"/>
              </a:xfrm>
              <a:custGeom>
                <a:avLst/>
                <a:gdLst/>
                <a:ahLst/>
                <a:cxnLst/>
                <a:rect l="l" t="t" r="r" b="b"/>
                <a:pathLst>
                  <a:path w="645159" h="925829">
                    <a:moveTo>
                      <a:pt x="644575" y="925474"/>
                    </a:moveTo>
                    <a:lnTo>
                      <a:pt x="0" y="0"/>
                    </a:lnTo>
                  </a:path>
                </a:pathLst>
              </a:custGeom>
              <a:ln w="16857">
                <a:solidFill>
                  <a:srgbClr val="000000"/>
                </a:solidFill>
              </a:ln>
            </p:spPr>
            <p:txBody>
              <a:bodyPr wrap="square" lIns="0" tIns="0" rIns="0" bIns="0" rtlCol="0"/>
              <a:lstStyle/>
              <a:p>
                <a:endParaRPr/>
              </a:p>
            </p:txBody>
          </p:sp>
          <p:sp>
            <p:nvSpPr>
              <p:cNvPr id="71" name="object 71"/>
              <p:cNvSpPr/>
              <p:nvPr/>
            </p:nvSpPr>
            <p:spPr>
              <a:xfrm>
                <a:off x="6533413" y="3575138"/>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72" name="object 72"/>
              <p:cNvSpPr/>
              <p:nvPr/>
            </p:nvSpPr>
            <p:spPr>
              <a:xfrm>
                <a:off x="6561074"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73" name="object 73"/>
              <p:cNvSpPr/>
              <p:nvPr/>
            </p:nvSpPr>
            <p:spPr>
              <a:xfrm>
                <a:off x="6368897" y="2715323"/>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74" name="object 74"/>
              <p:cNvSpPr/>
              <p:nvPr/>
            </p:nvSpPr>
            <p:spPr>
              <a:xfrm>
                <a:off x="6955498"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75" name="object 75"/>
              <p:cNvSpPr/>
              <p:nvPr/>
            </p:nvSpPr>
            <p:spPr>
              <a:xfrm>
                <a:off x="6983158" y="3597046"/>
                <a:ext cx="33020" cy="48260"/>
              </a:xfrm>
              <a:custGeom>
                <a:avLst/>
                <a:gdLst/>
                <a:ahLst/>
                <a:cxnLst/>
                <a:rect l="l" t="t" r="r" b="b"/>
                <a:pathLst>
                  <a:path w="33020" h="48260">
                    <a:moveTo>
                      <a:pt x="0" y="0"/>
                    </a:moveTo>
                    <a:lnTo>
                      <a:pt x="32842" y="48044"/>
                    </a:lnTo>
                  </a:path>
                </a:pathLst>
              </a:custGeom>
              <a:ln w="10535">
                <a:solidFill>
                  <a:srgbClr val="000000"/>
                </a:solidFill>
              </a:ln>
            </p:spPr>
            <p:txBody>
              <a:bodyPr wrap="square" lIns="0" tIns="0" rIns="0" bIns="0" rtlCol="0"/>
              <a:lstStyle/>
              <a:p>
                <a:endParaRPr/>
              </a:p>
            </p:txBody>
          </p:sp>
          <p:sp>
            <p:nvSpPr>
              <p:cNvPr id="76" name="object 76"/>
              <p:cNvSpPr/>
              <p:nvPr/>
            </p:nvSpPr>
            <p:spPr>
              <a:xfrm>
                <a:off x="6801548" y="2715323"/>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77" name="object 77"/>
              <p:cNvSpPr/>
              <p:nvPr/>
            </p:nvSpPr>
            <p:spPr>
              <a:xfrm>
                <a:off x="7388148" y="3575138"/>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78" name="object 78"/>
              <p:cNvSpPr/>
              <p:nvPr/>
            </p:nvSpPr>
            <p:spPr>
              <a:xfrm>
                <a:off x="7415783"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79" name="object 79"/>
              <p:cNvSpPr/>
              <p:nvPr/>
            </p:nvSpPr>
            <p:spPr>
              <a:xfrm>
                <a:off x="7220902" y="2715323"/>
                <a:ext cx="645160" cy="925830"/>
              </a:xfrm>
              <a:custGeom>
                <a:avLst/>
                <a:gdLst/>
                <a:ahLst/>
                <a:cxnLst/>
                <a:rect l="l" t="t" r="r" b="b"/>
                <a:pathLst>
                  <a:path w="645159" h="925829">
                    <a:moveTo>
                      <a:pt x="644575" y="925474"/>
                    </a:moveTo>
                    <a:lnTo>
                      <a:pt x="0" y="0"/>
                    </a:lnTo>
                  </a:path>
                </a:pathLst>
              </a:custGeom>
              <a:ln w="16857">
                <a:solidFill>
                  <a:srgbClr val="000000"/>
                </a:solidFill>
              </a:ln>
            </p:spPr>
            <p:txBody>
              <a:bodyPr wrap="square" lIns="0" tIns="0" rIns="0" bIns="0" rtlCol="0"/>
              <a:lstStyle/>
              <a:p>
                <a:endParaRPr/>
              </a:p>
            </p:txBody>
          </p:sp>
          <p:sp>
            <p:nvSpPr>
              <p:cNvPr id="80" name="object 80"/>
              <p:cNvSpPr/>
              <p:nvPr/>
            </p:nvSpPr>
            <p:spPr>
              <a:xfrm>
                <a:off x="7807490" y="3575138"/>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81" name="object 81"/>
              <p:cNvSpPr/>
              <p:nvPr/>
            </p:nvSpPr>
            <p:spPr>
              <a:xfrm>
                <a:off x="7835163"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82" name="object 82"/>
              <p:cNvSpPr/>
              <p:nvPr/>
            </p:nvSpPr>
            <p:spPr>
              <a:xfrm>
                <a:off x="7677454" y="2715323"/>
                <a:ext cx="645160" cy="925830"/>
              </a:xfrm>
              <a:custGeom>
                <a:avLst/>
                <a:gdLst/>
                <a:ahLst/>
                <a:cxnLst/>
                <a:rect l="l" t="t" r="r" b="b"/>
                <a:pathLst>
                  <a:path w="645159" h="925829">
                    <a:moveTo>
                      <a:pt x="644588" y="925474"/>
                    </a:moveTo>
                    <a:lnTo>
                      <a:pt x="0" y="0"/>
                    </a:lnTo>
                  </a:path>
                </a:pathLst>
              </a:custGeom>
              <a:ln w="16857">
                <a:solidFill>
                  <a:srgbClr val="000000"/>
                </a:solidFill>
              </a:ln>
            </p:spPr>
            <p:txBody>
              <a:bodyPr wrap="square" lIns="0" tIns="0" rIns="0" bIns="0" rtlCol="0"/>
              <a:lstStyle/>
              <a:p>
                <a:endParaRPr/>
              </a:p>
            </p:txBody>
          </p:sp>
          <p:sp>
            <p:nvSpPr>
              <p:cNvPr id="83" name="object 83"/>
              <p:cNvSpPr/>
              <p:nvPr/>
            </p:nvSpPr>
            <p:spPr>
              <a:xfrm>
                <a:off x="8264055" y="3575138"/>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84" name="object 84"/>
              <p:cNvSpPr/>
              <p:nvPr/>
            </p:nvSpPr>
            <p:spPr>
              <a:xfrm>
                <a:off x="8291728" y="3597046"/>
                <a:ext cx="33020" cy="48260"/>
              </a:xfrm>
              <a:custGeom>
                <a:avLst/>
                <a:gdLst/>
                <a:ahLst/>
                <a:cxnLst/>
                <a:rect l="l" t="t" r="r" b="b"/>
                <a:pathLst>
                  <a:path w="33020" h="48260">
                    <a:moveTo>
                      <a:pt x="0" y="0"/>
                    </a:moveTo>
                    <a:lnTo>
                      <a:pt x="32829" y="48044"/>
                    </a:lnTo>
                  </a:path>
                </a:pathLst>
              </a:custGeom>
              <a:ln w="10535">
                <a:solidFill>
                  <a:srgbClr val="000000"/>
                </a:solidFill>
              </a:ln>
            </p:spPr>
            <p:txBody>
              <a:bodyPr wrap="square" lIns="0" tIns="0" rIns="0" bIns="0" rtlCol="0"/>
              <a:lstStyle/>
              <a:p>
                <a:endParaRPr/>
              </a:p>
            </p:txBody>
          </p:sp>
          <p:sp>
            <p:nvSpPr>
              <p:cNvPr id="85" name="object 85"/>
              <p:cNvSpPr/>
              <p:nvPr/>
            </p:nvSpPr>
            <p:spPr>
              <a:xfrm>
                <a:off x="8094510" y="2715323"/>
                <a:ext cx="645160" cy="925830"/>
              </a:xfrm>
              <a:custGeom>
                <a:avLst/>
                <a:gdLst/>
                <a:ahLst/>
                <a:cxnLst/>
                <a:rect l="l" t="t" r="r" b="b"/>
                <a:pathLst>
                  <a:path w="645159" h="925829">
                    <a:moveTo>
                      <a:pt x="644575" y="925474"/>
                    </a:moveTo>
                    <a:lnTo>
                      <a:pt x="0" y="0"/>
                    </a:lnTo>
                  </a:path>
                </a:pathLst>
              </a:custGeom>
              <a:ln w="16857">
                <a:solidFill>
                  <a:srgbClr val="000000"/>
                </a:solidFill>
              </a:ln>
            </p:spPr>
            <p:txBody>
              <a:bodyPr wrap="square" lIns="0" tIns="0" rIns="0" bIns="0" rtlCol="0"/>
              <a:lstStyle/>
              <a:p>
                <a:endParaRPr/>
              </a:p>
            </p:txBody>
          </p:sp>
          <p:sp>
            <p:nvSpPr>
              <p:cNvPr id="86" name="object 86"/>
              <p:cNvSpPr/>
              <p:nvPr/>
            </p:nvSpPr>
            <p:spPr>
              <a:xfrm>
                <a:off x="8681110"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87" name="object 87"/>
              <p:cNvSpPr/>
              <p:nvPr/>
            </p:nvSpPr>
            <p:spPr>
              <a:xfrm>
                <a:off x="8708758" y="3597046"/>
                <a:ext cx="33020" cy="48260"/>
              </a:xfrm>
              <a:custGeom>
                <a:avLst/>
                <a:gdLst/>
                <a:ahLst/>
                <a:cxnLst/>
                <a:rect l="l" t="t" r="r" b="b"/>
                <a:pathLst>
                  <a:path w="33020" h="48260">
                    <a:moveTo>
                      <a:pt x="0" y="0"/>
                    </a:moveTo>
                    <a:lnTo>
                      <a:pt x="32854" y="48044"/>
                    </a:lnTo>
                  </a:path>
                </a:pathLst>
              </a:custGeom>
              <a:ln w="10535">
                <a:solidFill>
                  <a:srgbClr val="000000"/>
                </a:solidFill>
              </a:ln>
            </p:spPr>
            <p:txBody>
              <a:bodyPr wrap="square" lIns="0" tIns="0" rIns="0" bIns="0" rtlCol="0"/>
              <a:lstStyle/>
              <a:p>
                <a:endParaRPr/>
              </a:p>
            </p:txBody>
          </p:sp>
          <p:sp>
            <p:nvSpPr>
              <p:cNvPr id="88" name="object 88"/>
              <p:cNvSpPr/>
              <p:nvPr/>
            </p:nvSpPr>
            <p:spPr>
              <a:xfrm>
                <a:off x="8521636" y="2715323"/>
                <a:ext cx="645160" cy="925830"/>
              </a:xfrm>
              <a:custGeom>
                <a:avLst/>
                <a:gdLst/>
                <a:ahLst/>
                <a:cxnLst/>
                <a:rect l="l" t="t" r="r" b="b"/>
                <a:pathLst>
                  <a:path w="645159" h="925829">
                    <a:moveTo>
                      <a:pt x="644588" y="925474"/>
                    </a:moveTo>
                    <a:lnTo>
                      <a:pt x="0" y="0"/>
                    </a:lnTo>
                  </a:path>
                </a:pathLst>
              </a:custGeom>
              <a:ln w="16857">
                <a:solidFill>
                  <a:srgbClr val="000000"/>
                </a:solidFill>
              </a:ln>
            </p:spPr>
            <p:txBody>
              <a:bodyPr wrap="square" lIns="0" tIns="0" rIns="0" bIns="0" rtlCol="0"/>
              <a:lstStyle/>
              <a:p>
                <a:endParaRPr/>
              </a:p>
            </p:txBody>
          </p:sp>
          <p:sp>
            <p:nvSpPr>
              <p:cNvPr id="89" name="object 89"/>
              <p:cNvSpPr/>
              <p:nvPr/>
            </p:nvSpPr>
            <p:spPr>
              <a:xfrm>
                <a:off x="9108262" y="3575138"/>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90" name="object 90"/>
              <p:cNvSpPr/>
              <p:nvPr/>
            </p:nvSpPr>
            <p:spPr>
              <a:xfrm>
                <a:off x="9135909" y="3597046"/>
                <a:ext cx="33020" cy="48260"/>
              </a:xfrm>
              <a:custGeom>
                <a:avLst/>
                <a:gdLst/>
                <a:ahLst/>
                <a:cxnLst/>
                <a:rect l="l" t="t" r="r" b="b"/>
                <a:pathLst>
                  <a:path w="33020" h="48260">
                    <a:moveTo>
                      <a:pt x="0" y="0"/>
                    </a:moveTo>
                    <a:lnTo>
                      <a:pt x="32842" y="48044"/>
                    </a:lnTo>
                  </a:path>
                </a:pathLst>
              </a:custGeom>
              <a:ln w="10535">
                <a:solidFill>
                  <a:srgbClr val="000000"/>
                </a:solidFill>
              </a:ln>
            </p:spPr>
            <p:txBody>
              <a:bodyPr wrap="square" lIns="0" tIns="0" rIns="0" bIns="0" rtlCol="0"/>
              <a:lstStyle/>
              <a:p>
                <a:endParaRPr/>
              </a:p>
            </p:txBody>
          </p:sp>
        </p:grpSp>
        <p:grpSp>
          <p:nvGrpSpPr>
            <p:cNvPr id="91" name="object 91"/>
            <p:cNvGrpSpPr/>
            <p:nvPr/>
          </p:nvGrpSpPr>
          <p:grpSpPr>
            <a:xfrm>
              <a:off x="3046592" y="2081593"/>
              <a:ext cx="776605" cy="327025"/>
              <a:chOff x="3046592" y="2081593"/>
              <a:chExt cx="776605" cy="327025"/>
            </a:xfrm>
          </p:grpSpPr>
          <p:sp>
            <p:nvSpPr>
              <p:cNvPr id="92" name="object 92"/>
              <p:cNvSpPr/>
              <p:nvPr/>
            </p:nvSpPr>
            <p:spPr>
              <a:xfrm>
                <a:off x="3111195" y="2206434"/>
                <a:ext cx="706755" cy="635"/>
              </a:xfrm>
              <a:custGeom>
                <a:avLst/>
                <a:gdLst/>
                <a:ahLst/>
                <a:cxnLst/>
                <a:rect l="l" t="t" r="r" b="b"/>
                <a:pathLst>
                  <a:path w="706754" h="635">
                    <a:moveTo>
                      <a:pt x="0" y="152"/>
                    </a:moveTo>
                    <a:lnTo>
                      <a:pt x="706259" y="0"/>
                    </a:lnTo>
                  </a:path>
                </a:pathLst>
              </a:custGeom>
              <a:ln w="10535">
                <a:solidFill>
                  <a:srgbClr val="000000"/>
                </a:solidFill>
              </a:ln>
            </p:spPr>
            <p:txBody>
              <a:bodyPr wrap="square" lIns="0" tIns="0" rIns="0" bIns="0" rtlCol="0"/>
              <a:lstStyle/>
              <a:p>
                <a:endParaRPr/>
              </a:p>
            </p:txBody>
          </p:sp>
          <p:sp>
            <p:nvSpPr>
              <p:cNvPr id="93" name="object 93"/>
              <p:cNvSpPr/>
              <p:nvPr/>
            </p:nvSpPr>
            <p:spPr>
              <a:xfrm>
                <a:off x="3062389" y="2177186"/>
                <a:ext cx="109220" cy="58419"/>
              </a:xfrm>
              <a:custGeom>
                <a:avLst/>
                <a:gdLst/>
                <a:ahLst/>
                <a:cxnLst/>
                <a:rect l="l" t="t" r="r" b="b"/>
                <a:pathLst>
                  <a:path w="109219" h="58419">
                    <a:moveTo>
                      <a:pt x="108877" y="58229"/>
                    </a:moveTo>
                    <a:lnTo>
                      <a:pt x="108356" y="0"/>
                    </a:lnTo>
                    <a:lnTo>
                      <a:pt x="0" y="30175"/>
                    </a:lnTo>
                    <a:lnTo>
                      <a:pt x="108877" y="58229"/>
                    </a:lnTo>
                    <a:close/>
                  </a:path>
                </a:pathLst>
              </a:custGeom>
              <a:solidFill>
                <a:srgbClr val="000000"/>
              </a:solidFill>
            </p:spPr>
            <p:txBody>
              <a:bodyPr wrap="square" lIns="0" tIns="0" rIns="0" bIns="0" rtlCol="0"/>
              <a:lstStyle/>
              <a:p>
                <a:endParaRPr/>
              </a:p>
            </p:txBody>
          </p:sp>
          <p:sp>
            <p:nvSpPr>
              <p:cNvPr id="94" name="object 94"/>
              <p:cNvSpPr/>
              <p:nvPr/>
            </p:nvSpPr>
            <p:spPr>
              <a:xfrm>
                <a:off x="3106242" y="2206485"/>
                <a:ext cx="58419" cy="635"/>
              </a:xfrm>
              <a:custGeom>
                <a:avLst/>
                <a:gdLst/>
                <a:ahLst/>
                <a:cxnLst/>
                <a:rect l="l" t="t" r="r" b="b"/>
                <a:pathLst>
                  <a:path w="58419" h="635">
                    <a:moveTo>
                      <a:pt x="-5267" y="254"/>
                    </a:moveTo>
                    <a:lnTo>
                      <a:pt x="63446" y="254"/>
                    </a:lnTo>
                  </a:path>
                </a:pathLst>
              </a:custGeom>
              <a:ln w="11043">
                <a:solidFill>
                  <a:srgbClr val="000000"/>
                </a:solidFill>
              </a:ln>
            </p:spPr>
            <p:txBody>
              <a:bodyPr wrap="square" lIns="0" tIns="0" rIns="0" bIns="0" rtlCol="0"/>
              <a:lstStyle/>
              <a:p>
                <a:endParaRPr/>
              </a:p>
            </p:txBody>
          </p:sp>
          <p:sp>
            <p:nvSpPr>
              <p:cNvPr id="95" name="object 95"/>
              <p:cNvSpPr/>
              <p:nvPr/>
            </p:nvSpPr>
            <p:spPr>
              <a:xfrm>
                <a:off x="3051860" y="2081593"/>
                <a:ext cx="0" cy="327025"/>
              </a:xfrm>
              <a:custGeom>
                <a:avLst/>
                <a:gdLst/>
                <a:ahLst/>
                <a:cxnLst/>
                <a:rect l="l" t="t" r="r" b="b"/>
                <a:pathLst>
                  <a:path h="327025">
                    <a:moveTo>
                      <a:pt x="0" y="326605"/>
                    </a:moveTo>
                    <a:lnTo>
                      <a:pt x="0" y="0"/>
                    </a:lnTo>
                  </a:path>
                </a:pathLst>
              </a:custGeom>
              <a:ln w="10535">
                <a:solidFill>
                  <a:srgbClr val="000000"/>
                </a:solidFill>
              </a:ln>
            </p:spPr>
            <p:txBody>
              <a:bodyPr wrap="square" lIns="0" tIns="0" rIns="0" bIns="0" rtlCol="0"/>
              <a:lstStyle/>
              <a:p>
                <a:endParaRPr/>
              </a:p>
            </p:txBody>
          </p:sp>
        </p:grpSp>
        <p:grpSp>
          <p:nvGrpSpPr>
            <p:cNvPr id="96" name="object 96"/>
            <p:cNvGrpSpPr/>
            <p:nvPr/>
          </p:nvGrpSpPr>
          <p:grpSpPr>
            <a:xfrm>
              <a:off x="5078272" y="2081593"/>
              <a:ext cx="746125" cy="327025"/>
              <a:chOff x="5078272" y="2081593"/>
              <a:chExt cx="746125" cy="327025"/>
            </a:xfrm>
          </p:grpSpPr>
          <p:sp>
            <p:nvSpPr>
              <p:cNvPr id="97" name="object 97"/>
              <p:cNvSpPr/>
              <p:nvPr/>
            </p:nvSpPr>
            <p:spPr>
              <a:xfrm>
                <a:off x="5078272" y="2206523"/>
                <a:ext cx="679450" cy="0"/>
              </a:xfrm>
              <a:custGeom>
                <a:avLst/>
                <a:gdLst/>
                <a:ahLst/>
                <a:cxnLst/>
                <a:rect l="l" t="t" r="r" b="b"/>
                <a:pathLst>
                  <a:path w="679450">
                    <a:moveTo>
                      <a:pt x="678827" y="0"/>
                    </a:moveTo>
                    <a:lnTo>
                      <a:pt x="0" y="0"/>
                    </a:lnTo>
                  </a:path>
                </a:pathLst>
              </a:custGeom>
              <a:ln w="10535">
                <a:solidFill>
                  <a:srgbClr val="000000"/>
                </a:solidFill>
              </a:ln>
            </p:spPr>
            <p:txBody>
              <a:bodyPr wrap="square" lIns="0" tIns="0" rIns="0" bIns="0" rtlCol="0"/>
              <a:lstStyle/>
              <a:p>
                <a:endParaRPr/>
              </a:p>
            </p:txBody>
          </p:sp>
          <p:sp>
            <p:nvSpPr>
              <p:cNvPr id="98" name="object 98"/>
              <p:cNvSpPr/>
              <p:nvPr/>
            </p:nvSpPr>
            <p:spPr>
              <a:xfrm>
                <a:off x="5697029" y="2177186"/>
                <a:ext cx="109220" cy="58419"/>
              </a:xfrm>
              <a:custGeom>
                <a:avLst/>
                <a:gdLst/>
                <a:ahLst/>
                <a:cxnLst/>
                <a:rect l="l" t="t" r="r" b="b"/>
                <a:pathLst>
                  <a:path w="109220" h="58419">
                    <a:moveTo>
                      <a:pt x="108877" y="30175"/>
                    </a:moveTo>
                    <a:lnTo>
                      <a:pt x="520" y="0"/>
                    </a:lnTo>
                    <a:lnTo>
                      <a:pt x="0" y="58229"/>
                    </a:lnTo>
                    <a:lnTo>
                      <a:pt x="108877" y="30175"/>
                    </a:lnTo>
                    <a:close/>
                  </a:path>
                </a:pathLst>
              </a:custGeom>
              <a:solidFill>
                <a:srgbClr val="000000"/>
              </a:solidFill>
            </p:spPr>
            <p:txBody>
              <a:bodyPr wrap="square" lIns="0" tIns="0" rIns="0" bIns="0" rtlCol="0"/>
              <a:lstStyle/>
              <a:p>
                <a:endParaRPr/>
              </a:p>
            </p:txBody>
          </p:sp>
          <p:sp>
            <p:nvSpPr>
              <p:cNvPr id="99" name="object 99"/>
              <p:cNvSpPr/>
              <p:nvPr/>
            </p:nvSpPr>
            <p:spPr>
              <a:xfrm>
                <a:off x="5703875" y="2206485"/>
                <a:ext cx="58419" cy="635"/>
              </a:xfrm>
              <a:custGeom>
                <a:avLst/>
                <a:gdLst/>
                <a:ahLst/>
                <a:cxnLst/>
                <a:rect l="l" t="t" r="r" b="b"/>
                <a:pathLst>
                  <a:path w="58420" h="635">
                    <a:moveTo>
                      <a:pt x="-5267" y="254"/>
                    </a:moveTo>
                    <a:lnTo>
                      <a:pt x="63446" y="254"/>
                    </a:lnTo>
                  </a:path>
                </a:pathLst>
              </a:custGeom>
              <a:ln w="11043">
                <a:solidFill>
                  <a:srgbClr val="000000"/>
                </a:solidFill>
              </a:ln>
            </p:spPr>
            <p:txBody>
              <a:bodyPr wrap="square" lIns="0" tIns="0" rIns="0" bIns="0" rtlCol="0"/>
              <a:lstStyle/>
              <a:p>
                <a:endParaRPr/>
              </a:p>
            </p:txBody>
          </p:sp>
          <p:sp>
            <p:nvSpPr>
              <p:cNvPr id="100" name="object 100"/>
              <p:cNvSpPr/>
              <p:nvPr/>
            </p:nvSpPr>
            <p:spPr>
              <a:xfrm>
                <a:off x="5818860" y="2081593"/>
                <a:ext cx="0" cy="327025"/>
              </a:xfrm>
              <a:custGeom>
                <a:avLst/>
                <a:gdLst/>
                <a:ahLst/>
                <a:cxnLst/>
                <a:rect l="l" t="t" r="r" b="b"/>
                <a:pathLst>
                  <a:path h="327025">
                    <a:moveTo>
                      <a:pt x="0" y="326605"/>
                    </a:moveTo>
                    <a:lnTo>
                      <a:pt x="0" y="0"/>
                    </a:lnTo>
                  </a:path>
                </a:pathLst>
              </a:custGeom>
              <a:ln w="10535">
                <a:solidFill>
                  <a:srgbClr val="000000"/>
                </a:solidFill>
              </a:ln>
            </p:spPr>
            <p:txBody>
              <a:bodyPr wrap="square" lIns="0" tIns="0" rIns="0" bIns="0" rtlCol="0"/>
              <a:lstStyle/>
              <a:p>
                <a:endParaRPr/>
              </a:p>
            </p:txBody>
          </p:sp>
        </p:grpSp>
        <p:sp>
          <p:nvSpPr>
            <p:cNvPr id="101" name="object 101"/>
            <p:cNvSpPr txBox="1"/>
            <p:nvPr/>
          </p:nvSpPr>
          <p:spPr>
            <a:xfrm>
              <a:off x="3823347" y="2077648"/>
              <a:ext cx="1224915"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Timeout</a:t>
              </a:r>
              <a:r>
                <a:rPr sz="1300" spc="-45" dirty="0">
                  <a:latin typeface="Arial MT"/>
                  <a:cs typeface="Arial MT"/>
                </a:rPr>
                <a:t> </a:t>
              </a:r>
              <a:r>
                <a:rPr sz="1300" spc="10" dirty="0">
                  <a:latin typeface="Arial MT"/>
                  <a:cs typeface="Arial MT"/>
                </a:rPr>
                <a:t>interval</a:t>
              </a:r>
              <a:endParaRPr sz="1300">
                <a:latin typeface="Arial MT"/>
                <a:cs typeface="Arial MT"/>
              </a:endParaRPr>
            </a:p>
          </p:txBody>
        </p:sp>
        <p:sp>
          <p:nvSpPr>
            <p:cNvPr id="102" name="object 102"/>
            <p:cNvSpPr txBox="1"/>
            <p:nvPr/>
          </p:nvSpPr>
          <p:spPr>
            <a:xfrm>
              <a:off x="3041523" y="4132170"/>
              <a:ext cx="400050"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Error</a:t>
              </a:r>
              <a:endParaRPr sz="1300">
                <a:latin typeface="Arial MT"/>
                <a:cs typeface="Arial MT"/>
              </a:endParaRPr>
            </a:p>
          </p:txBody>
        </p:sp>
        <p:sp>
          <p:nvSpPr>
            <p:cNvPr id="103" name="object 103"/>
            <p:cNvSpPr txBox="1"/>
            <p:nvPr/>
          </p:nvSpPr>
          <p:spPr>
            <a:xfrm>
              <a:off x="3565937" y="3689656"/>
              <a:ext cx="2929890" cy="670560"/>
            </a:xfrm>
            <a:prstGeom prst="rect">
              <a:avLst/>
            </a:prstGeom>
          </p:spPr>
          <p:txBody>
            <a:bodyPr vert="horz" wrap="square" lIns="0" tIns="15875" rIns="0" bIns="0" rtlCol="0">
              <a:spAutoFit/>
            </a:bodyPr>
            <a:lstStyle/>
            <a:p>
              <a:pPr marL="12700">
                <a:lnSpc>
                  <a:spcPct val="100000"/>
                </a:lnSpc>
                <a:spcBef>
                  <a:spcPts val="125"/>
                </a:spcBef>
                <a:tabLst>
                  <a:tab pos="425450" algn="l"/>
                  <a:tab pos="882015" algn="l"/>
                  <a:tab pos="1299845" algn="l"/>
                  <a:tab pos="1732280" algn="l"/>
                  <a:tab pos="2188845" algn="l"/>
                  <a:tab pos="2606675" algn="l"/>
                </a:tabLst>
              </a:pPr>
              <a:r>
                <a:rPr sz="1300" spc="15" dirty="0">
                  <a:latin typeface="Arial MT"/>
                  <a:cs typeface="Arial MT"/>
                </a:rPr>
                <a:t>E	D	D	D	D	D	D</a:t>
              </a:r>
              <a:endParaRPr sz="1300" dirty="0">
                <a:latin typeface="Arial MT"/>
                <a:cs typeface="Arial MT"/>
              </a:endParaRPr>
            </a:p>
            <a:p>
              <a:pPr>
                <a:lnSpc>
                  <a:spcPct val="100000"/>
                </a:lnSpc>
                <a:spcBef>
                  <a:spcPts val="25"/>
                </a:spcBef>
              </a:pPr>
              <a:endParaRPr sz="1650" dirty="0">
                <a:latin typeface="Arial MT"/>
                <a:cs typeface="Arial MT"/>
              </a:endParaRPr>
            </a:p>
            <a:p>
              <a:pPr marL="255270">
                <a:lnSpc>
                  <a:spcPct val="100000"/>
                </a:lnSpc>
                <a:spcBef>
                  <a:spcPts val="5"/>
                </a:spcBef>
              </a:pPr>
              <a:r>
                <a:rPr sz="1300" spc="15" dirty="0">
                  <a:latin typeface="Arial MT"/>
                  <a:cs typeface="Arial MT"/>
                </a:rPr>
                <a:t>Frames</a:t>
              </a:r>
              <a:r>
                <a:rPr sz="1300" spc="-5" dirty="0">
                  <a:latin typeface="Arial MT"/>
                  <a:cs typeface="Arial MT"/>
                </a:rPr>
                <a:t> </a:t>
              </a:r>
              <a:r>
                <a:rPr sz="1300" spc="10" dirty="0">
                  <a:latin typeface="Arial MT"/>
                  <a:cs typeface="Arial MT"/>
                </a:rPr>
                <a:t>discarded</a:t>
              </a:r>
              <a:r>
                <a:rPr sz="1300" dirty="0">
                  <a:latin typeface="Arial MT"/>
                  <a:cs typeface="Arial MT"/>
                </a:rPr>
                <a:t> </a:t>
              </a:r>
              <a:r>
                <a:rPr sz="1300" spc="10" dirty="0">
                  <a:latin typeface="Arial MT"/>
                  <a:cs typeface="Arial MT"/>
                </a:rPr>
                <a:t>by</a:t>
              </a:r>
              <a:r>
                <a:rPr sz="1300" spc="-5" dirty="0">
                  <a:latin typeface="Arial MT"/>
                  <a:cs typeface="Arial MT"/>
                </a:rPr>
                <a:t> </a:t>
              </a:r>
              <a:r>
                <a:rPr sz="1300" spc="10" dirty="0">
                  <a:latin typeface="Arial MT"/>
                  <a:cs typeface="Arial MT"/>
                </a:rPr>
                <a:t>data</a:t>
              </a:r>
              <a:r>
                <a:rPr sz="1300" dirty="0">
                  <a:latin typeface="Arial MT"/>
                  <a:cs typeface="Arial MT"/>
                </a:rPr>
                <a:t> </a:t>
              </a:r>
              <a:r>
                <a:rPr sz="1300" spc="10" dirty="0">
                  <a:latin typeface="Arial MT"/>
                  <a:cs typeface="Arial MT"/>
                </a:rPr>
                <a:t>link</a:t>
              </a:r>
              <a:r>
                <a:rPr sz="1300" dirty="0">
                  <a:latin typeface="Arial MT"/>
                  <a:cs typeface="Arial MT"/>
                </a:rPr>
                <a:t> </a:t>
              </a:r>
              <a:r>
                <a:rPr sz="1300" spc="10" dirty="0">
                  <a:latin typeface="Arial MT"/>
                  <a:cs typeface="Arial MT"/>
                </a:rPr>
                <a:t>layer</a:t>
              </a:r>
              <a:endParaRPr sz="1300" dirty="0">
                <a:latin typeface="Arial MT"/>
                <a:cs typeface="Arial MT"/>
              </a:endParaRPr>
            </a:p>
          </p:txBody>
        </p:sp>
        <p:sp>
          <p:nvSpPr>
            <p:cNvPr id="104" name="object 104"/>
            <p:cNvSpPr/>
            <p:nvPr/>
          </p:nvSpPr>
          <p:spPr>
            <a:xfrm>
              <a:off x="2703144" y="2937065"/>
              <a:ext cx="405130" cy="498475"/>
            </a:xfrm>
            <a:custGeom>
              <a:avLst/>
              <a:gdLst/>
              <a:ahLst/>
              <a:cxnLst/>
              <a:rect l="l" t="t" r="r" b="b"/>
              <a:pathLst>
                <a:path w="405130" h="498475">
                  <a:moveTo>
                    <a:pt x="404837" y="91592"/>
                  </a:moveTo>
                  <a:lnTo>
                    <a:pt x="263309" y="0"/>
                  </a:lnTo>
                  <a:lnTo>
                    <a:pt x="0" y="406895"/>
                  </a:lnTo>
                  <a:lnTo>
                    <a:pt x="141528" y="498475"/>
                  </a:lnTo>
                  <a:lnTo>
                    <a:pt x="404837" y="91592"/>
                  </a:lnTo>
                  <a:close/>
                </a:path>
              </a:pathLst>
            </a:custGeom>
            <a:solidFill>
              <a:srgbClr val="FFFFFF"/>
            </a:solidFill>
          </p:spPr>
          <p:txBody>
            <a:bodyPr wrap="square" lIns="0" tIns="0" rIns="0" bIns="0" rtlCol="0"/>
            <a:lstStyle/>
            <a:p>
              <a:endParaRPr/>
            </a:p>
          </p:txBody>
        </p:sp>
        <p:sp>
          <p:nvSpPr>
            <p:cNvPr id="105" name="object 105"/>
            <p:cNvSpPr txBox="1"/>
            <p:nvPr/>
          </p:nvSpPr>
          <p:spPr>
            <a:xfrm rot="18180000">
              <a:off x="2684253" y="3102011"/>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0</a:t>
              </a:r>
              <a:endParaRPr sz="1300">
                <a:latin typeface="Arial MT"/>
                <a:cs typeface="Arial MT"/>
              </a:endParaRPr>
            </a:p>
          </p:txBody>
        </p:sp>
        <p:grpSp>
          <p:nvGrpSpPr>
            <p:cNvPr id="106" name="object 106"/>
            <p:cNvGrpSpPr/>
            <p:nvPr/>
          </p:nvGrpSpPr>
          <p:grpSpPr>
            <a:xfrm>
              <a:off x="3136430" y="2714739"/>
              <a:ext cx="651510" cy="988694"/>
              <a:chOff x="3136430" y="2714739"/>
              <a:chExt cx="651510" cy="988694"/>
            </a:xfrm>
          </p:grpSpPr>
          <p:sp>
            <p:nvSpPr>
              <p:cNvPr id="107" name="object 107"/>
              <p:cNvSpPr/>
              <p:nvPr/>
            </p:nvSpPr>
            <p:spPr>
              <a:xfrm>
                <a:off x="3136430" y="2937065"/>
                <a:ext cx="405130" cy="498475"/>
              </a:xfrm>
              <a:custGeom>
                <a:avLst/>
                <a:gdLst/>
                <a:ahLst/>
                <a:cxnLst/>
                <a:rect l="l" t="t" r="r" b="b"/>
                <a:pathLst>
                  <a:path w="405129" h="498475">
                    <a:moveTo>
                      <a:pt x="404837" y="91592"/>
                    </a:moveTo>
                    <a:lnTo>
                      <a:pt x="263309" y="0"/>
                    </a:lnTo>
                    <a:lnTo>
                      <a:pt x="0" y="406895"/>
                    </a:lnTo>
                    <a:lnTo>
                      <a:pt x="141528" y="498475"/>
                    </a:lnTo>
                    <a:lnTo>
                      <a:pt x="404837" y="91592"/>
                    </a:lnTo>
                    <a:close/>
                  </a:path>
                </a:pathLst>
              </a:custGeom>
              <a:solidFill>
                <a:srgbClr val="FFFFFF"/>
              </a:solidFill>
            </p:spPr>
            <p:txBody>
              <a:bodyPr wrap="square" lIns="0" tIns="0" rIns="0" bIns="0" rtlCol="0"/>
              <a:lstStyle/>
              <a:p>
                <a:endParaRPr/>
              </a:p>
            </p:txBody>
          </p:sp>
          <p:sp>
            <p:nvSpPr>
              <p:cNvPr id="108" name="object 108"/>
              <p:cNvSpPr/>
              <p:nvPr/>
            </p:nvSpPr>
            <p:spPr>
              <a:xfrm>
                <a:off x="3159315" y="2756204"/>
                <a:ext cx="602615" cy="938530"/>
              </a:xfrm>
              <a:custGeom>
                <a:avLst/>
                <a:gdLst/>
                <a:ahLst/>
                <a:cxnLst/>
                <a:rect l="l" t="t" r="r" b="b"/>
                <a:pathLst>
                  <a:path w="602614" h="938529">
                    <a:moveTo>
                      <a:pt x="602475" y="0"/>
                    </a:moveTo>
                    <a:lnTo>
                      <a:pt x="0" y="938237"/>
                    </a:lnTo>
                  </a:path>
                </a:pathLst>
              </a:custGeom>
              <a:ln w="16857">
                <a:solidFill>
                  <a:srgbClr val="000000"/>
                </a:solidFill>
                <a:prstDash val="lgDash"/>
              </a:ln>
            </p:spPr>
            <p:txBody>
              <a:bodyPr wrap="square" lIns="0" tIns="0" rIns="0" bIns="0" rtlCol="0"/>
              <a:lstStyle/>
              <a:p>
                <a:endParaRPr/>
              </a:p>
            </p:txBody>
          </p:sp>
          <p:sp>
            <p:nvSpPr>
              <p:cNvPr id="109" name="object 109"/>
              <p:cNvSpPr/>
              <p:nvPr/>
            </p:nvSpPr>
            <p:spPr>
              <a:xfrm>
                <a:off x="3705059" y="2714739"/>
                <a:ext cx="82550" cy="107950"/>
              </a:xfrm>
              <a:custGeom>
                <a:avLst/>
                <a:gdLst/>
                <a:ahLst/>
                <a:cxnLst/>
                <a:rect l="l" t="t" r="r" b="b"/>
                <a:pathLst>
                  <a:path w="82550" h="107950">
                    <a:moveTo>
                      <a:pt x="82461" y="0"/>
                    </a:moveTo>
                    <a:lnTo>
                      <a:pt x="0" y="76441"/>
                    </a:lnTo>
                    <a:lnTo>
                      <a:pt x="49263" y="107467"/>
                    </a:lnTo>
                    <a:lnTo>
                      <a:pt x="82461" y="0"/>
                    </a:lnTo>
                    <a:close/>
                  </a:path>
                </a:pathLst>
              </a:custGeom>
              <a:solidFill>
                <a:srgbClr val="000000"/>
              </a:solidFill>
            </p:spPr>
            <p:txBody>
              <a:bodyPr wrap="square" lIns="0" tIns="0" rIns="0" bIns="0" rtlCol="0"/>
              <a:lstStyle/>
              <a:p>
                <a:endParaRPr/>
              </a:p>
            </p:txBody>
          </p:sp>
          <p:sp>
            <p:nvSpPr>
              <p:cNvPr id="110" name="object 110"/>
              <p:cNvSpPr/>
              <p:nvPr/>
            </p:nvSpPr>
            <p:spPr>
              <a:xfrm>
                <a:off x="3733114" y="2751823"/>
                <a:ext cx="31115" cy="49530"/>
              </a:xfrm>
              <a:custGeom>
                <a:avLst/>
                <a:gdLst/>
                <a:ahLst/>
                <a:cxnLst/>
                <a:rect l="l" t="t" r="r" b="b"/>
                <a:pathLst>
                  <a:path w="31114" h="49530">
                    <a:moveTo>
                      <a:pt x="0" y="49237"/>
                    </a:moveTo>
                    <a:lnTo>
                      <a:pt x="31013" y="0"/>
                    </a:lnTo>
                  </a:path>
                </a:pathLst>
              </a:custGeom>
              <a:ln w="10535">
                <a:solidFill>
                  <a:srgbClr val="000000"/>
                </a:solidFill>
              </a:ln>
            </p:spPr>
            <p:txBody>
              <a:bodyPr wrap="square" lIns="0" tIns="0" rIns="0" bIns="0" rtlCol="0"/>
              <a:lstStyle/>
              <a:p>
                <a:endParaRPr/>
              </a:p>
            </p:txBody>
          </p:sp>
        </p:grpSp>
        <p:sp>
          <p:nvSpPr>
            <p:cNvPr id="111" name="object 111"/>
            <p:cNvSpPr txBox="1"/>
            <p:nvPr/>
          </p:nvSpPr>
          <p:spPr>
            <a:xfrm rot="18180000">
              <a:off x="3117539" y="3102011"/>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a:t>
              </a:r>
              <a:endParaRPr sz="1300">
                <a:latin typeface="Arial MT"/>
                <a:cs typeface="Arial MT"/>
              </a:endParaRPr>
            </a:p>
          </p:txBody>
        </p:sp>
        <p:sp>
          <p:nvSpPr>
            <p:cNvPr id="112" name="object 112"/>
            <p:cNvSpPr/>
            <p:nvPr/>
          </p:nvSpPr>
          <p:spPr>
            <a:xfrm>
              <a:off x="3931602" y="4020947"/>
              <a:ext cx="2423795" cy="92710"/>
            </a:xfrm>
            <a:custGeom>
              <a:avLst/>
              <a:gdLst/>
              <a:ahLst/>
              <a:cxnLst/>
              <a:rect l="l" t="t" r="r" b="b"/>
              <a:pathLst>
                <a:path w="2423795" h="92710">
                  <a:moveTo>
                    <a:pt x="0" y="0"/>
                  </a:moveTo>
                  <a:lnTo>
                    <a:pt x="3728" y="18259"/>
                  </a:lnTo>
                  <a:lnTo>
                    <a:pt x="13893" y="32896"/>
                  </a:lnTo>
                  <a:lnTo>
                    <a:pt x="28964" y="42623"/>
                  </a:lnTo>
                  <a:lnTo>
                    <a:pt x="47409" y="46151"/>
                  </a:lnTo>
                  <a:lnTo>
                    <a:pt x="1165974" y="46151"/>
                  </a:lnTo>
                  <a:lnTo>
                    <a:pt x="1184429" y="49682"/>
                  </a:lnTo>
                  <a:lnTo>
                    <a:pt x="1199499" y="59413"/>
                  </a:lnTo>
                  <a:lnTo>
                    <a:pt x="1209658" y="74055"/>
                  </a:lnTo>
                  <a:lnTo>
                    <a:pt x="1213383" y="92316"/>
                  </a:lnTo>
                  <a:lnTo>
                    <a:pt x="1217110" y="74055"/>
                  </a:lnTo>
                  <a:lnTo>
                    <a:pt x="1227272" y="59413"/>
                  </a:lnTo>
                  <a:lnTo>
                    <a:pt x="1242342" y="49682"/>
                  </a:lnTo>
                  <a:lnTo>
                    <a:pt x="1260792" y="46151"/>
                  </a:lnTo>
                  <a:lnTo>
                    <a:pt x="2375852" y="46151"/>
                  </a:lnTo>
                  <a:lnTo>
                    <a:pt x="2394302" y="42623"/>
                  </a:lnTo>
                  <a:lnTo>
                    <a:pt x="2409372" y="32896"/>
                  </a:lnTo>
                  <a:lnTo>
                    <a:pt x="2419534" y="18259"/>
                  </a:lnTo>
                  <a:lnTo>
                    <a:pt x="2423261" y="0"/>
                  </a:lnTo>
                </a:path>
              </a:pathLst>
            </a:custGeom>
            <a:ln w="10535">
              <a:solidFill>
                <a:srgbClr val="000000"/>
              </a:solidFill>
            </a:ln>
          </p:spPr>
          <p:txBody>
            <a:bodyPr wrap="square" lIns="0" tIns="0" rIns="0" bIns="0" rtlCol="0"/>
            <a:lstStyle/>
            <a:p>
              <a:endParaRPr/>
            </a:p>
          </p:txBody>
        </p:sp>
        <p:sp>
          <p:nvSpPr>
            <p:cNvPr id="113" name="object 113"/>
            <p:cNvSpPr txBox="1"/>
            <p:nvPr/>
          </p:nvSpPr>
          <p:spPr>
            <a:xfrm>
              <a:off x="5089956" y="4606282"/>
              <a:ext cx="40005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Time</a:t>
              </a:r>
              <a:endParaRPr sz="1300">
                <a:latin typeface="Arial MT"/>
                <a:cs typeface="Arial MT"/>
              </a:endParaRPr>
            </a:p>
          </p:txBody>
        </p:sp>
        <p:grpSp>
          <p:nvGrpSpPr>
            <p:cNvPr id="114" name="object 114"/>
            <p:cNvGrpSpPr/>
            <p:nvPr/>
          </p:nvGrpSpPr>
          <p:grpSpPr>
            <a:xfrm>
              <a:off x="6592290" y="2699461"/>
              <a:ext cx="2933700" cy="996315"/>
              <a:chOff x="6592290" y="2699461"/>
              <a:chExt cx="2933700" cy="996315"/>
            </a:xfrm>
          </p:grpSpPr>
          <p:sp>
            <p:nvSpPr>
              <p:cNvPr id="115" name="object 115"/>
              <p:cNvSpPr/>
              <p:nvPr/>
            </p:nvSpPr>
            <p:spPr>
              <a:xfrm>
                <a:off x="8956814" y="2708033"/>
                <a:ext cx="553720" cy="885190"/>
              </a:xfrm>
              <a:custGeom>
                <a:avLst/>
                <a:gdLst/>
                <a:ahLst/>
                <a:cxnLst/>
                <a:rect l="l" t="t" r="r" b="b"/>
                <a:pathLst>
                  <a:path w="553720" h="885189">
                    <a:moveTo>
                      <a:pt x="553110" y="885012"/>
                    </a:moveTo>
                    <a:lnTo>
                      <a:pt x="0" y="0"/>
                    </a:lnTo>
                  </a:path>
                </a:pathLst>
              </a:custGeom>
              <a:ln w="16857">
                <a:solidFill>
                  <a:srgbClr val="000000"/>
                </a:solidFill>
              </a:ln>
            </p:spPr>
            <p:txBody>
              <a:bodyPr wrap="square" lIns="0" tIns="0" rIns="0" bIns="0" rtlCol="0"/>
              <a:lstStyle/>
              <a:p>
                <a:endParaRPr/>
              </a:p>
            </p:txBody>
          </p:sp>
          <p:sp>
            <p:nvSpPr>
              <p:cNvPr id="116" name="object 116"/>
              <p:cNvSpPr/>
              <p:nvPr/>
            </p:nvSpPr>
            <p:spPr>
              <a:xfrm>
                <a:off x="9440481" y="3497821"/>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117" name="object 117"/>
              <p:cNvSpPr/>
              <p:nvPr/>
            </p:nvSpPr>
            <p:spPr>
              <a:xfrm>
                <a:off x="9468142" y="3519741"/>
                <a:ext cx="33020" cy="48260"/>
              </a:xfrm>
              <a:custGeom>
                <a:avLst/>
                <a:gdLst/>
                <a:ahLst/>
                <a:cxnLst/>
                <a:rect l="l" t="t" r="r" b="b"/>
                <a:pathLst>
                  <a:path w="33020" h="48260">
                    <a:moveTo>
                      <a:pt x="0" y="0"/>
                    </a:moveTo>
                    <a:lnTo>
                      <a:pt x="32829" y="48044"/>
                    </a:lnTo>
                  </a:path>
                </a:pathLst>
              </a:custGeom>
              <a:ln w="10535">
                <a:solidFill>
                  <a:srgbClr val="000000"/>
                </a:solidFill>
              </a:ln>
            </p:spPr>
            <p:txBody>
              <a:bodyPr wrap="square" lIns="0" tIns="0" rIns="0" bIns="0" rtlCol="0"/>
              <a:lstStyle/>
              <a:p>
                <a:endParaRPr/>
              </a:p>
            </p:txBody>
          </p:sp>
          <p:sp>
            <p:nvSpPr>
              <p:cNvPr id="118" name="object 118"/>
              <p:cNvSpPr/>
              <p:nvPr/>
            </p:nvSpPr>
            <p:spPr>
              <a:xfrm>
                <a:off x="6659968" y="3176879"/>
                <a:ext cx="200660" cy="216535"/>
              </a:xfrm>
              <a:custGeom>
                <a:avLst/>
                <a:gdLst/>
                <a:ahLst/>
                <a:cxnLst/>
                <a:rect l="l" t="t" r="r" b="b"/>
                <a:pathLst>
                  <a:path w="200659" h="216535">
                    <a:moveTo>
                      <a:pt x="200182" y="215986"/>
                    </a:moveTo>
                    <a:lnTo>
                      <a:pt x="200182" y="0"/>
                    </a:lnTo>
                    <a:lnTo>
                      <a:pt x="0" y="0"/>
                    </a:lnTo>
                    <a:lnTo>
                      <a:pt x="0" y="215986"/>
                    </a:lnTo>
                    <a:lnTo>
                      <a:pt x="200182" y="215986"/>
                    </a:lnTo>
                    <a:close/>
                  </a:path>
                </a:pathLst>
              </a:custGeom>
              <a:solidFill>
                <a:srgbClr val="FFFFFF"/>
              </a:solidFill>
            </p:spPr>
            <p:txBody>
              <a:bodyPr wrap="square" lIns="0" tIns="0" rIns="0" bIns="0" rtlCol="0"/>
              <a:lstStyle/>
              <a:p>
                <a:endParaRPr/>
              </a:p>
            </p:txBody>
          </p:sp>
          <p:sp>
            <p:nvSpPr>
              <p:cNvPr id="119" name="object 119"/>
              <p:cNvSpPr/>
              <p:nvPr/>
            </p:nvSpPr>
            <p:spPr>
              <a:xfrm>
                <a:off x="6600863" y="2748508"/>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20" name="object 120"/>
              <p:cNvSpPr/>
              <p:nvPr/>
            </p:nvSpPr>
            <p:spPr>
              <a:xfrm>
                <a:off x="7146594" y="2707017"/>
                <a:ext cx="82550" cy="107950"/>
              </a:xfrm>
              <a:custGeom>
                <a:avLst/>
                <a:gdLst/>
                <a:ahLst/>
                <a:cxnLst/>
                <a:rect l="l" t="t" r="r" b="b"/>
                <a:pathLst>
                  <a:path w="82550" h="107950">
                    <a:moveTo>
                      <a:pt x="82461" y="0"/>
                    </a:moveTo>
                    <a:lnTo>
                      <a:pt x="0" y="76454"/>
                    </a:lnTo>
                    <a:lnTo>
                      <a:pt x="49263" y="107492"/>
                    </a:lnTo>
                    <a:lnTo>
                      <a:pt x="82461" y="0"/>
                    </a:lnTo>
                    <a:close/>
                  </a:path>
                </a:pathLst>
              </a:custGeom>
              <a:solidFill>
                <a:srgbClr val="000000"/>
              </a:solidFill>
            </p:spPr>
            <p:txBody>
              <a:bodyPr wrap="square" lIns="0" tIns="0" rIns="0" bIns="0" rtlCol="0"/>
              <a:lstStyle/>
              <a:p>
                <a:endParaRPr/>
              </a:p>
            </p:txBody>
          </p:sp>
          <p:sp>
            <p:nvSpPr>
              <p:cNvPr id="121" name="object 121"/>
              <p:cNvSpPr/>
              <p:nvPr/>
            </p:nvSpPr>
            <p:spPr>
              <a:xfrm>
                <a:off x="7174661" y="2744127"/>
                <a:ext cx="31115" cy="49530"/>
              </a:xfrm>
              <a:custGeom>
                <a:avLst/>
                <a:gdLst/>
                <a:ahLst/>
                <a:cxnLst/>
                <a:rect l="l" t="t" r="r" b="b"/>
                <a:pathLst>
                  <a:path w="31115" h="49530">
                    <a:moveTo>
                      <a:pt x="0" y="49250"/>
                    </a:moveTo>
                    <a:lnTo>
                      <a:pt x="31026" y="0"/>
                    </a:lnTo>
                  </a:path>
                </a:pathLst>
              </a:custGeom>
              <a:ln w="10535">
                <a:solidFill>
                  <a:srgbClr val="000000"/>
                </a:solidFill>
              </a:ln>
            </p:spPr>
            <p:txBody>
              <a:bodyPr wrap="square" lIns="0" tIns="0" rIns="0" bIns="0" rtlCol="0"/>
              <a:lstStyle/>
              <a:p>
                <a:endParaRPr/>
              </a:p>
            </p:txBody>
          </p:sp>
        </p:grpSp>
        <p:sp>
          <p:nvSpPr>
            <p:cNvPr id="122" name="object 122"/>
            <p:cNvSpPr txBox="1"/>
            <p:nvPr/>
          </p:nvSpPr>
          <p:spPr>
            <a:xfrm rot="18180000">
              <a:off x="6559074" y="3094330"/>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2</a:t>
              </a:r>
              <a:endParaRPr sz="1300">
                <a:latin typeface="Arial MT"/>
                <a:cs typeface="Arial MT"/>
              </a:endParaRPr>
            </a:p>
          </p:txBody>
        </p:sp>
        <p:grpSp>
          <p:nvGrpSpPr>
            <p:cNvPr id="123" name="object 123"/>
            <p:cNvGrpSpPr/>
            <p:nvPr/>
          </p:nvGrpSpPr>
          <p:grpSpPr>
            <a:xfrm>
              <a:off x="7034796" y="2712288"/>
              <a:ext cx="636905" cy="988694"/>
              <a:chOff x="7034796" y="2712288"/>
              <a:chExt cx="636905" cy="988694"/>
            </a:xfrm>
          </p:grpSpPr>
          <p:sp>
            <p:nvSpPr>
              <p:cNvPr id="124" name="object 124"/>
              <p:cNvSpPr/>
              <p:nvPr/>
            </p:nvSpPr>
            <p:spPr>
              <a:xfrm>
                <a:off x="7091934" y="3192678"/>
                <a:ext cx="153035" cy="153035"/>
              </a:xfrm>
              <a:custGeom>
                <a:avLst/>
                <a:gdLst/>
                <a:ahLst/>
                <a:cxnLst/>
                <a:rect l="l" t="t" r="r" b="b"/>
                <a:pathLst>
                  <a:path w="153034" h="153035">
                    <a:moveTo>
                      <a:pt x="152770" y="152770"/>
                    </a:moveTo>
                    <a:lnTo>
                      <a:pt x="152770" y="0"/>
                    </a:lnTo>
                    <a:lnTo>
                      <a:pt x="0" y="0"/>
                    </a:lnTo>
                    <a:lnTo>
                      <a:pt x="0" y="152770"/>
                    </a:lnTo>
                    <a:lnTo>
                      <a:pt x="152770" y="152770"/>
                    </a:lnTo>
                    <a:close/>
                  </a:path>
                </a:pathLst>
              </a:custGeom>
              <a:solidFill>
                <a:srgbClr val="FFFFFF"/>
              </a:solidFill>
            </p:spPr>
            <p:txBody>
              <a:bodyPr wrap="square" lIns="0" tIns="0" rIns="0" bIns="0" rtlCol="0"/>
              <a:lstStyle/>
              <a:p>
                <a:endParaRPr/>
              </a:p>
            </p:txBody>
          </p:sp>
          <p:sp>
            <p:nvSpPr>
              <p:cNvPr id="125" name="object 125"/>
              <p:cNvSpPr/>
              <p:nvPr/>
            </p:nvSpPr>
            <p:spPr>
              <a:xfrm>
                <a:off x="7043369" y="2753779"/>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26" name="object 126"/>
              <p:cNvSpPr/>
              <p:nvPr/>
            </p:nvSpPr>
            <p:spPr>
              <a:xfrm>
                <a:off x="7589101" y="2712288"/>
                <a:ext cx="82550" cy="107950"/>
              </a:xfrm>
              <a:custGeom>
                <a:avLst/>
                <a:gdLst/>
                <a:ahLst/>
                <a:cxnLst/>
                <a:rect l="l" t="t" r="r" b="b"/>
                <a:pathLst>
                  <a:path w="82550" h="107950">
                    <a:moveTo>
                      <a:pt x="82461" y="0"/>
                    </a:moveTo>
                    <a:lnTo>
                      <a:pt x="0" y="76454"/>
                    </a:lnTo>
                    <a:lnTo>
                      <a:pt x="49276" y="107492"/>
                    </a:lnTo>
                    <a:lnTo>
                      <a:pt x="82461" y="0"/>
                    </a:lnTo>
                    <a:close/>
                  </a:path>
                </a:pathLst>
              </a:custGeom>
              <a:solidFill>
                <a:srgbClr val="000000"/>
              </a:solidFill>
            </p:spPr>
            <p:txBody>
              <a:bodyPr wrap="square" lIns="0" tIns="0" rIns="0" bIns="0" rtlCol="0"/>
              <a:lstStyle/>
              <a:p>
                <a:endParaRPr/>
              </a:p>
            </p:txBody>
          </p:sp>
          <p:sp>
            <p:nvSpPr>
              <p:cNvPr id="127" name="object 127"/>
              <p:cNvSpPr/>
              <p:nvPr/>
            </p:nvSpPr>
            <p:spPr>
              <a:xfrm>
                <a:off x="7617168" y="2749397"/>
                <a:ext cx="31115" cy="49530"/>
              </a:xfrm>
              <a:custGeom>
                <a:avLst/>
                <a:gdLst/>
                <a:ahLst/>
                <a:cxnLst/>
                <a:rect l="l" t="t" r="r" b="b"/>
                <a:pathLst>
                  <a:path w="31115" h="49530">
                    <a:moveTo>
                      <a:pt x="0" y="49250"/>
                    </a:moveTo>
                    <a:lnTo>
                      <a:pt x="31026" y="0"/>
                    </a:lnTo>
                  </a:path>
                </a:pathLst>
              </a:custGeom>
              <a:ln w="10535">
                <a:solidFill>
                  <a:srgbClr val="000000"/>
                </a:solidFill>
              </a:ln>
            </p:spPr>
            <p:txBody>
              <a:bodyPr wrap="square" lIns="0" tIns="0" rIns="0" bIns="0" rtlCol="0"/>
              <a:lstStyle/>
              <a:p>
                <a:endParaRPr/>
              </a:p>
            </p:txBody>
          </p:sp>
        </p:grpSp>
        <p:sp>
          <p:nvSpPr>
            <p:cNvPr id="128" name="object 128"/>
            <p:cNvSpPr txBox="1"/>
            <p:nvPr/>
          </p:nvSpPr>
          <p:spPr>
            <a:xfrm rot="18180000">
              <a:off x="7001581" y="3099600"/>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3</a:t>
              </a:r>
              <a:endParaRPr sz="1300">
                <a:latin typeface="Arial MT"/>
                <a:cs typeface="Arial MT"/>
              </a:endParaRPr>
            </a:p>
          </p:txBody>
        </p:sp>
        <p:grpSp>
          <p:nvGrpSpPr>
            <p:cNvPr id="129" name="object 129"/>
            <p:cNvGrpSpPr/>
            <p:nvPr/>
          </p:nvGrpSpPr>
          <p:grpSpPr>
            <a:xfrm>
              <a:off x="7472032" y="2707017"/>
              <a:ext cx="1042669" cy="993775"/>
              <a:chOff x="7472032" y="2707017"/>
              <a:chExt cx="1042669" cy="993775"/>
            </a:xfrm>
          </p:grpSpPr>
          <p:sp>
            <p:nvSpPr>
              <p:cNvPr id="130" name="object 130"/>
              <p:cNvSpPr/>
              <p:nvPr/>
            </p:nvSpPr>
            <p:spPr>
              <a:xfrm>
                <a:off x="7529182" y="3200590"/>
                <a:ext cx="153035" cy="153035"/>
              </a:xfrm>
              <a:custGeom>
                <a:avLst/>
                <a:gdLst/>
                <a:ahLst/>
                <a:cxnLst/>
                <a:rect l="l" t="t" r="r" b="b"/>
                <a:pathLst>
                  <a:path w="153034" h="153035">
                    <a:moveTo>
                      <a:pt x="152770" y="152770"/>
                    </a:moveTo>
                    <a:lnTo>
                      <a:pt x="152770" y="0"/>
                    </a:lnTo>
                    <a:lnTo>
                      <a:pt x="0" y="0"/>
                    </a:lnTo>
                    <a:lnTo>
                      <a:pt x="0" y="152770"/>
                    </a:lnTo>
                    <a:lnTo>
                      <a:pt x="152770" y="152770"/>
                    </a:lnTo>
                    <a:close/>
                  </a:path>
                </a:pathLst>
              </a:custGeom>
              <a:solidFill>
                <a:srgbClr val="FFFFFF"/>
              </a:solidFill>
            </p:spPr>
            <p:txBody>
              <a:bodyPr wrap="square" lIns="0" tIns="0" rIns="0" bIns="0" rtlCol="0"/>
              <a:lstStyle/>
              <a:p>
                <a:endParaRPr/>
              </a:p>
            </p:txBody>
          </p:sp>
          <p:sp>
            <p:nvSpPr>
              <p:cNvPr id="131" name="object 131"/>
              <p:cNvSpPr/>
              <p:nvPr/>
            </p:nvSpPr>
            <p:spPr>
              <a:xfrm>
                <a:off x="7480604" y="2748508"/>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32" name="object 132"/>
              <p:cNvSpPr/>
              <p:nvPr/>
            </p:nvSpPr>
            <p:spPr>
              <a:xfrm>
                <a:off x="8026349" y="2707017"/>
                <a:ext cx="82550" cy="107950"/>
              </a:xfrm>
              <a:custGeom>
                <a:avLst/>
                <a:gdLst/>
                <a:ahLst/>
                <a:cxnLst/>
                <a:rect l="l" t="t" r="r" b="b"/>
                <a:pathLst>
                  <a:path w="82550" h="107950">
                    <a:moveTo>
                      <a:pt x="82448" y="0"/>
                    </a:moveTo>
                    <a:lnTo>
                      <a:pt x="0" y="76454"/>
                    </a:lnTo>
                    <a:lnTo>
                      <a:pt x="49263" y="107492"/>
                    </a:lnTo>
                    <a:lnTo>
                      <a:pt x="82448" y="0"/>
                    </a:lnTo>
                    <a:close/>
                  </a:path>
                </a:pathLst>
              </a:custGeom>
              <a:solidFill>
                <a:srgbClr val="000000"/>
              </a:solidFill>
            </p:spPr>
            <p:txBody>
              <a:bodyPr wrap="square" lIns="0" tIns="0" rIns="0" bIns="0" rtlCol="0"/>
              <a:lstStyle/>
              <a:p>
                <a:endParaRPr/>
              </a:p>
            </p:txBody>
          </p:sp>
          <p:sp>
            <p:nvSpPr>
              <p:cNvPr id="133" name="object 133"/>
              <p:cNvSpPr/>
              <p:nvPr/>
            </p:nvSpPr>
            <p:spPr>
              <a:xfrm>
                <a:off x="8054416" y="2744127"/>
                <a:ext cx="31115" cy="49530"/>
              </a:xfrm>
              <a:custGeom>
                <a:avLst/>
                <a:gdLst/>
                <a:ahLst/>
                <a:cxnLst/>
                <a:rect l="l" t="t" r="r" b="b"/>
                <a:pathLst>
                  <a:path w="31115" h="49530">
                    <a:moveTo>
                      <a:pt x="0" y="49250"/>
                    </a:moveTo>
                    <a:lnTo>
                      <a:pt x="31013" y="0"/>
                    </a:lnTo>
                  </a:path>
                </a:pathLst>
              </a:custGeom>
              <a:ln w="10535">
                <a:solidFill>
                  <a:srgbClr val="000000"/>
                </a:solidFill>
              </a:ln>
            </p:spPr>
            <p:txBody>
              <a:bodyPr wrap="square" lIns="0" tIns="0" rIns="0" bIns="0" rtlCol="0"/>
              <a:lstStyle/>
              <a:p>
                <a:endParaRPr/>
              </a:p>
            </p:txBody>
          </p:sp>
          <p:sp>
            <p:nvSpPr>
              <p:cNvPr id="134" name="object 134"/>
              <p:cNvSpPr/>
              <p:nvPr/>
            </p:nvSpPr>
            <p:spPr>
              <a:xfrm>
                <a:off x="7966417" y="3147910"/>
                <a:ext cx="153035" cy="153035"/>
              </a:xfrm>
              <a:custGeom>
                <a:avLst/>
                <a:gdLst/>
                <a:ahLst/>
                <a:cxnLst/>
                <a:rect l="l" t="t" r="r" b="b"/>
                <a:pathLst>
                  <a:path w="153034" h="153035">
                    <a:moveTo>
                      <a:pt x="152770" y="152770"/>
                    </a:moveTo>
                    <a:lnTo>
                      <a:pt x="152770" y="0"/>
                    </a:lnTo>
                    <a:lnTo>
                      <a:pt x="0" y="0"/>
                    </a:lnTo>
                    <a:lnTo>
                      <a:pt x="0" y="152770"/>
                    </a:lnTo>
                    <a:lnTo>
                      <a:pt x="152770" y="152770"/>
                    </a:lnTo>
                    <a:close/>
                  </a:path>
                </a:pathLst>
              </a:custGeom>
              <a:solidFill>
                <a:srgbClr val="FFFFFF"/>
              </a:solidFill>
            </p:spPr>
            <p:txBody>
              <a:bodyPr wrap="square" lIns="0" tIns="0" rIns="0" bIns="0" rtlCol="0"/>
              <a:lstStyle/>
              <a:p>
                <a:endParaRPr/>
              </a:p>
            </p:txBody>
          </p:sp>
          <p:sp>
            <p:nvSpPr>
              <p:cNvPr id="135" name="object 135"/>
              <p:cNvSpPr/>
              <p:nvPr/>
            </p:nvSpPr>
            <p:spPr>
              <a:xfrm>
                <a:off x="7886242" y="2753779"/>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36" name="object 136"/>
              <p:cNvSpPr/>
              <p:nvPr/>
            </p:nvSpPr>
            <p:spPr>
              <a:xfrm>
                <a:off x="8431974" y="2712288"/>
                <a:ext cx="82550" cy="107950"/>
              </a:xfrm>
              <a:custGeom>
                <a:avLst/>
                <a:gdLst/>
                <a:ahLst/>
                <a:cxnLst/>
                <a:rect l="l" t="t" r="r" b="b"/>
                <a:pathLst>
                  <a:path w="82550" h="107950">
                    <a:moveTo>
                      <a:pt x="82461" y="0"/>
                    </a:moveTo>
                    <a:lnTo>
                      <a:pt x="0" y="76454"/>
                    </a:lnTo>
                    <a:lnTo>
                      <a:pt x="49276" y="107492"/>
                    </a:lnTo>
                    <a:lnTo>
                      <a:pt x="82461" y="0"/>
                    </a:lnTo>
                    <a:close/>
                  </a:path>
                </a:pathLst>
              </a:custGeom>
              <a:solidFill>
                <a:srgbClr val="000000"/>
              </a:solidFill>
            </p:spPr>
            <p:txBody>
              <a:bodyPr wrap="square" lIns="0" tIns="0" rIns="0" bIns="0" rtlCol="0"/>
              <a:lstStyle/>
              <a:p>
                <a:endParaRPr/>
              </a:p>
            </p:txBody>
          </p:sp>
          <p:sp>
            <p:nvSpPr>
              <p:cNvPr id="137" name="object 137"/>
              <p:cNvSpPr/>
              <p:nvPr/>
            </p:nvSpPr>
            <p:spPr>
              <a:xfrm>
                <a:off x="8460041" y="2749397"/>
                <a:ext cx="31115" cy="49530"/>
              </a:xfrm>
              <a:custGeom>
                <a:avLst/>
                <a:gdLst/>
                <a:ahLst/>
                <a:cxnLst/>
                <a:rect l="l" t="t" r="r" b="b"/>
                <a:pathLst>
                  <a:path w="31115" h="49530">
                    <a:moveTo>
                      <a:pt x="0" y="49250"/>
                    </a:moveTo>
                    <a:lnTo>
                      <a:pt x="31026" y="0"/>
                    </a:lnTo>
                  </a:path>
                </a:pathLst>
              </a:custGeom>
              <a:ln w="10535">
                <a:solidFill>
                  <a:srgbClr val="000000"/>
                </a:solidFill>
              </a:ln>
            </p:spPr>
            <p:txBody>
              <a:bodyPr wrap="square" lIns="0" tIns="0" rIns="0" bIns="0" rtlCol="0"/>
              <a:lstStyle/>
              <a:p>
                <a:endParaRPr/>
              </a:p>
            </p:txBody>
          </p:sp>
        </p:grpSp>
        <p:sp>
          <p:nvSpPr>
            <p:cNvPr id="138" name="object 138"/>
            <p:cNvSpPr txBox="1"/>
            <p:nvPr/>
          </p:nvSpPr>
          <p:spPr>
            <a:xfrm rot="18180000">
              <a:off x="7438829" y="3094330"/>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4</a:t>
              </a:r>
              <a:endParaRPr sz="1300">
                <a:latin typeface="Arial MT"/>
                <a:cs typeface="Arial MT"/>
              </a:endParaRPr>
            </a:p>
          </p:txBody>
        </p:sp>
        <p:sp>
          <p:nvSpPr>
            <p:cNvPr id="139" name="object 139"/>
            <p:cNvSpPr txBox="1"/>
            <p:nvPr/>
          </p:nvSpPr>
          <p:spPr>
            <a:xfrm rot="18180000">
              <a:off x="7844454" y="3099600"/>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5</a:t>
              </a:r>
              <a:endParaRPr sz="1300">
                <a:latin typeface="Arial MT"/>
                <a:cs typeface="Arial MT"/>
              </a:endParaRPr>
            </a:p>
          </p:txBody>
        </p:sp>
        <p:grpSp>
          <p:nvGrpSpPr>
            <p:cNvPr id="140" name="object 140"/>
            <p:cNvGrpSpPr/>
            <p:nvPr/>
          </p:nvGrpSpPr>
          <p:grpSpPr>
            <a:xfrm>
              <a:off x="8341245" y="2722829"/>
              <a:ext cx="636905" cy="988694"/>
              <a:chOff x="8341245" y="2722829"/>
              <a:chExt cx="636905" cy="988694"/>
            </a:xfrm>
          </p:grpSpPr>
          <p:sp>
            <p:nvSpPr>
              <p:cNvPr id="141" name="object 141"/>
              <p:cNvSpPr/>
              <p:nvPr/>
            </p:nvSpPr>
            <p:spPr>
              <a:xfrm>
                <a:off x="8403653" y="3190049"/>
                <a:ext cx="153035" cy="153035"/>
              </a:xfrm>
              <a:custGeom>
                <a:avLst/>
                <a:gdLst/>
                <a:ahLst/>
                <a:cxnLst/>
                <a:rect l="l" t="t" r="r" b="b"/>
                <a:pathLst>
                  <a:path w="153034" h="153035">
                    <a:moveTo>
                      <a:pt x="152770" y="152770"/>
                    </a:moveTo>
                    <a:lnTo>
                      <a:pt x="152770" y="0"/>
                    </a:lnTo>
                    <a:lnTo>
                      <a:pt x="0" y="0"/>
                    </a:lnTo>
                    <a:lnTo>
                      <a:pt x="0" y="152770"/>
                    </a:lnTo>
                    <a:lnTo>
                      <a:pt x="152770" y="152770"/>
                    </a:lnTo>
                    <a:close/>
                  </a:path>
                </a:pathLst>
              </a:custGeom>
              <a:solidFill>
                <a:srgbClr val="FFFFFF"/>
              </a:solidFill>
            </p:spPr>
            <p:txBody>
              <a:bodyPr wrap="square" lIns="0" tIns="0" rIns="0" bIns="0" rtlCol="0"/>
              <a:lstStyle/>
              <a:p>
                <a:endParaRPr/>
              </a:p>
            </p:txBody>
          </p:sp>
          <p:sp>
            <p:nvSpPr>
              <p:cNvPr id="142" name="object 142"/>
              <p:cNvSpPr/>
              <p:nvPr/>
            </p:nvSpPr>
            <p:spPr>
              <a:xfrm>
                <a:off x="8349818" y="2764320"/>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43" name="object 143"/>
              <p:cNvSpPr/>
              <p:nvPr/>
            </p:nvSpPr>
            <p:spPr>
              <a:xfrm>
                <a:off x="8895562" y="2722829"/>
                <a:ext cx="82550" cy="107950"/>
              </a:xfrm>
              <a:custGeom>
                <a:avLst/>
                <a:gdLst/>
                <a:ahLst/>
                <a:cxnLst/>
                <a:rect l="l" t="t" r="r" b="b"/>
                <a:pathLst>
                  <a:path w="82550" h="107950">
                    <a:moveTo>
                      <a:pt x="82448" y="0"/>
                    </a:moveTo>
                    <a:lnTo>
                      <a:pt x="0" y="76441"/>
                    </a:lnTo>
                    <a:lnTo>
                      <a:pt x="49263" y="107480"/>
                    </a:lnTo>
                    <a:lnTo>
                      <a:pt x="82448" y="0"/>
                    </a:lnTo>
                    <a:close/>
                  </a:path>
                </a:pathLst>
              </a:custGeom>
              <a:solidFill>
                <a:srgbClr val="000000"/>
              </a:solidFill>
            </p:spPr>
            <p:txBody>
              <a:bodyPr wrap="square" lIns="0" tIns="0" rIns="0" bIns="0" rtlCol="0"/>
              <a:lstStyle/>
              <a:p>
                <a:endParaRPr/>
              </a:p>
            </p:txBody>
          </p:sp>
          <p:sp>
            <p:nvSpPr>
              <p:cNvPr id="144" name="object 144"/>
              <p:cNvSpPr/>
              <p:nvPr/>
            </p:nvSpPr>
            <p:spPr>
              <a:xfrm>
                <a:off x="8923629" y="2759938"/>
                <a:ext cx="31115" cy="49530"/>
              </a:xfrm>
              <a:custGeom>
                <a:avLst/>
                <a:gdLst/>
                <a:ahLst/>
                <a:cxnLst/>
                <a:rect l="l" t="t" r="r" b="b"/>
                <a:pathLst>
                  <a:path w="31115" h="49530">
                    <a:moveTo>
                      <a:pt x="0" y="49237"/>
                    </a:moveTo>
                    <a:lnTo>
                      <a:pt x="31013" y="0"/>
                    </a:lnTo>
                  </a:path>
                </a:pathLst>
              </a:custGeom>
              <a:ln w="10535">
                <a:solidFill>
                  <a:srgbClr val="000000"/>
                </a:solidFill>
              </a:ln>
            </p:spPr>
            <p:txBody>
              <a:bodyPr wrap="square" lIns="0" tIns="0" rIns="0" bIns="0" rtlCol="0"/>
              <a:lstStyle/>
              <a:p>
                <a:endParaRPr/>
              </a:p>
            </p:txBody>
          </p:sp>
        </p:grpSp>
        <p:sp>
          <p:nvSpPr>
            <p:cNvPr id="145" name="object 145"/>
            <p:cNvSpPr txBox="1"/>
            <p:nvPr/>
          </p:nvSpPr>
          <p:spPr>
            <a:xfrm rot="18180000">
              <a:off x="8308043" y="3110128"/>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6</a:t>
              </a:r>
              <a:endParaRPr sz="1300">
                <a:latin typeface="Arial MT"/>
                <a:cs typeface="Arial MT"/>
              </a:endParaRPr>
            </a:p>
          </p:txBody>
        </p:sp>
        <p:grpSp>
          <p:nvGrpSpPr>
            <p:cNvPr id="146" name="object 146"/>
            <p:cNvGrpSpPr/>
            <p:nvPr/>
          </p:nvGrpSpPr>
          <p:grpSpPr>
            <a:xfrm>
              <a:off x="8789165" y="2701759"/>
              <a:ext cx="636905" cy="988694"/>
              <a:chOff x="8789165" y="2701759"/>
              <a:chExt cx="636905" cy="988694"/>
            </a:xfrm>
          </p:grpSpPr>
          <p:sp>
            <p:nvSpPr>
              <p:cNvPr id="147" name="object 147"/>
              <p:cNvSpPr/>
              <p:nvPr/>
            </p:nvSpPr>
            <p:spPr>
              <a:xfrm>
                <a:off x="8830360" y="3205848"/>
                <a:ext cx="153035" cy="153035"/>
              </a:xfrm>
              <a:custGeom>
                <a:avLst/>
                <a:gdLst/>
                <a:ahLst/>
                <a:cxnLst/>
                <a:rect l="l" t="t" r="r" b="b"/>
                <a:pathLst>
                  <a:path w="153034" h="153035">
                    <a:moveTo>
                      <a:pt x="152770" y="152770"/>
                    </a:moveTo>
                    <a:lnTo>
                      <a:pt x="152770" y="0"/>
                    </a:lnTo>
                    <a:lnTo>
                      <a:pt x="0" y="0"/>
                    </a:lnTo>
                    <a:lnTo>
                      <a:pt x="0" y="152770"/>
                    </a:lnTo>
                    <a:lnTo>
                      <a:pt x="152770" y="152770"/>
                    </a:lnTo>
                    <a:close/>
                  </a:path>
                </a:pathLst>
              </a:custGeom>
              <a:solidFill>
                <a:srgbClr val="FFFFFF"/>
              </a:solidFill>
            </p:spPr>
            <p:txBody>
              <a:bodyPr wrap="square" lIns="0" tIns="0" rIns="0" bIns="0" rtlCol="0"/>
              <a:lstStyle/>
              <a:p>
                <a:endParaRPr/>
              </a:p>
            </p:txBody>
          </p:sp>
          <p:sp>
            <p:nvSpPr>
              <p:cNvPr id="148" name="object 148"/>
              <p:cNvSpPr/>
              <p:nvPr/>
            </p:nvSpPr>
            <p:spPr>
              <a:xfrm>
                <a:off x="8797594" y="2743250"/>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49" name="object 149"/>
              <p:cNvSpPr/>
              <p:nvPr/>
            </p:nvSpPr>
            <p:spPr>
              <a:xfrm>
                <a:off x="9343338" y="2701759"/>
                <a:ext cx="82550" cy="107950"/>
              </a:xfrm>
              <a:custGeom>
                <a:avLst/>
                <a:gdLst/>
                <a:ahLst/>
                <a:cxnLst/>
                <a:rect l="l" t="t" r="r" b="b"/>
                <a:pathLst>
                  <a:path w="82550" h="107950">
                    <a:moveTo>
                      <a:pt x="82448" y="0"/>
                    </a:moveTo>
                    <a:lnTo>
                      <a:pt x="0" y="76441"/>
                    </a:lnTo>
                    <a:lnTo>
                      <a:pt x="49263" y="107480"/>
                    </a:lnTo>
                    <a:lnTo>
                      <a:pt x="82448" y="0"/>
                    </a:lnTo>
                    <a:close/>
                  </a:path>
                </a:pathLst>
              </a:custGeom>
              <a:solidFill>
                <a:srgbClr val="000000"/>
              </a:solidFill>
            </p:spPr>
            <p:txBody>
              <a:bodyPr wrap="square" lIns="0" tIns="0" rIns="0" bIns="0" rtlCol="0"/>
              <a:lstStyle/>
              <a:p>
                <a:endParaRPr/>
              </a:p>
            </p:txBody>
          </p:sp>
          <p:sp>
            <p:nvSpPr>
              <p:cNvPr id="150" name="object 150"/>
              <p:cNvSpPr/>
              <p:nvPr/>
            </p:nvSpPr>
            <p:spPr>
              <a:xfrm>
                <a:off x="9371405" y="2738856"/>
                <a:ext cx="31115" cy="49530"/>
              </a:xfrm>
              <a:custGeom>
                <a:avLst/>
                <a:gdLst/>
                <a:ahLst/>
                <a:cxnLst/>
                <a:rect l="l" t="t" r="r" b="b"/>
                <a:pathLst>
                  <a:path w="31115" h="49530">
                    <a:moveTo>
                      <a:pt x="0" y="49250"/>
                    </a:moveTo>
                    <a:lnTo>
                      <a:pt x="31013" y="0"/>
                    </a:lnTo>
                  </a:path>
                </a:pathLst>
              </a:custGeom>
              <a:ln w="10535">
                <a:solidFill>
                  <a:srgbClr val="000000"/>
                </a:solidFill>
              </a:ln>
            </p:spPr>
            <p:txBody>
              <a:bodyPr wrap="square" lIns="0" tIns="0" rIns="0" bIns="0" rtlCol="0"/>
              <a:lstStyle/>
              <a:p>
                <a:endParaRPr/>
              </a:p>
            </p:txBody>
          </p:sp>
        </p:grpSp>
        <p:sp>
          <p:nvSpPr>
            <p:cNvPr id="151" name="object 151"/>
            <p:cNvSpPr txBox="1"/>
            <p:nvPr/>
          </p:nvSpPr>
          <p:spPr>
            <a:xfrm rot="18180000">
              <a:off x="8755819" y="3089059"/>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7</a:t>
              </a:r>
              <a:endParaRPr sz="1300">
                <a:latin typeface="Arial MT"/>
                <a:cs typeface="Arial MT"/>
              </a:endParaRPr>
            </a:p>
          </p:txBody>
        </p:sp>
      </p:grpSp>
      <p:sp>
        <p:nvSpPr>
          <p:cNvPr id="152" name="object 152"/>
          <p:cNvSpPr txBox="1"/>
          <p:nvPr/>
        </p:nvSpPr>
        <p:spPr>
          <a:xfrm>
            <a:off x="779246" y="6133558"/>
            <a:ext cx="8974354" cy="1136850"/>
          </a:xfrm>
          <a:prstGeom prst="rect">
            <a:avLst/>
          </a:prstGeom>
        </p:spPr>
        <p:txBody>
          <a:bodyPr vert="horz" wrap="square" lIns="0" tIns="15875" rIns="0" bIns="0" rtlCol="0">
            <a:spAutoFit/>
          </a:bodyPr>
          <a:lstStyle/>
          <a:p>
            <a:pPr marL="12700">
              <a:lnSpc>
                <a:spcPct val="100000"/>
              </a:lnSpc>
              <a:spcBef>
                <a:spcPts val="125"/>
              </a:spcBef>
            </a:pPr>
            <a:r>
              <a:rPr sz="2000" spc="10" dirty="0">
                <a:solidFill>
                  <a:srgbClr val="9B0707"/>
                </a:solidFill>
                <a:cs typeface="Arial MT"/>
              </a:rPr>
              <a:t>Leads</a:t>
            </a:r>
            <a:r>
              <a:rPr sz="2000" spc="-10" dirty="0">
                <a:solidFill>
                  <a:srgbClr val="9B0707"/>
                </a:solidFill>
                <a:cs typeface="Arial MT"/>
              </a:rPr>
              <a:t> </a:t>
            </a:r>
            <a:r>
              <a:rPr sz="2000" spc="5" dirty="0">
                <a:solidFill>
                  <a:srgbClr val="9B0707"/>
                </a:solidFill>
                <a:cs typeface="Arial MT"/>
              </a:rPr>
              <a:t>to</a:t>
            </a:r>
            <a:r>
              <a:rPr sz="2000" spc="-15" dirty="0">
                <a:solidFill>
                  <a:srgbClr val="9B0707"/>
                </a:solidFill>
                <a:cs typeface="Arial MT"/>
              </a:rPr>
              <a:t> </a:t>
            </a:r>
            <a:r>
              <a:rPr sz="2000" dirty="0">
                <a:solidFill>
                  <a:srgbClr val="9B0707"/>
                </a:solidFill>
                <a:cs typeface="Arial MT"/>
              </a:rPr>
              <a:t>Go-back</a:t>
            </a:r>
            <a:r>
              <a:rPr sz="2000" spc="-20" dirty="0">
                <a:solidFill>
                  <a:srgbClr val="9B0707"/>
                </a:solidFill>
                <a:cs typeface="Arial MT"/>
              </a:rPr>
              <a:t> </a:t>
            </a:r>
            <a:r>
              <a:rPr sz="2400" i="1" spc="10" dirty="0">
                <a:solidFill>
                  <a:srgbClr val="9B0707"/>
                </a:solidFill>
                <a:cs typeface="Times New Roman"/>
              </a:rPr>
              <a:t>n</a:t>
            </a:r>
            <a:endParaRPr lang="en-US" sz="2400" i="1" spc="10" dirty="0">
              <a:solidFill>
                <a:srgbClr val="9B0707"/>
              </a:solidFill>
              <a:cs typeface="Times New Roman"/>
            </a:endParaRPr>
          </a:p>
          <a:p>
            <a:pPr marL="12700">
              <a:lnSpc>
                <a:spcPct val="100000"/>
              </a:lnSpc>
              <a:spcBef>
                <a:spcPts val="125"/>
              </a:spcBef>
            </a:pPr>
            <a:r>
              <a:rPr lang="en-US" sz="2400" dirty="0"/>
              <a:t>In Go-Back-N ARQ, the size of the sender is N and the size of the receiver window is always 1.</a:t>
            </a:r>
            <a:endParaRPr sz="2400" dirty="0">
              <a:cs typeface="Times New Roman"/>
            </a:endParaRPr>
          </a:p>
        </p:txBody>
      </p:sp>
      <p:sp>
        <p:nvSpPr>
          <p:cNvPr id="156" name="TextBox 155">
            <a:extLst>
              <a:ext uri="{FF2B5EF4-FFF2-40B4-BE49-F238E27FC236}">
                <a16:creationId xmlns:a16="http://schemas.microsoft.com/office/drawing/2014/main" id="{1C9FD652-F4D9-1F8E-4DC3-E6ABCC71125E}"/>
              </a:ext>
            </a:extLst>
          </p:cNvPr>
          <p:cNvSpPr txBox="1"/>
          <p:nvPr/>
        </p:nvSpPr>
        <p:spPr>
          <a:xfrm>
            <a:off x="762007" y="521456"/>
            <a:ext cx="9220192" cy="2308324"/>
          </a:xfrm>
          <a:prstGeom prst="rect">
            <a:avLst/>
          </a:prstGeom>
          <a:noFill/>
        </p:spPr>
        <p:txBody>
          <a:bodyPr wrap="square">
            <a:spAutoFit/>
          </a:bodyPr>
          <a:lstStyle/>
          <a:p>
            <a:pPr algn="just"/>
            <a:r>
              <a:rPr lang="en-US" sz="2400" b="0" i="0" u="none" strike="noStrike" baseline="0" dirty="0">
                <a:latin typeface="Times-Roman"/>
              </a:rPr>
              <a:t>Pipelining frames over an unreliable communication channel raises some serious issues. </a:t>
            </a:r>
          </a:p>
          <a:p>
            <a:pPr marL="285750" indent="-285750" algn="just">
              <a:buFont typeface="Arial" panose="020B0604020202020204" pitchFamily="34" charset="0"/>
              <a:buChar char="•"/>
            </a:pPr>
            <a:r>
              <a:rPr lang="en-US" sz="2400" b="0" i="0" u="none" strike="noStrike" baseline="0" dirty="0">
                <a:latin typeface="Times-Roman"/>
              </a:rPr>
              <a:t>First, what happens if a frame in the middle of a long stream is damaged or lost? </a:t>
            </a:r>
          </a:p>
          <a:p>
            <a:pPr marL="742950" lvl="1" indent="-285750" algn="just">
              <a:buFont typeface="Arial" panose="020B0604020202020204" pitchFamily="34" charset="0"/>
              <a:buChar char="•"/>
            </a:pPr>
            <a:r>
              <a:rPr lang="en-US" sz="2400" b="0" i="0" u="none" strike="noStrike" baseline="0" dirty="0">
                <a:latin typeface="Times-Roman"/>
              </a:rPr>
              <a:t>Large numbers of succeeding frames will arrive at the receiver before the sender even finds out that anything is wrong.</a:t>
            </a:r>
            <a:endParaRPr lang="en-US" sz="2400" dirty="0"/>
          </a:p>
        </p:txBody>
      </p:sp>
      <p:sp>
        <p:nvSpPr>
          <p:cNvPr id="157" name="TextBox 156">
            <a:extLst>
              <a:ext uri="{FF2B5EF4-FFF2-40B4-BE49-F238E27FC236}">
                <a16:creationId xmlns:a16="http://schemas.microsoft.com/office/drawing/2014/main" id="{646889E9-A49D-113C-0433-36373A284C7B}"/>
              </a:ext>
            </a:extLst>
          </p:cNvPr>
          <p:cNvSpPr txBox="1"/>
          <p:nvPr/>
        </p:nvSpPr>
        <p:spPr>
          <a:xfrm>
            <a:off x="380506" y="3815557"/>
            <a:ext cx="461665" cy="1862594"/>
          </a:xfrm>
          <a:prstGeom prst="rect">
            <a:avLst/>
          </a:prstGeom>
          <a:solidFill>
            <a:schemeClr val="accent4">
              <a:lumMod val="60000"/>
              <a:lumOff val="40000"/>
            </a:schemeClr>
          </a:solidFill>
        </p:spPr>
        <p:txBody>
          <a:bodyPr vert="vert270" wrap="square" rtlCol="0">
            <a:spAutoFit/>
          </a:bodyPr>
          <a:lstStyle/>
          <a:p>
            <a:r>
              <a:rPr lang="en-US" dirty="0"/>
              <a:t>Dealing with Error</a:t>
            </a: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7F9B-E4B8-7B13-C805-A3AAF721C79F}"/>
              </a:ext>
            </a:extLst>
          </p:cNvPr>
          <p:cNvSpPr>
            <a:spLocks noGrp="1"/>
          </p:cNvSpPr>
          <p:nvPr>
            <p:ph type="title"/>
          </p:nvPr>
        </p:nvSpPr>
        <p:spPr>
          <a:xfrm>
            <a:off x="691515" y="413809"/>
            <a:ext cx="8675370" cy="424391"/>
          </a:xfrm>
        </p:spPr>
        <p:txBody>
          <a:bodyPr>
            <a:normAutofit fontScale="90000"/>
          </a:bodyPr>
          <a:lstStyle/>
          <a:p>
            <a:r>
              <a:rPr lang="en-US" dirty="0"/>
              <a:t>Go-Back-N Practice Q</a:t>
            </a:r>
          </a:p>
        </p:txBody>
      </p:sp>
      <p:sp>
        <p:nvSpPr>
          <p:cNvPr id="3" name="Content Placeholder 2">
            <a:extLst>
              <a:ext uri="{FF2B5EF4-FFF2-40B4-BE49-F238E27FC236}">
                <a16:creationId xmlns:a16="http://schemas.microsoft.com/office/drawing/2014/main" id="{634D7707-AFCA-4C8D-B73D-988F4E0A4498}"/>
              </a:ext>
            </a:extLst>
          </p:cNvPr>
          <p:cNvSpPr>
            <a:spLocks noGrp="1"/>
          </p:cNvSpPr>
          <p:nvPr>
            <p:ph idx="1"/>
          </p:nvPr>
        </p:nvSpPr>
        <p:spPr>
          <a:xfrm>
            <a:off x="533400" y="914400"/>
            <a:ext cx="3962400" cy="4931516"/>
          </a:xfrm>
        </p:spPr>
        <p:txBody>
          <a:bodyPr>
            <a:normAutofit/>
          </a:bodyPr>
          <a:lstStyle/>
          <a:p>
            <a:pPr algn="just"/>
            <a:r>
              <a:rPr lang="en-US" sz="2000" dirty="0"/>
              <a:t>Station A needs to send a message consisting of 9 packets to station B using a sliding window (window size 3) and go back n error control strategy. All packets are ready and immediately available for transmission. If every 5th packet that A transmits gets lost (but no ACKs from B ever get lost), then what is the number of packets that A will transmit for sending the message to B?</a:t>
            </a:r>
          </a:p>
        </p:txBody>
      </p:sp>
      <p:pic>
        <p:nvPicPr>
          <p:cNvPr id="5" name="Picture 4">
            <a:extLst>
              <a:ext uri="{FF2B5EF4-FFF2-40B4-BE49-F238E27FC236}">
                <a16:creationId xmlns:a16="http://schemas.microsoft.com/office/drawing/2014/main" id="{0A96AEBE-1A43-7F4C-A40C-F6C7C2D2C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245851"/>
            <a:ext cx="4267202" cy="7280697"/>
          </a:xfrm>
          <a:prstGeom prst="rect">
            <a:avLst/>
          </a:prstGeom>
        </p:spPr>
      </p:pic>
      <p:pic>
        <p:nvPicPr>
          <p:cNvPr id="7" name="Picture 6">
            <a:extLst>
              <a:ext uri="{FF2B5EF4-FFF2-40B4-BE49-F238E27FC236}">
                <a16:creationId xmlns:a16="http://schemas.microsoft.com/office/drawing/2014/main" id="{8D4068CF-6DAA-4111-9B3B-C51CA508E7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67" y="4724400"/>
            <a:ext cx="5115174" cy="533400"/>
          </a:xfrm>
          <a:prstGeom prst="rect">
            <a:avLst/>
          </a:prstGeom>
        </p:spPr>
      </p:pic>
      <p:sp>
        <p:nvSpPr>
          <p:cNvPr id="8" name="TextBox 7">
            <a:extLst>
              <a:ext uri="{FF2B5EF4-FFF2-40B4-BE49-F238E27FC236}">
                <a16:creationId xmlns:a16="http://schemas.microsoft.com/office/drawing/2014/main" id="{5BC79E61-A959-4378-91AC-D0BA6B097B5D}"/>
              </a:ext>
            </a:extLst>
          </p:cNvPr>
          <p:cNvSpPr txBox="1"/>
          <p:nvPr/>
        </p:nvSpPr>
        <p:spPr>
          <a:xfrm>
            <a:off x="1676400" y="6324600"/>
            <a:ext cx="917239" cy="369332"/>
          </a:xfrm>
          <a:prstGeom prst="rect">
            <a:avLst/>
          </a:prstGeom>
          <a:noFill/>
        </p:spPr>
        <p:txBody>
          <a:bodyPr wrap="none" rtlCol="0">
            <a:spAutoFit/>
          </a:bodyPr>
          <a:lstStyle/>
          <a:p>
            <a:r>
              <a:rPr lang="en-US" dirty="0"/>
              <a:t>Ans=16</a:t>
            </a:r>
          </a:p>
        </p:txBody>
      </p:sp>
    </p:spTree>
    <p:extLst>
      <p:ext uri="{BB962C8B-B14F-4D97-AF65-F5344CB8AC3E}">
        <p14:creationId xmlns:p14="http://schemas.microsoft.com/office/powerpoint/2010/main" val="2217325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29585"/>
            <a:ext cx="6015990" cy="613410"/>
          </a:xfrm>
          <a:prstGeom prst="rect">
            <a:avLst/>
          </a:prstGeom>
        </p:spPr>
        <p:txBody>
          <a:bodyPr vert="horz" wrap="square" lIns="0" tIns="13335" rIns="0" bIns="0" rtlCol="0">
            <a:spAutoFit/>
          </a:bodyPr>
          <a:lstStyle/>
          <a:p>
            <a:pPr marL="12700">
              <a:lnSpc>
                <a:spcPct val="100000"/>
              </a:lnSpc>
              <a:spcBef>
                <a:spcPts val="105"/>
              </a:spcBef>
            </a:pPr>
            <a:r>
              <a:rPr spc="-30" dirty="0"/>
              <a:t>Receiver’s</a:t>
            </a:r>
            <a:r>
              <a:rPr spc="-35" dirty="0"/>
              <a:t> </a:t>
            </a:r>
            <a:r>
              <a:rPr spc="-15" dirty="0"/>
              <a:t>Window</a:t>
            </a:r>
            <a:r>
              <a:rPr spc="-25" dirty="0"/>
              <a:t> </a:t>
            </a:r>
            <a:r>
              <a:rPr spc="-5" dirty="0"/>
              <a:t>is</a:t>
            </a:r>
            <a:r>
              <a:rPr spc="-10" dirty="0"/>
              <a:t> </a:t>
            </a:r>
            <a:r>
              <a:rPr spc="-5" dirty="0"/>
              <a:t>Large</a:t>
            </a:r>
          </a:p>
        </p:txBody>
      </p:sp>
      <p:sp>
        <p:nvSpPr>
          <p:cNvPr id="182" name="object 182"/>
          <p:cNvSpPr txBox="1">
            <a:spLocks noGrp="1"/>
          </p:cNvSpPr>
          <p:nvPr>
            <p:ph type="sldNum" sz="quarter" idx="12"/>
          </p:nvPr>
        </p:nvSpPr>
        <p:spPr>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48</a:t>
            </a:fld>
            <a:r>
              <a:rPr spc="10" dirty="0"/>
              <a:t>/69</a:t>
            </a:r>
          </a:p>
        </p:txBody>
      </p:sp>
      <p:sp>
        <p:nvSpPr>
          <p:cNvPr id="3" name="object 3"/>
          <p:cNvSpPr txBox="1"/>
          <p:nvPr/>
        </p:nvSpPr>
        <p:spPr>
          <a:xfrm>
            <a:off x="1968169" y="2679725"/>
            <a:ext cx="253365" cy="253365"/>
          </a:xfrm>
          <a:prstGeom prst="rect">
            <a:avLst/>
          </a:prstGeom>
          <a:ln w="10535">
            <a:solidFill>
              <a:srgbClr val="000000"/>
            </a:solidFill>
          </a:ln>
        </p:spPr>
        <p:txBody>
          <a:bodyPr vert="horz" wrap="square" lIns="0" tIns="17145" rIns="0" bIns="0" rtlCol="0">
            <a:spAutoFit/>
          </a:bodyPr>
          <a:lstStyle/>
          <a:p>
            <a:pPr marL="72390">
              <a:lnSpc>
                <a:spcPct val="100000"/>
              </a:lnSpc>
              <a:spcBef>
                <a:spcPts val="135"/>
              </a:spcBef>
            </a:pPr>
            <a:r>
              <a:rPr sz="1300" spc="15" dirty="0">
                <a:latin typeface="Arial MT"/>
                <a:cs typeface="Arial MT"/>
              </a:rPr>
              <a:t>0</a:t>
            </a:r>
            <a:endParaRPr sz="1300">
              <a:latin typeface="Arial MT"/>
              <a:cs typeface="Arial MT"/>
            </a:endParaRPr>
          </a:p>
        </p:txBody>
      </p:sp>
      <p:sp>
        <p:nvSpPr>
          <p:cNvPr id="4" name="object 4"/>
          <p:cNvSpPr txBox="1"/>
          <p:nvPr/>
        </p:nvSpPr>
        <p:spPr>
          <a:xfrm>
            <a:off x="2399525" y="2679725"/>
            <a:ext cx="253365" cy="253365"/>
          </a:xfrm>
          <a:prstGeom prst="rect">
            <a:avLst/>
          </a:prstGeom>
          <a:ln w="10535">
            <a:solidFill>
              <a:srgbClr val="000000"/>
            </a:solidFill>
          </a:ln>
        </p:spPr>
        <p:txBody>
          <a:bodyPr vert="horz" wrap="square" lIns="0" tIns="17145" rIns="0" bIns="0" rtlCol="0">
            <a:spAutoFit/>
          </a:bodyPr>
          <a:lstStyle/>
          <a:p>
            <a:pPr marL="59055">
              <a:lnSpc>
                <a:spcPct val="100000"/>
              </a:lnSpc>
              <a:spcBef>
                <a:spcPts val="135"/>
              </a:spcBef>
            </a:pPr>
            <a:r>
              <a:rPr sz="1300" spc="15" dirty="0">
                <a:latin typeface="Arial MT"/>
                <a:cs typeface="Arial MT"/>
              </a:rPr>
              <a:t>1</a:t>
            </a:r>
            <a:endParaRPr sz="1300">
              <a:latin typeface="Arial MT"/>
              <a:cs typeface="Arial MT"/>
            </a:endParaRPr>
          </a:p>
        </p:txBody>
      </p:sp>
      <p:sp>
        <p:nvSpPr>
          <p:cNvPr id="5" name="object 5"/>
          <p:cNvSpPr txBox="1"/>
          <p:nvPr/>
        </p:nvSpPr>
        <p:spPr>
          <a:xfrm>
            <a:off x="2652382" y="3912438"/>
            <a:ext cx="253365" cy="253365"/>
          </a:xfrm>
          <a:prstGeom prst="rect">
            <a:avLst/>
          </a:prstGeom>
          <a:ln w="10535">
            <a:solidFill>
              <a:srgbClr val="000000"/>
            </a:solidFill>
          </a:ln>
        </p:spPr>
        <p:txBody>
          <a:bodyPr vert="horz" wrap="square" lIns="0" tIns="13970" rIns="0" bIns="0" rtlCol="0">
            <a:spAutoFit/>
          </a:bodyPr>
          <a:lstStyle/>
          <a:p>
            <a:pPr marL="73025">
              <a:lnSpc>
                <a:spcPct val="100000"/>
              </a:lnSpc>
              <a:spcBef>
                <a:spcPts val="110"/>
              </a:spcBef>
            </a:pPr>
            <a:r>
              <a:rPr sz="1300" spc="15" dirty="0">
                <a:latin typeface="Arial MT"/>
                <a:cs typeface="Arial MT"/>
              </a:rPr>
              <a:t>0</a:t>
            </a:r>
            <a:endParaRPr sz="1300">
              <a:latin typeface="Arial MT"/>
              <a:cs typeface="Arial MT"/>
            </a:endParaRPr>
          </a:p>
        </p:txBody>
      </p:sp>
      <p:sp>
        <p:nvSpPr>
          <p:cNvPr id="6" name="object 6"/>
          <p:cNvSpPr txBox="1"/>
          <p:nvPr/>
        </p:nvSpPr>
        <p:spPr>
          <a:xfrm>
            <a:off x="3083725" y="3912438"/>
            <a:ext cx="253365" cy="253365"/>
          </a:xfrm>
          <a:prstGeom prst="rect">
            <a:avLst/>
          </a:prstGeom>
          <a:ln w="10535">
            <a:solidFill>
              <a:srgbClr val="000000"/>
            </a:solidFill>
          </a:ln>
        </p:spPr>
        <p:txBody>
          <a:bodyPr vert="horz" wrap="square" lIns="0" tIns="13970" rIns="0" bIns="0" rtlCol="0">
            <a:spAutoFit/>
          </a:bodyPr>
          <a:lstStyle/>
          <a:p>
            <a:pPr marL="59690">
              <a:lnSpc>
                <a:spcPct val="100000"/>
              </a:lnSpc>
              <a:spcBef>
                <a:spcPts val="110"/>
              </a:spcBef>
            </a:pPr>
            <a:r>
              <a:rPr sz="1300" spc="15" dirty="0">
                <a:latin typeface="Arial MT"/>
                <a:cs typeface="Arial MT"/>
              </a:rPr>
              <a:t>1</a:t>
            </a:r>
            <a:endParaRPr sz="1300">
              <a:latin typeface="Arial MT"/>
              <a:cs typeface="Arial MT"/>
            </a:endParaRPr>
          </a:p>
        </p:txBody>
      </p:sp>
      <p:sp>
        <p:nvSpPr>
          <p:cNvPr id="7" name="object 7"/>
          <p:cNvSpPr txBox="1"/>
          <p:nvPr/>
        </p:nvSpPr>
        <p:spPr>
          <a:xfrm>
            <a:off x="6948640" y="3912438"/>
            <a:ext cx="253365" cy="253365"/>
          </a:xfrm>
          <a:prstGeom prst="rect">
            <a:avLst/>
          </a:prstGeom>
          <a:ln w="10535">
            <a:solidFill>
              <a:srgbClr val="000000"/>
            </a:solidFill>
          </a:ln>
        </p:spPr>
        <p:txBody>
          <a:bodyPr vert="horz" wrap="square" lIns="0" tIns="13970" rIns="0" bIns="0" rtlCol="0">
            <a:spAutoFit/>
          </a:bodyPr>
          <a:lstStyle/>
          <a:p>
            <a:pPr marL="71755">
              <a:lnSpc>
                <a:spcPct val="100000"/>
              </a:lnSpc>
              <a:spcBef>
                <a:spcPts val="110"/>
              </a:spcBef>
            </a:pPr>
            <a:r>
              <a:rPr sz="1300" spc="15" dirty="0">
                <a:latin typeface="Arial MT"/>
                <a:cs typeface="Arial MT"/>
              </a:rPr>
              <a:t>9</a:t>
            </a:r>
            <a:endParaRPr sz="1300">
              <a:latin typeface="Arial MT"/>
              <a:cs typeface="Arial MT"/>
            </a:endParaRPr>
          </a:p>
        </p:txBody>
      </p:sp>
      <p:sp>
        <p:nvSpPr>
          <p:cNvPr id="8" name="object 8"/>
          <p:cNvSpPr txBox="1"/>
          <p:nvPr/>
        </p:nvSpPr>
        <p:spPr>
          <a:xfrm>
            <a:off x="7380008" y="3912438"/>
            <a:ext cx="253365" cy="253365"/>
          </a:xfrm>
          <a:prstGeom prst="rect">
            <a:avLst/>
          </a:prstGeom>
          <a:ln w="10535">
            <a:solidFill>
              <a:srgbClr val="000000"/>
            </a:solidFill>
          </a:ln>
        </p:spPr>
        <p:txBody>
          <a:bodyPr vert="horz" wrap="square" lIns="0" tIns="13970" rIns="0" bIns="0" rtlCol="0">
            <a:spAutoFit/>
          </a:bodyPr>
          <a:lstStyle/>
          <a:p>
            <a:pPr marL="25400">
              <a:lnSpc>
                <a:spcPct val="100000"/>
              </a:lnSpc>
              <a:spcBef>
                <a:spcPts val="110"/>
              </a:spcBef>
            </a:pPr>
            <a:r>
              <a:rPr sz="1300" spc="15" dirty="0">
                <a:latin typeface="Arial MT"/>
                <a:cs typeface="Arial MT"/>
              </a:rPr>
              <a:t>10</a:t>
            </a:r>
            <a:endParaRPr sz="1300">
              <a:latin typeface="Arial MT"/>
              <a:cs typeface="Arial MT"/>
            </a:endParaRPr>
          </a:p>
        </p:txBody>
      </p:sp>
      <p:sp>
        <p:nvSpPr>
          <p:cNvPr id="9" name="object 9"/>
          <p:cNvSpPr txBox="1"/>
          <p:nvPr/>
        </p:nvSpPr>
        <p:spPr>
          <a:xfrm>
            <a:off x="7811337" y="3912438"/>
            <a:ext cx="253365" cy="253365"/>
          </a:xfrm>
          <a:prstGeom prst="rect">
            <a:avLst/>
          </a:prstGeom>
          <a:ln w="10535">
            <a:solidFill>
              <a:srgbClr val="000000"/>
            </a:solidFill>
          </a:ln>
        </p:spPr>
        <p:txBody>
          <a:bodyPr vert="horz" wrap="square" lIns="0" tIns="13970" rIns="0" bIns="0" rtlCol="0">
            <a:spAutoFit/>
          </a:bodyPr>
          <a:lstStyle/>
          <a:p>
            <a:pPr marL="26034">
              <a:lnSpc>
                <a:spcPct val="100000"/>
              </a:lnSpc>
              <a:spcBef>
                <a:spcPts val="110"/>
              </a:spcBef>
            </a:pPr>
            <a:r>
              <a:rPr sz="1300" spc="15" dirty="0">
                <a:latin typeface="Arial MT"/>
                <a:cs typeface="Arial MT"/>
              </a:rPr>
              <a:t>11</a:t>
            </a:r>
            <a:endParaRPr sz="1300">
              <a:latin typeface="Arial MT"/>
              <a:cs typeface="Arial MT"/>
            </a:endParaRPr>
          </a:p>
        </p:txBody>
      </p:sp>
      <p:sp>
        <p:nvSpPr>
          <p:cNvPr id="10" name="object 10"/>
          <p:cNvSpPr txBox="1"/>
          <p:nvPr/>
        </p:nvSpPr>
        <p:spPr>
          <a:xfrm>
            <a:off x="8242681" y="3912438"/>
            <a:ext cx="253365" cy="253365"/>
          </a:xfrm>
          <a:prstGeom prst="rect">
            <a:avLst/>
          </a:prstGeom>
          <a:ln w="10535">
            <a:solidFill>
              <a:srgbClr val="000000"/>
            </a:solidFill>
          </a:ln>
        </p:spPr>
        <p:txBody>
          <a:bodyPr vert="horz" wrap="square" lIns="0" tIns="13970" rIns="0" bIns="0" rtlCol="0">
            <a:spAutoFit/>
          </a:bodyPr>
          <a:lstStyle/>
          <a:p>
            <a:pPr marL="26670">
              <a:lnSpc>
                <a:spcPct val="100000"/>
              </a:lnSpc>
              <a:spcBef>
                <a:spcPts val="110"/>
              </a:spcBef>
            </a:pPr>
            <a:r>
              <a:rPr sz="1300" spc="15" dirty="0">
                <a:latin typeface="Arial MT"/>
                <a:cs typeface="Arial MT"/>
              </a:rPr>
              <a:t>12</a:t>
            </a:r>
            <a:endParaRPr sz="1300">
              <a:latin typeface="Arial MT"/>
              <a:cs typeface="Arial MT"/>
            </a:endParaRPr>
          </a:p>
        </p:txBody>
      </p:sp>
      <p:sp>
        <p:nvSpPr>
          <p:cNvPr id="11" name="object 11"/>
          <p:cNvSpPr txBox="1"/>
          <p:nvPr/>
        </p:nvSpPr>
        <p:spPr>
          <a:xfrm>
            <a:off x="8674024" y="3912438"/>
            <a:ext cx="253365" cy="253365"/>
          </a:xfrm>
          <a:prstGeom prst="rect">
            <a:avLst/>
          </a:prstGeom>
          <a:ln w="10535">
            <a:solidFill>
              <a:srgbClr val="000000"/>
            </a:solidFill>
          </a:ln>
        </p:spPr>
        <p:txBody>
          <a:bodyPr vert="horz" wrap="square" lIns="0" tIns="13970" rIns="0" bIns="0" rtlCol="0">
            <a:spAutoFit/>
          </a:bodyPr>
          <a:lstStyle/>
          <a:p>
            <a:pPr marL="38100">
              <a:lnSpc>
                <a:spcPct val="100000"/>
              </a:lnSpc>
              <a:spcBef>
                <a:spcPts val="110"/>
              </a:spcBef>
            </a:pPr>
            <a:r>
              <a:rPr sz="1300" spc="15" dirty="0">
                <a:latin typeface="Arial MT"/>
                <a:cs typeface="Arial MT"/>
              </a:rPr>
              <a:t>13</a:t>
            </a:r>
            <a:endParaRPr sz="1300">
              <a:latin typeface="Arial MT"/>
              <a:cs typeface="Arial MT"/>
            </a:endParaRPr>
          </a:p>
        </p:txBody>
      </p:sp>
      <p:sp>
        <p:nvSpPr>
          <p:cNvPr id="12" name="object 12"/>
          <p:cNvSpPr txBox="1"/>
          <p:nvPr/>
        </p:nvSpPr>
        <p:spPr>
          <a:xfrm>
            <a:off x="9105366" y="3912438"/>
            <a:ext cx="253365" cy="253365"/>
          </a:xfrm>
          <a:prstGeom prst="rect">
            <a:avLst/>
          </a:prstGeom>
          <a:ln w="10535">
            <a:solidFill>
              <a:srgbClr val="000000"/>
            </a:solidFill>
          </a:ln>
        </p:spPr>
        <p:txBody>
          <a:bodyPr vert="horz" wrap="square" lIns="0" tIns="13970" rIns="0" bIns="0" rtlCol="0">
            <a:spAutoFit/>
          </a:bodyPr>
          <a:lstStyle/>
          <a:p>
            <a:pPr marL="27940">
              <a:lnSpc>
                <a:spcPct val="100000"/>
              </a:lnSpc>
              <a:spcBef>
                <a:spcPts val="110"/>
              </a:spcBef>
            </a:pPr>
            <a:r>
              <a:rPr sz="1300" spc="15" dirty="0">
                <a:latin typeface="Arial MT"/>
                <a:cs typeface="Arial MT"/>
              </a:rPr>
              <a:t>14</a:t>
            </a:r>
            <a:endParaRPr sz="1300">
              <a:latin typeface="Arial MT"/>
              <a:cs typeface="Arial MT"/>
            </a:endParaRPr>
          </a:p>
        </p:txBody>
      </p:sp>
      <p:sp>
        <p:nvSpPr>
          <p:cNvPr id="13" name="object 13"/>
          <p:cNvSpPr txBox="1"/>
          <p:nvPr/>
        </p:nvSpPr>
        <p:spPr>
          <a:xfrm>
            <a:off x="3599059" y="3910268"/>
            <a:ext cx="138430" cy="216085"/>
          </a:xfrm>
          <a:prstGeom prst="rect">
            <a:avLst/>
          </a:prstGeom>
        </p:spPr>
        <p:txBody>
          <a:bodyPr vert="horz" wrap="square" lIns="0" tIns="15875" rIns="0" bIns="0" rtlCol="0">
            <a:spAutoFit/>
          </a:bodyPr>
          <a:lstStyle/>
          <a:p>
            <a:pPr marL="12700">
              <a:lnSpc>
                <a:spcPct val="100000"/>
              </a:lnSpc>
              <a:spcBef>
                <a:spcPts val="125"/>
              </a:spcBef>
            </a:pPr>
            <a:r>
              <a:rPr sz="1300" spc="15" dirty="0">
                <a:highlight>
                  <a:srgbClr val="00FFFF"/>
                </a:highlight>
                <a:latin typeface="Arial MT"/>
                <a:cs typeface="Arial MT"/>
              </a:rPr>
              <a:t>E</a:t>
            </a:r>
            <a:endParaRPr sz="1300" dirty="0">
              <a:highlight>
                <a:srgbClr val="00FFFF"/>
              </a:highlight>
              <a:latin typeface="Arial MT"/>
              <a:cs typeface="Arial MT"/>
            </a:endParaRPr>
          </a:p>
        </p:txBody>
      </p:sp>
      <p:sp>
        <p:nvSpPr>
          <p:cNvPr id="14" name="object 14"/>
          <p:cNvSpPr txBox="1"/>
          <p:nvPr/>
        </p:nvSpPr>
        <p:spPr>
          <a:xfrm>
            <a:off x="2830868" y="2679725"/>
            <a:ext cx="253365" cy="253365"/>
          </a:xfrm>
          <a:prstGeom prst="rect">
            <a:avLst/>
          </a:prstGeom>
          <a:ln w="10535">
            <a:solidFill>
              <a:srgbClr val="000000"/>
            </a:solidFill>
          </a:ln>
        </p:spPr>
        <p:txBody>
          <a:bodyPr vert="horz" wrap="square" lIns="0" tIns="17145" rIns="0" bIns="0" rtlCol="0">
            <a:spAutoFit/>
          </a:bodyPr>
          <a:lstStyle/>
          <a:p>
            <a:pPr marL="66675">
              <a:lnSpc>
                <a:spcPct val="100000"/>
              </a:lnSpc>
              <a:spcBef>
                <a:spcPts val="135"/>
              </a:spcBef>
            </a:pPr>
            <a:r>
              <a:rPr sz="1300" spc="15" dirty="0">
                <a:latin typeface="Arial MT"/>
                <a:cs typeface="Arial MT"/>
              </a:rPr>
              <a:t>2</a:t>
            </a:r>
            <a:endParaRPr sz="1300">
              <a:latin typeface="Arial MT"/>
              <a:cs typeface="Arial MT"/>
            </a:endParaRPr>
          </a:p>
        </p:txBody>
      </p:sp>
      <p:sp>
        <p:nvSpPr>
          <p:cNvPr id="15" name="object 15"/>
          <p:cNvSpPr txBox="1"/>
          <p:nvPr/>
        </p:nvSpPr>
        <p:spPr>
          <a:xfrm>
            <a:off x="3262210" y="2679725"/>
            <a:ext cx="253365" cy="253365"/>
          </a:xfrm>
          <a:prstGeom prst="rect">
            <a:avLst/>
          </a:prstGeom>
          <a:ln w="10535">
            <a:solidFill>
              <a:srgbClr val="000000"/>
            </a:solidFill>
          </a:ln>
        </p:spPr>
        <p:txBody>
          <a:bodyPr vert="horz" wrap="square" lIns="0" tIns="17145" rIns="0" bIns="0" rtlCol="0">
            <a:spAutoFit/>
          </a:bodyPr>
          <a:lstStyle/>
          <a:p>
            <a:pPr marL="74295">
              <a:lnSpc>
                <a:spcPct val="100000"/>
              </a:lnSpc>
              <a:spcBef>
                <a:spcPts val="135"/>
              </a:spcBef>
            </a:pPr>
            <a:r>
              <a:rPr sz="1300" spc="15" dirty="0">
                <a:latin typeface="Arial MT"/>
                <a:cs typeface="Arial MT"/>
              </a:rPr>
              <a:t>3</a:t>
            </a:r>
            <a:endParaRPr sz="1300">
              <a:latin typeface="Arial MT"/>
              <a:cs typeface="Arial MT"/>
            </a:endParaRPr>
          </a:p>
        </p:txBody>
      </p:sp>
      <p:sp>
        <p:nvSpPr>
          <p:cNvPr id="16" name="object 16"/>
          <p:cNvSpPr txBox="1"/>
          <p:nvPr/>
        </p:nvSpPr>
        <p:spPr>
          <a:xfrm>
            <a:off x="3693553" y="2679725"/>
            <a:ext cx="253365" cy="253365"/>
          </a:xfrm>
          <a:prstGeom prst="rect">
            <a:avLst/>
          </a:prstGeom>
          <a:ln w="10535">
            <a:solidFill>
              <a:srgbClr val="000000"/>
            </a:solidFill>
          </a:ln>
        </p:spPr>
        <p:txBody>
          <a:bodyPr vert="horz" wrap="square" lIns="0" tIns="17145" rIns="0" bIns="0" rtlCol="0">
            <a:spAutoFit/>
          </a:bodyPr>
          <a:lstStyle/>
          <a:p>
            <a:pPr marL="74930">
              <a:lnSpc>
                <a:spcPct val="100000"/>
              </a:lnSpc>
              <a:spcBef>
                <a:spcPts val="135"/>
              </a:spcBef>
            </a:pPr>
            <a:r>
              <a:rPr sz="1300" spc="15" dirty="0">
                <a:latin typeface="Arial MT"/>
                <a:cs typeface="Arial MT"/>
              </a:rPr>
              <a:t>4</a:t>
            </a:r>
            <a:endParaRPr sz="1300">
              <a:latin typeface="Arial MT"/>
              <a:cs typeface="Arial MT"/>
            </a:endParaRPr>
          </a:p>
        </p:txBody>
      </p:sp>
      <p:sp>
        <p:nvSpPr>
          <p:cNvPr id="17" name="object 17"/>
          <p:cNvSpPr txBox="1"/>
          <p:nvPr/>
        </p:nvSpPr>
        <p:spPr>
          <a:xfrm>
            <a:off x="4124896" y="2679725"/>
            <a:ext cx="253365" cy="253365"/>
          </a:xfrm>
          <a:prstGeom prst="rect">
            <a:avLst/>
          </a:prstGeom>
          <a:ln w="10535">
            <a:solidFill>
              <a:srgbClr val="000000"/>
            </a:solidFill>
          </a:ln>
        </p:spPr>
        <p:txBody>
          <a:bodyPr vert="horz" wrap="square" lIns="0" tIns="17145" rIns="0" bIns="0" rtlCol="0">
            <a:spAutoFit/>
          </a:bodyPr>
          <a:lstStyle/>
          <a:p>
            <a:pPr marL="75565">
              <a:lnSpc>
                <a:spcPct val="100000"/>
              </a:lnSpc>
              <a:spcBef>
                <a:spcPts val="135"/>
              </a:spcBef>
            </a:pPr>
            <a:r>
              <a:rPr sz="1300" spc="15" dirty="0">
                <a:latin typeface="Arial MT"/>
                <a:cs typeface="Arial MT"/>
              </a:rPr>
              <a:t>5</a:t>
            </a:r>
            <a:endParaRPr sz="1300">
              <a:latin typeface="Arial MT"/>
              <a:cs typeface="Arial MT"/>
            </a:endParaRPr>
          </a:p>
        </p:txBody>
      </p:sp>
      <p:sp>
        <p:nvSpPr>
          <p:cNvPr id="18" name="object 18"/>
          <p:cNvSpPr txBox="1"/>
          <p:nvPr/>
        </p:nvSpPr>
        <p:spPr>
          <a:xfrm>
            <a:off x="4556252" y="2679725"/>
            <a:ext cx="253365" cy="253365"/>
          </a:xfrm>
          <a:prstGeom prst="rect">
            <a:avLst/>
          </a:prstGeom>
          <a:ln w="10535">
            <a:solidFill>
              <a:srgbClr val="000000"/>
            </a:solidFill>
          </a:ln>
        </p:spPr>
        <p:txBody>
          <a:bodyPr vert="horz" wrap="square" lIns="0" tIns="17145" rIns="0" bIns="0" rtlCol="0">
            <a:spAutoFit/>
          </a:bodyPr>
          <a:lstStyle/>
          <a:p>
            <a:pPr marL="76200">
              <a:lnSpc>
                <a:spcPct val="100000"/>
              </a:lnSpc>
              <a:spcBef>
                <a:spcPts val="135"/>
              </a:spcBef>
            </a:pPr>
            <a:r>
              <a:rPr sz="1300" spc="15" dirty="0">
                <a:latin typeface="Arial MT"/>
                <a:cs typeface="Arial MT"/>
              </a:rPr>
              <a:t>2</a:t>
            </a:r>
            <a:endParaRPr sz="1300">
              <a:latin typeface="Arial MT"/>
              <a:cs typeface="Arial MT"/>
            </a:endParaRPr>
          </a:p>
        </p:txBody>
      </p:sp>
      <p:sp>
        <p:nvSpPr>
          <p:cNvPr id="19" name="object 19"/>
          <p:cNvSpPr txBox="1"/>
          <p:nvPr/>
        </p:nvSpPr>
        <p:spPr>
          <a:xfrm>
            <a:off x="4987594" y="2679725"/>
            <a:ext cx="253365" cy="253365"/>
          </a:xfrm>
          <a:prstGeom prst="rect">
            <a:avLst/>
          </a:prstGeom>
          <a:ln w="10535">
            <a:solidFill>
              <a:srgbClr val="000000"/>
            </a:solidFill>
          </a:ln>
        </p:spPr>
        <p:txBody>
          <a:bodyPr vert="horz" wrap="square" lIns="0" tIns="17145" rIns="0" bIns="0" rtlCol="0">
            <a:spAutoFit/>
          </a:bodyPr>
          <a:lstStyle/>
          <a:p>
            <a:pPr marL="69850">
              <a:lnSpc>
                <a:spcPct val="100000"/>
              </a:lnSpc>
              <a:spcBef>
                <a:spcPts val="135"/>
              </a:spcBef>
            </a:pPr>
            <a:r>
              <a:rPr sz="1300" spc="15" dirty="0">
                <a:latin typeface="Arial MT"/>
                <a:cs typeface="Arial MT"/>
              </a:rPr>
              <a:t>6</a:t>
            </a:r>
            <a:endParaRPr sz="1300">
              <a:latin typeface="Arial MT"/>
              <a:cs typeface="Arial MT"/>
            </a:endParaRPr>
          </a:p>
        </p:txBody>
      </p:sp>
      <p:sp>
        <p:nvSpPr>
          <p:cNvPr id="20" name="object 20"/>
          <p:cNvSpPr txBox="1"/>
          <p:nvPr/>
        </p:nvSpPr>
        <p:spPr>
          <a:xfrm>
            <a:off x="5418950" y="2679725"/>
            <a:ext cx="253365" cy="253365"/>
          </a:xfrm>
          <a:prstGeom prst="rect">
            <a:avLst/>
          </a:prstGeom>
          <a:ln w="10535">
            <a:solidFill>
              <a:srgbClr val="000000"/>
            </a:solidFill>
          </a:ln>
        </p:spPr>
        <p:txBody>
          <a:bodyPr vert="horz" wrap="square" lIns="0" tIns="17145" rIns="0" bIns="0" rtlCol="0">
            <a:spAutoFit/>
          </a:bodyPr>
          <a:lstStyle/>
          <a:p>
            <a:pPr marL="73660">
              <a:lnSpc>
                <a:spcPct val="100000"/>
              </a:lnSpc>
              <a:spcBef>
                <a:spcPts val="135"/>
              </a:spcBef>
            </a:pPr>
            <a:r>
              <a:rPr sz="1300" spc="15" dirty="0">
                <a:latin typeface="Arial MT"/>
                <a:cs typeface="Arial MT"/>
              </a:rPr>
              <a:t>7</a:t>
            </a:r>
            <a:endParaRPr sz="1300">
              <a:latin typeface="Arial MT"/>
              <a:cs typeface="Arial MT"/>
            </a:endParaRPr>
          </a:p>
        </p:txBody>
      </p:sp>
      <p:sp>
        <p:nvSpPr>
          <p:cNvPr id="21" name="object 21"/>
          <p:cNvSpPr txBox="1"/>
          <p:nvPr/>
        </p:nvSpPr>
        <p:spPr>
          <a:xfrm>
            <a:off x="5850394" y="2679725"/>
            <a:ext cx="253365" cy="253365"/>
          </a:xfrm>
          <a:prstGeom prst="rect">
            <a:avLst/>
          </a:prstGeom>
          <a:ln w="10535">
            <a:solidFill>
              <a:srgbClr val="000000"/>
            </a:solidFill>
          </a:ln>
        </p:spPr>
        <p:txBody>
          <a:bodyPr vert="horz" wrap="square" lIns="0" tIns="17145" rIns="0" bIns="0" rtlCol="0">
            <a:spAutoFit/>
          </a:bodyPr>
          <a:lstStyle/>
          <a:p>
            <a:pPr marL="60325">
              <a:lnSpc>
                <a:spcPct val="100000"/>
              </a:lnSpc>
              <a:spcBef>
                <a:spcPts val="135"/>
              </a:spcBef>
            </a:pPr>
            <a:r>
              <a:rPr sz="1300" spc="15" dirty="0">
                <a:latin typeface="Arial MT"/>
                <a:cs typeface="Arial MT"/>
              </a:rPr>
              <a:t>8</a:t>
            </a:r>
            <a:endParaRPr sz="1300">
              <a:latin typeface="Arial MT"/>
              <a:cs typeface="Arial MT"/>
            </a:endParaRPr>
          </a:p>
        </p:txBody>
      </p:sp>
      <p:sp>
        <p:nvSpPr>
          <p:cNvPr id="22" name="object 22"/>
          <p:cNvSpPr txBox="1"/>
          <p:nvPr/>
        </p:nvSpPr>
        <p:spPr>
          <a:xfrm>
            <a:off x="6281737" y="2679725"/>
            <a:ext cx="253365" cy="253365"/>
          </a:xfrm>
          <a:prstGeom prst="rect">
            <a:avLst/>
          </a:prstGeom>
          <a:ln w="10535">
            <a:solidFill>
              <a:srgbClr val="000000"/>
            </a:solidFill>
          </a:ln>
        </p:spPr>
        <p:txBody>
          <a:bodyPr vert="horz" wrap="square" lIns="0" tIns="17145" rIns="0" bIns="0" rtlCol="0">
            <a:spAutoFit/>
          </a:bodyPr>
          <a:lstStyle/>
          <a:p>
            <a:pPr marL="67945">
              <a:lnSpc>
                <a:spcPct val="100000"/>
              </a:lnSpc>
              <a:spcBef>
                <a:spcPts val="135"/>
              </a:spcBef>
            </a:pPr>
            <a:r>
              <a:rPr sz="1300" spc="15" dirty="0">
                <a:latin typeface="Arial MT"/>
                <a:cs typeface="Arial MT"/>
              </a:rPr>
              <a:t>9</a:t>
            </a:r>
            <a:endParaRPr sz="1300">
              <a:latin typeface="Arial MT"/>
              <a:cs typeface="Arial MT"/>
            </a:endParaRPr>
          </a:p>
        </p:txBody>
      </p:sp>
      <p:sp>
        <p:nvSpPr>
          <p:cNvPr id="23" name="object 23"/>
          <p:cNvSpPr txBox="1"/>
          <p:nvPr/>
        </p:nvSpPr>
        <p:spPr>
          <a:xfrm>
            <a:off x="6713105" y="2679725"/>
            <a:ext cx="253365" cy="253365"/>
          </a:xfrm>
          <a:prstGeom prst="rect">
            <a:avLst/>
          </a:prstGeom>
          <a:ln w="10535">
            <a:solidFill>
              <a:srgbClr val="000000"/>
            </a:solidFill>
          </a:ln>
        </p:spPr>
        <p:txBody>
          <a:bodyPr vert="horz" wrap="square" lIns="0" tIns="17145" rIns="0" bIns="0" rtlCol="0">
            <a:spAutoFit/>
          </a:bodyPr>
          <a:lstStyle/>
          <a:p>
            <a:pPr marL="28575">
              <a:lnSpc>
                <a:spcPct val="100000"/>
              </a:lnSpc>
              <a:spcBef>
                <a:spcPts val="135"/>
              </a:spcBef>
            </a:pPr>
            <a:r>
              <a:rPr sz="1300" spc="15" dirty="0">
                <a:latin typeface="Arial MT"/>
                <a:cs typeface="Arial MT"/>
              </a:rPr>
              <a:t>10</a:t>
            </a:r>
            <a:endParaRPr sz="1300">
              <a:latin typeface="Arial MT"/>
              <a:cs typeface="Arial MT"/>
            </a:endParaRPr>
          </a:p>
        </p:txBody>
      </p:sp>
      <p:sp>
        <p:nvSpPr>
          <p:cNvPr id="24" name="object 24"/>
          <p:cNvSpPr txBox="1"/>
          <p:nvPr/>
        </p:nvSpPr>
        <p:spPr>
          <a:xfrm>
            <a:off x="7144436" y="2679725"/>
            <a:ext cx="253365" cy="253365"/>
          </a:xfrm>
          <a:prstGeom prst="rect">
            <a:avLst/>
          </a:prstGeom>
          <a:ln w="10535">
            <a:solidFill>
              <a:srgbClr val="000000"/>
            </a:solidFill>
          </a:ln>
        </p:spPr>
        <p:txBody>
          <a:bodyPr vert="horz" wrap="square" lIns="0" tIns="17145" rIns="0" bIns="0" rtlCol="0">
            <a:spAutoFit/>
          </a:bodyPr>
          <a:lstStyle/>
          <a:p>
            <a:pPr marL="29209">
              <a:lnSpc>
                <a:spcPct val="100000"/>
              </a:lnSpc>
              <a:spcBef>
                <a:spcPts val="135"/>
              </a:spcBef>
            </a:pPr>
            <a:r>
              <a:rPr sz="1300" spc="15" dirty="0">
                <a:latin typeface="Arial MT"/>
                <a:cs typeface="Arial MT"/>
              </a:rPr>
              <a:t>11</a:t>
            </a:r>
            <a:endParaRPr sz="1300">
              <a:latin typeface="Arial MT"/>
              <a:cs typeface="Arial MT"/>
            </a:endParaRPr>
          </a:p>
        </p:txBody>
      </p:sp>
      <p:sp>
        <p:nvSpPr>
          <p:cNvPr id="25" name="object 25"/>
          <p:cNvSpPr txBox="1"/>
          <p:nvPr/>
        </p:nvSpPr>
        <p:spPr>
          <a:xfrm>
            <a:off x="7575778" y="2679725"/>
            <a:ext cx="253365" cy="253365"/>
          </a:xfrm>
          <a:prstGeom prst="rect">
            <a:avLst/>
          </a:prstGeom>
          <a:ln w="10535">
            <a:solidFill>
              <a:srgbClr val="000000"/>
            </a:solidFill>
          </a:ln>
        </p:spPr>
        <p:txBody>
          <a:bodyPr vert="horz" wrap="square" lIns="0" tIns="17145" rIns="0" bIns="0" rtlCol="0">
            <a:spAutoFit/>
          </a:bodyPr>
          <a:lstStyle/>
          <a:p>
            <a:pPr marL="29845">
              <a:lnSpc>
                <a:spcPct val="100000"/>
              </a:lnSpc>
              <a:spcBef>
                <a:spcPts val="135"/>
              </a:spcBef>
            </a:pPr>
            <a:r>
              <a:rPr sz="1300" spc="15" dirty="0">
                <a:latin typeface="Arial MT"/>
                <a:cs typeface="Arial MT"/>
              </a:rPr>
              <a:t>12</a:t>
            </a:r>
            <a:endParaRPr sz="1300">
              <a:latin typeface="Arial MT"/>
              <a:cs typeface="Arial MT"/>
            </a:endParaRPr>
          </a:p>
        </p:txBody>
      </p:sp>
      <p:sp>
        <p:nvSpPr>
          <p:cNvPr id="26" name="object 26"/>
          <p:cNvSpPr txBox="1"/>
          <p:nvPr/>
        </p:nvSpPr>
        <p:spPr>
          <a:xfrm>
            <a:off x="8007121" y="2679725"/>
            <a:ext cx="253365" cy="253365"/>
          </a:xfrm>
          <a:prstGeom prst="rect">
            <a:avLst/>
          </a:prstGeom>
          <a:ln w="10535">
            <a:solidFill>
              <a:srgbClr val="000000"/>
            </a:solidFill>
          </a:ln>
        </p:spPr>
        <p:txBody>
          <a:bodyPr vert="horz" wrap="square" lIns="0" tIns="17145" rIns="0" bIns="0" rtlCol="0">
            <a:spAutoFit/>
          </a:bodyPr>
          <a:lstStyle/>
          <a:p>
            <a:pPr marL="30480">
              <a:lnSpc>
                <a:spcPct val="100000"/>
              </a:lnSpc>
              <a:spcBef>
                <a:spcPts val="135"/>
              </a:spcBef>
            </a:pPr>
            <a:r>
              <a:rPr sz="1300" spc="15" dirty="0">
                <a:latin typeface="Arial MT"/>
                <a:cs typeface="Arial MT"/>
              </a:rPr>
              <a:t>13</a:t>
            </a:r>
            <a:endParaRPr sz="1300">
              <a:latin typeface="Arial MT"/>
              <a:cs typeface="Arial MT"/>
            </a:endParaRPr>
          </a:p>
        </p:txBody>
      </p:sp>
      <p:sp>
        <p:nvSpPr>
          <p:cNvPr id="27" name="object 27"/>
          <p:cNvSpPr txBox="1"/>
          <p:nvPr/>
        </p:nvSpPr>
        <p:spPr>
          <a:xfrm>
            <a:off x="8438489" y="2679725"/>
            <a:ext cx="253365" cy="253365"/>
          </a:xfrm>
          <a:prstGeom prst="rect">
            <a:avLst/>
          </a:prstGeom>
          <a:ln w="10535">
            <a:solidFill>
              <a:srgbClr val="000000"/>
            </a:solidFill>
          </a:ln>
        </p:spPr>
        <p:txBody>
          <a:bodyPr vert="horz" wrap="square" lIns="0" tIns="17145" rIns="0" bIns="0" rtlCol="0">
            <a:spAutoFit/>
          </a:bodyPr>
          <a:lstStyle/>
          <a:p>
            <a:pPr marL="24130">
              <a:lnSpc>
                <a:spcPct val="100000"/>
              </a:lnSpc>
              <a:spcBef>
                <a:spcPts val="135"/>
              </a:spcBef>
            </a:pPr>
            <a:r>
              <a:rPr sz="1300" spc="15" dirty="0">
                <a:latin typeface="Arial MT"/>
                <a:cs typeface="Arial MT"/>
              </a:rPr>
              <a:t>14</a:t>
            </a:r>
            <a:endParaRPr sz="1300">
              <a:latin typeface="Arial MT"/>
              <a:cs typeface="Arial MT"/>
            </a:endParaRPr>
          </a:p>
        </p:txBody>
      </p:sp>
      <p:sp>
        <p:nvSpPr>
          <p:cNvPr id="28" name="object 28"/>
          <p:cNvSpPr txBox="1"/>
          <p:nvPr/>
        </p:nvSpPr>
        <p:spPr>
          <a:xfrm>
            <a:off x="8869819" y="2679725"/>
            <a:ext cx="253365" cy="253365"/>
          </a:xfrm>
          <a:prstGeom prst="rect">
            <a:avLst/>
          </a:prstGeom>
          <a:ln w="10535">
            <a:solidFill>
              <a:srgbClr val="000000"/>
            </a:solidFill>
          </a:ln>
        </p:spPr>
        <p:txBody>
          <a:bodyPr vert="horz" wrap="square" lIns="0" tIns="17145" rIns="0" bIns="0" rtlCol="0">
            <a:spAutoFit/>
          </a:bodyPr>
          <a:lstStyle/>
          <a:p>
            <a:pPr marL="27940">
              <a:lnSpc>
                <a:spcPct val="100000"/>
              </a:lnSpc>
              <a:spcBef>
                <a:spcPts val="135"/>
              </a:spcBef>
            </a:pPr>
            <a:r>
              <a:rPr sz="1300" spc="15" dirty="0">
                <a:latin typeface="Arial MT"/>
                <a:cs typeface="Arial MT"/>
              </a:rPr>
              <a:t>15</a:t>
            </a:r>
            <a:endParaRPr sz="1300">
              <a:latin typeface="Arial MT"/>
              <a:cs typeface="Arial MT"/>
            </a:endParaRPr>
          </a:p>
        </p:txBody>
      </p:sp>
      <p:sp>
        <p:nvSpPr>
          <p:cNvPr id="29" name="object 29"/>
          <p:cNvSpPr txBox="1"/>
          <p:nvPr/>
        </p:nvSpPr>
        <p:spPr>
          <a:xfrm>
            <a:off x="6517297" y="3912438"/>
            <a:ext cx="253365" cy="253365"/>
          </a:xfrm>
          <a:prstGeom prst="rect">
            <a:avLst/>
          </a:prstGeom>
          <a:ln w="10535">
            <a:solidFill>
              <a:srgbClr val="000000"/>
            </a:solidFill>
          </a:ln>
        </p:spPr>
        <p:txBody>
          <a:bodyPr vert="horz" wrap="square" lIns="0" tIns="13970" rIns="0" bIns="0" rtlCol="0">
            <a:spAutoFit/>
          </a:bodyPr>
          <a:lstStyle/>
          <a:p>
            <a:pPr marL="81915">
              <a:lnSpc>
                <a:spcPct val="100000"/>
              </a:lnSpc>
              <a:spcBef>
                <a:spcPts val="110"/>
              </a:spcBef>
            </a:pPr>
            <a:r>
              <a:rPr sz="1300" spc="15" dirty="0">
                <a:latin typeface="Arial MT"/>
                <a:cs typeface="Arial MT"/>
              </a:rPr>
              <a:t>8</a:t>
            </a:r>
            <a:endParaRPr sz="1300">
              <a:latin typeface="Arial MT"/>
              <a:cs typeface="Arial MT"/>
            </a:endParaRPr>
          </a:p>
        </p:txBody>
      </p:sp>
      <p:grpSp>
        <p:nvGrpSpPr>
          <p:cNvPr id="30" name="object 30"/>
          <p:cNvGrpSpPr/>
          <p:nvPr/>
        </p:nvGrpSpPr>
        <p:grpSpPr>
          <a:xfrm>
            <a:off x="3402078" y="4140746"/>
            <a:ext cx="234315" cy="267335"/>
            <a:chOff x="3402078" y="4140746"/>
            <a:chExt cx="234315" cy="267335"/>
          </a:xfrm>
        </p:grpSpPr>
        <p:sp>
          <p:nvSpPr>
            <p:cNvPr id="31" name="object 31"/>
            <p:cNvSpPr/>
            <p:nvPr/>
          </p:nvSpPr>
          <p:spPr>
            <a:xfrm>
              <a:off x="3407346" y="4177017"/>
              <a:ext cx="196850" cy="226060"/>
            </a:xfrm>
            <a:custGeom>
              <a:avLst/>
              <a:gdLst/>
              <a:ahLst/>
              <a:cxnLst/>
              <a:rect l="l" t="t" r="r" b="b"/>
              <a:pathLst>
                <a:path w="196850" h="226060">
                  <a:moveTo>
                    <a:pt x="196316" y="0"/>
                  </a:moveTo>
                  <a:lnTo>
                    <a:pt x="0" y="225526"/>
                  </a:lnTo>
                </a:path>
              </a:pathLst>
            </a:custGeom>
            <a:ln w="10535">
              <a:solidFill>
                <a:srgbClr val="000000"/>
              </a:solidFill>
            </a:ln>
          </p:spPr>
          <p:txBody>
            <a:bodyPr wrap="square" lIns="0" tIns="0" rIns="0" bIns="0" rtlCol="0"/>
            <a:lstStyle/>
            <a:p>
              <a:endParaRPr/>
            </a:p>
          </p:txBody>
        </p:sp>
        <p:sp>
          <p:nvSpPr>
            <p:cNvPr id="32" name="object 32"/>
            <p:cNvSpPr/>
            <p:nvPr/>
          </p:nvSpPr>
          <p:spPr>
            <a:xfrm>
              <a:off x="3542462" y="4140746"/>
              <a:ext cx="93980" cy="100965"/>
            </a:xfrm>
            <a:custGeom>
              <a:avLst/>
              <a:gdLst/>
              <a:ahLst/>
              <a:cxnLst/>
              <a:rect l="l" t="t" r="r" b="b"/>
              <a:pathLst>
                <a:path w="93979" h="100964">
                  <a:moveTo>
                    <a:pt x="93903" y="0"/>
                  </a:moveTo>
                  <a:lnTo>
                    <a:pt x="0" y="61937"/>
                  </a:lnTo>
                  <a:lnTo>
                    <a:pt x="43573" y="100545"/>
                  </a:lnTo>
                  <a:lnTo>
                    <a:pt x="93903" y="0"/>
                  </a:lnTo>
                  <a:close/>
                </a:path>
              </a:pathLst>
            </a:custGeom>
            <a:solidFill>
              <a:srgbClr val="000000"/>
            </a:solidFill>
          </p:spPr>
          <p:txBody>
            <a:bodyPr wrap="square" lIns="0" tIns="0" rIns="0" bIns="0" rtlCol="0"/>
            <a:lstStyle/>
            <a:p>
              <a:endParaRPr/>
            </a:p>
          </p:txBody>
        </p:sp>
        <p:sp>
          <p:nvSpPr>
            <p:cNvPr id="33" name="object 33"/>
            <p:cNvSpPr/>
            <p:nvPr/>
          </p:nvSpPr>
          <p:spPr>
            <a:xfrm>
              <a:off x="3568687" y="4173562"/>
              <a:ext cx="38735" cy="43815"/>
            </a:xfrm>
            <a:custGeom>
              <a:avLst/>
              <a:gdLst/>
              <a:ahLst/>
              <a:cxnLst/>
              <a:rect l="l" t="t" r="r" b="b"/>
              <a:pathLst>
                <a:path w="38735" h="43814">
                  <a:moveTo>
                    <a:pt x="0" y="43561"/>
                  </a:moveTo>
                  <a:lnTo>
                    <a:pt x="38595" y="0"/>
                  </a:lnTo>
                </a:path>
              </a:pathLst>
            </a:custGeom>
            <a:ln w="10535">
              <a:solidFill>
                <a:srgbClr val="000000"/>
              </a:solidFill>
            </a:ln>
          </p:spPr>
          <p:txBody>
            <a:bodyPr wrap="square" lIns="0" tIns="0" rIns="0" bIns="0" rtlCol="0"/>
            <a:lstStyle/>
            <a:p>
              <a:endParaRPr/>
            </a:p>
          </p:txBody>
        </p:sp>
      </p:grpSp>
      <p:grpSp>
        <p:nvGrpSpPr>
          <p:cNvPr id="34" name="object 34"/>
          <p:cNvGrpSpPr/>
          <p:nvPr/>
        </p:nvGrpSpPr>
        <p:grpSpPr>
          <a:xfrm>
            <a:off x="2088743" y="2927350"/>
            <a:ext cx="7313930" cy="998855"/>
            <a:chOff x="2088743" y="2927350"/>
            <a:chExt cx="7313930" cy="998855"/>
          </a:xfrm>
        </p:grpSpPr>
        <p:sp>
          <p:nvSpPr>
            <p:cNvPr id="35" name="object 35"/>
            <p:cNvSpPr/>
            <p:nvPr/>
          </p:nvSpPr>
          <p:spPr>
            <a:xfrm>
              <a:off x="2097316" y="2935960"/>
              <a:ext cx="636270" cy="932180"/>
            </a:xfrm>
            <a:custGeom>
              <a:avLst/>
              <a:gdLst/>
              <a:ahLst/>
              <a:cxnLst/>
              <a:rect l="l" t="t" r="r" b="b"/>
              <a:pathLst>
                <a:path w="636269" h="932179">
                  <a:moveTo>
                    <a:pt x="635698" y="931595"/>
                  </a:moveTo>
                  <a:lnTo>
                    <a:pt x="0" y="0"/>
                  </a:lnTo>
                </a:path>
              </a:pathLst>
            </a:custGeom>
            <a:ln w="16857">
              <a:solidFill>
                <a:srgbClr val="000000"/>
              </a:solidFill>
            </a:ln>
          </p:spPr>
          <p:txBody>
            <a:bodyPr wrap="square" lIns="0" tIns="0" rIns="0" bIns="0" rtlCol="0"/>
            <a:lstStyle/>
            <a:p>
              <a:endParaRPr/>
            </a:p>
          </p:txBody>
        </p:sp>
        <p:sp>
          <p:nvSpPr>
            <p:cNvPr id="36" name="object 36"/>
            <p:cNvSpPr/>
            <p:nvPr/>
          </p:nvSpPr>
          <p:spPr>
            <a:xfrm>
              <a:off x="2675356" y="3801783"/>
              <a:ext cx="85090" cy="106680"/>
            </a:xfrm>
            <a:custGeom>
              <a:avLst/>
              <a:gdLst/>
              <a:ahLst/>
              <a:cxnLst/>
              <a:rect l="l" t="t" r="r" b="b"/>
              <a:pathLst>
                <a:path w="85089" h="106679">
                  <a:moveTo>
                    <a:pt x="84543" y="106514"/>
                  </a:moveTo>
                  <a:lnTo>
                    <a:pt x="48374" y="0"/>
                  </a:lnTo>
                  <a:lnTo>
                    <a:pt x="0" y="32385"/>
                  </a:lnTo>
                  <a:lnTo>
                    <a:pt x="84543" y="106514"/>
                  </a:lnTo>
                  <a:close/>
                </a:path>
              </a:pathLst>
            </a:custGeom>
            <a:solidFill>
              <a:srgbClr val="000000"/>
            </a:solidFill>
          </p:spPr>
          <p:txBody>
            <a:bodyPr wrap="square" lIns="0" tIns="0" rIns="0" bIns="0" rtlCol="0"/>
            <a:lstStyle/>
            <a:p>
              <a:endParaRPr/>
            </a:p>
          </p:txBody>
        </p:sp>
        <p:sp>
          <p:nvSpPr>
            <p:cNvPr id="37" name="object 37"/>
            <p:cNvSpPr/>
            <p:nvPr/>
          </p:nvSpPr>
          <p:spPr>
            <a:xfrm>
              <a:off x="2703118" y="3823512"/>
              <a:ext cx="32384" cy="48895"/>
            </a:xfrm>
            <a:custGeom>
              <a:avLst/>
              <a:gdLst/>
              <a:ahLst/>
              <a:cxnLst/>
              <a:rect l="l" t="t" r="r" b="b"/>
              <a:pathLst>
                <a:path w="32385" h="48895">
                  <a:moveTo>
                    <a:pt x="0" y="0"/>
                  </a:moveTo>
                  <a:lnTo>
                    <a:pt x="32372" y="48336"/>
                  </a:lnTo>
                </a:path>
              </a:pathLst>
            </a:custGeom>
            <a:ln w="10535">
              <a:solidFill>
                <a:srgbClr val="000000"/>
              </a:solidFill>
            </a:ln>
          </p:spPr>
          <p:txBody>
            <a:bodyPr wrap="square" lIns="0" tIns="0" rIns="0" bIns="0" rtlCol="0"/>
            <a:lstStyle/>
            <a:p>
              <a:endParaRPr/>
            </a:p>
          </p:txBody>
        </p:sp>
        <p:sp>
          <p:nvSpPr>
            <p:cNvPr id="38" name="object 38"/>
            <p:cNvSpPr/>
            <p:nvPr/>
          </p:nvSpPr>
          <p:spPr>
            <a:xfrm>
              <a:off x="2518816" y="2935922"/>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39" name="object 39"/>
            <p:cNvSpPr/>
            <p:nvPr/>
          </p:nvSpPr>
          <p:spPr>
            <a:xfrm>
              <a:off x="3105416" y="3795737"/>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40" name="object 40"/>
            <p:cNvSpPr/>
            <p:nvPr/>
          </p:nvSpPr>
          <p:spPr>
            <a:xfrm>
              <a:off x="3133077" y="3817645"/>
              <a:ext cx="33020" cy="48260"/>
            </a:xfrm>
            <a:custGeom>
              <a:avLst/>
              <a:gdLst/>
              <a:ahLst/>
              <a:cxnLst/>
              <a:rect l="l" t="t" r="r" b="b"/>
              <a:pathLst>
                <a:path w="33019" h="48260">
                  <a:moveTo>
                    <a:pt x="0" y="0"/>
                  </a:moveTo>
                  <a:lnTo>
                    <a:pt x="32842" y="48056"/>
                  </a:lnTo>
                </a:path>
              </a:pathLst>
            </a:custGeom>
            <a:ln w="10535">
              <a:solidFill>
                <a:srgbClr val="000000"/>
              </a:solidFill>
            </a:ln>
          </p:spPr>
          <p:txBody>
            <a:bodyPr wrap="square" lIns="0" tIns="0" rIns="0" bIns="0" rtlCol="0"/>
            <a:lstStyle/>
            <a:p>
              <a:endParaRPr/>
            </a:p>
          </p:txBody>
        </p:sp>
        <p:sp>
          <p:nvSpPr>
            <p:cNvPr id="41" name="object 41"/>
            <p:cNvSpPr/>
            <p:nvPr/>
          </p:nvSpPr>
          <p:spPr>
            <a:xfrm>
              <a:off x="2760370" y="2978975"/>
              <a:ext cx="602615" cy="938530"/>
            </a:xfrm>
            <a:custGeom>
              <a:avLst/>
              <a:gdLst/>
              <a:ahLst/>
              <a:cxnLst/>
              <a:rect l="l" t="t" r="r" b="b"/>
              <a:pathLst>
                <a:path w="602614" h="938529">
                  <a:moveTo>
                    <a:pt x="602488" y="0"/>
                  </a:moveTo>
                  <a:lnTo>
                    <a:pt x="0" y="938276"/>
                  </a:lnTo>
                </a:path>
              </a:pathLst>
            </a:custGeom>
            <a:ln w="16857">
              <a:solidFill>
                <a:srgbClr val="000000"/>
              </a:solidFill>
              <a:prstDash val="lgDash"/>
            </a:ln>
          </p:spPr>
          <p:txBody>
            <a:bodyPr wrap="square" lIns="0" tIns="0" rIns="0" bIns="0" rtlCol="0"/>
            <a:lstStyle/>
            <a:p>
              <a:endParaRPr/>
            </a:p>
          </p:txBody>
        </p:sp>
        <p:sp>
          <p:nvSpPr>
            <p:cNvPr id="42" name="object 42"/>
            <p:cNvSpPr/>
            <p:nvPr/>
          </p:nvSpPr>
          <p:spPr>
            <a:xfrm>
              <a:off x="3306140" y="2937484"/>
              <a:ext cx="82550" cy="107950"/>
            </a:xfrm>
            <a:custGeom>
              <a:avLst/>
              <a:gdLst/>
              <a:ahLst/>
              <a:cxnLst/>
              <a:rect l="l" t="t" r="r" b="b"/>
              <a:pathLst>
                <a:path w="82550" h="107950">
                  <a:moveTo>
                    <a:pt x="82448" y="0"/>
                  </a:moveTo>
                  <a:lnTo>
                    <a:pt x="0" y="76441"/>
                  </a:lnTo>
                  <a:lnTo>
                    <a:pt x="49250" y="107480"/>
                  </a:lnTo>
                  <a:lnTo>
                    <a:pt x="82448" y="0"/>
                  </a:lnTo>
                  <a:close/>
                </a:path>
              </a:pathLst>
            </a:custGeom>
            <a:solidFill>
              <a:srgbClr val="000000"/>
            </a:solidFill>
          </p:spPr>
          <p:txBody>
            <a:bodyPr wrap="square" lIns="0" tIns="0" rIns="0" bIns="0" rtlCol="0"/>
            <a:lstStyle/>
            <a:p>
              <a:endParaRPr/>
            </a:p>
          </p:txBody>
        </p:sp>
        <p:sp>
          <p:nvSpPr>
            <p:cNvPr id="43" name="object 43"/>
            <p:cNvSpPr/>
            <p:nvPr/>
          </p:nvSpPr>
          <p:spPr>
            <a:xfrm>
              <a:off x="3334194" y="2974594"/>
              <a:ext cx="31115" cy="49530"/>
            </a:xfrm>
            <a:custGeom>
              <a:avLst/>
              <a:gdLst/>
              <a:ahLst/>
              <a:cxnLst/>
              <a:rect l="l" t="t" r="r" b="b"/>
              <a:pathLst>
                <a:path w="31114" h="49530">
                  <a:moveTo>
                    <a:pt x="0" y="49237"/>
                  </a:moveTo>
                  <a:lnTo>
                    <a:pt x="31013" y="0"/>
                  </a:lnTo>
                </a:path>
              </a:pathLst>
            </a:custGeom>
            <a:ln w="10535">
              <a:solidFill>
                <a:srgbClr val="000000"/>
              </a:solidFill>
            </a:ln>
          </p:spPr>
          <p:txBody>
            <a:bodyPr wrap="square" lIns="0" tIns="0" rIns="0" bIns="0" rtlCol="0"/>
            <a:lstStyle/>
            <a:p>
              <a:endParaRPr/>
            </a:p>
          </p:txBody>
        </p:sp>
        <p:sp>
          <p:nvSpPr>
            <p:cNvPr id="44" name="object 44"/>
            <p:cNvSpPr/>
            <p:nvPr/>
          </p:nvSpPr>
          <p:spPr>
            <a:xfrm>
              <a:off x="3527488" y="3795737"/>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45" name="object 45"/>
            <p:cNvSpPr/>
            <p:nvPr/>
          </p:nvSpPr>
          <p:spPr>
            <a:xfrm>
              <a:off x="3555149" y="3817645"/>
              <a:ext cx="33020" cy="48260"/>
            </a:xfrm>
            <a:custGeom>
              <a:avLst/>
              <a:gdLst/>
              <a:ahLst/>
              <a:cxnLst/>
              <a:rect l="l" t="t" r="r" b="b"/>
              <a:pathLst>
                <a:path w="33020" h="48260">
                  <a:moveTo>
                    <a:pt x="0" y="0"/>
                  </a:moveTo>
                  <a:lnTo>
                    <a:pt x="32842" y="48056"/>
                  </a:lnTo>
                </a:path>
              </a:pathLst>
            </a:custGeom>
            <a:ln w="10535">
              <a:solidFill>
                <a:srgbClr val="000000"/>
              </a:solidFill>
            </a:ln>
          </p:spPr>
          <p:txBody>
            <a:bodyPr wrap="square" lIns="0" tIns="0" rIns="0" bIns="0" rtlCol="0"/>
            <a:lstStyle/>
            <a:p>
              <a:endParaRPr/>
            </a:p>
          </p:txBody>
        </p:sp>
        <p:sp>
          <p:nvSpPr>
            <p:cNvPr id="46" name="object 46"/>
            <p:cNvSpPr/>
            <p:nvPr/>
          </p:nvSpPr>
          <p:spPr>
            <a:xfrm>
              <a:off x="2940888" y="2935922"/>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47" name="object 47"/>
            <p:cNvSpPr/>
            <p:nvPr/>
          </p:nvSpPr>
          <p:spPr>
            <a:xfrm>
              <a:off x="3527488" y="3795737"/>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48" name="object 48"/>
            <p:cNvSpPr/>
            <p:nvPr/>
          </p:nvSpPr>
          <p:spPr>
            <a:xfrm>
              <a:off x="3555149" y="3817645"/>
              <a:ext cx="33020" cy="48260"/>
            </a:xfrm>
            <a:custGeom>
              <a:avLst/>
              <a:gdLst/>
              <a:ahLst/>
              <a:cxnLst/>
              <a:rect l="l" t="t" r="r" b="b"/>
              <a:pathLst>
                <a:path w="33020" h="48260">
                  <a:moveTo>
                    <a:pt x="0" y="0"/>
                  </a:moveTo>
                  <a:lnTo>
                    <a:pt x="32842" y="48056"/>
                  </a:lnTo>
                </a:path>
              </a:pathLst>
            </a:custGeom>
            <a:ln w="10535">
              <a:solidFill>
                <a:srgbClr val="000000"/>
              </a:solidFill>
            </a:ln>
          </p:spPr>
          <p:txBody>
            <a:bodyPr wrap="square" lIns="0" tIns="0" rIns="0" bIns="0" rtlCol="0"/>
            <a:lstStyle/>
            <a:p>
              <a:endParaRPr/>
            </a:p>
          </p:txBody>
        </p:sp>
        <p:sp>
          <p:nvSpPr>
            <p:cNvPr id="49" name="object 49"/>
            <p:cNvSpPr/>
            <p:nvPr/>
          </p:nvSpPr>
          <p:spPr>
            <a:xfrm>
              <a:off x="3391941" y="2935922"/>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50" name="object 50"/>
            <p:cNvSpPr/>
            <p:nvPr/>
          </p:nvSpPr>
          <p:spPr>
            <a:xfrm>
              <a:off x="3978541" y="3795737"/>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51" name="object 51"/>
            <p:cNvSpPr/>
            <p:nvPr/>
          </p:nvSpPr>
          <p:spPr>
            <a:xfrm>
              <a:off x="4006202" y="3817645"/>
              <a:ext cx="33020" cy="48260"/>
            </a:xfrm>
            <a:custGeom>
              <a:avLst/>
              <a:gdLst/>
              <a:ahLst/>
              <a:cxnLst/>
              <a:rect l="l" t="t" r="r" b="b"/>
              <a:pathLst>
                <a:path w="33020" h="48260">
                  <a:moveTo>
                    <a:pt x="0" y="0"/>
                  </a:moveTo>
                  <a:lnTo>
                    <a:pt x="32829" y="48056"/>
                  </a:lnTo>
                </a:path>
              </a:pathLst>
            </a:custGeom>
            <a:ln w="10535">
              <a:solidFill>
                <a:srgbClr val="000000"/>
              </a:solidFill>
            </a:ln>
          </p:spPr>
          <p:txBody>
            <a:bodyPr wrap="square" lIns="0" tIns="0" rIns="0" bIns="0" rtlCol="0"/>
            <a:lstStyle/>
            <a:p>
              <a:endParaRPr/>
            </a:p>
          </p:txBody>
        </p:sp>
        <p:sp>
          <p:nvSpPr>
            <p:cNvPr id="52" name="object 52"/>
            <p:cNvSpPr/>
            <p:nvPr/>
          </p:nvSpPr>
          <p:spPr>
            <a:xfrm>
              <a:off x="3814013" y="2935922"/>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53" name="object 53"/>
            <p:cNvSpPr/>
            <p:nvPr/>
          </p:nvSpPr>
          <p:spPr>
            <a:xfrm>
              <a:off x="4400613" y="3795737"/>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54" name="object 54"/>
            <p:cNvSpPr/>
            <p:nvPr/>
          </p:nvSpPr>
          <p:spPr>
            <a:xfrm>
              <a:off x="4428261" y="3817645"/>
              <a:ext cx="33020" cy="48260"/>
            </a:xfrm>
            <a:custGeom>
              <a:avLst/>
              <a:gdLst/>
              <a:ahLst/>
              <a:cxnLst/>
              <a:rect l="l" t="t" r="r" b="b"/>
              <a:pathLst>
                <a:path w="33020" h="48260">
                  <a:moveTo>
                    <a:pt x="0" y="0"/>
                  </a:moveTo>
                  <a:lnTo>
                    <a:pt x="32854" y="48056"/>
                  </a:lnTo>
                </a:path>
              </a:pathLst>
            </a:custGeom>
            <a:ln w="10535">
              <a:solidFill>
                <a:srgbClr val="000000"/>
              </a:solidFill>
            </a:ln>
          </p:spPr>
          <p:txBody>
            <a:bodyPr wrap="square" lIns="0" tIns="0" rIns="0" bIns="0" rtlCol="0"/>
            <a:lstStyle/>
            <a:p>
              <a:endParaRPr/>
            </a:p>
          </p:txBody>
        </p:sp>
        <p:sp>
          <p:nvSpPr>
            <p:cNvPr id="55" name="object 55"/>
            <p:cNvSpPr/>
            <p:nvPr/>
          </p:nvSpPr>
          <p:spPr>
            <a:xfrm>
              <a:off x="4249420" y="2935922"/>
              <a:ext cx="645160" cy="925830"/>
            </a:xfrm>
            <a:custGeom>
              <a:avLst/>
              <a:gdLst/>
              <a:ahLst/>
              <a:cxnLst/>
              <a:rect l="l" t="t" r="r" b="b"/>
              <a:pathLst>
                <a:path w="645160" h="925829">
                  <a:moveTo>
                    <a:pt x="644575" y="925474"/>
                  </a:moveTo>
                  <a:lnTo>
                    <a:pt x="0" y="0"/>
                  </a:lnTo>
                </a:path>
              </a:pathLst>
            </a:custGeom>
            <a:ln w="16857">
              <a:solidFill>
                <a:srgbClr val="000000"/>
              </a:solidFill>
            </a:ln>
          </p:spPr>
          <p:txBody>
            <a:bodyPr wrap="square" lIns="0" tIns="0" rIns="0" bIns="0" rtlCol="0"/>
            <a:lstStyle/>
            <a:p>
              <a:endParaRPr/>
            </a:p>
          </p:txBody>
        </p:sp>
        <p:sp>
          <p:nvSpPr>
            <p:cNvPr id="56" name="object 56"/>
            <p:cNvSpPr/>
            <p:nvPr/>
          </p:nvSpPr>
          <p:spPr>
            <a:xfrm>
              <a:off x="4836020" y="3795737"/>
              <a:ext cx="85725" cy="106680"/>
            </a:xfrm>
            <a:custGeom>
              <a:avLst/>
              <a:gdLst/>
              <a:ahLst/>
              <a:cxnLst/>
              <a:rect l="l" t="t" r="r" b="b"/>
              <a:pathLst>
                <a:path w="85725" h="106679">
                  <a:moveTo>
                    <a:pt x="85242" y="106159"/>
                  </a:moveTo>
                  <a:lnTo>
                    <a:pt x="48044" y="0"/>
                  </a:lnTo>
                  <a:lnTo>
                    <a:pt x="0" y="32854"/>
                  </a:lnTo>
                  <a:lnTo>
                    <a:pt x="85242" y="106159"/>
                  </a:lnTo>
                  <a:close/>
                </a:path>
              </a:pathLst>
            </a:custGeom>
            <a:solidFill>
              <a:srgbClr val="000000"/>
            </a:solidFill>
          </p:spPr>
          <p:txBody>
            <a:bodyPr wrap="square" lIns="0" tIns="0" rIns="0" bIns="0" rtlCol="0"/>
            <a:lstStyle/>
            <a:p>
              <a:endParaRPr/>
            </a:p>
          </p:txBody>
        </p:sp>
        <p:sp>
          <p:nvSpPr>
            <p:cNvPr id="57" name="object 57"/>
            <p:cNvSpPr/>
            <p:nvPr/>
          </p:nvSpPr>
          <p:spPr>
            <a:xfrm>
              <a:off x="4863668" y="3817645"/>
              <a:ext cx="33020" cy="48260"/>
            </a:xfrm>
            <a:custGeom>
              <a:avLst/>
              <a:gdLst/>
              <a:ahLst/>
              <a:cxnLst/>
              <a:rect l="l" t="t" r="r" b="b"/>
              <a:pathLst>
                <a:path w="33020" h="48260">
                  <a:moveTo>
                    <a:pt x="0" y="0"/>
                  </a:moveTo>
                  <a:lnTo>
                    <a:pt x="32854" y="48056"/>
                  </a:lnTo>
                </a:path>
              </a:pathLst>
            </a:custGeom>
            <a:ln w="10535">
              <a:solidFill>
                <a:srgbClr val="000000"/>
              </a:solidFill>
            </a:ln>
          </p:spPr>
          <p:txBody>
            <a:bodyPr wrap="square" lIns="0" tIns="0" rIns="0" bIns="0" rtlCol="0"/>
            <a:lstStyle/>
            <a:p>
              <a:endParaRPr/>
            </a:p>
          </p:txBody>
        </p:sp>
        <p:sp>
          <p:nvSpPr>
            <p:cNvPr id="58" name="object 58"/>
            <p:cNvSpPr/>
            <p:nvPr/>
          </p:nvSpPr>
          <p:spPr>
            <a:xfrm>
              <a:off x="4671491" y="2935922"/>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59" name="object 59"/>
            <p:cNvSpPr/>
            <p:nvPr/>
          </p:nvSpPr>
          <p:spPr>
            <a:xfrm>
              <a:off x="5258092" y="3795737"/>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60" name="object 60"/>
            <p:cNvSpPr/>
            <p:nvPr/>
          </p:nvSpPr>
          <p:spPr>
            <a:xfrm>
              <a:off x="5285752" y="3817645"/>
              <a:ext cx="33020" cy="48260"/>
            </a:xfrm>
            <a:custGeom>
              <a:avLst/>
              <a:gdLst/>
              <a:ahLst/>
              <a:cxnLst/>
              <a:rect l="l" t="t" r="r" b="b"/>
              <a:pathLst>
                <a:path w="33020" h="48260">
                  <a:moveTo>
                    <a:pt x="0" y="0"/>
                  </a:moveTo>
                  <a:lnTo>
                    <a:pt x="32829" y="48056"/>
                  </a:lnTo>
                </a:path>
              </a:pathLst>
            </a:custGeom>
            <a:ln w="10535">
              <a:solidFill>
                <a:srgbClr val="000000"/>
              </a:solidFill>
            </a:ln>
          </p:spPr>
          <p:txBody>
            <a:bodyPr wrap="square" lIns="0" tIns="0" rIns="0" bIns="0" rtlCol="0"/>
            <a:lstStyle/>
            <a:p>
              <a:endParaRPr/>
            </a:p>
          </p:txBody>
        </p:sp>
        <p:sp>
          <p:nvSpPr>
            <p:cNvPr id="61" name="object 61"/>
            <p:cNvSpPr/>
            <p:nvPr/>
          </p:nvSpPr>
          <p:spPr>
            <a:xfrm>
              <a:off x="5116004" y="2935922"/>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62" name="object 62"/>
            <p:cNvSpPr/>
            <p:nvPr/>
          </p:nvSpPr>
          <p:spPr>
            <a:xfrm>
              <a:off x="5702604" y="3795737"/>
              <a:ext cx="85725" cy="106680"/>
            </a:xfrm>
            <a:custGeom>
              <a:avLst/>
              <a:gdLst/>
              <a:ahLst/>
              <a:cxnLst/>
              <a:rect l="l" t="t" r="r" b="b"/>
              <a:pathLst>
                <a:path w="85725" h="106679">
                  <a:moveTo>
                    <a:pt x="85229" y="106159"/>
                  </a:moveTo>
                  <a:lnTo>
                    <a:pt x="48044" y="0"/>
                  </a:lnTo>
                  <a:lnTo>
                    <a:pt x="0" y="32854"/>
                  </a:lnTo>
                  <a:lnTo>
                    <a:pt x="85229" y="106159"/>
                  </a:lnTo>
                  <a:close/>
                </a:path>
              </a:pathLst>
            </a:custGeom>
            <a:solidFill>
              <a:srgbClr val="000000"/>
            </a:solidFill>
          </p:spPr>
          <p:txBody>
            <a:bodyPr wrap="square" lIns="0" tIns="0" rIns="0" bIns="0" rtlCol="0"/>
            <a:lstStyle/>
            <a:p>
              <a:endParaRPr/>
            </a:p>
          </p:txBody>
        </p:sp>
        <p:sp>
          <p:nvSpPr>
            <p:cNvPr id="63" name="object 63"/>
            <p:cNvSpPr/>
            <p:nvPr/>
          </p:nvSpPr>
          <p:spPr>
            <a:xfrm>
              <a:off x="5730252" y="3817645"/>
              <a:ext cx="33020" cy="48260"/>
            </a:xfrm>
            <a:custGeom>
              <a:avLst/>
              <a:gdLst/>
              <a:ahLst/>
              <a:cxnLst/>
              <a:rect l="l" t="t" r="r" b="b"/>
              <a:pathLst>
                <a:path w="33020" h="48260">
                  <a:moveTo>
                    <a:pt x="0" y="0"/>
                  </a:moveTo>
                  <a:lnTo>
                    <a:pt x="32842" y="48056"/>
                  </a:lnTo>
                </a:path>
              </a:pathLst>
            </a:custGeom>
            <a:ln w="10535">
              <a:solidFill>
                <a:srgbClr val="000000"/>
              </a:solidFill>
            </a:ln>
          </p:spPr>
          <p:txBody>
            <a:bodyPr wrap="square" lIns="0" tIns="0" rIns="0" bIns="0" rtlCol="0"/>
            <a:lstStyle/>
            <a:p>
              <a:endParaRPr/>
            </a:p>
          </p:txBody>
        </p:sp>
        <p:sp>
          <p:nvSpPr>
            <p:cNvPr id="64" name="object 64"/>
            <p:cNvSpPr/>
            <p:nvPr/>
          </p:nvSpPr>
          <p:spPr>
            <a:xfrm>
              <a:off x="5538076" y="2935922"/>
              <a:ext cx="645160" cy="925830"/>
            </a:xfrm>
            <a:custGeom>
              <a:avLst/>
              <a:gdLst/>
              <a:ahLst/>
              <a:cxnLst/>
              <a:rect l="l" t="t" r="r" b="b"/>
              <a:pathLst>
                <a:path w="645160" h="925829">
                  <a:moveTo>
                    <a:pt x="644563" y="925474"/>
                  </a:moveTo>
                  <a:lnTo>
                    <a:pt x="0" y="0"/>
                  </a:lnTo>
                </a:path>
              </a:pathLst>
            </a:custGeom>
            <a:ln w="16857">
              <a:solidFill>
                <a:srgbClr val="000000"/>
              </a:solidFill>
            </a:ln>
          </p:spPr>
          <p:txBody>
            <a:bodyPr wrap="square" lIns="0" tIns="0" rIns="0" bIns="0" rtlCol="0"/>
            <a:lstStyle/>
            <a:p>
              <a:endParaRPr/>
            </a:p>
          </p:txBody>
        </p:sp>
        <p:sp>
          <p:nvSpPr>
            <p:cNvPr id="65" name="object 65"/>
            <p:cNvSpPr/>
            <p:nvPr/>
          </p:nvSpPr>
          <p:spPr>
            <a:xfrm>
              <a:off x="6124663" y="3795737"/>
              <a:ext cx="85725" cy="106680"/>
            </a:xfrm>
            <a:custGeom>
              <a:avLst/>
              <a:gdLst/>
              <a:ahLst/>
              <a:cxnLst/>
              <a:rect l="l" t="t" r="r" b="b"/>
              <a:pathLst>
                <a:path w="85725" h="106679">
                  <a:moveTo>
                    <a:pt x="85267" y="106159"/>
                  </a:moveTo>
                  <a:lnTo>
                    <a:pt x="48069" y="0"/>
                  </a:lnTo>
                  <a:lnTo>
                    <a:pt x="0" y="32854"/>
                  </a:lnTo>
                  <a:lnTo>
                    <a:pt x="85267" y="106159"/>
                  </a:lnTo>
                  <a:close/>
                </a:path>
              </a:pathLst>
            </a:custGeom>
            <a:solidFill>
              <a:srgbClr val="000000"/>
            </a:solidFill>
          </p:spPr>
          <p:txBody>
            <a:bodyPr wrap="square" lIns="0" tIns="0" rIns="0" bIns="0" rtlCol="0"/>
            <a:lstStyle/>
            <a:p>
              <a:endParaRPr/>
            </a:p>
          </p:txBody>
        </p:sp>
        <p:sp>
          <p:nvSpPr>
            <p:cNvPr id="66" name="object 66"/>
            <p:cNvSpPr/>
            <p:nvPr/>
          </p:nvSpPr>
          <p:spPr>
            <a:xfrm>
              <a:off x="6152337" y="3817645"/>
              <a:ext cx="33020" cy="48260"/>
            </a:xfrm>
            <a:custGeom>
              <a:avLst/>
              <a:gdLst/>
              <a:ahLst/>
              <a:cxnLst/>
              <a:rect l="l" t="t" r="r" b="b"/>
              <a:pathLst>
                <a:path w="33020" h="48260">
                  <a:moveTo>
                    <a:pt x="0" y="0"/>
                  </a:moveTo>
                  <a:lnTo>
                    <a:pt x="32829" y="48056"/>
                  </a:lnTo>
                </a:path>
              </a:pathLst>
            </a:custGeom>
            <a:ln w="10535">
              <a:solidFill>
                <a:srgbClr val="000000"/>
              </a:solidFill>
            </a:ln>
          </p:spPr>
          <p:txBody>
            <a:bodyPr wrap="square" lIns="0" tIns="0" rIns="0" bIns="0" rtlCol="0"/>
            <a:lstStyle/>
            <a:p>
              <a:endParaRPr/>
            </a:p>
          </p:txBody>
        </p:sp>
        <p:sp>
          <p:nvSpPr>
            <p:cNvPr id="67" name="object 67"/>
            <p:cNvSpPr/>
            <p:nvPr/>
          </p:nvSpPr>
          <p:spPr>
            <a:xfrm>
              <a:off x="5979947" y="2935922"/>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68" name="object 68"/>
            <p:cNvSpPr/>
            <p:nvPr/>
          </p:nvSpPr>
          <p:spPr>
            <a:xfrm>
              <a:off x="6566547" y="3795737"/>
              <a:ext cx="85725" cy="106680"/>
            </a:xfrm>
            <a:custGeom>
              <a:avLst/>
              <a:gdLst/>
              <a:ahLst/>
              <a:cxnLst/>
              <a:rect l="l" t="t" r="r" b="b"/>
              <a:pathLst>
                <a:path w="85725" h="106679">
                  <a:moveTo>
                    <a:pt x="85229" y="106159"/>
                  </a:moveTo>
                  <a:lnTo>
                    <a:pt x="48044" y="0"/>
                  </a:lnTo>
                  <a:lnTo>
                    <a:pt x="0" y="32854"/>
                  </a:lnTo>
                  <a:lnTo>
                    <a:pt x="85229" y="106159"/>
                  </a:lnTo>
                  <a:close/>
                </a:path>
              </a:pathLst>
            </a:custGeom>
            <a:solidFill>
              <a:srgbClr val="000000"/>
            </a:solidFill>
          </p:spPr>
          <p:txBody>
            <a:bodyPr wrap="square" lIns="0" tIns="0" rIns="0" bIns="0" rtlCol="0"/>
            <a:lstStyle/>
            <a:p>
              <a:endParaRPr/>
            </a:p>
          </p:txBody>
        </p:sp>
        <p:sp>
          <p:nvSpPr>
            <p:cNvPr id="69" name="object 69"/>
            <p:cNvSpPr/>
            <p:nvPr/>
          </p:nvSpPr>
          <p:spPr>
            <a:xfrm>
              <a:off x="6594195" y="3817645"/>
              <a:ext cx="33020" cy="48260"/>
            </a:xfrm>
            <a:custGeom>
              <a:avLst/>
              <a:gdLst/>
              <a:ahLst/>
              <a:cxnLst/>
              <a:rect l="l" t="t" r="r" b="b"/>
              <a:pathLst>
                <a:path w="33020" h="48260">
                  <a:moveTo>
                    <a:pt x="0" y="0"/>
                  </a:moveTo>
                  <a:lnTo>
                    <a:pt x="32842" y="48056"/>
                  </a:lnTo>
                </a:path>
              </a:pathLst>
            </a:custGeom>
            <a:ln w="10535">
              <a:solidFill>
                <a:srgbClr val="000000"/>
              </a:solidFill>
            </a:ln>
          </p:spPr>
          <p:txBody>
            <a:bodyPr wrap="square" lIns="0" tIns="0" rIns="0" bIns="0" rtlCol="0"/>
            <a:lstStyle/>
            <a:p>
              <a:endParaRPr/>
            </a:p>
          </p:txBody>
        </p:sp>
        <p:sp>
          <p:nvSpPr>
            <p:cNvPr id="70" name="object 70"/>
            <p:cNvSpPr/>
            <p:nvPr/>
          </p:nvSpPr>
          <p:spPr>
            <a:xfrm>
              <a:off x="6402019" y="2935922"/>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71" name="object 71"/>
            <p:cNvSpPr/>
            <p:nvPr/>
          </p:nvSpPr>
          <p:spPr>
            <a:xfrm>
              <a:off x="6988619" y="3795737"/>
              <a:ext cx="85725" cy="106680"/>
            </a:xfrm>
            <a:custGeom>
              <a:avLst/>
              <a:gdLst/>
              <a:ahLst/>
              <a:cxnLst/>
              <a:rect l="l" t="t" r="r" b="b"/>
              <a:pathLst>
                <a:path w="85725" h="106679">
                  <a:moveTo>
                    <a:pt x="85255" y="106159"/>
                  </a:moveTo>
                  <a:lnTo>
                    <a:pt x="48056" y="0"/>
                  </a:lnTo>
                  <a:lnTo>
                    <a:pt x="0" y="32854"/>
                  </a:lnTo>
                  <a:lnTo>
                    <a:pt x="85255" y="106159"/>
                  </a:lnTo>
                  <a:close/>
                </a:path>
              </a:pathLst>
            </a:custGeom>
            <a:solidFill>
              <a:srgbClr val="000000"/>
            </a:solidFill>
          </p:spPr>
          <p:txBody>
            <a:bodyPr wrap="square" lIns="0" tIns="0" rIns="0" bIns="0" rtlCol="0"/>
            <a:lstStyle/>
            <a:p>
              <a:endParaRPr/>
            </a:p>
          </p:txBody>
        </p:sp>
        <p:sp>
          <p:nvSpPr>
            <p:cNvPr id="72" name="object 72"/>
            <p:cNvSpPr/>
            <p:nvPr/>
          </p:nvSpPr>
          <p:spPr>
            <a:xfrm>
              <a:off x="7016280" y="3817645"/>
              <a:ext cx="33020" cy="48260"/>
            </a:xfrm>
            <a:custGeom>
              <a:avLst/>
              <a:gdLst/>
              <a:ahLst/>
              <a:cxnLst/>
              <a:rect l="l" t="t" r="r" b="b"/>
              <a:pathLst>
                <a:path w="33020" h="48260">
                  <a:moveTo>
                    <a:pt x="0" y="0"/>
                  </a:moveTo>
                  <a:lnTo>
                    <a:pt x="32829" y="48056"/>
                  </a:lnTo>
                </a:path>
              </a:pathLst>
            </a:custGeom>
            <a:ln w="10535">
              <a:solidFill>
                <a:srgbClr val="000000"/>
              </a:solidFill>
            </a:ln>
          </p:spPr>
          <p:txBody>
            <a:bodyPr wrap="square" lIns="0" tIns="0" rIns="0" bIns="0" rtlCol="0"/>
            <a:lstStyle/>
            <a:p>
              <a:endParaRPr/>
            </a:p>
          </p:txBody>
        </p:sp>
        <p:sp>
          <p:nvSpPr>
            <p:cNvPr id="73" name="object 73"/>
            <p:cNvSpPr/>
            <p:nvPr/>
          </p:nvSpPr>
          <p:spPr>
            <a:xfrm>
              <a:off x="6834670" y="2935922"/>
              <a:ext cx="645160" cy="925830"/>
            </a:xfrm>
            <a:custGeom>
              <a:avLst/>
              <a:gdLst/>
              <a:ahLst/>
              <a:cxnLst/>
              <a:rect l="l" t="t" r="r" b="b"/>
              <a:pathLst>
                <a:path w="645159" h="925829">
                  <a:moveTo>
                    <a:pt x="644575" y="925474"/>
                  </a:moveTo>
                  <a:lnTo>
                    <a:pt x="0" y="0"/>
                  </a:lnTo>
                </a:path>
              </a:pathLst>
            </a:custGeom>
            <a:ln w="16857">
              <a:solidFill>
                <a:srgbClr val="000000"/>
              </a:solidFill>
            </a:ln>
          </p:spPr>
          <p:txBody>
            <a:bodyPr wrap="square" lIns="0" tIns="0" rIns="0" bIns="0" rtlCol="0"/>
            <a:lstStyle/>
            <a:p>
              <a:endParaRPr/>
            </a:p>
          </p:txBody>
        </p:sp>
        <p:sp>
          <p:nvSpPr>
            <p:cNvPr id="74" name="object 74"/>
            <p:cNvSpPr/>
            <p:nvPr/>
          </p:nvSpPr>
          <p:spPr>
            <a:xfrm>
              <a:off x="7421257" y="3795737"/>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75" name="object 75"/>
            <p:cNvSpPr/>
            <p:nvPr/>
          </p:nvSpPr>
          <p:spPr>
            <a:xfrm>
              <a:off x="7448931" y="3817645"/>
              <a:ext cx="33020" cy="48260"/>
            </a:xfrm>
            <a:custGeom>
              <a:avLst/>
              <a:gdLst/>
              <a:ahLst/>
              <a:cxnLst/>
              <a:rect l="l" t="t" r="r" b="b"/>
              <a:pathLst>
                <a:path w="33020" h="48260">
                  <a:moveTo>
                    <a:pt x="0" y="0"/>
                  </a:moveTo>
                  <a:lnTo>
                    <a:pt x="32854" y="48056"/>
                  </a:lnTo>
                </a:path>
              </a:pathLst>
            </a:custGeom>
            <a:ln w="10535">
              <a:solidFill>
                <a:srgbClr val="000000"/>
              </a:solidFill>
            </a:ln>
          </p:spPr>
          <p:txBody>
            <a:bodyPr wrap="square" lIns="0" tIns="0" rIns="0" bIns="0" rtlCol="0"/>
            <a:lstStyle/>
            <a:p>
              <a:endParaRPr/>
            </a:p>
          </p:txBody>
        </p:sp>
        <p:sp>
          <p:nvSpPr>
            <p:cNvPr id="76" name="object 76"/>
            <p:cNvSpPr/>
            <p:nvPr/>
          </p:nvSpPr>
          <p:spPr>
            <a:xfrm>
              <a:off x="7254036" y="2935922"/>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77" name="object 77"/>
            <p:cNvSpPr/>
            <p:nvPr/>
          </p:nvSpPr>
          <p:spPr>
            <a:xfrm>
              <a:off x="7840611" y="3795737"/>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78" name="object 78"/>
            <p:cNvSpPr/>
            <p:nvPr/>
          </p:nvSpPr>
          <p:spPr>
            <a:xfrm>
              <a:off x="7868285" y="3817645"/>
              <a:ext cx="33020" cy="48260"/>
            </a:xfrm>
            <a:custGeom>
              <a:avLst/>
              <a:gdLst/>
              <a:ahLst/>
              <a:cxnLst/>
              <a:rect l="l" t="t" r="r" b="b"/>
              <a:pathLst>
                <a:path w="33020" h="48260">
                  <a:moveTo>
                    <a:pt x="0" y="0"/>
                  </a:moveTo>
                  <a:lnTo>
                    <a:pt x="32842" y="48056"/>
                  </a:lnTo>
                </a:path>
              </a:pathLst>
            </a:custGeom>
            <a:ln w="10535">
              <a:solidFill>
                <a:srgbClr val="000000"/>
              </a:solidFill>
            </a:ln>
          </p:spPr>
          <p:txBody>
            <a:bodyPr wrap="square" lIns="0" tIns="0" rIns="0" bIns="0" rtlCol="0"/>
            <a:lstStyle/>
            <a:p>
              <a:endParaRPr/>
            </a:p>
          </p:txBody>
        </p:sp>
        <p:sp>
          <p:nvSpPr>
            <p:cNvPr id="79" name="object 79"/>
            <p:cNvSpPr/>
            <p:nvPr/>
          </p:nvSpPr>
          <p:spPr>
            <a:xfrm>
              <a:off x="7710602" y="2935922"/>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80" name="object 80"/>
            <p:cNvSpPr/>
            <p:nvPr/>
          </p:nvSpPr>
          <p:spPr>
            <a:xfrm>
              <a:off x="8297176" y="3795737"/>
              <a:ext cx="85725" cy="106680"/>
            </a:xfrm>
            <a:custGeom>
              <a:avLst/>
              <a:gdLst/>
              <a:ahLst/>
              <a:cxnLst/>
              <a:rect l="l" t="t" r="r" b="b"/>
              <a:pathLst>
                <a:path w="85725" h="106679">
                  <a:moveTo>
                    <a:pt x="85255" y="106159"/>
                  </a:moveTo>
                  <a:lnTo>
                    <a:pt x="48069" y="0"/>
                  </a:lnTo>
                  <a:lnTo>
                    <a:pt x="0" y="32854"/>
                  </a:lnTo>
                  <a:lnTo>
                    <a:pt x="85255" y="106159"/>
                  </a:lnTo>
                  <a:close/>
                </a:path>
              </a:pathLst>
            </a:custGeom>
            <a:solidFill>
              <a:srgbClr val="000000"/>
            </a:solidFill>
          </p:spPr>
          <p:txBody>
            <a:bodyPr wrap="square" lIns="0" tIns="0" rIns="0" bIns="0" rtlCol="0"/>
            <a:lstStyle/>
            <a:p>
              <a:endParaRPr/>
            </a:p>
          </p:txBody>
        </p:sp>
        <p:sp>
          <p:nvSpPr>
            <p:cNvPr id="81" name="object 81"/>
            <p:cNvSpPr/>
            <p:nvPr/>
          </p:nvSpPr>
          <p:spPr>
            <a:xfrm>
              <a:off x="8324837" y="3817645"/>
              <a:ext cx="33020" cy="48260"/>
            </a:xfrm>
            <a:custGeom>
              <a:avLst/>
              <a:gdLst/>
              <a:ahLst/>
              <a:cxnLst/>
              <a:rect l="l" t="t" r="r" b="b"/>
              <a:pathLst>
                <a:path w="33020" h="48260">
                  <a:moveTo>
                    <a:pt x="0" y="0"/>
                  </a:moveTo>
                  <a:lnTo>
                    <a:pt x="32854" y="48056"/>
                  </a:lnTo>
                </a:path>
              </a:pathLst>
            </a:custGeom>
            <a:ln w="10535">
              <a:solidFill>
                <a:srgbClr val="000000"/>
              </a:solidFill>
            </a:ln>
          </p:spPr>
          <p:txBody>
            <a:bodyPr wrap="square" lIns="0" tIns="0" rIns="0" bIns="0" rtlCol="0"/>
            <a:lstStyle/>
            <a:p>
              <a:endParaRPr/>
            </a:p>
          </p:txBody>
        </p:sp>
        <p:sp>
          <p:nvSpPr>
            <p:cNvPr id="82" name="object 82"/>
            <p:cNvSpPr/>
            <p:nvPr/>
          </p:nvSpPr>
          <p:spPr>
            <a:xfrm>
              <a:off x="8127631" y="2935922"/>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83" name="object 83"/>
            <p:cNvSpPr/>
            <p:nvPr/>
          </p:nvSpPr>
          <p:spPr>
            <a:xfrm>
              <a:off x="8714232" y="3795737"/>
              <a:ext cx="85725" cy="106680"/>
            </a:xfrm>
            <a:custGeom>
              <a:avLst/>
              <a:gdLst/>
              <a:ahLst/>
              <a:cxnLst/>
              <a:rect l="l" t="t" r="r" b="b"/>
              <a:pathLst>
                <a:path w="85725" h="106679">
                  <a:moveTo>
                    <a:pt x="85255" y="106159"/>
                  </a:moveTo>
                  <a:lnTo>
                    <a:pt x="48044" y="0"/>
                  </a:lnTo>
                  <a:lnTo>
                    <a:pt x="0" y="32854"/>
                  </a:lnTo>
                  <a:lnTo>
                    <a:pt x="85255" y="106159"/>
                  </a:lnTo>
                  <a:close/>
                </a:path>
              </a:pathLst>
            </a:custGeom>
            <a:solidFill>
              <a:srgbClr val="000000"/>
            </a:solidFill>
          </p:spPr>
          <p:txBody>
            <a:bodyPr wrap="square" lIns="0" tIns="0" rIns="0" bIns="0" rtlCol="0"/>
            <a:lstStyle/>
            <a:p>
              <a:endParaRPr/>
            </a:p>
          </p:txBody>
        </p:sp>
        <p:sp>
          <p:nvSpPr>
            <p:cNvPr id="84" name="object 84"/>
            <p:cNvSpPr/>
            <p:nvPr/>
          </p:nvSpPr>
          <p:spPr>
            <a:xfrm>
              <a:off x="8741880" y="3817645"/>
              <a:ext cx="33020" cy="48260"/>
            </a:xfrm>
            <a:custGeom>
              <a:avLst/>
              <a:gdLst/>
              <a:ahLst/>
              <a:cxnLst/>
              <a:rect l="l" t="t" r="r" b="b"/>
              <a:pathLst>
                <a:path w="33020" h="48260">
                  <a:moveTo>
                    <a:pt x="0" y="0"/>
                  </a:moveTo>
                  <a:lnTo>
                    <a:pt x="32842" y="48056"/>
                  </a:lnTo>
                </a:path>
              </a:pathLst>
            </a:custGeom>
            <a:ln w="10535">
              <a:solidFill>
                <a:srgbClr val="000000"/>
              </a:solidFill>
            </a:ln>
          </p:spPr>
          <p:txBody>
            <a:bodyPr wrap="square" lIns="0" tIns="0" rIns="0" bIns="0" rtlCol="0"/>
            <a:lstStyle/>
            <a:p>
              <a:endParaRPr/>
            </a:p>
          </p:txBody>
        </p:sp>
        <p:sp>
          <p:nvSpPr>
            <p:cNvPr id="85" name="object 85"/>
            <p:cNvSpPr/>
            <p:nvPr/>
          </p:nvSpPr>
          <p:spPr>
            <a:xfrm>
              <a:off x="8554783" y="2935922"/>
              <a:ext cx="645160" cy="925830"/>
            </a:xfrm>
            <a:custGeom>
              <a:avLst/>
              <a:gdLst/>
              <a:ahLst/>
              <a:cxnLst/>
              <a:rect l="l" t="t" r="r" b="b"/>
              <a:pathLst>
                <a:path w="645159" h="925829">
                  <a:moveTo>
                    <a:pt x="644563" y="925474"/>
                  </a:moveTo>
                  <a:lnTo>
                    <a:pt x="0" y="0"/>
                  </a:lnTo>
                </a:path>
              </a:pathLst>
            </a:custGeom>
            <a:ln w="16857">
              <a:solidFill>
                <a:srgbClr val="000000"/>
              </a:solidFill>
            </a:ln>
          </p:spPr>
          <p:txBody>
            <a:bodyPr wrap="square" lIns="0" tIns="0" rIns="0" bIns="0" rtlCol="0"/>
            <a:lstStyle/>
            <a:p>
              <a:endParaRPr/>
            </a:p>
          </p:txBody>
        </p:sp>
        <p:sp>
          <p:nvSpPr>
            <p:cNvPr id="86" name="object 86"/>
            <p:cNvSpPr/>
            <p:nvPr/>
          </p:nvSpPr>
          <p:spPr>
            <a:xfrm>
              <a:off x="9141371" y="3795737"/>
              <a:ext cx="85725" cy="106680"/>
            </a:xfrm>
            <a:custGeom>
              <a:avLst/>
              <a:gdLst/>
              <a:ahLst/>
              <a:cxnLst/>
              <a:rect l="l" t="t" r="r" b="b"/>
              <a:pathLst>
                <a:path w="85725" h="106679">
                  <a:moveTo>
                    <a:pt x="85267" y="106159"/>
                  </a:moveTo>
                  <a:lnTo>
                    <a:pt x="48044" y="0"/>
                  </a:lnTo>
                  <a:lnTo>
                    <a:pt x="0" y="32854"/>
                  </a:lnTo>
                  <a:lnTo>
                    <a:pt x="85267" y="106159"/>
                  </a:lnTo>
                  <a:close/>
                </a:path>
              </a:pathLst>
            </a:custGeom>
            <a:solidFill>
              <a:srgbClr val="000000"/>
            </a:solidFill>
          </p:spPr>
          <p:txBody>
            <a:bodyPr wrap="square" lIns="0" tIns="0" rIns="0" bIns="0" rtlCol="0"/>
            <a:lstStyle/>
            <a:p>
              <a:endParaRPr/>
            </a:p>
          </p:txBody>
        </p:sp>
        <p:sp>
          <p:nvSpPr>
            <p:cNvPr id="87" name="object 87"/>
            <p:cNvSpPr/>
            <p:nvPr/>
          </p:nvSpPr>
          <p:spPr>
            <a:xfrm>
              <a:off x="9169019" y="3817645"/>
              <a:ext cx="33020" cy="48260"/>
            </a:xfrm>
            <a:custGeom>
              <a:avLst/>
              <a:gdLst/>
              <a:ahLst/>
              <a:cxnLst/>
              <a:rect l="l" t="t" r="r" b="b"/>
              <a:pathLst>
                <a:path w="33020" h="48260">
                  <a:moveTo>
                    <a:pt x="0" y="0"/>
                  </a:moveTo>
                  <a:lnTo>
                    <a:pt x="32854" y="48056"/>
                  </a:lnTo>
                </a:path>
              </a:pathLst>
            </a:custGeom>
            <a:ln w="10535">
              <a:solidFill>
                <a:srgbClr val="000000"/>
              </a:solidFill>
            </a:ln>
          </p:spPr>
          <p:txBody>
            <a:bodyPr wrap="square" lIns="0" tIns="0" rIns="0" bIns="0" rtlCol="0"/>
            <a:lstStyle/>
            <a:p>
              <a:endParaRPr/>
            </a:p>
          </p:txBody>
        </p:sp>
        <p:sp>
          <p:nvSpPr>
            <p:cNvPr id="88" name="object 88"/>
            <p:cNvSpPr/>
            <p:nvPr/>
          </p:nvSpPr>
          <p:spPr>
            <a:xfrm>
              <a:off x="8977502" y="2938487"/>
              <a:ext cx="398145" cy="571500"/>
            </a:xfrm>
            <a:custGeom>
              <a:avLst/>
              <a:gdLst/>
              <a:ahLst/>
              <a:cxnLst/>
              <a:rect l="l" t="t" r="r" b="b"/>
              <a:pathLst>
                <a:path w="398145" h="571500">
                  <a:moveTo>
                    <a:pt x="397878" y="571271"/>
                  </a:moveTo>
                  <a:lnTo>
                    <a:pt x="0" y="0"/>
                  </a:lnTo>
                </a:path>
              </a:pathLst>
            </a:custGeom>
            <a:ln w="21071">
              <a:solidFill>
                <a:srgbClr val="000000"/>
              </a:solidFill>
            </a:ln>
          </p:spPr>
          <p:txBody>
            <a:bodyPr wrap="square" lIns="0" tIns="0" rIns="0" bIns="0" rtlCol="0"/>
            <a:lstStyle/>
            <a:p>
              <a:endParaRPr/>
            </a:p>
          </p:txBody>
        </p:sp>
        <p:sp>
          <p:nvSpPr>
            <p:cNvPr id="89" name="object 89"/>
            <p:cNvSpPr/>
            <p:nvPr/>
          </p:nvSpPr>
          <p:spPr>
            <a:xfrm>
              <a:off x="9317406" y="3444100"/>
              <a:ext cx="85725" cy="106680"/>
            </a:xfrm>
            <a:custGeom>
              <a:avLst/>
              <a:gdLst/>
              <a:ahLst/>
              <a:cxnLst/>
              <a:rect l="l" t="t" r="r" b="b"/>
              <a:pathLst>
                <a:path w="85725" h="106679">
                  <a:moveTo>
                    <a:pt x="85267" y="106159"/>
                  </a:moveTo>
                  <a:lnTo>
                    <a:pt x="48044" y="0"/>
                  </a:lnTo>
                  <a:lnTo>
                    <a:pt x="0" y="32867"/>
                  </a:lnTo>
                  <a:lnTo>
                    <a:pt x="85267" y="106159"/>
                  </a:lnTo>
                  <a:close/>
                </a:path>
              </a:pathLst>
            </a:custGeom>
            <a:solidFill>
              <a:srgbClr val="000000"/>
            </a:solidFill>
          </p:spPr>
          <p:txBody>
            <a:bodyPr wrap="square" lIns="0" tIns="0" rIns="0" bIns="0" rtlCol="0"/>
            <a:lstStyle/>
            <a:p>
              <a:endParaRPr/>
            </a:p>
          </p:txBody>
        </p:sp>
        <p:sp>
          <p:nvSpPr>
            <p:cNvPr id="90" name="object 90"/>
            <p:cNvSpPr/>
            <p:nvPr/>
          </p:nvSpPr>
          <p:spPr>
            <a:xfrm>
              <a:off x="9345054" y="3466007"/>
              <a:ext cx="33020" cy="48260"/>
            </a:xfrm>
            <a:custGeom>
              <a:avLst/>
              <a:gdLst/>
              <a:ahLst/>
              <a:cxnLst/>
              <a:rect l="l" t="t" r="r" b="b"/>
              <a:pathLst>
                <a:path w="33020" h="48260">
                  <a:moveTo>
                    <a:pt x="0" y="0"/>
                  </a:moveTo>
                  <a:lnTo>
                    <a:pt x="32854" y="48056"/>
                  </a:lnTo>
                </a:path>
              </a:pathLst>
            </a:custGeom>
            <a:ln w="10535">
              <a:solidFill>
                <a:srgbClr val="000000"/>
              </a:solidFill>
            </a:ln>
          </p:spPr>
          <p:txBody>
            <a:bodyPr wrap="square" lIns="0" tIns="0" rIns="0" bIns="0" rtlCol="0"/>
            <a:lstStyle/>
            <a:p>
              <a:endParaRPr/>
            </a:p>
          </p:txBody>
        </p:sp>
        <p:sp>
          <p:nvSpPr>
            <p:cNvPr id="91" name="object 91"/>
            <p:cNvSpPr/>
            <p:nvPr/>
          </p:nvSpPr>
          <p:spPr>
            <a:xfrm>
              <a:off x="2736265" y="3157677"/>
              <a:ext cx="405130" cy="498475"/>
            </a:xfrm>
            <a:custGeom>
              <a:avLst/>
              <a:gdLst/>
              <a:ahLst/>
              <a:cxnLst/>
              <a:rect l="l" t="t" r="r" b="b"/>
              <a:pathLst>
                <a:path w="405130" h="498475">
                  <a:moveTo>
                    <a:pt x="404837" y="91592"/>
                  </a:moveTo>
                  <a:lnTo>
                    <a:pt x="263309" y="0"/>
                  </a:lnTo>
                  <a:lnTo>
                    <a:pt x="0" y="406882"/>
                  </a:lnTo>
                  <a:lnTo>
                    <a:pt x="141528" y="498475"/>
                  </a:lnTo>
                  <a:lnTo>
                    <a:pt x="404837" y="91592"/>
                  </a:lnTo>
                  <a:close/>
                </a:path>
              </a:pathLst>
            </a:custGeom>
            <a:solidFill>
              <a:srgbClr val="FFFFFF"/>
            </a:solidFill>
          </p:spPr>
          <p:txBody>
            <a:bodyPr wrap="square" lIns="0" tIns="0" rIns="0" bIns="0" rtlCol="0"/>
            <a:lstStyle/>
            <a:p>
              <a:endParaRPr/>
            </a:p>
          </p:txBody>
        </p:sp>
      </p:grpSp>
      <p:sp>
        <p:nvSpPr>
          <p:cNvPr id="92" name="object 92"/>
          <p:cNvSpPr txBox="1"/>
          <p:nvPr/>
        </p:nvSpPr>
        <p:spPr>
          <a:xfrm>
            <a:off x="3074644" y="4352777"/>
            <a:ext cx="400050" cy="227965"/>
          </a:xfrm>
          <a:prstGeom prst="rect">
            <a:avLst/>
          </a:prstGeom>
        </p:spPr>
        <p:txBody>
          <a:bodyPr vert="horz" wrap="square" lIns="0" tIns="15875" rIns="0" bIns="0" rtlCol="0">
            <a:spAutoFit/>
          </a:bodyPr>
          <a:lstStyle/>
          <a:p>
            <a:pPr marL="12700">
              <a:lnSpc>
                <a:spcPct val="100000"/>
              </a:lnSpc>
              <a:spcBef>
                <a:spcPts val="125"/>
              </a:spcBef>
            </a:pPr>
            <a:r>
              <a:rPr sz="1300" spc="10" dirty="0">
                <a:latin typeface="Arial MT"/>
                <a:cs typeface="Arial MT"/>
              </a:rPr>
              <a:t>Error</a:t>
            </a:r>
            <a:endParaRPr sz="1300">
              <a:latin typeface="Arial MT"/>
              <a:cs typeface="Arial MT"/>
            </a:endParaRPr>
          </a:p>
        </p:txBody>
      </p:sp>
      <p:sp>
        <p:nvSpPr>
          <p:cNvPr id="93" name="object 93"/>
          <p:cNvSpPr txBox="1"/>
          <p:nvPr/>
        </p:nvSpPr>
        <p:spPr>
          <a:xfrm>
            <a:off x="3750764" y="4352777"/>
            <a:ext cx="2574290" cy="216085"/>
          </a:xfrm>
          <a:prstGeom prst="rect">
            <a:avLst/>
          </a:prstGeom>
        </p:spPr>
        <p:txBody>
          <a:bodyPr vert="horz" wrap="square" lIns="0" tIns="15875" rIns="0" bIns="0" rtlCol="0">
            <a:spAutoFit/>
          </a:bodyPr>
          <a:lstStyle/>
          <a:p>
            <a:pPr marL="12700">
              <a:lnSpc>
                <a:spcPct val="100000"/>
              </a:lnSpc>
              <a:spcBef>
                <a:spcPts val="125"/>
              </a:spcBef>
            </a:pPr>
            <a:r>
              <a:rPr sz="1300" spc="15" dirty="0">
                <a:highlight>
                  <a:srgbClr val="FFFF00"/>
                </a:highlight>
                <a:latin typeface="Arial MT"/>
                <a:cs typeface="Arial MT"/>
              </a:rPr>
              <a:t>Frames</a:t>
            </a:r>
            <a:r>
              <a:rPr sz="1300" spc="-5" dirty="0">
                <a:highlight>
                  <a:srgbClr val="FFFF00"/>
                </a:highlight>
                <a:latin typeface="Arial MT"/>
                <a:cs typeface="Arial MT"/>
              </a:rPr>
              <a:t> </a:t>
            </a:r>
            <a:r>
              <a:rPr sz="1300" spc="10" dirty="0">
                <a:highlight>
                  <a:srgbClr val="FFFF00"/>
                </a:highlight>
                <a:latin typeface="Arial MT"/>
                <a:cs typeface="Arial MT"/>
              </a:rPr>
              <a:t>buffered</a:t>
            </a:r>
            <a:r>
              <a:rPr sz="1300" spc="-5" dirty="0">
                <a:highlight>
                  <a:srgbClr val="FFFF00"/>
                </a:highlight>
                <a:latin typeface="Arial MT"/>
                <a:cs typeface="Arial MT"/>
              </a:rPr>
              <a:t> </a:t>
            </a:r>
            <a:r>
              <a:rPr sz="1300" spc="10" dirty="0">
                <a:highlight>
                  <a:srgbClr val="FFFF00"/>
                </a:highlight>
                <a:latin typeface="Arial MT"/>
                <a:cs typeface="Arial MT"/>
              </a:rPr>
              <a:t>by</a:t>
            </a:r>
            <a:r>
              <a:rPr sz="1300" dirty="0">
                <a:highlight>
                  <a:srgbClr val="FFFF00"/>
                </a:highlight>
                <a:latin typeface="Arial MT"/>
                <a:cs typeface="Arial MT"/>
              </a:rPr>
              <a:t> </a:t>
            </a:r>
            <a:r>
              <a:rPr sz="1300" spc="10" dirty="0">
                <a:highlight>
                  <a:srgbClr val="FFFF00"/>
                </a:highlight>
                <a:latin typeface="Arial MT"/>
                <a:cs typeface="Arial MT"/>
              </a:rPr>
              <a:t>data</a:t>
            </a:r>
            <a:r>
              <a:rPr sz="1300" spc="-5" dirty="0">
                <a:highlight>
                  <a:srgbClr val="FFFF00"/>
                </a:highlight>
                <a:latin typeface="Arial MT"/>
                <a:cs typeface="Arial MT"/>
              </a:rPr>
              <a:t> </a:t>
            </a:r>
            <a:r>
              <a:rPr sz="1300" spc="10" dirty="0">
                <a:highlight>
                  <a:srgbClr val="FFFF00"/>
                </a:highlight>
                <a:latin typeface="Arial MT"/>
                <a:cs typeface="Arial MT"/>
              </a:rPr>
              <a:t>link</a:t>
            </a:r>
            <a:r>
              <a:rPr sz="1300" spc="-5" dirty="0">
                <a:highlight>
                  <a:srgbClr val="FFFF00"/>
                </a:highlight>
                <a:latin typeface="Arial MT"/>
                <a:cs typeface="Arial MT"/>
              </a:rPr>
              <a:t> </a:t>
            </a:r>
            <a:r>
              <a:rPr sz="1300" spc="10" dirty="0">
                <a:highlight>
                  <a:srgbClr val="FFFF00"/>
                </a:highlight>
                <a:latin typeface="Arial MT"/>
                <a:cs typeface="Arial MT"/>
              </a:rPr>
              <a:t>layer</a:t>
            </a:r>
            <a:endParaRPr sz="1300" dirty="0">
              <a:highlight>
                <a:srgbClr val="FFFF00"/>
              </a:highlight>
              <a:latin typeface="Arial MT"/>
              <a:cs typeface="Arial MT"/>
            </a:endParaRPr>
          </a:p>
        </p:txBody>
      </p:sp>
      <p:sp>
        <p:nvSpPr>
          <p:cNvPr id="94" name="object 94"/>
          <p:cNvSpPr txBox="1"/>
          <p:nvPr/>
        </p:nvSpPr>
        <p:spPr>
          <a:xfrm rot="18180000">
            <a:off x="2717376" y="3322637"/>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0</a:t>
            </a:r>
            <a:endParaRPr sz="1300">
              <a:latin typeface="Arial MT"/>
              <a:cs typeface="Arial MT"/>
            </a:endParaRPr>
          </a:p>
        </p:txBody>
      </p:sp>
      <p:grpSp>
        <p:nvGrpSpPr>
          <p:cNvPr id="95" name="object 95"/>
          <p:cNvGrpSpPr/>
          <p:nvPr/>
        </p:nvGrpSpPr>
        <p:grpSpPr>
          <a:xfrm>
            <a:off x="3169551" y="2935338"/>
            <a:ext cx="651510" cy="988694"/>
            <a:chOff x="3169551" y="2935338"/>
            <a:chExt cx="651510" cy="988694"/>
          </a:xfrm>
        </p:grpSpPr>
        <p:sp>
          <p:nvSpPr>
            <p:cNvPr id="96" name="object 96"/>
            <p:cNvSpPr/>
            <p:nvPr/>
          </p:nvSpPr>
          <p:spPr>
            <a:xfrm>
              <a:off x="3169551" y="3157677"/>
              <a:ext cx="405130" cy="498475"/>
            </a:xfrm>
            <a:custGeom>
              <a:avLst/>
              <a:gdLst/>
              <a:ahLst/>
              <a:cxnLst/>
              <a:rect l="l" t="t" r="r" b="b"/>
              <a:pathLst>
                <a:path w="405129" h="498475">
                  <a:moveTo>
                    <a:pt x="404837" y="91592"/>
                  </a:moveTo>
                  <a:lnTo>
                    <a:pt x="263309" y="0"/>
                  </a:lnTo>
                  <a:lnTo>
                    <a:pt x="0" y="406882"/>
                  </a:lnTo>
                  <a:lnTo>
                    <a:pt x="141528" y="498475"/>
                  </a:lnTo>
                  <a:lnTo>
                    <a:pt x="404837" y="91592"/>
                  </a:lnTo>
                  <a:close/>
                </a:path>
              </a:pathLst>
            </a:custGeom>
            <a:solidFill>
              <a:srgbClr val="FFFFFF"/>
            </a:solidFill>
          </p:spPr>
          <p:txBody>
            <a:bodyPr wrap="square" lIns="0" tIns="0" rIns="0" bIns="0" rtlCol="0"/>
            <a:lstStyle/>
            <a:p>
              <a:endParaRPr/>
            </a:p>
          </p:txBody>
        </p:sp>
        <p:sp>
          <p:nvSpPr>
            <p:cNvPr id="97" name="object 97"/>
            <p:cNvSpPr/>
            <p:nvPr/>
          </p:nvSpPr>
          <p:spPr>
            <a:xfrm>
              <a:off x="3192437" y="2976816"/>
              <a:ext cx="602615" cy="938530"/>
            </a:xfrm>
            <a:custGeom>
              <a:avLst/>
              <a:gdLst/>
              <a:ahLst/>
              <a:cxnLst/>
              <a:rect l="l" t="t" r="r" b="b"/>
              <a:pathLst>
                <a:path w="602614" h="938529">
                  <a:moveTo>
                    <a:pt x="602462" y="0"/>
                  </a:moveTo>
                  <a:lnTo>
                    <a:pt x="0" y="938225"/>
                  </a:lnTo>
                </a:path>
              </a:pathLst>
            </a:custGeom>
            <a:ln w="16857">
              <a:solidFill>
                <a:srgbClr val="000000"/>
              </a:solidFill>
              <a:prstDash val="lgDash"/>
            </a:ln>
          </p:spPr>
          <p:txBody>
            <a:bodyPr wrap="square" lIns="0" tIns="0" rIns="0" bIns="0" rtlCol="0"/>
            <a:lstStyle/>
            <a:p>
              <a:endParaRPr/>
            </a:p>
          </p:txBody>
        </p:sp>
        <p:sp>
          <p:nvSpPr>
            <p:cNvPr id="98" name="object 98"/>
            <p:cNvSpPr/>
            <p:nvPr/>
          </p:nvSpPr>
          <p:spPr>
            <a:xfrm>
              <a:off x="3738181" y="2935338"/>
              <a:ext cx="82550" cy="107950"/>
            </a:xfrm>
            <a:custGeom>
              <a:avLst/>
              <a:gdLst/>
              <a:ahLst/>
              <a:cxnLst/>
              <a:rect l="l" t="t" r="r" b="b"/>
              <a:pathLst>
                <a:path w="82550" h="107950">
                  <a:moveTo>
                    <a:pt x="82448" y="0"/>
                  </a:moveTo>
                  <a:lnTo>
                    <a:pt x="0" y="76441"/>
                  </a:lnTo>
                  <a:lnTo>
                    <a:pt x="49263" y="107454"/>
                  </a:lnTo>
                  <a:lnTo>
                    <a:pt x="82448" y="0"/>
                  </a:lnTo>
                  <a:close/>
                </a:path>
              </a:pathLst>
            </a:custGeom>
            <a:solidFill>
              <a:srgbClr val="000000"/>
            </a:solidFill>
          </p:spPr>
          <p:txBody>
            <a:bodyPr wrap="square" lIns="0" tIns="0" rIns="0" bIns="0" rtlCol="0"/>
            <a:lstStyle/>
            <a:p>
              <a:endParaRPr/>
            </a:p>
          </p:txBody>
        </p:sp>
        <p:sp>
          <p:nvSpPr>
            <p:cNvPr id="99" name="object 99"/>
            <p:cNvSpPr/>
            <p:nvPr/>
          </p:nvSpPr>
          <p:spPr>
            <a:xfrm>
              <a:off x="3766235" y="2972434"/>
              <a:ext cx="31115" cy="49530"/>
            </a:xfrm>
            <a:custGeom>
              <a:avLst/>
              <a:gdLst/>
              <a:ahLst/>
              <a:cxnLst/>
              <a:rect l="l" t="t" r="r" b="b"/>
              <a:pathLst>
                <a:path w="31114" h="49530">
                  <a:moveTo>
                    <a:pt x="0" y="49225"/>
                  </a:moveTo>
                  <a:lnTo>
                    <a:pt x="31026" y="0"/>
                  </a:lnTo>
                </a:path>
              </a:pathLst>
            </a:custGeom>
            <a:ln w="10535">
              <a:solidFill>
                <a:srgbClr val="000000"/>
              </a:solidFill>
            </a:ln>
          </p:spPr>
          <p:txBody>
            <a:bodyPr wrap="square" lIns="0" tIns="0" rIns="0" bIns="0" rtlCol="0"/>
            <a:lstStyle/>
            <a:p>
              <a:endParaRPr/>
            </a:p>
          </p:txBody>
        </p:sp>
      </p:grpSp>
      <p:sp>
        <p:nvSpPr>
          <p:cNvPr id="100" name="object 100"/>
          <p:cNvSpPr txBox="1"/>
          <p:nvPr/>
        </p:nvSpPr>
        <p:spPr>
          <a:xfrm rot="18180000">
            <a:off x="3150674" y="3322637"/>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a:t>
            </a:r>
            <a:endParaRPr sz="1300">
              <a:latin typeface="Arial MT"/>
              <a:cs typeface="Arial MT"/>
            </a:endParaRPr>
          </a:p>
        </p:txBody>
      </p:sp>
      <p:sp>
        <p:nvSpPr>
          <p:cNvPr id="101" name="object 101"/>
          <p:cNvSpPr/>
          <p:nvPr/>
        </p:nvSpPr>
        <p:spPr>
          <a:xfrm>
            <a:off x="3941533" y="4275899"/>
            <a:ext cx="1153795" cy="87630"/>
          </a:xfrm>
          <a:custGeom>
            <a:avLst/>
            <a:gdLst/>
            <a:ahLst/>
            <a:cxnLst/>
            <a:rect l="l" t="t" r="r" b="b"/>
            <a:pathLst>
              <a:path w="1153795" h="87629">
                <a:moveTo>
                  <a:pt x="0" y="0"/>
                </a:moveTo>
                <a:lnTo>
                  <a:pt x="1772" y="17216"/>
                </a:lnTo>
                <a:lnTo>
                  <a:pt x="6605" y="31019"/>
                </a:lnTo>
                <a:lnTo>
                  <a:pt x="13774" y="40194"/>
                </a:lnTo>
                <a:lnTo>
                  <a:pt x="22555" y="43522"/>
                </a:lnTo>
                <a:lnTo>
                  <a:pt x="555104" y="43522"/>
                </a:lnTo>
                <a:lnTo>
                  <a:pt x="563886" y="46849"/>
                </a:lnTo>
                <a:lnTo>
                  <a:pt x="571060" y="56021"/>
                </a:lnTo>
                <a:lnTo>
                  <a:pt x="575897" y="69824"/>
                </a:lnTo>
                <a:lnTo>
                  <a:pt x="577672" y="87045"/>
                </a:lnTo>
                <a:lnTo>
                  <a:pt x="579444" y="69824"/>
                </a:lnTo>
                <a:lnTo>
                  <a:pt x="584279" y="56021"/>
                </a:lnTo>
                <a:lnTo>
                  <a:pt x="591452" y="46849"/>
                </a:lnTo>
                <a:lnTo>
                  <a:pt x="600240" y="43522"/>
                </a:lnTo>
                <a:lnTo>
                  <a:pt x="1131100" y="43522"/>
                </a:lnTo>
                <a:lnTo>
                  <a:pt x="1139882" y="40194"/>
                </a:lnTo>
                <a:lnTo>
                  <a:pt x="1147056" y="31019"/>
                </a:lnTo>
                <a:lnTo>
                  <a:pt x="1151893" y="17216"/>
                </a:lnTo>
                <a:lnTo>
                  <a:pt x="1153668" y="0"/>
                </a:lnTo>
              </a:path>
            </a:pathLst>
          </a:custGeom>
          <a:ln w="10535">
            <a:solidFill>
              <a:srgbClr val="000000"/>
            </a:solidFill>
          </a:ln>
        </p:spPr>
        <p:txBody>
          <a:bodyPr wrap="square" lIns="0" tIns="0" rIns="0" bIns="0" rtlCol="0"/>
          <a:lstStyle/>
          <a:p>
            <a:endParaRPr/>
          </a:p>
        </p:txBody>
      </p:sp>
      <p:grpSp>
        <p:nvGrpSpPr>
          <p:cNvPr id="102" name="object 102"/>
          <p:cNvGrpSpPr/>
          <p:nvPr/>
        </p:nvGrpSpPr>
        <p:grpSpPr>
          <a:xfrm>
            <a:off x="4044378" y="2941205"/>
            <a:ext cx="630555" cy="996315"/>
            <a:chOff x="4044378" y="2941205"/>
            <a:chExt cx="630555" cy="996315"/>
          </a:xfrm>
        </p:grpSpPr>
        <p:sp>
          <p:nvSpPr>
            <p:cNvPr id="103" name="object 103"/>
            <p:cNvSpPr/>
            <p:nvPr/>
          </p:nvSpPr>
          <p:spPr>
            <a:xfrm>
              <a:off x="4052951" y="2990240"/>
              <a:ext cx="602615" cy="938530"/>
            </a:xfrm>
            <a:custGeom>
              <a:avLst/>
              <a:gdLst/>
              <a:ahLst/>
              <a:cxnLst/>
              <a:rect l="l" t="t" r="r" b="b"/>
              <a:pathLst>
                <a:path w="602614"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04" name="object 104"/>
            <p:cNvSpPr/>
            <p:nvPr/>
          </p:nvSpPr>
          <p:spPr>
            <a:xfrm>
              <a:off x="4592434" y="2941205"/>
              <a:ext cx="82550" cy="107950"/>
            </a:xfrm>
            <a:custGeom>
              <a:avLst/>
              <a:gdLst/>
              <a:ahLst/>
              <a:cxnLst/>
              <a:rect l="l" t="t" r="r" b="b"/>
              <a:pathLst>
                <a:path w="82550" h="107950">
                  <a:moveTo>
                    <a:pt x="82448" y="0"/>
                  </a:moveTo>
                  <a:lnTo>
                    <a:pt x="0" y="76454"/>
                  </a:lnTo>
                  <a:lnTo>
                    <a:pt x="49263" y="107492"/>
                  </a:lnTo>
                  <a:lnTo>
                    <a:pt x="82448" y="0"/>
                  </a:lnTo>
                  <a:close/>
                </a:path>
              </a:pathLst>
            </a:custGeom>
            <a:solidFill>
              <a:srgbClr val="000000"/>
            </a:solidFill>
          </p:spPr>
          <p:txBody>
            <a:bodyPr wrap="square" lIns="0" tIns="0" rIns="0" bIns="0" rtlCol="0"/>
            <a:lstStyle/>
            <a:p>
              <a:endParaRPr/>
            </a:p>
          </p:txBody>
        </p:sp>
        <p:sp>
          <p:nvSpPr>
            <p:cNvPr id="105" name="object 105"/>
            <p:cNvSpPr/>
            <p:nvPr/>
          </p:nvSpPr>
          <p:spPr>
            <a:xfrm>
              <a:off x="4620501" y="2978315"/>
              <a:ext cx="31115" cy="49530"/>
            </a:xfrm>
            <a:custGeom>
              <a:avLst/>
              <a:gdLst/>
              <a:ahLst/>
              <a:cxnLst/>
              <a:rect l="l" t="t" r="r" b="b"/>
              <a:pathLst>
                <a:path w="31114" h="49530">
                  <a:moveTo>
                    <a:pt x="0" y="49250"/>
                  </a:moveTo>
                  <a:lnTo>
                    <a:pt x="31013" y="0"/>
                  </a:lnTo>
                </a:path>
              </a:pathLst>
            </a:custGeom>
            <a:ln w="10535">
              <a:solidFill>
                <a:srgbClr val="000000"/>
              </a:solidFill>
            </a:ln>
          </p:spPr>
          <p:txBody>
            <a:bodyPr wrap="square" lIns="0" tIns="0" rIns="0" bIns="0" rtlCol="0"/>
            <a:lstStyle/>
            <a:p>
              <a:endParaRPr/>
            </a:p>
          </p:txBody>
        </p:sp>
      </p:grpSp>
      <p:sp>
        <p:nvSpPr>
          <p:cNvPr id="106" name="object 106"/>
          <p:cNvSpPr txBox="1"/>
          <p:nvPr/>
        </p:nvSpPr>
        <p:spPr>
          <a:xfrm>
            <a:off x="4427258" y="3903934"/>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4</a:t>
            </a:r>
            <a:endParaRPr sz="1300">
              <a:latin typeface="Arial MT"/>
              <a:cs typeface="Arial MT"/>
            </a:endParaRPr>
          </a:p>
        </p:txBody>
      </p:sp>
      <p:sp>
        <p:nvSpPr>
          <p:cNvPr id="107" name="object 107"/>
          <p:cNvSpPr/>
          <p:nvPr/>
        </p:nvSpPr>
        <p:spPr>
          <a:xfrm>
            <a:off x="4358004" y="3906101"/>
            <a:ext cx="253365" cy="253365"/>
          </a:xfrm>
          <a:custGeom>
            <a:avLst/>
            <a:gdLst/>
            <a:ahLst/>
            <a:cxnLst/>
            <a:rect l="l" t="t" r="r" b="b"/>
            <a:pathLst>
              <a:path w="253364" h="253364">
                <a:moveTo>
                  <a:pt x="0" y="0"/>
                </a:moveTo>
                <a:lnTo>
                  <a:pt x="0" y="252862"/>
                </a:lnTo>
                <a:lnTo>
                  <a:pt x="252862" y="252862"/>
                </a:lnTo>
                <a:lnTo>
                  <a:pt x="252862" y="0"/>
                </a:lnTo>
                <a:lnTo>
                  <a:pt x="0" y="0"/>
                </a:lnTo>
                <a:close/>
              </a:path>
            </a:pathLst>
          </a:custGeom>
          <a:ln w="10535">
            <a:solidFill>
              <a:srgbClr val="000000"/>
            </a:solidFill>
          </a:ln>
        </p:spPr>
        <p:txBody>
          <a:bodyPr wrap="square" lIns="0" tIns="0" rIns="0" bIns="0" rtlCol="0"/>
          <a:lstStyle/>
          <a:p>
            <a:endParaRPr/>
          </a:p>
        </p:txBody>
      </p:sp>
      <p:sp>
        <p:nvSpPr>
          <p:cNvPr id="108" name="object 108"/>
          <p:cNvSpPr txBox="1"/>
          <p:nvPr/>
        </p:nvSpPr>
        <p:spPr>
          <a:xfrm>
            <a:off x="4793500" y="3890264"/>
            <a:ext cx="253365" cy="253365"/>
          </a:xfrm>
          <a:prstGeom prst="rect">
            <a:avLst/>
          </a:prstGeom>
          <a:ln w="10535">
            <a:solidFill>
              <a:srgbClr val="000000"/>
            </a:solidFill>
          </a:ln>
        </p:spPr>
        <p:txBody>
          <a:bodyPr vert="horz" wrap="square" lIns="0" tIns="13970" rIns="0" bIns="0" rtlCol="0">
            <a:spAutoFit/>
          </a:bodyPr>
          <a:lstStyle/>
          <a:p>
            <a:pPr marL="81915">
              <a:lnSpc>
                <a:spcPct val="100000"/>
              </a:lnSpc>
              <a:spcBef>
                <a:spcPts val="110"/>
              </a:spcBef>
            </a:pPr>
            <a:r>
              <a:rPr sz="1300" spc="15" dirty="0">
                <a:latin typeface="Arial MT"/>
                <a:cs typeface="Arial MT"/>
              </a:rPr>
              <a:t>5</a:t>
            </a:r>
            <a:endParaRPr sz="1300">
              <a:latin typeface="Arial MT"/>
              <a:cs typeface="Arial MT"/>
            </a:endParaRPr>
          </a:p>
        </p:txBody>
      </p:sp>
      <p:sp>
        <p:nvSpPr>
          <p:cNvPr id="109" name="object 109"/>
          <p:cNvSpPr txBox="1"/>
          <p:nvPr/>
        </p:nvSpPr>
        <p:spPr>
          <a:xfrm>
            <a:off x="5214937" y="3884993"/>
            <a:ext cx="253365" cy="214161"/>
          </a:xfrm>
          <a:prstGeom prst="rect">
            <a:avLst/>
          </a:prstGeom>
          <a:ln w="10535">
            <a:solidFill>
              <a:srgbClr val="000000"/>
            </a:solidFill>
          </a:ln>
        </p:spPr>
        <p:txBody>
          <a:bodyPr vert="horz" wrap="square" lIns="0" tIns="13970" rIns="0" bIns="0" rtlCol="0">
            <a:spAutoFit/>
          </a:bodyPr>
          <a:lstStyle/>
          <a:p>
            <a:pPr marL="81915">
              <a:lnSpc>
                <a:spcPct val="100000"/>
              </a:lnSpc>
              <a:spcBef>
                <a:spcPts val="110"/>
              </a:spcBef>
            </a:pPr>
            <a:r>
              <a:rPr sz="1300" spc="15" dirty="0">
                <a:highlight>
                  <a:srgbClr val="00FFFF"/>
                </a:highlight>
                <a:latin typeface="Arial MT"/>
                <a:cs typeface="Arial MT"/>
              </a:rPr>
              <a:t>2</a:t>
            </a:r>
            <a:endParaRPr sz="1300" dirty="0">
              <a:highlight>
                <a:srgbClr val="00FFFF"/>
              </a:highlight>
              <a:latin typeface="Arial MT"/>
              <a:cs typeface="Arial MT"/>
            </a:endParaRPr>
          </a:p>
        </p:txBody>
      </p:sp>
      <p:sp>
        <p:nvSpPr>
          <p:cNvPr id="110" name="object 110"/>
          <p:cNvSpPr txBox="1"/>
          <p:nvPr/>
        </p:nvSpPr>
        <p:spPr>
          <a:xfrm>
            <a:off x="3966438" y="3911333"/>
            <a:ext cx="253365" cy="253365"/>
          </a:xfrm>
          <a:prstGeom prst="rect">
            <a:avLst/>
          </a:prstGeom>
          <a:ln w="10535">
            <a:solidFill>
              <a:srgbClr val="000000"/>
            </a:solidFill>
          </a:ln>
        </p:spPr>
        <p:txBody>
          <a:bodyPr vert="horz" wrap="square" lIns="0" tIns="13970" rIns="0" bIns="0" rtlCol="0">
            <a:spAutoFit/>
          </a:bodyPr>
          <a:lstStyle/>
          <a:p>
            <a:pPr marL="81915">
              <a:lnSpc>
                <a:spcPct val="100000"/>
              </a:lnSpc>
              <a:spcBef>
                <a:spcPts val="110"/>
              </a:spcBef>
            </a:pPr>
            <a:r>
              <a:rPr sz="1300" spc="15" dirty="0">
                <a:latin typeface="Arial MT"/>
                <a:cs typeface="Arial MT"/>
              </a:rPr>
              <a:t>3</a:t>
            </a:r>
            <a:endParaRPr sz="1300">
              <a:latin typeface="Arial MT"/>
              <a:cs typeface="Arial MT"/>
            </a:endParaRPr>
          </a:p>
        </p:txBody>
      </p:sp>
      <p:sp>
        <p:nvSpPr>
          <p:cNvPr id="111" name="object 111"/>
          <p:cNvSpPr txBox="1"/>
          <p:nvPr/>
        </p:nvSpPr>
        <p:spPr>
          <a:xfrm>
            <a:off x="5657443" y="3884993"/>
            <a:ext cx="253365" cy="253365"/>
          </a:xfrm>
          <a:prstGeom prst="rect">
            <a:avLst/>
          </a:prstGeom>
          <a:ln w="10535">
            <a:solidFill>
              <a:srgbClr val="000000"/>
            </a:solidFill>
          </a:ln>
        </p:spPr>
        <p:txBody>
          <a:bodyPr vert="horz" wrap="square" lIns="0" tIns="13970" rIns="0" bIns="0" rtlCol="0">
            <a:spAutoFit/>
          </a:bodyPr>
          <a:lstStyle/>
          <a:p>
            <a:pPr marL="81915">
              <a:lnSpc>
                <a:spcPct val="100000"/>
              </a:lnSpc>
              <a:spcBef>
                <a:spcPts val="110"/>
              </a:spcBef>
            </a:pPr>
            <a:r>
              <a:rPr sz="1300" spc="15" dirty="0">
                <a:latin typeface="Arial MT"/>
                <a:cs typeface="Arial MT"/>
              </a:rPr>
              <a:t>6</a:t>
            </a:r>
            <a:endParaRPr sz="1300">
              <a:latin typeface="Arial MT"/>
              <a:cs typeface="Arial MT"/>
            </a:endParaRPr>
          </a:p>
        </p:txBody>
      </p:sp>
      <p:grpSp>
        <p:nvGrpSpPr>
          <p:cNvPr id="112" name="object 112"/>
          <p:cNvGrpSpPr/>
          <p:nvPr/>
        </p:nvGrpSpPr>
        <p:grpSpPr>
          <a:xfrm>
            <a:off x="4484928" y="2923679"/>
            <a:ext cx="636905" cy="988694"/>
            <a:chOff x="4484928" y="2923679"/>
            <a:chExt cx="636905" cy="988694"/>
          </a:xfrm>
        </p:grpSpPr>
        <p:sp>
          <p:nvSpPr>
            <p:cNvPr id="113" name="object 113"/>
            <p:cNvSpPr/>
            <p:nvPr/>
          </p:nvSpPr>
          <p:spPr>
            <a:xfrm>
              <a:off x="4578947" y="3364547"/>
              <a:ext cx="153035" cy="163830"/>
            </a:xfrm>
            <a:custGeom>
              <a:avLst/>
              <a:gdLst/>
              <a:ahLst/>
              <a:cxnLst/>
              <a:rect l="l" t="t" r="r" b="b"/>
              <a:pathLst>
                <a:path w="153035"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14" name="object 114"/>
            <p:cNvSpPr/>
            <p:nvPr/>
          </p:nvSpPr>
          <p:spPr>
            <a:xfrm>
              <a:off x="4493501" y="2965170"/>
              <a:ext cx="602615" cy="938530"/>
            </a:xfrm>
            <a:custGeom>
              <a:avLst/>
              <a:gdLst/>
              <a:ahLst/>
              <a:cxnLst/>
              <a:rect l="l" t="t" r="r" b="b"/>
              <a:pathLst>
                <a:path w="602614" h="938529">
                  <a:moveTo>
                    <a:pt x="602462" y="0"/>
                  </a:moveTo>
                  <a:lnTo>
                    <a:pt x="0" y="938225"/>
                  </a:lnTo>
                </a:path>
              </a:pathLst>
            </a:custGeom>
            <a:ln w="16857">
              <a:solidFill>
                <a:srgbClr val="000000"/>
              </a:solidFill>
              <a:prstDash val="lgDash"/>
            </a:ln>
          </p:spPr>
          <p:txBody>
            <a:bodyPr wrap="square" lIns="0" tIns="0" rIns="0" bIns="0" rtlCol="0"/>
            <a:lstStyle/>
            <a:p>
              <a:endParaRPr/>
            </a:p>
          </p:txBody>
        </p:sp>
        <p:sp>
          <p:nvSpPr>
            <p:cNvPr id="115" name="object 115"/>
            <p:cNvSpPr/>
            <p:nvPr/>
          </p:nvSpPr>
          <p:spPr>
            <a:xfrm>
              <a:off x="5039258" y="2923679"/>
              <a:ext cx="82550" cy="107950"/>
            </a:xfrm>
            <a:custGeom>
              <a:avLst/>
              <a:gdLst/>
              <a:ahLst/>
              <a:cxnLst/>
              <a:rect l="l" t="t" r="r" b="b"/>
              <a:pathLst>
                <a:path w="82550" h="107950">
                  <a:moveTo>
                    <a:pt x="82435" y="0"/>
                  </a:moveTo>
                  <a:lnTo>
                    <a:pt x="0" y="76454"/>
                  </a:lnTo>
                  <a:lnTo>
                    <a:pt x="49250" y="107492"/>
                  </a:lnTo>
                  <a:lnTo>
                    <a:pt x="82435" y="0"/>
                  </a:lnTo>
                  <a:close/>
                </a:path>
              </a:pathLst>
            </a:custGeom>
            <a:solidFill>
              <a:srgbClr val="000000"/>
            </a:solidFill>
          </p:spPr>
          <p:txBody>
            <a:bodyPr wrap="square" lIns="0" tIns="0" rIns="0" bIns="0" rtlCol="0"/>
            <a:lstStyle/>
            <a:p>
              <a:endParaRPr/>
            </a:p>
          </p:txBody>
        </p:sp>
        <p:sp>
          <p:nvSpPr>
            <p:cNvPr id="116" name="object 116"/>
            <p:cNvSpPr/>
            <p:nvPr/>
          </p:nvSpPr>
          <p:spPr>
            <a:xfrm>
              <a:off x="5067300" y="2960789"/>
              <a:ext cx="31115" cy="49530"/>
            </a:xfrm>
            <a:custGeom>
              <a:avLst/>
              <a:gdLst/>
              <a:ahLst/>
              <a:cxnLst/>
              <a:rect l="l" t="t" r="r" b="b"/>
              <a:pathLst>
                <a:path w="31114" h="49530">
                  <a:moveTo>
                    <a:pt x="0" y="49237"/>
                  </a:moveTo>
                  <a:lnTo>
                    <a:pt x="31026" y="0"/>
                  </a:lnTo>
                </a:path>
              </a:pathLst>
            </a:custGeom>
            <a:ln w="10535">
              <a:solidFill>
                <a:srgbClr val="000000"/>
              </a:solidFill>
            </a:ln>
          </p:spPr>
          <p:txBody>
            <a:bodyPr wrap="square" lIns="0" tIns="0" rIns="0" bIns="0" rtlCol="0"/>
            <a:lstStyle/>
            <a:p>
              <a:endParaRPr/>
            </a:p>
          </p:txBody>
        </p:sp>
      </p:grpSp>
      <p:sp>
        <p:nvSpPr>
          <p:cNvPr id="117" name="object 117"/>
          <p:cNvSpPr txBox="1"/>
          <p:nvPr/>
        </p:nvSpPr>
        <p:spPr>
          <a:xfrm rot="18180000">
            <a:off x="4112964" y="3163966"/>
            <a:ext cx="516103" cy="168275"/>
          </a:xfrm>
          <a:prstGeom prst="rect">
            <a:avLst/>
          </a:prstGeom>
        </p:spPr>
        <p:txBody>
          <a:bodyPr vert="horz" wrap="square" lIns="0" tIns="0" rIns="0" bIns="0" rtlCol="0">
            <a:spAutoFit/>
          </a:bodyPr>
          <a:lstStyle/>
          <a:p>
            <a:pPr>
              <a:lnSpc>
                <a:spcPts val="1325"/>
              </a:lnSpc>
            </a:pPr>
            <a:r>
              <a:rPr sz="1300" spc="15" dirty="0">
                <a:latin typeface="Arial MT"/>
                <a:cs typeface="Arial MT"/>
              </a:rPr>
              <a:t>Nak </a:t>
            </a:r>
            <a:r>
              <a:rPr sz="1300" spc="10" dirty="0">
                <a:latin typeface="Arial MT"/>
                <a:cs typeface="Arial MT"/>
              </a:rPr>
              <a:t> </a:t>
            </a:r>
            <a:r>
              <a:rPr sz="1300" spc="15" dirty="0">
                <a:latin typeface="Arial MT"/>
                <a:cs typeface="Arial MT"/>
              </a:rPr>
              <a:t>2</a:t>
            </a:r>
            <a:endParaRPr sz="1300">
              <a:latin typeface="Arial MT"/>
              <a:cs typeface="Arial MT"/>
            </a:endParaRPr>
          </a:p>
        </p:txBody>
      </p:sp>
      <p:sp>
        <p:nvSpPr>
          <p:cNvPr id="118" name="object 118"/>
          <p:cNvSpPr txBox="1"/>
          <p:nvPr/>
        </p:nvSpPr>
        <p:spPr>
          <a:xfrm rot="18180000">
            <a:off x="4451738" y="3310979"/>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a:t>
            </a:r>
            <a:endParaRPr sz="1300">
              <a:latin typeface="Arial MT"/>
              <a:cs typeface="Arial MT"/>
            </a:endParaRPr>
          </a:p>
        </p:txBody>
      </p:sp>
      <p:grpSp>
        <p:nvGrpSpPr>
          <p:cNvPr id="119" name="object 119"/>
          <p:cNvGrpSpPr/>
          <p:nvPr/>
        </p:nvGrpSpPr>
        <p:grpSpPr>
          <a:xfrm>
            <a:off x="4911636" y="2923679"/>
            <a:ext cx="636905" cy="988694"/>
            <a:chOff x="4911636" y="2923679"/>
            <a:chExt cx="636905" cy="988694"/>
          </a:xfrm>
        </p:grpSpPr>
        <p:sp>
          <p:nvSpPr>
            <p:cNvPr id="120" name="object 120"/>
            <p:cNvSpPr/>
            <p:nvPr/>
          </p:nvSpPr>
          <p:spPr>
            <a:xfrm>
              <a:off x="5005654" y="3364547"/>
              <a:ext cx="153035" cy="163830"/>
            </a:xfrm>
            <a:custGeom>
              <a:avLst/>
              <a:gdLst/>
              <a:ahLst/>
              <a:cxnLst/>
              <a:rect l="l" t="t" r="r" b="b"/>
              <a:pathLst>
                <a:path w="153035"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21" name="object 121"/>
            <p:cNvSpPr/>
            <p:nvPr/>
          </p:nvSpPr>
          <p:spPr>
            <a:xfrm>
              <a:off x="4920208" y="2965170"/>
              <a:ext cx="602615" cy="938530"/>
            </a:xfrm>
            <a:custGeom>
              <a:avLst/>
              <a:gdLst/>
              <a:ahLst/>
              <a:cxnLst/>
              <a:rect l="l" t="t" r="r" b="b"/>
              <a:pathLst>
                <a:path w="602614" h="938529">
                  <a:moveTo>
                    <a:pt x="602462" y="0"/>
                  </a:moveTo>
                  <a:lnTo>
                    <a:pt x="0" y="938225"/>
                  </a:lnTo>
                </a:path>
              </a:pathLst>
            </a:custGeom>
            <a:ln w="16857">
              <a:solidFill>
                <a:srgbClr val="000000"/>
              </a:solidFill>
              <a:prstDash val="lgDash"/>
            </a:ln>
          </p:spPr>
          <p:txBody>
            <a:bodyPr wrap="square" lIns="0" tIns="0" rIns="0" bIns="0" rtlCol="0"/>
            <a:lstStyle/>
            <a:p>
              <a:endParaRPr/>
            </a:p>
          </p:txBody>
        </p:sp>
        <p:sp>
          <p:nvSpPr>
            <p:cNvPr id="122" name="object 122"/>
            <p:cNvSpPr/>
            <p:nvPr/>
          </p:nvSpPr>
          <p:spPr>
            <a:xfrm>
              <a:off x="5465965" y="2923679"/>
              <a:ext cx="82550" cy="107950"/>
            </a:xfrm>
            <a:custGeom>
              <a:avLst/>
              <a:gdLst/>
              <a:ahLst/>
              <a:cxnLst/>
              <a:rect l="l" t="t" r="r" b="b"/>
              <a:pathLst>
                <a:path w="82550" h="107950">
                  <a:moveTo>
                    <a:pt x="82435" y="0"/>
                  </a:moveTo>
                  <a:lnTo>
                    <a:pt x="0" y="76454"/>
                  </a:lnTo>
                  <a:lnTo>
                    <a:pt x="49237" y="107492"/>
                  </a:lnTo>
                  <a:lnTo>
                    <a:pt x="82435" y="0"/>
                  </a:lnTo>
                  <a:close/>
                </a:path>
              </a:pathLst>
            </a:custGeom>
            <a:solidFill>
              <a:srgbClr val="000000"/>
            </a:solidFill>
          </p:spPr>
          <p:txBody>
            <a:bodyPr wrap="square" lIns="0" tIns="0" rIns="0" bIns="0" rtlCol="0"/>
            <a:lstStyle/>
            <a:p>
              <a:endParaRPr/>
            </a:p>
          </p:txBody>
        </p:sp>
        <p:sp>
          <p:nvSpPr>
            <p:cNvPr id="123" name="object 123"/>
            <p:cNvSpPr/>
            <p:nvPr/>
          </p:nvSpPr>
          <p:spPr>
            <a:xfrm>
              <a:off x="5494007" y="2960789"/>
              <a:ext cx="31115" cy="49530"/>
            </a:xfrm>
            <a:custGeom>
              <a:avLst/>
              <a:gdLst/>
              <a:ahLst/>
              <a:cxnLst/>
              <a:rect l="l" t="t" r="r" b="b"/>
              <a:pathLst>
                <a:path w="31114" h="49530">
                  <a:moveTo>
                    <a:pt x="0" y="49237"/>
                  </a:moveTo>
                  <a:lnTo>
                    <a:pt x="31026" y="0"/>
                  </a:lnTo>
                </a:path>
              </a:pathLst>
            </a:custGeom>
            <a:ln w="10535">
              <a:solidFill>
                <a:srgbClr val="000000"/>
              </a:solidFill>
            </a:ln>
          </p:spPr>
          <p:txBody>
            <a:bodyPr wrap="square" lIns="0" tIns="0" rIns="0" bIns="0" rtlCol="0"/>
            <a:lstStyle/>
            <a:p>
              <a:endParaRPr/>
            </a:p>
          </p:txBody>
        </p:sp>
      </p:grpSp>
      <p:sp>
        <p:nvSpPr>
          <p:cNvPr id="124" name="object 124"/>
          <p:cNvSpPr txBox="1"/>
          <p:nvPr/>
        </p:nvSpPr>
        <p:spPr>
          <a:xfrm rot="18180000">
            <a:off x="4878446" y="3310979"/>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a:t>
            </a:r>
            <a:endParaRPr sz="1300">
              <a:latin typeface="Arial MT"/>
              <a:cs typeface="Arial MT"/>
            </a:endParaRPr>
          </a:p>
        </p:txBody>
      </p:sp>
      <p:grpSp>
        <p:nvGrpSpPr>
          <p:cNvPr id="125" name="object 125"/>
          <p:cNvGrpSpPr/>
          <p:nvPr/>
        </p:nvGrpSpPr>
        <p:grpSpPr>
          <a:xfrm>
            <a:off x="5343601" y="2918409"/>
            <a:ext cx="636905" cy="988694"/>
            <a:chOff x="5343601" y="2918409"/>
            <a:chExt cx="636905" cy="988694"/>
          </a:xfrm>
        </p:grpSpPr>
        <p:sp>
          <p:nvSpPr>
            <p:cNvPr id="126" name="object 126"/>
            <p:cNvSpPr/>
            <p:nvPr/>
          </p:nvSpPr>
          <p:spPr>
            <a:xfrm>
              <a:off x="5437619" y="3359277"/>
              <a:ext cx="153035" cy="163830"/>
            </a:xfrm>
            <a:custGeom>
              <a:avLst/>
              <a:gdLst/>
              <a:ahLst/>
              <a:cxnLst/>
              <a:rect l="l" t="t" r="r" b="b"/>
              <a:pathLst>
                <a:path w="153035"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27" name="object 127"/>
            <p:cNvSpPr/>
            <p:nvPr/>
          </p:nvSpPr>
          <p:spPr>
            <a:xfrm>
              <a:off x="5352173" y="2959900"/>
              <a:ext cx="602615" cy="938530"/>
            </a:xfrm>
            <a:custGeom>
              <a:avLst/>
              <a:gdLst/>
              <a:ahLst/>
              <a:cxnLst/>
              <a:rect l="l" t="t" r="r" b="b"/>
              <a:pathLst>
                <a:path w="602614"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28" name="object 128"/>
            <p:cNvSpPr/>
            <p:nvPr/>
          </p:nvSpPr>
          <p:spPr>
            <a:xfrm>
              <a:off x="5897930" y="2918409"/>
              <a:ext cx="82550" cy="107950"/>
            </a:xfrm>
            <a:custGeom>
              <a:avLst/>
              <a:gdLst/>
              <a:ahLst/>
              <a:cxnLst/>
              <a:rect l="l" t="t" r="r" b="b"/>
              <a:pathLst>
                <a:path w="82550" h="107950">
                  <a:moveTo>
                    <a:pt x="82435" y="0"/>
                  </a:moveTo>
                  <a:lnTo>
                    <a:pt x="0" y="76454"/>
                  </a:lnTo>
                  <a:lnTo>
                    <a:pt x="49250" y="107492"/>
                  </a:lnTo>
                  <a:lnTo>
                    <a:pt x="82435" y="0"/>
                  </a:lnTo>
                  <a:close/>
                </a:path>
              </a:pathLst>
            </a:custGeom>
            <a:solidFill>
              <a:srgbClr val="000000"/>
            </a:solidFill>
          </p:spPr>
          <p:txBody>
            <a:bodyPr wrap="square" lIns="0" tIns="0" rIns="0" bIns="0" rtlCol="0"/>
            <a:lstStyle/>
            <a:p>
              <a:endParaRPr/>
            </a:p>
          </p:txBody>
        </p:sp>
        <p:sp>
          <p:nvSpPr>
            <p:cNvPr id="129" name="object 129"/>
            <p:cNvSpPr/>
            <p:nvPr/>
          </p:nvSpPr>
          <p:spPr>
            <a:xfrm>
              <a:off x="5925985" y="2955518"/>
              <a:ext cx="31115" cy="49530"/>
            </a:xfrm>
            <a:custGeom>
              <a:avLst/>
              <a:gdLst/>
              <a:ahLst/>
              <a:cxnLst/>
              <a:rect l="l" t="t" r="r" b="b"/>
              <a:pathLst>
                <a:path w="31114" h="49530">
                  <a:moveTo>
                    <a:pt x="0" y="49250"/>
                  </a:moveTo>
                  <a:lnTo>
                    <a:pt x="31013" y="0"/>
                  </a:lnTo>
                </a:path>
              </a:pathLst>
            </a:custGeom>
            <a:ln w="10535">
              <a:solidFill>
                <a:srgbClr val="000000"/>
              </a:solidFill>
            </a:ln>
          </p:spPr>
          <p:txBody>
            <a:bodyPr wrap="square" lIns="0" tIns="0" rIns="0" bIns="0" rtlCol="0"/>
            <a:lstStyle/>
            <a:p>
              <a:endParaRPr/>
            </a:p>
          </p:txBody>
        </p:sp>
      </p:grpSp>
      <p:sp>
        <p:nvSpPr>
          <p:cNvPr id="130" name="object 130"/>
          <p:cNvSpPr txBox="1"/>
          <p:nvPr/>
        </p:nvSpPr>
        <p:spPr>
          <a:xfrm rot="18180000">
            <a:off x="5310411" y="3305721"/>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5</a:t>
            </a:r>
            <a:endParaRPr sz="1300">
              <a:latin typeface="Arial MT"/>
              <a:cs typeface="Arial MT"/>
            </a:endParaRPr>
          </a:p>
        </p:txBody>
      </p:sp>
      <p:grpSp>
        <p:nvGrpSpPr>
          <p:cNvPr id="131" name="object 131"/>
          <p:cNvGrpSpPr/>
          <p:nvPr/>
        </p:nvGrpSpPr>
        <p:grpSpPr>
          <a:xfrm>
            <a:off x="5770308" y="2923679"/>
            <a:ext cx="636905" cy="988694"/>
            <a:chOff x="5770308" y="2923679"/>
            <a:chExt cx="636905" cy="988694"/>
          </a:xfrm>
        </p:grpSpPr>
        <p:sp>
          <p:nvSpPr>
            <p:cNvPr id="132" name="object 132"/>
            <p:cNvSpPr/>
            <p:nvPr/>
          </p:nvSpPr>
          <p:spPr>
            <a:xfrm>
              <a:off x="5864326" y="3364547"/>
              <a:ext cx="153035" cy="163830"/>
            </a:xfrm>
            <a:custGeom>
              <a:avLst/>
              <a:gdLst/>
              <a:ahLst/>
              <a:cxnLst/>
              <a:rect l="l" t="t" r="r" b="b"/>
              <a:pathLst>
                <a:path w="153035"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33" name="object 133"/>
            <p:cNvSpPr/>
            <p:nvPr/>
          </p:nvSpPr>
          <p:spPr>
            <a:xfrm>
              <a:off x="5778881" y="2965170"/>
              <a:ext cx="602615" cy="938530"/>
            </a:xfrm>
            <a:custGeom>
              <a:avLst/>
              <a:gdLst/>
              <a:ahLst/>
              <a:cxnLst/>
              <a:rect l="l" t="t" r="r" b="b"/>
              <a:pathLst>
                <a:path w="602614" h="938529">
                  <a:moveTo>
                    <a:pt x="602462" y="0"/>
                  </a:moveTo>
                  <a:lnTo>
                    <a:pt x="0" y="938225"/>
                  </a:lnTo>
                </a:path>
              </a:pathLst>
            </a:custGeom>
            <a:ln w="16857">
              <a:solidFill>
                <a:srgbClr val="000000"/>
              </a:solidFill>
              <a:prstDash val="lgDash"/>
            </a:ln>
          </p:spPr>
          <p:txBody>
            <a:bodyPr wrap="square" lIns="0" tIns="0" rIns="0" bIns="0" rtlCol="0"/>
            <a:lstStyle/>
            <a:p>
              <a:endParaRPr/>
            </a:p>
          </p:txBody>
        </p:sp>
        <p:sp>
          <p:nvSpPr>
            <p:cNvPr id="134" name="object 134"/>
            <p:cNvSpPr/>
            <p:nvPr/>
          </p:nvSpPr>
          <p:spPr>
            <a:xfrm>
              <a:off x="6324638" y="2923679"/>
              <a:ext cx="82550" cy="107950"/>
            </a:xfrm>
            <a:custGeom>
              <a:avLst/>
              <a:gdLst/>
              <a:ahLst/>
              <a:cxnLst/>
              <a:rect l="l" t="t" r="r" b="b"/>
              <a:pathLst>
                <a:path w="82550" h="107950">
                  <a:moveTo>
                    <a:pt x="82435" y="0"/>
                  </a:moveTo>
                  <a:lnTo>
                    <a:pt x="0" y="76454"/>
                  </a:lnTo>
                  <a:lnTo>
                    <a:pt x="49250" y="107492"/>
                  </a:lnTo>
                  <a:lnTo>
                    <a:pt x="82435" y="0"/>
                  </a:lnTo>
                  <a:close/>
                </a:path>
              </a:pathLst>
            </a:custGeom>
            <a:solidFill>
              <a:srgbClr val="000000"/>
            </a:solidFill>
          </p:spPr>
          <p:txBody>
            <a:bodyPr wrap="square" lIns="0" tIns="0" rIns="0" bIns="0" rtlCol="0"/>
            <a:lstStyle/>
            <a:p>
              <a:endParaRPr/>
            </a:p>
          </p:txBody>
        </p:sp>
        <p:sp>
          <p:nvSpPr>
            <p:cNvPr id="135" name="object 135"/>
            <p:cNvSpPr/>
            <p:nvPr/>
          </p:nvSpPr>
          <p:spPr>
            <a:xfrm>
              <a:off x="6352692" y="2960789"/>
              <a:ext cx="31115" cy="49530"/>
            </a:xfrm>
            <a:custGeom>
              <a:avLst/>
              <a:gdLst/>
              <a:ahLst/>
              <a:cxnLst/>
              <a:rect l="l" t="t" r="r" b="b"/>
              <a:pathLst>
                <a:path w="31114" h="49530">
                  <a:moveTo>
                    <a:pt x="0" y="49237"/>
                  </a:moveTo>
                  <a:lnTo>
                    <a:pt x="31013" y="0"/>
                  </a:lnTo>
                </a:path>
              </a:pathLst>
            </a:custGeom>
            <a:ln w="10535">
              <a:solidFill>
                <a:srgbClr val="000000"/>
              </a:solidFill>
            </a:ln>
          </p:spPr>
          <p:txBody>
            <a:bodyPr wrap="square" lIns="0" tIns="0" rIns="0" bIns="0" rtlCol="0"/>
            <a:lstStyle/>
            <a:p>
              <a:endParaRPr/>
            </a:p>
          </p:txBody>
        </p:sp>
      </p:grpSp>
      <p:sp>
        <p:nvSpPr>
          <p:cNvPr id="136" name="object 136"/>
          <p:cNvSpPr txBox="1"/>
          <p:nvPr/>
        </p:nvSpPr>
        <p:spPr>
          <a:xfrm>
            <a:off x="6163957" y="3888110"/>
            <a:ext cx="119380" cy="227965"/>
          </a:xfrm>
          <a:prstGeom prst="rect">
            <a:avLst/>
          </a:prstGeom>
        </p:spPr>
        <p:txBody>
          <a:bodyPr vert="horz" wrap="square" lIns="0" tIns="15875" rIns="0" bIns="0" rtlCol="0">
            <a:spAutoFit/>
          </a:bodyPr>
          <a:lstStyle/>
          <a:p>
            <a:pPr marL="12700">
              <a:lnSpc>
                <a:spcPct val="100000"/>
              </a:lnSpc>
              <a:spcBef>
                <a:spcPts val="125"/>
              </a:spcBef>
            </a:pPr>
            <a:r>
              <a:rPr sz="1300" spc="15" dirty="0">
                <a:latin typeface="Arial MT"/>
                <a:cs typeface="Arial MT"/>
              </a:rPr>
              <a:t>7</a:t>
            </a:r>
            <a:endParaRPr sz="1300">
              <a:latin typeface="Arial MT"/>
              <a:cs typeface="Arial MT"/>
            </a:endParaRPr>
          </a:p>
        </p:txBody>
      </p:sp>
      <p:grpSp>
        <p:nvGrpSpPr>
          <p:cNvPr id="137" name="object 137"/>
          <p:cNvGrpSpPr/>
          <p:nvPr/>
        </p:nvGrpSpPr>
        <p:grpSpPr>
          <a:xfrm>
            <a:off x="6089281" y="2923679"/>
            <a:ext cx="755650" cy="1224915"/>
            <a:chOff x="6089281" y="2923679"/>
            <a:chExt cx="755650" cy="1224915"/>
          </a:xfrm>
        </p:grpSpPr>
        <p:sp>
          <p:nvSpPr>
            <p:cNvPr id="138" name="object 138"/>
            <p:cNvSpPr/>
            <p:nvPr/>
          </p:nvSpPr>
          <p:spPr>
            <a:xfrm>
              <a:off x="6094679" y="3890263"/>
              <a:ext cx="253365" cy="253365"/>
            </a:xfrm>
            <a:custGeom>
              <a:avLst/>
              <a:gdLst/>
              <a:ahLst/>
              <a:cxnLst/>
              <a:rect l="l" t="t" r="r" b="b"/>
              <a:pathLst>
                <a:path w="253364" h="253364">
                  <a:moveTo>
                    <a:pt x="0" y="0"/>
                  </a:moveTo>
                  <a:lnTo>
                    <a:pt x="0" y="252862"/>
                  </a:lnTo>
                  <a:lnTo>
                    <a:pt x="252862" y="252862"/>
                  </a:lnTo>
                  <a:lnTo>
                    <a:pt x="252862" y="0"/>
                  </a:lnTo>
                  <a:lnTo>
                    <a:pt x="0" y="0"/>
                  </a:lnTo>
                  <a:close/>
                </a:path>
              </a:pathLst>
            </a:custGeom>
            <a:ln w="10535">
              <a:solidFill>
                <a:srgbClr val="000000"/>
              </a:solidFill>
            </a:ln>
          </p:spPr>
          <p:txBody>
            <a:bodyPr wrap="square" lIns="0" tIns="0" rIns="0" bIns="0" rtlCol="0"/>
            <a:lstStyle/>
            <a:p>
              <a:endParaRPr/>
            </a:p>
          </p:txBody>
        </p:sp>
        <p:sp>
          <p:nvSpPr>
            <p:cNvPr id="139" name="object 139"/>
            <p:cNvSpPr/>
            <p:nvPr/>
          </p:nvSpPr>
          <p:spPr>
            <a:xfrm>
              <a:off x="6301562" y="3364547"/>
              <a:ext cx="153035" cy="163830"/>
            </a:xfrm>
            <a:custGeom>
              <a:avLst/>
              <a:gdLst/>
              <a:ahLst/>
              <a:cxnLst/>
              <a:rect l="l" t="t" r="r" b="b"/>
              <a:pathLst>
                <a:path w="153035"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40" name="object 140"/>
            <p:cNvSpPr/>
            <p:nvPr/>
          </p:nvSpPr>
          <p:spPr>
            <a:xfrm>
              <a:off x="6761886" y="2923679"/>
              <a:ext cx="82550" cy="107950"/>
            </a:xfrm>
            <a:custGeom>
              <a:avLst/>
              <a:gdLst/>
              <a:ahLst/>
              <a:cxnLst/>
              <a:rect l="l" t="t" r="r" b="b"/>
              <a:pathLst>
                <a:path w="82550" h="107950">
                  <a:moveTo>
                    <a:pt x="82423" y="0"/>
                  </a:moveTo>
                  <a:lnTo>
                    <a:pt x="0" y="76454"/>
                  </a:lnTo>
                  <a:lnTo>
                    <a:pt x="49237" y="107492"/>
                  </a:lnTo>
                  <a:lnTo>
                    <a:pt x="82423" y="0"/>
                  </a:lnTo>
                  <a:close/>
                </a:path>
              </a:pathLst>
            </a:custGeom>
            <a:solidFill>
              <a:srgbClr val="000000"/>
            </a:solidFill>
          </p:spPr>
          <p:txBody>
            <a:bodyPr wrap="square" lIns="0" tIns="0" rIns="0" bIns="0" rtlCol="0"/>
            <a:lstStyle/>
            <a:p>
              <a:endParaRPr/>
            </a:p>
          </p:txBody>
        </p:sp>
        <p:sp>
          <p:nvSpPr>
            <p:cNvPr id="141" name="object 141"/>
            <p:cNvSpPr/>
            <p:nvPr/>
          </p:nvSpPr>
          <p:spPr>
            <a:xfrm>
              <a:off x="6789928" y="2960789"/>
              <a:ext cx="31115" cy="49530"/>
            </a:xfrm>
            <a:custGeom>
              <a:avLst/>
              <a:gdLst/>
              <a:ahLst/>
              <a:cxnLst/>
              <a:rect l="l" t="t" r="r" b="b"/>
              <a:pathLst>
                <a:path w="31115" h="49530">
                  <a:moveTo>
                    <a:pt x="0" y="49237"/>
                  </a:moveTo>
                  <a:lnTo>
                    <a:pt x="31013" y="0"/>
                  </a:lnTo>
                </a:path>
              </a:pathLst>
            </a:custGeom>
            <a:ln w="10535">
              <a:solidFill>
                <a:srgbClr val="000000"/>
              </a:solidFill>
            </a:ln>
          </p:spPr>
          <p:txBody>
            <a:bodyPr wrap="square" lIns="0" tIns="0" rIns="0" bIns="0" rtlCol="0"/>
            <a:lstStyle/>
            <a:p>
              <a:endParaRPr/>
            </a:p>
          </p:txBody>
        </p:sp>
        <p:sp>
          <p:nvSpPr>
            <p:cNvPr id="142" name="object 142"/>
            <p:cNvSpPr/>
            <p:nvPr/>
          </p:nvSpPr>
          <p:spPr>
            <a:xfrm>
              <a:off x="6216116" y="2965170"/>
              <a:ext cx="602615" cy="938530"/>
            </a:xfrm>
            <a:custGeom>
              <a:avLst/>
              <a:gdLst/>
              <a:ahLst/>
              <a:cxnLst/>
              <a:rect l="l" t="t" r="r" b="b"/>
              <a:pathLst>
                <a:path w="602615" h="938529">
                  <a:moveTo>
                    <a:pt x="602475" y="0"/>
                  </a:moveTo>
                  <a:lnTo>
                    <a:pt x="0" y="938225"/>
                  </a:lnTo>
                </a:path>
              </a:pathLst>
            </a:custGeom>
            <a:ln w="16857">
              <a:solidFill>
                <a:srgbClr val="000000"/>
              </a:solidFill>
              <a:prstDash val="lgDash"/>
            </a:ln>
          </p:spPr>
          <p:txBody>
            <a:bodyPr wrap="square" lIns="0" tIns="0" rIns="0" bIns="0" rtlCol="0"/>
            <a:lstStyle/>
            <a:p>
              <a:endParaRPr/>
            </a:p>
          </p:txBody>
        </p:sp>
      </p:grpSp>
      <p:sp>
        <p:nvSpPr>
          <p:cNvPr id="143" name="object 143"/>
          <p:cNvSpPr txBox="1"/>
          <p:nvPr/>
        </p:nvSpPr>
        <p:spPr>
          <a:xfrm rot="18180000">
            <a:off x="5737118" y="3310979"/>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6</a:t>
            </a:r>
            <a:endParaRPr sz="1300">
              <a:latin typeface="Arial MT"/>
              <a:cs typeface="Arial MT"/>
            </a:endParaRPr>
          </a:p>
        </p:txBody>
      </p:sp>
      <p:sp>
        <p:nvSpPr>
          <p:cNvPr id="144" name="object 144"/>
          <p:cNvSpPr txBox="1"/>
          <p:nvPr/>
        </p:nvSpPr>
        <p:spPr>
          <a:xfrm rot="18180000">
            <a:off x="6153284" y="3310979"/>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7</a:t>
            </a:r>
            <a:endParaRPr sz="1300">
              <a:latin typeface="Arial MT"/>
              <a:cs typeface="Arial MT"/>
            </a:endParaRPr>
          </a:p>
        </p:txBody>
      </p:sp>
      <p:grpSp>
        <p:nvGrpSpPr>
          <p:cNvPr id="145" name="object 145"/>
          <p:cNvGrpSpPr/>
          <p:nvPr/>
        </p:nvGrpSpPr>
        <p:grpSpPr>
          <a:xfrm>
            <a:off x="6628980" y="2939478"/>
            <a:ext cx="636905" cy="988694"/>
            <a:chOff x="6628980" y="2939478"/>
            <a:chExt cx="636905" cy="988694"/>
          </a:xfrm>
        </p:grpSpPr>
        <p:sp>
          <p:nvSpPr>
            <p:cNvPr id="146" name="object 146"/>
            <p:cNvSpPr/>
            <p:nvPr/>
          </p:nvSpPr>
          <p:spPr>
            <a:xfrm>
              <a:off x="6722998" y="3380346"/>
              <a:ext cx="153035" cy="163830"/>
            </a:xfrm>
            <a:custGeom>
              <a:avLst/>
              <a:gdLst/>
              <a:ahLst/>
              <a:cxnLst/>
              <a:rect l="l" t="t" r="r" b="b"/>
              <a:pathLst>
                <a:path w="153034"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47" name="object 147"/>
            <p:cNvSpPr/>
            <p:nvPr/>
          </p:nvSpPr>
          <p:spPr>
            <a:xfrm>
              <a:off x="6637553" y="2980969"/>
              <a:ext cx="602615" cy="938530"/>
            </a:xfrm>
            <a:custGeom>
              <a:avLst/>
              <a:gdLst/>
              <a:ahLst/>
              <a:cxnLst/>
              <a:rect l="l" t="t" r="r" b="b"/>
              <a:pathLst>
                <a:path w="602615" h="938529">
                  <a:moveTo>
                    <a:pt x="602475" y="0"/>
                  </a:moveTo>
                  <a:lnTo>
                    <a:pt x="0" y="938237"/>
                  </a:lnTo>
                </a:path>
              </a:pathLst>
            </a:custGeom>
            <a:ln w="16857">
              <a:solidFill>
                <a:srgbClr val="000000"/>
              </a:solidFill>
              <a:prstDash val="lgDash"/>
            </a:ln>
          </p:spPr>
          <p:txBody>
            <a:bodyPr wrap="square" lIns="0" tIns="0" rIns="0" bIns="0" rtlCol="0"/>
            <a:lstStyle/>
            <a:p>
              <a:endParaRPr/>
            </a:p>
          </p:txBody>
        </p:sp>
        <p:sp>
          <p:nvSpPr>
            <p:cNvPr id="148" name="object 148"/>
            <p:cNvSpPr/>
            <p:nvPr/>
          </p:nvSpPr>
          <p:spPr>
            <a:xfrm>
              <a:off x="7183322" y="2939478"/>
              <a:ext cx="82550" cy="107950"/>
            </a:xfrm>
            <a:custGeom>
              <a:avLst/>
              <a:gdLst/>
              <a:ahLst/>
              <a:cxnLst/>
              <a:rect l="l" t="t" r="r" b="b"/>
              <a:pathLst>
                <a:path w="82550" h="107950">
                  <a:moveTo>
                    <a:pt x="82423" y="0"/>
                  </a:moveTo>
                  <a:lnTo>
                    <a:pt x="0" y="76454"/>
                  </a:lnTo>
                  <a:lnTo>
                    <a:pt x="49237" y="107492"/>
                  </a:lnTo>
                  <a:lnTo>
                    <a:pt x="82423" y="0"/>
                  </a:lnTo>
                  <a:close/>
                </a:path>
              </a:pathLst>
            </a:custGeom>
            <a:solidFill>
              <a:srgbClr val="000000"/>
            </a:solidFill>
          </p:spPr>
          <p:txBody>
            <a:bodyPr wrap="square" lIns="0" tIns="0" rIns="0" bIns="0" rtlCol="0"/>
            <a:lstStyle/>
            <a:p>
              <a:endParaRPr/>
            </a:p>
          </p:txBody>
        </p:sp>
        <p:sp>
          <p:nvSpPr>
            <p:cNvPr id="149" name="object 149"/>
            <p:cNvSpPr/>
            <p:nvPr/>
          </p:nvSpPr>
          <p:spPr>
            <a:xfrm>
              <a:off x="7211364" y="2976587"/>
              <a:ext cx="31115" cy="49530"/>
            </a:xfrm>
            <a:custGeom>
              <a:avLst/>
              <a:gdLst/>
              <a:ahLst/>
              <a:cxnLst/>
              <a:rect l="l" t="t" r="r" b="b"/>
              <a:pathLst>
                <a:path w="31115" h="49530">
                  <a:moveTo>
                    <a:pt x="0" y="49250"/>
                  </a:moveTo>
                  <a:lnTo>
                    <a:pt x="31013" y="0"/>
                  </a:lnTo>
                </a:path>
              </a:pathLst>
            </a:custGeom>
            <a:ln w="10535">
              <a:solidFill>
                <a:srgbClr val="000000"/>
              </a:solidFill>
            </a:ln>
          </p:spPr>
          <p:txBody>
            <a:bodyPr wrap="square" lIns="0" tIns="0" rIns="0" bIns="0" rtlCol="0"/>
            <a:lstStyle/>
            <a:p>
              <a:endParaRPr/>
            </a:p>
          </p:txBody>
        </p:sp>
      </p:grpSp>
      <p:sp>
        <p:nvSpPr>
          <p:cNvPr id="150" name="object 150"/>
          <p:cNvSpPr txBox="1"/>
          <p:nvPr/>
        </p:nvSpPr>
        <p:spPr>
          <a:xfrm rot="18180000">
            <a:off x="6595803" y="3326790"/>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8</a:t>
            </a:r>
            <a:endParaRPr sz="1300">
              <a:latin typeface="Arial MT"/>
              <a:cs typeface="Arial MT"/>
            </a:endParaRPr>
          </a:p>
        </p:txBody>
      </p:sp>
      <p:grpSp>
        <p:nvGrpSpPr>
          <p:cNvPr id="151" name="object 151"/>
          <p:cNvGrpSpPr/>
          <p:nvPr/>
        </p:nvGrpSpPr>
        <p:grpSpPr>
          <a:xfrm>
            <a:off x="7071500" y="2939478"/>
            <a:ext cx="689610" cy="988694"/>
            <a:chOff x="7071500" y="2939478"/>
            <a:chExt cx="689610" cy="988694"/>
          </a:xfrm>
        </p:grpSpPr>
        <p:sp>
          <p:nvSpPr>
            <p:cNvPr id="152" name="object 152"/>
            <p:cNvSpPr/>
            <p:nvPr/>
          </p:nvSpPr>
          <p:spPr>
            <a:xfrm>
              <a:off x="7165518" y="3375075"/>
              <a:ext cx="595630" cy="168910"/>
            </a:xfrm>
            <a:custGeom>
              <a:avLst/>
              <a:gdLst/>
              <a:ahLst/>
              <a:cxnLst/>
              <a:rect l="l" t="t" r="r" b="b"/>
              <a:pathLst>
                <a:path w="595629" h="168910">
                  <a:moveTo>
                    <a:pt x="152768" y="5270"/>
                  </a:moveTo>
                  <a:lnTo>
                    <a:pt x="0" y="5270"/>
                  </a:lnTo>
                  <a:lnTo>
                    <a:pt x="0" y="168579"/>
                  </a:lnTo>
                  <a:lnTo>
                    <a:pt x="152768" y="168579"/>
                  </a:lnTo>
                  <a:lnTo>
                    <a:pt x="152768" y="5270"/>
                  </a:lnTo>
                  <a:close/>
                </a:path>
                <a:path w="595629" h="168910">
                  <a:moveTo>
                    <a:pt x="595274" y="0"/>
                  </a:moveTo>
                  <a:lnTo>
                    <a:pt x="442506" y="0"/>
                  </a:lnTo>
                  <a:lnTo>
                    <a:pt x="442506" y="163309"/>
                  </a:lnTo>
                  <a:lnTo>
                    <a:pt x="595274" y="163309"/>
                  </a:lnTo>
                  <a:lnTo>
                    <a:pt x="595274" y="0"/>
                  </a:lnTo>
                  <a:close/>
                </a:path>
              </a:pathLst>
            </a:custGeom>
            <a:solidFill>
              <a:srgbClr val="FFFFFF"/>
            </a:solidFill>
          </p:spPr>
          <p:txBody>
            <a:bodyPr wrap="square" lIns="0" tIns="0" rIns="0" bIns="0" rtlCol="0"/>
            <a:lstStyle/>
            <a:p>
              <a:endParaRPr/>
            </a:p>
          </p:txBody>
        </p:sp>
        <p:sp>
          <p:nvSpPr>
            <p:cNvPr id="153" name="object 153"/>
            <p:cNvSpPr/>
            <p:nvPr/>
          </p:nvSpPr>
          <p:spPr>
            <a:xfrm>
              <a:off x="7080072" y="2980969"/>
              <a:ext cx="602615" cy="938530"/>
            </a:xfrm>
            <a:custGeom>
              <a:avLst/>
              <a:gdLst/>
              <a:ahLst/>
              <a:cxnLst/>
              <a:rect l="l" t="t" r="r" b="b"/>
              <a:pathLst>
                <a:path w="602615" h="938529">
                  <a:moveTo>
                    <a:pt x="602462" y="0"/>
                  </a:moveTo>
                  <a:lnTo>
                    <a:pt x="0" y="938237"/>
                  </a:lnTo>
                </a:path>
              </a:pathLst>
            </a:custGeom>
            <a:ln w="16857">
              <a:solidFill>
                <a:srgbClr val="000000"/>
              </a:solidFill>
              <a:prstDash val="lgDash"/>
            </a:ln>
          </p:spPr>
          <p:txBody>
            <a:bodyPr wrap="square" lIns="0" tIns="0" rIns="0" bIns="0" rtlCol="0"/>
            <a:lstStyle/>
            <a:p>
              <a:endParaRPr/>
            </a:p>
          </p:txBody>
        </p:sp>
        <p:sp>
          <p:nvSpPr>
            <p:cNvPr id="154" name="object 154"/>
            <p:cNvSpPr/>
            <p:nvPr/>
          </p:nvSpPr>
          <p:spPr>
            <a:xfrm>
              <a:off x="7625829" y="2939478"/>
              <a:ext cx="82550" cy="107950"/>
            </a:xfrm>
            <a:custGeom>
              <a:avLst/>
              <a:gdLst/>
              <a:ahLst/>
              <a:cxnLst/>
              <a:rect l="l" t="t" r="r" b="b"/>
              <a:pathLst>
                <a:path w="82550" h="107950">
                  <a:moveTo>
                    <a:pt x="82435" y="0"/>
                  </a:moveTo>
                  <a:lnTo>
                    <a:pt x="0" y="76454"/>
                  </a:lnTo>
                  <a:lnTo>
                    <a:pt x="49237" y="107492"/>
                  </a:lnTo>
                  <a:lnTo>
                    <a:pt x="82435" y="0"/>
                  </a:lnTo>
                  <a:close/>
                </a:path>
              </a:pathLst>
            </a:custGeom>
            <a:solidFill>
              <a:srgbClr val="000000"/>
            </a:solidFill>
          </p:spPr>
          <p:txBody>
            <a:bodyPr wrap="square" lIns="0" tIns="0" rIns="0" bIns="0" rtlCol="0"/>
            <a:lstStyle/>
            <a:p>
              <a:endParaRPr/>
            </a:p>
          </p:txBody>
        </p:sp>
        <p:sp>
          <p:nvSpPr>
            <p:cNvPr id="155" name="object 155"/>
            <p:cNvSpPr/>
            <p:nvPr/>
          </p:nvSpPr>
          <p:spPr>
            <a:xfrm>
              <a:off x="7653871" y="2976587"/>
              <a:ext cx="31115" cy="49530"/>
            </a:xfrm>
            <a:custGeom>
              <a:avLst/>
              <a:gdLst/>
              <a:ahLst/>
              <a:cxnLst/>
              <a:rect l="l" t="t" r="r" b="b"/>
              <a:pathLst>
                <a:path w="31115" h="49530">
                  <a:moveTo>
                    <a:pt x="0" y="49250"/>
                  </a:moveTo>
                  <a:lnTo>
                    <a:pt x="31026" y="0"/>
                  </a:lnTo>
                </a:path>
              </a:pathLst>
            </a:custGeom>
            <a:ln w="10535">
              <a:solidFill>
                <a:srgbClr val="000000"/>
              </a:solidFill>
            </a:ln>
          </p:spPr>
          <p:txBody>
            <a:bodyPr wrap="square" lIns="0" tIns="0" rIns="0" bIns="0" rtlCol="0"/>
            <a:lstStyle/>
            <a:p>
              <a:endParaRPr/>
            </a:p>
          </p:txBody>
        </p:sp>
      </p:grpSp>
      <p:sp>
        <p:nvSpPr>
          <p:cNvPr id="156" name="object 156"/>
          <p:cNvSpPr txBox="1"/>
          <p:nvPr/>
        </p:nvSpPr>
        <p:spPr>
          <a:xfrm rot="18180000">
            <a:off x="7038309" y="3326790"/>
            <a:ext cx="454804"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9</a:t>
            </a:r>
            <a:endParaRPr sz="1300">
              <a:latin typeface="Arial MT"/>
              <a:cs typeface="Arial MT"/>
            </a:endParaRPr>
          </a:p>
        </p:txBody>
      </p:sp>
      <p:grpSp>
        <p:nvGrpSpPr>
          <p:cNvPr id="157" name="object 157"/>
          <p:cNvGrpSpPr/>
          <p:nvPr/>
        </p:nvGrpSpPr>
        <p:grpSpPr>
          <a:xfrm>
            <a:off x="7914373" y="2934220"/>
            <a:ext cx="1063625" cy="993775"/>
            <a:chOff x="7914373" y="2934220"/>
            <a:chExt cx="1063625" cy="993775"/>
          </a:xfrm>
        </p:grpSpPr>
        <p:sp>
          <p:nvSpPr>
            <p:cNvPr id="158" name="object 158"/>
            <p:cNvSpPr/>
            <p:nvPr/>
          </p:nvSpPr>
          <p:spPr>
            <a:xfrm>
              <a:off x="8008391" y="3375075"/>
              <a:ext cx="153035" cy="163830"/>
            </a:xfrm>
            <a:custGeom>
              <a:avLst/>
              <a:gdLst/>
              <a:ahLst/>
              <a:cxnLst/>
              <a:rect l="l" t="t" r="r" b="b"/>
              <a:pathLst>
                <a:path w="153034"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59" name="object 159"/>
            <p:cNvSpPr/>
            <p:nvPr/>
          </p:nvSpPr>
          <p:spPr>
            <a:xfrm>
              <a:off x="7922946" y="2975711"/>
              <a:ext cx="602615" cy="938530"/>
            </a:xfrm>
            <a:custGeom>
              <a:avLst/>
              <a:gdLst/>
              <a:ahLst/>
              <a:cxnLst/>
              <a:rect l="l" t="t" r="r" b="b"/>
              <a:pathLst>
                <a:path w="602615" h="938529">
                  <a:moveTo>
                    <a:pt x="602462" y="0"/>
                  </a:moveTo>
                  <a:lnTo>
                    <a:pt x="0" y="938225"/>
                  </a:lnTo>
                </a:path>
              </a:pathLst>
            </a:custGeom>
            <a:ln w="16857">
              <a:solidFill>
                <a:srgbClr val="000000"/>
              </a:solidFill>
              <a:prstDash val="lgDash"/>
            </a:ln>
          </p:spPr>
          <p:txBody>
            <a:bodyPr wrap="square" lIns="0" tIns="0" rIns="0" bIns="0" rtlCol="0"/>
            <a:lstStyle/>
            <a:p>
              <a:endParaRPr/>
            </a:p>
          </p:txBody>
        </p:sp>
        <p:sp>
          <p:nvSpPr>
            <p:cNvPr id="160" name="object 160"/>
            <p:cNvSpPr/>
            <p:nvPr/>
          </p:nvSpPr>
          <p:spPr>
            <a:xfrm>
              <a:off x="8468703" y="2934220"/>
              <a:ext cx="82550" cy="107950"/>
            </a:xfrm>
            <a:custGeom>
              <a:avLst/>
              <a:gdLst/>
              <a:ahLst/>
              <a:cxnLst/>
              <a:rect l="l" t="t" r="r" b="b"/>
              <a:pathLst>
                <a:path w="82550" h="107950">
                  <a:moveTo>
                    <a:pt x="82435" y="0"/>
                  </a:moveTo>
                  <a:lnTo>
                    <a:pt x="0" y="76441"/>
                  </a:lnTo>
                  <a:lnTo>
                    <a:pt x="49237" y="107480"/>
                  </a:lnTo>
                  <a:lnTo>
                    <a:pt x="82435" y="0"/>
                  </a:lnTo>
                  <a:close/>
                </a:path>
              </a:pathLst>
            </a:custGeom>
            <a:solidFill>
              <a:srgbClr val="000000"/>
            </a:solidFill>
          </p:spPr>
          <p:txBody>
            <a:bodyPr wrap="square" lIns="0" tIns="0" rIns="0" bIns="0" rtlCol="0"/>
            <a:lstStyle/>
            <a:p>
              <a:endParaRPr/>
            </a:p>
          </p:txBody>
        </p:sp>
        <p:sp>
          <p:nvSpPr>
            <p:cNvPr id="161" name="object 161"/>
            <p:cNvSpPr/>
            <p:nvPr/>
          </p:nvSpPr>
          <p:spPr>
            <a:xfrm>
              <a:off x="8496744" y="2971317"/>
              <a:ext cx="31115" cy="49530"/>
            </a:xfrm>
            <a:custGeom>
              <a:avLst/>
              <a:gdLst/>
              <a:ahLst/>
              <a:cxnLst/>
              <a:rect l="l" t="t" r="r" b="b"/>
              <a:pathLst>
                <a:path w="31115" h="49530">
                  <a:moveTo>
                    <a:pt x="0" y="49250"/>
                  </a:moveTo>
                  <a:lnTo>
                    <a:pt x="31026" y="0"/>
                  </a:lnTo>
                </a:path>
              </a:pathLst>
            </a:custGeom>
            <a:ln w="10535">
              <a:solidFill>
                <a:srgbClr val="000000"/>
              </a:solidFill>
            </a:ln>
          </p:spPr>
          <p:txBody>
            <a:bodyPr wrap="square" lIns="0" tIns="0" rIns="0" bIns="0" rtlCol="0"/>
            <a:lstStyle/>
            <a:p>
              <a:endParaRPr/>
            </a:p>
          </p:txBody>
        </p:sp>
        <p:sp>
          <p:nvSpPr>
            <p:cNvPr id="162" name="object 162"/>
            <p:cNvSpPr/>
            <p:nvPr/>
          </p:nvSpPr>
          <p:spPr>
            <a:xfrm>
              <a:off x="8435086" y="3380346"/>
              <a:ext cx="153035" cy="163830"/>
            </a:xfrm>
            <a:custGeom>
              <a:avLst/>
              <a:gdLst/>
              <a:ahLst/>
              <a:cxnLst/>
              <a:rect l="l" t="t" r="r" b="b"/>
              <a:pathLst>
                <a:path w="153034"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63" name="object 163"/>
            <p:cNvSpPr/>
            <p:nvPr/>
          </p:nvSpPr>
          <p:spPr>
            <a:xfrm>
              <a:off x="8349640" y="2980969"/>
              <a:ext cx="602615" cy="938530"/>
            </a:xfrm>
            <a:custGeom>
              <a:avLst/>
              <a:gdLst/>
              <a:ahLst/>
              <a:cxnLst/>
              <a:rect l="l" t="t" r="r" b="b"/>
              <a:pathLst>
                <a:path w="602615" h="938529">
                  <a:moveTo>
                    <a:pt x="602475" y="0"/>
                  </a:moveTo>
                  <a:lnTo>
                    <a:pt x="0" y="938237"/>
                  </a:lnTo>
                </a:path>
              </a:pathLst>
            </a:custGeom>
            <a:ln w="16857">
              <a:solidFill>
                <a:srgbClr val="000000"/>
              </a:solidFill>
              <a:prstDash val="lgDash"/>
            </a:ln>
          </p:spPr>
          <p:txBody>
            <a:bodyPr wrap="square" lIns="0" tIns="0" rIns="0" bIns="0" rtlCol="0"/>
            <a:lstStyle/>
            <a:p>
              <a:endParaRPr/>
            </a:p>
          </p:txBody>
        </p:sp>
        <p:sp>
          <p:nvSpPr>
            <p:cNvPr id="164" name="object 164"/>
            <p:cNvSpPr/>
            <p:nvPr/>
          </p:nvSpPr>
          <p:spPr>
            <a:xfrm>
              <a:off x="8895410" y="2939478"/>
              <a:ext cx="82550" cy="107950"/>
            </a:xfrm>
            <a:custGeom>
              <a:avLst/>
              <a:gdLst/>
              <a:ahLst/>
              <a:cxnLst/>
              <a:rect l="l" t="t" r="r" b="b"/>
              <a:pathLst>
                <a:path w="82550" h="107950">
                  <a:moveTo>
                    <a:pt x="82423" y="0"/>
                  </a:moveTo>
                  <a:lnTo>
                    <a:pt x="0" y="76454"/>
                  </a:lnTo>
                  <a:lnTo>
                    <a:pt x="49237" y="107492"/>
                  </a:lnTo>
                  <a:lnTo>
                    <a:pt x="82423" y="0"/>
                  </a:lnTo>
                  <a:close/>
                </a:path>
              </a:pathLst>
            </a:custGeom>
            <a:solidFill>
              <a:srgbClr val="000000"/>
            </a:solidFill>
          </p:spPr>
          <p:txBody>
            <a:bodyPr wrap="square" lIns="0" tIns="0" rIns="0" bIns="0" rtlCol="0"/>
            <a:lstStyle/>
            <a:p>
              <a:endParaRPr/>
            </a:p>
          </p:txBody>
        </p:sp>
        <p:sp>
          <p:nvSpPr>
            <p:cNvPr id="165" name="object 165"/>
            <p:cNvSpPr/>
            <p:nvPr/>
          </p:nvSpPr>
          <p:spPr>
            <a:xfrm>
              <a:off x="8923452" y="2976587"/>
              <a:ext cx="31115" cy="49530"/>
            </a:xfrm>
            <a:custGeom>
              <a:avLst/>
              <a:gdLst/>
              <a:ahLst/>
              <a:cxnLst/>
              <a:rect l="l" t="t" r="r" b="b"/>
              <a:pathLst>
                <a:path w="31115" h="49530">
                  <a:moveTo>
                    <a:pt x="0" y="49250"/>
                  </a:moveTo>
                  <a:lnTo>
                    <a:pt x="31013" y="0"/>
                  </a:lnTo>
                </a:path>
              </a:pathLst>
            </a:custGeom>
            <a:ln w="10535">
              <a:solidFill>
                <a:srgbClr val="000000"/>
              </a:solidFill>
            </a:ln>
          </p:spPr>
          <p:txBody>
            <a:bodyPr wrap="square" lIns="0" tIns="0" rIns="0" bIns="0" rtlCol="0"/>
            <a:lstStyle/>
            <a:p>
              <a:endParaRPr/>
            </a:p>
          </p:txBody>
        </p:sp>
      </p:grpSp>
      <p:sp>
        <p:nvSpPr>
          <p:cNvPr id="166" name="object 166"/>
          <p:cNvSpPr txBox="1"/>
          <p:nvPr/>
        </p:nvSpPr>
        <p:spPr>
          <a:xfrm rot="18180000">
            <a:off x="8263992" y="3326570"/>
            <a:ext cx="542581"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12</a:t>
            </a:r>
            <a:endParaRPr sz="1300">
              <a:latin typeface="Arial MT"/>
              <a:cs typeface="Arial MT"/>
            </a:endParaRPr>
          </a:p>
        </p:txBody>
      </p:sp>
      <p:grpSp>
        <p:nvGrpSpPr>
          <p:cNvPr id="167" name="object 167"/>
          <p:cNvGrpSpPr/>
          <p:nvPr/>
        </p:nvGrpSpPr>
        <p:grpSpPr>
          <a:xfrm>
            <a:off x="8799233" y="2928950"/>
            <a:ext cx="636905" cy="988694"/>
            <a:chOff x="8799233" y="2928950"/>
            <a:chExt cx="636905" cy="988694"/>
          </a:xfrm>
        </p:grpSpPr>
        <p:sp>
          <p:nvSpPr>
            <p:cNvPr id="168" name="object 168"/>
            <p:cNvSpPr/>
            <p:nvPr/>
          </p:nvSpPr>
          <p:spPr>
            <a:xfrm>
              <a:off x="8893276" y="3369818"/>
              <a:ext cx="153035" cy="163830"/>
            </a:xfrm>
            <a:custGeom>
              <a:avLst/>
              <a:gdLst/>
              <a:ahLst/>
              <a:cxnLst/>
              <a:rect l="l" t="t" r="r" b="b"/>
              <a:pathLst>
                <a:path w="153034" h="163829">
                  <a:moveTo>
                    <a:pt x="152770" y="163306"/>
                  </a:moveTo>
                  <a:lnTo>
                    <a:pt x="152770" y="0"/>
                  </a:lnTo>
                  <a:lnTo>
                    <a:pt x="0" y="0"/>
                  </a:lnTo>
                  <a:lnTo>
                    <a:pt x="0" y="163306"/>
                  </a:lnTo>
                  <a:lnTo>
                    <a:pt x="152770" y="163306"/>
                  </a:lnTo>
                  <a:close/>
                </a:path>
              </a:pathLst>
            </a:custGeom>
            <a:solidFill>
              <a:srgbClr val="FFFFFF"/>
            </a:solidFill>
          </p:spPr>
          <p:txBody>
            <a:bodyPr wrap="square" lIns="0" tIns="0" rIns="0" bIns="0" rtlCol="0"/>
            <a:lstStyle/>
            <a:p>
              <a:endParaRPr/>
            </a:p>
          </p:txBody>
        </p:sp>
        <p:sp>
          <p:nvSpPr>
            <p:cNvPr id="169" name="object 169"/>
            <p:cNvSpPr/>
            <p:nvPr/>
          </p:nvSpPr>
          <p:spPr>
            <a:xfrm>
              <a:off x="8807805" y="2970441"/>
              <a:ext cx="602615" cy="938530"/>
            </a:xfrm>
            <a:custGeom>
              <a:avLst/>
              <a:gdLst/>
              <a:ahLst/>
              <a:cxnLst/>
              <a:rect l="l" t="t" r="r" b="b"/>
              <a:pathLst>
                <a:path w="602615" h="938529">
                  <a:moveTo>
                    <a:pt x="602475" y="0"/>
                  </a:moveTo>
                  <a:lnTo>
                    <a:pt x="0" y="938225"/>
                  </a:lnTo>
                </a:path>
              </a:pathLst>
            </a:custGeom>
            <a:ln w="16857">
              <a:solidFill>
                <a:srgbClr val="000000"/>
              </a:solidFill>
              <a:prstDash val="lgDash"/>
            </a:ln>
          </p:spPr>
          <p:txBody>
            <a:bodyPr wrap="square" lIns="0" tIns="0" rIns="0" bIns="0" rtlCol="0"/>
            <a:lstStyle/>
            <a:p>
              <a:endParaRPr/>
            </a:p>
          </p:txBody>
        </p:sp>
        <p:sp>
          <p:nvSpPr>
            <p:cNvPr id="170" name="object 170"/>
            <p:cNvSpPr/>
            <p:nvPr/>
          </p:nvSpPr>
          <p:spPr>
            <a:xfrm>
              <a:off x="9353575" y="2928950"/>
              <a:ext cx="82550" cy="107950"/>
            </a:xfrm>
            <a:custGeom>
              <a:avLst/>
              <a:gdLst/>
              <a:ahLst/>
              <a:cxnLst/>
              <a:rect l="l" t="t" r="r" b="b"/>
              <a:pathLst>
                <a:path w="82550" h="107950">
                  <a:moveTo>
                    <a:pt x="82423" y="0"/>
                  </a:moveTo>
                  <a:lnTo>
                    <a:pt x="0" y="76441"/>
                  </a:lnTo>
                  <a:lnTo>
                    <a:pt x="49237" y="107480"/>
                  </a:lnTo>
                  <a:lnTo>
                    <a:pt x="82423" y="0"/>
                  </a:lnTo>
                  <a:close/>
                </a:path>
              </a:pathLst>
            </a:custGeom>
            <a:solidFill>
              <a:srgbClr val="000000"/>
            </a:solidFill>
          </p:spPr>
          <p:txBody>
            <a:bodyPr wrap="square" lIns="0" tIns="0" rIns="0" bIns="0" rtlCol="0"/>
            <a:lstStyle/>
            <a:p>
              <a:endParaRPr/>
            </a:p>
          </p:txBody>
        </p:sp>
        <p:sp>
          <p:nvSpPr>
            <p:cNvPr id="171" name="object 171"/>
            <p:cNvSpPr/>
            <p:nvPr/>
          </p:nvSpPr>
          <p:spPr>
            <a:xfrm>
              <a:off x="9381617" y="2966059"/>
              <a:ext cx="31115" cy="49530"/>
            </a:xfrm>
            <a:custGeom>
              <a:avLst/>
              <a:gdLst/>
              <a:ahLst/>
              <a:cxnLst/>
              <a:rect l="l" t="t" r="r" b="b"/>
              <a:pathLst>
                <a:path w="31115" h="49530">
                  <a:moveTo>
                    <a:pt x="0" y="49237"/>
                  </a:moveTo>
                  <a:lnTo>
                    <a:pt x="31013" y="0"/>
                  </a:lnTo>
                </a:path>
              </a:pathLst>
            </a:custGeom>
            <a:ln w="10535">
              <a:solidFill>
                <a:srgbClr val="000000"/>
              </a:solidFill>
            </a:ln>
          </p:spPr>
          <p:txBody>
            <a:bodyPr wrap="square" lIns="0" tIns="0" rIns="0" bIns="0" rtlCol="0"/>
            <a:lstStyle/>
            <a:p>
              <a:endParaRPr/>
            </a:p>
          </p:txBody>
        </p:sp>
      </p:grpSp>
      <p:sp>
        <p:nvSpPr>
          <p:cNvPr id="172" name="object 172"/>
          <p:cNvSpPr txBox="1"/>
          <p:nvPr/>
        </p:nvSpPr>
        <p:spPr>
          <a:xfrm rot="18180000">
            <a:off x="8680032" y="3358180"/>
            <a:ext cx="542581"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13</a:t>
            </a:r>
            <a:endParaRPr sz="1300">
              <a:latin typeface="Arial MT"/>
              <a:cs typeface="Arial MT"/>
            </a:endParaRPr>
          </a:p>
        </p:txBody>
      </p:sp>
      <p:grpSp>
        <p:nvGrpSpPr>
          <p:cNvPr id="173" name="object 173"/>
          <p:cNvGrpSpPr/>
          <p:nvPr/>
        </p:nvGrpSpPr>
        <p:grpSpPr>
          <a:xfrm>
            <a:off x="7514149" y="2934220"/>
            <a:ext cx="636905" cy="988694"/>
            <a:chOff x="7514149" y="2934220"/>
            <a:chExt cx="636905" cy="988694"/>
          </a:xfrm>
        </p:grpSpPr>
        <p:sp>
          <p:nvSpPr>
            <p:cNvPr id="174" name="object 174"/>
            <p:cNvSpPr/>
            <p:nvPr/>
          </p:nvSpPr>
          <p:spPr>
            <a:xfrm>
              <a:off x="7560615" y="3427755"/>
              <a:ext cx="173990" cy="158115"/>
            </a:xfrm>
            <a:custGeom>
              <a:avLst/>
              <a:gdLst/>
              <a:ahLst/>
              <a:cxnLst/>
              <a:rect l="l" t="t" r="r" b="b"/>
              <a:pathLst>
                <a:path w="173990" h="158114">
                  <a:moveTo>
                    <a:pt x="173842" y="158038"/>
                  </a:moveTo>
                  <a:lnTo>
                    <a:pt x="173842" y="0"/>
                  </a:lnTo>
                  <a:lnTo>
                    <a:pt x="0" y="0"/>
                  </a:lnTo>
                  <a:lnTo>
                    <a:pt x="0" y="158038"/>
                  </a:lnTo>
                  <a:lnTo>
                    <a:pt x="173842" y="158038"/>
                  </a:lnTo>
                  <a:close/>
                </a:path>
              </a:pathLst>
            </a:custGeom>
            <a:solidFill>
              <a:srgbClr val="FFFFFF"/>
            </a:solidFill>
          </p:spPr>
          <p:txBody>
            <a:bodyPr wrap="square" lIns="0" tIns="0" rIns="0" bIns="0" rtlCol="0"/>
            <a:lstStyle/>
            <a:p>
              <a:endParaRPr/>
            </a:p>
          </p:txBody>
        </p:sp>
        <p:sp>
          <p:nvSpPr>
            <p:cNvPr id="175" name="object 175"/>
            <p:cNvSpPr/>
            <p:nvPr/>
          </p:nvSpPr>
          <p:spPr>
            <a:xfrm>
              <a:off x="7522578" y="2975711"/>
              <a:ext cx="602615" cy="938530"/>
            </a:xfrm>
            <a:custGeom>
              <a:avLst/>
              <a:gdLst/>
              <a:ahLst/>
              <a:cxnLst/>
              <a:rect l="l" t="t" r="r" b="b"/>
              <a:pathLst>
                <a:path w="602615" h="938529">
                  <a:moveTo>
                    <a:pt x="602462" y="0"/>
                  </a:moveTo>
                  <a:lnTo>
                    <a:pt x="0" y="938225"/>
                  </a:lnTo>
                </a:path>
              </a:pathLst>
            </a:custGeom>
            <a:ln w="16857">
              <a:solidFill>
                <a:srgbClr val="000000"/>
              </a:solidFill>
              <a:prstDash val="lgDash"/>
            </a:ln>
          </p:spPr>
          <p:txBody>
            <a:bodyPr wrap="square" lIns="0" tIns="0" rIns="0" bIns="0" rtlCol="0"/>
            <a:lstStyle/>
            <a:p>
              <a:endParaRPr/>
            </a:p>
          </p:txBody>
        </p:sp>
        <p:sp>
          <p:nvSpPr>
            <p:cNvPr id="176" name="object 176"/>
            <p:cNvSpPr/>
            <p:nvPr/>
          </p:nvSpPr>
          <p:spPr>
            <a:xfrm>
              <a:off x="8068335" y="2934220"/>
              <a:ext cx="82550" cy="107950"/>
            </a:xfrm>
            <a:custGeom>
              <a:avLst/>
              <a:gdLst/>
              <a:ahLst/>
              <a:cxnLst/>
              <a:rect l="l" t="t" r="r" b="b"/>
              <a:pathLst>
                <a:path w="82550" h="107950">
                  <a:moveTo>
                    <a:pt x="82435" y="0"/>
                  </a:moveTo>
                  <a:lnTo>
                    <a:pt x="0" y="76441"/>
                  </a:lnTo>
                  <a:lnTo>
                    <a:pt x="49250" y="107480"/>
                  </a:lnTo>
                  <a:lnTo>
                    <a:pt x="82435" y="0"/>
                  </a:lnTo>
                  <a:close/>
                </a:path>
              </a:pathLst>
            </a:custGeom>
            <a:solidFill>
              <a:srgbClr val="000000"/>
            </a:solidFill>
          </p:spPr>
          <p:txBody>
            <a:bodyPr wrap="square" lIns="0" tIns="0" rIns="0" bIns="0" rtlCol="0"/>
            <a:lstStyle/>
            <a:p>
              <a:endParaRPr/>
            </a:p>
          </p:txBody>
        </p:sp>
        <p:sp>
          <p:nvSpPr>
            <p:cNvPr id="177" name="object 177"/>
            <p:cNvSpPr/>
            <p:nvPr/>
          </p:nvSpPr>
          <p:spPr>
            <a:xfrm>
              <a:off x="8096377" y="2971317"/>
              <a:ext cx="31115" cy="49530"/>
            </a:xfrm>
            <a:custGeom>
              <a:avLst/>
              <a:gdLst/>
              <a:ahLst/>
              <a:cxnLst/>
              <a:rect l="l" t="t" r="r" b="b"/>
              <a:pathLst>
                <a:path w="31115" h="49530">
                  <a:moveTo>
                    <a:pt x="0" y="49250"/>
                  </a:moveTo>
                  <a:lnTo>
                    <a:pt x="31026" y="0"/>
                  </a:lnTo>
                </a:path>
              </a:pathLst>
            </a:custGeom>
            <a:ln w="10535">
              <a:solidFill>
                <a:srgbClr val="000000"/>
              </a:solidFill>
            </a:ln>
          </p:spPr>
          <p:txBody>
            <a:bodyPr wrap="square" lIns="0" tIns="0" rIns="0" bIns="0" rtlCol="0"/>
            <a:lstStyle/>
            <a:p>
              <a:endParaRPr/>
            </a:p>
          </p:txBody>
        </p:sp>
      </p:grpSp>
      <p:sp>
        <p:nvSpPr>
          <p:cNvPr id="178" name="object 178"/>
          <p:cNvSpPr txBox="1"/>
          <p:nvPr/>
        </p:nvSpPr>
        <p:spPr>
          <a:xfrm rot="18180000">
            <a:off x="7424192" y="3340984"/>
            <a:ext cx="542581"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10</a:t>
            </a:r>
            <a:endParaRPr sz="1300">
              <a:latin typeface="Arial MT"/>
              <a:cs typeface="Arial MT"/>
            </a:endParaRPr>
          </a:p>
        </p:txBody>
      </p:sp>
      <p:sp>
        <p:nvSpPr>
          <p:cNvPr id="179" name="object 179"/>
          <p:cNvSpPr txBox="1"/>
          <p:nvPr/>
        </p:nvSpPr>
        <p:spPr>
          <a:xfrm rot="18180000">
            <a:off x="7837285" y="3321312"/>
            <a:ext cx="542581" cy="168275"/>
          </a:xfrm>
          <a:prstGeom prst="rect">
            <a:avLst/>
          </a:prstGeom>
        </p:spPr>
        <p:txBody>
          <a:bodyPr vert="horz" wrap="square" lIns="0" tIns="0" rIns="0" bIns="0" rtlCol="0">
            <a:spAutoFit/>
          </a:bodyPr>
          <a:lstStyle/>
          <a:p>
            <a:pPr>
              <a:lnSpc>
                <a:spcPts val="1325"/>
              </a:lnSpc>
            </a:pPr>
            <a:r>
              <a:rPr sz="1300" spc="15" dirty="0">
                <a:latin typeface="Arial MT"/>
                <a:cs typeface="Arial MT"/>
              </a:rPr>
              <a:t>Ack</a:t>
            </a:r>
            <a:r>
              <a:rPr sz="1300" spc="5" dirty="0">
                <a:latin typeface="Arial MT"/>
                <a:cs typeface="Arial MT"/>
              </a:rPr>
              <a:t> </a:t>
            </a:r>
            <a:r>
              <a:rPr sz="1300" spc="15" dirty="0">
                <a:latin typeface="Arial MT"/>
                <a:cs typeface="Arial MT"/>
              </a:rPr>
              <a:t>11</a:t>
            </a:r>
            <a:endParaRPr sz="1300">
              <a:latin typeface="Arial MT"/>
              <a:cs typeface="Arial MT"/>
            </a:endParaRPr>
          </a:p>
        </p:txBody>
      </p:sp>
      <p:sp>
        <p:nvSpPr>
          <p:cNvPr id="180" name="object 180"/>
          <p:cNvSpPr/>
          <p:nvPr/>
        </p:nvSpPr>
        <p:spPr>
          <a:xfrm>
            <a:off x="1616049" y="6191110"/>
            <a:ext cx="165735" cy="158750"/>
          </a:xfrm>
          <a:custGeom>
            <a:avLst/>
            <a:gdLst/>
            <a:ahLst/>
            <a:cxnLst/>
            <a:rect l="l" t="t" r="r" b="b"/>
            <a:pathLst>
              <a:path w="165735" h="158750">
                <a:moveTo>
                  <a:pt x="165671" y="158203"/>
                </a:moveTo>
                <a:lnTo>
                  <a:pt x="165671" y="0"/>
                </a:lnTo>
                <a:lnTo>
                  <a:pt x="0" y="0"/>
                </a:lnTo>
                <a:lnTo>
                  <a:pt x="0" y="79095"/>
                </a:lnTo>
                <a:lnTo>
                  <a:pt x="0" y="158203"/>
                </a:lnTo>
                <a:lnTo>
                  <a:pt x="165671" y="158203"/>
                </a:lnTo>
                <a:close/>
              </a:path>
            </a:pathLst>
          </a:custGeom>
          <a:solidFill>
            <a:srgbClr val="9B0707"/>
          </a:solidFill>
        </p:spPr>
        <p:txBody>
          <a:bodyPr wrap="square" lIns="0" tIns="0" rIns="0" bIns="0" rtlCol="0"/>
          <a:lstStyle/>
          <a:p>
            <a:endParaRPr/>
          </a:p>
        </p:txBody>
      </p:sp>
      <p:sp>
        <p:nvSpPr>
          <p:cNvPr id="181" name="object 181"/>
          <p:cNvSpPr txBox="1"/>
          <p:nvPr/>
        </p:nvSpPr>
        <p:spPr>
          <a:xfrm>
            <a:off x="1592072" y="4941590"/>
            <a:ext cx="8085328" cy="1470274"/>
          </a:xfrm>
          <a:prstGeom prst="rect">
            <a:avLst/>
          </a:prstGeom>
        </p:spPr>
        <p:txBody>
          <a:bodyPr vert="horz" wrap="square" lIns="0" tIns="15875" rIns="0" bIns="0" rtlCol="0">
            <a:spAutoFit/>
          </a:bodyPr>
          <a:lstStyle/>
          <a:p>
            <a:pPr marL="12700">
              <a:lnSpc>
                <a:spcPct val="100000"/>
              </a:lnSpc>
              <a:spcBef>
                <a:spcPts val="125"/>
              </a:spcBef>
            </a:pPr>
            <a:r>
              <a:rPr sz="2650" spc="10" dirty="0">
                <a:solidFill>
                  <a:srgbClr val="9B0707"/>
                </a:solidFill>
                <a:cs typeface="Arial MT"/>
              </a:rPr>
              <a:t>Leads</a:t>
            </a:r>
            <a:r>
              <a:rPr sz="2650" spc="-5" dirty="0">
                <a:solidFill>
                  <a:srgbClr val="9B0707"/>
                </a:solidFill>
                <a:cs typeface="Arial MT"/>
              </a:rPr>
              <a:t> </a:t>
            </a:r>
            <a:r>
              <a:rPr sz="2650" spc="5" dirty="0">
                <a:solidFill>
                  <a:srgbClr val="9B0707"/>
                </a:solidFill>
                <a:cs typeface="Arial MT"/>
              </a:rPr>
              <a:t>to</a:t>
            </a:r>
            <a:r>
              <a:rPr sz="2650" spc="-10" dirty="0">
                <a:solidFill>
                  <a:srgbClr val="9B0707"/>
                </a:solidFill>
                <a:cs typeface="Arial MT"/>
              </a:rPr>
              <a:t> </a:t>
            </a:r>
            <a:r>
              <a:rPr sz="2650" dirty="0">
                <a:solidFill>
                  <a:srgbClr val="9B0707"/>
                </a:solidFill>
                <a:cs typeface="Arial MT"/>
              </a:rPr>
              <a:t>selective</a:t>
            </a:r>
            <a:r>
              <a:rPr sz="2650" spc="-30" dirty="0">
                <a:solidFill>
                  <a:srgbClr val="9B0707"/>
                </a:solidFill>
                <a:cs typeface="Arial MT"/>
              </a:rPr>
              <a:t> </a:t>
            </a:r>
            <a:r>
              <a:rPr sz="2650" dirty="0">
                <a:solidFill>
                  <a:srgbClr val="9B0707"/>
                </a:solidFill>
                <a:cs typeface="Arial MT"/>
              </a:rPr>
              <a:t>repeat</a:t>
            </a:r>
            <a:r>
              <a:rPr lang="en-US" sz="2650" dirty="0">
                <a:solidFill>
                  <a:srgbClr val="9B0707"/>
                </a:solidFill>
                <a:cs typeface="Arial MT"/>
              </a:rPr>
              <a:t> (So in Selective Repeat Receiver window is larger than one)</a:t>
            </a:r>
            <a:endParaRPr sz="2650" dirty="0">
              <a:cs typeface="Arial MT"/>
            </a:endParaRPr>
          </a:p>
          <a:p>
            <a:pPr marL="390525">
              <a:lnSpc>
                <a:spcPct val="100000"/>
              </a:lnSpc>
              <a:spcBef>
                <a:spcPts val="1820"/>
              </a:spcBef>
            </a:pPr>
            <a:r>
              <a:rPr sz="2650" dirty="0">
                <a:solidFill>
                  <a:srgbClr val="9B0707"/>
                </a:solidFill>
                <a:cs typeface="Arial MT"/>
              </a:rPr>
              <a:t>tradeoff</a:t>
            </a:r>
            <a:r>
              <a:rPr sz="2650" spc="5" dirty="0">
                <a:solidFill>
                  <a:srgbClr val="9B0707"/>
                </a:solidFill>
                <a:cs typeface="Arial MT"/>
              </a:rPr>
              <a:t> bandwidth</a:t>
            </a:r>
            <a:r>
              <a:rPr sz="2650" spc="10" dirty="0">
                <a:solidFill>
                  <a:srgbClr val="9B0707"/>
                </a:solidFill>
                <a:cs typeface="Arial MT"/>
              </a:rPr>
              <a:t> and</a:t>
            </a:r>
            <a:r>
              <a:rPr sz="2650" spc="15" dirty="0">
                <a:solidFill>
                  <a:srgbClr val="9B0707"/>
                </a:solidFill>
                <a:cs typeface="Arial MT"/>
              </a:rPr>
              <a:t> </a:t>
            </a:r>
            <a:r>
              <a:rPr sz="2650" spc="-15" dirty="0">
                <a:solidFill>
                  <a:srgbClr val="9B0707"/>
                </a:solidFill>
                <a:cs typeface="Arial MT"/>
              </a:rPr>
              <a:t>buffer</a:t>
            </a:r>
            <a:r>
              <a:rPr sz="2650" spc="5" dirty="0">
                <a:solidFill>
                  <a:srgbClr val="9B0707"/>
                </a:solidFill>
                <a:cs typeface="Arial MT"/>
              </a:rPr>
              <a:t> </a:t>
            </a:r>
            <a:r>
              <a:rPr sz="2650" spc="10" dirty="0">
                <a:solidFill>
                  <a:srgbClr val="9B0707"/>
                </a:solidFill>
                <a:cs typeface="Arial MT"/>
              </a:rPr>
              <a:t>capacity</a:t>
            </a:r>
            <a:endParaRPr sz="2650" dirty="0">
              <a:cs typeface="Arial MT"/>
            </a:endParaRPr>
          </a:p>
        </p:txBody>
      </p:sp>
      <p:sp>
        <p:nvSpPr>
          <p:cNvPr id="183" name="TextBox 182">
            <a:extLst>
              <a:ext uri="{FF2B5EF4-FFF2-40B4-BE49-F238E27FC236}">
                <a16:creationId xmlns:a16="http://schemas.microsoft.com/office/drawing/2014/main" id="{0DC3B4DF-0E75-6A4B-34E5-FBAB4A5218DA}"/>
              </a:ext>
            </a:extLst>
          </p:cNvPr>
          <p:cNvSpPr txBox="1"/>
          <p:nvPr/>
        </p:nvSpPr>
        <p:spPr>
          <a:xfrm>
            <a:off x="709774" y="2558840"/>
            <a:ext cx="461665" cy="1862594"/>
          </a:xfrm>
          <a:prstGeom prst="rect">
            <a:avLst/>
          </a:prstGeom>
          <a:solidFill>
            <a:schemeClr val="accent4">
              <a:lumMod val="60000"/>
              <a:lumOff val="40000"/>
            </a:schemeClr>
          </a:solidFill>
        </p:spPr>
        <p:txBody>
          <a:bodyPr vert="vert270" wrap="square" rtlCol="0">
            <a:spAutoFit/>
          </a:bodyPr>
          <a:lstStyle/>
          <a:p>
            <a:r>
              <a:rPr lang="en-US" dirty="0"/>
              <a:t>Dealing with Error</a:t>
            </a: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9394"/>
            <a:ext cx="6346825" cy="572080"/>
          </a:xfrm>
          <a:prstGeom prst="rect">
            <a:avLst/>
          </a:prstGeom>
        </p:spPr>
        <p:txBody>
          <a:bodyPr vert="horz" wrap="square" lIns="0" tIns="13335" rIns="0" bIns="0" rtlCol="0">
            <a:spAutoFit/>
          </a:bodyPr>
          <a:lstStyle/>
          <a:p>
            <a:pPr marL="12700">
              <a:lnSpc>
                <a:spcPct val="100000"/>
              </a:lnSpc>
              <a:spcBef>
                <a:spcPts val="105"/>
              </a:spcBef>
            </a:pPr>
            <a:r>
              <a:rPr spc="-15" dirty="0">
                <a:latin typeface="+mn-lt"/>
              </a:rPr>
              <a:t>Problem</a:t>
            </a:r>
            <a:r>
              <a:rPr spc="-25" dirty="0">
                <a:latin typeface="+mn-lt"/>
              </a:rPr>
              <a:t> </a:t>
            </a:r>
            <a:r>
              <a:rPr spc="-45" dirty="0">
                <a:latin typeface="+mn-lt"/>
              </a:rPr>
              <a:t>for</a:t>
            </a:r>
            <a:r>
              <a:rPr spc="-5" dirty="0">
                <a:latin typeface="+mn-lt"/>
              </a:rPr>
              <a:t> </a:t>
            </a:r>
            <a:r>
              <a:rPr spc="-15" dirty="0">
                <a:latin typeface="+mn-lt"/>
              </a:rPr>
              <a:t>Selective</a:t>
            </a:r>
            <a:r>
              <a:rPr spc="-20" dirty="0">
                <a:latin typeface="+mn-lt"/>
              </a:rPr>
              <a:t> </a:t>
            </a:r>
            <a:r>
              <a:rPr spc="-5" dirty="0">
                <a:latin typeface="+mn-lt"/>
              </a:rPr>
              <a:t>Repeat</a:t>
            </a:r>
          </a:p>
        </p:txBody>
      </p:sp>
      <p:sp>
        <p:nvSpPr>
          <p:cNvPr id="4" name="object 4"/>
          <p:cNvSpPr txBox="1"/>
          <p:nvPr/>
        </p:nvSpPr>
        <p:spPr>
          <a:xfrm>
            <a:off x="1920481" y="2315571"/>
            <a:ext cx="569595" cy="231474"/>
          </a:xfrm>
          <a:prstGeom prst="rect">
            <a:avLst/>
          </a:prstGeom>
        </p:spPr>
        <p:txBody>
          <a:bodyPr vert="horz" wrap="square" lIns="0" tIns="15875" rIns="0" bIns="0" rtlCol="0">
            <a:spAutoFit/>
          </a:bodyPr>
          <a:lstStyle/>
          <a:p>
            <a:pPr marL="12700">
              <a:lnSpc>
                <a:spcPct val="100000"/>
              </a:lnSpc>
              <a:spcBef>
                <a:spcPts val="125"/>
              </a:spcBef>
            </a:pPr>
            <a:r>
              <a:rPr sz="1400" spc="10" dirty="0">
                <a:cs typeface="Arial MT"/>
              </a:rPr>
              <a:t>Sender</a:t>
            </a:r>
            <a:endParaRPr sz="1400" dirty="0">
              <a:cs typeface="Arial MT"/>
            </a:endParaRPr>
          </a:p>
        </p:txBody>
      </p:sp>
      <p:sp>
        <p:nvSpPr>
          <p:cNvPr id="5" name="object 5"/>
          <p:cNvSpPr txBox="1"/>
          <p:nvPr/>
        </p:nvSpPr>
        <p:spPr>
          <a:xfrm>
            <a:off x="1920481" y="3482250"/>
            <a:ext cx="690880" cy="231474"/>
          </a:xfrm>
          <a:prstGeom prst="rect">
            <a:avLst/>
          </a:prstGeom>
        </p:spPr>
        <p:txBody>
          <a:bodyPr vert="horz" wrap="square" lIns="0" tIns="15875" rIns="0" bIns="0" rtlCol="0">
            <a:spAutoFit/>
          </a:bodyPr>
          <a:lstStyle/>
          <a:p>
            <a:pPr marL="12700">
              <a:lnSpc>
                <a:spcPct val="100000"/>
              </a:lnSpc>
              <a:spcBef>
                <a:spcPts val="125"/>
              </a:spcBef>
            </a:pPr>
            <a:r>
              <a:rPr sz="1400" spc="5" dirty="0">
                <a:cs typeface="Arial MT"/>
              </a:rPr>
              <a:t>Receiver</a:t>
            </a:r>
            <a:endParaRPr sz="1400" dirty="0">
              <a:cs typeface="Arial MT"/>
            </a:endParaRPr>
          </a:p>
        </p:txBody>
      </p:sp>
      <p:sp>
        <p:nvSpPr>
          <p:cNvPr id="6" name="object 6"/>
          <p:cNvSpPr txBox="1"/>
          <p:nvPr/>
        </p:nvSpPr>
        <p:spPr>
          <a:xfrm>
            <a:off x="2789224" y="2228178"/>
            <a:ext cx="1363345" cy="319959"/>
          </a:xfrm>
          <a:prstGeom prst="rect">
            <a:avLst/>
          </a:prstGeom>
          <a:ln w="10535">
            <a:solidFill>
              <a:srgbClr val="000000"/>
            </a:solidFill>
          </a:ln>
        </p:spPr>
        <p:txBody>
          <a:bodyPr vert="horz" wrap="square" lIns="0" tIns="103505" rIns="0" bIns="0" rtlCol="0">
            <a:spAutoFit/>
          </a:bodyPr>
          <a:lstStyle/>
          <a:p>
            <a:pPr marL="104775">
              <a:lnSpc>
                <a:spcPct val="100000"/>
              </a:lnSpc>
              <a:spcBef>
                <a:spcPts val="815"/>
              </a:spcBef>
            </a:pPr>
            <a:r>
              <a:rPr sz="1400" spc="15" dirty="0">
                <a:cs typeface="Arial MT"/>
              </a:rPr>
              <a:t>0</a:t>
            </a:r>
            <a:r>
              <a:rPr sz="1400" spc="360" dirty="0">
                <a:cs typeface="Arial MT"/>
              </a:rPr>
              <a:t> </a:t>
            </a:r>
            <a:r>
              <a:rPr sz="1400" spc="15" dirty="0">
                <a:cs typeface="Arial MT"/>
              </a:rPr>
              <a:t>1</a:t>
            </a:r>
            <a:r>
              <a:rPr sz="1400" spc="360" dirty="0">
                <a:cs typeface="Arial MT"/>
              </a:rPr>
              <a:t> </a:t>
            </a:r>
            <a:r>
              <a:rPr sz="1400" spc="15" dirty="0">
                <a:cs typeface="Arial MT"/>
              </a:rPr>
              <a:t>2</a:t>
            </a:r>
            <a:r>
              <a:rPr sz="1400" spc="360" dirty="0">
                <a:cs typeface="Arial MT"/>
              </a:rPr>
              <a:t> </a:t>
            </a:r>
            <a:r>
              <a:rPr sz="1400" spc="15" dirty="0">
                <a:cs typeface="Arial MT"/>
              </a:rPr>
              <a:t>3</a:t>
            </a:r>
            <a:r>
              <a:rPr sz="1400" spc="360" dirty="0">
                <a:cs typeface="Arial MT"/>
              </a:rPr>
              <a:t> </a:t>
            </a:r>
            <a:r>
              <a:rPr sz="1400" spc="15" dirty="0">
                <a:cs typeface="Arial MT"/>
              </a:rPr>
              <a:t>4</a:t>
            </a:r>
            <a:r>
              <a:rPr sz="1400" spc="360" dirty="0">
                <a:cs typeface="Arial MT"/>
              </a:rPr>
              <a:t> </a:t>
            </a:r>
            <a:r>
              <a:rPr sz="1400" spc="15" dirty="0">
                <a:cs typeface="Arial MT"/>
              </a:rPr>
              <a:t>5</a:t>
            </a:r>
            <a:r>
              <a:rPr sz="1400" spc="365" dirty="0">
                <a:cs typeface="Arial MT"/>
              </a:rPr>
              <a:t> </a:t>
            </a:r>
            <a:r>
              <a:rPr sz="1400" spc="15" dirty="0">
                <a:cs typeface="Arial MT"/>
              </a:rPr>
              <a:t>6</a:t>
            </a:r>
            <a:endParaRPr sz="1400" dirty="0">
              <a:cs typeface="Arial MT"/>
            </a:endParaRPr>
          </a:p>
        </p:txBody>
      </p:sp>
      <p:sp>
        <p:nvSpPr>
          <p:cNvPr id="7" name="object 7"/>
          <p:cNvSpPr txBox="1"/>
          <p:nvPr/>
        </p:nvSpPr>
        <p:spPr>
          <a:xfrm>
            <a:off x="4193890" y="2315571"/>
            <a:ext cx="119380" cy="200696"/>
          </a:xfrm>
          <a:prstGeom prst="rect">
            <a:avLst/>
          </a:prstGeom>
        </p:spPr>
        <p:txBody>
          <a:bodyPr vert="horz" wrap="square" lIns="0" tIns="15875" rIns="0" bIns="0" rtlCol="0">
            <a:spAutoFit/>
          </a:bodyPr>
          <a:lstStyle/>
          <a:p>
            <a:pPr marL="12700">
              <a:lnSpc>
                <a:spcPct val="100000"/>
              </a:lnSpc>
              <a:spcBef>
                <a:spcPts val="125"/>
              </a:spcBef>
            </a:pPr>
            <a:r>
              <a:rPr sz="1200" spc="15" dirty="0">
                <a:cs typeface="Arial MT"/>
              </a:rPr>
              <a:t>7</a:t>
            </a:r>
            <a:endParaRPr sz="1200">
              <a:cs typeface="Arial MT"/>
            </a:endParaRPr>
          </a:p>
        </p:txBody>
      </p:sp>
      <p:sp>
        <p:nvSpPr>
          <p:cNvPr id="8" name="object 8"/>
          <p:cNvSpPr txBox="1"/>
          <p:nvPr/>
        </p:nvSpPr>
        <p:spPr>
          <a:xfrm>
            <a:off x="4587354" y="2228178"/>
            <a:ext cx="1363345" cy="304571"/>
          </a:xfrm>
          <a:prstGeom prst="rect">
            <a:avLst/>
          </a:prstGeom>
          <a:ln w="10535">
            <a:solidFill>
              <a:srgbClr val="000000"/>
            </a:solidFill>
          </a:ln>
        </p:spPr>
        <p:txBody>
          <a:bodyPr vert="horz" wrap="square" lIns="0" tIns="103505" rIns="0" bIns="0" rtlCol="0">
            <a:spAutoFit/>
          </a:bodyPr>
          <a:lstStyle/>
          <a:p>
            <a:pPr marL="104775">
              <a:lnSpc>
                <a:spcPct val="100000"/>
              </a:lnSpc>
              <a:spcBef>
                <a:spcPts val="815"/>
              </a:spcBef>
            </a:pPr>
            <a:r>
              <a:rPr sz="1300" spc="15" dirty="0">
                <a:cs typeface="Arial MT"/>
              </a:rPr>
              <a:t>0</a:t>
            </a:r>
            <a:r>
              <a:rPr sz="1300" spc="360" dirty="0">
                <a:cs typeface="Arial MT"/>
              </a:rPr>
              <a:t> </a:t>
            </a:r>
            <a:r>
              <a:rPr sz="1300" spc="15" dirty="0">
                <a:cs typeface="Arial MT"/>
              </a:rPr>
              <a:t>1</a:t>
            </a:r>
            <a:r>
              <a:rPr sz="1300" spc="360" dirty="0">
                <a:cs typeface="Arial MT"/>
              </a:rPr>
              <a:t> </a:t>
            </a:r>
            <a:r>
              <a:rPr sz="1300" spc="15" dirty="0">
                <a:cs typeface="Arial MT"/>
              </a:rPr>
              <a:t>2</a:t>
            </a:r>
            <a:r>
              <a:rPr sz="1300" spc="360" dirty="0">
                <a:cs typeface="Arial MT"/>
              </a:rPr>
              <a:t> </a:t>
            </a:r>
            <a:r>
              <a:rPr sz="1300" spc="15" dirty="0">
                <a:cs typeface="Arial MT"/>
              </a:rPr>
              <a:t>3</a:t>
            </a:r>
            <a:r>
              <a:rPr sz="1300" spc="360" dirty="0">
                <a:cs typeface="Arial MT"/>
              </a:rPr>
              <a:t> </a:t>
            </a:r>
            <a:r>
              <a:rPr sz="1300" spc="15" dirty="0">
                <a:cs typeface="Arial MT"/>
              </a:rPr>
              <a:t>4</a:t>
            </a:r>
            <a:r>
              <a:rPr sz="1300" spc="360" dirty="0">
                <a:cs typeface="Arial MT"/>
              </a:rPr>
              <a:t> </a:t>
            </a:r>
            <a:r>
              <a:rPr sz="1300" spc="15" dirty="0">
                <a:cs typeface="Arial MT"/>
              </a:rPr>
              <a:t>5</a:t>
            </a:r>
            <a:r>
              <a:rPr sz="1300" spc="365" dirty="0">
                <a:cs typeface="Arial MT"/>
              </a:rPr>
              <a:t> </a:t>
            </a:r>
            <a:r>
              <a:rPr sz="1300" spc="15" dirty="0">
                <a:cs typeface="Arial MT"/>
              </a:rPr>
              <a:t>6</a:t>
            </a:r>
            <a:endParaRPr sz="1300" dirty="0">
              <a:cs typeface="Arial MT"/>
            </a:endParaRPr>
          </a:p>
        </p:txBody>
      </p:sp>
      <p:sp>
        <p:nvSpPr>
          <p:cNvPr id="9" name="object 9"/>
          <p:cNvSpPr txBox="1"/>
          <p:nvPr/>
        </p:nvSpPr>
        <p:spPr>
          <a:xfrm>
            <a:off x="5991588" y="2315571"/>
            <a:ext cx="119380" cy="200696"/>
          </a:xfrm>
          <a:prstGeom prst="rect">
            <a:avLst/>
          </a:prstGeom>
        </p:spPr>
        <p:txBody>
          <a:bodyPr vert="horz" wrap="square" lIns="0" tIns="15875" rIns="0" bIns="0" rtlCol="0">
            <a:spAutoFit/>
          </a:bodyPr>
          <a:lstStyle/>
          <a:p>
            <a:pPr marL="12700">
              <a:lnSpc>
                <a:spcPct val="100000"/>
              </a:lnSpc>
              <a:spcBef>
                <a:spcPts val="125"/>
              </a:spcBef>
            </a:pPr>
            <a:r>
              <a:rPr sz="1200" spc="15" dirty="0">
                <a:cs typeface="Arial MT"/>
              </a:rPr>
              <a:t>7</a:t>
            </a:r>
            <a:endParaRPr sz="1200">
              <a:cs typeface="Arial MT"/>
            </a:endParaRPr>
          </a:p>
        </p:txBody>
      </p:sp>
      <p:sp>
        <p:nvSpPr>
          <p:cNvPr id="14" name="object 14"/>
          <p:cNvSpPr txBox="1"/>
          <p:nvPr/>
        </p:nvSpPr>
        <p:spPr>
          <a:xfrm>
            <a:off x="2789224" y="3397670"/>
            <a:ext cx="1363345" cy="316753"/>
          </a:xfrm>
          <a:prstGeom prst="rect">
            <a:avLst/>
          </a:prstGeom>
          <a:ln w="10535">
            <a:solidFill>
              <a:srgbClr val="000000"/>
            </a:solidFill>
          </a:ln>
        </p:spPr>
        <p:txBody>
          <a:bodyPr vert="horz" wrap="square" lIns="0" tIns="100330" rIns="0" bIns="0" rtlCol="0">
            <a:spAutoFit/>
          </a:bodyPr>
          <a:lstStyle/>
          <a:p>
            <a:pPr marL="104775">
              <a:lnSpc>
                <a:spcPct val="100000"/>
              </a:lnSpc>
              <a:spcBef>
                <a:spcPts val="790"/>
              </a:spcBef>
            </a:pPr>
            <a:r>
              <a:rPr sz="1400" spc="15" dirty="0">
                <a:highlight>
                  <a:srgbClr val="00FFFF"/>
                </a:highlight>
                <a:cs typeface="Arial MT"/>
              </a:rPr>
              <a:t>0</a:t>
            </a:r>
            <a:r>
              <a:rPr sz="1400" spc="360" dirty="0">
                <a:highlight>
                  <a:srgbClr val="00FFFF"/>
                </a:highlight>
                <a:cs typeface="Arial MT"/>
              </a:rPr>
              <a:t> </a:t>
            </a:r>
            <a:r>
              <a:rPr sz="1400" spc="15" dirty="0">
                <a:highlight>
                  <a:srgbClr val="00FFFF"/>
                </a:highlight>
                <a:cs typeface="Arial MT"/>
              </a:rPr>
              <a:t>1</a:t>
            </a:r>
            <a:r>
              <a:rPr sz="1400" spc="360" dirty="0">
                <a:highlight>
                  <a:srgbClr val="00FFFF"/>
                </a:highlight>
                <a:cs typeface="Arial MT"/>
              </a:rPr>
              <a:t> </a:t>
            </a:r>
            <a:r>
              <a:rPr sz="1400" spc="15" dirty="0">
                <a:highlight>
                  <a:srgbClr val="00FFFF"/>
                </a:highlight>
                <a:cs typeface="Arial MT"/>
              </a:rPr>
              <a:t>2</a:t>
            </a:r>
            <a:r>
              <a:rPr sz="1400" spc="360" dirty="0">
                <a:highlight>
                  <a:srgbClr val="00FFFF"/>
                </a:highlight>
                <a:cs typeface="Arial MT"/>
              </a:rPr>
              <a:t> </a:t>
            </a:r>
            <a:r>
              <a:rPr sz="1400" spc="15" dirty="0">
                <a:highlight>
                  <a:srgbClr val="00FFFF"/>
                </a:highlight>
                <a:cs typeface="Arial MT"/>
              </a:rPr>
              <a:t>3</a:t>
            </a:r>
            <a:r>
              <a:rPr sz="1400" spc="360" dirty="0">
                <a:highlight>
                  <a:srgbClr val="00FFFF"/>
                </a:highlight>
                <a:cs typeface="Arial MT"/>
              </a:rPr>
              <a:t> </a:t>
            </a:r>
            <a:r>
              <a:rPr sz="1400" spc="15" dirty="0">
                <a:highlight>
                  <a:srgbClr val="00FFFF"/>
                </a:highlight>
                <a:cs typeface="Arial MT"/>
              </a:rPr>
              <a:t>4</a:t>
            </a:r>
            <a:r>
              <a:rPr sz="1400" spc="360" dirty="0">
                <a:highlight>
                  <a:srgbClr val="00FFFF"/>
                </a:highlight>
                <a:cs typeface="Arial MT"/>
              </a:rPr>
              <a:t> </a:t>
            </a:r>
            <a:r>
              <a:rPr sz="1400" spc="15" dirty="0">
                <a:highlight>
                  <a:srgbClr val="00FFFF"/>
                </a:highlight>
                <a:cs typeface="Arial MT"/>
              </a:rPr>
              <a:t>5</a:t>
            </a:r>
            <a:r>
              <a:rPr sz="1400" spc="365" dirty="0">
                <a:highlight>
                  <a:srgbClr val="00FFFF"/>
                </a:highlight>
                <a:cs typeface="Arial MT"/>
              </a:rPr>
              <a:t> </a:t>
            </a:r>
            <a:r>
              <a:rPr sz="1400" spc="15" dirty="0">
                <a:cs typeface="Arial MT"/>
              </a:rPr>
              <a:t>6</a:t>
            </a:r>
            <a:endParaRPr sz="1400" dirty="0">
              <a:cs typeface="Arial MT"/>
            </a:endParaRPr>
          </a:p>
        </p:txBody>
      </p:sp>
      <p:sp>
        <p:nvSpPr>
          <p:cNvPr id="15" name="object 15"/>
          <p:cNvSpPr txBox="1"/>
          <p:nvPr/>
        </p:nvSpPr>
        <p:spPr>
          <a:xfrm>
            <a:off x="4193889" y="3482244"/>
            <a:ext cx="119380" cy="200696"/>
          </a:xfrm>
          <a:prstGeom prst="rect">
            <a:avLst/>
          </a:prstGeom>
        </p:spPr>
        <p:txBody>
          <a:bodyPr vert="horz" wrap="square" lIns="0" tIns="15875" rIns="0" bIns="0" rtlCol="0">
            <a:spAutoFit/>
          </a:bodyPr>
          <a:lstStyle/>
          <a:p>
            <a:pPr marL="12700">
              <a:lnSpc>
                <a:spcPct val="100000"/>
              </a:lnSpc>
              <a:spcBef>
                <a:spcPts val="125"/>
              </a:spcBef>
            </a:pPr>
            <a:r>
              <a:rPr sz="1200" spc="15" dirty="0">
                <a:cs typeface="Arial MT"/>
              </a:rPr>
              <a:t>7</a:t>
            </a:r>
            <a:endParaRPr sz="1200">
              <a:cs typeface="Arial MT"/>
            </a:endParaRPr>
          </a:p>
        </p:txBody>
      </p:sp>
      <p:sp>
        <p:nvSpPr>
          <p:cNvPr id="16" name="object 16"/>
          <p:cNvSpPr txBox="1"/>
          <p:nvPr/>
        </p:nvSpPr>
        <p:spPr>
          <a:xfrm>
            <a:off x="4587354" y="3397670"/>
            <a:ext cx="1181100" cy="316753"/>
          </a:xfrm>
          <a:prstGeom prst="rect">
            <a:avLst/>
          </a:prstGeom>
          <a:ln w="10535">
            <a:solidFill>
              <a:srgbClr val="000000"/>
            </a:solidFill>
          </a:ln>
        </p:spPr>
        <p:txBody>
          <a:bodyPr vert="horz" wrap="square" lIns="0" tIns="100330" rIns="0" bIns="0" rtlCol="0">
            <a:spAutoFit/>
          </a:bodyPr>
          <a:lstStyle/>
          <a:p>
            <a:pPr marL="104775">
              <a:lnSpc>
                <a:spcPct val="100000"/>
              </a:lnSpc>
              <a:spcBef>
                <a:spcPts val="790"/>
              </a:spcBef>
            </a:pPr>
            <a:r>
              <a:rPr sz="1400" spc="15" dirty="0">
                <a:highlight>
                  <a:srgbClr val="00FFFF"/>
                </a:highlight>
                <a:cs typeface="Arial MT"/>
              </a:rPr>
              <a:t>0</a:t>
            </a:r>
            <a:r>
              <a:rPr sz="1400" spc="355" dirty="0">
                <a:highlight>
                  <a:srgbClr val="00FFFF"/>
                </a:highlight>
                <a:cs typeface="Arial MT"/>
              </a:rPr>
              <a:t> </a:t>
            </a:r>
            <a:r>
              <a:rPr sz="1400" spc="15" dirty="0">
                <a:highlight>
                  <a:srgbClr val="00FFFF"/>
                </a:highlight>
                <a:cs typeface="Arial MT"/>
              </a:rPr>
              <a:t>1</a:t>
            </a:r>
            <a:r>
              <a:rPr sz="1400" spc="360" dirty="0">
                <a:highlight>
                  <a:srgbClr val="00FFFF"/>
                </a:highlight>
                <a:cs typeface="Arial MT"/>
              </a:rPr>
              <a:t> </a:t>
            </a:r>
            <a:r>
              <a:rPr sz="1400" spc="15" dirty="0">
                <a:highlight>
                  <a:srgbClr val="00FFFF"/>
                </a:highlight>
                <a:cs typeface="Arial MT"/>
              </a:rPr>
              <a:t>2</a:t>
            </a:r>
            <a:r>
              <a:rPr sz="1400" spc="355" dirty="0">
                <a:highlight>
                  <a:srgbClr val="00FFFF"/>
                </a:highlight>
                <a:cs typeface="Arial MT"/>
              </a:rPr>
              <a:t> </a:t>
            </a:r>
            <a:r>
              <a:rPr sz="1400" spc="15" dirty="0">
                <a:highlight>
                  <a:srgbClr val="00FFFF"/>
                </a:highlight>
                <a:cs typeface="Arial MT"/>
              </a:rPr>
              <a:t>3</a:t>
            </a:r>
            <a:r>
              <a:rPr sz="1400" spc="360" dirty="0">
                <a:highlight>
                  <a:srgbClr val="00FFFF"/>
                </a:highlight>
                <a:cs typeface="Arial MT"/>
              </a:rPr>
              <a:t> </a:t>
            </a:r>
            <a:r>
              <a:rPr sz="1400" spc="15" dirty="0">
                <a:highlight>
                  <a:srgbClr val="00FFFF"/>
                </a:highlight>
                <a:cs typeface="Arial MT"/>
              </a:rPr>
              <a:t>4</a:t>
            </a:r>
            <a:r>
              <a:rPr sz="1400" spc="360" dirty="0">
                <a:highlight>
                  <a:srgbClr val="00FFFF"/>
                </a:highlight>
                <a:cs typeface="Arial MT"/>
              </a:rPr>
              <a:t> </a:t>
            </a:r>
            <a:r>
              <a:rPr sz="1400" spc="15" dirty="0">
                <a:highlight>
                  <a:srgbClr val="00FFFF"/>
                </a:highlight>
                <a:cs typeface="Arial MT"/>
              </a:rPr>
              <a:t>5</a:t>
            </a:r>
            <a:endParaRPr sz="1400" dirty="0">
              <a:highlight>
                <a:srgbClr val="00FFFF"/>
              </a:highlight>
              <a:cs typeface="Arial MT"/>
            </a:endParaRPr>
          </a:p>
        </p:txBody>
      </p:sp>
      <p:sp>
        <p:nvSpPr>
          <p:cNvPr id="17" name="object 17"/>
          <p:cNvSpPr txBox="1"/>
          <p:nvPr/>
        </p:nvSpPr>
        <p:spPr>
          <a:xfrm>
            <a:off x="5804158" y="3482244"/>
            <a:ext cx="119380" cy="200696"/>
          </a:xfrm>
          <a:prstGeom prst="rect">
            <a:avLst/>
          </a:prstGeom>
        </p:spPr>
        <p:txBody>
          <a:bodyPr vert="horz" wrap="square" lIns="0" tIns="15875" rIns="0" bIns="0" rtlCol="0">
            <a:spAutoFit/>
          </a:bodyPr>
          <a:lstStyle/>
          <a:p>
            <a:pPr marL="12700">
              <a:lnSpc>
                <a:spcPct val="100000"/>
              </a:lnSpc>
              <a:spcBef>
                <a:spcPts val="125"/>
              </a:spcBef>
            </a:pPr>
            <a:r>
              <a:rPr sz="1200" spc="15" dirty="0">
                <a:cs typeface="Arial MT"/>
              </a:rPr>
              <a:t>6</a:t>
            </a:r>
            <a:endParaRPr sz="1200">
              <a:cs typeface="Arial MT"/>
            </a:endParaRPr>
          </a:p>
        </p:txBody>
      </p:sp>
      <p:sp>
        <p:nvSpPr>
          <p:cNvPr id="18" name="object 18"/>
          <p:cNvSpPr txBox="1"/>
          <p:nvPr/>
        </p:nvSpPr>
        <p:spPr>
          <a:xfrm>
            <a:off x="5951321" y="3397670"/>
            <a:ext cx="203835" cy="285976"/>
          </a:xfrm>
          <a:prstGeom prst="rect">
            <a:avLst/>
          </a:prstGeom>
          <a:ln w="10535">
            <a:solidFill>
              <a:srgbClr val="000000"/>
            </a:solidFill>
          </a:ln>
        </p:spPr>
        <p:txBody>
          <a:bodyPr vert="horz" wrap="square" lIns="0" tIns="100330" rIns="0" bIns="0" rtlCol="0">
            <a:spAutoFit/>
          </a:bodyPr>
          <a:lstStyle/>
          <a:p>
            <a:pPr marL="52705">
              <a:lnSpc>
                <a:spcPct val="100000"/>
              </a:lnSpc>
              <a:spcBef>
                <a:spcPts val="790"/>
              </a:spcBef>
            </a:pPr>
            <a:r>
              <a:rPr sz="1200" spc="15" dirty="0">
                <a:cs typeface="Arial MT"/>
              </a:rPr>
              <a:t>7</a:t>
            </a:r>
            <a:endParaRPr sz="1200">
              <a:cs typeface="Arial MT"/>
            </a:endParaRPr>
          </a:p>
        </p:txBody>
      </p:sp>
      <p:sp>
        <p:nvSpPr>
          <p:cNvPr id="22" name="object 22"/>
          <p:cNvSpPr txBox="1"/>
          <p:nvPr/>
        </p:nvSpPr>
        <p:spPr>
          <a:xfrm>
            <a:off x="1592066" y="4116268"/>
            <a:ext cx="8093075" cy="1141466"/>
          </a:xfrm>
          <a:prstGeom prst="rect">
            <a:avLst/>
          </a:prstGeom>
        </p:spPr>
        <p:txBody>
          <a:bodyPr vert="horz" wrap="square" lIns="0" tIns="96520" rIns="0" bIns="0" rtlCol="0">
            <a:spAutoFit/>
          </a:bodyPr>
          <a:lstStyle/>
          <a:p>
            <a:pPr marL="1839595">
              <a:lnSpc>
                <a:spcPct val="100000"/>
              </a:lnSpc>
              <a:spcBef>
                <a:spcPts val="760"/>
              </a:spcBef>
              <a:tabLst>
                <a:tab pos="3665220" algn="l"/>
                <a:tab pos="5341620" algn="l"/>
                <a:tab pos="7051040" algn="l"/>
              </a:tabLst>
            </a:pPr>
            <a:r>
              <a:rPr sz="1400" spc="10" dirty="0">
                <a:cs typeface="Arial MT"/>
              </a:rPr>
              <a:t>(a)	(b)</a:t>
            </a:r>
            <a:r>
              <a:rPr sz="1200" spc="10" dirty="0">
                <a:cs typeface="Arial MT"/>
              </a:rPr>
              <a:t>	</a:t>
            </a:r>
            <a:endParaRPr sz="1100" dirty="0">
              <a:cs typeface="Arial MT"/>
            </a:endParaRPr>
          </a:p>
          <a:p>
            <a:pPr marL="12700" marR="41275">
              <a:lnSpc>
                <a:spcPts val="3170"/>
              </a:lnSpc>
            </a:pPr>
            <a:r>
              <a:rPr sz="2400" dirty="0">
                <a:solidFill>
                  <a:srgbClr val="9B0707"/>
                </a:solidFill>
                <a:cs typeface="Arial MT"/>
              </a:rPr>
              <a:t>(a) </a:t>
            </a:r>
            <a:r>
              <a:rPr sz="2400" spc="5" dirty="0">
                <a:solidFill>
                  <a:srgbClr val="9B0707"/>
                </a:solidFill>
                <a:cs typeface="Arial MT"/>
              </a:rPr>
              <a:t>initial </a:t>
            </a:r>
            <a:r>
              <a:rPr sz="2400" spc="10" dirty="0">
                <a:solidFill>
                  <a:srgbClr val="9B0707"/>
                </a:solidFill>
                <a:cs typeface="Arial MT"/>
              </a:rPr>
              <a:t>situation </a:t>
            </a:r>
            <a:r>
              <a:rPr sz="2400" spc="5" dirty="0">
                <a:solidFill>
                  <a:srgbClr val="9B0707"/>
                </a:solidFill>
                <a:cs typeface="Arial MT"/>
              </a:rPr>
              <a:t>window </a:t>
            </a:r>
            <a:r>
              <a:rPr sz="2400" dirty="0">
                <a:solidFill>
                  <a:srgbClr val="9B0707"/>
                </a:solidFill>
                <a:cs typeface="Arial MT"/>
              </a:rPr>
              <a:t>size </a:t>
            </a:r>
            <a:r>
              <a:rPr sz="2400" spc="10" dirty="0">
                <a:solidFill>
                  <a:srgbClr val="9B0707"/>
                </a:solidFill>
                <a:cs typeface="Arial MT"/>
              </a:rPr>
              <a:t>is </a:t>
            </a:r>
            <a:r>
              <a:rPr sz="2400" spc="5" dirty="0">
                <a:solidFill>
                  <a:srgbClr val="9B0707"/>
                </a:solidFill>
                <a:cs typeface="Arial MT"/>
              </a:rPr>
              <a:t>7; </a:t>
            </a:r>
            <a:r>
              <a:rPr sz="2400" dirty="0">
                <a:solidFill>
                  <a:srgbClr val="9B0707"/>
                </a:solidFill>
                <a:cs typeface="Arial MT"/>
              </a:rPr>
              <a:t>(b) </a:t>
            </a:r>
            <a:r>
              <a:rPr sz="2400" spc="15" dirty="0">
                <a:solidFill>
                  <a:srgbClr val="9B0707"/>
                </a:solidFill>
                <a:cs typeface="Arial MT"/>
              </a:rPr>
              <a:t>7 </a:t>
            </a:r>
            <a:r>
              <a:rPr sz="2400" spc="5" dirty="0">
                <a:solidFill>
                  <a:srgbClr val="9B0707"/>
                </a:solidFill>
                <a:cs typeface="Arial MT"/>
              </a:rPr>
              <a:t>frames </a:t>
            </a:r>
            <a:r>
              <a:rPr sz="2400" spc="10" dirty="0">
                <a:solidFill>
                  <a:srgbClr val="9B0707"/>
                </a:solidFill>
                <a:cs typeface="Arial MT"/>
              </a:rPr>
              <a:t>sent, </a:t>
            </a:r>
            <a:r>
              <a:rPr sz="2400" spc="-725" dirty="0">
                <a:solidFill>
                  <a:srgbClr val="9B0707"/>
                </a:solidFill>
                <a:cs typeface="Arial MT"/>
              </a:rPr>
              <a:t> </a:t>
            </a:r>
            <a:r>
              <a:rPr sz="2400" dirty="0">
                <a:solidFill>
                  <a:srgbClr val="9B0707"/>
                </a:solidFill>
                <a:cs typeface="Arial MT"/>
              </a:rPr>
              <a:t>received, </a:t>
            </a:r>
            <a:r>
              <a:rPr sz="2400" spc="-10" dirty="0">
                <a:solidFill>
                  <a:srgbClr val="9B0707"/>
                </a:solidFill>
                <a:cs typeface="Arial MT"/>
              </a:rPr>
              <a:t>but </a:t>
            </a:r>
            <a:r>
              <a:rPr sz="2400" spc="5" dirty="0">
                <a:solidFill>
                  <a:srgbClr val="9B0707"/>
                </a:solidFill>
                <a:cs typeface="Arial MT"/>
              </a:rPr>
              <a:t>not </a:t>
            </a:r>
            <a:r>
              <a:rPr sz="2400" dirty="0">
                <a:solidFill>
                  <a:srgbClr val="9B0707"/>
                </a:solidFill>
                <a:cs typeface="Arial MT"/>
              </a:rPr>
              <a:t>acknowledged</a:t>
            </a:r>
            <a:r>
              <a:rPr lang="en-US" sz="2400" dirty="0">
                <a:solidFill>
                  <a:srgbClr val="9B0707"/>
                </a:solidFill>
                <a:cs typeface="Arial MT"/>
              </a:rPr>
              <a:t> (acknowledgment lost)</a:t>
            </a:r>
            <a:r>
              <a:rPr sz="2400" dirty="0">
                <a:solidFill>
                  <a:srgbClr val="9B0707"/>
                </a:solidFill>
                <a:cs typeface="Arial MT"/>
              </a:rPr>
              <a:t>;</a:t>
            </a:r>
            <a:endParaRPr sz="2400" dirty="0">
              <a:cs typeface="Arial MT"/>
            </a:endParaRPr>
          </a:p>
        </p:txBody>
      </p:sp>
      <p:sp>
        <p:nvSpPr>
          <p:cNvPr id="25" name="TextBox 24">
            <a:extLst>
              <a:ext uri="{FF2B5EF4-FFF2-40B4-BE49-F238E27FC236}">
                <a16:creationId xmlns:a16="http://schemas.microsoft.com/office/drawing/2014/main" id="{5FA69A97-95F9-5C0D-84EB-AD3C7F8542F7}"/>
              </a:ext>
            </a:extLst>
          </p:cNvPr>
          <p:cNvSpPr txBox="1"/>
          <p:nvPr/>
        </p:nvSpPr>
        <p:spPr>
          <a:xfrm>
            <a:off x="986904" y="1295400"/>
            <a:ext cx="8382000" cy="646331"/>
          </a:xfrm>
          <a:prstGeom prst="rect">
            <a:avLst/>
          </a:prstGeom>
          <a:noFill/>
        </p:spPr>
        <p:txBody>
          <a:bodyPr wrap="square">
            <a:spAutoFit/>
          </a:bodyPr>
          <a:lstStyle/>
          <a:p>
            <a:pPr algn="just"/>
            <a:r>
              <a:rPr lang="en-US" dirty="0">
                <a:latin typeface="Times-Roman"/>
              </a:rPr>
              <a:t>Here, t</a:t>
            </a:r>
            <a:r>
              <a:rPr lang="en-US" sz="1800" b="0" i="0" u="none" strike="noStrike" baseline="0" dirty="0">
                <a:latin typeface="Times-Roman"/>
              </a:rPr>
              <a:t>he sender is permitted to transmit up to </a:t>
            </a:r>
            <a:r>
              <a:rPr lang="en-US" sz="1800" b="1" i="0" u="none" strike="noStrike" baseline="0" dirty="0">
                <a:latin typeface="Times-Roman"/>
              </a:rPr>
              <a:t>seven</a:t>
            </a:r>
            <a:r>
              <a:rPr lang="en-US" sz="1800" b="0" i="0" u="none" strike="noStrike" baseline="0" dirty="0">
                <a:latin typeface="Times-Roman"/>
              </a:rPr>
              <a:t> frames before being required to wait for an acknowledgment</a:t>
            </a:r>
            <a:endParaRPr lang="en-US" dirty="0"/>
          </a:p>
        </p:txBody>
      </p:sp>
      <p:sp>
        <p:nvSpPr>
          <p:cNvPr id="27" name="TextBox 26">
            <a:extLst>
              <a:ext uri="{FF2B5EF4-FFF2-40B4-BE49-F238E27FC236}">
                <a16:creationId xmlns:a16="http://schemas.microsoft.com/office/drawing/2014/main" id="{A44E3098-C373-6082-0415-FBCBFF27B702}"/>
              </a:ext>
            </a:extLst>
          </p:cNvPr>
          <p:cNvSpPr txBox="1"/>
          <p:nvPr/>
        </p:nvSpPr>
        <p:spPr>
          <a:xfrm>
            <a:off x="838200" y="5348537"/>
            <a:ext cx="8530704" cy="1754326"/>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Roman"/>
              </a:rPr>
              <a:t>If acknowledgments are lost, t</a:t>
            </a:r>
            <a:r>
              <a:rPr lang="en-US" sz="1800" b="0" i="0" u="none" strike="noStrike" baseline="0" dirty="0">
                <a:latin typeface="Times-Roman"/>
              </a:rPr>
              <a:t>he sender eventually times out and retransmits Frame. </a:t>
            </a:r>
          </a:p>
          <a:p>
            <a:pPr marL="285750" indent="-285750" algn="just">
              <a:buFont typeface="Arial" panose="020B0604020202020204" pitchFamily="34" charset="0"/>
              <a:buChar char="•"/>
            </a:pPr>
            <a:r>
              <a:rPr lang="en-US" dirty="0">
                <a:latin typeface="Times-Roman"/>
              </a:rPr>
              <a:t>A</a:t>
            </a:r>
            <a:r>
              <a:rPr lang="en-US" sz="1800" b="0" i="0" u="none" strike="noStrike" baseline="0" dirty="0">
                <a:latin typeface="Times-Roman"/>
              </a:rPr>
              <a:t>fter the receiver advanced its window, the new range of valid sequence numbers </a:t>
            </a:r>
            <a:r>
              <a:rPr lang="en-US" sz="1800" b="1" i="0" u="none" strike="noStrike" baseline="0" dirty="0">
                <a:latin typeface="Times-Roman"/>
              </a:rPr>
              <a:t>overlapped</a:t>
            </a:r>
            <a:r>
              <a:rPr lang="en-US" sz="1800" b="0" i="0" u="none" strike="noStrike" baseline="0" dirty="0">
                <a:latin typeface="Times-Roman"/>
              </a:rPr>
              <a:t> with the old one, so retransmitted frames will fall in the new window. Consequently, the following batch of frames might be either </a:t>
            </a:r>
            <a:r>
              <a:rPr lang="en-US" sz="1800" b="1" i="0" u="none" strike="noStrike" baseline="0" dirty="0">
                <a:latin typeface="Times-Roman"/>
              </a:rPr>
              <a:t>duplicates</a:t>
            </a:r>
            <a:r>
              <a:rPr lang="en-US" sz="1800" b="0" i="0" u="none" strike="noStrike" baseline="0" dirty="0">
                <a:latin typeface="Times-Roman"/>
              </a:rPr>
              <a:t> (if all the acknowledgments were lost) or new ones (if all the acknowledgments were received). The poor receiver has no way of distinguishing these two cases.</a:t>
            </a:r>
            <a:endParaRPr lang="en-US" dirty="0"/>
          </a:p>
        </p:txBody>
      </p:sp>
      <p:sp>
        <p:nvSpPr>
          <p:cNvPr id="28" name="Left Brace 27">
            <a:extLst>
              <a:ext uri="{FF2B5EF4-FFF2-40B4-BE49-F238E27FC236}">
                <a16:creationId xmlns:a16="http://schemas.microsoft.com/office/drawing/2014/main" id="{97F84390-D8D5-0F41-7EEC-678A76B44DAA}"/>
              </a:ext>
            </a:extLst>
          </p:cNvPr>
          <p:cNvSpPr/>
          <p:nvPr/>
        </p:nvSpPr>
        <p:spPr>
          <a:xfrm rot="16200000">
            <a:off x="4267315" y="2988769"/>
            <a:ext cx="304571" cy="1981202"/>
          </a:xfrm>
          <a:prstGeom prst="leftBrace">
            <a:avLst>
              <a:gd name="adj1" fmla="val 0"/>
              <a:gd name="adj2" fmla="val 543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30E89EA9-6085-46A0-8EC8-0B4F9CF5D6B1}"/>
              </a:ext>
            </a:extLst>
          </p:cNvPr>
          <p:cNvSpPr txBox="1"/>
          <p:nvPr/>
        </p:nvSpPr>
        <p:spPr>
          <a:xfrm>
            <a:off x="5579787" y="3761704"/>
            <a:ext cx="1261884" cy="369332"/>
          </a:xfrm>
          <a:prstGeom prst="rect">
            <a:avLst/>
          </a:prstGeom>
          <a:noFill/>
        </p:spPr>
        <p:txBody>
          <a:bodyPr wrap="none" rtlCol="0">
            <a:spAutoFit/>
          </a:bodyPr>
          <a:lstStyle/>
          <a:p>
            <a:r>
              <a:rPr lang="en-US" dirty="0"/>
              <a:t>Overlapped</a:t>
            </a: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6288" y="359394"/>
            <a:ext cx="6346825" cy="572080"/>
          </a:xfrm>
          <a:prstGeom prst="rect">
            <a:avLst/>
          </a:prstGeom>
        </p:spPr>
        <p:txBody>
          <a:bodyPr vert="horz" wrap="square" lIns="0" tIns="13335" rIns="0" bIns="0" rtlCol="0">
            <a:spAutoFit/>
          </a:bodyPr>
          <a:lstStyle/>
          <a:p>
            <a:pPr marL="12700" algn="ctr">
              <a:lnSpc>
                <a:spcPct val="100000"/>
              </a:lnSpc>
              <a:spcBef>
                <a:spcPts val="105"/>
              </a:spcBef>
            </a:pPr>
            <a:r>
              <a:rPr lang="en-US" spc="-15" dirty="0">
                <a:latin typeface="+mn-lt"/>
              </a:rPr>
              <a:t>Solution</a:t>
            </a:r>
            <a:endParaRPr spc="-5" dirty="0">
              <a:latin typeface="+mn-lt"/>
            </a:endParaRPr>
          </a:p>
        </p:txBody>
      </p:sp>
      <p:sp>
        <p:nvSpPr>
          <p:cNvPr id="23" name="object 23"/>
          <p:cNvSpPr txBox="1">
            <a:spLocks noGrp="1"/>
          </p:cNvSpPr>
          <p:nvPr>
            <p:ph type="sldNum" sz="quarter" idx="12"/>
          </p:nvPr>
        </p:nvSpPr>
        <p:spPr>
          <a:xfrm>
            <a:off x="7103745" y="7333311"/>
            <a:ext cx="2263140" cy="154914"/>
          </a:xfrm>
          <a:prstGeom prst="rect">
            <a:avLst/>
          </a:prstGeom>
        </p:spPr>
        <p:txBody>
          <a:bodyPr vert="horz" wrap="square" lIns="0" tIns="2540" rIns="0" bIns="0" rtlCol="0">
            <a:spAutoFit/>
          </a:bodyPr>
          <a:lstStyle/>
          <a:p>
            <a:pPr marL="12700">
              <a:lnSpc>
                <a:spcPct val="100000"/>
              </a:lnSpc>
              <a:spcBef>
                <a:spcPts val="20"/>
              </a:spcBef>
            </a:pPr>
            <a:r>
              <a:rPr spc="5" dirty="0"/>
              <a:t>Chapter</a:t>
            </a:r>
            <a:r>
              <a:rPr spc="10" dirty="0"/>
              <a:t> </a:t>
            </a:r>
            <a:r>
              <a:rPr spc="15" dirty="0"/>
              <a:t>3</a:t>
            </a:r>
            <a:r>
              <a:rPr spc="-15" dirty="0"/>
              <a:t> </a:t>
            </a:r>
            <a:r>
              <a:rPr spc="15" dirty="0"/>
              <a:t>–</a:t>
            </a:r>
            <a:r>
              <a:rPr spc="-10" dirty="0"/>
              <a:t> </a:t>
            </a:r>
            <a:r>
              <a:rPr spc="10" dirty="0"/>
              <a:t>p.</a:t>
            </a:r>
            <a:fld id="{81D60167-4931-47E6-BA6A-407CBD079E47}" type="slidenum">
              <a:rPr spc="10" dirty="0"/>
              <a:t>50</a:t>
            </a:fld>
            <a:r>
              <a:rPr spc="10" dirty="0"/>
              <a:t>/69</a:t>
            </a:r>
          </a:p>
        </p:txBody>
      </p:sp>
      <p:sp>
        <p:nvSpPr>
          <p:cNvPr id="3" name="object 3"/>
          <p:cNvSpPr txBox="1"/>
          <p:nvPr/>
        </p:nvSpPr>
        <p:spPr>
          <a:xfrm>
            <a:off x="762000" y="983509"/>
            <a:ext cx="9102976" cy="1508105"/>
          </a:xfrm>
          <a:prstGeom prst="rect">
            <a:avLst/>
          </a:prstGeom>
        </p:spPr>
        <p:txBody>
          <a:bodyPr vert="horz" wrap="square" lIns="0" tIns="30480" rIns="0" bIns="0" rtlCol="0">
            <a:spAutoFit/>
          </a:bodyPr>
          <a:lstStyle/>
          <a:p>
            <a:pPr marL="342900" indent="-342900" algn="l">
              <a:buFont typeface="Wingdings" panose="05000000000000000000" pitchFamily="2" charset="2"/>
              <a:buChar char="q"/>
            </a:pPr>
            <a:r>
              <a:rPr lang="en-US" sz="2400" b="0" i="0" u="none" strike="noStrike" baseline="0" dirty="0">
                <a:latin typeface="Times-Roman"/>
              </a:rPr>
              <a:t> Make sure that after the receiver has advanced its window, there is no overlap with the original window.</a:t>
            </a:r>
          </a:p>
          <a:p>
            <a:pPr marL="342900" indent="-342900" algn="l">
              <a:buFont typeface="Wingdings" panose="05000000000000000000" pitchFamily="2" charset="2"/>
              <a:buChar char="q"/>
            </a:pPr>
            <a:r>
              <a:rPr lang="en-US" sz="2400" b="0" i="0" u="none" strike="noStrike" baseline="0" dirty="0">
                <a:latin typeface="Times-Roman"/>
              </a:rPr>
              <a:t>To ensure that there is no overlap, </a:t>
            </a:r>
            <a:r>
              <a:rPr lang="en-US" sz="2400" b="1" i="0" u="none" strike="noStrike" baseline="0" dirty="0">
                <a:latin typeface="Times-Roman"/>
              </a:rPr>
              <a:t>the maximum window </a:t>
            </a:r>
            <a:r>
              <a:rPr lang="en-US" sz="2400" b="0" i="0" u="none" strike="noStrike" baseline="0" dirty="0">
                <a:latin typeface="Times-Roman"/>
              </a:rPr>
              <a:t>size should be at most </a:t>
            </a:r>
            <a:r>
              <a:rPr lang="en-US" sz="2400" b="1" i="0" u="none" strike="noStrike" baseline="0" dirty="0">
                <a:latin typeface="Times-Roman"/>
              </a:rPr>
              <a:t>half</a:t>
            </a:r>
            <a:r>
              <a:rPr lang="en-US" sz="2400" b="0" i="0" u="none" strike="noStrike" baseline="0" dirty="0">
                <a:latin typeface="Times-Roman"/>
              </a:rPr>
              <a:t> the range of the sequence numbers.</a:t>
            </a:r>
            <a:endParaRPr sz="2400" dirty="0">
              <a:cs typeface="Arial MT"/>
            </a:endParaRPr>
          </a:p>
        </p:txBody>
      </p:sp>
      <p:sp>
        <p:nvSpPr>
          <p:cNvPr id="4" name="object 4"/>
          <p:cNvSpPr txBox="1"/>
          <p:nvPr/>
        </p:nvSpPr>
        <p:spPr>
          <a:xfrm>
            <a:off x="1920481" y="2882917"/>
            <a:ext cx="569595" cy="231474"/>
          </a:xfrm>
          <a:prstGeom prst="rect">
            <a:avLst/>
          </a:prstGeom>
        </p:spPr>
        <p:txBody>
          <a:bodyPr vert="horz" wrap="square" lIns="0" tIns="15875" rIns="0" bIns="0" rtlCol="0">
            <a:spAutoFit/>
          </a:bodyPr>
          <a:lstStyle/>
          <a:p>
            <a:pPr marL="12700">
              <a:lnSpc>
                <a:spcPct val="100000"/>
              </a:lnSpc>
              <a:spcBef>
                <a:spcPts val="125"/>
              </a:spcBef>
            </a:pPr>
            <a:r>
              <a:rPr sz="1400" spc="10" dirty="0">
                <a:cs typeface="Arial MT"/>
              </a:rPr>
              <a:t>Sender</a:t>
            </a:r>
            <a:endParaRPr sz="1400" dirty="0">
              <a:cs typeface="Arial MT"/>
            </a:endParaRPr>
          </a:p>
        </p:txBody>
      </p:sp>
      <p:sp>
        <p:nvSpPr>
          <p:cNvPr id="5" name="object 5"/>
          <p:cNvSpPr txBox="1"/>
          <p:nvPr/>
        </p:nvSpPr>
        <p:spPr>
          <a:xfrm>
            <a:off x="1920481" y="4049596"/>
            <a:ext cx="690880" cy="231474"/>
          </a:xfrm>
          <a:prstGeom prst="rect">
            <a:avLst/>
          </a:prstGeom>
        </p:spPr>
        <p:txBody>
          <a:bodyPr vert="horz" wrap="square" lIns="0" tIns="15875" rIns="0" bIns="0" rtlCol="0">
            <a:spAutoFit/>
          </a:bodyPr>
          <a:lstStyle/>
          <a:p>
            <a:pPr marL="12700">
              <a:lnSpc>
                <a:spcPct val="100000"/>
              </a:lnSpc>
              <a:spcBef>
                <a:spcPts val="125"/>
              </a:spcBef>
            </a:pPr>
            <a:r>
              <a:rPr sz="1400" spc="5" dirty="0">
                <a:cs typeface="Arial MT"/>
              </a:rPr>
              <a:t>Receiver</a:t>
            </a:r>
            <a:endParaRPr sz="1400" dirty="0">
              <a:cs typeface="Arial MT"/>
            </a:endParaRPr>
          </a:p>
        </p:txBody>
      </p:sp>
      <p:sp>
        <p:nvSpPr>
          <p:cNvPr id="10" name="object 10"/>
          <p:cNvSpPr txBox="1"/>
          <p:nvPr/>
        </p:nvSpPr>
        <p:spPr>
          <a:xfrm>
            <a:off x="3657600" y="2858060"/>
            <a:ext cx="807085" cy="304571"/>
          </a:xfrm>
          <a:prstGeom prst="rect">
            <a:avLst/>
          </a:prstGeom>
          <a:ln w="10535">
            <a:solidFill>
              <a:srgbClr val="000000"/>
            </a:solidFill>
          </a:ln>
        </p:spPr>
        <p:txBody>
          <a:bodyPr vert="horz" wrap="square" lIns="0" tIns="103505" rIns="0" bIns="0" rtlCol="0">
            <a:spAutoFit/>
          </a:bodyPr>
          <a:lstStyle/>
          <a:p>
            <a:pPr marL="104139">
              <a:lnSpc>
                <a:spcPct val="100000"/>
              </a:lnSpc>
              <a:spcBef>
                <a:spcPts val="815"/>
              </a:spcBef>
            </a:pPr>
            <a:r>
              <a:rPr sz="1300" spc="15" dirty="0">
                <a:cs typeface="Arial MT"/>
              </a:rPr>
              <a:t>0</a:t>
            </a:r>
            <a:r>
              <a:rPr sz="1300" spc="345" dirty="0">
                <a:cs typeface="Arial MT"/>
              </a:rPr>
              <a:t> </a:t>
            </a:r>
            <a:r>
              <a:rPr sz="1300" spc="15" dirty="0">
                <a:cs typeface="Arial MT"/>
              </a:rPr>
              <a:t>1</a:t>
            </a:r>
            <a:r>
              <a:rPr sz="1300" spc="350" dirty="0">
                <a:cs typeface="Arial MT"/>
              </a:rPr>
              <a:t> </a:t>
            </a:r>
            <a:r>
              <a:rPr sz="1300" spc="15" dirty="0">
                <a:cs typeface="Arial MT"/>
              </a:rPr>
              <a:t>2</a:t>
            </a:r>
            <a:r>
              <a:rPr sz="1300" spc="345" dirty="0">
                <a:cs typeface="Arial MT"/>
              </a:rPr>
              <a:t> </a:t>
            </a:r>
            <a:r>
              <a:rPr sz="1300" spc="15" dirty="0">
                <a:cs typeface="Arial MT"/>
              </a:rPr>
              <a:t>3</a:t>
            </a:r>
            <a:endParaRPr sz="1300">
              <a:cs typeface="Arial MT"/>
            </a:endParaRPr>
          </a:p>
        </p:txBody>
      </p:sp>
      <p:sp>
        <p:nvSpPr>
          <p:cNvPr id="11" name="object 11"/>
          <p:cNvSpPr txBox="1"/>
          <p:nvPr/>
        </p:nvSpPr>
        <p:spPr>
          <a:xfrm>
            <a:off x="4499095" y="2945453"/>
            <a:ext cx="681990" cy="216085"/>
          </a:xfrm>
          <a:prstGeom prst="rect">
            <a:avLst/>
          </a:prstGeom>
        </p:spPr>
        <p:txBody>
          <a:bodyPr vert="horz" wrap="square" lIns="0" tIns="15875" rIns="0" bIns="0" rtlCol="0">
            <a:spAutoFit/>
          </a:bodyPr>
          <a:lstStyle/>
          <a:p>
            <a:pPr marL="12700">
              <a:lnSpc>
                <a:spcPct val="100000"/>
              </a:lnSpc>
              <a:spcBef>
                <a:spcPts val="125"/>
              </a:spcBef>
            </a:pPr>
            <a:r>
              <a:rPr sz="1300" spc="15" dirty="0">
                <a:cs typeface="Arial MT"/>
              </a:rPr>
              <a:t>4</a:t>
            </a:r>
            <a:r>
              <a:rPr sz="1300" spc="340" dirty="0">
                <a:cs typeface="Arial MT"/>
              </a:rPr>
              <a:t> </a:t>
            </a:r>
            <a:r>
              <a:rPr sz="1300" spc="15" dirty="0">
                <a:cs typeface="Arial MT"/>
              </a:rPr>
              <a:t>5</a:t>
            </a:r>
            <a:r>
              <a:rPr sz="1300" spc="345" dirty="0">
                <a:cs typeface="Arial MT"/>
              </a:rPr>
              <a:t> </a:t>
            </a:r>
            <a:r>
              <a:rPr sz="1300" spc="15" dirty="0">
                <a:cs typeface="Arial MT"/>
              </a:rPr>
              <a:t>6</a:t>
            </a:r>
            <a:r>
              <a:rPr sz="1300" spc="345" dirty="0">
                <a:cs typeface="Arial MT"/>
              </a:rPr>
              <a:t> </a:t>
            </a:r>
            <a:r>
              <a:rPr sz="1300" spc="15" dirty="0">
                <a:cs typeface="Arial MT"/>
              </a:rPr>
              <a:t>7</a:t>
            </a:r>
            <a:endParaRPr sz="1300">
              <a:cs typeface="Arial MT"/>
            </a:endParaRPr>
          </a:p>
        </p:txBody>
      </p:sp>
      <p:sp>
        <p:nvSpPr>
          <p:cNvPr id="12" name="object 12"/>
          <p:cNvSpPr txBox="1"/>
          <p:nvPr/>
        </p:nvSpPr>
        <p:spPr>
          <a:xfrm>
            <a:off x="5260365" y="2858060"/>
            <a:ext cx="807085" cy="304571"/>
          </a:xfrm>
          <a:prstGeom prst="rect">
            <a:avLst/>
          </a:prstGeom>
          <a:ln w="10535">
            <a:solidFill>
              <a:srgbClr val="000000"/>
            </a:solidFill>
          </a:ln>
        </p:spPr>
        <p:txBody>
          <a:bodyPr vert="horz" wrap="square" lIns="0" tIns="103505" rIns="0" bIns="0" rtlCol="0">
            <a:spAutoFit/>
          </a:bodyPr>
          <a:lstStyle/>
          <a:p>
            <a:pPr marL="103505">
              <a:lnSpc>
                <a:spcPct val="100000"/>
              </a:lnSpc>
              <a:spcBef>
                <a:spcPts val="815"/>
              </a:spcBef>
            </a:pPr>
            <a:r>
              <a:rPr sz="1300" spc="15" dirty="0">
                <a:cs typeface="Arial MT"/>
              </a:rPr>
              <a:t>0</a:t>
            </a:r>
            <a:r>
              <a:rPr sz="1300" spc="345" dirty="0">
                <a:cs typeface="Arial MT"/>
              </a:rPr>
              <a:t> </a:t>
            </a:r>
            <a:r>
              <a:rPr sz="1300" spc="15" dirty="0">
                <a:cs typeface="Arial MT"/>
              </a:rPr>
              <a:t>1</a:t>
            </a:r>
            <a:r>
              <a:rPr sz="1300" spc="350" dirty="0">
                <a:cs typeface="Arial MT"/>
              </a:rPr>
              <a:t> </a:t>
            </a:r>
            <a:r>
              <a:rPr sz="1300" spc="15" dirty="0">
                <a:cs typeface="Arial MT"/>
              </a:rPr>
              <a:t>2</a:t>
            </a:r>
            <a:r>
              <a:rPr sz="1300" spc="345" dirty="0">
                <a:cs typeface="Arial MT"/>
              </a:rPr>
              <a:t> </a:t>
            </a:r>
            <a:r>
              <a:rPr sz="1300" spc="15" dirty="0">
                <a:cs typeface="Arial MT"/>
              </a:rPr>
              <a:t>3</a:t>
            </a:r>
            <a:endParaRPr sz="1300" dirty="0">
              <a:cs typeface="Arial MT"/>
            </a:endParaRPr>
          </a:p>
        </p:txBody>
      </p:sp>
      <p:sp>
        <p:nvSpPr>
          <p:cNvPr id="13" name="object 13"/>
          <p:cNvSpPr txBox="1"/>
          <p:nvPr/>
        </p:nvSpPr>
        <p:spPr>
          <a:xfrm>
            <a:off x="6101433" y="2945453"/>
            <a:ext cx="681990" cy="216085"/>
          </a:xfrm>
          <a:prstGeom prst="rect">
            <a:avLst/>
          </a:prstGeom>
        </p:spPr>
        <p:txBody>
          <a:bodyPr vert="horz" wrap="square" lIns="0" tIns="15875" rIns="0" bIns="0" rtlCol="0">
            <a:spAutoFit/>
          </a:bodyPr>
          <a:lstStyle/>
          <a:p>
            <a:pPr marL="12700">
              <a:lnSpc>
                <a:spcPct val="100000"/>
              </a:lnSpc>
              <a:spcBef>
                <a:spcPts val="125"/>
              </a:spcBef>
            </a:pPr>
            <a:r>
              <a:rPr sz="1300" spc="15" dirty="0">
                <a:cs typeface="Arial MT"/>
              </a:rPr>
              <a:t>4</a:t>
            </a:r>
            <a:r>
              <a:rPr sz="1300" spc="340" dirty="0">
                <a:cs typeface="Arial MT"/>
              </a:rPr>
              <a:t> </a:t>
            </a:r>
            <a:r>
              <a:rPr sz="1300" spc="15" dirty="0">
                <a:cs typeface="Arial MT"/>
              </a:rPr>
              <a:t>5</a:t>
            </a:r>
            <a:r>
              <a:rPr sz="1300" spc="345" dirty="0">
                <a:cs typeface="Arial MT"/>
              </a:rPr>
              <a:t> </a:t>
            </a:r>
            <a:r>
              <a:rPr sz="1300" spc="15" dirty="0">
                <a:cs typeface="Arial MT"/>
              </a:rPr>
              <a:t>6</a:t>
            </a:r>
            <a:r>
              <a:rPr sz="1300" spc="345" dirty="0">
                <a:cs typeface="Arial MT"/>
              </a:rPr>
              <a:t> </a:t>
            </a:r>
            <a:r>
              <a:rPr sz="1300" spc="15" dirty="0">
                <a:cs typeface="Arial MT"/>
              </a:rPr>
              <a:t>7</a:t>
            </a:r>
            <a:endParaRPr sz="1300">
              <a:cs typeface="Arial MT"/>
            </a:endParaRPr>
          </a:p>
        </p:txBody>
      </p:sp>
      <p:sp>
        <p:nvSpPr>
          <p:cNvPr id="19" name="object 19"/>
          <p:cNvSpPr txBox="1"/>
          <p:nvPr/>
        </p:nvSpPr>
        <p:spPr>
          <a:xfrm>
            <a:off x="3656116" y="3942331"/>
            <a:ext cx="807085" cy="301365"/>
          </a:xfrm>
          <a:prstGeom prst="rect">
            <a:avLst/>
          </a:prstGeom>
          <a:ln w="10535">
            <a:solidFill>
              <a:srgbClr val="000000"/>
            </a:solidFill>
          </a:ln>
        </p:spPr>
        <p:txBody>
          <a:bodyPr vert="horz" wrap="square" lIns="0" tIns="100330" rIns="0" bIns="0" rtlCol="0">
            <a:spAutoFit/>
          </a:bodyPr>
          <a:lstStyle/>
          <a:p>
            <a:pPr marL="104139">
              <a:lnSpc>
                <a:spcPct val="100000"/>
              </a:lnSpc>
              <a:spcBef>
                <a:spcPts val="790"/>
              </a:spcBef>
            </a:pPr>
            <a:r>
              <a:rPr sz="1300" spc="15" dirty="0">
                <a:highlight>
                  <a:srgbClr val="00FFFF"/>
                </a:highlight>
                <a:cs typeface="Arial MT"/>
              </a:rPr>
              <a:t>0</a:t>
            </a:r>
            <a:r>
              <a:rPr sz="1300" spc="345" dirty="0">
                <a:highlight>
                  <a:srgbClr val="00FFFF"/>
                </a:highlight>
                <a:cs typeface="Arial MT"/>
              </a:rPr>
              <a:t> </a:t>
            </a:r>
            <a:r>
              <a:rPr sz="1300" spc="15" dirty="0">
                <a:highlight>
                  <a:srgbClr val="00FFFF"/>
                </a:highlight>
                <a:cs typeface="Arial MT"/>
              </a:rPr>
              <a:t>1</a:t>
            </a:r>
            <a:r>
              <a:rPr sz="1300" spc="350" dirty="0">
                <a:highlight>
                  <a:srgbClr val="00FFFF"/>
                </a:highlight>
                <a:cs typeface="Arial MT"/>
              </a:rPr>
              <a:t> </a:t>
            </a:r>
            <a:r>
              <a:rPr sz="1300" spc="15" dirty="0">
                <a:highlight>
                  <a:srgbClr val="00FFFF"/>
                </a:highlight>
                <a:cs typeface="Arial MT"/>
              </a:rPr>
              <a:t>2</a:t>
            </a:r>
            <a:r>
              <a:rPr sz="1300" spc="345" dirty="0">
                <a:highlight>
                  <a:srgbClr val="00FFFF"/>
                </a:highlight>
                <a:cs typeface="Arial MT"/>
              </a:rPr>
              <a:t> </a:t>
            </a:r>
            <a:r>
              <a:rPr sz="1300" spc="15" dirty="0">
                <a:highlight>
                  <a:srgbClr val="00FFFF"/>
                </a:highlight>
                <a:cs typeface="Arial MT"/>
              </a:rPr>
              <a:t>3</a:t>
            </a:r>
            <a:endParaRPr sz="1300" dirty="0">
              <a:highlight>
                <a:srgbClr val="00FFFF"/>
              </a:highlight>
              <a:cs typeface="Arial MT"/>
            </a:endParaRPr>
          </a:p>
        </p:txBody>
      </p:sp>
      <p:sp>
        <p:nvSpPr>
          <p:cNvPr id="20" name="object 20"/>
          <p:cNvSpPr txBox="1"/>
          <p:nvPr/>
        </p:nvSpPr>
        <p:spPr>
          <a:xfrm>
            <a:off x="4497610" y="4026905"/>
            <a:ext cx="1534160" cy="216085"/>
          </a:xfrm>
          <a:prstGeom prst="rect">
            <a:avLst/>
          </a:prstGeom>
        </p:spPr>
        <p:txBody>
          <a:bodyPr vert="horz" wrap="square" lIns="0" tIns="15875" rIns="0" bIns="0" rtlCol="0">
            <a:spAutoFit/>
          </a:bodyPr>
          <a:lstStyle/>
          <a:p>
            <a:pPr marL="12700">
              <a:lnSpc>
                <a:spcPct val="100000"/>
              </a:lnSpc>
              <a:spcBef>
                <a:spcPts val="125"/>
              </a:spcBef>
              <a:tabLst>
                <a:tab pos="864869" algn="l"/>
              </a:tabLst>
            </a:pPr>
            <a:r>
              <a:rPr sz="1300" spc="15" dirty="0">
                <a:cs typeface="Arial MT"/>
              </a:rPr>
              <a:t>4</a:t>
            </a:r>
            <a:r>
              <a:rPr sz="1300" spc="375" dirty="0">
                <a:cs typeface="Arial MT"/>
              </a:rPr>
              <a:t> </a:t>
            </a:r>
            <a:r>
              <a:rPr sz="1300" spc="15" dirty="0">
                <a:cs typeface="Arial MT"/>
              </a:rPr>
              <a:t>5</a:t>
            </a:r>
            <a:r>
              <a:rPr sz="1300" spc="375" dirty="0">
                <a:cs typeface="Arial MT"/>
              </a:rPr>
              <a:t> </a:t>
            </a:r>
            <a:r>
              <a:rPr sz="1300" spc="15" dirty="0">
                <a:cs typeface="Arial MT"/>
              </a:rPr>
              <a:t>6</a:t>
            </a:r>
            <a:r>
              <a:rPr sz="1300" spc="375" dirty="0">
                <a:cs typeface="Arial MT"/>
              </a:rPr>
              <a:t> </a:t>
            </a:r>
            <a:r>
              <a:rPr sz="1300" spc="15" dirty="0">
                <a:cs typeface="Arial MT"/>
              </a:rPr>
              <a:t>7	0</a:t>
            </a:r>
            <a:r>
              <a:rPr sz="1300" spc="345" dirty="0">
                <a:cs typeface="Arial MT"/>
              </a:rPr>
              <a:t> </a:t>
            </a:r>
            <a:r>
              <a:rPr sz="1300" spc="15" dirty="0">
                <a:cs typeface="Arial MT"/>
              </a:rPr>
              <a:t>1</a:t>
            </a:r>
            <a:r>
              <a:rPr sz="1300" spc="345" dirty="0">
                <a:cs typeface="Arial MT"/>
              </a:rPr>
              <a:t> </a:t>
            </a:r>
            <a:r>
              <a:rPr sz="1300" spc="15" dirty="0">
                <a:cs typeface="Arial MT"/>
              </a:rPr>
              <a:t>2</a:t>
            </a:r>
            <a:r>
              <a:rPr sz="1300" spc="345" dirty="0">
                <a:cs typeface="Arial MT"/>
              </a:rPr>
              <a:t> </a:t>
            </a:r>
            <a:r>
              <a:rPr sz="1300" spc="15" dirty="0">
                <a:cs typeface="Arial MT"/>
              </a:rPr>
              <a:t>3</a:t>
            </a:r>
            <a:endParaRPr sz="1300" dirty="0">
              <a:cs typeface="Arial MT"/>
            </a:endParaRPr>
          </a:p>
        </p:txBody>
      </p:sp>
      <p:sp>
        <p:nvSpPr>
          <p:cNvPr id="21" name="object 21"/>
          <p:cNvSpPr txBox="1"/>
          <p:nvPr/>
        </p:nvSpPr>
        <p:spPr>
          <a:xfrm>
            <a:off x="6074107" y="3942331"/>
            <a:ext cx="730250" cy="301365"/>
          </a:xfrm>
          <a:prstGeom prst="rect">
            <a:avLst/>
          </a:prstGeom>
          <a:ln w="10535">
            <a:solidFill>
              <a:srgbClr val="000000"/>
            </a:solidFill>
          </a:ln>
        </p:spPr>
        <p:txBody>
          <a:bodyPr vert="horz" wrap="square" lIns="0" tIns="100330" rIns="0" bIns="0" rtlCol="0">
            <a:spAutoFit/>
          </a:bodyPr>
          <a:lstStyle/>
          <a:p>
            <a:pPr marL="38100">
              <a:lnSpc>
                <a:spcPct val="100000"/>
              </a:lnSpc>
              <a:spcBef>
                <a:spcPts val="790"/>
              </a:spcBef>
            </a:pPr>
            <a:r>
              <a:rPr sz="1300" spc="15" dirty="0">
                <a:highlight>
                  <a:srgbClr val="00FFFF"/>
                </a:highlight>
                <a:cs typeface="Arial MT"/>
              </a:rPr>
              <a:t>4</a:t>
            </a:r>
            <a:r>
              <a:rPr sz="1300" spc="345" dirty="0">
                <a:highlight>
                  <a:srgbClr val="00FFFF"/>
                </a:highlight>
                <a:cs typeface="Arial MT"/>
              </a:rPr>
              <a:t> </a:t>
            </a:r>
            <a:r>
              <a:rPr sz="1300" spc="15" dirty="0">
                <a:highlight>
                  <a:srgbClr val="00FFFF"/>
                </a:highlight>
                <a:cs typeface="Arial MT"/>
              </a:rPr>
              <a:t>5</a:t>
            </a:r>
            <a:r>
              <a:rPr sz="1300" spc="345" dirty="0">
                <a:highlight>
                  <a:srgbClr val="00FFFF"/>
                </a:highlight>
                <a:cs typeface="Arial MT"/>
              </a:rPr>
              <a:t> </a:t>
            </a:r>
            <a:r>
              <a:rPr sz="1300" spc="15" dirty="0">
                <a:highlight>
                  <a:srgbClr val="00FFFF"/>
                </a:highlight>
                <a:cs typeface="Arial MT"/>
              </a:rPr>
              <a:t>6</a:t>
            </a:r>
            <a:r>
              <a:rPr sz="1300" spc="350" dirty="0">
                <a:highlight>
                  <a:srgbClr val="00FFFF"/>
                </a:highlight>
                <a:cs typeface="Arial MT"/>
              </a:rPr>
              <a:t> </a:t>
            </a:r>
            <a:r>
              <a:rPr sz="1300" spc="15" dirty="0">
                <a:highlight>
                  <a:srgbClr val="00FFFF"/>
                </a:highlight>
                <a:cs typeface="Arial MT"/>
              </a:rPr>
              <a:t>7</a:t>
            </a:r>
            <a:endParaRPr sz="1300" dirty="0">
              <a:highlight>
                <a:srgbClr val="00FFFF"/>
              </a:highlight>
              <a:cs typeface="Arial MT"/>
            </a:endParaRPr>
          </a:p>
        </p:txBody>
      </p:sp>
      <p:sp>
        <p:nvSpPr>
          <p:cNvPr id="22" name="object 22"/>
          <p:cNvSpPr txBox="1"/>
          <p:nvPr/>
        </p:nvSpPr>
        <p:spPr>
          <a:xfrm>
            <a:off x="1771901" y="4771741"/>
            <a:ext cx="8093075" cy="1267142"/>
          </a:xfrm>
          <a:prstGeom prst="rect">
            <a:avLst/>
          </a:prstGeom>
        </p:spPr>
        <p:txBody>
          <a:bodyPr vert="horz" wrap="square" lIns="0" tIns="96520" rIns="0" bIns="0" rtlCol="0">
            <a:spAutoFit/>
          </a:bodyPr>
          <a:lstStyle/>
          <a:p>
            <a:pPr marL="1839595">
              <a:lnSpc>
                <a:spcPct val="100000"/>
              </a:lnSpc>
              <a:spcBef>
                <a:spcPts val="760"/>
              </a:spcBef>
              <a:tabLst>
                <a:tab pos="3665220" algn="l"/>
                <a:tab pos="5341620" algn="l"/>
                <a:tab pos="7051040" algn="l"/>
              </a:tabLst>
            </a:pPr>
            <a:r>
              <a:rPr lang="en-US" sz="1300" spc="10" dirty="0">
                <a:cs typeface="Arial MT"/>
              </a:rPr>
              <a:t>               </a:t>
            </a:r>
            <a:r>
              <a:rPr sz="1300" spc="10" dirty="0">
                <a:cs typeface="Arial MT"/>
              </a:rPr>
              <a:t>(c)	</a:t>
            </a:r>
            <a:r>
              <a:rPr lang="en-US" sz="1300" spc="10" dirty="0">
                <a:cs typeface="Arial MT"/>
              </a:rPr>
              <a:t>        </a:t>
            </a:r>
            <a:r>
              <a:rPr sz="1300" spc="10" dirty="0">
                <a:cs typeface="Arial MT"/>
              </a:rPr>
              <a:t>(d)</a:t>
            </a:r>
            <a:endParaRPr sz="1300" dirty="0">
              <a:cs typeface="Arial MT"/>
            </a:endParaRPr>
          </a:p>
          <a:p>
            <a:pPr>
              <a:lnSpc>
                <a:spcPct val="100000"/>
              </a:lnSpc>
              <a:spcBef>
                <a:spcPts val="40"/>
              </a:spcBef>
            </a:pPr>
            <a:endParaRPr sz="1200" dirty="0">
              <a:cs typeface="Arial MT"/>
            </a:endParaRPr>
          </a:p>
          <a:p>
            <a:pPr marL="12700">
              <a:lnSpc>
                <a:spcPts val="3055"/>
              </a:lnSpc>
            </a:pPr>
            <a:r>
              <a:rPr sz="2650" dirty="0">
                <a:solidFill>
                  <a:srgbClr val="9B0707"/>
                </a:solidFill>
                <a:cs typeface="Arial MT"/>
              </a:rPr>
              <a:t>(c)</a:t>
            </a:r>
            <a:r>
              <a:rPr sz="2650" spc="10" dirty="0">
                <a:solidFill>
                  <a:srgbClr val="9B0707"/>
                </a:solidFill>
                <a:cs typeface="Arial MT"/>
              </a:rPr>
              <a:t> </a:t>
            </a:r>
            <a:r>
              <a:rPr sz="2650" spc="5" dirty="0">
                <a:solidFill>
                  <a:srgbClr val="9B0707"/>
                </a:solidFill>
                <a:cs typeface="Arial MT"/>
              </a:rPr>
              <a:t>initial</a:t>
            </a:r>
            <a:r>
              <a:rPr sz="2650" spc="-35" dirty="0">
                <a:solidFill>
                  <a:srgbClr val="9B0707"/>
                </a:solidFill>
                <a:cs typeface="Arial MT"/>
              </a:rPr>
              <a:t> </a:t>
            </a:r>
            <a:r>
              <a:rPr sz="2650" spc="10" dirty="0">
                <a:solidFill>
                  <a:srgbClr val="9B0707"/>
                </a:solidFill>
                <a:cs typeface="Arial MT"/>
              </a:rPr>
              <a:t>situation,</a:t>
            </a:r>
            <a:r>
              <a:rPr sz="2650" spc="-35" dirty="0">
                <a:solidFill>
                  <a:srgbClr val="9B0707"/>
                </a:solidFill>
                <a:cs typeface="Arial MT"/>
              </a:rPr>
              <a:t> </a:t>
            </a:r>
            <a:r>
              <a:rPr sz="2650" spc="5" dirty="0">
                <a:solidFill>
                  <a:srgbClr val="9B0707"/>
                </a:solidFill>
                <a:cs typeface="Arial MT"/>
              </a:rPr>
              <a:t>widow</a:t>
            </a:r>
            <a:r>
              <a:rPr sz="2650" dirty="0">
                <a:solidFill>
                  <a:srgbClr val="9B0707"/>
                </a:solidFill>
                <a:cs typeface="Arial MT"/>
              </a:rPr>
              <a:t> size</a:t>
            </a:r>
            <a:r>
              <a:rPr sz="2650" spc="-20" dirty="0">
                <a:solidFill>
                  <a:srgbClr val="9B0707"/>
                </a:solidFill>
                <a:cs typeface="Arial MT"/>
              </a:rPr>
              <a:t> </a:t>
            </a:r>
            <a:r>
              <a:rPr sz="2650" spc="10" dirty="0">
                <a:solidFill>
                  <a:srgbClr val="9B0707"/>
                </a:solidFill>
                <a:cs typeface="Arial MT"/>
              </a:rPr>
              <a:t>is</a:t>
            </a:r>
            <a:r>
              <a:rPr sz="2650" spc="15" dirty="0">
                <a:solidFill>
                  <a:srgbClr val="9B0707"/>
                </a:solidFill>
                <a:cs typeface="Arial MT"/>
              </a:rPr>
              <a:t> </a:t>
            </a:r>
            <a:r>
              <a:rPr sz="2650" spc="5" dirty="0">
                <a:solidFill>
                  <a:srgbClr val="9B0707"/>
                </a:solidFill>
                <a:cs typeface="Arial MT"/>
              </a:rPr>
              <a:t>4; </a:t>
            </a:r>
            <a:r>
              <a:rPr sz="2650" dirty="0">
                <a:solidFill>
                  <a:srgbClr val="9B0707"/>
                </a:solidFill>
                <a:cs typeface="Arial MT"/>
              </a:rPr>
              <a:t>(d) </a:t>
            </a:r>
            <a:r>
              <a:rPr sz="2650" spc="5" dirty="0">
                <a:solidFill>
                  <a:srgbClr val="9B0707"/>
                </a:solidFill>
                <a:cs typeface="Arial MT"/>
              </a:rPr>
              <a:t>all</a:t>
            </a:r>
            <a:r>
              <a:rPr sz="2650" spc="20" dirty="0">
                <a:solidFill>
                  <a:srgbClr val="9B0707"/>
                </a:solidFill>
                <a:cs typeface="Arial MT"/>
              </a:rPr>
              <a:t> </a:t>
            </a:r>
            <a:r>
              <a:rPr sz="2650" spc="5" dirty="0">
                <a:solidFill>
                  <a:srgbClr val="9B0707"/>
                </a:solidFill>
                <a:cs typeface="Arial MT"/>
              </a:rPr>
              <a:t>frames</a:t>
            </a:r>
            <a:r>
              <a:rPr sz="2650" dirty="0">
                <a:solidFill>
                  <a:srgbClr val="9B0707"/>
                </a:solidFill>
                <a:cs typeface="Arial MT"/>
              </a:rPr>
              <a:t> </a:t>
            </a:r>
            <a:r>
              <a:rPr sz="2650" spc="10" dirty="0">
                <a:solidFill>
                  <a:srgbClr val="9B0707"/>
                </a:solidFill>
                <a:cs typeface="Arial MT"/>
              </a:rPr>
              <a:t>sent,</a:t>
            </a:r>
            <a:endParaRPr sz="2650" dirty="0">
              <a:cs typeface="Arial MT"/>
            </a:endParaRPr>
          </a:p>
          <a:p>
            <a:pPr marL="12700">
              <a:lnSpc>
                <a:spcPts val="3175"/>
              </a:lnSpc>
            </a:pPr>
            <a:r>
              <a:rPr sz="2650" dirty="0">
                <a:solidFill>
                  <a:srgbClr val="9B0707"/>
                </a:solidFill>
                <a:cs typeface="Arial MT"/>
              </a:rPr>
              <a:t>received,</a:t>
            </a:r>
            <a:r>
              <a:rPr sz="2650" spc="-5" dirty="0">
                <a:solidFill>
                  <a:srgbClr val="9B0707"/>
                </a:solidFill>
                <a:cs typeface="Arial MT"/>
              </a:rPr>
              <a:t> </a:t>
            </a:r>
            <a:r>
              <a:rPr sz="2650" spc="-10" dirty="0">
                <a:solidFill>
                  <a:srgbClr val="9B0707"/>
                </a:solidFill>
                <a:cs typeface="Arial MT"/>
              </a:rPr>
              <a:t>but</a:t>
            </a:r>
            <a:r>
              <a:rPr sz="2650" spc="-15" dirty="0">
                <a:solidFill>
                  <a:srgbClr val="9B0707"/>
                </a:solidFill>
                <a:cs typeface="Arial MT"/>
              </a:rPr>
              <a:t> </a:t>
            </a:r>
            <a:r>
              <a:rPr sz="2650" spc="5" dirty="0">
                <a:solidFill>
                  <a:srgbClr val="9B0707"/>
                </a:solidFill>
                <a:cs typeface="Arial MT"/>
              </a:rPr>
              <a:t>not</a:t>
            </a:r>
            <a:r>
              <a:rPr sz="2650" spc="-5" dirty="0">
                <a:solidFill>
                  <a:srgbClr val="9B0707"/>
                </a:solidFill>
                <a:cs typeface="Arial MT"/>
              </a:rPr>
              <a:t> </a:t>
            </a:r>
            <a:r>
              <a:rPr sz="2650" dirty="0">
                <a:solidFill>
                  <a:srgbClr val="9B0707"/>
                </a:solidFill>
                <a:cs typeface="Arial MT"/>
              </a:rPr>
              <a:t>acknowledged</a:t>
            </a:r>
            <a:endParaRPr sz="2650" dirty="0">
              <a:cs typeface="Arial MT"/>
            </a:endParaRPr>
          </a:p>
        </p:txBody>
      </p:sp>
      <p:sp>
        <p:nvSpPr>
          <p:cNvPr id="24" name="TextBox 23">
            <a:extLst>
              <a:ext uri="{FF2B5EF4-FFF2-40B4-BE49-F238E27FC236}">
                <a16:creationId xmlns:a16="http://schemas.microsoft.com/office/drawing/2014/main" id="{F3546E83-3E5E-32E7-3F90-787917EE26D2}"/>
              </a:ext>
            </a:extLst>
          </p:cNvPr>
          <p:cNvSpPr txBox="1"/>
          <p:nvPr/>
        </p:nvSpPr>
        <p:spPr>
          <a:xfrm>
            <a:off x="4550143" y="4327497"/>
            <a:ext cx="1268296" cy="369332"/>
          </a:xfrm>
          <a:prstGeom prst="rect">
            <a:avLst/>
          </a:prstGeom>
          <a:noFill/>
        </p:spPr>
        <p:txBody>
          <a:bodyPr wrap="none" rtlCol="0">
            <a:spAutoFit/>
          </a:bodyPr>
          <a:lstStyle/>
          <a:p>
            <a:r>
              <a:rPr lang="en-US" dirty="0"/>
              <a:t>No Overlap</a:t>
            </a:r>
          </a:p>
        </p:txBody>
      </p:sp>
    </p:spTree>
    <p:extLst>
      <p:ext uri="{BB962C8B-B14F-4D97-AF65-F5344CB8AC3E}">
        <p14:creationId xmlns:p14="http://schemas.microsoft.com/office/powerpoint/2010/main" val="861343013"/>
      </p:ext>
    </p:extLst>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A294A-9389-253B-56F7-D2B604D52ADD}"/>
              </a:ext>
            </a:extLst>
          </p:cNvPr>
          <p:cNvSpPr>
            <a:spLocks noGrp="1"/>
          </p:cNvSpPr>
          <p:nvPr>
            <p:ph type="title"/>
          </p:nvPr>
        </p:nvSpPr>
        <p:spPr/>
        <p:txBody>
          <a:bodyPr>
            <a:normAutofit fontScale="90000"/>
          </a:bodyPr>
          <a:lstStyle/>
          <a:p>
            <a:r>
              <a:rPr lang="en-US" b="1" dirty="0"/>
              <a:t>Difference between the Go-Back-N ARQ and Selective Repeat ARQ</a:t>
            </a:r>
            <a:br>
              <a:rPr lang="en-US" b="1" dirty="0"/>
            </a:br>
            <a:endParaRPr lang="en-US" dirty="0"/>
          </a:p>
        </p:txBody>
      </p:sp>
      <p:graphicFrame>
        <p:nvGraphicFramePr>
          <p:cNvPr id="4" name="Content Placeholder 3">
            <a:extLst>
              <a:ext uri="{FF2B5EF4-FFF2-40B4-BE49-F238E27FC236}">
                <a16:creationId xmlns:a16="http://schemas.microsoft.com/office/drawing/2014/main" id="{95145159-D9E7-B60F-1D83-7D381C84C86F}"/>
              </a:ext>
            </a:extLst>
          </p:cNvPr>
          <p:cNvGraphicFramePr>
            <a:graphicFrameLocks noGrp="1"/>
          </p:cNvGraphicFramePr>
          <p:nvPr>
            <p:ph idx="1"/>
            <p:extLst>
              <p:ext uri="{D42A27DB-BD31-4B8C-83A1-F6EECF244321}">
                <p14:modId xmlns:p14="http://schemas.microsoft.com/office/powerpoint/2010/main" val="2067358062"/>
              </p:ext>
            </p:extLst>
          </p:nvPr>
        </p:nvGraphicFramePr>
        <p:xfrm>
          <a:off x="609600" y="2209800"/>
          <a:ext cx="8674100" cy="4907280"/>
        </p:xfrm>
        <a:graphic>
          <a:graphicData uri="http://schemas.openxmlformats.org/drawingml/2006/table">
            <a:tbl>
              <a:tblPr/>
              <a:tblGrid>
                <a:gridCol w="4337050">
                  <a:extLst>
                    <a:ext uri="{9D8B030D-6E8A-4147-A177-3AD203B41FA5}">
                      <a16:colId xmlns:a16="http://schemas.microsoft.com/office/drawing/2014/main" val="983722806"/>
                    </a:ext>
                  </a:extLst>
                </a:gridCol>
                <a:gridCol w="4337050">
                  <a:extLst>
                    <a:ext uri="{9D8B030D-6E8A-4147-A177-3AD203B41FA5}">
                      <a16:colId xmlns:a16="http://schemas.microsoft.com/office/drawing/2014/main" val="510096245"/>
                    </a:ext>
                  </a:extLst>
                </a:gridCol>
              </a:tblGrid>
              <a:tr h="0">
                <a:tc>
                  <a:txBody>
                    <a:bodyPr/>
                    <a:lstStyle/>
                    <a:p>
                      <a:pPr algn="ctr"/>
                      <a:r>
                        <a:rPr lang="en-US" sz="2000" b="1"/>
                        <a:t>Go-Back-N ARQ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Selective Repeat ARQ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0571894"/>
                  </a:ext>
                </a:extLst>
              </a:tr>
              <a:tr h="0">
                <a:tc>
                  <a:txBody>
                    <a:bodyPr/>
                    <a:lstStyle/>
                    <a:p>
                      <a:r>
                        <a:rPr lang="en-US" sz="2000" dirty="0"/>
                        <a:t>The size of the sender is N and the size of the receiver window is always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The size of the sender is N and the size of the receiver window is also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7504549"/>
                  </a:ext>
                </a:extLst>
              </a:tr>
              <a:tr h="0">
                <a:tc>
                  <a:txBody>
                    <a:bodyPr/>
                    <a:lstStyle/>
                    <a:p>
                      <a:r>
                        <a:rPr lang="en-US" sz="2000" dirty="0"/>
                        <a:t>If a frame is corrupted or lost in it, all subsequent frames have to be sent again.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In this, only the frame is sent again, which is corrupted or lost.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446733"/>
                  </a:ext>
                </a:extLst>
              </a:tr>
              <a:tr h="0">
                <a:tc>
                  <a:txBody>
                    <a:bodyPr/>
                    <a:lstStyle/>
                    <a:p>
                      <a:r>
                        <a:rPr lang="en-US" sz="2000"/>
                        <a:t>If it has a high error rate,it wastes a lot of bandwidth.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There is a loss of low bandwidth.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3804790"/>
                  </a:ext>
                </a:extLst>
              </a:tr>
              <a:tr h="0">
                <a:tc>
                  <a:txBody>
                    <a:bodyPr/>
                    <a:lstStyle/>
                    <a:p>
                      <a:r>
                        <a:rPr lang="en-US" sz="2000"/>
                        <a:t>It is less complex.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It is more complex because it has to do sorting and searching as well. And it also requires more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9610375"/>
                  </a:ext>
                </a:extLst>
              </a:tr>
              <a:tr h="0">
                <a:tc>
                  <a:txBody>
                    <a:bodyPr/>
                    <a:lstStyle/>
                    <a:p>
                      <a:r>
                        <a:rPr lang="en-US" sz="2000" dirty="0"/>
                        <a:t>It does not require sorting.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In this, sorting is done to get the frames in the correct 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7987542"/>
                  </a:ext>
                </a:extLst>
              </a:tr>
              <a:tr h="0">
                <a:tc>
                  <a:txBody>
                    <a:bodyPr/>
                    <a:lstStyle/>
                    <a:p>
                      <a:r>
                        <a:rPr lang="en-US" sz="2000"/>
                        <a:t>It is used more.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It is used less because it is more complex.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3378851"/>
                  </a:ext>
                </a:extLst>
              </a:tr>
            </a:tbl>
          </a:graphicData>
        </a:graphic>
      </p:graphicFrame>
    </p:spTree>
    <p:extLst>
      <p:ext uri="{BB962C8B-B14F-4D97-AF65-F5344CB8AC3E}">
        <p14:creationId xmlns:p14="http://schemas.microsoft.com/office/powerpoint/2010/main" val="33903586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E5655-DDA8-FFA4-4C44-C35C496FE30A}"/>
              </a:ext>
            </a:extLst>
          </p:cNvPr>
          <p:cNvSpPr>
            <a:spLocks noGrp="1"/>
          </p:cNvSpPr>
          <p:nvPr>
            <p:ph type="title"/>
          </p:nvPr>
        </p:nvSpPr>
        <p:spPr>
          <a:xfrm>
            <a:off x="691515" y="413809"/>
            <a:ext cx="8675370" cy="1033991"/>
          </a:xfrm>
        </p:spPr>
        <p:txBody>
          <a:bodyPr>
            <a:normAutofit/>
          </a:bodyPr>
          <a:lstStyle/>
          <a:p>
            <a:r>
              <a:rPr lang="en-US" sz="3200" b="1" dirty="0"/>
              <a:t>Difference between Stop and Wait protocol and Sliding Window protocol:</a:t>
            </a:r>
            <a:endParaRPr lang="en-US" sz="3200" dirty="0"/>
          </a:p>
        </p:txBody>
      </p:sp>
      <p:graphicFrame>
        <p:nvGraphicFramePr>
          <p:cNvPr id="4" name="Content Placeholder 3">
            <a:extLst>
              <a:ext uri="{FF2B5EF4-FFF2-40B4-BE49-F238E27FC236}">
                <a16:creationId xmlns:a16="http://schemas.microsoft.com/office/drawing/2014/main" id="{0FD8F4C3-912D-8497-4F51-8347115E1084}"/>
              </a:ext>
            </a:extLst>
          </p:cNvPr>
          <p:cNvGraphicFramePr>
            <a:graphicFrameLocks noGrp="1"/>
          </p:cNvGraphicFramePr>
          <p:nvPr>
            <p:ph idx="1"/>
            <p:extLst>
              <p:ext uri="{D42A27DB-BD31-4B8C-83A1-F6EECF244321}">
                <p14:modId xmlns:p14="http://schemas.microsoft.com/office/powerpoint/2010/main" val="1165394122"/>
              </p:ext>
            </p:extLst>
          </p:nvPr>
        </p:nvGraphicFramePr>
        <p:xfrm>
          <a:off x="1280160" y="1752600"/>
          <a:ext cx="8071485" cy="5685410"/>
        </p:xfrm>
        <a:graphic>
          <a:graphicData uri="http://schemas.openxmlformats.org/drawingml/2006/table">
            <a:tbl>
              <a:tblPr/>
              <a:tblGrid>
                <a:gridCol w="691586">
                  <a:extLst>
                    <a:ext uri="{9D8B030D-6E8A-4147-A177-3AD203B41FA5}">
                      <a16:colId xmlns:a16="http://schemas.microsoft.com/office/drawing/2014/main" val="3214225223"/>
                    </a:ext>
                  </a:extLst>
                </a:gridCol>
                <a:gridCol w="3690104">
                  <a:extLst>
                    <a:ext uri="{9D8B030D-6E8A-4147-A177-3AD203B41FA5}">
                      <a16:colId xmlns:a16="http://schemas.microsoft.com/office/drawing/2014/main" val="293855902"/>
                    </a:ext>
                  </a:extLst>
                </a:gridCol>
                <a:gridCol w="3689795">
                  <a:extLst>
                    <a:ext uri="{9D8B030D-6E8A-4147-A177-3AD203B41FA5}">
                      <a16:colId xmlns:a16="http://schemas.microsoft.com/office/drawing/2014/main" val="1467495995"/>
                    </a:ext>
                  </a:extLst>
                </a:gridCol>
              </a:tblGrid>
              <a:tr h="209553">
                <a:tc>
                  <a:txBody>
                    <a:bodyPr/>
                    <a:lstStyle/>
                    <a:p>
                      <a:pPr algn="ctr"/>
                      <a:r>
                        <a:rPr lang="en-US" sz="1600"/>
                        <a:t>S.NO</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Stop-and-Wait Protocol</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Sliding Window Protocol</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1387229"/>
                  </a:ext>
                </a:extLst>
              </a:tr>
              <a:tr h="806552">
                <a:tc>
                  <a:txBody>
                    <a:bodyPr/>
                    <a:lstStyle/>
                    <a:p>
                      <a:r>
                        <a:rPr lang="en-US" sz="1600" dirty="0"/>
                        <a:t>1.</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 Stop-and-Wait Protocol, sender </a:t>
                      </a:r>
                      <a:r>
                        <a:rPr lang="en-US" sz="1600" u="sng" dirty="0"/>
                        <a:t>sends one frame </a:t>
                      </a:r>
                      <a:r>
                        <a:rPr lang="en-US" sz="1600" dirty="0"/>
                        <a:t>and wait for acknowledgment from receiver side.</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 sliding window protocol, </a:t>
                      </a:r>
                      <a:r>
                        <a:rPr lang="en-US" sz="1600" u="sng" dirty="0"/>
                        <a:t>sender sends more than one frame </a:t>
                      </a:r>
                      <a:r>
                        <a:rPr lang="en-US" sz="1600" dirty="0"/>
                        <a:t>to the receiver side and re-transmits the frame(s) which is/are damaged or suspected.</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058840"/>
                  </a:ext>
                </a:extLst>
              </a:tr>
              <a:tr h="358802">
                <a:tc>
                  <a:txBody>
                    <a:bodyPr/>
                    <a:lstStyle/>
                    <a:p>
                      <a:r>
                        <a:rPr lang="en-US" sz="1600" dirty="0"/>
                        <a:t>2.</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Efficiency of Stop-and-Wait Protocol is worse.</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Efficiency of sliding window protocol is better.</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7402930"/>
                  </a:ext>
                </a:extLst>
              </a:tr>
              <a:tr h="358802">
                <a:tc>
                  <a:txBody>
                    <a:bodyPr/>
                    <a:lstStyle/>
                    <a:p>
                      <a:r>
                        <a:rPr lang="en-US" sz="1600"/>
                        <a:t>3.</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Sender window size of Stop-and-Wait Protocol is 1.</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Sender window size of sliding window protocol is N.</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8574681"/>
                  </a:ext>
                </a:extLst>
              </a:tr>
              <a:tr h="358802">
                <a:tc>
                  <a:txBody>
                    <a:bodyPr/>
                    <a:lstStyle/>
                    <a:p>
                      <a:r>
                        <a:rPr lang="en-US" sz="1600"/>
                        <a:t>4.</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Receiver window size of Stop-and-Wait Protocol is 1.</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Receiver window size of sliding window protocol may be 1 or N.</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460930"/>
                  </a:ext>
                </a:extLst>
              </a:tr>
              <a:tr h="358802">
                <a:tc>
                  <a:txBody>
                    <a:bodyPr/>
                    <a:lstStyle/>
                    <a:p>
                      <a:r>
                        <a:rPr lang="en-US" sz="1600" dirty="0"/>
                        <a:t>5.</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Stop-and-Wait Protocol is </a:t>
                      </a:r>
                      <a:r>
                        <a:rPr lang="en-US" sz="1600" u="sng" dirty="0"/>
                        <a:t>half duplex.</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Sliding window protocol is </a:t>
                      </a:r>
                      <a:r>
                        <a:rPr lang="en-US" sz="1600" u="sng" dirty="0"/>
                        <a:t>full duplex.</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291358"/>
                  </a:ext>
                </a:extLst>
              </a:tr>
              <a:tr h="508053">
                <a:tc>
                  <a:txBody>
                    <a:bodyPr/>
                    <a:lstStyle/>
                    <a:p>
                      <a:r>
                        <a:rPr lang="en-US" sz="1600" dirty="0"/>
                        <a:t>6.</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Stop-and-Wait Protocol is mostly used in low speed and error free network.</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Sliding window protocol is mostly used in high speed and error-prone network.</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750213"/>
                  </a:ext>
                </a:extLst>
              </a:tr>
              <a:tr h="806552">
                <a:tc>
                  <a:txBody>
                    <a:bodyPr/>
                    <a:lstStyle/>
                    <a:p>
                      <a:r>
                        <a:rPr lang="en-US" sz="1600" dirty="0"/>
                        <a:t>7.</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In Stop-and-Wait Protocol, the sender cannot send any new frames until it receives an acknowledgment for the previous frame.</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 sliding window protocol, the sender can continue to send new frames even if some of the earlier frames have not yet been acknowledged.</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3593629"/>
                  </a:ext>
                </a:extLst>
              </a:tr>
              <a:tr h="657302">
                <a:tc>
                  <a:txBody>
                    <a:bodyPr/>
                    <a:lstStyle/>
                    <a:p>
                      <a:r>
                        <a:rPr lang="en-US" sz="1600" dirty="0"/>
                        <a:t>8.</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Stop-and-Wait Protocol has a lower throughput as it has a lot of idle time while waiting for the acknowledgment.</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Sliding window protocol has a higher throughput as it allows for continuous transmission of frames.</a:t>
                      </a:r>
                    </a:p>
                  </a:txBody>
                  <a:tcPr marL="56225" marR="56225" marT="28113" marB="281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8471763"/>
                  </a:ext>
                </a:extLst>
              </a:tr>
            </a:tbl>
          </a:graphicData>
        </a:graphic>
      </p:graphicFrame>
    </p:spTree>
    <p:extLst>
      <p:ext uri="{BB962C8B-B14F-4D97-AF65-F5344CB8AC3E}">
        <p14:creationId xmlns:p14="http://schemas.microsoft.com/office/powerpoint/2010/main" val="2941061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7454</TotalTime>
  <Words>5379</Words>
  <Application>Microsoft Office PowerPoint</Application>
  <PresentationFormat>Custom</PresentationFormat>
  <Paragraphs>912</Paragraphs>
  <Slides>52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Arial MT</vt:lpstr>
      <vt:lpstr>Calibri</vt:lpstr>
      <vt:lpstr>Cambria Math</vt:lpstr>
      <vt:lpstr>Symbol</vt:lpstr>
      <vt:lpstr>Times New Roman</vt:lpstr>
      <vt:lpstr>Times-Bold</vt:lpstr>
      <vt:lpstr>Times-Roman</vt:lpstr>
      <vt:lpstr>Wingdings</vt:lpstr>
      <vt:lpstr>Office Theme</vt:lpstr>
      <vt:lpstr>Chapter 3: The Data Link Layer</vt:lpstr>
      <vt:lpstr>Terminology: Packets and Frames</vt:lpstr>
      <vt:lpstr>Layered Communication</vt:lpstr>
      <vt:lpstr>Data Link Layer</vt:lpstr>
      <vt:lpstr>Design Issues</vt:lpstr>
      <vt:lpstr>Kinds of Services</vt:lpstr>
      <vt:lpstr>Framing</vt:lpstr>
      <vt:lpstr>Framing (Byte Count)</vt:lpstr>
      <vt:lpstr>Framing (Byte Count)</vt:lpstr>
      <vt:lpstr>Framing (Flag bytes with byte stuffing)</vt:lpstr>
      <vt:lpstr>Framing (Flag bytes with byte stuffing)</vt:lpstr>
      <vt:lpstr>Framing (Byte Stuffing)</vt:lpstr>
      <vt:lpstr>Framing (Bit Stuffing)</vt:lpstr>
      <vt:lpstr>3.1.3 Error Control</vt:lpstr>
      <vt:lpstr>3.1.4 Flow Control</vt:lpstr>
      <vt:lpstr>Data Link Layer</vt:lpstr>
      <vt:lpstr>3.2 Error Detection and Correction</vt:lpstr>
      <vt:lpstr>3.2 Error Detection and Correction</vt:lpstr>
      <vt:lpstr>3.2 Error Detection and Correction</vt:lpstr>
      <vt:lpstr>3.2 Error Detection and Correction</vt:lpstr>
      <vt:lpstr>PowerPoint Presentation</vt:lpstr>
      <vt:lpstr>Cyclic redundancy check (CRC) </vt:lpstr>
      <vt:lpstr>PowerPoint Presentation</vt:lpstr>
      <vt:lpstr>Hamming Codes, 1950</vt:lpstr>
      <vt:lpstr>Hamming Codes Definitions</vt:lpstr>
      <vt:lpstr>Hamming Codes</vt:lpstr>
      <vt:lpstr>Hamming Codes</vt:lpstr>
      <vt:lpstr>Hamming Codes</vt:lpstr>
      <vt:lpstr>Hamming Codes</vt:lpstr>
      <vt:lpstr>Hamming Codes (5 of 8)</vt:lpstr>
      <vt:lpstr>Hamming Codes</vt:lpstr>
      <vt:lpstr>PowerPoint Presentation</vt:lpstr>
      <vt:lpstr>3.3 Elementary Protocols</vt:lpstr>
      <vt:lpstr>3.3 Elementary Protocols</vt:lpstr>
      <vt:lpstr>3.3.2 Simplex Stop-and-Wait Protocol for an Error-Free Channel </vt:lpstr>
      <vt:lpstr>3.3.3 A Simplex Stop-and-Wait Protocol for a Noisy Channel</vt:lpstr>
      <vt:lpstr>**3.4 Sliding Window Protocols</vt:lpstr>
      <vt:lpstr>Piggybacking</vt:lpstr>
      <vt:lpstr>Piggybacking</vt:lpstr>
      <vt:lpstr>Bidirectional protocol: Sliding Window of Size 1</vt:lpstr>
      <vt:lpstr>Sliding Window Protocol</vt:lpstr>
      <vt:lpstr>3.4.1 One-Bit Sliding Window Protocol</vt:lpstr>
      <vt:lpstr>One-Bit Sliding Window  Normal Case</vt:lpstr>
      <vt:lpstr>One-Bit Sliding Window  Degenerate Case</vt:lpstr>
      <vt:lpstr>Pipelining</vt:lpstr>
      <vt:lpstr>Receiver Window Size is One</vt:lpstr>
      <vt:lpstr>Go-Back-N Practice Q</vt:lpstr>
      <vt:lpstr>Receiver’s Window is Large</vt:lpstr>
      <vt:lpstr>Problem for Selective Repeat</vt:lpstr>
      <vt:lpstr>Solution</vt:lpstr>
      <vt:lpstr>Difference between the Go-Back-N ARQ and Selective Repeat ARQ </vt:lpstr>
      <vt:lpstr>Difference between Stop and Wait protocol and Sliding Window protocol: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The Data Link Layer</dc:title>
  <dc:creator>Dell</dc:creator>
  <cp:lastModifiedBy>ASUS</cp:lastModifiedBy>
  <cp:revision>120</cp:revision>
  <dcterms:created xsi:type="dcterms:W3CDTF">2022-12-05T18:07:54Z</dcterms:created>
  <dcterms:modified xsi:type="dcterms:W3CDTF">2023-11-16T18:09:23Z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LaTeX with hyperref package</vt:lpwstr>
  </property>
</Properties>
</file>