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9" r:id="rId1"/>
  </p:sldMasterIdLst>
  <p:notesMasterIdLst>
    <p:notesMasterId r:id="rId63"/>
  </p:notesMasterIdLst>
  <p:sldIdLst>
    <p:sldId id="886" r:id="rId2"/>
    <p:sldId id="834" r:id="rId3"/>
    <p:sldId id="835" r:id="rId4"/>
    <p:sldId id="888" r:id="rId5"/>
    <p:sldId id="535" r:id="rId6"/>
    <p:sldId id="893" r:id="rId7"/>
    <p:sldId id="838" r:id="rId8"/>
    <p:sldId id="887" r:id="rId9"/>
    <p:sldId id="839" r:id="rId10"/>
    <p:sldId id="876" r:id="rId11"/>
    <p:sldId id="882" r:id="rId12"/>
    <p:sldId id="840" r:id="rId13"/>
    <p:sldId id="877" r:id="rId14"/>
    <p:sldId id="865" r:id="rId15"/>
    <p:sldId id="878" r:id="rId16"/>
    <p:sldId id="883" r:id="rId17"/>
    <p:sldId id="841" r:id="rId18"/>
    <p:sldId id="866" r:id="rId19"/>
    <p:sldId id="842" r:id="rId20"/>
    <p:sldId id="884" r:id="rId21"/>
    <p:sldId id="885" r:id="rId22"/>
    <p:sldId id="889" r:id="rId23"/>
    <p:sldId id="890" r:id="rId24"/>
    <p:sldId id="843" r:id="rId25"/>
    <p:sldId id="844" r:id="rId26"/>
    <p:sldId id="845" r:id="rId27"/>
    <p:sldId id="891" r:id="rId28"/>
    <p:sldId id="892" r:id="rId29"/>
    <p:sldId id="846" r:id="rId30"/>
    <p:sldId id="847" r:id="rId31"/>
    <p:sldId id="848" r:id="rId32"/>
    <p:sldId id="880" r:id="rId33"/>
    <p:sldId id="849" r:id="rId34"/>
    <p:sldId id="850" r:id="rId35"/>
    <p:sldId id="851" r:id="rId36"/>
    <p:sldId id="867" r:id="rId37"/>
    <p:sldId id="868" r:id="rId38"/>
    <p:sldId id="852" r:id="rId39"/>
    <p:sldId id="836" r:id="rId40"/>
    <p:sldId id="853" r:id="rId41"/>
    <p:sldId id="854" r:id="rId42"/>
    <p:sldId id="855" r:id="rId43"/>
    <p:sldId id="837" r:id="rId44"/>
    <p:sldId id="869" r:id="rId45"/>
    <p:sldId id="856" r:id="rId46"/>
    <p:sldId id="870" r:id="rId47"/>
    <p:sldId id="857" r:id="rId48"/>
    <p:sldId id="871" r:id="rId49"/>
    <p:sldId id="872" r:id="rId50"/>
    <p:sldId id="858" r:id="rId51"/>
    <p:sldId id="859" r:id="rId52"/>
    <p:sldId id="860" r:id="rId53"/>
    <p:sldId id="861" r:id="rId54"/>
    <p:sldId id="862" r:id="rId55"/>
    <p:sldId id="863" r:id="rId56"/>
    <p:sldId id="864" r:id="rId57"/>
    <p:sldId id="873" r:id="rId58"/>
    <p:sldId id="833" r:id="rId59"/>
    <p:sldId id="874" r:id="rId60"/>
    <p:sldId id="875" r:id="rId61"/>
    <p:sldId id="881" r:id="rId6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6" autoAdjust="0"/>
    <p:restoredTop sz="94694" autoAdjust="0"/>
  </p:normalViewPr>
  <p:slideViewPr>
    <p:cSldViewPr>
      <p:cViewPr varScale="1">
        <p:scale>
          <a:sx n="121" d="100"/>
          <a:sy n="121" d="100"/>
        </p:scale>
        <p:origin x="149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>
            <a:extLst>
              <a:ext uri="{FF2B5EF4-FFF2-40B4-BE49-F238E27FC236}">
                <a16:creationId xmlns:a16="http://schemas.microsoft.com/office/drawing/2014/main" id="{35B7643E-5D50-B5C0-F8AE-DA71A7FB03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i="0" baseline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62563" name="Rectangle 3">
            <a:extLst>
              <a:ext uri="{FF2B5EF4-FFF2-40B4-BE49-F238E27FC236}">
                <a16:creationId xmlns:a16="http://schemas.microsoft.com/office/drawing/2014/main" id="{6FDAAF1A-67B7-F36D-198A-9176D2FD871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baseline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338E160-1700-2D82-D571-1ED57B04B77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62565" name="Rectangle 5">
            <a:extLst>
              <a:ext uri="{FF2B5EF4-FFF2-40B4-BE49-F238E27FC236}">
                <a16:creationId xmlns:a16="http://schemas.microsoft.com/office/drawing/2014/main" id="{A7E10FCB-38AA-A030-8B99-B6E632647D3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962566" name="Rectangle 6">
            <a:extLst>
              <a:ext uri="{FF2B5EF4-FFF2-40B4-BE49-F238E27FC236}">
                <a16:creationId xmlns:a16="http://schemas.microsoft.com/office/drawing/2014/main" id="{8D61A282-5EDE-2EBF-BD05-441B31CD12E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i="0" baseline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62567" name="Rectangle 7">
            <a:extLst>
              <a:ext uri="{FF2B5EF4-FFF2-40B4-BE49-F238E27FC236}">
                <a16:creationId xmlns:a16="http://schemas.microsoft.com/office/drawing/2014/main" id="{E58FD249-34CE-FAB5-E6A7-C985C0D5DC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baseline="0"/>
            </a:lvl1pPr>
          </a:lstStyle>
          <a:p>
            <a:pPr>
              <a:defRPr/>
            </a:pPr>
            <a:fld id="{AE0A669D-8932-DE4B-A8CD-E6A9780B7F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5F8625EB-6311-8099-73B0-B6D6E85EC8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AF0A295-140D-1246-8DA7-15E1798E020A}" type="slidenum">
              <a:rPr lang="en-US" altLang="en-US" sz="1200" b="0" i="0" baseline="0" smtClean="0"/>
              <a:pPr/>
              <a:t>1</a:t>
            </a:fld>
            <a:endParaRPr lang="en-US" altLang="en-US" sz="1200" b="0" i="0" baseline="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C58309DF-B62A-DB09-BC38-76DF4826EC4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31ECA5B3-20AD-5E72-F7C5-111C329675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6E0BAF25-772D-2467-D7A5-A7901CDFEA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FE36521-22BE-EA47-BFF6-F917A45BC4C0}" type="slidenum">
              <a:rPr lang="en-US" altLang="en-US" sz="1200" b="0" i="0" baseline="0" smtClean="0"/>
              <a:pPr/>
              <a:t>2</a:t>
            </a:fld>
            <a:endParaRPr lang="en-US" altLang="en-US" sz="1200" b="0" i="0" baseline="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8B49259-753B-A044-9D95-43D6D468CDC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266994D-AB95-CD87-5EE2-C58D574D3C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009F710A-9E24-191E-8E7B-B8D37AA74E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49392-33EA-8C44-93A6-4021F8E316F1}" type="slidenum">
              <a:rPr lang="en-US" altLang="en-US" sz="1200" b="0" i="0" baseline="0" smtClean="0"/>
              <a:pPr/>
              <a:t>3</a:t>
            </a:fld>
            <a:endParaRPr lang="en-US" altLang="en-US" sz="1200" b="0" i="0" baseline="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64A8CD0C-AC3A-2381-B5A0-750E395B5E9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886437FE-6A52-5474-96D9-E89A3DBDD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DDFC25AF-0378-83C3-9A06-ECD9BD281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9686B8C-5DFA-C64F-9478-5F3F7B8F96D8}" type="slidenum">
              <a:rPr lang="en-US" altLang="en-US" sz="1200" b="0" i="0" baseline="0" smtClean="0"/>
              <a:pPr/>
              <a:t>4</a:t>
            </a:fld>
            <a:endParaRPr lang="en-US" altLang="en-US" sz="1200" b="0" i="0" baseline="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2803985D-4E2A-307F-5713-7D48E18A9C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17340119-872C-736D-2A32-E6F7C52DE8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BE08E5A9-A740-EAE6-EAE9-761C7DB28B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EF18F5-D38F-9947-BF9C-72526F364116}" type="slidenum">
              <a:rPr lang="en-US" altLang="en-US" sz="1200" b="0" i="0" baseline="0" smtClean="0"/>
              <a:pPr/>
              <a:t>5</a:t>
            </a:fld>
            <a:endParaRPr lang="en-US" altLang="en-US" sz="1200" b="0" i="0" baseline="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7DF93A78-CC21-570E-5157-6ABCA12B840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377CF6CD-6C2E-DDF3-2A54-95183CD46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221EFEC-6DBA-4449-4B3B-90A8FC59C3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2D61E11-09FB-C54E-B6EE-505BD600CD1E}" type="slidenum">
              <a:rPr lang="en-US" altLang="en-US" sz="1200" b="0" i="0" baseline="0" smtClean="0"/>
              <a:pPr/>
              <a:t>6</a:t>
            </a:fld>
            <a:endParaRPr lang="en-US" altLang="en-US" sz="1200" b="0" i="0" baseline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8A648B2F-3415-ECDF-DE55-3D542B317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D392B09-80C7-C03F-85B9-4974DC6B4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F444188B-A4B4-0FEF-8CC3-28AC5CD898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6A535C0-E77F-A142-B835-47928D533544}" type="slidenum">
              <a:rPr lang="en-US" altLang="en-US" sz="1200" b="0" i="0" baseline="0" smtClean="0"/>
              <a:pPr/>
              <a:t>7</a:t>
            </a:fld>
            <a:endParaRPr lang="en-US" altLang="en-US" sz="1200" b="0" i="0" baseline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9B8402F-9F35-99A4-6499-5282BEDF1A2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BABEFE0-FA7D-0A01-39F4-FE05D7507C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A5F1C82D-DA10-15CB-6430-D2C6ED97DB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CBA076-6F0C-3242-A1FF-CFE3863C73D7}" type="slidenum">
              <a:rPr lang="en-US" altLang="en-US" sz="1200" b="0" i="0" baseline="0" smtClean="0"/>
              <a:pPr/>
              <a:t>9</a:t>
            </a:fld>
            <a:endParaRPr lang="en-US" altLang="en-US" sz="1200" b="0" i="0" baseline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D4039AF-7CB1-E492-40EE-4E52FE52341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B7E46D9-148D-1946-FE62-39F243201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5E06FEE8-DF44-94D8-70B6-D172A15376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29CFFC9-7C7F-7846-8B06-19E6A84A729E}" type="slidenum">
              <a:rPr lang="en-US" altLang="en-US" sz="1200" b="0" i="0" baseline="0" smtClean="0"/>
              <a:pPr/>
              <a:t>10</a:t>
            </a:fld>
            <a:endParaRPr lang="en-US" altLang="en-US" sz="1200" b="0" i="0" baseline="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BA0FA763-B572-5213-78B2-B7F9B2FA8E7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CE5A6C70-56AE-5F28-E348-5A8497F5E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2B149BFA-E218-8799-A15A-1AE0348B83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B42657A-8E39-3741-A118-85E0E3AA65BA}" type="slidenum">
              <a:rPr lang="en-US" altLang="en-US" sz="1200" b="0" i="0" baseline="0" smtClean="0"/>
              <a:pPr/>
              <a:t>11</a:t>
            </a:fld>
            <a:endParaRPr lang="en-US" altLang="en-US" sz="1200" b="0" i="0" baseline="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0139A28-03B8-AF69-7999-9A9E56FD821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8DCBD7A-D531-B9FC-7D74-99EF143FB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FAB6538F-39B8-0208-46CC-0517B290F7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99A7664-80E9-6B47-96C6-6853AFBC2B6F}" type="slidenum">
              <a:rPr lang="en-US" altLang="en-US" sz="1200" b="0" i="0" baseline="0" smtClean="0"/>
              <a:pPr/>
              <a:t>12</a:t>
            </a:fld>
            <a:endParaRPr lang="en-US" altLang="en-US" sz="1200" b="0" i="0" baseline="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ABDFB3F-55AF-D13C-8AA5-7800F08934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3F3E4821-ECC0-E863-DFC1-1310E70C1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53657479-C5B0-B571-1951-7BDAD4BCB6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5E9162-0575-B640-9600-FDB6514BC6D6}" type="slidenum">
              <a:rPr lang="en-US" altLang="en-US" sz="1200" b="0" i="0" baseline="0" smtClean="0"/>
              <a:pPr/>
              <a:t>13</a:t>
            </a:fld>
            <a:endParaRPr lang="en-US" altLang="en-US" sz="1200" b="0" i="0" baseline="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9BC2BE5-ECE2-8D84-91D6-E87DD860E5B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9052C11-6266-83C5-4883-B24BF9FC22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90F0BEE5-3C25-CFC1-FDBC-BAEC467652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B710C24-D004-F049-A773-0270D37C9F27}" type="slidenum">
              <a:rPr lang="en-US" altLang="en-US" sz="1200" b="0" i="0" baseline="0" smtClean="0"/>
              <a:pPr/>
              <a:t>14</a:t>
            </a:fld>
            <a:endParaRPr lang="en-US" altLang="en-US" sz="1200" b="0" i="0" baseline="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2178354-0469-8BCC-F160-C7D048E4C5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21208665-11F7-995A-5258-0B253A049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9BB9ADC1-8B6E-A0B6-6603-91F45A0498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247F82-75F5-824B-A0BB-86AF7088E2B0}" type="slidenum">
              <a:rPr lang="en-US" altLang="en-US" sz="1200" b="0" i="0" baseline="0" smtClean="0"/>
              <a:pPr/>
              <a:t>15</a:t>
            </a:fld>
            <a:endParaRPr lang="en-US" altLang="en-US" sz="1200" b="0" i="0" baseline="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CE5F5EC-14E4-E967-CBB4-EF41CCBDDAE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EE8FA93F-02AA-00A5-5515-4D2269EA90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79436020-7B7B-D5BA-0ED1-A19FC8818F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8DD6EF-6EFA-A042-8C96-87C1BBC2AFEC}" type="slidenum">
              <a:rPr lang="en-US" altLang="en-US" sz="1200" b="0" i="0" baseline="0" smtClean="0"/>
              <a:pPr/>
              <a:t>16</a:t>
            </a:fld>
            <a:endParaRPr lang="en-US" altLang="en-US" sz="1200" b="0" i="0" baseline="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E67A36C-E8F6-DAA8-9AE5-58D82B5BA55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EACB56D-3777-E0D9-CE7A-2984321A29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B64C6AE6-8047-F1A3-2D51-E4B8B947B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E0E03D4-C430-2544-B7FF-9B9B02DACC10}" type="slidenum">
              <a:rPr lang="en-US" altLang="en-US" sz="1200" b="0" i="0" baseline="0" smtClean="0"/>
              <a:pPr/>
              <a:t>17</a:t>
            </a:fld>
            <a:endParaRPr lang="en-US" altLang="en-US" sz="1200" b="0" i="0" baseline="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CA2EE1CB-A49F-93E2-98FE-6848A94AE26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12A0046-ABB0-4E0B-25F2-D016E34F1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8EE0359F-7A7A-74A8-39CD-C09F1586EF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23ADA7-ABF5-C941-86DC-FFABD38D18FE}" type="slidenum">
              <a:rPr lang="en-US" altLang="en-US" sz="1200" b="0" i="0" baseline="0" smtClean="0"/>
              <a:pPr/>
              <a:t>18</a:t>
            </a:fld>
            <a:endParaRPr lang="en-US" altLang="en-US" sz="1200" b="0" i="0" baseline="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D01845D0-8C3F-2F7F-F690-91505C0C62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61E9318-6BB2-EEA5-C8C5-4A4AE37005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1DD89F6C-0E59-B646-EA6A-3567D75C5A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DCB7D4C-7C6F-E449-9EFD-5BDC568A76A5}" type="slidenum">
              <a:rPr lang="en-US" altLang="en-US" sz="1200" b="0" i="0" baseline="0" smtClean="0"/>
              <a:pPr/>
              <a:t>19</a:t>
            </a:fld>
            <a:endParaRPr lang="en-US" altLang="en-US" sz="1200" b="0" i="0" baseline="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0B7780BB-D8DC-823D-E3D0-7D902542428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F695D557-8F2F-61E7-4B73-8671DE7F8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C674960E-2A97-48D4-0FB8-B9DD4AB3F5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7F52BC-ABAC-4841-BA31-FBDD7377103E}" type="slidenum">
              <a:rPr lang="en-US" altLang="en-US" sz="1200" b="0" i="0" baseline="0" smtClean="0"/>
              <a:pPr/>
              <a:t>20</a:t>
            </a:fld>
            <a:endParaRPr lang="en-US" altLang="en-US" sz="1200" b="0" i="0" baseline="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0B360D1-D0A7-12DE-488F-2286B61721D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6BD5E082-9A5E-2339-0FC5-1DF956B4C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6A59EC3F-CB9B-91D1-41F1-A34C0B5640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16A462-E6B6-E047-A753-5235F3DE8FC8}" type="slidenum">
              <a:rPr lang="en-US" altLang="en-US" sz="1200" b="0" i="0" baseline="0" smtClean="0"/>
              <a:pPr/>
              <a:t>21</a:t>
            </a:fld>
            <a:endParaRPr lang="en-US" altLang="en-US" sz="1200" b="0" i="0" baseline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06B1B2C8-9EBB-F323-53E3-C2B48705C2E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084222C-66C1-1384-88BD-682AEAB88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D2390A05-880C-5E09-9C40-83DDACB723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A4178C2A-C07B-4108-A28F-3806B10CA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To minimize the chance of collision and, therefore, increase the performance, the CSMA method was developed. </a:t>
            </a: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636413AD-92BD-8792-C452-8700DE16A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38E1A8C-7826-3D47-AF3C-5684A37EBD50}" type="slidenum">
              <a:rPr lang="en-US" altLang="en-US" sz="1200" b="0" i="0" baseline="0" smtClean="0"/>
              <a:pPr/>
              <a:t>22</a:t>
            </a:fld>
            <a:endParaRPr lang="en-US" altLang="en-US" sz="1200" b="0" i="0" baseline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49D18272-0D5F-F169-EBC0-C025F5DCD9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4FF423A1-1114-1E40-533F-5A96197A99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To minimize the chance of collision and, therefore, increase the performance, the CSMA method was developed. 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CDA5B062-9F7D-C323-FED9-73F51D681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E78F856-225F-2A45-9E91-5CE9409D9C85}" type="slidenum">
              <a:rPr lang="en-US" altLang="en-US" sz="1200" b="0" i="0" baseline="0" smtClean="0"/>
              <a:pPr/>
              <a:t>23</a:t>
            </a:fld>
            <a:endParaRPr lang="en-US" altLang="en-US" sz="1200" b="0" i="0" baseline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2D4C8E62-EDE7-317C-6B52-4EE726227B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DE526DA-7CF8-484A-96E0-4CF937012511}" type="slidenum">
              <a:rPr lang="en-US" altLang="en-US" sz="1200" b="0" i="0" baseline="0" smtClean="0"/>
              <a:pPr/>
              <a:t>24</a:t>
            </a:fld>
            <a:endParaRPr lang="en-US" altLang="en-US" sz="1200" b="0" i="0" baseline="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3481AC3B-1980-4C37-2877-231571F7693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D1D3A658-C6E9-2AB6-1101-A3A281BBE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800"/>
              <a:t>At time </a:t>
            </a:r>
            <a:r>
              <a:rPr lang="en-US" altLang="en-US" sz="1800" i="1">
                <a:latin typeface="Arial" panose="020B0604020202020204" pitchFamily="34" charset="0"/>
              </a:rPr>
              <a:t>tI' </a:t>
            </a:r>
            <a:r>
              <a:rPr lang="en-US" altLang="en-US" sz="1800"/>
              <a:t>station B senses the medium and finds it idle, so it sends a frame. At time</a:t>
            </a:r>
          </a:p>
          <a:p>
            <a:r>
              <a:rPr lang="en-US" altLang="en-US" sz="1800" i="1">
                <a:latin typeface="Arial" panose="020B0604020202020204" pitchFamily="34" charset="0"/>
              </a:rPr>
              <a:t>t2 (t2&gt; t1)' </a:t>
            </a:r>
            <a:r>
              <a:rPr lang="en-US" altLang="en-US" sz="1800"/>
              <a:t>station C senses the medium and finds it idle because, at this time, the first bits from station B have not reached station C. Station C also sends a frame. The two signals collide and both frames are destroyed.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A7273FCC-906D-D9B1-9395-E03FAABF09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475BF5B-E0A6-E143-AC5E-82A55B10FADA}" type="slidenum">
              <a:rPr lang="en-US" altLang="en-US" sz="1200" b="0" i="0" baseline="0" smtClean="0"/>
              <a:pPr/>
              <a:t>25</a:t>
            </a:fld>
            <a:endParaRPr lang="en-US" altLang="en-US" sz="1200" b="0" i="0" baseline="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B814E6A7-5116-F6E8-3509-4EAAB74615F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B2745C98-172A-96FE-22C9-94CCC243E0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9C44639-3237-3205-87F9-F48A6E812B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1EDEF5B-677D-354E-8754-98FF9AAE5E67}" type="slidenum">
              <a:rPr lang="en-US" altLang="en-US" sz="1200" b="0" i="0" baseline="0" smtClean="0"/>
              <a:pPr/>
              <a:t>26</a:t>
            </a:fld>
            <a:endParaRPr lang="en-US" altLang="en-US" sz="1200" b="0" i="0" baseline="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3BE04531-6544-9A67-1DB4-49AED35CFEA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6409215-7DF9-DD20-06E9-20C8DF0DC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9501481F-2736-BD2B-61F7-F1ABF816DB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4DFE51-F911-2A49-B1E2-DCB7F926F27C}" type="slidenum">
              <a:rPr lang="en-US" altLang="en-US" sz="1200" b="0" i="0" baseline="0" smtClean="0"/>
              <a:pPr/>
              <a:t>27</a:t>
            </a:fld>
            <a:endParaRPr lang="en-US" altLang="en-US" sz="1200" b="0" i="0" baseline="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25DE160D-0195-300B-E2FA-AB01C6E9AA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7BCBA1C-5BA1-4278-A096-955B02AE2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37C9DA98-691C-8970-C6F0-2F5228B7EE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0120AA-5EF7-124F-9140-A865259D4C37}" type="slidenum">
              <a:rPr lang="en-US" altLang="en-US" sz="1200" b="0" i="0" baseline="0" smtClean="0"/>
              <a:pPr/>
              <a:t>28</a:t>
            </a:fld>
            <a:endParaRPr lang="en-US" altLang="en-US" sz="1200" b="0" i="0" baseline="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9A41E7F2-0DFF-60AD-AE9C-651D520F7C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FB1A045-5EE9-8A33-B464-DC44274F4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51D23260-DB1E-ECAC-168E-00768DA46F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594C5D3-AE2C-634D-8CC3-6753F7E25CD9}" type="slidenum">
              <a:rPr lang="en-US" altLang="en-US" sz="1200" b="0" i="0" baseline="0" smtClean="0"/>
              <a:pPr/>
              <a:t>29</a:t>
            </a:fld>
            <a:endParaRPr lang="en-US" altLang="en-US" sz="1200" b="0" i="0" baseline="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382B7FAE-F953-2F0A-5334-F3BC52F928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F5D3965B-10A3-CF72-C40F-A3EFEA92E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11B2F6D3-BF7F-2BD6-68FA-080F3D60BA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D188C1F-9F67-D442-BFE1-F20771CE275C}" type="slidenum">
              <a:rPr lang="en-US" altLang="en-US" sz="1200" b="0" i="0" baseline="0" smtClean="0"/>
              <a:pPr/>
              <a:t>30</a:t>
            </a:fld>
            <a:endParaRPr lang="en-US" altLang="en-US" sz="1200" b="0" i="0" baseline="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B472F1CB-B1B7-1CEF-D71A-24158581485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C4FFF34-DD3B-FAC8-68CE-EF6C02FA37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E98D6583-91F7-5217-8854-A829D8CEEC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023B278-1361-234F-A26E-745C304D98A8}" type="slidenum">
              <a:rPr lang="en-US" altLang="en-US" sz="1200" b="0" i="0" baseline="0" smtClean="0"/>
              <a:pPr/>
              <a:t>31</a:t>
            </a:fld>
            <a:endParaRPr lang="en-US" altLang="en-US" sz="1200" b="0" i="0" baseline="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53806505-DC67-0A48-59A1-32C9BF4F8D4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1C7C49C0-248C-362C-519F-5B5FA4797E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https://www.geeksforgeeks.org/collision-detection-csmacd/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60272FB1-0861-EDAC-4B8B-EC926D78D6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A2C48CF-B1E8-8246-AADD-86DA3AE627B1}" type="slidenum">
              <a:rPr lang="en-US" altLang="en-US" sz="1200" b="0" i="0" baseline="0" smtClean="0"/>
              <a:pPr/>
              <a:t>32</a:t>
            </a:fld>
            <a:endParaRPr lang="en-US" altLang="en-US" sz="1200" b="0" i="0" baseline="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9441096B-EE88-2F8F-F21E-A905DF9C2D6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FD7A01D5-39E5-2819-A922-96E1DBE9A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0427FAB3-36B2-97D5-818D-89C2C29BAB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BC119A5-8F28-B145-9061-53930D2F925E}" type="slidenum">
              <a:rPr lang="en-US" altLang="en-US" sz="1200" b="0" i="0" baseline="0" smtClean="0"/>
              <a:pPr/>
              <a:t>33</a:t>
            </a:fld>
            <a:endParaRPr lang="en-US" altLang="en-US" sz="1200" b="0" i="0" baseline="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BAF6C19F-2462-5751-3B2E-D091F84F2D2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439532E3-9522-930F-41AA-767F33D78F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71FE2B7F-E10B-E4BD-606C-7D53E0E227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04C53F-9116-8044-86C8-520F71C8C432}" type="slidenum">
              <a:rPr lang="en-US" altLang="en-US" sz="1200" b="0" i="0" baseline="0" smtClean="0"/>
              <a:pPr/>
              <a:t>34</a:t>
            </a:fld>
            <a:endParaRPr lang="en-US" altLang="en-US" sz="1200" b="0" i="0" baseline="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272572C0-6550-EFFF-B5D6-698102F41BD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057B63E9-CD05-D7E1-9FF0-F1148D4BF0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5CB98BE1-CB60-6AB8-DDF0-CE8E67A3EE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3A64B5-9D6F-CB48-B8DE-4D28B9CF643A}" type="slidenum">
              <a:rPr lang="en-US" altLang="en-US" sz="1200" b="0" i="0" baseline="0" smtClean="0"/>
              <a:pPr/>
              <a:t>35</a:t>
            </a:fld>
            <a:endParaRPr lang="en-US" altLang="en-US" sz="1200" b="0" i="0" baseline="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15CECB0C-FD8A-590B-D38A-1171F3CA986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6A3DDF8A-B159-B38C-74BA-AAC444C7A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2574C95B-CD35-5EA5-6129-96CD887032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EF734E-0C47-6549-9BD2-2A91BB848BC0}" type="slidenum">
              <a:rPr lang="en-US" altLang="en-US" sz="1200" b="0" i="0" baseline="0" smtClean="0"/>
              <a:pPr/>
              <a:t>36</a:t>
            </a:fld>
            <a:endParaRPr lang="en-US" altLang="en-US" sz="1200" b="0" i="0" baseline="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7A1A525-B9AF-AEE7-777A-621E8E6B96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606364A8-CCB1-50AE-41E3-69DDD5AB4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CAE2A47A-8C67-3A0C-A63F-D89AB66E93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B3EA09-927C-024F-A6F3-37CECC2BFBE1}" type="slidenum">
              <a:rPr lang="en-US" altLang="en-US" sz="1200" b="0" i="0" baseline="0" smtClean="0"/>
              <a:pPr/>
              <a:t>37</a:t>
            </a:fld>
            <a:endParaRPr lang="en-US" altLang="en-US" sz="1200" b="0" i="0" baseline="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24731A23-B9E5-44C3-2389-D473B2FE5CF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7553CCA-A715-6F3E-95C2-16DF97939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093125E3-82B5-6553-8A34-823022B202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413A88C-3026-8B4E-89CE-10967BE5C90F}" type="slidenum">
              <a:rPr lang="en-US" altLang="en-US" sz="1200" b="0" i="0" baseline="0" smtClean="0"/>
              <a:pPr/>
              <a:t>38</a:t>
            </a:fld>
            <a:endParaRPr lang="en-US" altLang="en-US" sz="1200" b="0" i="0" baseline="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4A4E2A83-3224-8EAA-C604-19EC48D88B5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069D2DCA-A8D0-EC40-1FD3-CAA52BD9B5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E531E848-66D9-2775-8B7B-CBFF837530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744BADF-6E5A-C542-B922-AA2448AC8C70}" type="slidenum">
              <a:rPr lang="en-US" altLang="en-US" sz="1200" b="0" i="0" baseline="0" smtClean="0"/>
              <a:pPr/>
              <a:t>39</a:t>
            </a:fld>
            <a:endParaRPr lang="en-US" altLang="en-US" sz="1200" b="0" i="0" baseline="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E5C3B1-3E63-3D6B-2932-FB789B6D459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EFB79B12-AF1C-0C0A-BC20-244A0554C3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5E5A0AA2-0A21-A87F-BD26-F0DDB4006C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0CB0743-06C9-7946-9BD8-26DD482D65C6}" type="slidenum">
              <a:rPr lang="en-US" altLang="en-US" sz="1200" b="0" i="0" baseline="0" smtClean="0"/>
              <a:pPr/>
              <a:t>40</a:t>
            </a:fld>
            <a:endParaRPr lang="en-US" altLang="en-US" sz="1200" b="0" i="0" baseline="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2877519B-8CC8-7535-F679-8137FD16A93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823E79FB-A2CA-A005-6763-FF9AF05FCC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265A8B25-CAA3-1156-3B8C-4AE0E958BD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1A006C-851A-EF42-B2C0-FB750358CCFE}" type="slidenum">
              <a:rPr lang="en-US" altLang="en-US" sz="1200" b="0" i="0" baseline="0" smtClean="0"/>
              <a:pPr/>
              <a:t>41</a:t>
            </a:fld>
            <a:endParaRPr lang="en-US" altLang="en-US" sz="1200" b="0" i="0" baseline="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5C0076-E3AD-DE74-9F0E-08D16CDD4A6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CB905A70-19BD-F5DA-C858-AA927A3A7D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9A36C511-C143-CA8A-C39E-FFE2A6B3F0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CA39672-6262-C44E-A6CA-478C0516B35C}" type="slidenum">
              <a:rPr lang="en-US" altLang="en-US" sz="1200" b="0" i="0" baseline="0" smtClean="0"/>
              <a:pPr/>
              <a:t>42</a:t>
            </a:fld>
            <a:endParaRPr lang="en-US" altLang="en-US" sz="1200" b="0" i="0" baseline="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66EB81EC-1B00-9E76-34C8-F0F53D3EF2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49CB374A-F504-ADE1-437E-A919AD23D1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0B224D5B-1685-FAD9-2D43-E60E69F3AE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B3FBB6-966E-F648-9CE9-E369CE09CD46}" type="slidenum">
              <a:rPr lang="en-US" altLang="en-US" sz="1200" b="0" i="0" baseline="0" smtClean="0"/>
              <a:pPr/>
              <a:t>43</a:t>
            </a:fld>
            <a:endParaRPr lang="en-US" altLang="en-US" sz="1200" b="0" i="0" baseline="0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863343B-1536-AEE3-54DC-C32FA1BB212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73413129-0BDF-48B3-5226-FA1FF417A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F52C8BFF-265C-E866-84C7-3FC53994B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095711E-240A-BC4C-9F35-0B53266547A5}" type="slidenum">
              <a:rPr lang="en-US" altLang="en-US" sz="1200" b="0" i="0" baseline="0" smtClean="0"/>
              <a:pPr/>
              <a:t>44</a:t>
            </a:fld>
            <a:endParaRPr lang="en-US" altLang="en-US" sz="1200" b="0" i="0" baseline="0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CCEEE0EC-7F3B-872D-C2FB-37A338BB88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FFFB14F1-A5D5-112C-3EF5-E9BE6E939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1C931D07-6462-5BE8-1410-8CA5F8B29D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193C80F-6C2D-A448-84A0-1098C959F5CB}" type="slidenum">
              <a:rPr lang="en-US" altLang="en-US" sz="1200" b="0" i="0" baseline="0" smtClean="0"/>
              <a:pPr/>
              <a:t>45</a:t>
            </a:fld>
            <a:endParaRPr lang="en-US" altLang="en-US" sz="1200" b="0" i="0" baseline="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ABD26FCA-C0BA-1DA7-1A95-89043167B3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CE4307EA-091A-5966-CCAA-C958E462D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A693FC73-BF6E-3BC9-F385-4E8196E731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D156BED-649D-A442-BA2A-74493FADE86F}" type="slidenum">
              <a:rPr lang="en-US" altLang="en-US" sz="1200" b="0" i="0" baseline="0" smtClean="0"/>
              <a:pPr/>
              <a:t>46</a:t>
            </a:fld>
            <a:endParaRPr lang="en-US" altLang="en-US" sz="1200" b="0" i="0" baseline="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CD93ADC0-AED3-3391-5BFA-C934FCF1E56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A574305B-68E0-E005-786B-344EECECA9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4C9446D4-8D8A-CC6B-CE4D-261559D23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71812BA-2CD6-2E4A-B800-D00D02B78370}" type="slidenum">
              <a:rPr lang="en-US" altLang="en-US" sz="1200" b="0" i="0" baseline="0" smtClean="0"/>
              <a:pPr/>
              <a:t>47</a:t>
            </a:fld>
            <a:endParaRPr lang="en-US" altLang="en-US" sz="1200" b="0" i="0" baseline="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AE95008C-60F6-E266-66EB-95C4CA0ED23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18551013-0CE6-E7B2-4627-7629D713A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DF0AD915-9F81-6C1A-8297-9917A5EFEC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34632B8-2504-5846-A856-40F4EC774268}" type="slidenum">
              <a:rPr lang="en-US" altLang="en-US" sz="1200" b="0" i="0" baseline="0" smtClean="0"/>
              <a:pPr/>
              <a:t>48</a:t>
            </a:fld>
            <a:endParaRPr lang="en-US" altLang="en-US" sz="1200" b="0" i="0" baseline="0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F3086171-410E-F01B-7993-4CDDCD5675D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0716D502-9C86-640F-3140-A4CD54EBB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74606491-0CB9-0EEF-D161-5DC9168488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A228851-0AE4-E245-93F0-C00BA0B40CCC}" type="slidenum">
              <a:rPr lang="en-US" altLang="en-US" sz="1200" b="0" i="0" baseline="0" smtClean="0"/>
              <a:pPr/>
              <a:t>49</a:t>
            </a:fld>
            <a:endParaRPr lang="en-US" altLang="en-US" sz="1200" b="0" i="0" baseline="0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BAEAFD16-2913-E344-3F38-DF5862BBEE8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343F290-402D-D49D-9FAF-14150891C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DA957E50-CEC7-B6E8-57B6-EBDE93A67C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830A9C-B32B-3345-B57D-5ECFAADE6A38}" type="slidenum">
              <a:rPr lang="en-US" altLang="en-US" sz="1200" b="0" i="0" baseline="0" smtClean="0"/>
              <a:pPr/>
              <a:t>50</a:t>
            </a:fld>
            <a:endParaRPr lang="en-US" altLang="en-US" sz="1200" b="0" i="0" baseline="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B409C5BD-0A6B-705B-AA03-7D54456CDE0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EC929906-DB34-5DB8-FDC1-829D7D29E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6607F87-372C-1647-7EA3-F7A7C9D21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CFAC6F-49EB-DC41-9443-AF5C58E4835E}" type="slidenum">
              <a:rPr lang="en-US" altLang="en-US" sz="1200" b="0" i="0" baseline="0" smtClean="0"/>
              <a:pPr/>
              <a:t>51</a:t>
            </a:fld>
            <a:endParaRPr lang="en-US" altLang="en-US" sz="1200" b="0" i="0" baseline="0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F0D03A6A-F335-8F06-1049-E294A2BF03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9C1EFCE9-0370-7404-59D3-EDEBC982D5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70F09251-35C4-BDAD-FBB2-8D393D7F97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C15A1EF-B30C-6A4A-A6B2-B666469243C4}" type="slidenum">
              <a:rPr lang="en-US" altLang="en-US" sz="1200" b="0" i="0" baseline="0" smtClean="0"/>
              <a:pPr/>
              <a:t>52</a:t>
            </a:fld>
            <a:endParaRPr lang="en-US" altLang="en-US" sz="1200" b="0" i="0" baseline="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E26052FC-D73C-F3D8-109D-94EADCEEBCE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88051528-41B4-E4BE-40CA-B2F244706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83CD5541-9379-2F7B-7D3D-DFBDB85AD2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9E1365-684E-FB47-972F-B73F993ADD0E}" type="slidenum">
              <a:rPr lang="en-US" altLang="en-US" sz="1200" b="0" i="0" baseline="0" smtClean="0"/>
              <a:pPr/>
              <a:t>53</a:t>
            </a:fld>
            <a:endParaRPr lang="en-US" altLang="en-US" sz="1200" b="0" i="0" baseline="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210B5DEC-D33E-1DFE-3EE1-A65C50094D2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484E9A24-6729-E1D8-EF36-781D03467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29492165-085D-EDD9-3A97-00685132BC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BC2CEB5-4A04-1E4C-866D-6654F374F55B}" type="slidenum">
              <a:rPr lang="en-US" altLang="en-US" sz="1200" b="0" i="0" baseline="0" smtClean="0"/>
              <a:pPr/>
              <a:t>54</a:t>
            </a:fld>
            <a:endParaRPr lang="en-US" altLang="en-US" sz="1200" b="0" i="0" baseline="0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7580E950-349B-8135-DD09-7720BB7698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CE5B9734-624E-9F87-8C4C-BAF1AE519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CCC62E3C-FEF8-54D6-ACA8-A55C9CC15A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A9902E-9708-474F-A91C-CA2DF6243F50}" type="slidenum">
              <a:rPr lang="en-US" altLang="en-US" sz="1200" b="0" i="0" baseline="0" smtClean="0"/>
              <a:pPr/>
              <a:t>55</a:t>
            </a:fld>
            <a:endParaRPr lang="en-US" altLang="en-US" sz="1200" b="0" i="0" baseline="0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8AD3F650-E39B-F83D-95C8-A1CADB96DAA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A961AAB8-3FDE-AED5-A3D4-AAB66E644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4139379E-761B-DB16-76F8-0969AF91ED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6718EE9-93F1-8B41-91E3-88A3F7270D5A}" type="slidenum">
              <a:rPr lang="en-US" altLang="en-US" sz="1200" b="0" i="0" baseline="0" smtClean="0"/>
              <a:pPr/>
              <a:t>56</a:t>
            </a:fld>
            <a:endParaRPr lang="en-US" altLang="en-US" sz="1200" b="0" i="0" baseline="0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29516BE3-77FD-B962-02D8-D7DE8BB72FD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F110A92D-24F7-5FF7-71F6-13C8F2AD03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2F06DED-A23B-8087-C245-F106B560D9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E888A0-C038-414F-BE04-03FA161D3741}" type="slidenum">
              <a:rPr lang="en-US" altLang="en-US" sz="1200" b="0" i="0" baseline="0" smtClean="0"/>
              <a:pPr/>
              <a:t>57</a:t>
            </a:fld>
            <a:endParaRPr lang="en-US" altLang="en-US" sz="1200" b="0" i="0" baseline="0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875A8B83-D83F-041C-B7B5-33209BDB70B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2FC8B288-9497-EA5F-A6E6-7F476BEDF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C300EE68-E17C-2434-F950-795C980DF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88DFD13-C04D-124F-8A92-D18A4EBD24E2}" type="slidenum">
              <a:rPr lang="en-US" altLang="en-US" sz="1200" b="0" i="0" baseline="0" smtClean="0"/>
              <a:pPr/>
              <a:t>58</a:t>
            </a:fld>
            <a:endParaRPr lang="en-US" altLang="en-US" sz="1200" b="0" i="0" baseline="0"/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250B49C9-FB36-8289-E581-773F4409E96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663A5664-8B9A-7586-58B2-A5D4B8F84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4CB55870-9203-5D84-5B92-A81C99A62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29BAA7E-4903-3444-B4D1-225165A6B119}" type="slidenum">
              <a:rPr lang="en-US" altLang="en-US" sz="1200" b="0" i="0" baseline="0" smtClean="0"/>
              <a:pPr/>
              <a:t>59</a:t>
            </a:fld>
            <a:endParaRPr lang="en-US" altLang="en-US" sz="1200" b="0" i="0" baseline="0"/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DA33F64F-A221-55EF-2A2A-86354DE4EC4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7483863B-25F5-A026-EB6E-B942C48AA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E124AD0B-CB1F-2EED-9E66-572C89D5EF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2AF7DE-475D-9540-A97B-76340BF7F5A5}" type="slidenum">
              <a:rPr lang="en-US" altLang="en-US" sz="1200" b="0" i="0" baseline="0" smtClean="0"/>
              <a:pPr/>
              <a:t>60</a:t>
            </a:fld>
            <a:endParaRPr lang="en-US" altLang="en-US" sz="1200" b="0" i="0" baseline="0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2F0EA7A4-AABB-374C-2A25-046B8A3C773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D8D3401-5366-7C4E-1E27-79CBC1FBF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410F0E43-1DFC-BF5A-1BCE-8D0CA10003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5B2B079-D46F-504A-9BF9-75AA4D4F835F}" type="slidenum">
              <a:rPr lang="en-US" altLang="en-US" sz="1200" b="0" i="0" baseline="0" smtClean="0"/>
              <a:pPr/>
              <a:t>61</a:t>
            </a:fld>
            <a:endParaRPr lang="en-US" altLang="en-US" sz="1200" b="0" i="0" baseline="0"/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9744BE10-36DC-A8C7-1034-2384364611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4AA24BB8-7A5B-29B7-D492-92D856BD6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5F3E5B-1193-F334-59E2-E06FA0BD64D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C4CCBB0-03EB-22D0-F629-EB23FA7E28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9ADA3D0E-D253-4EB2-7FB1-00D5D3B0B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7EBB6E50-2872-6B0A-DD44-C715BB412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2CBAF92B-3B1F-F8B4-3890-8C4415C93A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47274B-6EF2-1572-52E4-5630DE6C34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016670B-935A-EF47-631A-C270168E5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08E8CE59-6129-B239-20F1-C1D13DE3A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E8BBF0B-CDF6-CAF9-3577-EB190D58A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C961AA04-E72F-7E70-5F85-396602D4E56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4AF81D7A-0658-7545-6F8E-2130C55792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 i="0" baseline="0">
                <a:latin typeface="McGrawHill-Italic" pitchFamily="2" charset="0"/>
              </a:rPr>
              <a:t>McGraw-Hill</a:t>
            </a:r>
            <a:endParaRPr lang="en-US" altLang="en-US" sz="2400" b="0" i="0" baseline="0"/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C9276FDC-9992-6CA8-BF24-79A83B63DF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 i="0" baseline="0">
                <a:latin typeface="McGrawHill-Italic" pitchFamily="2" charset="0"/>
              </a:rPr>
              <a:t>The McGraw-Hill Companies, Inc., 2000</a:t>
            </a:r>
            <a:endParaRPr lang="en-US" altLang="en-US" sz="2400" b="0" i="0" baseline="0"/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DEB815D-6C20-684F-FB54-8BC17E8D54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AEC5D9BB-5F0E-1213-61B6-AC53CA0435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FC342D1-3AA6-7793-483C-B53E3761A4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+mn-lt"/>
              </a:defRPr>
            </a:lvl1pPr>
          </a:lstStyle>
          <a:p>
            <a:pPr>
              <a:defRPr/>
            </a:pPr>
            <a:fld id="{26461A8D-EBF1-FC41-92BC-F7137DA679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741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9F5FE272-7D31-677B-6C38-D2C5CA5B311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12.</a:t>
            </a:r>
            <a:fld id="{D4F8A3B0-79B0-7740-97F6-472ED903C07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869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9A54F22D-B44B-E5D3-B08C-EEC2A315E4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12.</a:t>
            </a:r>
            <a:fld id="{B606CA51-AD12-8B4C-9572-914CAD963A4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19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B13B351D-CEFA-1504-819A-817B51B8B4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12.</a:t>
            </a:r>
            <a:fld id="{431AD69C-6F1B-644F-8FB4-C2FE026B9BD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159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A50517F6-DB5A-239C-4BA5-70B8320AECC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12.</a:t>
            </a:r>
            <a:fld id="{E5D0A3B2-2040-4E40-B7E2-5DFB663C027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60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379421AA-0A76-0CA7-8900-8C9041DE385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12.</a:t>
            </a:r>
            <a:fld id="{3D0C722B-96CD-724A-A083-9ED13D280A5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4759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9D7A921D-BA24-FB73-240C-5BD9CE7A464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12.</a:t>
            </a:r>
            <a:fld id="{1CB9FA90-CBB0-714A-A93E-1DADD5DE9C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84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E69FC5AA-2048-12CB-F138-199153DCEC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12.</a:t>
            </a:r>
            <a:fld id="{34248EB5-DF93-E541-86D8-2704F8E31A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55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F1BFEB8F-891D-070A-FAAC-15DF027FC5A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12.</a:t>
            </a:r>
            <a:fld id="{08830939-2A4E-5F4D-BB4A-AC84EB320F6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516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9AD6AD60-A5D6-0994-8FBF-8263D6FC3E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12.</a:t>
            </a:r>
            <a:fld id="{F5C0377B-0C4C-2F46-8C8D-A5BDDC4FEC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51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62DFCC5-9012-B28C-05D9-5EB0256AADB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12.</a:t>
            </a:r>
            <a:fld id="{735D3E7A-4968-A042-AD0A-8016BE6A053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6012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3F070786-AC09-8B5D-1BE7-6B1463246F3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12.</a:t>
            </a:r>
            <a:fld id="{9139DB8A-FC39-AD4C-BC7B-8FF4682BBFA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11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0323AC59-8CD0-5972-42A2-3AB3CC89C0F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 i="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12.</a:t>
            </a:r>
            <a:fld id="{A9F24A7F-FBBA-4A4D-88B1-B1352A932C0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atevidyalay.com/binary-exponential-backoff-algorithm-csma-cd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2">
            <a:extLst>
              <a:ext uri="{FF2B5EF4-FFF2-40B4-BE49-F238E27FC236}">
                <a16:creationId xmlns:a16="http://schemas.microsoft.com/office/drawing/2014/main" id="{ED5570DB-5844-42E6-DC60-DC06319CDB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117888DF-9A5F-A541-A634-F68349698E07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1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4099" name="Picture 2">
            <a:extLst>
              <a:ext uri="{FF2B5EF4-FFF2-40B4-BE49-F238E27FC236}">
                <a16:creationId xmlns:a16="http://schemas.microsoft.com/office/drawing/2014/main" id="{D9BEA3A4-9C23-7350-1BBF-CF73ACA89319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0" name="Rectangle 3">
            <a:extLst>
              <a:ext uri="{FF2B5EF4-FFF2-40B4-BE49-F238E27FC236}">
                <a16:creationId xmlns:a16="http://schemas.microsoft.com/office/drawing/2014/main" id="{2DF2A014-0693-6208-7C47-1D5A09549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4400" i="0" baseline="0">
                <a:solidFill>
                  <a:schemeClr val="tx2"/>
                </a:solidFill>
                <a:latin typeface="Arial" panose="020B0604020202020204" pitchFamily="34" charset="0"/>
              </a:rPr>
              <a:t>Chapter 12</a:t>
            </a:r>
          </a:p>
          <a:p>
            <a:pPr algn="ctr"/>
            <a:endParaRPr lang="en-US" altLang="en-US" sz="2000" i="0" baseline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en-US" sz="4400" i="0" baseline="0">
                <a:latin typeface="Arial" panose="020B0604020202020204" pitchFamily="34" charset="0"/>
              </a:rPr>
              <a:t>Multiple Access</a:t>
            </a: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5071826F-3CF3-3FFC-936B-426AAC2C6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200" b="0" i="0" baseline="0"/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1">
            <a:extLst>
              <a:ext uri="{FF2B5EF4-FFF2-40B4-BE49-F238E27FC236}">
                <a16:creationId xmlns:a16="http://schemas.microsoft.com/office/drawing/2014/main" id="{E2472AFD-8A3F-C6E6-25D6-6EEA23F0B6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17322A51-0873-C945-8230-83BC11B50A15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2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147" name="Line 2">
            <a:extLst>
              <a:ext uri="{FF2B5EF4-FFF2-40B4-BE49-F238E27FC236}">
                <a16:creationId xmlns:a16="http://schemas.microsoft.com/office/drawing/2014/main" id="{E0CAD214-D38F-32CA-41C1-78D6A8A31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6148" name="Line 3">
            <a:extLst>
              <a:ext uri="{FF2B5EF4-FFF2-40B4-BE49-F238E27FC236}">
                <a16:creationId xmlns:a16="http://schemas.microsoft.com/office/drawing/2014/main" id="{681BEADE-1565-3538-1845-06160BC46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E7D41037-C38D-B612-6312-6E9DCEC51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475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  </a:t>
            </a:r>
            <a:r>
              <a:rPr lang="en-US" altLang="en-US" sz="2000" baseline="0"/>
              <a:t>Data link layer divided into two functionality-oriented sublayers</a:t>
            </a:r>
          </a:p>
        </p:txBody>
      </p:sp>
      <p:sp>
        <p:nvSpPr>
          <p:cNvPr id="6150" name="Line 5">
            <a:extLst>
              <a:ext uri="{FF2B5EF4-FFF2-40B4-BE49-F238E27FC236}">
                <a16:creationId xmlns:a16="http://schemas.microsoft.com/office/drawing/2014/main" id="{A652EC74-BD78-FF25-42B0-5EFA6E6D3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6151" name="Picture 7">
            <a:extLst>
              <a:ext uri="{FF2B5EF4-FFF2-40B4-BE49-F238E27FC236}">
                <a16:creationId xmlns:a16="http://schemas.microsoft.com/office/drawing/2014/main" id="{D6E2BF39-6C31-F927-88E6-B877C0866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3" y="2089150"/>
            <a:ext cx="5375275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52" name="TextBox 2">
            <a:extLst>
              <a:ext uri="{FF2B5EF4-FFF2-40B4-BE49-F238E27FC236}">
                <a16:creationId xmlns:a16="http://schemas.microsoft.com/office/drawing/2014/main" id="{F83BB1E8-C139-8047-BBBE-E1529F2A4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09650"/>
            <a:ext cx="7848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2400" b="0" i="0" baseline="0"/>
              <a:t>Till now, we assumed that there is an available dedicated link (or channel) between the sender and the receiver.</a:t>
            </a:r>
            <a:endParaRPr lang="en-US" alt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EAD4B-11DA-F05F-3A8F-FE1E1BC84375}"/>
              </a:ext>
            </a:extLst>
          </p:cNvPr>
          <p:cNvSpPr txBox="1"/>
          <p:nvPr/>
        </p:nvSpPr>
        <p:spPr>
          <a:xfrm>
            <a:off x="6319838" y="2017713"/>
            <a:ext cx="2595562" cy="922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1800" b="0" i="0" baseline="0" dirty="0"/>
              <a:t>A mechanism which provides a link with reliable communication.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04C6B-217A-D25A-27C5-AEA76833C232}"/>
              </a:ext>
            </a:extLst>
          </p:cNvPr>
          <p:cNvSpPr txBox="1"/>
          <p:nvPr/>
        </p:nvSpPr>
        <p:spPr>
          <a:xfrm>
            <a:off x="6432550" y="3976688"/>
            <a:ext cx="2482850" cy="92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1800" b="0" i="0" baseline="0" dirty="0"/>
              <a:t>responsible for resolving access to the shared media.</a:t>
            </a:r>
            <a:endParaRPr lang="en-US" sz="1800" dirty="0"/>
          </a:p>
        </p:txBody>
      </p:sp>
      <p:pic>
        <p:nvPicPr>
          <p:cNvPr id="9" name="Graphic 8" descr="Line arrow Counter clockwise curve">
            <a:extLst>
              <a:ext uri="{FF2B5EF4-FFF2-40B4-BE49-F238E27FC236}">
                <a16:creationId xmlns:a16="http://schemas.microsoft.com/office/drawing/2014/main" id="{35A6923D-24AC-0661-35EE-52EAE1AD3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417489">
            <a:off x="5265737" y="3621088"/>
            <a:ext cx="790575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9" descr="Line arrow Counter clockwise curve">
            <a:extLst>
              <a:ext uri="{FF2B5EF4-FFF2-40B4-BE49-F238E27FC236}">
                <a16:creationId xmlns:a16="http://schemas.microsoft.com/office/drawing/2014/main" id="{5C116A2E-EF8D-D626-1FA7-86574E43E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88727" flipH="1">
            <a:off x="5016500" y="1916113"/>
            <a:ext cx="1136650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1">
            <a:extLst>
              <a:ext uri="{FF2B5EF4-FFF2-40B4-BE49-F238E27FC236}">
                <a16:creationId xmlns:a16="http://schemas.microsoft.com/office/drawing/2014/main" id="{3F052508-44B9-629A-CF87-5FCF85951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F7573862-AE19-C845-8D46-CBBCE237BED7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3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195" name="Line 2">
            <a:extLst>
              <a:ext uri="{FF2B5EF4-FFF2-40B4-BE49-F238E27FC236}">
                <a16:creationId xmlns:a16="http://schemas.microsoft.com/office/drawing/2014/main" id="{7E3A54FB-9511-2D3A-3899-DE8108011F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8196" name="Line 3">
            <a:extLst>
              <a:ext uri="{FF2B5EF4-FFF2-40B4-BE49-F238E27FC236}">
                <a16:creationId xmlns:a16="http://schemas.microsoft.com/office/drawing/2014/main" id="{7544A58C-2DFF-E479-3A52-39AE0F69F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A41CF51E-B188-4E8F-E6BD-68A3DCFC9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504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  </a:t>
            </a:r>
            <a:r>
              <a:rPr lang="en-US" altLang="en-US" sz="2000" baseline="0"/>
              <a:t>Taxonomy of multiple-access protocols discussed in this chapter</a:t>
            </a:r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E07A6E8E-5A6C-788C-F85A-9755FE36C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8199" name="Picture 7">
            <a:extLst>
              <a:ext uri="{FF2B5EF4-FFF2-40B4-BE49-F238E27FC236}">
                <a16:creationId xmlns:a16="http://schemas.microsoft.com/office/drawing/2014/main" id="{85FF7216-FB97-244E-C76E-F19257A67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97063"/>
            <a:ext cx="6554788" cy="328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1">
            <a:extLst>
              <a:ext uri="{FF2B5EF4-FFF2-40B4-BE49-F238E27FC236}">
                <a16:creationId xmlns:a16="http://schemas.microsoft.com/office/drawing/2014/main" id="{F6B744C5-A511-3A65-A401-91981B8619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4A5E4E8E-B987-824E-B177-81C937C87D58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4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Line 2">
            <a:extLst>
              <a:ext uri="{FF2B5EF4-FFF2-40B4-BE49-F238E27FC236}">
                <a16:creationId xmlns:a16="http://schemas.microsoft.com/office/drawing/2014/main" id="{89099F92-32E2-12FC-68AD-33B0AAC091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244" name="Line 3">
            <a:extLst>
              <a:ext uri="{FF2B5EF4-FFF2-40B4-BE49-F238E27FC236}">
                <a16:creationId xmlns:a16="http://schemas.microsoft.com/office/drawing/2014/main" id="{5B04ECA4-0E30-DA6D-CA5A-3D3894FE5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03A09735-D582-A533-7AD9-AE79B20C4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504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  </a:t>
            </a:r>
            <a:r>
              <a:rPr lang="en-US" altLang="en-US" sz="2000" baseline="0"/>
              <a:t>Taxonomy of multiple-access protocols discussed in this chapter</a:t>
            </a:r>
          </a:p>
        </p:txBody>
      </p:sp>
      <p:sp>
        <p:nvSpPr>
          <p:cNvPr id="10246" name="Line 5">
            <a:extLst>
              <a:ext uri="{FF2B5EF4-FFF2-40B4-BE49-F238E27FC236}">
                <a16:creationId xmlns:a16="http://schemas.microsoft.com/office/drawing/2014/main" id="{C9E784F4-D51C-CE79-E05A-53B4CCFB4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E74C26-A952-6838-ADDE-12DA18C1151B}"/>
              </a:ext>
            </a:extLst>
          </p:cNvPr>
          <p:cNvSpPr txBox="1"/>
          <p:nvPr/>
        </p:nvSpPr>
        <p:spPr>
          <a:xfrm>
            <a:off x="685799" y="1467232"/>
            <a:ext cx="7696201" cy="415498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  <a:defRPr/>
            </a:pPr>
            <a:r>
              <a:rPr lang="en-US" sz="2400" i="0" baseline="0" dirty="0"/>
              <a:t>In random access </a:t>
            </a:r>
            <a:r>
              <a:rPr lang="en-US" sz="2400" b="0" i="0" baseline="0" dirty="0"/>
              <a:t>or contention methods, </a:t>
            </a:r>
            <a:r>
              <a:rPr lang="en-US" sz="2400" b="0" i="0" baseline="0" dirty="0">
                <a:highlight>
                  <a:srgbClr val="CCFF99"/>
                </a:highlight>
              </a:rPr>
              <a:t>no station is superior </a:t>
            </a:r>
            <a:r>
              <a:rPr lang="en-US" sz="2400" b="0" i="0" baseline="0" dirty="0"/>
              <a:t>to another station and none is assigned the control over another.</a:t>
            </a:r>
          </a:p>
          <a:p>
            <a:pPr marL="285750" indent="-285750" algn="just">
              <a:buFont typeface="Wingdings" panose="05000000000000000000" pitchFamily="2" charset="2"/>
              <a:buChar char="q"/>
              <a:defRPr/>
            </a:pPr>
            <a:endParaRPr lang="en-US" sz="2400" b="0" i="0" baseline="0" dirty="0"/>
          </a:p>
          <a:p>
            <a:pPr marL="285750" indent="-285750" algn="just">
              <a:buFont typeface="Wingdings" panose="05000000000000000000" pitchFamily="2" charset="2"/>
              <a:buChar char="q"/>
              <a:defRPr/>
            </a:pPr>
            <a:r>
              <a:rPr lang="en-US" sz="2400" i="0" baseline="0" dirty="0"/>
              <a:t>In controlled access</a:t>
            </a:r>
            <a:r>
              <a:rPr lang="en-US" sz="2400" b="0" i="0" baseline="0" dirty="0"/>
              <a:t>, the stations </a:t>
            </a:r>
            <a:r>
              <a:rPr lang="en-US" sz="2400" b="0" i="0" baseline="0" dirty="0">
                <a:highlight>
                  <a:srgbClr val="CCFF99"/>
                </a:highlight>
              </a:rPr>
              <a:t>consult one another </a:t>
            </a:r>
            <a:r>
              <a:rPr lang="en-US" sz="2400" b="0" i="0" baseline="0" dirty="0"/>
              <a:t>to find which station has the right to send. A station cannot send unless it has been authorized by other stations.</a:t>
            </a:r>
          </a:p>
          <a:p>
            <a:pPr algn="just">
              <a:defRPr/>
            </a:pPr>
            <a:endParaRPr lang="en-US" sz="2400" b="0" i="0" baseline="0" dirty="0"/>
          </a:p>
          <a:p>
            <a:pPr marL="457200" indent="-457200" algn="just">
              <a:buFont typeface="Wingdings" panose="05000000000000000000" pitchFamily="2" charset="2"/>
              <a:buChar char="q"/>
              <a:defRPr/>
            </a:pPr>
            <a:r>
              <a:rPr lang="en-US" sz="2400" i="0" baseline="0" dirty="0"/>
              <a:t>Channelizatio</a:t>
            </a:r>
            <a:r>
              <a:rPr lang="en-US" sz="2400" b="0" i="0" baseline="0" dirty="0"/>
              <a:t>n is a multiple-access method in which the available </a:t>
            </a:r>
            <a:r>
              <a:rPr lang="en-US" sz="2400" b="0" i="0" baseline="0" dirty="0">
                <a:highlight>
                  <a:srgbClr val="CCFF99"/>
                </a:highlight>
              </a:rPr>
              <a:t>bandwidth</a:t>
            </a:r>
            <a:r>
              <a:rPr lang="en-US" sz="2400" b="0" i="0" baseline="0" dirty="0"/>
              <a:t> of a link is </a:t>
            </a:r>
            <a:r>
              <a:rPr lang="en-US" sz="2400" b="0" i="0" baseline="0" dirty="0">
                <a:highlight>
                  <a:srgbClr val="CCFF99"/>
                </a:highlight>
              </a:rPr>
              <a:t>shared</a:t>
            </a:r>
            <a:r>
              <a:rPr lang="en-US" sz="2400" b="0" i="0" baseline="0" dirty="0"/>
              <a:t> in time, frequency, or through code, between different stations. 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1">
            <a:extLst>
              <a:ext uri="{FF2B5EF4-FFF2-40B4-BE49-F238E27FC236}">
                <a16:creationId xmlns:a16="http://schemas.microsoft.com/office/drawing/2014/main" id="{2ACE37FD-D886-4EAF-E63B-904F40058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A8630D09-4039-0B49-A75A-FA4B02A061F9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5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BD3C5EAE-E9CF-87B3-BCE8-183F75DDA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73864D46-121E-4466-641E-B00EB0E73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48133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12-1   RANDOM ACCESS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F951653F-D260-2981-B127-4778F918E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 i="0" baseline="0"/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id="{9F610D53-58EA-11CA-C21E-E0372F0EE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43000"/>
            <a:ext cx="82296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en-US" altLang="en-US" b="0" i="0" baseline="0"/>
              <a:t>In </a:t>
            </a:r>
            <a:r>
              <a:rPr lang="en-US" altLang="en-US" b="0" i="0" baseline="0">
                <a:solidFill>
                  <a:schemeClr val="hlink"/>
                </a:solidFill>
              </a:rPr>
              <a:t>random access</a:t>
            </a:r>
            <a:r>
              <a:rPr lang="en-US" altLang="en-US" b="0" i="0" baseline="0"/>
              <a:t> or </a:t>
            </a:r>
            <a:r>
              <a:rPr lang="en-US" altLang="en-US" b="0" i="0" baseline="0">
                <a:solidFill>
                  <a:schemeClr val="hlink"/>
                </a:solidFill>
              </a:rPr>
              <a:t>contention</a:t>
            </a:r>
            <a:r>
              <a:rPr lang="en-US" altLang="en-US" b="0" i="0" baseline="0"/>
              <a:t> methods, </a:t>
            </a:r>
            <a:r>
              <a:rPr lang="en-US" altLang="en-US" i="0" baseline="0"/>
              <a:t>no station is superior to another station </a:t>
            </a:r>
            <a:r>
              <a:rPr lang="en-US" altLang="en-US" b="0" i="0" baseline="0"/>
              <a:t>and none is assigned the control over another. No station permits, or does not permit, another station to send. At each instance, a station that has data to send uses a procedure defined by the protocol to make a decision on whether or not to send. </a:t>
            </a:r>
          </a:p>
        </p:txBody>
      </p:sp>
      <p:sp>
        <p:nvSpPr>
          <p:cNvPr id="12295" name="Rectangle 29">
            <a:extLst>
              <a:ext uri="{FF2B5EF4-FFF2-40B4-BE49-F238E27FC236}">
                <a16:creationId xmlns:a16="http://schemas.microsoft.com/office/drawing/2014/main" id="{FD4BECB5-DB72-478A-09AE-F8F5204E0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743450"/>
            <a:ext cx="79248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en-US" sz="2400" i="0" baseline="0">
                <a:solidFill>
                  <a:srgbClr val="0033CC"/>
                </a:solidFill>
              </a:rPr>
              <a:t>ALOHA</a:t>
            </a:r>
            <a:br>
              <a:rPr lang="fr-FR" altLang="en-US" sz="2400" i="0" baseline="0">
                <a:solidFill>
                  <a:srgbClr val="0033CC"/>
                </a:solidFill>
              </a:rPr>
            </a:br>
            <a:r>
              <a:rPr lang="en-US" altLang="en-US" sz="2400" i="0" baseline="0">
                <a:solidFill>
                  <a:srgbClr val="0033CC"/>
                </a:solidFill>
              </a:rPr>
              <a:t>Carrier Sense Multiple Access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en-US" sz="2400" i="0" baseline="0">
                <a:solidFill>
                  <a:srgbClr val="0033CC"/>
                </a:solidFill>
              </a:rPr>
              <a:t>Carrier Sense Multiple Access with Collision Detection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en-US" sz="2400" i="0" baseline="0">
                <a:solidFill>
                  <a:srgbClr val="0033CC"/>
                </a:solidFill>
              </a:rPr>
              <a:t>Carrier Sense Multiple Access with Collision Avoidance</a:t>
            </a: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9FFE78A4-4317-1615-260F-DA67DE0EA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4267200"/>
            <a:ext cx="48625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en-US" u="sng" baseline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>
            <a:extLst>
              <a:ext uri="{FF2B5EF4-FFF2-40B4-BE49-F238E27FC236}">
                <a16:creationId xmlns:a16="http://schemas.microsoft.com/office/drawing/2014/main" id="{FBA4AABA-29AD-1FD4-48A9-590126CFC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DC8ED4B2-AE04-8D40-83F2-8D24FDC8B148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6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08E62CAF-B88A-D917-93B0-594EC9A1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9B78A8E0-4E19-00E9-3034-60A2D36AB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48133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12-1   RANDOM ACCESS</a:t>
            </a:r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E343B21A-F213-E10A-6485-59E7C3B0A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 i="0" baseline="0"/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id="{8E66485B-9FD2-C930-574B-4E9693B60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68845"/>
            <a:ext cx="8229600" cy="2677656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defRPr/>
            </a:pPr>
            <a:r>
              <a:rPr lang="en-US" sz="2400" b="0" i="0" baseline="0" dirty="0"/>
              <a:t>Two features give this method its name. </a:t>
            </a:r>
          </a:p>
          <a:p>
            <a:pPr algn="just">
              <a:defRPr/>
            </a:pPr>
            <a:r>
              <a:rPr lang="en-US" sz="2400" b="0" i="0" baseline="0" dirty="0"/>
              <a:t>First, there is </a:t>
            </a:r>
            <a:r>
              <a:rPr lang="en-US" sz="2400" b="0" i="0" u="sng" baseline="0" dirty="0">
                <a:highlight>
                  <a:srgbClr val="FFFF00"/>
                </a:highlight>
              </a:rPr>
              <a:t>no scheduled time </a:t>
            </a:r>
            <a:r>
              <a:rPr lang="en-US" sz="2400" b="0" i="0" baseline="0" dirty="0"/>
              <a:t>for a station to transmit. Transmission is random among the stations. That is why these methods are called </a:t>
            </a:r>
            <a:r>
              <a:rPr lang="en-US" sz="2400" b="0" baseline="0" dirty="0">
                <a:highlight>
                  <a:srgbClr val="FFFF00"/>
                </a:highlight>
              </a:rPr>
              <a:t>random access</a:t>
            </a:r>
            <a:r>
              <a:rPr lang="en-US" sz="2400" b="0" baseline="0" dirty="0"/>
              <a:t>. </a:t>
            </a:r>
          </a:p>
          <a:p>
            <a:pPr algn="just">
              <a:defRPr/>
            </a:pPr>
            <a:r>
              <a:rPr lang="en-US" sz="2400" b="0" i="0" baseline="0" dirty="0"/>
              <a:t>Second, </a:t>
            </a:r>
            <a:r>
              <a:rPr lang="en-US" sz="2400" b="0" i="0" u="sng" baseline="0" dirty="0">
                <a:highlight>
                  <a:srgbClr val="00FFFF"/>
                </a:highlight>
              </a:rPr>
              <a:t>no rules </a:t>
            </a:r>
            <a:r>
              <a:rPr lang="en-US" sz="2400" b="0" i="0" baseline="0" dirty="0"/>
              <a:t>specify which station should send next. Stations compete with one another to access the medium. That is why these methods are also called </a:t>
            </a:r>
            <a:r>
              <a:rPr lang="en-US" sz="2400" b="0" baseline="0" dirty="0"/>
              <a:t>c</a:t>
            </a:r>
            <a:r>
              <a:rPr lang="en-US" sz="2400" b="0" baseline="0" dirty="0">
                <a:highlight>
                  <a:srgbClr val="00FFFF"/>
                </a:highlight>
              </a:rPr>
              <a:t>ontention</a:t>
            </a:r>
            <a:r>
              <a:rPr lang="en-US" sz="2400" b="0" baseline="0" dirty="0"/>
              <a:t> </a:t>
            </a:r>
            <a:r>
              <a:rPr lang="en-US" sz="2400" b="0" i="0" baseline="0" dirty="0"/>
              <a:t>methods.</a:t>
            </a:r>
            <a:endParaRPr lang="en-US" altLang="en-US" sz="3600" b="0" i="0" baseline="0" dirty="0"/>
          </a:p>
        </p:txBody>
      </p:sp>
      <p:sp>
        <p:nvSpPr>
          <p:cNvPr id="14343" name="Rectangle 1">
            <a:extLst>
              <a:ext uri="{FF2B5EF4-FFF2-40B4-BE49-F238E27FC236}">
                <a16:creationId xmlns:a16="http://schemas.microsoft.com/office/drawing/2014/main" id="{B9AC927E-4F0F-530C-6EAD-CC776F19E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467225"/>
            <a:ext cx="31242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00" b="0" i="0"/>
              <a:t>Versions of ALOHA </a:t>
            </a:r>
          </a:p>
          <a:p>
            <a:pPr lvl="1">
              <a:buFontTx/>
              <a:buChar char="•"/>
            </a:pPr>
            <a:r>
              <a:rPr lang="en-US" altLang="en-US" sz="3600" b="0" i="0"/>
              <a:t>Pure ALOHA </a:t>
            </a:r>
          </a:p>
          <a:p>
            <a:pPr lvl="1">
              <a:buFontTx/>
              <a:buChar char="•"/>
            </a:pPr>
            <a:r>
              <a:rPr lang="en-US" altLang="en-US" sz="3600" b="0" i="0"/>
              <a:t>Slotted ALOHA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1">
            <a:extLst>
              <a:ext uri="{FF2B5EF4-FFF2-40B4-BE49-F238E27FC236}">
                <a16:creationId xmlns:a16="http://schemas.microsoft.com/office/drawing/2014/main" id="{04E4321A-0CF3-563B-4F64-D6F918C092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C1D19CCF-BDCC-2440-BD80-9163A2FEC747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7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Line 2">
            <a:extLst>
              <a:ext uri="{FF2B5EF4-FFF2-40B4-BE49-F238E27FC236}">
                <a16:creationId xmlns:a16="http://schemas.microsoft.com/office/drawing/2014/main" id="{BCCF58D0-4EB2-7F97-29DD-18ACAFECB4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6388" name="Line 3">
            <a:extLst>
              <a:ext uri="{FF2B5EF4-FFF2-40B4-BE49-F238E27FC236}">
                <a16:creationId xmlns:a16="http://schemas.microsoft.com/office/drawing/2014/main" id="{549F5952-2FE1-B7D9-DBDD-197B2AB32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1AEC7FAA-BF5E-90F7-8D15-57F2C05F9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468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12.3  </a:t>
            </a:r>
            <a:r>
              <a:rPr lang="en-US" altLang="en-US" sz="2000" baseline="0"/>
              <a:t>Frames in a pure ALOHA network</a:t>
            </a:r>
          </a:p>
        </p:txBody>
      </p:sp>
      <p:sp>
        <p:nvSpPr>
          <p:cNvPr id="16390" name="Line 5">
            <a:extLst>
              <a:ext uri="{FF2B5EF4-FFF2-40B4-BE49-F238E27FC236}">
                <a16:creationId xmlns:a16="http://schemas.microsoft.com/office/drawing/2014/main" id="{EC3636CE-00E6-A1C5-6E8C-B31A92077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16391" name="Picture 7">
            <a:extLst>
              <a:ext uri="{FF2B5EF4-FFF2-40B4-BE49-F238E27FC236}">
                <a16:creationId xmlns:a16="http://schemas.microsoft.com/office/drawing/2014/main" id="{E3635954-AE5D-A9D4-362F-EC73C3533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600200"/>
            <a:ext cx="8620125" cy="406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92" name="TextBox 2">
            <a:extLst>
              <a:ext uri="{FF2B5EF4-FFF2-40B4-BE49-F238E27FC236}">
                <a16:creationId xmlns:a16="http://schemas.microsoft.com/office/drawing/2014/main" id="{4F65180D-41E6-B63C-C1AD-A9D45138E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6248400"/>
            <a:ext cx="7848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0" i="0" baseline="0"/>
              <a:t>Even if one bit of a frame coexists on the channel with one bit from another frame, there is a collision and both will be destroyed.</a:t>
            </a:r>
            <a:endParaRPr lang="en-US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AB2D7D-A194-139A-B4BF-FD93F51A4A78}"/>
              </a:ext>
            </a:extLst>
          </p:cNvPr>
          <p:cNvSpPr txBox="1"/>
          <p:nvPr/>
        </p:nvSpPr>
        <p:spPr>
          <a:xfrm>
            <a:off x="762000" y="199767"/>
            <a:ext cx="7924800" cy="665823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3200" i="0" dirty="0"/>
              <a:t>Pure Aloha: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b="0" i="0" dirty="0"/>
              <a:t>It allows the stations to transmit data at any time whenever they want.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b="0" i="0" dirty="0"/>
              <a:t>After transmitting the data packet, station waits for some time.</a:t>
            </a:r>
          </a:p>
          <a:p>
            <a:pPr algn="just">
              <a:defRPr/>
            </a:pPr>
            <a:r>
              <a:rPr lang="en-US" sz="3200" b="0" i="0" dirty="0"/>
              <a:t> </a:t>
            </a:r>
          </a:p>
          <a:p>
            <a:pPr algn="just">
              <a:defRPr/>
            </a:pPr>
            <a:r>
              <a:rPr lang="en-US" b="0" i="0" dirty="0"/>
              <a:t>Then, following 2 cases are possible- </a:t>
            </a:r>
          </a:p>
          <a:p>
            <a:pPr algn="just">
              <a:defRPr/>
            </a:pPr>
            <a:r>
              <a:rPr lang="en-US" sz="3200" b="0" i="0" u="sng" dirty="0"/>
              <a:t>Case-01:</a:t>
            </a:r>
            <a:r>
              <a:rPr lang="en-US" sz="3200" b="0" i="0" dirty="0"/>
              <a:t> 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b="0" i="0" dirty="0"/>
              <a:t>Transmitting station </a:t>
            </a:r>
            <a:r>
              <a:rPr lang="en-US" i="0" dirty="0"/>
              <a:t>receives an acknowledgement </a:t>
            </a:r>
            <a:r>
              <a:rPr lang="en-US" b="0" i="0" dirty="0"/>
              <a:t>from the receiving station.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b="0" i="0" dirty="0"/>
              <a:t>In this case, transmitting station assumes that the transmission is successful.</a:t>
            </a:r>
          </a:p>
          <a:p>
            <a:pPr algn="just">
              <a:defRPr/>
            </a:pPr>
            <a:r>
              <a:rPr lang="en-US" sz="3200" b="0" i="0" dirty="0">
                <a:highlight>
                  <a:srgbClr val="FFFF00"/>
                </a:highlight>
              </a:rPr>
              <a:t> </a:t>
            </a:r>
            <a:r>
              <a:rPr lang="en-US" sz="3200" b="0" i="0" u="sng" dirty="0">
                <a:highlight>
                  <a:srgbClr val="FFFF00"/>
                </a:highlight>
              </a:rPr>
              <a:t>Case-02:</a:t>
            </a:r>
            <a:r>
              <a:rPr lang="en-US" sz="3200" b="0" i="0" dirty="0">
                <a:highlight>
                  <a:srgbClr val="FFFF00"/>
                </a:highlight>
              </a:rPr>
              <a:t> 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b="0" i="0" dirty="0"/>
              <a:t>Transmitting station </a:t>
            </a:r>
            <a:r>
              <a:rPr lang="en-US" i="0" dirty="0"/>
              <a:t>does not receive any acknowledgement</a:t>
            </a:r>
            <a:r>
              <a:rPr lang="en-US" b="0" i="0" dirty="0"/>
              <a:t> </a:t>
            </a:r>
            <a:r>
              <a:rPr lang="en-US" b="0" i="0" dirty="0">
                <a:highlight>
                  <a:srgbClr val="CCFF99"/>
                </a:highlight>
              </a:rPr>
              <a:t>within specified time</a:t>
            </a:r>
            <a:r>
              <a:rPr lang="en-US" b="0" i="0" dirty="0"/>
              <a:t> from the receiving station.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b="0" i="0" dirty="0"/>
              <a:t>In this case, transmitting station assumes that the transmission is unsuccessful.</a:t>
            </a:r>
          </a:p>
          <a:p>
            <a:pPr algn="just">
              <a:defRPr/>
            </a:pPr>
            <a:r>
              <a:rPr lang="en-US" sz="3200" b="0" i="0" dirty="0"/>
              <a:t> </a:t>
            </a:r>
            <a:r>
              <a:rPr lang="en-US" b="0" i="0" dirty="0"/>
              <a:t>Then,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3200" b="0" i="0" dirty="0"/>
              <a:t>Transmitting station uses a </a:t>
            </a:r>
            <a:r>
              <a:rPr lang="en-US" sz="3200" b="0" i="0" dirty="0">
                <a:hlinkClick r:id="rId2"/>
              </a:rPr>
              <a:t>Back Off Strategy</a:t>
            </a:r>
            <a:r>
              <a:rPr lang="en-US" sz="3200" b="0" i="0" dirty="0"/>
              <a:t> and waits for </a:t>
            </a:r>
            <a:r>
              <a:rPr lang="en-US" sz="3200" b="0" i="0" dirty="0">
                <a:highlight>
                  <a:srgbClr val="CCFF99"/>
                </a:highlight>
              </a:rPr>
              <a:t>some random amount of time</a:t>
            </a:r>
            <a:r>
              <a:rPr lang="en-US" sz="3200" b="0" i="0" dirty="0"/>
              <a:t>. (This is what reduces the collision)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3200" b="0" i="0" dirty="0"/>
              <a:t>After back off time, it transmits the data packet again.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3200" b="0" i="0" dirty="0"/>
              <a:t>It keeps trying until the </a:t>
            </a:r>
            <a:r>
              <a:rPr lang="en-US" sz="3200" b="0" i="0" dirty="0">
                <a:highlight>
                  <a:srgbClr val="CCFF99"/>
                </a:highlight>
              </a:rPr>
              <a:t>back off limit</a:t>
            </a:r>
            <a:r>
              <a:rPr lang="en-US" sz="3200" b="0" i="0" dirty="0"/>
              <a:t> is reached after which it aborts the transmission.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>
            <a:extLst>
              <a:ext uri="{FF2B5EF4-FFF2-40B4-BE49-F238E27FC236}">
                <a16:creationId xmlns:a16="http://schemas.microsoft.com/office/drawing/2014/main" id="{020600CF-1AC5-BF9E-785F-D4BA31CEF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87233A90-50AC-784C-8A75-7914DEDB0E74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9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9459" name="Line 2">
            <a:extLst>
              <a:ext uri="{FF2B5EF4-FFF2-40B4-BE49-F238E27FC236}">
                <a16:creationId xmlns:a16="http://schemas.microsoft.com/office/drawing/2014/main" id="{DA05380E-64BC-726D-ABD3-B26CCCEE8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9460" name="Line 3">
            <a:extLst>
              <a:ext uri="{FF2B5EF4-FFF2-40B4-BE49-F238E27FC236}">
                <a16:creationId xmlns:a16="http://schemas.microsoft.com/office/drawing/2014/main" id="{9D896BA7-03B9-DD36-292B-9C870FBEE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CAD33586-E57C-6871-0032-32F9D5696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672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12.4  </a:t>
            </a:r>
            <a:r>
              <a:rPr lang="it-IT" altLang="en-US" sz="2000" baseline="0"/>
              <a:t>Procedure for pure ALOHA protocol</a:t>
            </a:r>
            <a:endParaRPr lang="en-US" altLang="en-US" sz="2000" baseline="0"/>
          </a:p>
        </p:txBody>
      </p:sp>
      <p:sp>
        <p:nvSpPr>
          <p:cNvPr id="19462" name="Line 5">
            <a:extLst>
              <a:ext uri="{FF2B5EF4-FFF2-40B4-BE49-F238E27FC236}">
                <a16:creationId xmlns:a16="http://schemas.microsoft.com/office/drawing/2014/main" id="{9B7C5746-D893-1AE6-E370-8F75A3517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19463" name="Picture 8">
            <a:extLst>
              <a:ext uri="{FF2B5EF4-FFF2-40B4-BE49-F238E27FC236}">
                <a16:creationId xmlns:a16="http://schemas.microsoft.com/office/drawing/2014/main" id="{FCBE992E-3335-ABF6-B904-E033DCE65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1206500"/>
            <a:ext cx="6088062" cy="473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B6A7809-CEF5-3E4B-C134-A34498BE3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86000"/>
            <a:ext cx="2057400" cy="1219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1">
            <a:extLst>
              <a:ext uri="{FF2B5EF4-FFF2-40B4-BE49-F238E27FC236}">
                <a16:creationId xmlns:a16="http://schemas.microsoft.com/office/drawing/2014/main" id="{1FA95C0D-4399-DDD1-60BF-386549115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C62E6DC3-6261-3A4B-9665-178D8D415987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10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B6B8FF8-4C1C-225D-D8C9-47AEBFBDE81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C8C09FB1-F792-DE02-74F4-B8AADBEC68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AA5B2D04-FE69-325B-560C-DFEC57F42E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91B4958F-7E50-8628-DD6B-283790F23E8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9585FC1D-71AD-1727-8829-10E39DE3AFF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E55D41C9-196E-1730-C47F-1B78769237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1513" name="Rectangle 8">
            <a:extLst>
              <a:ext uri="{FF2B5EF4-FFF2-40B4-BE49-F238E27FC236}">
                <a16:creationId xmlns:a16="http://schemas.microsoft.com/office/drawing/2014/main" id="{68DE21F6-B44A-5108-75BC-43441962DC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1514" name="Rectangle 9">
            <a:extLst>
              <a:ext uri="{FF2B5EF4-FFF2-40B4-BE49-F238E27FC236}">
                <a16:creationId xmlns:a16="http://schemas.microsoft.com/office/drawing/2014/main" id="{877D3D47-D441-1D18-30BA-F7609CC56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47894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/>
              <a:t>The stations on a wireless ALOHA network are a maximum of 600 km apart. If we assume that signals propagate at 3 × 10</a:t>
            </a:r>
            <a:r>
              <a:rPr lang="en-US" altLang="en-US" baseline="20000"/>
              <a:t>8</a:t>
            </a:r>
            <a:r>
              <a:rPr lang="en-US" altLang="en-US" baseline="0"/>
              <a:t> m/s,  we find  </a:t>
            </a:r>
          </a:p>
          <a:p>
            <a:pPr algn="just"/>
            <a:r>
              <a:rPr lang="en-US" altLang="en-US" baseline="0"/>
              <a:t>                         </a:t>
            </a:r>
            <a:r>
              <a:rPr lang="en-US" altLang="en-US" baseline="0">
                <a:solidFill>
                  <a:schemeClr val="folHlink"/>
                </a:solidFill>
              </a:rPr>
              <a:t>T</a:t>
            </a:r>
            <a:r>
              <a:rPr lang="en-US" altLang="en-US">
                <a:solidFill>
                  <a:schemeClr val="folHlink"/>
                </a:solidFill>
              </a:rPr>
              <a:t>p </a:t>
            </a:r>
            <a:r>
              <a:rPr lang="en-US" altLang="en-US" baseline="0">
                <a:solidFill>
                  <a:schemeClr val="folHlink"/>
                </a:solidFill>
              </a:rPr>
              <a:t>= (600 × 10</a:t>
            </a:r>
            <a:r>
              <a:rPr lang="en-US" altLang="en-US" baseline="30000">
                <a:solidFill>
                  <a:schemeClr val="folHlink"/>
                </a:solidFill>
              </a:rPr>
              <a:t>5</a:t>
            </a:r>
            <a:r>
              <a:rPr lang="en-US" altLang="en-US" baseline="0">
                <a:solidFill>
                  <a:schemeClr val="folHlink"/>
                </a:solidFill>
              </a:rPr>
              <a:t> ) / (3 × 10</a:t>
            </a:r>
            <a:r>
              <a:rPr lang="en-US" altLang="en-US" baseline="30000">
                <a:solidFill>
                  <a:schemeClr val="folHlink"/>
                </a:solidFill>
              </a:rPr>
              <a:t>8</a:t>
            </a:r>
            <a:r>
              <a:rPr lang="en-US" altLang="en-US" baseline="0">
                <a:solidFill>
                  <a:schemeClr val="folHlink"/>
                </a:solidFill>
              </a:rPr>
              <a:t> ) = 2 ms.</a:t>
            </a:r>
            <a:r>
              <a:rPr lang="en-US" altLang="en-US" baseline="0"/>
              <a:t> </a:t>
            </a:r>
          </a:p>
          <a:p>
            <a:pPr algn="just"/>
            <a:r>
              <a:rPr lang="en-US" altLang="en-US" baseline="0"/>
              <a:t>Now we can find the value of T</a:t>
            </a:r>
            <a:r>
              <a:rPr lang="en-US" altLang="en-US" baseline="-12000"/>
              <a:t>B</a:t>
            </a:r>
            <a:r>
              <a:rPr lang="en-US" altLang="en-US" baseline="0"/>
              <a:t> for different values of </a:t>
            </a:r>
            <a:br>
              <a:rPr lang="en-US" altLang="en-US" baseline="0"/>
            </a:br>
            <a:r>
              <a:rPr lang="en-US" altLang="en-US" baseline="0"/>
              <a:t>K .</a:t>
            </a:r>
          </a:p>
          <a:p>
            <a:pPr algn="just"/>
            <a:endParaRPr lang="en-US" altLang="en-US" baseline="0"/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a</a:t>
            </a:r>
            <a:r>
              <a:rPr lang="en-US" altLang="en-US" baseline="0"/>
              <a:t>. For K = 1, the range is {0, 1}. The station needs to|</a:t>
            </a:r>
            <a:br>
              <a:rPr lang="en-US" altLang="en-US" baseline="0"/>
            </a:br>
            <a:r>
              <a:rPr lang="en-US" altLang="en-US" baseline="0"/>
              <a:t>     generate a random number with a value of 0 or 1. This</a:t>
            </a:r>
            <a:br>
              <a:rPr lang="en-US" altLang="en-US" baseline="0"/>
            </a:br>
            <a:r>
              <a:rPr lang="en-US" altLang="en-US" baseline="0"/>
              <a:t>     means that T</a:t>
            </a:r>
            <a:r>
              <a:rPr lang="en-US" altLang="en-US" baseline="-12000"/>
              <a:t>B</a:t>
            </a:r>
            <a:r>
              <a:rPr lang="en-US" altLang="en-US" baseline="0"/>
              <a:t> is either 0 ms (0 × 2) or 2 ms (1 × 2),</a:t>
            </a:r>
            <a:br>
              <a:rPr lang="en-US" altLang="en-US" baseline="0"/>
            </a:br>
            <a:r>
              <a:rPr lang="en-US" altLang="en-US" baseline="0"/>
              <a:t>     based on the outcome of the random variable.</a:t>
            </a:r>
          </a:p>
        </p:txBody>
      </p:sp>
      <p:sp>
        <p:nvSpPr>
          <p:cNvPr id="21515" name="Text Box 10">
            <a:extLst>
              <a:ext uri="{FF2B5EF4-FFF2-40B4-BE49-F238E27FC236}">
                <a16:creationId xmlns:a16="http://schemas.microsoft.com/office/drawing/2014/main" id="{A4B1D14E-71A4-1321-585D-6942A2D92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>
            <a:extLst>
              <a:ext uri="{FF2B5EF4-FFF2-40B4-BE49-F238E27FC236}">
                <a16:creationId xmlns:a16="http://schemas.microsoft.com/office/drawing/2014/main" id="{80124AE1-648A-D782-9284-2D7143019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5EBA4D06-061E-414F-B716-6D91D9965204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11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FA8124E-D575-4E13-CEC7-D3D19242C58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DF81CB98-6E21-82E2-84C4-E91FFDDEC56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845E8AE6-7077-20A1-77E1-84451B7E344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3558" name="Rectangle 5">
            <a:extLst>
              <a:ext uri="{FF2B5EF4-FFF2-40B4-BE49-F238E27FC236}">
                <a16:creationId xmlns:a16="http://schemas.microsoft.com/office/drawing/2014/main" id="{B6C21339-328C-61F1-4E31-476745CA40A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7B46F0E6-B61C-DEA1-6DAF-5E11B0CD9E0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3560" name="Rectangle 7">
            <a:extLst>
              <a:ext uri="{FF2B5EF4-FFF2-40B4-BE49-F238E27FC236}">
                <a16:creationId xmlns:a16="http://schemas.microsoft.com/office/drawing/2014/main" id="{7C827836-2485-2C13-3A43-35B2F7BA4ED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3561" name="Rectangle 8">
            <a:extLst>
              <a:ext uri="{FF2B5EF4-FFF2-40B4-BE49-F238E27FC236}">
                <a16:creationId xmlns:a16="http://schemas.microsoft.com/office/drawing/2014/main" id="{EBD70887-E68A-96BE-255C-8CF8ED9236E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3562" name="Rectangle 9">
            <a:extLst>
              <a:ext uri="{FF2B5EF4-FFF2-40B4-BE49-F238E27FC236}">
                <a16:creationId xmlns:a16="http://schemas.microsoft.com/office/drawing/2014/main" id="{55898153-8308-6610-CAF5-C256673FF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4362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b.</a:t>
            </a:r>
            <a:r>
              <a:rPr lang="en-US" altLang="en-US" baseline="0"/>
              <a:t> For K = 2, the range is {0, 1, 2, 3}. This means that T</a:t>
            </a:r>
            <a:r>
              <a:rPr lang="en-US" altLang="en-US" baseline="-12000"/>
              <a:t>B</a:t>
            </a:r>
            <a:br>
              <a:rPr lang="en-US" altLang="en-US" baseline="-12000"/>
            </a:br>
            <a:r>
              <a:rPr lang="en-US" altLang="en-US" baseline="-12000"/>
              <a:t>      </a:t>
            </a:r>
            <a:r>
              <a:rPr lang="en-US" altLang="en-US" baseline="0"/>
              <a:t>can be 0, 2, 4, or 6 ms, based on the outcome of the</a:t>
            </a:r>
            <a:br>
              <a:rPr lang="en-US" altLang="en-US" baseline="0"/>
            </a:br>
            <a:r>
              <a:rPr lang="en-US" altLang="en-US" baseline="0"/>
              <a:t>     random variable.</a:t>
            </a:r>
          </a:p>
          <a:p>
            <a:pPr algn="just"/>
            <a:endParaRPr lang="en-US" altLang="en-US" baseline="0"/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c.</a:t>
            </a:r>
            <a:r>
              <a:rPr lang="en-US" altLang="en-US" baseline="0"/>
              <a:t> For K = 3, the range is {0, 1, 2, 3, 4, 5, 6, 7}. This</a:t>
            </a:r>
            <a:br>
              <a:rPr lang="en-US" altLang="en-US" baseline="0"/>
            </a:br>
            <a:r>
              <a:rPr lang="en-US" altLang="en-US" baseline="0"/>
              <a:t>     means that T</a:t>
            </a:r>
            <a:r>
              <a:rPr lang="en-US" altLang="en-US" baseline="-12000"/>
              <a:t>B</a:t>
            </a:r>
            <a:r>
              <a:rPr lang="en-US" altLang="en-US" baseline="0"/>
              <a:t> can be 0, 2, 4, . . . , 14 ms, based on the</a:t>
            </a:r>
            <a:br>
              <a:rPr lang="en-US" altLang="en-US" baseline="0"/>
            </a:br>
            <a:r>
              <a:rPr lang="en-US" altLang="en-US" baseline="0"/>
              <a:t>     outcome of the random variable.</a:t>
            </a:r>
          </a:p>
          <a:p>
            <a:pPr algn="just"/>
            <a:endParaRPr lang="en-US" altLang="en-US" baseline="0"/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d.</a:t>
            </a:r>
            <a:r>
              <a:rPr lang="en-US" altLang="en-US" baseline="0"/>
              <a:t> We need to mention that if K &gt; 10, it is normally set to</a:t>
            </a:r>
            <a:br>
              <a:rPr lang="en-US" altLang="en-US" baseline="0"/>
            </a:br>
            <a:r>
              <a:rPr lang="en-US" altLang="en-US" baseline="0"/>
              <a:t>     10.</a:t>
            </a:r>
          </a:p>
        </p:txBody>
      </p:sp>
      <p:sp>
        <p:nvSpPr>
          <p:cNvPr id="23563" name="Text Box 10">
            <a:extLst>
              <a:ext uri="{FF2B5EF4-FFF2-40B4-BE49-F238E27FC236}">
                <a16:creationId xmlns:a16="http://schemas.microsoft.com/office/drawing/2014/main" id="{794ECEE4-B5C9-858D-11E9-6D8F854FD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4529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12.1 (continued)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1">
            <a:extLst>
              <a:ext uri="{FF2B5EF4-FFF2-40B4-BE49-F238E27FC236}">
                <a16:creationId xmlns:a16="http://schemas.microsoft.com/office/drawing/2014/main" id="{A700378A-A988-792E-EB02-48BCDD2F71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B9B3149C-1019-8D49-8DAA-8AEA8D74EA49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12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Line 2">
            <a:extLst>
              <a:ext uri="{FF2B5EF4-FFF2-40B4-BE49-F238E27FC236}">
                <a16:creationId xmlns:a16="http://schemas.microsoft.com/office/drawing/2014/main" id="{C2B005DD-AB62-1FFA-A53E-867C70924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25604" name="Line 3">
            <a:extLst>
              <a:ext uri="{FF2B5EF4-FFF2-40B4-BE49-F238E27FC236}">
                <a16:creationId xmlns:a16="http://schemas.microsoft.com/office/drawing/2014/main" id="{58FB8B2F-6A65-B8A8-D4B4-CB5A4A28F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9354EEF-FD04-A1C4-9C0E-BEFAF5211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269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12.5  </a:t>
            </a:r>
            <a:r>
              <a:rPr lang="en-US" altLang="en-US" sz="2000" baseline="0"/>
              <a:t>Vulnerable time for pure ALOHA protocol</a:t>
            </a:r>
          </a:p>
        </p:txBody>
      </p:sp>
      <p:sp>
        <p:nvSpPr>
          <p:cNvPr id="25606" name="Line 5">
            <a:extLst>
              <a:ext uri="{FF2B5EF4-FFF2-40B4-BE49-F238E27FC236}">
                <a16:creationId xmlns:a16="http://schemas.microsoft.com/office/drawing/2014/main" id="{22F453D6-B06D-E56A-4545-93AB39F6A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25607" name="Picture 8">
            <a:extLst>
              <a:ext uri="{FF2B5EF4-FFF2-40B4-BE49-F238E27FC236}">
                <a16:creationId xmlns:a16="http://schemas.microsoft.com/office/drawing/2014/main" id="{4AB08B87-9C60-F5E7-F61A-B9041F5EA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1376363"/>
            <a:ext cx="6992937" cy="449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1">
            <a:extLst>
              <a:ext uri="{FF2B5EF4-FFF2-40B4-BE49-F238E27FC236}">
                <a16:creationId xmlns:a16="http://schemas.microsoft.com/office/drawing/2014/main" id="{15E4F79A-13FB-7024-7205-150D05BC7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58C7A25E-487F-7C46-9024-1E1080C9F287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13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68AFE13-E7F1-90D7-C8E6-3AE5678738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0DD016D-10EB-4D05-4FE0-A39A1D907CA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E469F619-8332-B722-7EA4-C805CCEA0F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D3F5C8D6-BF21-F251-1BC6-B79452DE76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D0672AFC-8BFA-25BF-3861-72B054EFF47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7656" name="Rectangle 7">
            <a:extLst>
              <a:ext uri="{FF2B5EF4-FFF2-40B4-BE49-F238E27FC236}">
                <a16:creationId xmlns:a16="http://schemas.microsoft.com/office/drawing/2014/main" id="{6D84DFC9-76CF-1614-46F1-207485440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7657" name="Rectangle 8">
            <a:extLst>
              <a:ext uri="{FF2B5EF4-FFF2-40B4-BE49-F238E27FC236}">
                <a16:creationId xmlns:a16="http://schemas.microsoft.com/office/drawing/2014/main" id="{51F35CA0-420A-C12F-0F88-1E4F7B2027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7658" name="Rectangle 9">
            <a:extLst>
              <a:ext uri="{FF2B5EF4-FFF2-40B4-BE49-F238E27FC236}">
                <a16:creationId xmlns:a16="http://schemas.microsoft.com/office/drawing/2014/main" id="{E0C6E4E5-A6E7-1799-E1EE-CED2C7F61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="0" i="0" baseline="0"/>
              <a:t>A pure ALOHA network transmits 200-bit frames on a shared channel of 200 kbps. What is the requirement to make this frame collision-free?</a:t>
            </a:r>
          </a:p>
        </p:txBody>
      </p:sp>
      <p:sp>
        <p:nvSpPr>
          <p:cNvPr id="27659" name="Text Box 10">
            <a:extLst>
              <a:ext uri="{FF2B5EF4-FFF2-40B4-BE49-F238E27FC236}">
                <a16:creationId xmlns:a16="http://schemas.microsoft.com/office/drawing/2014/main" id="{EA342C94-C8B9-B8DC-500F-3EB4B82FE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12.2</a:t>
            </a:r>
          </a:p>
        </p:txBody>
      </p:sp>
      <p:sp>
        <p:nvSpPr>
          <p:cNvPr id="1164299" name="Rectangle 11">
            <a:extLst>
              <a:ext uri="{FF2B5EF4-FFF2-40B4-BE49-F238E27FC236}">
                <a16:creationId xmlns:a16="http://schemas.microsoft.com/office/drawing/2014/main" id="{389BC5D5-DCA4-9C80-9D1B-0E71FA6E9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819400"/>
            <a:ext cx="8839200" cy="31085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en-US" b="0" i="0" baseline="0" dirty="0">
                <a:solidFill>
                  <a:schemeClr val="hlink"/>
                </a:solidFill>
              </a:rPr>
              <a:t>Solution</a:t>
            </a:r>
          </a:p>
          <a:p>
            <a:pPr algn="just">
              <a:defRPr/>
            </a:pPr>
            <a:r>
              <a:rPr lang="en-US" altLang="en-US" b="0" i="0" baseline="0" dirty="0"/>
              <a:t>Average frame transmission time </a:t>
            </a:r>
            <a:r>
              <a:rPr lang="en-US" altLang="en-US" b="0" i="0" baseline="0" dirty="0" err="1"/>
              <a:t>T</a:t>
            </a:r>
            <a:r>
              <a:rPr lang="en-US" altLang="en-US" b="0" i="0" baseline="-12000" dirty="0" err="1"/>
              <a:t>fr</a:t>
            </a:r>
            <a:r>
              <a:rPr lang="en-US" altLang="en-US" b="0" i="0" baseline="0" dirty="0"/>
              <a:t> is 200 bits/200 kbps or 1 </a:t>
            </a:r>
            <a:r>
              <a:rPr lang="en-US" altLang="en-US" b="0" i="0" baseline="0" dirty="0" err="1"/>
              <a:t>ms.</a:t>
            </a:r>
            <a:r>
              <a:rPr lang="en-US" altLang="en-US" b="0" i="0" baseline="0" dirty="0"/>
              <a:t> The vulnerable time is  2 × 1 </a:t>
            </a:r>
            <a:r>
              <a:rPr lang="en-US" altLang="en-US" b="0" i="0" baseline="0" dirty="0" err="1"/>
              <a:t>ms</a:t>
            </a:r>
            <a:r>
              <a:rPr lang="en-US" altLang="en-US" b="0" i="0" baseline="0" dirty="0"/>
              <a:t> = 2 </a:t>
            </a:r>
            <a:r>
              <a:rPr lang="en-US" altLang="en-US" b="0" i="0" baseline="0" dirty="0" err="1"/>
              <a:t>ms.</a:t>
            </a:r>
            <a:r>
              <a:rPr lang="en-US" altLang="en-US" b="0" i="0" baseline="0" dirty="0"/>
              <a:t> </a:t>
            </a:r>
          </a:p>
          <a:p>
            <a:pPr algn="just">
              <a:defRPr/>
            </a:pPr>
            <a:r>
              <a:rPr lang="en-US" altLang="en-US" b="0" i="0" baseline="0" dirty="0"/>
              <a:t>This means no station should send later than 1 </a:t>
            </a:r>
            <a:r>
              <a:rPr lang="en-US" altLang="en-US" b="0" i="0" baseline="0" dirty="0" err="1"/>
              <a:t>ms</a:t>
            </a:r>
            <a:r>
              <a:rPr lang="en-US" altLang="en-US" b="0" i="0" baseline="0" dirty="0"/>
              <a:t> </a:t>
            </a:r>
            <a:r>
              <a:rPr lang="en-US" altLang="en-US" b="0" i="0" baseline="0" dirty="0">
                <a:highlight>
                  <a:srgbClr val="CCFF99"/>
                </a:highlight>
              </a:rPr>
              <a:t>before this station starts transmission</a:t>
            </a:r>
            <a:r>
              <a:rPr lang="en-US" altLang="en-US" b="0" i="0" baseline="0" dirty="0"/>
              <a:t> and no station should start sending </a:t>
            </a:r>
            <a:r>
              <a:rPr lang="en-US" altLang="en-US" b="0" i="0" baseline="0" dirty="0">
                <a:highlight>
                  <a:srgbClr val="CCFF99"/>
                </a:highlight>
              </a:rPr>
              <a:t>during the one 1-ms period</a:t>
            </a:r>
            <a:r>
              <a:rPr lang="en-US" altLang="en-US" b="0" i="0" baseline="0" dirty="0"/>
              <a:t> that this station is sending.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1">
            <a:extLst>
              <a:ext uri="{FF2B5EF4-FFF2-40B4-BE49-F238E27FC236}">
                <a16:creationId xmlns:a16="http://schemas.microsoft.com/office/drawing/2014/main" id="{04CC3567-63BC-F194-92AA-9D6050123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3A015646-F312-2D40-B1CE-CD70CDCBF57F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14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DD4ACC-C666-623B-2673-AD4B2CF193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6682534E-4805-09B8-C7A2-692F3459B1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5A5DA49C-EA4F-E880-6562-37C0B6D8BE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E73BC83A-2FDB-093C-D79C-2298E8B2E31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9703" name="Rectangle 6">
            <a:extLst>
              <a:ext uri="{FF2B5EF4-FFF2-40B4-BE49-F238E27FC236}">
                <a16:creationId xmlns:a16="http://schemas.microsoft.com/office/drawing/2014/main" id="{7189B6F4-61D0-378C-341B-93C6FB599D0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9704" name="Rectangle 7">
            <a:extLst>
              <a:ext uri="{FF2B5EF4-FFF2-40B4-BE49-F238E27FC236}">
                <a16:creationId xmlns:a16="http://schemas.microsoft.com/office/drawing/2014/main" id="{0CE772CD-7115-B402-3B46-9B805129120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9705" name="Rectangle 8">
            <a:extLst>
              <a:ext uri="{FF2B5EF4-FFF2-40B4-BE49-F238E27FC236}">
                <a16:creationId xmlns:a16="http://schemas.microsoft.com/office/drawing/2014/main" id="{3D358F8C-7DCA-3EDC-6EB0-F84EA80501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29706" name="Line 9">
            <a:extLst>
              <a:ext uri="{FF2B5EF4-FFF2-40B4-BE49-F238E27FC236}">
                <a16:creationId xmlns:a16="http://schemas.microsoft.com/office/drawing/2014/main" id="{57D5E104-B25A-539B-A39E-791052EFFC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588" y="138588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29707" name="Line 10">
            <a:extLst>
              <a:ext uri="{FF2B5EF4-FFF2-40B4-BE49-F238E27FC236}">
                <a16:creationId xmlns:a16="http://schemas.microsoft.com/office/drawing/2014/main" id="{D614A157-F282-64DF-81A9-F3F5F64666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367188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29708" name="Rectangle 11">
            <a:extLst>
              <a:ext uri="{FF2B5EF4-FFF2-40B4-BE49-F238E27FC236}">
                <a16:creationId xmlns:a16="http://schemas.microsoft.com/office/drawing/2014/main" id="{2ACE30D4-9FF1-DCBB-7F20-016A7D7EC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8" y="1477963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The throughput for pure ALOHA is </a:t>
            </a:r>
            <a:br>
              <a:rPr lang="en-US" altLang="en-US" sz="3200" i="0" baseline="0">
                <a:latin typeface="Arial" panose="020B0604020202020204" pitchFamily="34" charset="0"/>
              </a:rPr>
            </a:br>
            <a:r>
              <a:rPr lang="en-US" altLang="en-US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S = G × e </a:t>
            </a:r>
            <a:r>
              <a:rPr lang="en-US" altLang="en-US" sz="3200" i="0" baseline="30000">
                <a:solidFill>
                  <a:schemeClr val="hlink"/>
                </a:solidFill>
                <a:latin typeface="Arial" panose="020B0604020202020204" pitchFamily="34" charset="0"/>
              </a:rPr>
              <a:t>−2G  </a:t>
            </a:r>
            <a:r>
              <a:rPr lang="en-US" altLang="en-US" sz="3200" i="0" baseline="0"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The maximum throughput</a:t>
            </a:r>
          </a:p>
          <a:p>
            <a:pPr algn="ctr"/>
            <a:r>
              <a:rPr lang="en-US" altLang="en-US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S</a:t>
            </a:r>
            <a:r>
              <a:rPr lang="en-US" altLang="en-US" sz="3200" i="0" baseline="-18000">
                <a:solidFill>
                  <a:schemeClr val="hlink"/>
                </a:solidFill>
                <a:latin typeface="Arial" panose="020B0604020202020204" pitchFamily="34" charset="0"/>
              </a:rPr>
              <a:t>max</a:t>
            </a:r>
            <a:r>
              <a:rPr lang="en-US" altLang="en-US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 = 0.184 </a:t>
            </a:r>
            <a:r>
              <a:rPr lang="en-US" altLang="en-US" sz="3200" i="0" baseline="0">
                <a:latin typeface="Arial" panose="020B0604020202020204" pitchFamily="34" charset="0"/>
              </a:rPr>
              <a:t>when G= (1/2).</a:t>
            </a:r>
          </a:p>
        </p:txBody>
      </p:sp>
      <p:grpSp>
        <p:nvGrpSpPr>
          <p:cNvPr id="29709" name="Group 12">
            <a:extLst>
              <a:ext uri="{FF2B5EF4-FFF2-40B4-BE49-F238E27FC236}">
                <a16:creationId xmlns:a16="http://schemas.microsoft.com/office/drawing/2014/main" id="{6291D3A2-91A0-3F5E-F7D4-13309B3EF85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557213"/>
            <a:ext cx="1143000" cy="566737"/>
            <a:chOff x="1200" y="1248"/>
            <a:chExt cx="720" cy="357"/>
          </a:xfrm>
        </p:grpSpPr>
        <p:pic>
          <p:nvPicPr>
            <p:cNvPr id="29712" name="Picture 13">
              <a:extLst>
                <a:ext uri="{FF2B5EF4-FFF2-40B4-BE49-F238E27FC236}">
                  <a16:creationId xmlns:a16="http://schemas.microsoft.com/office/drawing/2014/main" id="{408E53E1-6774-CFD2-ADF8-41101F0778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713" name="Text Box 14">
              <a:extLst>
                <a:ext uri="{FF2B5EF4-FFF2-40B4-BE49-F238E27FC236}">
                  <a16:creationId xmlns:a16="http://schemas.microsoft.com/office/drawing/2014/main" id="{F7EDB8D6-D971-F673-E4AA-EFA0D4C83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  <p:sp>
        <p:nvSpPr>
          <p:cNvPr id="29710" name="TextBox 2">
            <a:extLst>
              <a:ext uri="{FF2B5EF4-FFF2-40B4-BE49-F238E27FC236}">
                <a16:creationId xmlns:a16="http://schemas.microsoft.com/office/drawing/2014/main" id="{FE66D606-B3A6-A9BD-31A8-65D3770A0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3" y="3824288"/>
            <a:ext cx="7427912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/>
              <a:t>G=Number of Stations wish to transmit at the same time/</a:t>
            </a:r>
          </a:p>
          <a:p>
            <a:r>
              <a:rPr lang="en-US" altLang="en-US" sz="3200"/>
              <a:t>Number of frame generated during one frame transmission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888C4-5558-171F-E8FE-849B7D3EF4B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12813" y="4715060"/>
            <a:ext cx="7469187" cy="1457515"/>
          </a:xfrm>
          <a:prstGeom prst="rect">
            <a:avLst/>
          </a:prstGeom>
          <a:blipFill>
            <a:blip r:embed="rId4"/>
            <a:stretch>
              <a:fillRect l="-1469" r="-1469" b="-9583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1">
            <a:extLst>
              <a:ext uri="{FF2B5EF4-FFF2-40B4-BE49-F238E27FC236}">
                <a16:creationId xmlns:a16="http://schemas.microsoft.com/office/drawing/2014/main" id="{9984E569-BFE8-C239-CF81-430214E10C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8BD046B0-EDDA-DA4F-8C7B-A29F3DC1C6C6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15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789DEA8-C6AD-D283-45FA-DBE5531936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71C00DF-C35C-AE82-44DE-C26572A6E2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AE9112D6-93C9-97ED-A6BB-71596762D10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1750" name="Rectangle 5">
            <a:extLst>
              <a:ext uri="{FF2B5EF4-FFF2-40B4-BE49-F238E27FC236}">
                <a16:creationId xmlns:a16="http://schemas.microsoft.com/office/drawing/2014/main" id="{0A6F200E-934B-2483-3E9B-67B382AE4F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1751" name="Rectangle 6">
            <a:extLst>
              <a:ext uri="{FF2B5EF4-FFF2-40B4-BE49-F238E27FC236}">
                <a16:creationId xmlns:a16="http://schemas.microsoft.com/office/drawing/2014/main" id="{7C0F9591-0211-8EB4-FC15-0D65C522977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1752" name="Rectangle 7">
            <a:extLst>
              <a:ext uri="{FF2B5EF4-FFF2-40B4-BE49-F238E27FC236}">
                <a16:creationId xmlns:a16="http://schemas.microsoft.com/office/drawing/2014/main" id="{154FE55F-B3A6-4501-B347-2C12B6AAFD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1753" name="Rectangle 8">
            <a:extLst>
              <a:ext uri="{FF2B5EF4-FFF2-40B4-BE49-F238E27FC236}">
                <a16:creationId xmlns:a16="http://schemas.microsoft.com/office/drawing/2014/main" id="{63A2AC6F-37E5-23FF-DED6-FF9FB5F64BD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1754" name="Rectangle 9">
            <a:extLst>
              <a:ext uri="{FF2B5EF4-FFF2-40B4-BE49-F238E27FC236}">
                <a16:creationId xmlns:a16="http://schemas.microsoft.com/office/drawing/2014/main" id="{A59BDD7E-7B6B-82DD-DAF3-45B7B6C28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8200"/>
            <a:ext cx="8686800" cy="2227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/>
              <a:t>A pure ALOHA network transmits 200-bit frames on a shared channel of 200 kbps. What is the throughput if the system (all stations together) produces</a:t>
            </a:r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a.</a:t>
            </a:r>
            <a:r>
              <a:rPr lang="en-US" altLang="en-US" baseline="0"/>
              <a:t> 1000 frames per second    </a:t>
            </a:r>
            <a:r>
              <a:rPr lang="en-US" altLang="en-US" baseline="0">
                <a:solidFill>
                  <a:schemeClr val="hlink"/>
                </a:solidFill>
              </a:rPr>
              <a:t>b.</a:t>
            </a:r>
            <a:r>
              <a:rPr lang="en-US" altLang="en-US" baseline="0"/>
              <a:t> 500 frames per second</a:t>
            </a:r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c.</a:t>
            </a:r>
            <a:r>
              <a:rPr lang="en-US" altLang="en-US" baseline="0"/>
              <a:t> 250 frames per second.</a:t>
            </a:r>
          </a:p>
        </p:txBody>
      </p:sp>
      <p:sp>
        <p:nvSpPr>
          <p:cNvPr id="31755" name="Text Box 10">
            <a:extLst>
              <a:ext uri="{FF2B5EF4-FFF2-40B4-BE49-F238E27FC236}">
                <a16:creationId xmlns:a16="http://schemas.microsoft.com/office/drawing/2014/main" id="{8B0ED148-0F49-2D4B-FACF-9EDC4BC5F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12.3</a:t>
            </a:r>
          </a:p>
        </p:txBody>
      </p:sp>
      <p:sp>
        <p:nvSpPr>
          <p:cNvPr id="1166347" name="Rectangle 11">
            <a:extLst>
              <a:ext uri="{FF2B5EF4-FFF2-40B4-BE49-F238E27FC236}">
                <a16:creationId xmlns:a16="http://schemas.microsoft.com/office/drawing/2014/main" id="{F5FD73DB-9F78-4E78-8636-24D50A26A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00400"/>
            <a:ext cx="8686800" cy="308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en-US" baseline="0"/>
              <a:t>The frame transmission time is 200/200 kbps or 1 ms.</a:t>
            </a:r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a.</a:t>
            </a:r>
            <a:r>
              <a:rPr lang="en-US" altLang="en-US" baseline="0"/>
              <a:t> If the system creates 1000 frames per second, this is 1</a:t>
            </a:r>
            <a:br>
              <a:rPr lang="en-US" altLang="en-US" baseline="0"/>
            </a:br>
            <a:r>
              <a:rPr lang="en-US" altLang="en-US" baseline="0"/>
              <a:t>    frame per millisecond. The load is 1. In this case </a:t>
            </a:r>
            <a:br>
              <a:rPr lang="en-US" altLang="en-US" baseline="0"/>
            </a:br>
            <a:r>
              <a:rPr lang="en-US" altLang="en-US" baseline="0"/>
              <a:t>    S = G× e</a:t>
            </a:r>
            <a:r>
              <a:rPr lang="en-US" altLang="en-US" baseline="30000"/>
              <a:t>−2 G</a:t>
            </a:r>
            <a:r>
              <a:rPr lang="en-US" altLang="en-US" baseline="0"/>
              <a:t> or S = 0.135 (13.5 percent). This means</a:t>
            </a:r>
            <a:br>
              <a:rPr lang="en-US" altLang="en-US" baseline="0"/>
            </a:br>
            <a:r>
              <a:rPr lang="en-US" altLang="en-US" baseline="0"/>
              <a:t>    that the throughput is 1000 × 0.135 = 135 frames. Only</a:t>
            </a:r>
            <a:br>
              <a:rPr lang="en-US" altLang="en-US" baseline="0"/>
            </a:br>
            <a:r>
              <a:rPr lang="en-US" altLang="en-US" baseline="0"/>
              <a:t>    135 frames out of 1000 will probably survive.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63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1">
            <a:extLst>
              <a:ext uri="{FF2B5EF4-FFF2-40B4-BE49-F238E27FC236}">
                <a16:creationId xmlns:a16="http://schemas.microsoft.com/office/drawing/2014/main" id="{EA0414FB-0015-FAD6-EEC5-C396A755C9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01F3BFDF-867F-5A4D-B61B-D28884A9E797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16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51CF5F5-D8F7-4941-384B-BC42404BE2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511CBC3E-54A2-500F-B602-DD28FEF639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3797" name="Rectangle 4">
            <a:extLst>
              <a:ext uri="{FF2B5EF4-FFF2-40B4-BE49-F238E27FC236}">
                <a16:creationId xmlns:a16="http://schemas.microsoft.com/office/drawing/2014/main" id="{4ED4E0C9-CC70-039C-5B8F-8D6432BECB4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3798" name="Rectangle 5">
            <a:extLst>
              <a:ext uri="{FF2B5EF4-FFF2-40B4-BE49-F238E27FC236}">
                <a16:creationId xmlns:a16="http://schemas.microsoft.com/office/drawing/2014/main" id="{7900509B-DA21-7BBE-C948-CC59C366D4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3799" name="Rectangle 6">
            <a:extLst>
              <a:ext uri="{FF2B5EF4-FFF2-40B4-BE49-F238E27FC236}">
                <a16:creationId xmlns:a16="http://schemas.microsoft.com/office/drawing/2014/main" id="{4F403E84-0CE1-009F-BBF3-07966A899B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3800" name="Rectangle 7">
            <a:extLst>
              <a:ext uri="{FF2B5EF4-FFF2-40B4-BE49-F238E27FC236}">
                <a16:creationId xmlns:a16="http://schemas.microsoft.com/office/drawing/2014/main" id="{8D99BC5D-FC8C-57E4-E13B-B3464227A42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3801" name="Rectangle 8">
            <a:extLst>
              <a:ext uri="{FF2B5EF4-FFF2-40B4-BE49-F238E27FC236}">
                <a16:creationId xmlns:a16="http://schemas.microsoft.com/office/drawing/2014/main" id="{099888CB-43EE-75DD-7FAC-74AEECCF12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3802" name="Text Box 10">
            <a:extLst>
              <a:ext uri="{FF2B5EF4-FFF2-40B4-BE49-F238E27FC236}">
                <a16:creationId xmlns:a16="http://schemas.microsoft.com/office/drawing/2014/main" id="{F11D7C59-485E-BD56-0CA8-5761E2141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4529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12.3 (continued)</a:t>
            </a:r>
          </a:p>
        </p:txBody>
      </p:sp>
      <p:sp>
        <p:nvSpPr>
          <p:cNvPr id="33803" name="Rectangle 11">
            <a:extLst>
              <a:ext uri="{FF2B5EF4-FFF2-40B4-BE49-F238E27FC236}">
                <a16:creationId xmlns:a16="http://schemas.microsoft.com/office/drawing/2014/main" id="{1CE6BEA3-2D01-52DA-87A9-880ED8F9A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8200"/>
            <a:ext cx="8686800" cy="5643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b.</a:t>
            </a:r>
            <a:r>
              <a:rPr lang="en-US" altLang="en-US" baseline="0"/>
              <a:t> If the system creates 500 frames per second, this is</a:t>
            </a:r>
            <a:br>
              <a:rPr lang="en-US" altLang="en-US" baseline="0"/>
            </a:br>
            <a:r>
              <a:rPr lang="en-US" altLang="en-US" baseline="0"/>
              <a:t>    (1/2) frame per millisecond. The load is (1/2). In this</a:t>
            </a:r>
            <a:br>
              <a:rPr lang="en-US" altLang="en-US" baseline="0"/>
            </a:br>
            <a:r>
              <a:rPr lang="en-US" altLang="en-US" baseline="0"/>
              <a:t>    case S = G × e </a:t>
            </a:r>
            <a:r>
              <a:rPr lang="en-US" altLang="en-US" baseline="30000"/>
              <a:t>−2G</a:t>
            </a:r>
            <a:r>
              <a:rPr lang="en-US" altLang="en-US" baseline="0"/>
              <a:t> or S = 0.184 (18.4 percent). This</a:t>
            </a:r>
            <a:br>
              <a:rPr lang="en-US" altLang="en-US" baseline="0"/>
            </a:br>
            <a:r>
              <a:rPr lang="en-US" altLang="en-US" baseline="0"/>
              <a:t>    means that the throughput is 500 × 0.184 = 92 and that</a:t>
            </a:r>
            <a:br>
              <a:rPr lang="en-US" altLang="en-US" baseline="0"/>
            </a:br>
            <a:r>
              <a:rPr lang="en-US" altLang="en-US" baseline="0"/>
              <a:t>    only 92 frames out of 500 will probably survive. Note</a:t>
            </a:r>
            <a:br>
              <a:rPr lang="en-US" altLang="en-US" baseline="0"/>
            </a:br>
            <a:r>
              <a:rPr lang="en-US" altLang="en-US" baseline="0"/>
              <a:t>    that this is the maximum throughput case,</a:t>
            </a:r>
            <a:br>
              <a:rPr lang="en-US" altLang="en-US" baseline="0"/>
            </a:br>
            <a:r>
              <a:rPr lang="en-US" altLang="en-US" baseline="0"/>
              <a:t>    percentagewise.</a:t>
            </a:r>
          </a:p>
          <a:p>
            <a:pPr algn="just"/>
            <a:endParaRPr lang="en-US" altLang="en-US" baseline="0"/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c.</a:t>
            </a:r>
            <a:r>
              <a:rPr lang="en-US" altLang="en-US" baseline="0"/>
              <a:t> If the system creates 250 frames per second, this is (1/4)</a:t>
            </a:r>
            <a:br>
              <a:rPr lang="en-US" altLang="en-US" baseline="0"/>
            </a:br>
            <a:r>
              <a:rPr lang="en-US" altLang="en-US" baseline="0"/>
              <a:t>    frame per millisecond. The load is (1/4). In this case </a:t>
            </a:r>
            <a:br>
              <a:rPr lang="en-US" altLang="en-US" baseline="0"/>
            </a:br>
            <a:r>
              <a:rPr lang="en-US" altLang="en-US" baseline="0"/>
              <a:t>    S = G × e −</a:t>
            </a:r>
            <a:r>
              <a:rPr lang="en-US" altLang="en-US" baseline="30000"/>
              <a:t>2G</a:t>
            </a:r>
            <a:r>
              <a:rPr lang="en-US" altLang="en-US" baseline="0"/>
              <a:t> or S = 0.152 (15.2 percent). This means</a:t>
            </a:r>
            <a:br>
              <a:rPr lang="en-US" altLang="en-US" baseline="0"/>
            </a:br>
            <a:r>
              <a:rPr lang="en-US" altLang="en-US" baseline="0"/>
              <a:t>    that the throughput is 250 × 0.152 = 38. Only 38</a:t>
            </a:r>
            <a:br>
              <a:rPr lang="en-US" altLang="en-US" baseline="0"/>
            </a:br>
            <a:r>
              <a:rPr lang="en-US" altLang="en-US" baseline="0"/>
              <a:t>    frames out of 250 will probably survive.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1">
            <a:extLst>
              <a:ext uri="{FF2B5EF4-FFF2-40B4-BE49-F238E27FC236}">
                <a16:creationId xmlns:a16="http://schemas.microsoft.com/office/drawing/2014/main" id="{0636FA4D-16D6-AADE-11F0-BE20036B1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AF63A4B0-0587-994E-8562-C737FBEE1896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17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Line 2">
            <a:extLst>
              <a:ext uri="{FF2B5EF4-FFF2-40B4-BE49-F238E27FC236}">
                <a16:creationId xmlns:a16="http://schemas.microsoft.com/office/drawing/2014/main" id="{498BBD1E-FFD6-0510-4B0E-0BD84C9FE6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35844" name="Line 3">
            <a:extLst>
              <a:ext uri="{FF2B5EF4-FFF2-40B4-BE49-F238E27FC236}">
                <a16:creationId xmlns:a16="http://schemas.microsoft.com/office/drawing/2014/main" id="{4097D069-A53B-1933-5CE2-2E0317843C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7A8996C8-1CAF-5BCF-8F33-485A3F9C9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66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12.6  </a:t>
            </a:r>
            <a:r>
              <a:rPr lang="en-US" altLang="en-US" sz="2000" baseline="0"/>
              <a:t>Frames in a slotted ALOHA network</a:t>
            </a:r>
          </a:p>
        </p:txBody>
      </p:sp>
      <p:sp>
        <p:nvSpPr>
          <p:cNvPr id="35846" name="Line 5">
            <a:extLst>
              <a:ext uri="{FF2B5EF4-FFF2-40B4-BE49-F238E27FC236}">
                <a16:creationId xmlns:a16="http://schemas.microsoft.com/office/drawing/2014/main" id="{7F3E3056-0581-A40D-EE08-5610A583C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35847" name="Picture 7">
            <a:extLst>
              <a:ext uri="{FF2B5EF4-FFF2-40B4-BE49-F238E27FC236}">
                <a16:creationId xmlns:a16="http://schemas.microsoft.com/office/drawing/2014/main" id="{DDE16A3D-59ED-B46F-52A2-288DFFFCB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2057400"/>
            <a:ext cx="8499475" cy="397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848" name="TextBox 2">
            <a:extLst>
              <a:ext uri="{FF2B5EF4-FFF2-40B4-BE49-F238E27FC236}">
                <a16:creationId xmlns:a16="http://schemas.microsoft.com/office/drawing/2014/main" id="{E4F21203-AB96-9695-57C0-BCF637FCE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1120775"/>
            <a:ext cx="76422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BD" sz="2000" b="0" i="0" baseline="0"/>
              <a:t>In slotted ALOHA we divide the time into slots of T</a:t>
            </a:r>
            <a:r>
              <a:rPr lang="en-US" altLang="en-BD" sz="1400" b="0" i="0" baseline="0"/>
              <a:t>fr </a:t>
            </a:r>
            <a:r>
              <a:rPr lang="en-US" altLang="en-BD" sz="2000" b="0" i="0" baseline="0"/>
              <a:t>s and force the station to send only at the beginning of the time slot.</a:t>
            </a:r>
            <a:endParaRPr lang="en-US" altLang="en-BD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1">
            <a:extLst>
              <a:ext uri="{FF2B5EF4-FFF2-40B4-BE49-F238E27FC236}">
                <a16:creationId xmlns:a16="http://schemas.microsoft.com/office/drawing/2014/main" id="{0E22CC7F-44DA-6C73-1CF4-B9A7FA7461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39557B43-7536-A44F-9E9D-E8EBB5388AA0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18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C44963D-BE40-E76F-2ACE-507C5ED2F4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8E45ACE-BB18-2FA6-E3A0-6E8B045257B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F0839647-2991-B62E-EBCB-E842721E3F4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id="{8D49FCF4-FF54-310B-F533-C33559BA0CA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7895" name="Rectangle 6">
            <a:extLst>
              <a:ext uri="{FF2B5EF4-FFF2-40B4-BE49-F238E27FC236}">
                <a16:creationId xmlns:a16="http://schemas.microsoft.com/office/drawing/2014/main" id="{D7FF9508-46C6-AAB7-81FD-1454718E04E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7896" name="Rectangle 7">
            <a:extLst>
              <a:ext uri="{FF2B5EF4-FFF2-40B4-BE49-F238E27FC236}">
                <a16:creationId xmlns:a16="http://schemas.microsoft.com/office/drawing/2014/main" id="{BDDCD75B-0B56-2DF2-6537-6DF7DAF34E2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7897" name="Rectangle 8">
            <a:extLst>
              <a:ext uri="{FF2B5EF4-FFF2-40B4-BE49-F238E27FC236}">
                <a16:creationId xmlns:a16="http://schemas.microsoft.com/office/drawing/2014/main" id="{EDA32454-DBA9-B6B1-BAE5-5B37261DA73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37898" name="Line 9">
            <a:extLst>
              <a:ext uri="{FF2B5EF4-FFF2-40B4-BE49-F238E27FC236}">
                <a16:creationId xmlns:a16="http://schemas.microsoft.com/office/drawing/2014/main" id="{3CB2F356-50EF-6AF5-9378-0E4FAC022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37899" name="Line 10">
            <a:extLst>
              <a:ext uri="{FF2B5EF4-FFF2-40B4-BE49-F238E27FC236}">
                <a16:creationId xmlns:a16="http://schemas.microsoft.com/office/drawing/2014/main" id="{C0CC0EE1-EB7B-AF78-4345-1958B9BB5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37900" name="Rectangle 11">
            <a:extLst>
              <a:ext uri="{FF2B5EF4-FFF2-40B4-BE49-F238E27FC236}">
                <a16:creationId xmlns:a16="http://schemas.microsoft.com/office/drawing/2014/main" id="{9855C66B-27A1-C514-5F9E-677A6C730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The throughput for slotted ALOHA is </a:t>
            </a:r>
            <a:br>
              <a:rPr lang="en-US" altLang="en-US" sz="3200" i="0" baseline="0">
                <a:latin typeface="Arial" panose="020B0604020202020204" pitchFamily="34" charset="0"/>
              </a:rPr>
            </a:br>
            <a:r>
              <a:rPr lang="en-US" altLang="en-US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S = G × e</a:t>
            </a:r>
            <a:r>
              <a:rPr lang="en-US" altLang="en-US" sz="3200" i="0" baseline="30000">
                <a:solidFill>
                  <a:schemeClr val="hlink"/>
                </a:solidFill>
                <a:latin typeface="Arial" panose="020B0604020202020204" pitchFamily="34" charset="0"/>
              </a:rPr>
              <a:t>−G</a:t>
            </a:r>
            <a:r>
              <a:rPr lang="en-US" altLang="en-US" sz="3200" i="0" baseline="0">
                <a:latin typeface="Arial" panose="020B0604020202020204" pitchFamily="34" charset="0"/>
              </a:rPr>
              <a:t> .</a:t>
            </a:r>
          </a:p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The maximum throughput </a:t>
            </a:r>
            <a:br>
              <a:rPr lang="en-US" altLang="en-US" sz="3200" i="0" baseline="0">
                <a:latin typeface="Arial" panose="020B0604020202020204" pitchFamily="34" charset="0"/>
              </a:rPr>
            </a:br>
            <a:r>
              <a:rPr lang="en-US" altLang="en-US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S</a:t>
            </a:r>
            <a:r>
              <a:rPr lang="en-US" altLang="en-US" sz="3200" i="0" baseline="-18000">
                <a:solidFill>
                  <a:schemeClr val="hlink"/>
                </a:solidFill>
                <a:latin typeface="Arial" panose="020B0604020202020204" pitchFamily="34" charset="0"/>
              </a:rPr>
              <a:t>max</a:t>
            </a:r>
            <a:r>
              <a:rPr lang="en-US" altLang="en-US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 = 0.368</a:t>
            </a:r>
            <a:r>
              <a:rPr lang="en-US" altLang="en-US" sz="3200" i="0" baseline="0">
                <a:latin typeface="Arial" panose="020B0604020202020204" pitchFamily="34" charset="0"/>
              </a:rPr>
              <a:t> when G = 1.</a:t>
            </a:r>
          </a:p>
        </p:txBody>
      </p:sp>
      <p:grpSp>
        <p:nvGrpSpPr>
          <p:cNvPr id="37901" name="Group 12">
            <a:extLst>
              <a:ext uri="{FF2B5EF4-FFF2-40B4-BE49-F238E27FC236}">
                <a16:creationId xmlns:a16="http://schemas.microsoft.com/office/drawing/2014/main" id="{901CCEAB-2288-7231-C428-A17AF3C0FFE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37902" name="Picture 13">
              <a:extLst>
                <a:ext uri="{FF2B5EF4-FFF2-40B4-BE49-F238E27FC236}">
                  <a16:creationId xmlns:a16="http://schemas.microsoft.com/office/drawing/2014/main" id="{D6C0FD9A-C07C-61D1-1CC7-B1D822A3A3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903" name="Text Box 14">
              <a:extLst>
                <a:ext uri="{FF2B5EF4-FFF2-40B4-BE49-F238E27FC236}">
                  <a16:creationId xmlns:a16="http://schemas.microsoft.com/office/drawing/2014/main" id="{331794BF-AC65-0272-7E6F-9C0C0DB78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1">
            <a:extLst>
              <a:ext uri="{FF2B5EF4-FFF2-40B4-BE49-F238E27FC236}">
                <a16:creationId xmlns:a16="http://schemas.microsoft.com/office/drawing/2014/main" id="{B12E489B-4226-7D93-E041-84CD22A793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F3A110ED-29DA-3848-9A1E-BDB33931F145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19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9939" name="Line 2">
            <a:extLst>
              <a:ext uri="{FF2B5EF4-FFF2-40B4-BE49-F238E27FC236}">
                <a16:creationId xmlns:a16="http://schemas.microsoft.com/office/drawing/2014/main" id="{FF760B1C-4B0E-AD09-704B-F068D12FD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39940" name="Line 3">
            <a:extLst>
              <a:ext uri="{FF2B5EF4-FFF2-40B4-BE49-F238E27FC236}">
                <a16:creationId xmlns:a16="http://schemas.microsoft.com/office/drawing/2014/main" id="{FE95017D-D886-0E13-38F5-DD6F0678A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39941" name="Text Box 4">
            <a:extLst>
              <a:ext uri="{FF2B5EF4-FFF2-40B4-BE49-F238E27FC236}">
                <a16:creationId xmlns:a16="http://schemas.microsoft.com/office/drawing/2014/main" id="{7F941600-5FA7-1457-4F70-1532263BC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46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12.7  </a:t>
            </a:r>
            <a:r>
              <a:rPr lang="en-US" altLang="en-US" sz="2000" baseline="0"/>
              <a:t>Vulnerable time for slotted ALOHA protocol</a:t>
            </a:r>
          </a:p>
        </p:txBody>
      </p:sp>
      <p:sp>
        <p:nvSpPr>
          <p:cNvPr id="39942" name="Line 5">
            <a:extLst>
              <a:ext uri="{FF2B5EF4-FFF2-40B4-BE49-F238E27FC236}">
                <a16:creationId xmlns:a16="http://schemas.microsoft.com/office/drawing/2014/main" id="{DAB048EE-0D9F-B9F1-7F8D-7E97B8D46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39943" name="Picture 7">
            <a:extLst>
              <a:ext uri="{FF2B5EF4-FFF2-40B4-BE49-F238E27FC236}">
                <a16:creationId xmlns:a16="http://schemas.microsoft.com/office/drawing/2014/main" id="{A5E0B666-E1B9-E1CF-D224-829D438CD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1430338"/>
            <a:ext cx="7632700" cy="436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1">
            <a:extLst>
              <a:ext uri="{FF2B5EF4-FFF2-40B4-BE49-F238E27FC236}">
                <a16:creationId xmlns:a16="http://schemas.microsoft.com/office/drawing/2014/main" id="{71B20933-9402-3FF5-B07C-CE959AAA6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3D377E-D352-C84A-B78B-985FA1B7CB37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20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BA23AFB-0135-8579-1226-C9A2FA2D166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EF510A9F-346E-C1C6-20CC-56FB243895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1989" name="Rectangle 4">
            <a:extLst>
              <a:ext uri="{FF2B5EF4-FFF2-40B4-BE49-F238E27FC236}">
                <a16:creationId xmlns:a16="http://schemas.microsoft.com/office/drawing/2014/main" id="{14A3FFFF-BACA-CC32-10A1-DF3CA3F716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1990" name="Rectangle 5">
            <a:extLst>
              <a:ext uri="{FF2B5EF4-FFF2-40B4-BE49-F238E27FC236}">
                <a16:creationId xmlns:a16="http://schemas.microsoft.com/office/drawing/2014/main" id="{AF61B379-1698-81ED-AFCB-9257CBD706D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1991" name="Rectangle 6">
            <a:extLst>
              <a:ext uri="{FF2B5EF4-FFF2-40B4-BE49-F238E27FC236}">
                <a16:creationId xmlns:a16="http://schemas.microsoft.com/office/drawing/2014/main" id="{B735E705-EE1B-F406-0E2C-86E65F4F7FC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1992" name="Rectangle 7">
            <a:extLst>
              <a:ext uri="{FF2B5EF4-FFF2-40B4-BE49-F238E27FC236}">
                <a16:creationId xmlns:a16="http://schemas.microsoft.com/office/drawing/2014/main" id="{0E2CA4B4-8B5F-0984-8B45-7B9D4A5EA91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1993" name="Rectangle 8">
            <a:extLst>
              <a:ext uri="{FF2B5EF4-FFF2-40B4-BE49-F238E27FC236}">
                <a16:creationId xmlns:a16="http://schemas.microsoft.com/office/drawing/2014/main" id="{CAC96DD8-B2A1-B3A5-CCE1-9D44EF1AF26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1994" name="Rectangle 9">
            <a:extLst>
              <a:ext uri="{FF2B5EF4-FFF2-40B4-BE49-F238E27FC236}">
                <a16:creationId xmlns:a16="http://schemas.microsoft.com/office/drawing/2014/main" id="{548760DC-A562-8A93-C89B-0E5AB718E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8200"/>
            <a:ext cx="8686800" cy="2227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/>
              <a:t>A slotted ALOHA  network transmits 200-bit frames on a shared channel of 200 kbps. What is the throughput if the system (all stations together) produces</a:t>
            </a:r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a.</a:t>
            </a:r>
            <a:r>
              <a:rPr lang="en-US" altLang="en-US" baseline="0"/>
              <a:t> 1000 frames per second    </a:t>
            </a:r>
            <a:r>
              <a:rPr lang="en-US" altLang="en-US" baseline="0">
                <a:solidFill>
                  <a:schemeClr val="hlink"/>
                </a:solidFill>
              </a:rPr>
              <a:t>b.</a:t>
            </a:r>
            <a:r>
              <a:rPr lang="en-US" altLang="en-US" baseline="0"/>
              <a:t> 500 frames per second</a:t>
            </a:r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c.</a:t>
            </a:r>
            <a:r>
              <a:rPr lang="en-US" altLang="en-US" baseline="0"/>
              <a:t> 250 frames per second.</a:t>
            </a:r>
          </a:p>
        </p:txBody>
      </p:sp>
      <p:sp>
        <p:nvSpPr>
          <p:cNvPr id="41995" name="Text Box 10">
            <a:extLst>
              <a:ext uri="{FF2B5EF4-FFF2-40B4-BE49-F238E27FC236}">
                <a16:creationId xmlns:a16="http://schemas.microsoft.com/office/drawing/2014/main" id="{A326A4B7-A331-6E32-B59E-0CAB54012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12.4</a:t>
            </a:r>
          </a:p>
        </p:txBody>
      </p:sp>
      <p:sp>
        <p:nvSpPr>
          <p:cNvPr id="41996" name="Rectangle 11">
            <a:extLst>
              <a:ext uri="{FF2B5EF4-FFF2-40B4-BE49-F238E27FC236}">
                <a16:creationId xmlns:a16="http://schemas.microsoft.com/office/drawing/2014/main" id="{0F12F620-7A96-74D0-78ED-B7CE5861B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00400"/>
            <a:ext cx="8686800" cy="308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en-US" baseline="0"/>
              <a:t>The frame transmission time is 200/200 kbps or 1 ms.</a:t>
            </a:r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a.</a:t>
            </a:r>
            <a:r>
              <a:rPr lang="en-US" altLang="en-US" baseline="0"/>
              <a:t> If the system creates 1000 frames per second, this is 1</a:t>
            </a:r>
            <a:br>
              <a:rPr lang="en-US" altLang="en-US" baseline="0"/>
            </a:br>
            <a:r>
              <a:rPr lang="en-US" altLang="en-US" baseline="0"/>
              <a:t>    frame per millisecond. </a:t>
            </a:r>
            <a:r>
              <a:rPr lang="en-US" altLang="en-US" baseline="0">
                <a:solidFill>
                  <a:srgbClr val="00CC00"/>
                </a:solidFill>
              </a:rPr>
              <a:t>The load is 1</a:t>
            </a:r>
            <a:r>
              <a:rPr lang="en-US" altLang="en-US" baseline="0"/>
              <a:t>. In this case </a:t>
            </a:r>
            <a:br>
              <a:rPr lang="en-US" altLang="en-US" baseline="0"/>
            </a:br>
            <a:r>
              <a:rPr lang="en-US" altLang="en-US" baseline="0"/>
              <a:t>    S = G× e</a:t>
            </a:r>
            <a:r>
              <a:rPr lang="en-US" altLang="en-US" baseline="30000"/>
              <a:t>−G</a:t>
            </a:r>
            <a:r>
              <a:rPr lang="en-US" altLang="en-US" baseline="0"/>
              <a:t> or S = 0.368 (36.8 percent). This means</a:t>
            </a:r>
            <a:br>
              <a:rPr lang="en-US" altLang="en-US" baseline="0"/>
            </a:br>
            <a:r>
              <a:rPr lang="en-US" altLang="en-US" baseline="0"/>
              <a:t>    that the throughput is 1000 × 0.0368 = 368 frames.</a:t>
            </a:r>
            <a:br>
              <a:rPr lang="en-US" altLang="en-US" baseline="0"/>
            </a:br>
            <a:r>
              <a:rPr lang="en-US" altLang="en-US" baseline="0"/>
              <a:t>    Only 386 frames out of 1000 will probably survive.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1">
            <a:extLst>
              <a:ext uri="{FF2B5EF4-FFF2-40B4-BE49-F238E27FC236}">
                <a16:creationId xmlns:a16="http://schemas.microsoft.com/office/drawing/2014/main" id="{787B65A9-A37A-1B18-3E6B-E0E806A07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F32C4D30-4A37-C24B-B9A9-AAE2DDF0FAC0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21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EE5FC550-4847-2B01-8623-8828DAEC266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F3CA8F5-7205-46FA-59DE-FED28BF7CD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4037" name="Rectangle 4">
            <a:extLst>
              <a:ext uri="{FF2B5EF4-FFF2-40B4-BE49-F238E27FC236}">
                <a16:creationId xmlns:a16="http://schemas.microsoft.com/office/drawing/2014/main" id="{19BAB45D-699C-6BD8-4ADD-51AA2F43BE9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4038" name="Rectangle 5">
            <a:extLst>
              <a:ext uri="{FF2B5EF4-FFF2-40B4-BE49-F238E27FC236}">
                <a16:creationId xmlns:a16="http://schemas.microsoft.com/office/drawing/2014/main" id="{77F1BAED-5515-2967-B152-E4574F52C2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id="{C3BF932C-01E9-F96E-BC71-48220A1641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id="{24383152-C4BE-E760-0D67-F6656D7EBC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4041" name="Rectangle 8">
            <a:extLst>
              <a:ext uri="{FF2B5EF4-FFF2-40B4-BE49-F238E27FC236}">
                <a16:creationId xmlns:a16="http://schemas.microsoft.com/office/drawing/2014/main" id="{9A6AC72C-5797-6518-D4F0-1055859B80B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44042" name="Text Box 9">
            <a:extLst>
              <a:ext uri="{FF2B5EF4-FFF2-40B4-BE49-F238E27FC236}">
                <a16:creationId xmlns:a16="http://schemas.microsoft.com/office/drawing/2014/main" id="{B96D1AF3-D06B-BCEE-F377-DEE7911BC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4529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12.4 (continued)</a:t>
            </a:r>
          </a:p>
        </p:txBody>
      </p:sp>
      <p:sp>
        <p:nvSpPr>
          <p:cNvPr id="44043" name="Rectangle 10">
            <a:extLst>
              <a:ext uri="{FF2B5EF4-FFF2-40B4-BE49-F238E27FC236}">
                <a16:creationId xmlns:a16="http://schemas.microsoft.com/office/drawing/2014/main" id="{4A01966E-1FE8-DF15-0106-029AB7BCD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8200"/>
            <a:ext cx="8686800" cy="47894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b.</a:t>
            </a:r>
            <a:r>
              <a:rPr lang="en-US" altLang="en-US" baseline="0"/>
              <a:t> If the system creates 500 frames per second, this is</a:t>
            </a:r>
            <a:br>
              <a:rPr lang="en-US" altLang="en-US" baseline="0"/>
            </a:br>
            <a:r>
              <a:rPr lang="en-US" altLang="en-US" baseline="0"/>
              <a:t>    (1/2) frame per millisecond. The load is (1/2). In this</a:t>
            </a:r>
            <a:br>
              <a:rPr lang="en-US" altLang="en-US" baseline="0"/>
            </a:br>
            <a:r>
              <a:rPr lang="en-US" altLang="en-US" baseline="0"/>
              <a:t>    case S = G × e</a:t>
            </a:r>
            <a:r>
              <a:rPr lang="en-US" altLang="en-US" baseline="30000"/>
              <a:t>−G</a:t>
            </a:r>
            <a:r>
              <a:rPr lang="en-US" altLang="en-US" baseline="0"/>
              <a:t> or S = 0.303 (30.3 percent). This</a:t>
            </a:r>
            <a:br>
              <a:rPr lang="en-US" altLang="en-US" baseline="0"/>
            </a:br>
            <a:r>
              <a:rPr lang="en-US" altLang="en-US" baseline="0"/>
              <a:t>    means that the throughput is 500 × 0.0303 = 151. </a:t>
            </a:r>
            <a:br>
              <a:rPr lang="en-US" altLang="en-US" baseline="0"/>
            </a:br>
            <a:r>
              <a:rPr lang="en-US" altLang="en-US" baseline="0"/>
              <a:t>    Only 151 frames out of 500 will probably survive.</a:t>
            </a:r>
          </a:p>
          <a:p>
            <a:pPr algn="just"/>
            <a:endParaRPr lang="en-US" altLang="en-US" baseline="0"/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c.</a:t>
            </a:r>
            <a:r>
              <a:rPr lang="en-US" altLang="en-US" baseline="0"/>
              <a:t> If the system creates 250 frames per second, this is (1/4)</a:t>
            </a:r>
            <a:br>
              <a:rPr lang="en-US" altLang="en-US" baseline="0"/>
            </a:br>
            <a:r>
              <a:rPr lang="en-US" altLang="en-US" baseline="0"/>
              <a:t>    frame per millisecond. The load is (1/4). In this case </a:t>
            </a:r>
            <a:br>
              <a:rPr lang="en-US" altLang="en-US" baseline="0"/>
            </a:br>
            <a:r>
              <a:rPr lang="en-US" altLang="en-US" baseline="0"/>
              <a:t>    S = G × e </a:t>
            </a:r>
            <a:r>
              <a:rPr lang="en-US" altLang="en-US" baseline="30000"/>
              <a:t>−G</a:t>
            </a:r>
            <a:r>
              <a:rPr lang="en-US" altLang="en-US" baseline="0"/>
              <a:t> or S = 0.195 (19.5 percent). This means</a:t>
            </a:r>
            <a:br>
              <a:rPr lang="en-US" altLang="en-US" baseline="0"/>
            </a:br>
            <a:r>
              <a:rPr lang="en-US" altLang="en-US" baseline="0"/>
              <a:t>    that the throughput is 250 × 0.195 = 49. Only 49</a:t>
            </a:r>
            <a:br>
              <a:rPr lang="en-US" altLang="en-US" baseline="0"/>
            </a:br>
            <a:r>
              <a:rPr lang="en-US" altLang="en-US" baseline="0"/>
              <a:t>    frames out of 250 will probably survive.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1">
            <a:extLst>
              <a:ext uri="{FF2B5EF4-FFF2-40B4-BE49-F238E27FC236}">
                <a16:creationId xmlns:a16="http://schemas.microsoft.com/office/drawing/2014/main" id="{5C64F2AD-9DC3-1CB8-130B-36EA6804A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4E51329C-DB9E-1045-9866-27C507B09E5F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22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46443-F953-7F38-39E8-4ABEB2133979}"/>
              </a:ext>
            </a:extLst>
          </p:cNvPr>
          <p:cNvSpPr txBox="1"/>
          <p:nvPr/>
        </p:nvSpPr>
        <p:spPr>
          <a:xfrm>
            <a:off x="647700" y="838200"/>
            <a:ext cx="7848600" cy="421653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600" i="0" baseline="0" dirty="0"/>
              <a:t>Carrier Sense Multiple Access (CSMA)</a:t>
            </a:r>
          </a:p>
          <a:p>
            <a:pPr>
              <a:defRPr/>
            </a:pPr>
            <a:endParaRPr lang="en-US" sz="3600" b="0" i="0" baseline="0" dirty="0"/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b="0" i="0" baseline="0" dirty="0"/>
              <a:t>The chance of collision can be reduced if a station </a:t>
            </a:r>
            <a:r>
              <a:rPr lang="en-US" b="0" i="0" baseline="0" dirty="0">
                <a:highlight>
                  <a:srgbClr val="CCFF99"/>
                </a:highlight>
              </a:rPr>
              <a:t>senses the medium </a:t>
            </a:r>
            <a:r>
              <a:rPr lang="en-US" b="0" i="0" baseline="0" dirty="0"/>
              <a:t>before trying to use it. 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b="0" i="0" baseline="0" dirty="0"/>
              <a:t>Carrier sense multiple access (CSMA) requires that each station first listen to the medium (or check the state of the medium) before sending. 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b="0" i="0" baseline="0" dirty="0"/>
              <a:t>In other words, CSMA is based on the principle "</a:t>
            </a:r>
            <a:r>
              <a:rPr lang="en-US" b="0" i="0" baseline="0" dirty="0">
                <a:highlight>
                  <a:srgbClr val="CCFF99"/>
                </a:highlight>
              </a:rPr>
              <a:t>sense before transmit</a:t>
            </a:r>
            <a:r>
              <a:rPr lang="en-US" b="0" i="0" baseline="0" dirty="0"/>
              <a:t>" or "listen before talk."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1">
            <a:extLst>
              <a:ext uri="{FF2B5EF4-FFF2-40B4-BE49-F238E27FC236}">
                <a16:creationId xmlns:a16="http://schemas.microsoft.com/office/drawing/2014/main" id="{C34795DB-B972-75D1-54F1-ADC2B0D07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60CE82BA-98BD-7848-ABFD-DC8CA1EB9CF8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23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37D2EA-D73B-7F67-EB74-BEB77B9A4492}"/>
              </a:ext>
            </a:extLst>
          </p:cNvPr>
          <p:cNvSpPr txBox="1"/>
          <p:nvPr/>
        </p:nvSpPr>
        <p:spPr>
          <a:xfrm>
            <a:off x="647700" y="407483"/>
            <a:ext cx="7848600" cy="339580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600" i="0" baseline="0" dirty="0"/>
              <a:t>Carrier Sense Multiple Access (CSMA)</a:t>
            </a:r>
          </a:p>
          <a:p>
            <a:pPr marL="571500" indent="-571500">
              <a:buFont typeface="Wingdings" panose="05000000000000000000" pitchFamily="2" charset="2"/>
              <a:buChar char="q"/>
              <a:defRPr/>
            </a:pPr>
            <a:r>
              <a:rPr lang="en-US" sz="3600" b="0" i="0" baseline="0" dirty="0"/>
              <a:t>Sensing the Carrier: 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3200" b="0" i="0" dirty="0"/>
              <a:t>Each station can </a:t>
            </a:r>
            <a:r>
              <a:rPr lang="en-US" sz="3200" b="0" i="0" dirty="0">
                <a:highlight>
                  <a:srgbClr val="CCFF99"/>
                </a:highlight>
              </a:rPr>
              <a:t>sense the carrier </a:t>
            </a:r>
            <a:r>
              <a:rPr lang="en-US" sz="3200" b="0" i="0" dirty="0"/>
              <a:t>only at its </a:t>
            </a:r>
            <a:r>
              <a:rPr lang="en-US" sz="3200" b="0" i="0" dirty="0">
                <a:highlight>
                  <a:srgbClr val="CCFF99"/>
                </a:highlight>
              </a:rPr>
              <a:t>point of contact </a:t>
            </a:r>
            <a:r>
              <a:rPr lang="en-US" sz="3200" b="0" i="0" dirty="0"/>
              <a:t>with the carrier.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3200" b="0" i="0" dirty="0"/>
              <a:t>It is </a:t>
            </a:r>
            <a:r>
              <a:rPr lang="en-US" sz="3200" b="0" i="0" dirty="0">
                <a:solidFill>
                  <a:srgbClr val="FF0000"/>
                </a:solidFill>
              </a:rPr>
              <a:t>not possible </a:t>
            </a:r>
            <a:r>
              <a:rPr lang="en-US" sz="3200" b="0" i="0" dirty="0"/>
              <a:t>for any station to sense </a:t>
            </a:r>
            <a:r>
              <a:rPr lang="en-US" sz="3200" b="0" i="0" dirty="0">
                <a:solidFill>
                  <a:srgbClr val="FF0000"/>
                </a:solidFill>
              </a:rPr>
              <a:t>the entire carrier.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3200" b="0" i="0" dirty="0"/>
              <a:t>Thus, there is a huge possibility that a station might sense the carrier free even when it is actually not.</a:t>
            </a:r>
          </a:p>
          <a:p>
            <a:pPr marL="1028700" lvl="1" indent="-571500">
              <a:buFont typeface="Wingdings" panose="05000000000000000000" pitchFamily="2" charset="2"/>
              <a:buChar char="§"/>
              <a:defRPr/>
            </a:pPr>
            <a:endParaRPr lang="en-US" sz="3600" b="0" i="0" baseline="0" dirty="0"/>
          </a:p>
        </p:txBody>
      </p:sp>
      <p:pic>
        <p:nvPicPr>
          <p:cNvPr id="48132" name="Picture 6">
            <a:extLst>
              <a:ext uri="{FF2B5EF4-FFF2-40B4-BE49-F238E27FC236}">
                <a16:creationId xmlns:a16="http://schemas.microsoft.com/office/drawing/2014/main" id="{CB73F2C5-F90E-110B-493A-7A695A60D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113" y="3352800"/>
            <a:ext cx="4803775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TextBox 2">
            <a:extLst>
              <a:ext uri="{FF2B5EF4-FFF2-40B4-BE49-F238E27FC236}">
                <a16:creationId xmlns:a16="http://schemas.microsoft.com/office/drawing/2014/main" id="{C04F92F1-83A0-E621-7256-F56143B2E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5707063"/>
            <a:ext cx="7848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b="0" i="0" baseline="0"/>
              <a:t>CSMA can reduce the possibility of collision, but it cannot eliminate it.</a:t>
            </a:r>
          </a:p>
          <a:p>
            <a:r>
              <a:rPr lang="en-US" altLang="en-US" sz="2000" b="0" i="0" baseline="0"/>
              <a:t>The possibility of collision still exists because of propagation delay.</a:t>
            </a:r>
            <a:endParaRPr lang="en-US" alt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1">
            <a:extLst>
              <a:ext uri="{FF2B5EF4-FFF2-40B4-BE49-F238E27FC236}">
                <a16:creationId xmlns:a16="http://schemas.microsoft.com/office/drawing/2014/main" id="{592F5F05-2398-6F14-4A06-4566C5A302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D16EFE41-5B06-9A42-BA87-811EB2AEE709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24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0179" name="Line 2">
            <a:extLst>
              <a:ext uri="{FF2B5EF4-FFF2-40B4-BE49-F238E27FC236}">
                <a16:creationId xmlns:a16="http://schemas.microsoft.com/office/drawing/2014/main" id="{BCAE10B0-3E1A-1109-D504-0AF66D4488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50180" name="Line 3">
            <a:extLst>
              <a:ext uri="{FF2B5EF4-FFF2-40B4-BE49-F238E27FC236}">
                <a16:creationId xmlns:a16="http://schemas.microsoft.com/office/drawing/2014/main" id="{657D128E-DD50-DB95-030D-A0DCFB7D9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50181" name="Text Box 4">
            <a:extLst>
              <a:ext uri="{FF2B5EF4-FFF2-40B4-BE49-F238E27FC236}">
                <a16:creationId xmlns:a16="http://schemas.microsoft.com/office/drawing/2014/main" id="{13E2F9B2-9D63-B06D-C635-2715EA9A1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300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12.8  </a:t>
            </a:r>
            <a:r>
              <a:rPr lang="en-US" altLang="en-US" sz="2000" baseline="0"/>
              <a:t>Space/time model of the collision in CSMA</a:t>
            </a:r>
          </a:p>
        </p:txBody>
      </p:sp>
      <p:sp>
        <p:nvSpPr>
          <p:cNvPr id="50182" name="Line 5">
            <a:extLst>
              <a:ext uri="{FF2B5EF4-FFF2-40B4-BE49-F238E27FC236}">
                <a16:creationId xmlns:a16="http://schemas.microsoft.com/office/drawing/2014/main" id="{F51899F3-E962-B72A-9765-DEE7DEC3B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50183" name="Picture 7">
            <a:extLst>
              <a:ext uri="{FF2B5EF4-FFF2-40B4-BE49-F238E27FC236}">
                <a16:creationId xmlns:a16="http://schemas.microsoft.com/office/drawing/2014/main" id="{C6357646-B35A-E745-90D5-240DADA77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6800"/>
            <a:ext cx="7880350" cy="507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1">
            <a:extLst>
              <a:ext uri="{FF2B5EF4-FFF2-40B4-BE49-F238E27FC236}">
                <a16:creationId xmlns:a16="http://schemas.microsoft.com/office/drawing/2014/main" id="{A6DE0BC4-B451-0E3D-FA5E-7157E721C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A7392D70-FB5B-E241-ADD7-F20ECAD53413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25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2227" name="Line 2">
            <a:extLst>
              <a:ext uri="{FF2B5EF4-FFF2-40B4-BE49-F238E27FC236}">
                <a16:creationId xmlns:a16="http://schemas.microsoft.com/office/drawing/2014/main" id="{CA90876D-1217-385F-04C2-6A2653272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52228" name="Line 3">
            <a:extLst>
              <a:ext uri="{FF2B5EF4-FFF2-40B4-BE49-F238E27FC236}">
                <a16:creationId xmlns:a16="http://schemas.microsoft.com/office/drawing/2014/main" id="{54A4CA7B-3CFE-6880-6B54-D10A91146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52229" name="Text Box 4">
            <a:extLst>
              <a:ext uri="{FF2B5EF4-FFF2-40B4-BE49-F238E27FC236}">
                <a16:creationId xmlns:a16="http://schemas.microsoft.com/office/drawing/2014/main" id="{0A51D656-2227-71B3-3003-967E461EE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535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12.9  </a:t>
            </a:r>
            <a:r>
              <a:rPr lang="en-US" altLang="en-US" sz="2000" baseline="0"/>
              <a:t>Vulnerable time in CSMA</a:t>
            </a:r>
          </a:p>
        </p:txBody>
      </p:sp>
      <p:sp>
        <p:nvSpPr>
          <p:cNvPr id="52230" name="Line 5">
            <a:extLst>
              <a:ext uri="{FF2B5EF4-FFF2-40B4-BE49-F238E27FC236}">
                <a16:creationId xmlns:a16="http://schemas.microsoft.com/office/drawing/2014/main" id="{98B98CA3-EBE3-3C34-8D4A-EF258F1507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52231" name="Picture 7">
            <a:extLst>
              <a:ext uri="{FF2B5EF4-FFF2-40B4-BE49-F238E27FC236}">
                <a16:creationId xmlns:a16="http://schemas.microsoft.com/office/drawing/2014/main" id="{69CE4C7E-9379-F99D-1865-E60E42CCE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00175"/>
            <a:ext cx="8153400" cy="304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232" name="TextBox 2">
            <a:extLst>
              <a:ext uri="{FF2B5EF4-FFF2-40B4-BE49-F238E27FC236}">
                <a16:creationId xmlns:a16="http://schemas.microsoft.com/office/drawing/2014/main" id="{97079CFF-594B-38FE-C0CE-8214CEB12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5257800"/>
            <a:ext cx="6324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b="0" i="0" baseline="0"/>
              <a:t>The gray area shows the vulnerable area in time and space.</a:t>
            </a:r>
            <a:endParaRPr lang="en-US" altLang="en-US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1">
            <a:extLst>
              <a:ext uri="{FF2B5EF4-FFF2-40B4-BE49-F238E27FC236}">
                <a16:creationId xmlns:a16="http://schemas.microsoft.com/office/drawing/2014/main" id="{51BF030E-5E22-CACF-2EB7-DF422BCE5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12188813-EADE-834C-B2EA-24FFFD493AD3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26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4275" name="Line 2">
            <a:extLst>
              <a:ext uri="{FF2B5EF4-FFF2-40B4-BE49-F238E27FC236}">
                <a16:creationId xmlns:a16="http://schemas.microsoft.com/office/drawing/2014/main" id="{48085C53-8CBA-16F1-005D-A14667BD6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54276" name="Line 3">
            <a:extLst>
              <a:ext uri="{FF2B5EF4-FFF2-40B4-BE49-F238E27FC236}">
                <a16:creationId xmlns:a16="http://schemas.microsoft.com/office/drawing/2014/main" id="{0FF4B86D-C01B-9A77-CC8E-A1507ABEE9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54277" name="Text Box 4">
            <a:extLst>
              <a:ext uri="{FF2B5EF4-FFF2-40B4-BE49-F238E27FC236}">
                <a16:creationId xmlns:a16="http://schemas.microsoft.com/office/drawing/2014/main" id="{68CA28E8-8690-8280-512F-7705709C3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594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12.10  </a:t>
            </a:r>
            <a:r>
              <a:rPr lang="en-US" altLang="en-US" sz="2000" baseline="0"/>
              <a:t>Behavior of three persistence methods</a:t>
            </a:r>
          </a:p>
        </p:txBody>
      </p:sp>
      <p:sp>
        <p:nvSpPr>
          <p:cNvPr id="54278" name="Line 5">
            <a:extLst>
              <a:ext uri="{FF2B5EF4-FFF2-40B4-BE49-F238E27FC236}">
                <a16:creationId xmlns:a16="http://schemas.microsoft.com/office/drawing/2014/main" id="{E3EE8F45-F206-EFBA-9361-D2F5B628A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54279" name="Picture 7">
            <a:extLst>
              <a:ext uri="{FF2B5EF4-FFF2-40B4-BE49-F238E27FC236}">
                <a16:creationId xmlns:a16="http://schemas.microsoft.com/office/drawing/2014/main" id="{97198575-BD82-FA4E-5259-28446E441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671"/>
          <a:stretch>
            <a:fillRect/>
          </a:stretch>
        </p:blipFill>
        <p:spPr bwMode="auto">
          <a:xfrm>
            <a:off x="1657350" y="914400"/>
            <a:ext cx="5100638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280" name="TextBox 2">
            <a:extLst>
              <a:ext uri="{FF2B5EF4-FFF2-40B4-BE49-F238E27FC236}">
                <a16:creationId xmlns:a16="http://schemas.microsoft.com/office/drawing/2014/main" id="{470DF33F-02E9-2231-9E18-BA991F05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195638"/>
            <a:ext cx="7467600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GB" altLang="en-US" i="0"/>
              <a:t>1-Persistent: </a:t>
            </a:r>
            <a:r>
              <a:rPr lang="en-GB" altLang="en-US" b="0" i="0"/>
              <a:t>The 1-persistent method is simple and straightforward. In this method, after the station finds the line idle, it sends its frame immediately </a:t>
            </a:r>
            <a:r>
              <a:rPr lang="en-GB" altLang="en-US" i="0">
                <a:solidFill>
                  <a:srgbClr val="FF0000"/>
                </a:solidFill>
              </a:rPr>
              <a:t>(with probability 1). </a:t>
            </a:r>
            <a:r>
              <a:rPr lang="en-GB" altLang="en-US" b="0" i="0"/>
              <a:t>This method has the </a:t>
            </a:r>
            <a:r>
              <a:rPr lang="en-GB" altLang="en-US" i="0"/>
              <a:t>highest chance of collision </a:t>
            </a:r>
            <a:r>
              <a:rPr lang="en-GB" altLang="en-US" b="0" i="0"/>
              <a:t>because two or more stations may find the line idle and send their frames immediately. Ethernet uses this method.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1">
            <a:extLst>
              <a:ext uri="{FF2B5EF4-FFF2-40B4-BE49-F238E27FC236}">
                <a16:creationId xmlns:a16="http://schemas.microsoft.com/office/drawing/2014/main" id="{6EFDAEBE-B4F0-E463-F292-9FD2190C5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BB8C7AF0-B825-384D-9CDC-CEDC8229692F}" type="slidenum">
              <a:rPr lang="en-US" altLang="en-US" sz="18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27</a:t>
            </a:fld>
            <a:endParaRPr lang="en-US" altLang="en-US" sz="18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6323" name="Line 2">
            <a:extLst>
              <a:ext uri="{FF2B5EF4-FFF2-40B4-BE49-F238E27FC236}">
                <a16:creationId xmlns:a16="http://schemas.microsoft.com/office/drawing/2014/main" id="{8CC3EEC2-7638-FD68-8767-17B429454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56324" name="Line 3">
            <a:extLst>
              <a:ext uri="{FF2B5EF4-FFF2-40B4-BE49-F238E27FC236}">
                <a16:creationId xmlns:a16="http://schemas.microsoft.com/office/drawing/2014/main" id="{07CDA09F-4F1E-E9E0-CA84-33A7DA2EB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56325" name="Text Box 4">
            <a:extLst>
              <a:ext uri="{FF2B5EF4-FFF2-40B4-BE49-F238E27FC236}">
                <a16:creationId xmlns:a16="http://schemas.microsoft.com/office/drawing/2014/main" id="{17A008A8-D1B8-2FB9-0A49-371E80B6E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594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12.10  </a:t>
            </a:r>
            <a:r>
              <a:rPr lang="en-US" altLang="en-US" sz="2000" baseline="0"/>
              <a:t>Behavior of three persistence methods</a:t>
            </a:r>
          </a:p>
        </p:txBody>
      </p:sp>
      <p:sp>
        <p:nvSpPr>
          <p:cNvPr id="56326" name="Line 5">
            <a:extLst>
              <a:ext uri="{FF2B5EF4-FFF2-40B4-BE49-F238E27FC236}">
                <a16:creationId xmlns:a16="http://schemas.microsoft.com/office/drawing/2014/main" id="{CB11D5B5-87BB-C7DA-A851-4A0E73FD5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56327" name="Picture 7">
            <a:extLst>
              <a:ext uri="{FF2B5EF4-FFF2-40B4-BE49-F238E27FC236}">
                <a16:creationId xmlns:a16="http://schemas.microsoft.com/office/drawing/2014/main" id="{90409680-C2B9-C508-6D7E-27489A4FD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2" t="30882" r="372" b="32532"/>
          <a:stretch>
            <a:fillRect/>
          </a:stretch>
        </p:blipFill>
        <p:spPr bwMode="auto">
          <a:xfrm>
            <a:off x="2020888" y="947738"/>
            <a:ext cx="5102225" cy="198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328" name="TextBox 2">
            <a:extLst>
              <a:ext uri="{FF2B5EF4-FFF2-40B4-BE49-F238E27FC236}">
                <a16:creationId xmlns:a16="http://schemas.microsoft.com/office/drawing/2014/main" id="{58F83127-F94B-7BFE-7A6F-6C3308841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971800"/>
            <a:ext cx="7453313" cy="296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GB" altLang="en-US" i="0"/>
              <a:t>Nonpersistent:</a:t>
            </a:r>
            <a:r>
              <a:rPr lang="en-GB" altLang="en-US" b="0" i="0"/>
              <a:t> In the nonpersistent method, a station that has a frame to send senses the line.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GB" altLang="en-US" b="0" i="0"/>
              <a:t>If the line is idle, it sends immediately.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GB" altLang="en-US" b="0" i="0"/>
              <a:t>If the line is not idle, it waits a  </a:t>
            </a:r>
            <a:r>
              <a:rPr lang="en-GB" altLang="en-US" i="0"/>
              <a:t>random amount of time </a:t>
            </a:r>
            <a:r>
              <a:rPr lang="en-GB" altLang="en-US" b="0" i="0"/>
              <a:t>and then senses the line again. </a:t>
            </a:r>
          </a:p>
          <a:p>
            <a:pPr algn="just"/>
            <a:r>
              <a:rPr lang="en-GB" altLang="en-US" b="0" i="0"/>
              <a:t>The nonpersistent approach reduces the chance of collision because it is </a:t>
            </a:r>
            <a:r>
              <a:rPr lang="en-GB" altLang="en-US" i="0"/>
              <a:t>unlikely</a:t>
            </a:r>
            <a:r>
              <a:rPr lang="en-GB" altLang="en-US" b="0" i="0"/>
              <a:t> that two or more stations </a:t>
            </a:r>
            <a:r>
              <a:rPr lang="en-GB" altLang="en-US" i="0"/>
              <a:t>will wait the same amount </a:t>
            </a:r>
            <a:r>
              <a:rPr lang="en-GB" altLang="en-US" b="0" i="0"/>
              <a:t>of time and retry to send simultaneously. </a:t>
            </a:r>
          </a:p>
          <a:p>
            <a:pPr algn="just"/>
            <a:r>
              <a:rPr lang="en-GB" altLang="en-US" b="0" i="0"/>
              <a:t>However, this method reduces the efficiency of the network because the medium remains idle when there may be stations with frames to send.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1">
            <a:extLst>
              <a:ext uri="{FF2B5EF4-FFF2-40B4-BE49-F238E27FC236}">
                <a16:creationId xmlns:a16="http://schemas.microsoft.com/office/drawing/2014/main" id="{BD34F9BA-629D-A6CA-548D-4D0DA8BC2A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B48AF17A-8D8A-0746-B774-ED10576D0DFB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28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8371" name="Line 2">
            <a:extLst>
              <a:ext uri="{FF2B5EF4-FFF2-40B4-BE49-F238E27FC236}">
                <a16:creationId xmlns:a16="http://schemas.microsoft.com/office/drawing/2014/main" id="{8BE76C01-4B17-F45E-F847-9CFC4D779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58372" name="Line 3">
            <a:extLst>
              <a:ext uri="{FF2B5EF4-FFF2-40B4-BE49-F238E27FC236}">
                <a16:creationId xmlns:a16="http://schemas.microsoft.com/office/drawing/2014/main" id="{49C88464-68F7-6A44-AC04-08ACF48C1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58373" name="Text Box 4">
            <a:extLst>
              <a:ext uri="{FF2B5EF4-FFF2-40B4-BE49-F238E27FC236}">
                <a16:creationId xmlns:a16="http://schemas.microsoft.com/office/drawing/2014/main" id="{69785B4F-6E28-88A7-3193-EA2AC1357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594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12.10  </a:t>
            </a:r>
            <a:r>
              <a:rPr lang="en-US" altLang="en-US" sz="2000" baseline="0"/>
              <a:t>Behavior of three persistence methods</a:t>
            </a:r>
          </a:p>
        </p:txBody>
      </p:sp>
      <p:sp>
        <p:nvSpPr>
          <p:cNvPr id="58374" name="Line 5">
            <a:extLst>
              <a:ext uri="{FF2B5EF4-FFF2-40B4-BE49-F238E27FC236}">
                <a16:creationId xmlns:a16="http://schemas.microsoft.com/office/drawing/2014/main" id="{0876BC4E-6C63-4E20-A3D3-D94E4F0DC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58375" name="Picture 7">
            <a:extLst>
              <a:ext uri="{FF2B5EF4-FFF2-40B4-BE49-F238E27FC236}">
                <a16:creationId xmlns:a16="http://schemas.microsoft.com/office/drawing/2014/main" id="{16809938-94FB-D0AA-5798-91F12AA1C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61"/>
          <a:stretch>
            <a:fillRect/>
          </a:stretch>
        </p:blipFill>
        <p:spPr bwMode="auto">
          <a:xfrm>
            <a:off x="2133600" y="854075"/>
            <a:ext cx="4608513" cy="166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376" name="TextBox 2">
            <a:extLst>
              <a:ext uri="{FF2B5EF4-FFF2-40B4-BE49-F238E27FC236}">
                <a16:creationId xmlns:a16="http://schemas.microsoft.com/office/drawing/2014/main" id="{1C0E915E-28A3-7A83-60D4-419700F22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2571750"/>
            <a:ext cx="7753350" cy="325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71550" indent="-5143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GB" altLang="en-US" i="0"/>
              <a:t>p-Persistent: </a:t>
            </a:r>
            <a:r>
              <a:rPr lang="en-GB" altLang="en-US" b="0" i="0"/>
              <a:t>The </a:t>
            </a:r>
            <a:r>
              <a:rPr lang="en-GB" altLang="en-US" i="0"/>
              <a:t>p-persistent</a:t>
            </a:r>
            <a:r>
              <a:rPr lang="en-GB" altLang="en-US" b="0" i="0"/>
              <a:t> method is used if the channel has </a:t>
            </a:r>
            <a:r>
              <a:rPr lang="en-GB" altLang="en-US" i="0">
                <a:solidFill>
                  <a:srgbClr val="FF0000"/>
                </a:solidFill>
              </a:rPr>
              <a:t>time slots </a:t>
            </a:r>
            <a:r>
              <a:rPr lang="en-GB" altLang="en-US" b="0" i="0"/>
              <a:t>with a slot duration equal to or greater than the maximum propagation time. The p-persistent approach combines the advantages of the other two strategies. </a:t>
            </a:r>
          </a:p>
          <a:p>
            <a:pPr algn="just"/>
            <a:r>
              <a:rPr lang="en-GB" altLang="en-US" b="0" i="0"/>
              <a:t>It reduces the chance of collision and improves efficiency. In this method, after the station finds the line idle it follows these steps: </a:t>
            </a:r>
          </a:p>
          <a:p>
            <a:pPr lvl="1" algn="just">
              <a:buFontTx/>
              <a:buAutoNum type="arabicPeriod"/>
            </a:pPr>
            <a:r>
              <a:rPr lang="en-GB" altLang="en-US" b="0" i="0"/>
              <a:t>With probability p, the station sends its frame. </a:t>
            </a:r>
          </a:p>
          <a:p>
            <a:pPr lvl="1" algn="just">
              <a:buFontTx/>
              <a:buAutoNum type="arabicPeriod"/>
            </a:pPr>
            <a:r>
              <a:rPr lang="en-GB" altLang="en-US" b="0" i="0"/>
              <a:t>With probability q = 1 - p, the station waits for the beginning of the next time slot and checks the line again.</a:t>
            </a:r>
          </a:p>
          <a:p>
            <a:pPr lvl="3" algn="just"/>
            <a:r>
              <a:rPr lang="en-GB" altLang="en-US" b="0" i="0"/>
              <a:t> a. If the line is idle, it goes to step 1. </a:t>
            </a:r>
          </a:p>
          <a:p>
            <a:pPr lvl="3" algn="just"/>
            <a:r>
              <a:rPr lang="en-GB" altLang="en-US" b="0" i="0"/>
              <a:t> b. If the line is busy, it acts as though a collision has occurred and uses the backoff procedure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1">
            <a:extLst>
              <a:ext uri="{FF2B5EF4-FFF2-40B4-BE49-F238E27FC236}">
                <a16:creationId xmlns:a16="http://schemas.microsoft.com/office/drawing/2014/main" id="{117371C5-829D-5BF5-82D7-386E4C456D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29908D3A-7425-6246-8972-85D6332AE632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29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0419" name="Line 2">
            <a:extLst>
              <a:ext uri="{FF2B5EF4-FFF2-40B4-BE49-F238E27FC236}">
                <a16:creationId xmlns:a16="http://schemas.microsoft.com/office/drawing/2014/main" id="{35A33058-5118-B2CE-EBD4-6424FBF04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60420" name="Line 3">
            <a:extLst>
              <a:ext uri="{FF2B5EF4-FFF2-40B4-BE49-F238E27FC236}">
                <a16:creationId xmlns:a16="http://schemas.microsoft.com/office/drawing/2014/main" id="{6D06AD6E-38A8-F255-55DA-CFE071253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60421" name="Text Box 4">
            <a:extLst>
              <a:ext uri="{FF2B5EF4-FFF2-40B4-BE49-F238E27FC236}">
                <a16:creationId xmlns:a16="http://schemas.microsoft.com/office/drawing/2014/main" id="{4757D34C-B825-8050-2363-8CC89BB9C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55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12.11  </a:t>
            </a:r>
            <a:r>
              <a:rPr lang="en-US" altLang="en-US" sz="2000" baseline="0"/>
              <a:t>Flow diagram for three persistence methods</a:t>
            </a:r>
          </a:p>
        </p:txBody>
      </p:sp>
      <p:sp>
        <p:nvSpPr>
          <p:cNvPr id="60422" name="Line 5">
            <a:extLst>
              <a:ext uri="{FF2B5EF4-FFF2-40B4-BE49-F238E27FC236}">
                <a16:creationId xmlns:a16="http://schemas.microsoft.com/office/drawing/2014/main" id="{467F130C-674C-0ECE-E7D1-3C357EDF80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60423" name="Picture 7">
            <a:extLst>
              <a:ext uri="{FF2B5EF4-FFF2-40B4-BE49-F238E27FC236}">
                <a16:creationId xmlns:a16="http://schemas.microsoft.com/office/drawing/2014/main" id="{76D91DD4-F229-521C-DEC2-4AE7C0503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1173163"/>
            <a:ext cx="5064125" cy="492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1">
            <a:extLst>
              <a:ext uri="{FF2B5EF4-FFF2-40B4-BE49-F238E27FC236}">
                <a16:creationId xmlns:a16="http://schemas.microsoft.com/office/drawing/2014/main" id="{258888C9-D90F-C061-9749-4E2B8D6FE3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7749AC1E-00D6-BC43-A629-1F565EBF1698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30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2467" name="Line 2">
            <a:extLst>
              <a:ext uri="{FF2B5EF4-FFF2-40B4-BE49-F238E27FC236}">
                <a16:creationId xmlns:a16="http://schemas.microsoft.com/office/drawing/2014/main" id="{5E1A2A95-65F0-9A28-83FB-CDEE59A25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62468" name="Line 3">
            <a:extLst>
              <a:ext uri="{FF2B5EF4-FFF2-40B4-BE49-F238E27FC236}">
                <a16:creationId xmlns:a16="http://schemas.microsoft.com/office/drawing/2014/main" id="{6EA5619A-0A7A-2E67-CBD4-57A36BE154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62469" name="Text Box 4">
            <a:extLst>
              <a:ext uri="{FF2B5EF4-FFF2-40B4-BE49-F238E27FC236}">
                <a16:creationId xmlns:a16="http://schemas.microsoft.com/office/drawing/2014/main" id="{EC999842-6DC6-B1F6-27A2-FD3E5B38E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84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12.12  </a:t>
            </a:r>
            <a:r>
              <a:rPr lang="en-US" altLang="en-US" sz="2000" baseline="0"/>
              <a:t>Collision of the first bit in CSMA/CD</a:t>
            </a:r>
          </a:p>
        </p:txBody>
      </p:sp>
      <p:sp>
        <p:nvSpPr>
          <p:cNvPr id="62470" name="Line 5">
            <a:extLst>
              <a:ext uri="{FF2B5EF4-FFF2-40B4-BE49-F238E27FC236}">
                <a16:creationId xmlns:a16="http://schemas.microsoft.com/office/drawing/2014/main" id="{A31A3E58-F555-FA5A-CBE7-E1B05AB9B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62471" name="Picture 7">
            <a:extLst>
              <a:ext uri="{FF2B5EF4-FFF2-40B4-BE49-F238E27FC236}">
                <a16:creationId xmlns:a16="http://schemas.microsoft.com/office/drawing/2014/main" id="{BC98A701-06F4-C215-DAB0-F2C5745DF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2233613"/>
            <a:ext cx="7458075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2472" name="TextBox 2">
            <a:extLst>
              <a:ext uri="{FF2B5EF4-FFF2-40B4-BE49-F238E27FC236}">
                <a16:creationId xmlns:a16="http://schemas.microsoft.com/office/drawing/2014/main" id="{5759F228-88ED-87F7-E50E-E085291CF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1087438"/>
            <a:ext cx="80708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2000" b="0" i="0" baseline="0"/>
              <a:t>In this method, a station monitors the medium after it sends a frame to see if the transmission was successful. If so, the station is finished. </a:t>
            </a:r>
          </a:p>
          <a:p>
            <a:pPr algn="just"/>
            <a:r>
              <a:rPr lang="en-US" altLang="en-US" sz="2000" b="0" i="0" baseline="0">
                <a:latin typeface="Times" pitchFamily="18" charset="0"/>
                <a:ea typeface="Times" pitchFamily="18" charset="0"/>
                <a:cs typeface="Times" pitchFamily="18" charset="0"/>
              </a:rPr>
              <a:t>If</a:t>
            </a:r>
            <a:r>
              <a:rPr lang="en-US" altLang="en-US" sz="2000" b="0" i="0" baseline="0">
                <a:latin typeface="Arial" panose="020B0604020202020204" pitchFamily="34" charset="0"/>
              </a:rPr>
              <a:t>, </a:t>
            </a:r>
            <a:r>
              <a:rPr lang="en-US" altLang="en-US" sz="2000" b="0" i="0" baseline="0"/>
              <a:t>however, there is a collision, the frame is sent again.</a:t>
            </a:r>
            <a:endParaRPr lang="en-US" altLang="en-US" sz="2000"/>
          </a:p>
        </p:txBody>
      </p:sp>
      <p:sp>
        <p:nvSpPr>
          <p:cNvPr id="62473" name="TextBox 4">
            <a:extLst>
              <a:ext uri="{FF2B5EF4-FFF2-40B4-BE49-F238E27FC236}">
                <a16:creationId xmlns:a16="http://schemas.microsoft.com/office/drawing/2014/main" id="{86036D94-3E19-8873-3793-C847E4263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032375"/>
            <a:ext cx="6705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 i="0" baseline="0"/>
              <a:t>Stations A and C are involved in the collision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1">
            <a:extLst>
              <a:ext uri="{FF2B5EF4-FFF2-40B4-BE49-F238E27FC236}">
                <a16:creationId xmlns:a16="http://schemas.microsoft.com/office/drawing/2014/main" id="{86C94A11-2FCE-D326-B0E9-B4ED3E3F14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790B72B9-0841-0049-BB5D-21C052AF27F8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31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4515" name="Line 2">
            <a:extLst>
              <a:ext uri="{FF2B5EF4-FFF2-40B4-BE49-F238E27FC236}">
                <a16:creationId xmlns:a16="http://schemas.microsoft.com/office/drawing/2014/main" id="{EC60557B-CDEC-CAC8-489D-7347AA3BF8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64516" name="Line 3">
            <a:extLst>
              <a:ext uri="{FF2B5EF4-FFF2-40B4-BE49-F238E27FC236}">
                <a16:creationId xmlns:a16="http://schemas.microsoft.com/office/drawing/2014/main" id="{4BB70515-6C1C-FF02-B99F-4ACDAD63E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64517" name="Text Box 4">
            <a:extLst>
              <a:ext uri="{FF2B5EF4-FFF2-40B4-BE49-F238E27FC236}">
                <a16:creationId xmlns:a16="http://schemas.microsoft.com/office/drawing/2014/main" id="{E9AAF939-10EE-F747-C66E-F4D5645D2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304800"/>
            <a:ext cx="57054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12.13 </a:t>
            </a:r>
            <a:r>
              <a:rPr lang="en-US" altLang="en-US" sz="2000" baseline="0"/>
              <a:t>Collision and abortion in CSMA/CD</a:t>
            </a:r>
            <a:endParaRPr lang="en-US" altLang="en-US" sz="3200" b="0" i="0" baseline="-18000">
              <a:latin typeface="Arial" panose="020B0604020202020204" pitchFamily="34" charset="0"/>
            </a:endParaRPr>
          </a:p>
          <a:p>
            <a:endParaRPr lang="en-US" altLang="en-US" sz="2000" baseline="0"/>
          </a:p>
        </p:txBody>
      </p:sp>
      <p:sp>
        <p:nvSpPr>
          <p:cNvPr id="64518" name="Line 5">
            <a:extLst>
              <a:ext uri="{FF2B5EF4-FFF2-40B4-BE49-F238E27FC236}">
                <a16:creationId xmlns:a16="http://schemas.microsoft.com/office/drawing/2014/main" id="{FA399997-6566-68FC-5BF5-3DC029F695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64519" name="Picture 7">
            <a:extLst>
              <a:ext uri="{FF2B5EF4-FFF2-40B4-BE49-F238E27FC236}">
                <a16:creationId xmlns:a16="http://schemas.microsoft.com/office/drawing/2014/main" id="{BD21A7C9-47B7-48F7-62F3-BF79B95F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1295400"/>
            <a:ext cx="8004175" cy="262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4520" name="Rectangle 8">
            <a:extLst>
              <a:ext uri="{FF2B5EF4-FFF2-40B4-BE49-F238E27FC236}">
                <a16:creationId xmlns:a16="http://schemas.microsoft.com/office/drawing/2014/main" id="{0E0B9E11-0B3E-AAB7-9DE7-E2D791495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8988" y="4243388"/>
            <a:ext cx="31242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00" baseline="0"/>
              <a:t>T</a:t>
            </a:r>
            <a:r>
              <a:rPr lang="en-US" altLang="en-US" sz="3600" baseline="-16000"/>
              <a:t>fr</a:t>
            </a:r>
            <a:r>
              <a:rPr lang="en-US" altLang="en-US" sz="3600" baseline="0"/>
              <a:t> &gt;= 2 × T</a:t>
            </a:r>
            <a:r>
              <a:rPr lang="en-US" altLang="en-US" sz="3600" baseline="-14000"/>
              <a:t>p</a:t>
            </a:r>
            <a:endParaRPr lang="en-US" altLang="en-US" sz="8800" b="0" i="0"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sp>
        <p:nvSpPr>
          <p:cNvPr id="64521" name="TextBox 3">
            <a:extLst>
              <a:ext uri="{FF2B5EF4-FFF2-40B4-BE49-F238E27FC236}">
                <a16:creationId xmlns:a16="http://schemas.microsoft.com/office/drawing/2014/main" id="{9DE8F63A-EAA4-5C56-F83C-70826C20E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868863"/>
            <a:ext cx="57912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b="0" i="0" baseline="0"/>
              <a:t>maximum propagation time</a:t>
            </a:r>
            <a:r>
              <a:rPr lang="en-US" altLang="en-US" baseline="0"/>
              <a:t>,</a:t>
            </a:r>
          </a:p>
          <a:p>
            <a:pPr algn="ctr"/>
            <a:r>
              <a:rPr lang="en-US" altLang="en-US" baseline="0"/>
              <a:t>                            T</a:t>
            </a:r>
            <a:r>
              <a:rPr lang="en-US" altLang="en-US" baseline="-16000"/>
              <a:t>fr</a:t>
            </a:r>
            <a:r>
              <a:rPr lang="en-US" altLang="en-US" baseline="0"/>
              <a:t> = 2 × T</a:t>
            </a:r>
            <a:r>
              <a:rPr lang="en-US" altLang="en-US" baseline="-14000"/>
              <a:t>p</a:t>
            </a:r>
            <a:r>
              <a:rPr lang="en-US" altLang="en-US" baseline="0"/>
              <a:t> </a:t>
            </a: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1">
            <a:extLst>
              <a:ext uri="{FF2B5EF4-FFF2-40B4-BE49-F238E27FC236}">
                <a16:creationId xmlns:a16="http://schemas.microsoft.com/office/drawing/2014/main" id="{00736D2E-C817-39EB-A86E-D3A888E11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F29743AA-7EF8-B94B-8F62-448DC185F875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32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A95EC9BF-2F66-DD73-CA2E-D3C298218CA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16BC779E-6FF1-DD2E-2888-53E4EBFC24A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66565" name="Rectangle 4">
            <a:extLst>
              <a:ext uri="{FF2B5EF4-FFF2-40B4-BE49-F238E27FC236}">
                <a16:creationId xmlns:a16="http://schemas.microsoft.com/office/drawing/2014/main" id="{A365AA30-CF52-5129-FC04-7C2CB677414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66566" name="Rectangle 5">
            <a:extLst>
              <a:ext uri="{FF2B5EF4-FFF2-40B4-BE49-F238E27FC236}">
                <a16:creationId xmlns:a16="http://schemas.microsoft.com/office/drawing/2014/main" id="{2D6FB94C-5724-C3C5-9369-B24CA6CB9F3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66567" name="Rectangle 6">
            <a:extLst>
              <a:ext uri="{FF2B5EF4-FFF2-40B4-BE49-F238E27FC236}">
                <a16:creationId xmlns:a16="http://schemas.microsoft.com/office/drawing/2014/main" id="{BB9ED12D-EA3F-B77F-5B0F-5EB02A80F68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66568" name="Rectangle 7">
            <a:extLst>
              <a:ext uri="{FF2B5EF4-FFF2-40B4-BE49-F238E27FC236}">
                <a16:creationId xmlns:a16="http://schemas.microsoft.com/office/drawing/2014/main" id="{AF04B4BD-E2AD-49A8-5AB2-CFEB21D2DD7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66569" name="Rectangle 8">
            <a:extLst>
              <a:ext uri="{FF2B5EF4-FFF2-40B4-BE49-F238E27FC236}">
                <a16:creationId xmlns:a16="http://schemas.microsoft.com/office/drawing/2014/main" id="{3F83EDF4-2F5A-6E54-9B45-8E6954FD4CC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66570" name="Rectangle 9">
            <a:extLst>
              <a:ext uri="{FF2B5EF4-FFF2-40B4-BE49-F238E27FC236}">
                <a16:creationId xmlns:a16="http://schemas.microsoft.com/office/drawing/2014/main" id="{017E60E4-6FB7-CDDD-573E-8B5F7AFFC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73138"/>
            <a:ext cx="8686800" cy="2227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/>
              <a:t>A network using CSMA/CD has a bandwidth of 10 Mbps. If the maximum propagation time (including the delays in the devices and ignoring the time needed to send a jamming signal, as we see later) is 25.6 μs, what is the minimum size of the frame?</a:t>
            </a:r>
          </a:p>
        </p:txBody>
      </p:sp>
      <p:sp>
        <p:nvSpPr>
          <p:cNvPr id="66571" name="Text Box 10">
            <a:extLst>
              <a:ext uri="{FF2B5EF4-FFF2-40B4-BE49-F238E27FC236}">
                <a16:creationId xmlns:a16="http://schemas.microsoft.com/office/drawing/2014/main" id="{469E987B-4223-0C4D-C843-E51228D93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12.5</a:t>
            </a:r>
          </a:p>
        </p:txBody>
      </p:sp>
      <p:sp>
        <p:nvSpPr>
          <p:cNvPr id="66572" name="Rectangle 11">
            <a:extLst>
              <a:ext uri="{FF2B5EF4-FFF2-40B4-BE49-F238E27FC236}">
                <a16:creationId xmlns:a16="http://schemas.microsoft.com/office/drawing/2014/main" id="{5F2EB8BC-7600-4B6C-BE3D-2D39C6E74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76600"/>
            <a:ext cx="8686800" cy="308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en-US" baseline="0"/>
              <a:t>The frame transmission time is T</a:t>
            </a:r>
            <a:r>
              <a:rPr lang="en-US" altLang="en-US" baseline="-16000"/>
              <a:t>fr</a:t>
            </a:r>
            <a:r>
              <a:rPr lang="en-US" altLang="en-US" baseline="0"/>
              <a:t> = 2 × T</a:t>
            </a:r>
            <a:r>
              <a:rPr lang="en-US" altLang="en-US" baseline="-14000"/>
              <a:t>p</a:t>
            </a:r>
            <a:r>
              <a:rPr lang="en-US" altLang="en-US" baseline="0"/>
              <a:t> = 51.2 μs. This means, in the worst case, a station needs to transmit for a period of 51.2 μs to detect the collision. The minimum size of the frame is 10 Mbps × 51.2 μs = 512 bits or 64 bytes. This is actually the minimum size of the frame for Standard Ethernet.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1">
            <a:extLst>
              <a:ext uri="{FF2B5EF4-FFF2-40B4-BE49-F238E27FC236}">
                <a16:creationId xmlns:a16="http://schemas.microsoft.com/office/drawing/2014/main" id="{4103F91C-CFA4-4BD6-473E-8E44311E9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0DECE40B-36A8-3B45-9622-3ED61E7168F6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33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8611" name="Line 2">
            <a:extLst>
              <a:ext uri="{FF2B5EF4-FFF2-40B4-BE49-F238E27FC236}">
                <a16:creationId xmlns:a16="http://schemas.microsoft.com/office/drawing/2014/main" id="{5DB44179-94AB-5034-1AE4-2AB4926D0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68612" name="Line 3">
            <a:extLst>
              <a:ext uri="{FF2B5EF4-FFF2-40B4-BE49-F238E27FC236}">
                <a16:creationId xmlns:a16="http://schemas.microsoft.com/office/drawing/2014/main" id="{F97022B4-0198-C707-9CE8-872969103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68613" name="Text Box 4">
            <a:extLst>
              <a:ext uri="{FF2B5EF4-FFF2-40B4-BE49-F238E27FC236}">
                <a16:creationId xmlns:a16="http://schemas.microsoft.com/office/drawing/2014/main" id="{2195E8E8-E467-303A-B2FD-42D410AAC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387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12.14  </a:t>
            </a:r>
            <a:r>
              <a:rPr lang="en-US" altLang="en-US" sz="2000" baseline="0"/>
              <a:t>Flow diagram for the CSMA/CD</a:t>
            </a:r>
          </a:p>
        </p:txBody>
      </p:sp>
      <p:sp>
        <p:nvSpPr>
          <p:cNvPr id="68614" name="Line 5">
            <a:extLst>
              <a:ext uri="{FF2B5EF4-FFF2-40B4-BE49-F238E27FC236}">
                <a16:creationId xmlns:a16="http://schemas.microsoft.com/office/drawing/2014/main" id="{BF5DB043-600F-830A-2DE0-6A2BADBA0B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68615" name="Picture 7">
            <a:extLst>
              <a:ext uri="{FF2B5EF4-FFF2-40B4-BE49-F238E27FC236}">
                <a16:creationId xmlns:a16="http://schemas.microsoft.com/office/drawing/2014/main" id="{FC006D7D-B8D0-FA8F-3EAD-674391B5D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1012825"/>
            <a:ext cx="6297612" cy="508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1">
            <a:extLst>
              <a:ext uri="{FF2B5EF4-FFF2-40B4-BE49-F238E27FC236}">
                <a16:creationId xmlns:a16="http://schemas.microsoft.com/office/drawing/2014/main" id="{99FFB3FD-1838-7D00-B031-B3EB03C0A2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B7BD0437-D752-A341-8129-B4F2EE8647EA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34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0659" name="Line 2">
            <a:extLst>
              <a:ext uri="{FF2B5EF4-FFF2-40B4-BE49-F238E27FC236}">
                <a16:creationId xmlns:a16="http://schemas.microsoft.com/office/drawing/2014/main" id="{CD676E6A-7D2B-DCC0-E25B-5EE484ED2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70660" name="Line 3">
            <a:extLst>
              <a:ext uri="{FF2B5EF4-FFF2-40B4-BE49-F238E27FC236}">
                <a16:creationId xmlns:a16="http://schemas.microsoft.com/office/drawing/2014/main" id="{BB8A9542-C4CC-EFAA-92D9-8F763F6A0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70661" name="Text Box 4">
            <a:extLst>
              <a:ext uri="{FF2B5EF4-FFF2-40B4-BE49-F238E27FC236}">
                <a16:creationId xmlns:a16="http://schemas.microsoft.com/office/drawing/2014/main" id="{A042ECCD-05F4-43B4-3D06-B5EE0345E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691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12.15  </a:t>
            </a:r>
            <a:r>
              <a:rPr lang="en-US" altLang="en-US" sz="2000" baseline="0"/>
              <a:t>Energy level during transmission, idleness, or collision</a:t>
            </a:r>
          </a:p>
        </p:txBody>
      </p:sp>
      <p:sp>
        <p:nvSpPr>
          <p:cNvPr id="70662" name="Line 5">
            <a:extLst>
              <a:ext uri="{FF2B5EF4-FFF2-40B4-BE49-F238E27FC236}">
                <a16:creationId xmlns:a16="http://schemas.microsoft.com/office/drawing/2014/main" id="{18C2DC16-A577-A289-0E3F-B3AFD3F803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70663" name="Picture 7">
            <a:extLst>
              <a:ext uri="{FF2B5EF4-FFF2-40B4-BE49-F238E27FC236}">
                <a16:creationId xmlns:a16="http://schemas.microsoft.com/office/drawing/2014/main" id="{6F63165A-1BD7-B5AF-0183-AFB58D283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88" y="2378075"/>
            <a:ext cx="7212012" cy="227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1">
            <a:extLst>
              <a:ext uri="{FF2B5EF4-FFF2-40B4-BE49-F238E27FC236}">
                <a16:creationId xmlns:a16="http://schemas.microsoft.com/office/drawing/2014/main" id="{F400C06B-AD2F-DB6A-29FE-EC6E95E25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66129159-D416-434B-9AB6-E0992F75CE6E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35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2707" name="Line 2">
            <a:extLst>
              <a:ext uri="{FF2B5EF4-FFF2-40B4-BE49-F238E27FC236}">
                <a16:creationId xmlns:a16="http://schemas.microsoft.com/office/drawing/2014/main" id="{9049E7D5-9F5E-8217-37AA-972A62D83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72708" name="Line 3">
            <a:extLst>
              <a:ext uri="{FF2B5EF4-FFF2-40B4-BE49-F238E27FC236}">
                <a16:creationId xmlns:a16="http://schemas.microsoft.com/office/drawing/2014/main" id="{78AF00CD-2E1A-D156-D1FB-4B681F2565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72709" name="Text Box 4">
            <a:extLst>
              <a:ext uri="{FF2B5EF4-FFF2-40B4-BE49-F238E27FC236}">
                <a16:creationId xmlns:a16="http://schemas.microsoft.com/office/drawing/2014/main" id="{51176CFA-8FAC-8D96-5A4D-D03753D3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175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12.16  </a:t>
            </a:r>
            <a:r>
              <a:rPr lang="en-US" altLang="en-US" sz="2000" baseline="0"/>
              <a:t>Timing in CSMA/CA</a:t>
            </a:r>
          </a:p>
        </p:txBody>
      </p:sp>
      <p:sp>
        <p:nvSpPr>
          <p:cNvPr id="72710" name="Line 5">
            <a:extLst>
              <a:ext uri="{FF2B5EF4-FFF2-40B4-BE49-F238E27FC236}">
                <a16:creationId xmlns:a16="http://schemas.microsoft.com/office/drawing/2014/main" id="{D57BB2EE-249C-942C-E2AB-3FC749506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72711" name="Picture 7">
            <a:extLst>
              <a:ext uri="{FF2B5EF4-FFF2-40B4-BE49-F238E27FC236}">
                <a16:creationId xmlns:a16="http://schemas.microsoft.com/office/drawing/2014/main" id="{5027E7FA-780C-EA42-DF8E-0AE246D22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3313113"/>
            <a:ext cx="7748587" cy="177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2712" name="TextBox 2">
            <a:extLst>
              <a:ext uri="{FF2B5EF4-FFF2-40B4-BE49-F238E27FC236}">
                <a16:creationId xmlns:a16="http://schemas.microsoft.com/office/drawing/2014/main" id="{95C56D7C-84BF-896F-9A94-8A1611270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13" y="1150938"/>
            <a:ext cx="7543800" cy="20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71550" indent="-5143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b="0" i="0" baseline="0"/>
              <a:t>Collisions are avoided through the use of CSMA/CA's three strategies: </a:t>
            </a:r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en-US" altLang="en-US" sz="2400" b="0" i="0" baseline="0"/>
              <a:t>the interframe space (IFS)</a:t>
            </a:r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en-US" altLang="en-US" sz="2400" b="0" i="0" baseline="0"/>
              <a:t>the contention window and </a:t>
            </a:r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en-US" altLang="en-US" sz="2400" b="0" i="0" baseline="0"/>
              <a:t>acknowledgments</a:t>
            </a:r>
            <a:endParaRPr lang="en-US" altLang="en-US"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1">
            <a:extLst>
              <a:ext uri="{FF2B5EF4-FFF2-40B4-BE49-F238E27FC236}">
                <a16:creationId xmlns:a16="http://schemas.microsoft.com/office/drawing/2014/main" id="{816163E0-414C-ED4F-2CBA-6D156C49E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E48FC666-9838-6E49-99C9-AD8884044625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36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F1C46449-8FD5-FEE1-565E-65E6F38E322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1435BA9C-01BC-DD13-E33A-D41F1BD1D8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4757" name="Rectangle 4">
            <a:extLst>
              <a:ext uri="{FF2B5EF4-FFF2-40B4-BE49-F238E27FC236}">
                <a16:creationId xmlns:a16="http://schemas.microsoft.com/office/drawing/2014/main" id="{57723E2C-BD87-9D58-AE59-82C3916D83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4758" name="Rectangle 5">
            <a:extLst>
              <a:ext uri="{FF2B5EF4-FFF2-40B4-BE49-F238E27FC236}">
                <a16:creationId xmlns:a16="http://schemas.microsoft.com/office/drawing/2014/main" id="{28391272-4847-A8F5-0938-9E16F2A114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4759" name="Rectangle 6">
            <a:extLst>
              <a:ext uri="{FF2B5EF4-FFF2-40B4-BE49-F238E27FC236}">
                <a16:creationId xmlns:a16="http://schemas.microsoft.com/office/drawing/2014/main" id="{40ADAE2B-9D4A-463C-48A2-A989FA1537E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4760" name="Rectangle 7">
            <a:extLst>
              <a:ext uri="{FF2B5EF4-FFF2-40B4-BE49-F238E27FC236}">
                <a16:creationId xmlns:a16="http://schemas.microsoft.com/office/drawing/2014/main" id="{6E69EACC-806D-6A1D-7A97-AA43C8E409F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4761" name="Rectangle 8">
            <a:extLst>
              <a:ext uri="{FF2B5EF4-FFF2-40B4-BE49-F238E27FC236}">
                <a16:creationId xmlns:a16="http://schemas.microsoft.com/office/drawing/2014/main" id="{64A11583-73AE-4669-BEAD-E5B3B6C655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4762" name="Line 9">
            <a:extLst>
              <a:ext uri="{FF2B5EF4-FFF2-40B4-BE49-F238E27FC236}">
                <a16:creationId xmlns:a16="http://schemas.microsoft.com/office/drawing/2014/main" id="{C1D7132B-F4BC-5C67-3D71-23B1732FA9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74763" name="Line 10">
            <a:extLst>
              <a:ext uri="{FF2B5EF4-FFF2-40B4-BE49-F238E27FC236}">
                <a16:creationId xmlns:a16="http://schemas.microsoft.com/office/drawing/2014/main" id="{ADAC619B-83B6-806B-D359-192A09989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74764" name="Rectangle 11">
            <a:extLst>
              <a:ext uri="{FF2B5EF4-FFF2-40B4-BE49-F238E27FC236}">
                <a16:creationId xmlns:a16="http://schemas.microsoft.com/office/drawing/2014/main" id="{5A61192A-337F-A317-1B97-485A5857E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In CSMA/CA, the IFS can also be used to define the priority of a station or a frame.</a:t>
            </a:r>
          </a:p>
        </p:txBody>
      </p:sp>
      <p:grpSp>
        <p:nvGrpSpPr>
          <p:cNvPr id="74765" name="Group 12">
            <a:extLst>
              <a:ext uri="{FF2B5EF4-FFF2-40B4-BE49-F238E27FC236}">
                <a16:creationId xmlns:a16="http://schemas.microsoft.com/office/drawing/2014/main" id="{8AB316A6-C9DE-AE49-4D75-A16639981CB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74766" name="Picture 13">
              <a:extLst>
                <a:ext uri="{FF2B5EF4-FFF2-40B4-BE49-F238E27FC236}">
                  <a16:creationId xmlns:a16="http://schemas.microsoft.com/office/drawing/2014/main" id="{B62B2E06-FFEF-9E5A-5203-CF4246F218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4767" name="Text Box 14">
              <a:extLst>
                <a:ext uri="{FF2B5EF4-FFF2-40B4-BE49-F238E27FC236}">
                  <a16:creationId xmlns:a16="http://schemas.microsoft.com/office/drawing/2014/main" id="{D0B7F28A-F615-9499-FB02-B860C9A80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1">
            <a:extLst>
              <a:ext uri="{FF2B5EF4-FFF2-40B4-BE49-F238E27FC236}">
                <a16:creationId xmlns:a16="http://schemas.microsoft.com/office/drawing/2014/main" id="{07154B78-F3A0-3A45-3CEB-F117267EF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47F51F2F-FDC7-CB4E-A3EE-795F7CA86546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37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AF2463A4-B5A2-680D-C066-21A4D61D1E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E935C87F-6E35-47E8-0466-FE4E176E7B5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6805" name="Rectangle 4">
            <a:extLst>
              <a:ext uri="{FF2B5EF4-FFF2-40B4-BE49-F238E27FC236}">
                <a16:creationId xmlns:a16="http://schemas.microsoft.com/office/drawing/2014/main" id="{840B283F-5F2E-0DA5-5FB8-084A9D6568D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6806" name="Rectangle 5">
            <a:extLst>
              <a:ext uri="{FF2B5EF4-FFF2-40B4-BE49-F238E27FC236}">
                <a16:creationId xmlns:a16="http://schemas.microsoft.com/office/drawing/2014/main" id="{363EE6F1-A34F-5956-5F20-C91D617508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6807" name="Rectangle 6">
            <a:extLst>
              <a:ext uri="{FF2B5EF4-FFF2-40B4-BE49-F238E27FC236}">
                <a16:creationId xmlns:a16="http://schemas.microsoft.com/office/drawing/2014/main" id="{3A986CD6-5833-CA58-A1E9-9CD01EE8142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6808" name="Rectangle 7">
            <a:extLst>
              <a:ext uri="{FF2B5EF4-FFF2-40B4-BE49-F238E27FC236}">
                <a16:creationId xmlns:a16="http://schemas.microsoft.com/office/drawing/2014/main" id="{C757D350-6DE6-2420-AC60-5D72F884A9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6809" name="Rectangle 8">
            <a:extLst>
              <a:ext uri="{FF2B5EF4-FFF2-40B4-BE49-F238E27FC236}">
                <a16:creationId xmlns:a16="http://schemas.microsoft.com/office/drawing/2014/main" id="{4844F658-2E92-F1E2-16B7-1FBF5115EF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76810" name="Line 9">
            <a:extLst>
              <a:ext uri="{FF2B5EF4-FFF2-40B4-BE49-F238E27FC236}">
                <a16:creationId xmlns:a16="http://schemas.microsoft.com/office/drawing/2014/main" id="{BED084F1-4690-C98A-F19F-F0FD5A5A51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76811" name="Line 10">
            <a:extLst>
              <a:ext uri="{FF2B5EF4-FFF2-40B4-BE49-F238E27FC236}">
                <a16:creationId xmlns:a16="http://schemas.microsoft.com/office/drawing/2014/main" id="{1D4CCE4E-3A38-1F9B-4453-6EBF1FD720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76812" name="Rectangle 11">
            <a:extLst>
              <a:ext uri="{FF2B5EF4-FFF2-40B4-BE49-F238E27FC236}">
                <a16:creationId xmlns:a16="http://schemas.microsoft.com/office/drawing/2014/main" id="{A78A3E6E-70C3-4EEA-EBA2-CE371F598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52888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In CSMA/CA, if the station finds the channel busy, it does not restart the timer of the contention window;</a:t>
            </a:r>
          </a:p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it stops the timer and restarts it when the channel becomes idle.</a:t>
            </a:r>
          </a:p>
        </p:txBody>
      </p:sp>
      <p:grpSp>
        <p:nvGrpSpPr>
          <p:cNvPr id="76813" name="Group 12">
            <a:extLst>
              <a:ext uri="{FF2B5EF4-FFF2-40B4-BE49-F238E27FC236}">
                <a16:creationId xmlns:a16="http://schemas.microsoft.com/office/drawing/2014/main" id="{0BA7BE92-1D0C-1AE5-8D7C-A01BBA890A0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76814" name="Picture 13">
              <a:extLst>
                <a:ext uri="{FF2B5EF4-FFF2-40B4-BE49-F238E27FC236}">
                  <a16:creationId xmlns:a16="http://schemas.microsoft.com/office/drawing/2014/main" id="{C6CF21B0-7F19-67BC-FF93-C799C2ED7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6815" name="Text Box 14">
              <a:extLst>
                <a:ext uri="{FF2B5EF4-FFF2-40B4-BE49-F238E27FC236}">
                  <a16:creationId xmlns:a16="http://schemas.microsoft.com/office/drawing/2014/main" id="{ECA56BBB-04D0-F267-243D-B22BE8E0F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1">
            <a:extLst>
              <a:ext uri="{FF2B5EF4-FFF2-40B4-BE49-F238E27FC236}">
                <a16:creationId xmlns:a16="http://schemas.microsoft.com/office/drawing/2014/main" id="{82E206E2-170E-4AD4-5222-D843F5C113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C43ABD3D-9A28-EB4F-AB65-1557B6A2D672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38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8851" name="Line 2">
            <a:extLst>
              <a:ext uri="{FF2B5EF4-FFF2-40B4-BE49-F238E27FC236}">
                <a16:creationId xmlns:a16="http://schemas.microsoft.com/office/drawing/2014/main" id="{86BE64D2-A678-3956-194B-42B817C09A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78852" name="Line 3">
            <a:extLst>
              <a:ext uri="{FF2B5EF4-FFF2-40B4-BE49-F238E27FC236}">
                <a16:creationId xmlns:a16="http://schemas.microsoft.com/office/drawing/2014/main" id="{007D49DE-E86F-C100-6301-1DCD3E61B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78853" name="Text Box 4">
            <a:extLst>
              <a:ext uri="{FF2B5EF4-FFF2-40B4-BE49-F238E27FC236}">
                <a16:creationId xmlns:a16="http://schemas.microsoft.com/office/drawing/2014/main" id="{068EE9CD-AA0C-09AE-2E62-A79CE5CC3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98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12.17  </a:t>
            </a:r>
            <a:r>
              <a:rPr lang="en-US" altLang="en-US" sz="2000" baseline="0"/>
              <a:t>Flow diagram for CSMA/CA</a:t>
            </a:r>
          </a:p>
        </p:txBody>
      </p:sp>
      <p:sp>
        <p:nvSpPr>
          <p:cNvPr id="78854" name="Line 5">
            <a:extLst>
              <a:ext uri="{FF2B5EF4-FFF2-40B4-BE49-F238E27FC236}">
                <a16:creationId xmlns:a16="http://schemas.microsoft.com/office/drawing/2014/main" id="{9136C675-196E-FB5F-7DB6-BFDA5A1D6F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78855" name="Picture 7">
            <a:extLst>
              <a:ext uri="{FF2B5EF4-FFF2-40B4-BE49-F238E27FC236}">
                <a16:creationId xmlns:a16="http://schemas.microsoft.com/office/drawing/2014/main" id="{0510D690-5E9A-F97C-94B7-C4743EA07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092200"/>
            <a:ext cx="3025775" cy="485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1">
            <a:extLst>
              <a:ext uri="{FF2B5EF4-FFF2-40B4-BE49-F238E27FC236}">
                <a16:creationId xmlns:a16="http://schemas.microsoft.com/office/drawing/2014/main" id="{4A7662E6-A027-CEFB-7250-2CE36677F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C4DF6546-C310-8C4B-81F5-BF9647EC6B98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39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80322" name="Rectangle 2">
            <a:extLst>
              <a:ext uri="{FF2B5EF4-FFF2-40B4-BE49-F238E27FC236}">
                <a16:creationId xmlns:a16="http://schemas.microsoft.com/office/drawing/2014/main" id="{8B6749CD-A1DD-20F2-F018-0A0D9B05A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080323" name="Text Box 3">
            <a:extLst>
              <a:ext uri="{FF2B5EF4-FFF2-40B4-BE49-F238E27FC236}">
                <a16:creationId xmlns:a16="http://schemas.microsoft.com/office/drawing/2014/main" id="{AFA3760E-5EA5-37D3-5DF6-F90C06FDB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583088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12-2   CONTROLLED ACCESS</a:t>
            </a:r>
          </a:p>
        </p:txBody>
      </p:sp>
      <p:sp>
        <p:nvSpPr>
          <p:cNvPr id="80901" name="Text Box 4">
            <a:extLst>
              <a:ext uri="{FF2B5EF4-FFF2-40B4-BE49-F238E27FC236}">
                <a16:creationId xmlns:a16="http://schemas.microsoft.com/office/drawing/2014/main" id="{F501BB34-F257-D2BB-819E-E6F12471A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 i="0" baseline="0"/>
          </a:p>
        </p:txBody>
      </p:sp>
      <p:sp>
        <p:nvSpPr>
          <p:cNvPr id="1080325" name="Rectangle 5">
            <a:extLst>
              <a:ext uri="{FF2B5EF4-FFF2-40B4-BE49-F238E27FC236}">
                <a16:creationId xmlns:a16="http://schemas.microsoft.com/office/drawing/2014/main" id="{99C7C47F-76A9-16D3-00F2-9410C75FF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29690"/>
            <a:ext cx="8229600" cy="181588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en-US" b="0" i="0" baseline="0" dirty="0"/>
              <a:t>In </a:t>
            </a:r>
            <a:r>
              <a:rPr lang="en-US" altLang="en-US" b="0" i="0" baseline="0" dirty="0">
                <a:solidFill>
                  <a:schemeClr val="hlink"/>
                </a:solidFill>
              </a:rPr>
              <a:t>controlled access</a:t>
            </a:r>
            <a:r>
              <a:rPr lang="en-US" altLang="en-US" b="0" i="0" baseline="0" dirty="0"/>
              <a:t>, the </a:t>
            </a:r>
            <a:r>
              <a:rPr lang="en-US" altLang="en-US" b="0" i="0" baseline="0" dirty="0">
                <a:highlight>
                  <a:srgbClr val="CCFF99"/>
                </a:highlight>
              </a:rPr>
              <a:t>stations consult one another </a:t>
            </a:r>
            <a:r>
              <a:rPr lang="en-US" altLang="en-US" b="0" i="0" baseline="0" dirty="0"/>
              <a:t>to find which station has the right to send. A station cannot send unless it has been authorized by other stations. We discuss three popular controlled-access methods.</a:t>
            </a:r>
          </a:p>
        </p:txBody>
      </p:sp>
      <p:sp>
        <p:nvSpPr>
          <p:cNvPr id="80903" name="Rectangle 6">
            <a:extLst>
              <a:ext uri="{FF2B5EF4-FFF2-40B4-BE49-F238E27FC236}">
                <a16:creationId xmlns:a16="http://schemas.microsoft.com/office/drawing/2014/main" id="{E7F08CEA-658C-9E80-4C2F-8A3B95A41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048250"/>
            <a:ext cx="6705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en-US" sz="2400" i="0" baseline="0">
                <a:solidFill>
                  <a:srgbClr val="0033CC"/>
                </a:solidFill>
              </a:rPr>
              <a:t>Reservation</a:t>
            </a:r>
            <a:br>
              <a:rPr lang="fr-FR" altLang="en-US" sz="2400" i="0" baseline="0">
                <a:solidFill>
                  <a:srgbClr val="0033CC"/>
                </a:solidFill>
              </a:rPr>
            </a:br>
            <a:r>
              <a:rPr lang="fr-FR" altLang="en-US" sz="2400" i="0" baseline="0">
                <a:solidFill>
                  <a:srgbClr val="0033CC"/>
                </a:solidFill>
              </a:rPr>
              <a:t>Polling</a:t>
            </a:r>
            <a:br>
              <a:rPr lang="fr-FR" altLang="en-US" sz="2400" i="0" baseline="0">
                <a:solidFill>
                  <a:srgbClr val="0033CC"/>
                </a:solidFill>
              </a:rPr>
            </a:br>
            <a:r>
              <a:rPr lang="en-US" altLang="en-US" sz="2400" i="0" baseline="0">
                <a:solidFill>
                  <a:srgbClr val="0033CC"/>
                </a:solidFill>
              </a:rPr>
              <a:t>Token Passing</a:t>
            </a:r>
          </a:p>
        </p:txBody>
      </p:sp>
      <p:sp>
        <p:nvSpPr>
          <p:cNvPr id="1080327" name="Text Box 7">
            <a:extLst>
              <a:ext uri="{FF2B5EF4-FFF2-40B4-BE49-F238E27FC236}">
                <a16:creationId xmlns:a16="http://schemas.microsoft.com/office/drawing/2014/main" id="{A4670099-DCF2-0898-BC23-6CD9F7CA4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4572000"/>
            <a:ext cx="48625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en-US" u="sng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1">
            <a:extLst>
              <a:ext uri="{FF2B5EF4-FFF2-40B4-BE49-F238E27FC236}">
                <a16:creationId xmlns:a16="http://schemas.microsoft.com/office/drawing/2014/main" id="{B0C319A0-E985-E612-696B-54DC38D0FC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41A9380C-83B3-FF4D-BF93-39C3CE2443CA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40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2947" name="Line 2">
            <a:extLst>
              <a:ext uri="{FF2B5EF4-FFF2-40B4-BE49-F238E27FC236}">
                <a16:creationId xmlns:a16="http://schemas.microsoft.com/office/drawing/2014/main" id="{0C21279D-C3F0-012C-67FA-B562B328B1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82948" name="Line 3">
            <a:extLst>
              <a:ext uri="{FF2B5EF4-FFF2-40B4-BE49-F238E27FC236}">
                <a16:creationId xmlns:a16="http://schemas.microsoft.com/office/drawing/2014/main" id="{7F312987-7CD4-20DD-0E72-E3F44C5A61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82949" name="Text Box 4">
            <a:extLst>
              <a:ext uri="{FF2B5EF4-FFF2-40B4-BE49-F238E27FC236}">
                <a16:creationId xmlns:a16="http://schemas.microsoft.com/office/drawing/2014/main" id="{EC977143-092D-76BC-6A70-3D264B3F2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764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12.18  </a:t>
            </a:r>
            <a:r>
              <a:rPr lang="en-US" altLang="en-US" sz="2000" baseline="0"/>
              <a:t>Reservation access method</a:t>
            </a:r>
          </a:p>
        </p:txBody>
      </p:sp>
      <p:sp>
        <p:nvSpPr>
          <p:cNvPr id="82950" name="Line 5">
            <a:extLst>
              <a:ext uri="{FF2B5EF4-FFF2-40B4-BE49-F238E27FC236}">
                <a16:creationId xmlns:a16="http://schemas.microsoft.com/office/drawing/2014/main" id="{6B2B38B1-DDAF-44C7-D386-971F0E3E2D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82951" name="Picture 7">
            <a:extLst>
              <a:ext uri="{FF2B5EF4-FFF2-40B4-BE49-F238E27FC236}">
                <a16:creationId xmlns:a16="http://schemas.microsoft.com/office/drawing/2014/main" id="{6C63FD03-8486-6AB2-D7CB-99DD2E963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33800"/>
            <a:ext cx="78613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952" name="TextBox 2">
            <a:extLst>
              <a:ext uri="{FF2B5EF4-FFF2-40B4-BE49-F238E27FC236}">
                <a16:creationId xmlns:a16="http://schemas.microsoft.com/office/drawing/2014/main" id="{746EBDEF-BBD1-A522-76F0-84A48FE31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1428750"/>
            <a:ext cx="77851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i="0" baseline="0"/>
              <a:t>Reservation</a:t>
            </a:r>
          </a:p>
          <a:p>
            <a:pPr algn="just"/>
            <a:r>
              <a:rPr lang="en-US" altLang="en-US" sz="2400" b="0" i="0" baseline="0"/>
              <a:t>In the reservation method, a station needs to make a reservation before sending data.</a:t>
            </a:r>
          </a:p>
          <a:p>
            <a:pPr algn="just"/>
            <a:r>
              <a:rPr lang="en-US" altLang="en-US" sz="2400" b="0" i="0" baseline="0"/>
              <a:t>Time is divided into intervals. In each interval, a reservation frame precedes the data frames sent in that interval.</a:t>
            </a:r>
            <a:endParaRPr lang="en-US" altLang="en-US"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1">
            <a:extLst>
              <a:ext uri="{FF2B5EF4-FFF2-40B4-BE49-F238E27FC236}">
                <a16:creationId xmlns:a16="http://schemas.microsoft.com/office/drawing/2014/main" id="{3E9D7DB8-4D6D-071A-3EEE-BA6F4F7852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1F8F4ADA-2619-974D-A293-9BF81349C4AA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41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4995" name="Line 2">
            <a:extLst>
              <a:ext uri="{FF2B5EF4-FFF2-40B4-BE49-F238E27FC236}">
                <a16:creationId xmlns:a16="http://schemas.microsoft.com/office/drawing/2014/main" id="{C6AD0706-3AA0-274C-E8F4-5C34BB592A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84996" name="Line 3">
            <a:extLst>
              <a:ext uri="{FF2B5EF4-FFF2-40B4-BE49-F238E27FC236}">
                <a16:creationId xmlns:a16="http://schemas.microsoft.com/office/drawing/2014/main" id="{72C31CF1-8BEB-C85C-5AEE-B98F56529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84997" name="Text Box 4">
            <a:extLst>
              <a:ext uri="{FF2B5EF4-FFF2-40B4-BE49-F238E27FC236}">
                <a16:creationId xmlns:a16="http://schemas.microsoft.com/office/drawing/2014/main" id="{0AC3D1BB-3A41-B114-7D81-6CF379832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17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12.19  </a:t>
            </a:r>
            <a:r>
              <a:rPr lang="en-US" altLang="en-US" sz="2000" baseline="0"/>
              <a:t>Select and poll functions in polling access method</a:t>
            </a:r>
          </a:p>
        </p:txBody>
      </p:sp>
      <p:sp>
        <p:nvSpPr>
          <p:cNvPr id="84998" name="Line 5">
            <a:extLst>
              <a:ext uri="{FF2B5EF4-FFF2-40B4-BE49-F238E27FC236}">
                <a16:creationId xmlns:a16="http://schemas.microsoft.com/office/drawing/2014/main" id="{11C67296-B516-D46D-1512-BE3EF406E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84999" name="Picture 7">
            <a:extLst>
              <a:ext uri="{FF2B5EF4-FFF2-40B4-BE49-F238E27FC236}">
                <a16:creationId xmlns:a16="http://schemas.microsoft.com/office/drawing/2014/main" id="{5EA26FEF-499C-D641-B3DC-357AC3C0F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951038"/>
            <a:ext cx="8483600" cy="307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1">
            <a:extLst>
              <a:ext uri="{FF2B5EF4-FFF2-40B4-BE49-F238E27FC236}">
                <a16:creationId xmlns:a16="http://schemas.microsoft.com/office/drawing/2014/main" id="{780FD3BA-1E2D-DEC6-F8F4-50E9496D3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387D057D-98BB-9C4D-B2F0-1A6FABD8DEF1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42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7043" name="Line 2">
            <a:extLst>
              <a:ext uri="{FF2B5EF4-FFF2-40B4-BE49-F238E27FC236}">
                <a16:creationId xmlns:a16="http://schemas.microsoft.com/office/drawing/2014/main" id="{85BF6A79-963C-0516-A243-8A2666F709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87044" name="Line 3">
            <a:extLst>
              <a:ext uri="{FF2B5EF4-FFF2-40B4-BE49-F238E27FC236}">
                <a16:creationId xmlns:a16="http://schemas.microsoft.com/office/drawing/2014/main" id="{8C2335F3-6330-DF33-FF92-F334D85A26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87045" name="Text Box 4">
            <a:extLst>
              <a:ext uri="{FF2B5EF4-FFF2-40B4-BE49-F238E27FC236}">
                <a16:creationId xmlns:a16="http://schemas.microsoft.com/office/drawing/2014/main" id="{05B118C5-CE72-0020-3B0C-5C5C3E7FF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81000"/>
            <a:ext cx="8934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12.20  </a:t>
            </a:r>
            <a:r>
              <a:rPr lang="en-US" altLang="en-US" sz="2000" baseline="0"/>
              <a:t>Logical ring and physical topology in token-passing access method</a:t>
            </a:r>
          </a:p>
        </p:txBody>
      </p:sp>
      <p:sp>
        <p:nvSpPr>
          <p:cNvPr id="87046" name="Line 5">
            <a:extLst>
              <a:ext uri="{FF2B5EF4-FFF2-40B4-BE49-F238E27FC236}">
                <a16:creationId xmlns:a16="http://schemas.microsoft.com/office/drawing/2014/main" id="{AF8601D7-8FB0-9B83-6732-9B61A7534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87047" name="Picture 7">
            <a:extLst>
              <a:ext uri="{FF2B5EF4-FFF2-40B4-BE49-F238E27FC236}">
                <a16:creationId xmlns:a16="http://schemas.microsoft.com/office/drawing/2014/main" id="{D714A169-8D65-994F-AB9E-2010871F7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36650"/>
            <a:ext cx="7102475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1">
            <a:extLst>
              <a:ext uri="{FF2B5EF4-FFF2-40B4-BE49-F238E27FC236}">
                <a16:creationId xmlns:a16="http://schemas.microsoft.com/office/drawing/2014/main" id="{2D04C78D-1A9B-BB57-3DD2-D64634A1AD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185488B1-767F-844D-8654-15D886359900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43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82370" name="Rectangle 2">
            <a:extLst>
              <a:ext uri="{FF2B5EF4-FFF2-40B4-BE49-F238E27FC236}">
                <a16:creationId xmlns:a16="http://schemas.microsoft.com/office/drawing/2014/main" id="{4035CF25-6D86-034C-D636-948FB4038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082371" name="Text Box 3">
            <a:extLst>
              <a:ext uri="{FF2B5EF4-FFF2-40B4-BE49-F238E27FC236}">
                <a16:creationId xmlns:a16="http://schemas.microsoft.com/office/drawing/2014/main" id="{CFC39B49-7FC1-BB87-D2CD-C6938E4AB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503078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12-3   CHANNELIZATION</a:t>
            </a:r>
          </a:p>
        </p:txBody>
      </p:sp>
      <p:sp>
        <p:nvSpPr>
          <p:cNvPr id="89093" name="Text Box 4">
            <a:extLst>
              <a:ext uri="{FF2B5EF4-FFF2-40B4-BE49-F238E27FC236}">
                <a16:creationId xmlns:a16="http://schemas.microsoft.com/office/drawing/2014/main" id="{817A48E7-678B-77F8-6E7E-8AE6396D9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 i="0" baseline="0"/>
          </a:p>
        </p:txBody>
      </p:sp>
      <p:sp>
        <p:nvSpPr>
          <p:cNvPr id="1082373" name="Rectangle 5">
            <a:extLst>
              <a:ext uri="{FF2B5EF4-FFF2-40B4-BE49-F238E27FC236}">
                <a16:creationId xmlns:a16="http://schemas.microsoft.com/office/drawing/2014/main" id="{199A33DA-59EB-615F-32C7-D1AD4B0FC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229600" cy="222726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en-US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Channelization</a:t>
            </a:r>
            <a:r>
              <a:rPr lang="en-US" altLang="en-US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 is a multiple-access method in which the available bandwidth of a link is shared in time, frequency, or through code, between different stations. In this section, we discuss three channelization protocols.</a:t>
            </a:r>
          </a:p>
        </p:txBody>
      </p:sp>
      <p:sp>
        <p:nvSpPr>
          <p:cNvPr id="89095" name="Rectangle 6">
            <a:extLst>
              <a:ext uri="{FF2B5EF4-FFF2-40B4-BE49-F238E27FC236}">
                <a16:creationId xmlns:a16="http://schemas.microsoft.com/office/drawing/2014/main" id="{107FBEEC-65F2-65C5-CB44-7675A0870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743450"/>
            <a:ext cx="6705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en-US" sz="2400" i="0" baseline="0">
                <a:solidFill>
                  <a:srgbClr val="0033CC"/>
                </a:solidFill>
              </a:rPr>
              <a:t>Frequency-Division Multiple Access (FDMA)</a:t>
            </a:r>
            <a:br>
              <a:rPr lang="fr-FR" altLang="en-US" sz="2400" i="0" baseline="0">
                <a:solidFill>
                  <a:srgbClr val="0033CC"/>
                </a:solidFill>
              </a:rPr>
            </a:br>
            <a:r>
              <a:rPr lang="fr-FR" altLang="en-US" sz="2400" i="0" baseline="0">
                <a:solidFill>
                  <a:srgbClr val="0033CC"/>
                </a:solidFill>
              </a:rPr>
              <a:t>Time-Division Multiple Access (TDMA)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en-US" sz="2400" i="0" baseline="0">
                <a:solidFill>
                  <a:srgbClr val="0033CC"/>
                </a:solidFill>
              </a:rPr>
              <a:t>Code-Division Multiple Access (CDMA)</a:t>
            </a:r>
            <a:endParaRPr lang="en-US" altLang="en-US" sz="2400" i="0" baseline="0">
              <a:solidFill>
                <a:srgbClr val="0033CC"/>
              </a:solidFill>
            </a:endParaRPr>
          </a:p>
        </p:txBody>
      </p:sp>
      <p:sp>
        <p:nvSpPr>
          <p:cNvPr id="1082375" name="Text Box 7">
            <a:extLst>
              <a:ext uri="{FF2B5EF4-FFF2-40B4-BE49-F238E27FC236}">
                <a16:creationId xmlns:a16="http://schemas.microsoft.com/office/drawing/2014/main" id="{9BFE22B8-DF7E-ACA2-7924-CD66A087D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4267200"/>
            <a:ext cx="48625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en-US" u="sng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1">
            <a:extLst>
              <a:ext uri="{FF2B5EF4-FFF2-40B4-BE49-F238E27FC236}">
                <a16:creationId xmlns:a16="http://schemas.microsoft.com/office/drawing/2014/main" id="{22FAE288-1066-01D8-C067-B57E84683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A6ACCF70-84BF-954E-84CD-FD82FEC8CE39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44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EDE5B84D-2BB4-2940-54FB-32D70451C0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6E24455F-D233-32BE-545C-C68507BD4F8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1141" name="Rectangle 4">
            <a:extLst>
              <a:ext uri="{FF2B5EF4-FFF2-40B4-BE49-F238E27FC236}">
                <a16:creationId xmlns:a16="http://schemas.microsoft.com/office/drawing/2014/main" id="{3EC81FC9-B81C-DEF0-44A7-CF2FFEF1DF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1142" name="Rectangle 5">
            <a:extLst>
              <a:ext uri="{FF2B5EF4-FFF2-40B4-BE49-F238E27FC236}">
                <a16:creationId xmlns:a16="http://schemas.microsoft.com/office/drawing/2014/main" id="{D4AAB75F-E465-6AF5-CF82-6E821BFD5B9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1143" name="Rectangle 6">
            <a:extLst>
              <a:ext uri="{FF2B5EF4-FFF2-40B4-BE49-F238E27FC236}">
                <a16:creationId xmlns:a16="http://schemas.microsoft.com/office/drawing/2014/main" id="{1F9C4C91-69E2-39A5-28DB-3814AD0AAB9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1144" name="Rectangle 7">
            <a:extLst>
              <a:ext uri="{FF2B5EF4-FFF2-40B4-BE49-F238E27FC236}">
                <a16:creationId xmlns:a16="http://schemas.microsoft.com/office/drawing/2014/main" id="{A5F106E3-D75B-9405-990E-D8B582C461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1145" name="Rectangle 8">
            <a:extLst>
              <a:ext uri="{FF2B5EF4-FFF2-40B4-BE49-F238E27FC236}">
                <a16:creationId xmlns:a16="http://schemas.microsoft.com/office/drawing/2014/main" id="{01102364-4EFA-9E7F-B70F-C56FE85E4CA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1146" name="Line 9">
            <a:extLst>
              <a:ext uri="{FF2B5EF4-FFF2-40B4-BE49-F238E27FC236}">
                <a16:creationId xmlns:a16="http://schemas.microsoft.com/office/drawing/2014/main" id="{5F84027E-6F32-BDCF-9C09-DDBB36D71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91147" name="Line 10">
            <a:extLst>
              <a:ext uri="{FF2B5EF4-FFF2-40B4-BE49-F238E27FC236}">
                <a16:creationId xmlns:a16="http://schemas.microsoft.com/office/drawing/2014/main" id="{97A612E3-263E-9756-0550-6D0578C30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91148" name="Rectangle 11">
            <a:extLst>
              <a:ext uri="{FF2B5EF4-FFF2-40B4-BE49-F238E27FC236}">
                <a16:creationId xmlns:a16="http://schemas.microsoft.com/office/drawing/2014/main" id="{C19AD684-44B5-327A-E566-EC4C18C43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We see the application of all these methods in Chapter 16 when</a:t>
            </a:r>
            <a:br>
              <a:rPr lang="en-US" altLang="en-US" sz="3200" i="0" baseline="0">
                <a:latin typeface="Arial" panose="020B0604020202020204" pitchFamily="34" charset="0"/>
              </a:rPr>
            </a:br>
            <a:r>
              <a:rPr lang="en-US" altLang="en-US" sz="3200" i="0" baseline="0">
                <a:latin typeface="Arial" panose="020B0604020202020204" pitchFamily="34" charset="0"/>
              </a:rPr>
              <a:t>we discuss cellular phone systems.</a:t>
            </a:r>
          </a:p>
        </p:txBody>
      </p:sp>
      <p:grpSp>
        <p:nvGrpSpPr>
          <p:cNvPr id="91149" name="Group 12">
            <a:extLst>
              <a:ext uri="{FF2B5EF4-FFF2-40B4-BE49-F238E27FC236}">
                <a16:creationId xmlns:a16="http://schemas.microsoft.com/office/drawing/2014/main" id="{034E7521-187E-4E8A-6954-5500131EE8A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91150" name="Picture 13">
              <a:extLst>
                <a:ext uri="{FF2B5EF4-FFF2-40B4-BE49-F238E27FC236}">
                  <a16:creationId xmlns:a16="http://schemas.microsoft.com/office/drawing/2014/main" id="{1526C95F-550A-D114-0859-03C4E535AB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1151" name="Text Box 14">
              <a:extLst>
                <a:ext uri="{FF2B5EF4-FFF2-40B4-BE49-F238E27FC236}">
                  <a16:creationId xmlns:a16="http://schemas.microsoft.com/office/drawing/2014/main" id="{BB08D385-C971-0040-D9F8-1AAA9151A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1">
            <a:extLst>
              <a:ext uri="{FF2B5EF4-FFF2-40B4-BE49-F238E27FC236}">
                <a16:creationId xmlns:a16="http://schemas.microsoft.com/office/drawing/2014/main" id="{AC837920-274A-3D16-D52F-C4D0A4CFE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3D8ED38C-C1FE-2744-AFCF-2C6779FEAFD0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45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3187" name="Line 2">
            <a:extLst>
              <a:ext uri="{FF2B5EF4-FFF2-40B4-BE49-F238E27FC236}">
                <a16:creationId xmlns:a16="http://schemas.microsoft.com/office/drawing/2014/main" id="{2F574206-6FA4-E55A-1ADB-F3ECF490FC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93188" name="Line 3">
            <a:extLst>
              <a:ext uri="{FF2B5EF4-FFF2-40B4-BE49-F238E27FC236}">
                <a16:creationId xmlns:a16="http://schemas.microsoft.com/office/drawing/2014/main" id="{CA85BCB8-F7C5-FDD4-9446-67BF4E0D17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93189" name="Text Box 4">
            <a:extLst>
              <a:ext uri="{FF2B5EF4-FFF2-40B4-BE49-F238E27FC236}">
                <a16:creationId xmlns:a16="http://schemas.microsoft.com/office/drawing/2014/main" id="{158ECF39-7FDF-0D3C-33CA-90AF6FD43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616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12.21  </a:t>
            </a:r>
            <a:r>
              <a:rPr lang="en-US" altLang="en-US" sz="2000" baseline="0"/>
              <a:t>Frequency-division multiple access (FDMA)</a:t>
            </a:r>
          </a:p>
        </p:txBody>
      </p:sp>
      <p:sp>
        <p:nvSpPr>
          <p:cNvPr id="93190" name="Line 5">
            <a:extLst>
              <a:ext uri="{FF2B5EF4-FFF2-40B4-BE49-F238E27FC236}">
                <a16:creationId xmlns:a16="http://schemas.microsoft.com/office/drawing/2014/main" id="{A796B69A-F879-55A2-6023-3601359B1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93191" name="Picture 9">
            <a:extLst>
              <a:ext uri="{FF2B5EF4-FFF2-40B4-BE49-F238E27FC236}">
                <a16:creationId xmlns:a16="http://schemas.microsoft.com/office/drawing/2014/main" id="{04591D91-56C2-8026-FBDC-F243431E9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8" y="1231900"/>
            <a:ext cx="7212012" cy="478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1">
            <a:extLst>
              <a:ext uri="{FF2B5EF4-FFF2-40B4-BE49-F238E27FC236}">
                <a16:creationId xmlns:a16="http://schemas.microsoft.com/office/drawing/2014/main" id="{7BC94482-2C0E-B771-A6E4-04031D526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02505C21-250D-E747-BD33-A29123216A09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46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3F2EC87F-853A-C0DA-ADD0-C2180ED7A0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2610DEF-D2BF-47AE-FBCD-4E1E967C0BE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5237" name="Rectangle 4">
            <a:extLst>
              <a:ext uri="{FF2B5EF4-FFF2-40B4-BE49-F238E27FC236}">
                <a16:creationId xmlns:a16="http://schemas.microsoft.com/office/drawing/2014/main" id="{8D504048-E853-4A95-FDA2-F1A81FC1F2A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5238" name="Rectangle 5">
            <a:extLst>
              <a:ext uri="{FF2B5EF4-FFF2-40B4-BE49-F238E27FC236}">
                <a16:creationId xmlns:a16="http://schemas.microsoft.com/office/drawing/2014/main" id="{EDC5EE82-3633-D4C3-41DA-5282757C777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5239" name="Rectangle 6">
            <a:extLst>
              <a:ext uri="{FF2B5EF4-FFF2-40B4-BE49-F238E27FC236}">
                <a16:creationId xmlns:a16="http://schemas.microsoft.com/office/drawing/2014/main" id="{82B68C38-C560-2318-BB36-960E341E01E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5240" name="Rectangle 7">
            <a:extLst>
              <a:ext uri="{FF2B5EF4-FFF2-40B4-BE49-F238E27FC236}">
                <a16:creationId xmlns:a16="http://schemas.microsoft.com/office/drawing/2014/main" id="{943BB73C-C3E4-6DB3-EB3C-0C19A68F37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5241" name="Rectangle 8">
            <a:extLst>
              <a:ext uri="{FF2B5EF4-FFF2-40B4-BE49-F238E27FC236}">
                <a16:creationId xmlns:a16="http://schemas.microsoft.com/office/drawing/2014/main" id="{C4F2674B-78D6-431F-C47C-F0592754B44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5242" name="Line 9">
            <a:extLst>
              <a:ext uri="{FF2B5EF4-FFF2-40B4-BE49-F238E27FC236}">
                <a16:creationId xmlns:a16="http://schemas.microsoft.com/office/drawing/2014/main" id="{F8981DC5-D850-BA5F-3B05-1C34E81C70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95243" name="Line 10">
            <a:extLst>
              <a:ext uri="{FF2B5EF4-FFF2-40B4-BE49-F238E27FC236}">
                <a16:creationId xmlns:a16="http://schemas.microsoft.com/office/drawing/2014/main" id="{AE74E398-710A-AC24-EC84-6E6DFC5BC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95244" name="Rectangle 11">
            <a:extLst>
              <a:ext uri="{FF2B5EF4-FFF2-40B4-BE49-F238E27FC236}">
                <a16:creationId xmlns:a16="http://schemas.microsoft.com/office/drawing/2014/main" id="{B11F452D-CDDA-7E0D-5751-2238E0C55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In FDMA, the available bandwidth </a:t>
            </a:r>
            <a:br>
              <a:rPr lang="en-US" altLang="en-US" sz="3200" i="0" baseline="0">
                <a:latin typeface="Arial" panose="020B0604020202020204" pitchFamily="34" charset="0"/>
              </a:rPr>
            </a:br>
            <a:r>
              <a:rPr lang="en-US" altLang="en-US" sz="3200" i="0" baseline="0">
                <a:latin typeface="Arial" panose="020B0604020202020204" pitchFamily="34" charset="0"/>
              </a:rPr>
              <a:t>of the common channel is divided into bands that are separated by guard bands.</a:t>
            </a:r>
          </a:p>
        </p:txBody>
      </p:sp>
      <p:grpSp>
        <p:nvGrpSpPr>
          <p:cNvPr id="95245" name="Group 12">
            <a:extLst>
              <a:ext uri="{FF2B5EF4-FFF2-40B4-BE49-F238E27FC236}">
                <a16:creationId xmlns:a16="http://schemas.microsoft.com/office/drawing/2014/main" id="{FDA4057C-E114-A943-A39A-BCECBF596CE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95246" name="Picture 13">
              <a:extLst>
                <a:ext uri="{FF2B5EF4-FFF2-40B4-BE49-F238E27FC236}">
                  <a16:creationId xmlns:a16="http://schemas.microsoft.com/office/drawing/2014/main" id="{218D956C-0469-7132-CE43-F73D6A275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5247" name="Text Box 14">
              <a:extLst>
                <a:ext uri="{FF2B5EF4-FFF2-40B4-BE49-F238E27FC236}">
                  <a16:creationId xmlns:a16="http://schemas.microsoft.com/office/drawing/2014/main" id="{C64043A7-ABFC-AB24-63CB-89B17359C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1">
            <a:extLst>
              <a:ext uri="{FF2B5EF4-FFF2-40B4-BE49-F238E27FC236}">
                <a16:creationId xmlns:a16="http://schemas.microsoft.com/office/drawing/2014/main" id="{1B3824B1-2EB9-209A-33F9-CB0050ADD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586F3FE4-FBA4-7A4E-9368-954C2FA5A386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47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Line 2">
            <a:extLst>
              <a:ext uri="{FF2B5EF4-FFF2-40B4-BE49-F238E27FC236}">
                <a16:creationId xmlns:a16="http://schemas.microsoft.com/office/drawing/2014/main" id="{B6474D93-B42C-97C6-2CD8-7ACC7DEB9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97284" name="Line 3">
            <a:extLst>
              <a:ext uri="{FF2B5EF4-FFF2-40B4-BE49-F238E27FC236}">
                <a16:creationId xmlns:a16="http://schemas.microsoft.com/office/drawing/2014/main" id="{873049C5-5792-DE1D-4C36-BDB1F6469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97285" name="Text Box 4">
            <a:extLst>
              <a:ext uri="{FF2B5EF4-FFF2-40B4-BE49-F238E27FC236}">
                <a16:creationId xmlns:a16="http://schemas.microsoft.com/office/drawing/2014/main" id="{9C57DC2E-8F08-6A9E-E5D4-50E52F192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008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12.22  </a:t>
            </a:r>
            <a:r>
              <a:rPr lang="en-US" altLang="en-US" sz="2000" baseline="0"/>
              <a:t>Time-division multiple access (TDMA)</a:t>
            </a:r>
          </a:p>
        </p:txBody>
      </p:sp>
      <p:sp>
        <p:nvSpPr>
          <p:cNvPr id="97286" name="Line 5">
            <a:extLst>
              <a:ext uri="{FF2B5EF4-FFF2-40B4-BE49-F238E27FC236}">
                <a16:creationId xmlns:a16="http://schemas.microsoft.com/office/drawing/2014/main" id="{635DBF3C-494E-2235-605A-7844FA4681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97287" name="Picture 7">
            <a:extLst>
              <a:ext uri="{FF2B5EF4-FFF2-40B4-BE49-F238E27FC236}">
                <a16:creationId xmlns:a16="http://schemas.microsoft.com/office/drawing/2014/main" id="{7782DF6D-88C6-7480-3B6D-CB677F66C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43013"/>
            <a:ext cx="7212013" cy="477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1">
            <a:extLst>
              <a:ext uri="{FF2B5EF4-FFF2-40B4-BE49-F238E27FC236}">
                <a16:creationId xmlns:a16="http://schemas.microsoft.com/office/drawing/2014/main" id="{A7FBA0BB-336E-5CE3-026A-B925F8C63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AECE146C-A61D-1541-9C70-B77583428171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48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A359ECC3-B77E-369F-28CE-C0533915529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37CC72D5-BF77-98A1-1AA8-B5BB9EB772A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9333" name="Rectangle 4">
            <a:extLst>
              <a:ext uri="{FF2B5EF4-FFF2-40B4-BE49-F238E27FC236}">
                <a16:creationId xmlns:a16="http://schemas.microsoft.com/office/drawing/2014/main" id="{A4A6AD4D-8FA4-B89B-605C-1F1A3EE8319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9334" name="Rectangle 5">
            <a:extLst>
              <a:ext uri="{FF2B5EF4-FFF2-40B4-BE49-F238E27FC236}">
                <a16:creationId xmlns:a16="http://schemas.microsoft.com/office/drawing/2014/main" id="{BA3BE621-D003-8A71-68C2-F0326BBA32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9335" name="Rectangle 6">
            <a:extLst>
              <a:ext uri="{FF2B5EF4-FFF2-40B4-BE49-F238E27FC236}">
                <a16:creationId xmlns:a16="http://schemas.microsoft.com/office/drawing/2014/main" id="{F7DF9E93-C4D8-1C9E-BDE1-6635B2EB660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9336" name="Rectangle 7">
            <a:extLst>
              <a:ext uri="{FF2B5EF4-FFF2-40B4-BE49-F238E27FC236}">
                <a16:creationId xmlns:a16="http://schemas.microsoft.com/office/drawing/2014/main" id="{9B212E45-363D-A482-F723-E717332189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9337" name="Rectangle 8">
            <a:extLst>
              <a:ext uri="{FF2B5EF4-FFF2-40B4-BE49-F238E27FC236}">
                <a16:creationId xmlns:a16="http://schemas.microsoft.com/office/drawing/2014/main" id="{1BBEBF43-39FB-0258-83A5-ECE89A56AA8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99338" name="Line 9">
            <a:extLst>
              <a:ext uri="{FF2B5EF4-FFF2-40B4-BE49-F238E27FC236}">
                <a16:creationId xmlns:a16="http://schemas.microsoft.com/office/drawing/2014/main" id="{31F0DC2E-0529-26EA-DE2E-6F765E25D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99339" name="Line 10">
            <a:extLst>
              <a:ext uri="{FF2B5EF4-FFF2-40B4-BE49-F238E27FC236}">
                <a16:creationId xmlns:a16="http://schemas.microsoft.com/office/drawing/2014/main" id="{6E3040BA-9280-AC85-8DDD-5AE6979604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99340" name="Rectangle 11">
            <a:extLst>
              <a:ext uri="{FF2B5EF4-FFF2-40B4-BE49-F238E27FC236}">
                <a16:creationId xmlns:a16="http://schemas.microsoft.com/office/drawing/2014/main" id="{6176B487-C570-A480-DEC3-1BB665793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In TDMA, the bandwidth is just one channel that is timeshared between different stations.</a:t>
            </a:r>
          </a:p>
        </p:txBody>
      </p:sp>
      <p:grpSp>
        <p:nvGrpSpPr>
          <p:cNvPr id="99341" name="Group 12">
            <a:extLst>
              <a:ext uri="{FF2B5EF4-FFF2-40B4-BE49-F238E27FC236}">
                <a16:creationId xmlns:a16="http://schemas.microsoft.com/office/drawing/2014/main" id="{85594EC0-2636-E37E-76E9-D1EC8F2299C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99342" name="Picture 13">
              <a:extLst>
                <a:ext uri="{FF2B5EF4-FFF2-40B4-BE49-F238E27FC236}">
                  <a16:creationId xmlns:a16="http://schemas.microsoft.com/office/drawing/2014/main" id="{68610B10-2ABE-67CF-16B7-3A60FB5E79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9343" name="Text Box 14">
              <a:extLst>
                <a:ext uri="{FF2B5EF4-FFF2-40B4-BE49-F238E27FC236}">
                  <a16:creationId xmlns:a16="http://schemas.microsoft.com/office/drawing/2014/main" id="{4907F720-B906-531A-50B0-8B39A7913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1">
            <a:extLst>
              <a:ext uri="{FF2B5EF4-FFF2-40B4-BE49-F238E27FC236}">
                <a16:creationId xmlns:a16="http://schemas.microsoft.com/office/drawing/2014/main" id="{DB1366D6-6D27-8BF5-73F5-54ED69571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85E0D0DC-1A86-B844-9A58-B78DB2DDA638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49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811FC5C3-C1C7-EF17-B685-0FDF9D69E7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689B0210-6D29-E61F-1AFE-C22E683492A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01381" name="Rectangle 4">
            <a:extLst>
              <a:ext uri="{FF2B5EF4-FFF2-40B4-BE49-F238E27FC236}">
                <a16:creationId xmlns:a16="http://schemas.microsoft.com/office/drawing/2014/main" id="{51082DCB-4C43-D821-0962-5573A4FB2AD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01382" name="Rectangle 5">
            <a:extLst>
              <a:ext uri="{FF2B5EF4-FFF2-40B4-BE49-F238E27FC236}">
                <a16:creationId xmlns:a16="http://schemas.microsoft.com/office/drawing/2014/main" id="{D1DD7CF7-0C04-539A-F5FA-EB282A0DBE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01383" name="Rectangle 6">
            <a:extLst>
              <a:ext uri="{FF2B5EF4-FFF2-40B4-BE49-F238E27FC236}">
                <a16:creationId xmlns:a16="http://schemas.microsoft.com/office/drawing/2014/main" id="{A86CD9F2-0B13-67F1-17BD-8BAA98A97F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01384" name="Rectangle 7">
            <a:extLst>
              <a:ext uri="{FF2B5EF4-FFF2-40B4-BE49-F238E27FC236}">
                <a16:creationId xmlns:a16="http://schemas.microsoft.com/office/drawing/2014/main" id="{ECCEB6F4-B643-ACC5-F729-AAD23B4095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01385" name="Rectangle 8">
            <a:extLst>
              <a:ext uri="{FF2B5EF4-FFF2-40B4-BE49-F238E27FC236}">
                <a16:creationId xmlns:a16="http://schemas.microsoft.com/office/drawing/2014/main" id="{65291B20-FCF2-E2E7-FDBF-2E54FCA0D02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01386" name="Line 9">
            <a:extLst>
              <a:ext uri="{FF2B5EF4-FFF2-40B4-BE49-F238E27FC236}">
                <a16:creationId xmlns:a16="http://schemas.microsoft.com/office/drawing/2014/main" id="{AC4102A7-7BC6-7773-32F8-CB3DEB233A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1387" name="Line 10">
            <a:extLst>
              <a:ext uri="{FF2B5EF4-FFF2-40B4-BE49-F238E27FC236}">
                <a16:creationId xmlns:a16="http://schemas.microsoft.com/office/drawing/2014/main" id="{78F21FA0-DD0C-B7B9-4A8B-DF86B334E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1388" name="Rectangle 11">
            <a:extLst>
              <a:ext uri="{FF2B5EF4-FFF2-40B4-BE49-F238E27FC236}">
                <a16:creationId xmlns:a16="http://schemas.microsoft.com/office/drawing/2014/main" id="{CC06EDA1-99E5-7019-9414-EE86EDAF9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In CDMA, one channel carries all transmissions simultaneously.</a:t>
            </a:r>
          </a:p>
        </p:txBody>
      </p:sp>
      <p:grpSp>
        <p:nvGrpSpPr>
          <p:cNvPr id="101389" name="Group 12">
            <a:extLst>
              <a:ext uri="{FF2B5EF4-FFF2-40B4-BE49-F238E27FC236}">
                <a16:creationId xmlns:a16="http://schemas.microsoft.com/office/drawing/2014/main" id="{7696F8D0-2B14-24F7-DD0C-4B2D4A019EE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01390" name="Picture 13">
              <a:extLst>
                <a:ext uri="{FF2B5EF4-FFF2-40B4-BE49-F238E27FC236}">
                  <a16:creationId xmlns:a16="http://schemas.microsoft.com/office/drawing/2014/main" id="{B5D5FF52-2744-ADA2-2A8E-44F35CCE2A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1391" name="Text Box 14">
              <a:extLst>
                <a:ext uri="{FF2B5EF4-FFF2-40B4-BE49-F238E27FC236}">
                  <a16:creationId xmlns:a16="http://schemas.microsoft.com/office/drawing/2014/main" id="{0E953AA6-0C06-F427-99E1-786199015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Number Placeholder 1">
            <a:extLst>
              <a:ext uri="{FF2B5EF4-FFF2-40B4-BE49-F238E27FC236}">
                <a16:creationId xmlns:a16="http://schemas.microsoft.com/office/drawing/2014/main" id="{47F378D1-C514-084F-B7CD-5C4DAA870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7DF95F2D-CDE8-EE41-B7A4-9793BFBCE9AA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50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3427" name="Line 2">
            <a:extLst>
              <a:ext uri="{FF2B5EF4-FFF2-40B4-BE49-F238E27FC236}">
                <a16:creationId xmlns:a16="http://schemas.microsoft.com/office/drawing/2014/main" id="{0980C634-6C23-D484-14C6-118C7A39BE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3428" name="Line 3">
            <a:extLst>
              <a:ext uri="{FF2B5EF4-FFF2-40B4-BE49-F238E27FC236}">
                <a16:creationId xmlns:a16="http://schemas.microsoft.com/office/drawing/2014/main" id="{47022F0E-8EDA-6663-CCF7-C288C4DCDB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3429" name="Text Box 4">
            <a:extLst>
              <a:ext uri="{FF2B5EF4-FFF2-40B4-BE49-F238E27FC236}">
                <a16:creationId xmlns:a16="http://schemas.microsoft.com/office/drawing/2014/main" id="{424E31AB-0A3E-8D49-1126-92C502BB1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20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12.23  </a:t>
            </a:r>
            <a:r>
              <a:rPr lang="en-US" altLang="en-US" sz="2000" baseline="0"/>
              <a:t>Simple idea of communication with code</a:t>
            </a:r>
          </a:p>
        </p:txBody>
      </p:sp>
      <p:sp>
        <p:nvSpPr>
          <p:cNvPr id="103430" name="Line 5">
            <a:extLst>
              <a:ext uri="{FF2B5EF4-FFF2-40B4-BE49-F238E27FC236}">
                <a16:creationId xmlns:a16="http://schemas.microsoft.com/office/drawing/2014/main" id="{46FF90BD-8F79-08D5-DBB8-749CB6D5D3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103431" name="Picture 7">
            <a:extLst>
              <a:ext uri="{FF2B5EF4-FFF2-40B4-BE49-F238E27FC236}">
                <a16:creationId xmlns:a16="http://schemas.microsoft.com/office/drawing/2014/main" id="{00B5B100-4863-DFCD-C446-B21340EAF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1338263"/>
            <a:ext cx="7258050" cy="430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1">
            <a:extLst>
              <a:ext uri="{FF2B5EF4-FFF2-40B4-BE49-F238E27FC236}">
                <a16:creationId xmlns:a16="http://schemas.microsoft.com/office/drawing/2014/main" id="{F051EFB8-416F-14AA-059C-C65763CC3B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254B6D5-18D8-A840-8CE8-BAE31B79E6D7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51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5475" name="Line 2">
            <a:extLst>
              <a:ext uri="{FF2B5EF4-FFF2-40B4-BE49-F238E27FC236}">
                <a16:creationId xmlns:a16="http://schemas.microsoft.com/office/drawing/2014/main" id="{FB173114-5C34-1115-0540-F7BB452D0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5476" name="Line 3">
            <a:extLst>
              <a:ext uri="{FF2B5EF4-FFF2-40B4-BE49-F238E27FC236}">
                <a16:creationId xmlns:a16="http://schemas.microsoft.com/office/drawing/2014/main" id="{EC83F87B-7502-404C-BF3C-7B425D2F1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5477" name="Text Box 4">
            <a:extLst>
              <a:ext uri="{FF2B5EF4-FFF2-40B4-BE49-F238E27FC236}">
                <a16:creationId xmlns:a16="http://schemas.microsoft.com/office/drawing/2014/main" id="{D134FB61-5718-BCA3-42EF-EB0DC57AF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58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12.24  </a:t>
            </a:r>
            <a:r>
              <a:rPr lang="en-US" altLang="en-US" sz="2000" baseline="0"/>
              <a:t>Chip sequences</a:t>
            </a:r>
          </a:p>
        </p:txBody>
      </p:sp>
      <p:sp>
        <p:nvSpPr>
          <p:cNvPr id="105478" name="Line 5">
            <a:extLst>
              <a:ext uri="{FF2B5EF4-FFF2-40B4-BE49-F238E27FC236}">
                <a16:creationId xmlns:a16="http://schemas.microsoft.com/office/drawing/2014/main" id="{D9AFFB65-DFB9-B94D-AD15-6CCD60301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105479" name="Picture 7">
            <a:extLst>
              <a:ext uri="{FF2B5EF4-FFF2-40B4-BE49-F238E27FC236}">
                <a16:creationId xmlns:a16="http://schemas.microsoft.com/office/drawing/2014/main" id="{BD26E5E8-121C-AF28-9FE4-034A77606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870200"/>
            <a:ext cx="87757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Number Placeholder 1">
            <a:extLst>
              <a:ext uri="{FF2B5EF4-FFF2-40B4-BE49-F238E27FC236}">
                <a16:creationId xmlns:a16="http://schemas.microsoft.com/office/drawing/2014/main" id="{FE51DE4C-0165-701A-D8D1-28F7E49AF9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ED40CAFA-5E1A-7244-A945-E1D5970AEABE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52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7523" name="Line 2">
            <a:extLst>
              <a:ext uri="{FF2B5EF4-FFF2-40B4-BE49-F238E27FC236}">
                <a16:creationId xmlns:a16="http://schemas.microsoft.com/office/drawing/2014/main" id="{FDE3004E-1A55-65B7-05FE-22B21F42B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7524" name="Line 3">
            <a:extLst>
              <a:ext uri="{FF2B5EF4-FFF2-40B4-BE49-F238E27FC236}">
                <a16:creationId xmlns:a16="http://schemas.microsoft.com/office/drawing/2014/main" id="{10935633-D8BF-AE63-90CF-BDA3E5F093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7525" name="Text Box 4">
            <a:extLst>
              <a:ext uri="{FF2B5EF4-FFF2-40B4-BE49-F238E27FC236}">
                <a16:creationId xmlns:a16="http://schemas.microsoft.com/office/drawing/2014/main" id="{252DA5CE-2196-A997-671A-E6F296EA3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126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12.25  </a:t>
            </a:r>
            <a:r>
              <a:rPr lang="en-US" altLang="en-US" sz="2000" baseline="0"/>
              <a:t>Data representation in CDMA</a:t>
            </a:r>
          </a:p>
        </p:txBody>
      </p:sp>
      <p:sp>
        <p:nvSpPr>
          <p:cNvPr id="107526" name="Line 5">
            <a:extLst>
              <a:ext uri="{FF2B5EF4-FFF2-40B4-BE49-F238E27FC236}">
                <a16:creationId xmlns:a16="http://schemas.microsoft.com/office/drawing/2014/main" id="{B4BE9A44-305F-65E2-23FF-FEC6F107BF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105479" name="Picture 7">
            <a:extLst>
              <a:ext uri="{FF2B5EF4-FFF2-40B4-BE49-F238E27FC236}">
                <a16:creationId xmlns:a16="http://schemas.microsoft.com/office/drawing/2014/main" id="{C49116FF-3660-3A0D-1FCD-9D1B73DD2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3016250"/>
            <a:ext cx="8126412" cy="71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7528" name="TextBox 2">
            <a:extLst>
              <a:ext uri="{FF2B5EF4-FFF2-40B4-BE49-F238E27FC236}">
                <a16:creationId xmlns:a16="http://schemas.microsoft.com/office/drawing/2014/main" id="{33D801EA-615E-0609-731B-3EEC2FC33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1511300"/>
            <a:ext cx="4603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i="0" baseline="0"/>
              <a:t>Data Representation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1">
            <a:extLst>
              <a:ext uri="{FF2B5EF4-FFF2-40B4-BE49-F238E27FC236}">
                <a16:creationId xmlns:a16="http://schemas.microsoft.com/office/drawing/2014/main" id="{DA056BC3-3665-8FE6-189C-F0DEC7D23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E70CC3A5-F2F7-854E-8B82-7CF41A96B0CD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53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9571" name="Line 2">
            <a:extLst>
              <a:ext uri="{FF2B5EF4-FFF2-40B4-BE49-F238E27FC236}">
                <a16:creationId xmlns:a16="http://schemas.microsoft.com/office/drawing/2014/main" id="{E9E4FABA-11D8-6C35-01FA-E30343B6A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9572" name="Line 3">
            <a:extLst>
              <a:ext uri="{FF2B5EF4-FFF2-40B4-BE49-F238E27FC236}">
                <a16:creationId xmlns:a16="http://schemas.microsoft.com/office/drawing/2014/main" id="{E9B9233D-597B-229B-800C-49EB2BE6B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09573" name="Text Box 4">
            <a:extLst>
              <a:ext uri="{FF2B5EF4-FFF2-40B4-BE49-F238E27FC236}">
                <a16:creationId xmlns:a16="http://schemas.microsoft.com/office/drawing/2014/main" id="{D85997F7-DC23-71F1-0FB5-F7E5A8A98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80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12.26  </a:t>
            </a:r>
            <a:r>
              <a:rPr lang="en-US" altLang="en-US" sz="2000" baseline="0"/>
              <a:t>Sharing channel in CDMA</a:t>
            </a:r>
          </a:p>
        </p:txBody>
      </p:sp>
      <p:sp>
        <p:nvSpPr>
          <p:cNvPr id="109574" name="Line 5">
            <a:extLst>
              <a:ext uri="{FF2B5EF4-FFF2-40B4-BE49-F238E27FC236}">
                <a16:creationId xmlns:a16="http://schemas.microsoft.com/office/drawing/2014/main" id="{684DDE94-7F82-FAD5-C5FF-115B3790C9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109575" name="Picture 7">
            <a:extLst>
              <a:ext uri="{FF2B5EF4-FFF2-40B4-BE49-F238E27FC236}">
                <a16:creationId xmlns:a16="http://schemas.microsoft.com/office/drawing/2014/main" id="{19BFD6C9-2267-4FF9-2287-146BEE0E0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1524000"/>
            <a:ext cx="8729662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Number Placeholder 1">
            <a:extLst>
              <a:ext uri="{FF2B5EF4-FFF2-40B4-BE49-F238E27FC236}">
                <a16:creationId xmlns:a16="http://schemas.microsoft.com/office/drawing/2014/main" id="{9BE50ED6-B2C7-CE60-180B-4FFE84126A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64EB2E24-1FB8-6B43-99AC-51C7CC31039C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54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1619" name="Line 2">
            <a:extLst>
              <a:ext uri="{FF2B5EF4-FFF2-40B4-BE49-F238E27FC236}">
                <a16:creationId xmlns:a16="http://schemas.microsoft.com/office/drawing/2014/main" id="{DA528AD9-095C-0CE2-11B7-E251278E1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11620" name="Line 3">
            <a:extLst>
              <a:ext uri="{FF2B5EF4-FFF2-40B4-BE49-F238E27FC236}">
                <a16:creationId xmlns:a16="http://schemas.microsoft.com/office/drawing/2014/main" id="{33328CB4-928A-8550-8128-E9F6B10C4E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11621" name="Text Box 4">
            <a:extLst>
              <a:ext uri="{FF2B5EF4-FFF2-40B4-BE49-F238E27FC236}">
                <a16:creationId xmlns:a16="http://schemas.microsoft.com/office/drawing/2014/main" id="{8158BF0F-F66B-B56E-8ACE-F1D21C59D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969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12.27  </a:t>
            </a:r>
            <a:r>
              <a:rPr lang="en-US" altLang="en-US" sz="2000" baseline="0"/>
              <a:t>Digital signal created by four stations in CDMA</a:t>
            </a:r>
          </a:p>
        </p:txBody>
      </p:sp>
      <p:sp>
        <p:nvSpPr>
          <p:cNvPr id="111622" name="Line 5">
            <a:extLst>
              <a:ext uri="{FF2B5EF4-FFF2-40B4-BE49-F238E27FC236}">
                <a16:creationId xmlns:a16="http://schemas.microsoft.com/office/drawing/2014/main" id="{F583D40F-D1D8-7825-236C-4C5F9B42A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111623" name="Picture 7">
            <a:extLst>
              <a:ext uri="{FF2B5EF4-FFF2-40B4-BE49-F238E27FC236}">
                <a16:creationId xmlns:a16="http://schemas.microsoft.com/office/drawing/2014/main" id="{708B43E8-61D1-877F-01C1-1FB04A741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552575"/>
            <a:ext cx="8026400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Number Placeholder 1">
            <a:extLst>
              <a:ext uri="{FF2B5EF4-FFF2-40B4-BE49-F238E27FC236}">
                <a16:creationId xmlns:a16="http://schemas.microsoft.com/office/drawing/2014/main" id="{EC3E3290-E5B1-A366-3958-88FC055270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30A0FCC5-E7A6-4E41-A1C9-13F6D8258442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55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3667" name="Line 2">
            <a:extLst>
              <a:ext uri="{FF2B5EF4-FFF2-40B4-BE49-F238E27FC236}">
                <a16:creationId xmlns:a16="http://schemas.microsoft.com/office/drawing/2014/main" id="{EC55309D-C9C2-EE15-6CEF-4211825EF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13668" name="Line 3">
            <a:extLst>
              <a:ext uri="{FF2B5EF4-FFF2-40B4-BE49-F238E27FC236}">
                <a16:creationId xmlns:a16="http://schemas.microsoft.com/office/drawing/2014/main" id="{CBC7A351-34A3-62DC-D447-E54453B01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13669" name="Text Box 4">
            <a:extLst>
              <a:ext uri="{FF2B5EF4-FFF2-40B4-BE49-F238E27FC236}">
                <a16:creationId xmlns:a16="http://schemas.microsoft.com/office/drawing/2014/main" id="{2C8A29F7-5C09-DD07-7258-896F1CB8F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33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12.28  </a:t>
            </a:r>
            <a:r>
              <a:rPr lang="en-US" altLang="en-US" sz="2000" baseline="0"/>
              <a:t>Decoding of the composite signal for one in CDMA</a:t>
            </a:r>
          </a:p>
        </p:txBody>
      </p:sp>
      <p:sp>
        <p:nvSpPr>
          <p:cNvPr id="113670" name="Line 5">
            <a:extLst>
              <a:ext uri="{FF2B5EF4-FFF2-40B4-BE49-F238E27FC236}">
                <a16:creationId xmlns:a16="http://schemas.microsoft.com/office/drawing/2014/main" id="{B123C050-6501-2AE7-4765-E0484DED2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113671" name="Picture 7">
            <a:extLst>
              <a:ext uri="{FF2B5EF4-FFF2-40B4-BE49-F238E27FC236}">
                <a16:creationId xmlns:a16="http://schemas.microsoft.com/office/drawing/2014/main" id="{85B16F20-486C-B7FA-21CF-501E2EBC8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1301750"/>
            <a:ext cx="7358062" cy="433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Number Placeholder 1">
            <a:extLst>
              <a:ext uri="{FF2B5EF4-FFF2-40B4-BE49-F238E27FC236}">
                <a16:creationId xmlns:a16="http://schemas.microsoft.com/office/drawing/2014/main" id="{70BB48BE-B1BA-5833-BB8D-9FBD24FB29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263BBBF0-00A3-D846-91FC-C32915CB1870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56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5715" name="Line 2">
            <a:extLst>
              <a:ext uri="{FF2B5EF4-FFF2-40B4-BE49-F238E27FC236}">
                <a16:creationId xmlns:a16="http://schemas.microsoft.com/office/drawing/2014/main" id="{24E5214C-8AA8-A9E9-E940-AD8AAEFC7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15716" name="Line 3">
            <a:extLst>
              <a:ext uri="{FF2B5EF4-FFF2-40B4-BE49-F238E27FC236}">
                <a16:creationId xmlns:a16="http://schemas.microsoft.com/office/drawing/2014/main" id="{AD8FDDB9-A061-FE3B-5485-ABA675501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15717" name="Text Box 4">
            <a:extLst>
              <a:ext uri="{FF2B5EF4-FFF2-40B4-BE49-F238E27FC236}">
                <a16:creationId xmlns:a16="http://schemas.microsoft.com/office/drawing/2014/main" id="{5D5AC42A-9710-9B29-6F12-923757DAB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377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i="0" baseline="0">
                <a:solidFill>
                  <a:schemeClr val="folHlink"/>
                </a:solidFill>
              </a:rPr>
              <a:t>Figure 12.29  </a:t>
            </a:r>
            <a:r>
              <a:rPr lang="en-US" altLang="en-US" sz="2000" baseline="0"/>
              <a:t>General rule and examples of creating Walsh tables</a:t>
            </a:r>
          </a:p>
        </p:txBody>
      </p:sp>
      <p:sp>
        <p:nvSpPr>
          <p:cNvPr id="115718" name="Line 5">
            <a:extLst>
              <a:ext uri="{FF2B5EF4-FFF2-40B4-BE49-F238E27FC236}">
                <a16:creationId xmlns:a16="http://schemas.microsoft.com/office/drawing/2014/main" id="{91728C6A-490F-306D-7CE5-E6193261C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pic>
        <p:nvPicPr>
          <p:cNvPr id="115719" name="Picture 7">
            <a:extLst>
              <a:ext uri="{FF2B5EF4-FFF2-40B4-BE49-F238E27FC236}">
                <a16:creationId xmlns:a16="http://schemas.microsoft.com/office/drawing/2014/main" id="{0F46C5EF-F195-17F8-A1AC-31A16FC48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0" y="1417638"/>
            <a:ext cx="598805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Number Placeholder 1">
            <a:extLst>
              <a:ext uri="{FF2B5EF4-FFF2-40B4-BE49-F238E27FC236}">
                <a16:creationId xmlns:a16="http://schemas.microsoft.com/office/drawing/2014/main" id="{EA4CF8C3-C87B-DA4A-44DC-3AD9970BD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BFA88EB9-96F8-B845-9FA3-ACD8DE4A2275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57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3288EA70-2FC1-541C-0938-78D2A2CBD6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685D7278-EC2E-F85C-B457-D2AD3090DE0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765" name="Rectangle 4">
            <a:extLst>
              <a:ext uri="{FF2B5EF4-FFF2-40B4-BE49-F238E27FC236}">
                <a16:creationId xmlns:a16="http://schemas.microsoft.com/office/drawing/2014/main" id="{4C952A26-A115-2667-D321-23A034B92E1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766" name="Rectangle 5">
            <a:extLst>
              <a:ext uri="{FF2B5EF4-FFF2-40B4-BE49-F238E27FC236}">
                <a16:creationId xmlns:a16="http://schemas.microsoft.com/office/drawing/2014/main" id="{A644DB38-31C2-D78C-4B87-DEC97415AEF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767" name="Rectangle 6">
            <a:extLst>
              <a:ext uri="{FF2B5EF4-FFF2-40B4-BE49-F238E27FC236}">
                <a16:creationId xmlns:a16="http://schemas.microsoft.com/office/drawing/2014/main" id="{585F706E-1B9F-08E3-038D-9865C91ABCE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768" name="Rectangle 7">
            <a:extLst>
              <a:ext uri="{FF2B5EF4-FFF2-40B4-BE49-F238E27FC236}">
                <a16:creationId xmlns:a16="http://schemas.microsoft.com/office/drawing/2014/main" id="{FC18859C-F05D-B5DD-BA50-93DBADB5BEB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769" name="Rectangle 8">
            <a:extLst>
              <a:ext uri="{FF2B5EF4-FFF2-40B4-BE49-F238E27FC236}">
                <a16:creationId xmlns:a16="http://schemas.microsoft.com/office/drawing/2014/main" id="{8FF4D4D1-E25F-DA03-C28B-22B42583FE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770" name="Line 9">
            <a:extLst>
              <a:ext uri="{FF2B5EF4-FFF2-40B4-BE49-F238E27FC236}">
                <a16:creationId xmlns:a16="http://schemas.microsoft.com/office/drawing/2014/main" id="{7A3BCDD0-02FB-3BF1-1D06-44868F0A7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17771" name="Line 10">
            <a:extLst>
              <a:ext uri="{FF2B5EF4-FFF2-40B4-BE49-F238E27FC236}">
                <a16:creationId xmlns:a16="http://schemas.microsoft.com/office/drawing/2014/main" id="{1ACF7AD4-2186-1F52-BC81-9CCB58A9C9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117772" name="Rectangle 11">
            <a:extLst>
              <a:ext uri="{FF2B5EF4-FFF2-40B4-BE49-F238E27FC236}">
                <a16:creationId xmlns:a16="http://schemas.microsoft.com/office/drawing/2014/main" id="{A00C7492-50FD-8EB2-08EF-CA7788310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The number of sequences in a Walsh table needs to be N = 2</a:t>
            </a:r>
            <a:r>
              <a:rPr lang="en-US" altLang="en-US" sz="3200" i="0" baseline="30000">
                <a:latin typeface="Arial" panose="020B0604020202020204" pitchFamily="34" charset="0"/>
              </a:rPr>
              <a:t>m</a:t>
            </a:r>
            <a:r>
              <a:rPr lang="en-US" altLang="en-US" sz="3200" i="0" baseline="0"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117773" name="Group 12">
            <a:extLst>
              <a:ext uri="{FF2B5EF4-FFF2-40B4-BE49-F238E27FC236}">
                <a16:creationId xmlns:a16="http://schemas.microsoft.com/office/drawing/2014/main" id="{4C0BDC1E-FB66-8B2B-C5E8-E7F7F449EF9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7774" name="Picture 13">
              <a:extLst>
                <a:ext uri="{FF2B5EF4-FFF2-40B4-BE49-F238E27FC236}">
                  <a16:creationId xmlns:a16="http://schemas.microsoft.com/office/drawing/2014/main" id="{1D9A387D-4C18-D235-F3FC-A3EB063341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7775" name="Text Box 14">
              <a:extLst>
                <a:ext uri="{FF2B5EF4-FFF2-40B4-BE49-F238E27FC236}">
                  <a16:creationId xmlns:a16="http://schemas.microsoft.com/office/drawing/2014/main" id="{D0792FBE-9D3A-F959-D8B7-85F6425F2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1">
            <a:extLst>
              <a:ext uri="{FF2B5EF4-FFF2-40B4-BE49-F238E27FC236}">
                <a16:creationId xmlns:a16="http://schemas.microsoft.com/office/drawing/2014/main" id="{0FF0B2BA-CD9F-3824-EB4B-BF5F55EA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B0B0CF24-86CC-634E-9BEE-848FEAA4FE6F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58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1AC6CD17-A835-BBAF-767D-94BA64665E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1A0A7E6E-BAE1-02E9-A2F7-1F7AE1513BF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9813" name="Rectangle 4">
            <a:extLst>
              <a:ext uri="{FF2B5EF4-FFF2-40B4-BE49-F238E27FC236}">
                <a16:creationId xmlns:a16="http://schemas.microsoft.com/office/drawing/2014/main" id="{23CCE179-F2D4-D139-A3C2-531C27E5235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9814" name="Rectangle 5">
            <a:extLst>
              <a:ext uri="{FF2B5EF4-FFF2-40B4-BE49-F238E27FC236}">
                <a16:creationId xmlns:a16="http://schemas.microsoft.com/office/drawing/2014/main" id="{F427113D-D227-234E-1428-89BFBF8F128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9815" name="Rectangle 6">
            <a:extLst>
              <a:ext uri="{FF2B5EF4-FFF2-40B4-BE49-F238E27FC236}">
                <a16:creationId xmlns:a16="http://schemas.microsoft.com/office/drawing/2014/main" id="{5B822D68-3E0C-A98A-0C49-54BD593B2D6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9816" name="Rectangle 7">
            <a:extLst>
              <a:ext uri="{FF2B5EF4-FFF2-40B4-BE49-F238E27FC236}">
                <a16:creationId xmlns:a16="http://schemas.microsoft.com/office/drawing/2014/main" id="{63F4D748-B9AA-168D-85B0-C09567BFA30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9817" name="Rectangle 8">
            <a:extLst>
              <a:ext uri="{FF2B5EF4-FFF2-40B4-BE49-F238E27FC236}">
                <a16:creationId xmlns:a16="http://schemas.microsoft.com/office/drawing/2014/main" id="{135B9C52-9896-778E-33F6-422C9CCA51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9818" name="Rectangle 9">
            <a:extLst>
              <a:ext uri="{FF2B5EF4-FFF2-40B4-BE49-F238E27FC236}">
                <a16:creationId xmlns:a16="http://schemas.microsoft.com/office/drawing/2014/main" id="{CDEF01F7-C6A6-9123-57EF-1DF3F9686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/>
              <a:t>Find the chips for a network with</a:t>
            </a:r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a.</a:t>
            </a:r>
            <a:r>
              <a:rPr lang="en-US" altLang="en-US" baseline="0"/>
              <a:t> Two stations           </a:t>
            </a:r>
            <a:r>
              <a:rPr lang="en-US" altLang="en-US" baseline="0">
                <a:solidFill>
                  <a:schemeClr val="hlink"/>
                </a:solidFill>
              </a:rPr>
              <a:t>b.</a:t>
            </a:r>
            <a:r>
              <a:rPr lang="en-US" altLang="en-US" baseline="0"/>
              <a:t> Four stations</a:t>
            </a:r>
          </a:p>
        </p:txBody>
      </p:sp>
      <p:sp>
        <p:nvSpPr>
          <p:cNvPr id="119819" name="Text Box 11">
            <a:extLst>
              <a:ext uri="{FF2B5EF4-FFF2-40B4-BE49-F238E27FC236}">
                <a16:creationId xmlns:a16="http://schemas.microsoft.com/office/drawing/2014/main" id="{0DD6B743-3080-D994-E1AF-10EBFC27B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12.6</a:t>
            </a:r>
          </a:p>
        </p:txBody>
      </p:sp>
      <p:sp>
        <p:nvSpPr>
          <p:cNvPr id="119820" name="Rectangle 12">
            <a:extLst>
              <a:ext uri="{FF2B5EF4-FFF2-40B4-BE49-F238E27FC236}">
                <a16:creationId xmlns:a16="http://schemas.microsoft.com/office/drawing/2014/main" id="{9902C485-3A5F-227B-6B90-F4495332D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38400"/>
            <a:ext cx="8686800" cy="350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aseline="0">
                <a:solidFill>
                  <a:schemeClr val="hlink"/>
                </a:solidFill>
              </a:rPr>
              <a:t>Solution</a:t>
            </a:r>
          </a:p>
          <a:p>
            <a:r>
              <a:rPr lang="en-US" altLang="en-US" baseline="0"/>
              <a:t>We can use the rows of W</a:t>
            </a:r>
            <a:r>
              <a:rPr lang="en-US" altLang="en-US"/>
              <a:t>2</a:t>
            </a:r>
            <a:r>
              <a:rPr lang="en-US" altLang="en-US" baseline="0"/>
              <a:t> and W</a:t>
            </a:r>
            <a:r>
              <a:rPr lang="en-US" altLang="en-US"/>
              <a:t>4</a:t>
            </a:r>
            <a:r>
              <a:rPr lang="en-US" altLang="en-US" baseline="0"/>
              <a:t> in Figure 12.29:</a:t>
            </a:r>
          </a:p>
          <a:p>
            <a:r>
              <a:rPr lang="en-US" altLang="en-US" baseline="0">
                <a:solidFill>
                  <a:schemeClr val="hlink"/>
                </a:solidFill>
              </a:rPr>
              <a:t>a.</a:t>
            </a:r>
            <a:r>
              <a:rPr lang="en-US" altLang="en-US" baseline="0"/>
              <a:t> For a two-station network, we have </a:t>
            </a:r>
            <a:br>
              <a:rPr lang="en-US" altLang="en-US" i="0" baseline="0"/>
            </a:br>
            <a:r>
              <a:rPr lang="en-US" altLang="en-US" i="0" baseline="0"/>
              <a:t>                           [+1 +1] and [+1 −1].</a:t>
            </a:r>
          </a:p>
          <a:p>
            <a:endParaRPr lang="en-US" altLang="en-US" i="0" baseline="0"/>
          </a:p>
          <a:p>
            <a:r>
              <a:rPr lang="en-US" altLang="en-US" baseline="0">
                <a:solidFill>
                  <a:schemeClr val="hlink"/>
                </a:solidFill>
              </a:rPr>
              <a:t>b</a:t>
            </a:r>
            <a:r>
              <a:rPr lang="en-US" altLang="en-US" baseline="0"/>
              <a:t>. For a four-station network we have </a:t>
            </a:r>
            <a:br>
              <a:rPr lang="en-US" altLang="en-US" baseline="0"/>
            </a:br>
            <a:r>
              <a:rPr lang="en-US" altLang="en-US" baseline="0"/>
              <a:t>                       </a:t>
            </a:r>
            <a:r>
              <a:rPr lang="en-US" altLang="en-US" i="0" baseline="0"/>
              <a:t>[+1 +1 +1 +1], [+1 −1 +1 −1], </a:t>
            </a:r>
            <a:br>
              <a:rPr lang="en-US" altLang="en-US" i="0" baseline="0"/>
            </a:br>
            <a:r>
              <a:rPr lang="en-US" altLang="en-US" i="0" baseline="0"/>
              <a:t>                 [+1 +1 −1 −1],</a:t>
            </a:r>
            <a:r>
              <a:rPr lang="en-US" altLang="en-US" baseline="0"/>
              <a:t>  and   </a:t>
            </a:r>
            <a:r>
              <a:rPr lang="en-US" altLang="en-US" i="0" baseline="0"/>
              <a:t>[+1 −1 −1 +1].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Number Placeholder 1">
            <a:extLst>
              <a:ext uri="{FF2B5EF4-FFF2-40B4-BE49-F238E27FC236}">
                <a16:creationId xmlns:a16="http://schemas.microsoft.com/office/drawing/2014/main" id="{DDA914DE-F6B6-3141-B9B3-DB486A77D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5DDCD341-7ED6-9244-A5E6-4E1D394C9589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59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58593E5A-582C-A78B-243C-C62A0628568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DF6DB40C-1893-0ECC-4927-156B82B5D9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1861" name="Rectangle 4">
            <a:extLst>
              <a:ext uri="{FF2B5EF4-FFF2-40B4-BE49-F238E27FC236}">
                <a16:creationId xmlns:a16="http://schemas.microsoft.com/office/drawing/2014/main" id="{7A69E663-68A0-E7E9-ED47-3AD9D49CA39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1862" name="Rectangle 5">
            <a:extLst>
              <a:ext uri="{FF2B5EF4-FFF2-40B4-BE49-F238E27FC236}">
                <a16:creationId xmlns:a16="http://schemas.microsoft.com/office/drawing/2014/main" id="{EA891711-5C33-F51F-4366-C12958B9C8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1863" name="Rectangle 6">
            <a:extLst>
              <a:ext uri="{FF2B5EF4-FFF2-40B4-BE49-F238E27FC236}">
                <a16:creationId xmlns:a16="http://schemas.microsoft.com/office/drawing/2014/main" id="{F50F26EB-6F2C-0056-16F9-B63A3EF1E3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1864" name="Rectangle 7">
            <a:extLst>
              <a:ext uri="{FF2B5EF4-FFF2-40B4-BE49-F238E27FC236}">
                <a16:creationId xmlns:a16="http://schemas.microsoft.com/office/drawing/2014/main" id="{C9D076E8-EFBC-4B07-441B-C3507EF00C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1865" name="Rectangle 8">
            <a:extLst>
              <a:ext uri="{FF2B5EF4-FFF2-40B4-BE49-F238E27FC236}">
                <a16:creationId xmlns:a16="http://schemas.microsoft.com/office/drawing/2014/main" id="{BA1A41A5-DDBA-363A-EB42-6B8A1EB730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1866" name="Rectangle 9">
            <a:extLst>
              <a:ext uri="{FF2B5EF4-FFF2-40B4-BE49-F238E27FC236}">
                <a16:creationId xmlns:a16="http://schemas.microsoft.com/office/drawing/2014/main" id="{9D1521C5-25D4-87D8-77DD-0F3F7ECA0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/>
              <a:t>What is the number of sequences if we have 90 stations in our network?</a:t>
            </a:r>
          </a:p>
        </p:txBody>
      </p:sp>
      <p:sp>
        <p:nvSpPr>
          <p:cNvPr id="121867" name="Text Box 10">
            <a:extLst>
              <a:ext uri="{FF2B5EF4-FFF2-40B4-BE49-F238E27FC236}">
                <a16:creationId xmlns:a16="http://schemas.microsoft.com/office/drawing/2014/main" id="{C2E122CD-7671-EFF3-B3B4-223FDEF82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12.7</a:t>
            </a:r>
          </a:p>
        </p:txBody>
      </p:sp>
      <p:sp>
        <p:nvSpPr>
          <p:cNvPr id="121868" name="Rectangle 11">
            <a:extLst>
              <a:ext uri="{FF2B5EF4-FFF2-40B4-BE49-F238E27FC236}">
                <a16:creationId xmlns:a16="http://schemas.microsoft.com/office/drawing/2014/main" id="{9ED86BDE-1FA3-879B-68D9-331F96648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438400"/>
            <a:ext cx="8686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en-US" baseline="0"/>
              <a:t>The number of sequences needs to be 2</a:t>
            </a:r>
            <a:r>
              <a:rPr lang="en-US" altLang="en-US" baseline="30000"/>
              <a:t>m</a:t>
            </a:r>
            <a:r>
              <a:rPr lang="en-US" altLang="en-US" baseline="0"/>
              <a:t>. We need to choose m = 7 and N = 2</a:t>
            </a:r>
            <a:r>
              <a:rPr lang="en-US" altLang="en-US" baseline="30000"/>
              <a:t>7</a:t>
            </a:r>
            <a:r>
              <a:rPr lang="en-US" altLang="en-US" baseline="0"/>
              <a:t> or 128. We can then use 90 </a:t>
            </a:r>
            <a:br>
              <a:rPr lang="en-US" altLang="en-US" baseline="0"/>
            </a:br>
            <a:r>
              <a:rPr lang="en-US" altLang="en-US" baseline="0"/>
              <a:t>of the sequences as the chips.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Number Placeholder 1">
            <a:extLst>
              <a:ext uri="{FF2B5EF4-FFF2-40B4-BE49-F238E27FC236}">
                <a16:creationId xmlns:a16="http://schemas.microsoft.com/office/drawing/2014/main" id="{162B0E9C-058B-0E0A-C423-2923AA218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30C2D5E1-1AA3-504F-86E3-F79F0462B036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60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71B7A9B0-E9DD-42E7-672F-92CA3005F73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FD6BCDFD-268D-ED9A-63D6-137DEC525A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3909" name="Rectangle 4">
            <a:extLst>
              <a:ext uri="{FF2B5EF4-FFF2-40B4-BE49-F238E27FC236}">
                <a16:creationId xmlns:a16="http://schemas.microsoft.com/office/drawing/2014/main" id="{53D1D3F8-777D-9257-F3F6-E2941FFE42A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3910" name="Rectangle 5">
            <a:extLst>
              <a:ext uri="{FF2B5EF4-FFF2-40B4-BE49-F238E27FC236}">
                <a16:creationId xmlns:a16="http://schemas.microsoft.com/office/drawing/2014/main" id="{9200F815-8C18-736A-1F28-BDBC6A5D754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3911" name="Rectangle 6">
            <a:extLst>
              <a:ext uri="{FF2B5EF4-FFF2-40B4-BE49-F238E27FC236}">
                <a16:creationId xmlns:a16="http://schemas.microsoft.com/office/drawing/2014/main" id="{D29F157D-EA9E-3144-1C10-7A593AA7CD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3912" name="Rectangle 7">
            <a:extLst>
              <a:ext uri="{FF2B5EF4-FFF2-40B4-BE49-F238E27FC236}">
                <a16:creationId xmlns:a16="http://schemas.microsoft.com/office/drawing/2014/main" id="{872E63C2-3A7E-6074-FC85-A322249974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3913" name="Rectangle 8">
            <a:extLst>
              <a:ext uri="{FF2B5EF4-FFF2-40B4-BE49-F238E27FC236}">
                <a16:creationId xmlns:a16="http://schemas.microsoft.com/office/drawing/2014/main" id="{610803D5-7FE1-4EB3-0426-5DD09436E7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3914" name="Rectangle 9">
            <a:extLst>
              <a:ext uri="{FF2B5EF4-FFF2-40B4-BE49-F238E27FC236}">
                <a16:creationId xmlns:a16="http://schemas.microsoft.com/office/drawing/2014/main" id="{D1108B2E-82CE-A1C4-027A-1B0423D62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/>
              <a:t>Prove that a receiving station can get the data sent by a specific sender if it multiplies the entire data on the channel by the sender’s chip code and then divides it by the number of stations.</a:t>
            </a:r>
          </a:p>
        </p:txBody>
      </p:sp>
      <p:sp>
        <p:nvSpPr>
          <p:cNvPr id="123915" name="Text Box 10">
            <a:extLst>
              <a:ext uri="{FF2B5EF4-FFF2-40B4-BE49-F238E27FC236}">
                <a16:creationId xmlns:a16="http://schemas.microsoft.com/office/drawing/2014/main" id="{D42A7096-A5A4-5720-430F-810FB0F44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12.8</a:t>
            </a:r>
          </a:p>
        </p:txBody>
      </p:sp>
      <p:sp>
        <p:nvSpPr>
          <p:cNvPr id="123916" name="Rectangle 11">
            <a:extLst>
              <a:ext uri="{FF2B5EF4-FFF2-40B4-BE49-F238E27FC236}">
                <a16:creationId xmlns:a16="http://schemas.microsoft.com/office/drawing/2014/main" id="{20D09810-B2C2-53F4-9FDD-13A65BAFC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00400"/>
            <a:ext cx="8686800" cy="308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en-US" baseline="0"/>
              <a:t>Let us prove this for the first station, using our previous four-station example. We can say that the data on the channel </a:t>
            </a:r>
            <a:br>
              <a:rPr lang="en-US" altLang="en-US" baseline="0"/>
            </a:br>
            <a:r>
              <a:rPr lang="en-US" altLang="en-US" baseline="0"/>
              <a:t>      D = (d</a:t>
            </a:r>
            <a:r>
              <a:rPr lang="en-US" altLang="en-US"/>
              <a:t>1</a:t>
            </a:r>
            <a:r>
              <a:rPr lang="en-US" altLang="en-US" baseline="0"/>
              <a:t> ⋅ c</a:t>
            </a:r>
            <a:r>
              <a:rPr lang="en-US" altLang="en-US"/>
              <a:t>1</a:t>
            </a:r>
            <a:r>
              <a:rPr lang="en-US" altLang="en-US" baseline="0"/>
              <a:t> + d</a:t>
            </a:r>
            <a:r>
              <a:rPr lang="en-US" altLang="en-US"/>
              <a:t>2</a:t>
            </a:r>
            <a:r>
              <a:rPr lang="en-US" altLang="en-US" baseline="0"/>
              <a:t> ⋅ c</a:t>
            </a:r>
            <a:r>
              <a:rPr lang="en-US" altLang="en-US"/>
              <a:t>2</a:t>
            </a:r>
            <a:r>
              <a:rPr lang="en-US" altLang="en-US" baseline="0"/>
              <a:t> + d</a:t>
            </a:r>
            <a:r>
              <a:rPr lang="en-US" altLang="en-US"/>
              <a:t>3</a:t>
            </a:r>
            <a:r>
              <a:rPr lang="en-US" altLang="en-US" baseline="0"/>
              <a:t> ⋅ c</a:t>
            </a:r>
            <a:r>
              <a:rPr lang="en-US" altLang="en-US"/>
              <a:t>3</a:t>
            </a:r>
            <a:r>
              <a:rPr lang="en-US" altLang="en-US" baseline="0"/>
              <a:t> + d</a:t>
            </a:r>
            <a:r>
              <a:rPr lang="en-US" altLang="en-US"/>
              <a:t>4</a:t>
            </a:r>
            <a:r>
              <a:rPr lang="en-US" altLang="en-US" baseline="0"/>
              <a:t> ⋅ c</a:t>
            </a:r>
            <a:r>
              <a:rPr lang="en-US" altLang="en-US"/>
              <a:t>4</a:t>
            </a:r>
            <a:r>
              <a:rPr lang="en-US" altLang="en-US" baseline="0"/>
              <a:t>). </a:t>
            </a:r>
            <a:br>
              <a:rPr lang="en-US" altLang="en-US" baseline="0"/>
            </a:br>
            <a:r>
              <a:rPr lang="en-US" altLang="en-US" baseline="0"/>
              <a:t>The receiver which wants to get the data sent by station 1 multiplies these data by c</a:t>
            </a:r>
            <a:r>
              <a:rPr lang="en-US" altLang="en-US"/>
              <a:t>1</a:t>
            </a:r>
            <a:r>
              <a:rPr lang="en-US" altLang="en-US" baseline="0"/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Number Placeholder 1">
            <a:extLst>
              <a:ext uri="{FF2B5EF4-FFF2-40B4-BE49-F238E27FC236}">
                <a16:creationId xmlns:a16="http://schemas.microsoft.com/office/drawing/2014/main" id="{8EEEC514-C7A6-DA62-80C6-AC0D7A731B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F9466A44-5B69-4447-8865-1CCA591E67E8}" type="slidenum">
              <a:rPr lang="en-US" altLang="en-US" sz="2000" i="0" baseline="0" smtClean="0">
                <a:solidFill>
                  <a:schemeClr val="bg2"/>
                </a:solidFill>
                <a:latin typeface="Arial" panose="020B0604020202020204" pitchFamily="34" charset="0"/>
              </a:rPr>
              <a:pPr/>
              <a:t>61</a:t>
            </a:fld>
            <a:endParaRPr lang="en-US" altLang="en-US" sz="2000" i="0" baseline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6624A0A1-84C3-97BF-0C66-A508FFA8A0F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88A39621-91BC-0F47-B758-CB0BCB41C9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5957" name="Rectangle 4">
            <a:extLst>
              <a:ext uri="{FF2B5EF4-FFF2-40B4-BE49-F238E27FC236}">
                <a16:creationId xmlns:a16="http://schemas.microsoft.com/office/drawing/2014/main" id="{20D3A1A4-CE2E-4E03-A092-9AD641F2885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5958" name="Rectangle 5">
            <a:extLst>
              <a:ext uri="{FF2B5EF4-FFF2-40B4-BE49-F238E27FC236}">
                <a16:creationId xmlns:a16="http://schemas.microsoft.com/office/drawing/2014/main" id="{F6BAA06D-708D-6AE3-4613-254310C1AF1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5959" name="Rectangle 6">
            <a:extLst>
              <a:ext uri="{FF2B5EF4-FFF2-40B4-BE49-F238E27FC236}">
                <a16:creationId xmlns:a16="http://schemas.microsoft.com/office/drawing/2014/main" id="{7279FBD8-7199-AB95-B408-F788149E5BA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5960" name="Rectangle 7">
            <a:extLst>
              <a:ext uri="{FF2B5EF4-FFF2-40B4-BE49-F238E27FC236}">
                <a16:creationId xmlns:a16="http://schemas.microsoft.com/office/drawing/2014/main" id="{50652579-8A25-4EC8-2514-16C189668D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5961" name="Rectangle 8">
            <a:extLst>
              <a:ext uri="{FF2B5EF4-FFF2-40B4-BE49-F238E27FC236}">
                <a16:creationId xmlns:a16="http://schemas.microsoft.com/office/drawing/2014/main" id="{16199431-8119-8615-6F5B-4C072E3849E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25962" name="Rectangle 9">
            <a:extLst>
              <a:ext uri="{FF2B5EF4-FFF2-40B4-BE49-F238E27FC236}">
                <a16:creationId xmlns:a16="http://schemas.microsoft.com/office/drawing/2014/main" id="{D4234003-2789-F0BB-1CE6-0AE8C9993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endParaRPr lang="en-US" altLang="en-US" baseline="0"/>
          </a:p>
        </p:txBody>
      </p:sp>
      <p:sp>
        <p:nvSpPr>
          <p:cNvPr id="125963" name="Text Box 10">
            <a:extLst>
              <a:ext uri="{FF2B5EF4-FFF2-40B4-BE49-F238E27FC236}">
                <a16:creationId xmlns:a16="http://schemas.microsoft.com/office/drawing/2014/main" id="{185CC59D-AB3D-EE7D-72D2-887957D28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4529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 12.8 (continued)</a:t>
            </a:r>
          </a:p>
        </p:txBody>
      </p:sp>
      <p:sp>
        <p:nvSpPr>
          <p:cNvPr id="125964" name="Rectangle 11">
            <a:extLst>
              <a:ext uri="{FF2B5EF4-FFF2-40B4-BE49-F238E27FC236}">
                <a16:creationId xmlns:a16="http://schemas.microsoft.com/office/drawing/2014/main" id="{AD68A0D7-1D29-2CCD-8D4E-1834B9031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100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/>
              <a:t>When we divide the result by N, we get d</a:t>
            </a:r>
            <a:r>
              <a:rPr lang="en-US" altLang="en-US"/>
              <a:t>1 </a:t>
            </a:r>
            <a:r>
              <a:rPr lang="en-US" altLang="en-US" baseline="0"/>
              <a:t>.</a:t>
            </a:r>
          </a:p>
        </p:txBody>
      </p:sp>
      <p:pic>
        <p:nvPicPr>
          <p:cNvPr id="125965" name="Picture 12">
            <a:extLst>
              <a:ext uri="{FF2B5EF4-FFF2-40B4-BE49-F238E27FC236}">
                <a16:creationId xmlns:a16="http://schemas.microsoft.com/office/drawing/2014/main" id="{BD35CD77-0907-8897-1889-CE828B056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981200"/>
            <a:ext cx="6362700" cy="1503363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5593</TotalTime>
  <Words>3337</Words>
  <Application>Microsoft Macintosh PowerPoint</Application>
  <PresentationFormat>On-screen Show (4:3)</PresentationFormat>
  <Paragraphs>333</Paragraphs>
  <Slides>61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Times New Roman</vt:lpstr>
      <vt:lpstr>Arial</vt:lpstr>
      <vt:lpstr>Tahoma</vt:lpstr>
      <vt:lpstr>Wingdings</vt:lpstr>
      <vt:lpstr>McGrawHill-Italic</vt:lpstr>
      <vt:lpstr>Times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Shafiullah Shafin</cp:lastModifiedBy>
  <cp:revision>220</cp:revision>
  <dcterms:created xsi:type="dcterms:W3CDTF">2000-01-15T04:50:39Z</dcterms:created>
  <dcterms:modified xsi:type="dcterms:W3CDTF">2025-12-08T18:54:57Z</dcterms:modified>
</cp:coreProperties>
</file>