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9" r:id="rId1"/>
  </p:sldMasterIdLst>
  <p:notesMasterIdLst>
    <p:notesMasterId r:id="rId25"/>
  </p:notesMasterIdLst>
  <p:sldIdLst>
    <p:sldId id="256" r:id="rId2"/>
    <p:sldId id="405" r:id="rId3"/>
    <p:sldId id="356" r:id="rId4"/>
    <p:sldId id="394" r:id="rId5"/>
    <p:sldId id="396" r:id="rId6"/>
    <p:sldId id="406" r:id="rId7"/>
    <p:sldId id="407" r:id="rId8"/>
    <p:sldId id="408" r:id="rId9"/>
    <p:sldId id="409" r:id="rId10"/>
    <p:sldId id="410" r:id="rId11"/>
    <p:sldId id="398" r:id="rId12"/>
    <p:sldId id="411" r:id="rId13"/>
    <p:sldId id="399" r:id="rId14"/>
    <p:sldId id="400" r:id="rId15"/>
    <p:sldId id="401" r:id="rId16"/>
    <p:sldId id="402" r:id="rId17"/>
    <p:sldId id="361" r:id="rId18"/>
    <p:sldId id="412" r:id="rId19"/>
    <p:sldId id="413" r:id="rId20"/>
    <p:sldId id="403" r:id="rId21"/>
    <p:sldId id="414" r:id="rId22"/>
    <p:sldId id="404" r:id="rId23"/>
    <p:sldId id="415" r:id="rId2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72653" autoAdjust="0"/>
  </p:normalViewPr>
  <p:slideViewPr>
    <p:cSldViewPr snapToGrid="0">
      <p:cViewPr varScale="1">
        <p:scale>
          <a:sx n="91" d="100"/>
          <a:sy n="91" d="100"/>
        </p:scale>
        <p:origin x="2264" y="1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56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6C322B-2F38-0E35-86B3-300FB496F7B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25517A7D-6EF9-EF0A-8DA1-90398348FFF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F7669026-01EB-2C42-83C9-EB6A5C0DBE74}" type="datetimeFigureOut">
              <a:rPr lang="en-US"/>
              <a:pPr>
                <a:defRPr/>
              </a:pPr>
              <a:t>12/9/25</a:t>
            </a:fld>
            <a:endParaRPr lang="en-US"/>
          </a:p>
        </p:txBody>
      </p:sp>
      <p:sp>
        <p:nvSpPr>
          <p:cNvPr id="4" name="Slide Image Placeholder 3">
            <a:extLst>
              <a:ext uri="{FF2B5EF4-FFF2-40B4-BE49-F238E27FC236}">
                <a16:creationId xmlns:a16="http://schemas.microsoft.com/office/drawing/2014/main" id="{ADE12D09-57F3-5EFD-B07D-51DC656B5D7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399902F-72F9-8839-9EFC-F4AAA8CFB97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11A1ABB-6D76-4A77-391A-31E1F266F418}"/>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49756EC6-22DA-F037-46B5-129C1D105A5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16DD916-EACF-3A45-B1CF-32F6B6C0D54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7B081C3A-6ABD-6B44-16AE-28DE1ECDDFD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Notes Placeholder 2">
            <a:extLst>
              <a:ext uri="{FF2B5EF4-FFF2-40B4-BE49-F238E27FC236}">
                <a16:creationId xmlns:a16="http://schemas.microsoft.com/office/drawing/2014/main" id="{DFEB6E98-4BEC-6FD2-03C4-94D62127142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https://www.youtube.com/watch?v=k8rJFgeuZRw</a:t>
            </a:r>
          </a:p>
        </p:txBody>
      </p:sp>
      <p:sp>
        <p:nvSpPr>
          <p:cNvPr id="19459" name="Slide Number Placeholder 3">
            <a:extLst>
              <a:ext uri="{FF2B5EF4-FFF2-40B4-BE49-F238E27FC236}">
                <a16:creationId xmlns:a16="http://schemas.microsoft.com/office/drawing/2014/main" id="{65D7BCFD-9876-A095-C7D8-FFDA1FD3440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7B4DDE-4879-6949-88A2-6E14277337FC}" type="slidenum">
              <a:rPr lang="en-US" altLang="en-US" smtClean="0"/>
              <a:pPr/>
              <a:t>5</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452A922F-F737-836C-2A81-D04659DE5ED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6" name="Notes Placeholder 2">
            <a:extLst>
              <a:ext uri="{FF2B5EF4-FFF2-40B4-BE49-F238E27FC236}">
                <a16:creationId xmlns:a16="http://schemas.microsoft.com/office/drawing/2014/main" id="{5D6A8EE1-C528-92C7-2625-B0E0453CCD9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BD"/>
              <a:t>An optimally functioning network is one that provides the highest quality of service possible, but this often comes at the cost of fairness, as some users or applications may receive more resources or better service than others. quantity of service provided, and it is often concerned with ensuring fairness in the distribution of resources, such as bandwidth or processing time, among different users or applications. </a:t>
            </a:r>
          </a:p>
        </p:txBody>
      </p:sp>
      <p:sp>
        <p:nvSpPr>
          <p:cNvPr id="36867" name="Slide Number Placeholder 3">
            <a:extLst>
              <a:ext uri="{FF2B5EF4-FFF2-40B4-BE49-F238E27FC236}">
                <a16:creationId xmlns:a16="http://schemas.microsoft.com/office/drawing/2014/main" id="{77A106D3-98F9-213E-F27F-EB5A4128450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FF03BE-0974-9240-A83A-57FC00B96171}" type="slidenum">
              <a:rPr lang="en-US" altLang="en-US" smtClean="0"/>
              <a:pPr/>
              <a:t>21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979997D-0445-B3D3-C71D-6D905AD73FD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4D5F661-D7F2-F68B-FBB1-74ABC663A3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77F5FB0-7874-B18A-5771-8BBACC9B09B7}"/>
              </a:ext>
            </a:extLst>
          </p:cNvPr>
          <p:cNvSpPr>
            <a:spLocks noGrp="1" noChangeArrowheads="1"/>
          </p:cNvSpPr>
          <p:nvPr>
            <p:ph type="sldNum" sz="quarter" idx="12"/>
          </p:nvPr>
        </p:nvSpPr>
        <p:spPr>
          <a:ln/>
        </p:spPr>
        <p:txBody>
          <a:bodyPr/>
          <a:lstStyle>
            <a:lvl1pPr>
              <a:defRPr/>
            </a:lvl1pPr>
          </a:lstStyle>
          <a:p>
            <a:pPr>
              <a:defRPr/>
            </a:pPr>
            <a:fld id="{660E8B40-15AC-2B40-9B17-1B079AA1C724}" type="slidenum">
              <a:rPr lang="en-US" altLang="en-US"/>
              <a:pPr>
                <a:defRPr/>
              </a:pPr>
              <a:t>‹#›</a:t>
            </a:fld>
            <a:endParaRPr lang="en-US" altLang="en-US"/>
          </a:p>
        </p:txBody>
      </p:sp>
    </p:spTree>
    <p:extLst>
      <p:ext uri="{BB962C8B-B14F-4D97-AF65-F5344CB8AC3E}">
        <p14:creationId xmlns:p14="http://schemas.microsoft.com/office/powerpoint/2010/main" val="3555215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ED77F39-A880-0EE8-0498-07D71DB85A4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1CC05CC-8D19-22C0-57D6-D79D22F65EF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3E04C5A-83C4-0C6E-A727-1436EB6A6C91}"/>
              </a:ext>
            </a:extLst>
          </p:cNvPr>
          <p:cNvSpPr>
            <a:spLocks noGrp="1" noChangeArrowheads="1"/>
          </p:cNvSpPr>
          <p:nvPr>
            <p:ph type="sldNum" sz="quarter" idx="12"/>
          </p:nvPr>
        </p:nvSpPr>
        <p:spPr>
          <a:ln/>
        </p:spPr>
        <p:txBody>
          <a:bodyPr/>
          <a:lstStyle>
            <a:lvl1pPr>
              <a:defRPr/>
            </a:lvl1pPr>
          </a:lstStyle>
          <a:p>
            <a:pPr>
              <a:defRPr/>
            </a:pPr>
            <a:fld id="{058E91DE-08A8-A944-B066-B71F36BB1DD4}" type="slidenum">
              <a:rPr lang="en-US" altLang="en-US"/>
              <a:pPr>
                <a:defRPr/>
              </a:pPr>
              <a:t>‹#›</a:t>
            </a:fld>
            <a:endParaRPr lang="en-US" altLang="en-US"/>
          </a:p>
        </p:txBody>
      </p:sp>
    </p:spTree>
    <p:extLst>
      <p:ext uri="{BB962C8B-B14F-4D97-AF65-F5344CB8AC3E}">
        <p14:creationId xmlns:p14="http://schemas.microsoft.com/office/powerpoint/2010/main" val="1612536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A347875-6A3B-C0A2-6DDE-A1330164BE4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3872E6D-55D2-BA4C-8AE7-B874131F614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D72A60F-2A27-2744-02AB-AFCA7329F3C8}"/>
              </a:ext>
            </a:extLst>
          </p:cNvPr>
          <p:cNvSpPr>
            <a:spLocks noGrp="1" noChangeArrowheads="1"/>
          </p:cNvSpPr>
          <p:nvPr>
            <p:ph type="sldNum" sz="quarter" idx="12"/>
          </p:nvPr>
        </p:nvSpPr>
        <p:spPr>
          <a:ln/>
        </p:spPr>
        <p:txBody>
          <a:bodyPr/>
          <a:lstStyle>
            <a:lvl1pPr>
              <a:defRPr/>
            </a:lvl1pPr>
          </a:lstStyle>
          <a:p>
            <a:pPr>
              <a:defRPr/>
            </a:pPr>
            <a:fld id="{BF9BCFF8-0DDC-F84A-88D3-CE4C934C2DC6}" type="slidenum">
              <a:rPr lang="en-US" altLang="en-US"/>
              <a:pPr>
                <a:defRPr/>
              </a:pPr>
              <a:t>‹#›</a:t>
            </a:fld>
            <a:endParaRPr lang="en-US" altLang="en-US"/>
          </a:p>
        </p:txBody>
      </p:sp>
    </p:spTree>
    <p:extLst>
      <p:ext uri="{BB962C8B-B14F-4D97-AF65-F5344CB8AC3E}">
        <p14:creationId xmlns:p14="http://schemas.microsoft.com/office/powerpoint/2010/main" val="1990888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BBF1170-8F65-A58B-B44E-E6C42FBDA68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CABE9C2-196D-DA14-6BDE-BE0232CB4C2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1916BD4-59BC-9169-A842-2B024F4EEDD5}"/>
              </a:ext>
            </a:extLst>
          </p:cNvPr>
          <p:cNvSpPr>
            <a:spLocks noGrp="1" noChangeArrowheads="1"/>
          </p:cNvSpPr>
          <p:nvPr>
            <p:ph type="sldNum" sz="quarter" idx="12"/>
          </p:nvPr>
        </p:nvSpPr>
        <p:spPr>
          <a:ln/>
        </p:spPr>
        <p:txBody>
          <a:bodyPr/>
          <a:lstStyle>
            <a:lvl1pPr>
              <a:defRPr/>
            </a:lvl1pPr>
          </a:lstStyle>
          <a:p>
            <a:pPr>
              <a:defRPr/>
            </a:pPr>
            <a:fld id="{B8D788D7-F553-D245-80DD-EC772021C485}" type="slidenum">
              <a:rPr lang="en-US" altLang="en-US"/>
              <a:pPr>
                <a:defRPr/>
              </a:pPr>
              <a:t>‹#›</a:t>
            </a:fld>
            <a:endParaRPr lang="en-US" altLang="en-US"/>
          </a:p>
        </p:txBody>
      </p:sp>
    </p:spTree>
    <p:extLst>
      <p:ext uri="{BB962C8B-B14F-4D97-AF65-F5344CB8AC3E}">
        <p14:creationId xmlns:p14="http://schemas.microsoft.com/office/powerpoint/2010/main" val="3776517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08FB8B2E-F73F-49E7-0C78-EEB57C6AD79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90810D4B-32DB-7730-A80D-91C6240B2A0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FD2FFF39-6141-9661-D634-ED4A035ADDC4}"/>
              </a:ext>
            </a:extLst>
          </p:cNvPr>
          <p:cNvSpPr>
            <a:spLocks noGrp="1" noChangeArrowheads="1"/>
          </p:cNvSpPr>
          <p:nvPr>
            <p:ph type="sldNum" sz="quarter" idx="12"/>
          </p:nvPr>
        </p:nvSpPr>
        <p:spPr>
          <a:ln/>
        </p:spPr>
        <p:txBody>
          <a:bodyPr/>
          <a:lstStyle>
            <a:lvl1pPr>
              <a:defRPr/>
            </a:lvl1pPr>
          </a:lstStyle>
          <a:p>
            <a:pPr>
              <a:defRPr/>
            </a:pPr>
            <a:fld id="{934ADD0F-316A-264C-AB09-F08B5015C854}" type="slidenum">
              <a:rPr lang="en-US" altLang="en-US"/>
              <a:pPr>
                <a:defRPr/>
              </a:pPr>
              <a:t>‹#›</a:t>
            </a:fld>
            <a:endParaRPr lang="en-US" altLang="en-US"/>
          </a:p>
        </p:txBody>
      </p:sp>
    </p:spTree>
    <p:extLst>
      <p:ext uri="{BB962C8B-B14F-4D97-AF65-F5344CB8AC3E}">
        <p14:creationId xmlns:p14="http://schemas.microsoft.com/office/powerpoint/2010/main" val="1609750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B022FB6-2375-FBC8-890C-46A78E4FFA1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4D483153-0FB8-7C00-6FBE-964868EA89C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059BBC7-66B1-6809-721F-3445ED7F4D4A}"/>
              </a:ext>
            </a:extLst>
          </p:cNvPr>
          <p:cNvSpPr>
            <a:spLocks noGrp="1" noChangeArrowheads="1"/>
          </p:cNvSpPr>
          <p:nvPr>
            <p:ph type="sldNum" sz="quarter" idx="12"/>
          </p:nvPr>
        </p:nvSpPr>
        <p:spPr>
          <a:ln/>
        </p:spPr>
        <p:txBody>
          <a:bodyPr/>
          <a:lstStyle>
            <a:lvl1pPr>
              <a:defRPr/>
            </a:lvl1pPr>
          </a:lstStyle>
          <a:p>
            <a:pPr>
              <a:defRPr/>
            </a:pPr>
            <a:fld id="{61FE9648-3038-E942-B858-25779532997B}" type="slidenum">
              <a:rPr lang="en-US" altLang="en-US"/>
              <a:pPr>
                <a:defRPr/>
              </a:pPr>
              <a:t>‹#›</a:t>
            </a:fld>
            <a:endParaRPr lang="en-US" altLang="en-US"/>
          </a:p>
        </p:txBody>
      </p:sp>
    </p:spTree>
    <p:extLst>
      <p:ext uri="{BB962C8B-B14F-4D97-AF65-F5344CB8AC3E}">
        <p14:creationId xmlns:p14="http://schemas.microsoft.com/office/powerpoint/2010/main" val="3916001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C9F00BC-C7EF-68DA-C466-F1CCA4D44A8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7E275E7C-16EB-7692-7295-94D67C7080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3521F3B-10B4-2007-3F42-675DFC1FE71B}"/>
              </a:ext>
            </a:extLst>
          </p:cNvPr>
          <p:cNvSpPr>
            <a:spLocks noGrp="1" noChangeArrowheads="1"/>
          </p:cNvSpPr>
          <p:nvPr>
            <p:ph type="sldNum" sz="quarter" idx="12"/>
          </p:nvPr>
        </p:nvSpPr>
        <p:spPr>
          <a:ln/>
        </p:spPr>
        <p:txBody>
          <a:bodyPr/>
          <a:lstStyle>
            <a:lvl1pPr>
              <a:defRPr/>
            </a:lvl1pPr>
          </a:lstStyle>
          <a:p>
            <a:pPr>
              <a:defRPr/>
            </a:pPr>
            <a:fld id="{43FA9239-AD96-614B-93C1-037BB5D01DEE}" type="slidenum">
              <a:rPr lang="en-US" altLang="en-US"/>
              <a:pPr>
                <a:defRPr/>
              </a:pPr>
              <a:t>‹#›</a:t>
            </a:fld>
            <a:endParaRPr lang="en-US" altLang="en-US"/>
          </a:p>
        </p:txBody>
      </p:sp>
    </p:spTree>
    <p:extLst>
      <p:ext uri="{BB962C8B-B14F-4D97-AF65-F5344CB8AC3E}">
        <p14:creationId xmlns:p14="http://schemas.microsoft.com/office/powerpoint/2010/main" val="3407748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6E2C7BF-CCA5-A417-F7F1-1249946466B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A95A992-2C25-79FD-9383-312BC3C9BC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CADF1F1-8232-AEEF-DD4E-13FC19479678}"/>
              </a:ext>
            </a:extLst>
          </p:cNvPr>
          <p:cNvSpPr>
            <a:spLocks noGrp="1" noChangeArrowheads="1"/>
          </p:cNvSpPr>
          <p:nvPr>
            <p:ph type="sldNum" sz="quarter" idx="12"/>
          </p:nvPr>
        </p:nvSpPr>
        <p:spPr>
          <a:ln/>
        </p:spPr>
        <p:txBody>
          <a:bodyPr/>
          <a:lstStyle>
            <a:lvl1pPr>
              <a:defRPr/>
            </a:lvl1pPr>
          </a:lstStyle>
          <a:p>
            <a:pPr>
              <a:defRPr/>
            </a:pPr>
            <a:fld id="{4C3A062A-B182-C54B-B1C4-FCF273257004}" type="slidenum">
              <a:rPr lang="en-US" altLang="en-US"/>
              <a:pPr>
                <a:defRPr/>
              </a:pPr>
              <a:t>‹#›</a:t>
            </a:fld>
            <a:endParaRPr lang="en-US" altLang="en-US"/>
          </a:p>
        </p:txBody>
      </p:sp>
    </p:spTree>
    <p:extLst>
      <p:ext uri="{BB962C8B-B14F-4D97-AF65-F5344CB8AC3E}">
        <p14:creationId xmlns:p14="http://schemas.microsoft.com/office/powerpoint/2010/main" val="3316272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AAFCBBF-C569-6B8F-059D-8FE55DF26C7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8B087C0-B938-1A1F-3B5F-4397FE3A8DD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59D790C-FE4E-C55F-134B-2BAC56A3BFC6}"/>
              </a:ext>
            </a:extLst>
          </p:cNvPr>
          <p:cNvSpPr>
            <a:spLocks noGrp="1" noChangeArrowheads="1"/>
          </p:cNvSpPr>
          <p:nvPr>
            <p:ph type="sldNum" sz="quarter" idx="12"/>
          </p:nvPr>
        </p:nvSpPr>
        <p:spPr>
          <a:ln/>
        </p:spPr>
        <p:txBody>
          <a:bodyPr/>
          <a:lstStyle>
            <a:lvl1pPr>
              <a:defRPr/>
            </a:lvl1pPr>
          </a:lstStyle>
          <a:p>
            <a:pPr>
              <a:defRPr/>
            </a:pPr>
            <a:fld id="{A04253D0-3E02-F74B-8B06-168780F26F67}" type="slidenum">
              <a:rPr lang="en-US" altLang="en-US"/>
              <a:pPr>
                <a:defRPr/>
              </a:pPr>
              <a:t>‹#›</a:t>
            </a:fld>
            <a:endParaRPr lang="en-US" altLang="en-US"/>
          </a:p>
        </p:txBody>
      </p:sp>
    </p:spTree>
    <p:extLst>
      <p:ext uri="{BB962C8B-B14F-4D97-AF65-F5344CB8AC3E}">
        <p14:creationId xmlns:p14="http://schemas.microsoft.com/office/powerpoint/2010/main" val="3608049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1BB90DD-D4CC-C3B3-7E38-16B80364E7B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B74B996-A45C-6D4C-1A2B-DAC7F2FA08B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98CB918-CE6C-A7C4-9424-4881AAECB247}"/>
              </a:ext>
            </a:extLst>
          </p:cNvPr>
          <p:cNvSpPr>
            <a:spLocks noGrp="1" noChangeArrowheads="1"/>
          </p:cNvSpPr>
          <p:nvPr>
            <p:ph type="sldNum" sz="quarter" idx="12"/>
          </p:nvPr>
        </p:nvSpPr>
        <p:spPr>
          <a:ln/>
        </p:spPr>
        <p:txBody>
          <a:bodyPr/>
          <a:lstStyle>
            <a:lvl1pPr>
              <a:defRPr/>
            </a:lvl1pPr>
          </a:lstStyle>
          <a:p>
            <a:pPr>
              <a:defRPr/>
            </a:pPr>
            <a:fld id="{C5FEDD9D-CA01-9D48-A721-B61DD4666F38}" type="slidenum">
              <a:rPr lang="en-US" altLang="en-US"/>
              <a:pPr>
                <a:defRPr/>
              </a:pPr>
              <a:t>‹#›</a:t>
            </a:fld>
            <a:endParaRPr lang="en-US" altLang="en-US"/>
          </a:p>
        </p:txBody>
      </p:sp>
    </p:spTree>
    <p:extLst>
      <p:ext uri="{BB962C8B-B14F-4D97-AF65-F5344CB8AC3E}">
        <p14:creationId xmlns:p14="http://schemas.microsoft.com/office/powerpoint/2010/main" val="885284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45F0B56-3DFF-8D43-475A-28A9025761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9F02A23-D080-B7CF-5530-F1A57416C0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0B30892-FBA7-C8EA-C6FE-B2364D4665FA}"/>
              </a:ext>
            </a:extLst>
          </p:cNvPr>
          <p:cNvSpPr>
            <a:spLocks noGrp="1" noChangeArrowheads="1"/>
          </p:cNvSpPr>
          <p:nvPr>
            <p:ph type="sldNum" sz="quarter" idx="12"/>
          </p:nvPr>
        </p:nvSpPr>
        <p:spPr>
          <a:ln/>
        </p:spPr>
        <p:txBody>
          <a:bodyPr/>
          <a:lstStyle>
            <a:lvl1pPr>
              <a:defRPr/>
            </a:lvl1pPr>
          </a:lstStyle>
          <a:p>
            <a:pPr>
              <a:defRPr/>
            </a:pPr>
            <a:fld id="{FAF82097-91AC-1F43-A35F-FB1FF4D2F4EA}" type="slidenum">
              <a:rPr lang="en-US" altLang="en-US"/>
              <a:pPr>
                <a:defRPr/>
              </a:pPr>
              <a:t>‹#›</a:t>
            </a:fld>
            <a:endParaRPr lang="en-US" altLang="en-US"/>
          </a:p>
        </p:txBody>
      </p:sp>
    </p:spTree>
    <p:extLst>
      <p:ext uri="{BB962C8B-B14F-4D97-AF65-F5344CB8AC3E}">
        <p14:creationId xmlns:p14="http://schemas.microsoft.com/office/powerpoint/2010/main" val="2217603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7334615-3FA0-7A27-1F6E-13E282157D62}"/>
              </a:ext>
            </a:extLst>
          </p:cNvPr>
          <p:cNvSpPr>
            <a:spLocks noGrp="1" noChangeArrowheads="1"/>
          </p:cNvSpPr>
          <p:nvPr>
            <p:ph type="title"/>
          </p:nvPr>
        </p:nvSpPr>
        <p:spPr bwMode="auto">
          <a:xfrm>
            <a:off x="0" y="0"/>
            <a:ext cx="9144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02B4A4F-23CC-79BD-FF62-1437B743F81A}"/>
              </a:ext>
            </a:extLst>
          </p:cNvPr>
          <p:cNvSpPr>
            <a:spLocks noGrp="1" noChangeArrowheads="1"/>
          </p:cNvSpPr>
          <p:nvPr>
            <p:ph type="body" idx="1"/>
          </p:nvPr>
        </p:nvSpPr>
        <p:spPr bwMode="auto">
          <a:xfrm>
            <a:off x="0" y="5715000"/>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a:extLst>
              <a:ext uri="{FF2B5EF4-FFF2-40B4-BE49-F238E27FC236}">
                <a16:creationId xmlns:a16="http://schemas.microsoft.com/office/drawing/2014/main" id="{C8AD08F7-DEE7-705C-C45A-2FE53DE19A61}"/>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sz="1400">
                <a:latin typeface="+mn-lt"/>
              </a:defRPr>
            </a:lvl1pPr>
          </a:lstStyle>
          <a:p>
            <a:pPr>
              <a:defRPr/>
            </a:pPr>
            <a:endParaRPr lang="en-US"/>
          </a:p>
        </p:txBody>
      </p:sp>
      <p:sp>
        <p:nvSpPr>
          <p:cNvPr id="4101" name="Rectangle 5">
            <a:extLst>
              <a:ext uri="{FF2B5EF4-FFF2-40B4-BE49-F238E27FC236}">
                <a16:creationId xmlns:a16="http://schemas.microsoft.com/office/drawing/2014/main" id="{CDA5036A-2BCE-8C69-92A9-A2D2793FFE44}"/>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p>
        </p:txBody>
      </p:sp>
      <p:sp>
        <p:nvSpPr>
          <p:cNvPr id="4102" name="Rectangle 6">
            <a:extLst>
              <a:ext uri="{FF2B5EF4-FFF2-40B4-BE49-F238E27FC236}">
                <a16:creationId xmlns:a16="http://schemas.microsoft.com/office/drawing/2014/main" id="{661D8433-1AC1-294E-A374-A3C3434CCD22}"/>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atin typeface="Trebuchet MS" panose="020B0603020202020204" pitchFamily="34" charset="0"/>
              </a:defRPr>
            </a:lvl1pPr>
          </a:lstStyle>
          <a:p>
            <a:pPr>
              <a:defRPr/>
            </a:pPr>
            <a:fld id="{1FB3955B-E5DF-7A4F-ADB3-E4372BA84DB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rebuchet MS" pitchFamily="34" charset="0"/>
        </a:defRPr>
      </a:lvl2pPr>
      <a:lvl3pPr algn="ctr" rtl="0" eaLnBrk="0" fontAlgn="base" hangingPunct="0">
        <a:spcBef>
          <a:spcPct val="0"/>
        </a:spcBef>
        <a:spcAft>
          <a:spcPct val="0"/>
        </a:spcAft>
        <a:defRPr sz="4400">
          <a:solidFill>
            <a:srgbClr val="FF0000"/>
          </a:solidFill>
          <a:latin typeface="Trebuchet MS" pitchFamily="34" charset="0"/>
        </a:defRPr>
      </a:lvl3pPr>
      <a:lvl4pPr algn="ctr" rtl="0" eaLnBrk="0" fontAlgn="base" hangingPunct="0">
        <a:spcBef>
          <a:spcPct val="0"/>
        </a:spcBef>
        <a:spcAft>
          <a:spcPct val="0"/>
        </a:spcAft>
        <a:defRPr sz="4400">
          <a:solidFill>
            <a:srgbClr val="FF0000"/>
          </a:solidFill>
          <a:latin typeface="Trebuchet MS" pitchFamily="34" charset="0"/>
        </a:defRPr>
      </a:lvl4pPr>
      <a:lvl5pPr algn="ctr" rtl="0" eaLnBrk="0" fontAlgn="base" hangingPunct="0">
        <a:spcBef>
          <a:spcPct val="0"/>
        </a:spcBef>
        <a:spcAft>
          <a:spcPct val="0"/>
        </a:spcAft>
        <a:defRPr sz="4400">
          <a:solidFill>
            <a:srgbClr val="FF0000"/>
          </a:solidFill>
          <a:latin typeface="Trebuchet MS" pitchFamily="34" charset="0"/>
        </a:defRPr>
      </a:lvl5pPr>
      <a:lvl6pPr marL="457200" algn="ctr" rtl="0" fontAlgn="base">
        <a:spcBef>
          <a:spcPct val="0"/>
        </a:spcBef>
        <a:spcAft>
          <a:spcPct val="0"/>
        </a:spcAft>
        <a:defRPr sz="4400">
          <a:solidFill>
            <a:srgbClr val="FF0000"/>
          </a:solidFill>
          <a:latin typeface="Times New Roman" pitchFamily="18" charset="0"/>
        </a:defRPr>
      </a:lvl6pPr>
      <a:lvl7pPr marL="914400" algn="ctr" rtl="0" fontAlgn="base">
        <a:spcBef>
          <a:spcPct val="0"/>
        </a:spcBef>
        <a:spcAft>
          <a:spcPct val="0"/>
        </a:spcAft>
        <a:defRPr sz="4400">
          <a:solidFill>
            <a:srgbClr val="FF0000"/>
          </a:solidFill>
          <a:latin typeface="Times New Roman" pitchFamily="18" charset="0"/>
        </a:defRPr>
      </a:lvl7pPr>
      <a:lvl8pPr marL="1371600" algn="ctr" rtl="0" fontAlgn="base">
        <a:spcBef>
          <a:spcPct val="0"/>
        </a:spcBef>
        <a:spcAft>
          <a:spcPct val="0"/>
        </a:spcAft>
        <a:defRPr sz="4400">
          <a:solidFill>
            <a:srgbClr val="FF0000"/>
          </a:solidFill>
          <a:latin typeface="Times New Roman" pitchFamily="18" charset="0"/>
        </a:defRPr>
      </a:lvl8pPr>
      <a:lvl9pPr marL="1828800" algn="ctr" rtl="0" fontAlgn="base">
        <a:spcBef>
          <a:spcPct val="0"/>
        </a:spcBef>
        <a:spcAft>
          <a:spcPct val="0"/>
        </a:spcAft>
        <a:defRPr sz="4400">
          <a:solidFill>
            <a:srgbClr val="FF0000"/>
          </a:solidFill>
          <a:latin typeface="Times New Roman" pitchFamily="18" charset="0"/>
        </a:defRPr>
      </a:lvl9pPr>
    </p:titleStyle>
    <p:body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AFE4523-BB6C-E0B2-F8B7-F51FA5E5572C}"/>
              </a:ext>
            </a:extLst>
          </p:cNvPr>
          <p:cNvSpPr txBox="1">
            <a:spLocks noChangeArrowheads="1"/>
          </p:cNvSpPr>
          <p:nvPr/>
        </p:nvSpPr>
        <p:spPr bwMode="auto">
          <a:xfrm>
            <a:off x="801375" y="1847177"/>
            <a:ext cx="7772400" cy="2009278"/>
          </a:xfrm>
          <a:prstGeom prst="rect">
            <a:avLst/>
          </a:prstGeom>
          <a:noFill/>
          <a:ln>
            <a:noFill/>
          </a:ln>
          <a:effec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algn="ctr">
              <a:defRPr/>
            </a:pPr>
            <a:r>
              <a:rPr lang="en-US" sz="4800" dirty="0">
                <a:gradFill flip="none" rotWithShape="1">
                  <a:gsLst>
                    <a:gs pos="16000">
                      <a:srgbClr val="6B308E"/>
                    </a:gs>
                    <a:gs pos="100000">
                      <a:srgbClr val="28A7DF"/>
                    </a:gs>
                  </a:gsLst>
                  <a:lin ang="1800000" scaled="0"/>
                  <a:tileRect/>
                </a:gradFill>
                <a:latin typeface="Arial"/>
                <a:cs typeface="Arial" pitchFamily="34" charset="0"/>
              </a:rPr>
              <a:t>Chapter 5 (Tanenbaum)</a:t>
            </a:r>
          </a:p>
          <a:p>
            <a:pPr algn="ctr">
              <a:defRPr/>
            </a:pPr>
            <a:r>
              <a:rPr lang="en-US" sz="4800" dirty="0">
                <a:gradFill flip="none" rotWithShape="1">
                  <a:gsLst>
                    <a:gs pos="16000">
                      <a:srgbClr val="6B308E"/>
                    </a:gs>
                    <a:gs pos="100000">
                      <a:srgbClr val="28A7DF"/>
                    </a:gs>
                  </a:gsLst>
                  <a:lin ang="1800000" scaled="0"/>
                  <a:tileRect/>
                </a:gradFill>
                <a:latin typeface="Arial"/>
                <a:cs typeface="Arial" pitchFamily="34" charset="0"/>
              </a:rPr>
              <a:t>Network Layer</a:t>
            </a:r>
            <a:endParaRPr lang="en-US" sz="4400" dirty="0">
              <a:solidFill>
                <a:srgbClr val="FF0000"/>
              </a:solidFill>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8E7C0B5-2947-A2E2-0D22-7BF007F49AA9}"/>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Layers? </a:t>
            </a:r>
            <a:endParaRPr lang="en-US" sz="4000" dirty="0"/>
          </a:p>
        </p:txBody>
      </p:sp>
      <p:sp>
        <p:nvSpPr>
          <p:cNvPr id="2" name="Rectangle 1">
            <a:extLst>
              <a:ext uri="{FF2B5EF4-FFF2-40B4-BE49-F238E27FC236}">
                <a16:creationId xmlns:a16="http://schemas.microsoft.com/office/drawing/2014/main" id="{65068FE6-1255-E9B4-4682-9537E3B45681}"/>
              </a:ext>
            </a:extLst>
          </p:cNvPr>
          <p:cNvSpPr/>
          <p:nvPr/>
        </p:nvSpPr>
        <p:spPr bwMode="auto">
          <a:xfrm>
            <a:off x="789137" y="1700408"/>
            <a:ext cx="2630465" cy="457200"/>
          </a:xfrm>
          <a:prstGeom prst="rect">
            <a:avLst/>
          </a:prstGeom>
          <a:solidFill>
            <a:srgbClr val="0070C0"/>
          </a:solidFill>
          <a:ln w="9525" cap="flat" cmpd="sng" algn="ctr">
            <a:solidFill>
              <a:schemeClr val="tx1"/>
            </a:solidFill>
            <a:prstDash val="solid"/>
            <a:round/>
            <a:headEnd type="none" w="med" len="med"/>
            <a:tailEnd type="none" w="med" len="med"/>
          </a:ln>
          <a:effectLst>
            <a:outerShdw blurRad="50800" dist="38100" dir="5400000" algn="t" rotWithShape="0">
              <a:prstClr val="black">
                <a:alpha val="40000"/>
              </a:prstClr>
            </a:outerShdw>
          </a:effectLst>
          <a:scene3d>
            <a:camera prst="orthographicFront"/>
            <a:lightRig rig="threePt" dir="t"/>
          </a:scene3d>
          <a:sp3d>
            <a:bevelT/>
          </a:sp3d>
        </p:spPr>
        <p:txBody>
          <a:bodyPr/>
          <a:lstStyle/>
          <a:p>
            <a:pPr algn="ctr" eaLnBrk="1" hangingPunct="1">
              <a:defRPr/>
            </a:pPr>
            <a:r>
              <a:rPr lang="en-US" dirty="0">
                <a:latin typeface="Arial" charset="0"/>
              </a:rPr>
              <a:t>Network Layer</a:t>
            </a:r>
          </a:p>
        </p:txBody>
      </p:sp>
      <p:sp>
        <p:nvSpPr>
          <p:cNvPr id="7" name="Rectangle 6">
            <a:extLst>
              <a:ext uri="{FF2B5EF4-FFF2-40B4-BE49-F238E27FC236}">
                <a16:creationId xmlns:a16="http://schemas.microsoft.com/office/drawing/2014/main" id="{0448464E-86B9-D305-C107-DBC142D7A982}"/>
              </a:ext>
            </a:extLst>
          </p:cNvPr>
          <p:cNvSpPr/>
          <p:nvPr/>
        </p:nvSpPr>
        <p:spPr bwMode="auto">
          <a:xfrm>
            <a:off x="789136" y="3268249"/>
            <a:ext cx="2630465" cy="457200"/>
          </a:xfrm>
          <a:prstGeom prst="rect">
            <a:avLst/>
          </a:prstGeom>
          <a:solidFill>
            <a:srgbClr val="92D050"/>
          </a:solidFill>
          <a:ln w="9525" cap="flat" cmpd="sng" algn="ctr">
            <a:solidFill>
              <a:schemeClr val="tx1"/>
            </a:solidFill>
            <a:prstDash val="solid"/>
            <a:round/>
            <a:headEnd type="none" w="med" len="med"/>
            <a:tailEnd type="none" w="med" len="med"/>
          </a:ln>
          <a:effectLst>
            <a:outerShdw blurRad="50800" dist="38100" dir="5400000" algn="t" rotWithShape="0">
              <a:prstClr val="black">
                <a:alpha val="40000"/>
              </a:prstClr>
            </a:outerShdw>
          </a:effectLst>
          <a:scene3d>
            <a:camera prst="orthographicFront"/>
            <a:lightRig rig="threePt" dir="t"/>
          </a:scene3d>
          <a:sp3d>
            <a:bevelT/>
          </a:sp3d>
        </p:spPr>
        <p:txBody>
          <a:bodyPr/>
          <a:lstStyle/>
          <a:p>
            <a:pPr algn="ctr" eaLnBrk="1" hangingPunct="1">
              <a:defRPr/>
            </a:pPr>
            <a:r>
              <a:rPr lang="en-US" dirty="0">
                <a:latin typeface="Arial" charset="0"/>
              </a:rPr>
              <a:t>Data Link Layer</a:t>
            </a:r>
          </a:p>
        </p:txBody>
      </p:sp>
      <p:sp>
        <p:nvSpPr>
          <p:cNvPr id="8" name="Rectangle 7">
            <a:extLst>
              <a:ext uri="{FF2B5EF4-FFF2-40B4-BE49-F238E27FC236}">
                <a16:creationId xmlns:a16="http://schemas.microsoft.com/office/drawing/2014/main" id="{5461E6E9-FFF0-795E-A548-446545BDD3EB}"/>
              </a:ext>
            </a:extLst>
          </p:cNvPr>
          <p:cNvSpPr/>
          <p:nvPr/>
        </p:nvSpPr>
        <p:spPr bwMode="auto">
          <a:xfrm>
            <a:off x="789135" y="4912291"/>
            <a:ext cx="2630465" cy="4572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a:outerShdw blurRad="50800" dist="38100" dir="5400000" algn="t" rotWithShape="0">
              <a:prstClr val="black">
                <a:alpha val="40000"/>
              </a:prstClr>
            </a:outerShdw>
          </a:effectLst>
          <a:scene3d>
            <a:camera prst="orthographicFront"/>
            <a:lightRig rig="threePt" dir="t"/>
          </a:scene3d>
          <a:sp3d>
            <a:bevelT/>
          </a:sp3d>
        </p:spPr>
        <p:txBody>
          <a:bodyPr/>
          <a:lstStyle/>
          <a:p>
            <a:pPr algn="ctr" eaLnBrk="1" hangingPunct="1">
              <a:defRPr/>
            </a:pPr>
            <a:r>
              <a:rPr lang="en-US" dirty="0">
                <a:latin typeface="Arial" charset="0"/>
              </a:rPr>
              <a:t>Physical Layer</a:t>
            </a:r>
          </a:p>
        </p:txBody>
      </p:sp>
      <p:cxnSp>
        <p:nvCxnSpPr>
          <p:cNvPr id="15371" name="Straight Arrow Connector 8">
            <a:extLst>
              <a:ext uri="{FF2B5EF4-FFF2-40B4-BE49-F238E27FC236}">
                <a16:creationId xmlns:a16="http://schemas.microsoft.com/office/drawing/2014/main" id="{59EE816A-88C1-FB5F-9A94-C766788AAE42}"/>
              </a:ext>
            </a:extLst>
          </p:cNvPr>
          <p:cNvCxnSpPr>
            <a:cxnSpLocks noChangeShapeType="1"/>
          </p:cNvCxnSpPr>
          <p:nvPr/>
        </p:nvCxnSpPr>
        <p:spPr bwMode="auto">
          <a:xfrm flipV="1">
            <a:off x="2105025" y="3725863"/>
            <a:ext cx="0" cy="1185862"/>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72" name="Straight Arrow Connector 11">
            <a:extLst>
              <a:ext uri="{FF2B5EF4-FFF2-40B4-BE49-F238E27FC236}">
                <a16:creationId xmlns:a16="http://schemas.microsoft.com/office/drawing/2014/main" id="{79A50007-506D-73BB-6F81-499D8F1BB126}"/>
              </a:ext>
            </a:extLst>
          </p:cNvPr>
          <p:cNvCxnSpPr>
            <a:cxnSpLocks noChangeShapeType="1"/>
          </p:cNvCxnSpPr>
          <p:nvPr/>
        </p:nvCxnSpPr>
        <p:spPr bwMode="auto">
          <a:xfrm flipV="1">
            <a:off x="2105025" y="2157413"/>
            <a:ext cx="0" cy="111125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Rectangle 14">
            <a:extLst>
              <a:ext uri="{FF2B5EF4-FFF2-40B4-BE49-F238E27FC236}">
                <a16:creationId xmlns:a16="http://schemas.microsoft.com/office/drawing/2014/main" id="{9570E99E-05BF-134C-C134-765432461500}"/>
              </a:ext>
            </a:extLst>
          </p:cNvPr>
          <p:cNvSpPr/>
          <p:nvPr/>
        </p:nvSpPr>
        <p:spPr bwMode="auto">
          <a:xfrm>
            <a:off x="2643188" y="3954463"/>
            <a:ext cx="3081337" cy="73025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a:lstStyle/>
          <a:p>
            <a:pPr algn="ctr" eaLnBrk="1" hangingPunct="1">
              <a:defRPr/>
            </a:pPr>
            <a:r>
              <a:rPr lang="en-US" dirty="0">
                <a:latin typeface="Arial" charset="0"/>
              </a:rPr>
              <a:t>Taking raw bit stream form physical layer</a:t>
            </a:r>
          </a:p>
        </p:txBody>
      </p:sp>
      <p:sp>
        <p:nvSpPr>
          <p:cNvPr id="16" name="Rectangular Callout 15">
            <a:extLst>
              <a:ext uri="{FF2B5EF4-FFF2-40B4-BE49-F238E27FC236}">
                <a16:creationId xmlns:a16="http://schemas.microsoft.com/office/drawing/2014/main" id="{C72C52F2-FF38-F552-A155-03C7ED4E26A5}"/>
              </a:ext>
            </a:extLst>
          </p:cNvPr>
          <p:cNvSpPr/>
          <p:nvPr/>
        </p:nvSpPr>
        <p:spPr bwMode="auto">
          <a:xfrm>
            <a:off x="6307138" y="3527425"/>
            <a:ext cx="2498725" cy="1747838"/>
          </a:xfrm>
          <a:prstGeom prst="wedgeRectCallout">
            <a:avLst>
              <a:gd name="adj1" fmla="val -74384"/>
              <a:gd name="adj2" fmla="val 2573"/>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B/>
          </a:sp3d>
        </p:spPr>
        <p:txBody>
          <a:bodyPr/>
          <a:lstStyle/>
          <a:p>
            <a:pPr marL="285750" indent="-285750" algn="just" eaLnBrk="1" hangingPunct="1">
              <a:buFont typeface="Arial" pitchFamily="34" charset="0"/>
              <a:buChar char="•"/>
              <a:defRPr/>
            </a:pPr>
            <a:r>
              <a:rPr lang="en-US" dirty="0">
                <a:latin typeface="Arial" charset="0"/>
              </a:rPr>
              <a:t>If channel is noisy, add some extra bit to reduce error rate.</a:t>
            </a:r>
          </a:p>
          <a:p>
            <a:pPr marL="285750" indent="-285750" algn="just" eaLnBrk="1" hangingPunct="1">
              <a:buFont typeface="Arial" pitchFamily="34" charset="0"/>
              <a:buChar char="•"/>
              <a:defRPr/>
            </a:pPr>
            <a:r>
              <a:rPr lang="en-US" dirty="0">
                <a:latin typeface="Arial" charset="0"/>
              </a:rPr>
              <a:t>Bits may be less or grater than actual bits </a:t>
            </a:r>
          </a:p>
        </p:txBody>
      </p:sp>
      <p:sp>
        <p:nvSpPr>
          <p:cNvPr id="17" name="Oval Callout 16">
            <a:extLst>
              <a:ext uri="{FF2B5EF4-FFF2-40B4-BE49-F238E27FC236}">
                <a16:creationId xmlns:a16="http://schemas.microsoft.com/office/drawing/2014/main" id="{44E3F3BA-4382-B60E-6B7A-F1A4CE6DA3C5}"/>
              </a:ext>
            </a:extLst>
          </p:cNvPr>
          <p:cNvSpPr/>
          <p:nvPr/>
        </p:nvSpPr>
        <p:spPr bwMode="auto">
          <a:xfrm>
            <a:off x="4384109" y="889349"/>
            <a:ext cx="3519814" cy="2436228"/>
          </a:xfrm>
          <a:prstGeom prst="wedgeEllipseCallout">
            <a:avLst>
              <a:gd name="adj1" fmla="val -83534"/>
              <a:gd name="adj2" fmla="val 57333"/>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B/>
          </a:sp3d>
        </p:spPr>
        <p:txBody>
          <a:bodyPr/>
          <a:lstStyle/>
          <a:p>
            <a:pPr marL="285750" indent="-285750" algn="just" eaLnBrk="1" hangingPunct="1">
              <a:buFont typeface="Arial" pitchFamily="34" charset="0"/>
              <a:buChar char="•"/>
              <a:defRPr/>
            </a:pPr>
            <a:r>
              <a:rPr lang="en-US" b="1" dirty="0">
                <a:latin typeface="Arial" charset="0"/>
              </a:rPr>
              <a:t>Convert bit stream to frame. </a:t>
            </a:r>
          </a:p>
          <a:p>
            <a:pPr marL="285750" indent="-285750" algn="just" eaLnBrk="1" hangingPunct="1">
              <a:buFont typeface="Arial" pitchFamily="34" charset="0"/>
              <a:buChar char="•"/>
              <a:defRPr/>
            </a:pPr>
            <a:r>
              <a:rPr lang="en-US" dirty="0">
                <a:latin typeface="Arial" charset="0"/>
              </a:rPr>
              <a:t>Compute Checksum. </a:t>
            </a:r>
          </a:p>
          <a:p>
            <a:pPr marL="285750" indent="-285750" algn="just" eaLnBrk="1" hangingPunct="1">
              <a:buFont typeface="Arial" pitchFamily="34" charset="0"/>
              <a:buChar char="•"/>
              <a:defRPr/>
            </a:pPr>
            <a:r>
              <a:rPr lang="en-US" dirty="0">
                <a:latin typeface="Arial" charset="0"/>
              </a:rPr>
              <a:t>If source &amp; receiver checksum is not equal, discard it. </a:t>
            </a:r>
          </a:p>
          <a:p>
            <a:pPr marL="285750" indent="-285750" algn="just" eaLnBrk="1" hangingPunct="1">
              <a:buFont typeface="Arial" pitchFamily="34" charset="0"/>
              <a:buChar char="•"/>
              <a:defRPr/>
            </a:pPr>
            <a:endParaRPr lang="en-US" dirty="0">
              <a:latin typeface="Arial" charset="0"/>
            </a:endParaRPr>
          </a:p>
        </p:txBody>
      </p:sp>
      <p:sp>
        <p:nvSpPr>
          <p:cNvPr id="11" name="Rectangular Callout 10">
            <a:extLst>
              <a:ext uri="{FF2B5EF4-FFF2-40B4-BE49-F238E27FC236}">
                <a16:creationId xmlns:a16="http://schemas.microsoft.com/office/drawing/2014/main" id="{F5656E07-27CF-EC79-37E1-B766E188EB3D}"/>
              </a:ext>
            </a:extLst>
          </p:cNvPr>
          <p:cNvSpPr/>
          <p:nvPr/>
        </p:nvSpPr>
        <p:spPr bwMode="auto">
          <a:xfrm>
            <a:off x="3754330" y="5642693"/>
            <a:ext cx="4149593" cy="1065037"/>
          </a:xfrm>
          <a:prstGeom prst="wedgeRectCallout">
            <a:avLst>
              <a:gd name="adj1" fmla="val -72472"/>
              <a:gd name="adj2" fmla="val -64986"/>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a:lstStyle/>
          <a:p>
            <a:pPr marL="285750" indent="-285750" algn="just" eaLnBrk="1" hangingPunct="1">
              <a:buFont typeface="Arial" pitchFamily="34" charset="0"/>
              <a:buChar char="•"/>
              <a:defRPr/>
            </a:pPr>
            <a:r>
              <a:rPr lang="en-US" dirty="0">
                <a:latin typeface="Arial" charset="0"/>
              </a:rPr>
              <a:t>Take input from wire/wireless medium. </a:t>
            </a:r>
          </a:p>
          <a:p>
            <a:pPr marL="285750" indent="-285750" algn="just" eaLnBrk="1" hangingPunct="1">
              <a:buFont typeface="Arial" pitchFamily="34" charset="0"/>
              <a:buChar char="•"/>
              <a:defRPr/>
            </a:pPr>
            <a:r>
              <a:rPr lang="en-US" b="1" dirty="0">
                <a:latin typeface="Arial" charset="0"/>
              </a:rPr>
              <a:t>Convert signal to raw bit stream</a:t>
            </a:r>
            <a:r>
              <a:rPr lang="en-US" dirty="0">
                <a:latin typeface="Arial" charset="0"/>
              </a:rPr>
              <a:t>.  </a:t>
            </a:r>
          </a:p>
        </p:txBody>
      </p:sp>
      <p:sp>
        <p:nvSpPr>
          <p:cNvPr id="3" name="Rounded Rectangular Callout 2">
            <a:extLst>
              <a:ext uri="{FF2B5EF4-FFF2-40B4-BE49-F238E27FC236}">
                <a16:creationId xmlns:a16="http://schemas.microsoft.com/office/drawing/2014/main" id="{DAD33264-9645-7B6E-648D-436FEA08AAB3}"/>
              </a:ext>
            </a:extLst>
          </p:cNvPr>
          <p:cNvSpPr/>
          <p:nvPr/>
        </p:nvSpPr>
        <p:spPr bwMode="auto">
          <a:xfrm>
            <a:off x="141314" y="554636"/>
            <a:ext cx="2122201" cy="717579"/>
          </a:xfrm>
          <a:prstGeom prst="wedgeRoundRectCallout">
            <a:avLst>
              <a:gd name="adj1" fmla="val -3410"/>
              <a:gd name="adj2" fmla="val 116329"/>
              <a:gd name="adj3" fmla="val 16667"/>
            </a:avLst>
          </a:prstGeom>
          <a:solidFill>
            <a:srgbClr val="64B3C6"/>
          </a:solidFill>
          <a:ln w="9525" cap="flat" cmpd="sng" algn="ctr">
            <a:solidFill>
              <a:schemeClr val="tx1"/>
            </a:solidFill>
            <a:prstDash val="solid"/>
            <a:round/>
            <a:headEnd type="none" w="med" len="med"/>
            <a:tailEnd type="none" w="med" len="med"/>
          </a:ln>
          <a:effectLst/>
          <a:scene3d>
            <a:camera prst="perspectiveFront"/>
            <a:lightRig rig="threePt" dir="t"/>
          </a:scene3d>
        </p:spPr>
        <p:txBody>
          <a:bodyPr/>
          <a:lstStyle/>
          <a:p>
            <a:pPr eaLnBrk="1" hangingPunct="1">
              <a:defRPr/>
            </a:pPr>
            <a:r>
              <a:rPr lang="en-US" b="1" dirty="0">
                <a:latin typeface="Arial" charset="0"/>
              </a:rPr>
              <a:t>Convert frame to </a:t>
            </a:r>
            <a:r>
              <a:rPr lang="en-US" sz="2000" b="1" dirty="0">
                <a:latin typeface="Arial" charset="0"/>
              </a:rPr>
              <a:t>packet</a:t>
            </a:r>
            <a:r>
              <a:rPr lang="en-US" b="1" dirty="0">
                <a:latin typeface="Arial"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5C5F463-C64C-6346-3F0E-48F928CBB3A0}"/>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Network Layer Design Issue</a:t>
            </a:r>
            <a:endParaRPr lang="en-US" sz="4000" dirty="0"/>
          </a:p>
        </p:txBody>
      </p:sp>
      <p:sp>
        <p:nvSpPr>
          <p:cNvPr id="11" name="Rectangle 3">
            <a:extLst>
              <a:ext uri="{FF2B5EF4-FFF2-40B4-BE49-F238E27FC236}">
                <a16:creationId xmlns:a16="http://schemas.microsoft.com/office/drawing/2014/main" id="{C6FFE436-A41E-E0FC-6DFC-559211917E2B}"/>
              </a:ext>
            </a:extLst>
          </p:cNvPr>
          <p:cNvSpPr txBox="1">
            <a:spLocks noChangeArrowheads="1"/>
          </p:cNvSpPr>
          <p:nvPr/>
        </p:nvSpPr>
        <p:spPr bwMode="auto">
          <a:xfrm>
            <a:off x="625475" y="1438275"/>
            <a:ext cx="8350250" cy="4168775"/>
          </a:xfrm>
          <a:prstGeom prst="rect">
            <a:avLst/>
          </a:prstGeom>
          <a:noFill/>
          <a:ln>
            <a:noFill/>
          </a:ln>
          <a:effectLst/>
        </p:spPr>
        <p:txBody>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a:buFontTx/>
              <a:buChar char="•"/>
              <a:defRPr/>
            </a:pPr>
            <a:r>
              <a:rPr lang="en-US" sz="3200" dirty="0">
                <a:latin typeface="Times New Roman" pitchFamily="18" charset="0"/>
                <a:cs typeface="Times New Roman" pitchFamily="18" charset="0"/>
              </a:rPr>
              <a:t>Store-and-Forward Packet Switching</a:t>
            </a:r>
          </a:p>
          <a:p>
            <a:pPr>
              <a:buFontTx/>
              <a:buChar char="•"/>
              <a:defRPr/>
            </a:pPr>
            <a:r>
              <a:rPr lang="en-US" sz="3200" i="1" dirty="0">
                <a:latin typeface="Times New Roman" pitchFamily="18" charset="0"/>
                <a:cs typeface="Times New Roman" pitchFamily="18" charset="0"/>
              </a:rPr>
              <a:t>Services Provided to the Transport Layer</a:t>
            </a:r>
          </a:p>
          <a:p>
            <a:pPr>
              <a:buFontTx/>
              <a:buChar char="•"/>
              <a:defRPr/>
            </a:pPr>
            <a:r>
              <a:rPr lang="en-US" sz="3200" dirty="0">
                <a:latin typeface="Times New Roman" pitchFamily="18" charset="0"/>
                <a:cs typeface="Times New Roman" pitchFamily="18" charset="0"/>
              </a:rPr>
              <a:t>Implementation of Connectionless Service</a:t>
            </a:r>
          </a:p>
          <a:p>
            <a:pPr>
              <a:buFontTx/>
              <a:buChar char="•"/>
              <a:defRPr/>
            </a:pPr>
            <a:r>
              <a:rPr lang="en-US" sz="3200" dirty="0">
                <a:latin typeface="Times New Roman" pitchFamily="18" charset="0"/>
                <a:cs typeface="Times New Roman" pitchFamily="18" charset="0"/>
              </a:rPr>
              <a:t>Implementation of Connection-Oriented Service</a:t>
            </a:r>
          </a:p>
          <a:p>
            <a:pPr>
              <a:buFontTx/>
              <a:buChar char="•"/>
              <a:defRPr/>
            </a:pPr>
            <a:r>
              <a:rPr lang="en-US" sz="3200" dirty="0">
                <a:latin typeface="Times New Roman" pitchFamily="18" charset="0"/>
                <a:cs typeface="Times New Roman" pitchFamily="18" charset="0"/>
              </a:rPr>
              <a:t>Comparison of Virtual-Circuit and Datagram Subnets</a:t>
            </a:r>
            <a:endParaRPr lang="en-US" b="1" i="1" dirty="0">
              <a:effectLst>
                <a:outerShdw blurRad="38100" dist="38100" dir="2700000" algn="tl">
                  <a:srgbClr val="000000"/>
                </a:outerShdw>
              </a:effectLst>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B8E0458-68C0-E298-7102-CAE79B0D6613}"/>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Store-and-Forward Packet Switching</a:t>
            </a:r>
          </a:p>
        </p:txBody>
      </p:sp>
      <p:sp>
        <p:nvSpPr>
          <p:cNvPr id="17410" name="Rectangle 3">
            <a:extLst>
              <a:ext uri="{FF2B5EF4-FFF2-40B4-BE49-F238E27FC236}">
                <a16:creationId xmlns:a16="http://schemas.microsoft.com/office/drawing/2014/main" id="{915B9382-D129-B330-16E0-A5FD50F72C33}"/>
              </a:ext>
            </a:extLst>
          </p:cNvPr>
          <p:cNvSpPr txBox="1">
            <a:spLocks noChangeArrowheads="1"/>
          </p:cNvSpPr>
          <p:nvPr/>
        </p:nvSpPr>
        <p:spPr bwMode="auto">
          <a:xfrm>
            <a:off x="412750" y="935038"/>
            <a:ext cx="8518525" cy="550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Tx/>
              <a:buNone/>
            </a:pPr>
            <a:endParaRPr lang="en-US" altLang="en-US" sz="3600"/>
          </a:p>
        </p:txBody>
      </p:sp>
      <p:sp>
        <p:nvSpPr>
          <p:cNvPr id="17411" name="Rectangle 3">
            <a:extLst>
              <a:ext uri="{FF2B5EF4-FFF2-40B4-BE49-F238E27FC236}">
                <a16:creationId xmlns:a16="http://schemas.microsoft.com/office/drawing/2014/main" id="{E7319A69-B16C-1C02-B085-92641E22FC22}"/>
              </a:ext>
            </a:extLst>
          </p:cNvPr>
          <p:cNvSpPr txBox="1">
            <a:spLocks noChangeArrowheads="1"/>
          </p:cNvSpPr>
          <p:nvPr/>
        </p:nvSpPr>
        <p:spPr bwMode="auto">
          <a:xfrm>
            <a:off x="173038" y="5132388"/>
            <a:ext cx="8997950" cy="94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a:buFontTx/>
              <a:buNone/>
            </a:pPr>
            <a:r>
              <a:rPr lang="en-US" altLang="en-US" sz="3200">
                <a:latin typeface="Times New Roman" panose="02020603050405020304" pitchFamily="18" charset="0"/>
                <a:cs typeface="Times New Roman" panose="02020603050405020304" pitchFamily="18" charset="0"/>
              </a:rPr>
              <a:t>The environment of the network layer protocols.</a:t>
            </a:r>
          </a:p>
        </p:txBody>
      </p:sp>
      <p:pic>
        <p:nvPicPr>
          <p:cNvPr id="17412" name="Picture 6" descr="5-01">
            <a:extLst>
              <a:ext uri="{FF2B5EF4-FFF2-40B4-BE49-F238E27FC236}">
                <a16:creationId xmlns:a16="http://schemas.microsoft.com/office/drawing/2014/main" id="{028F156F-C243-3ED3-B941-C1B2F9A50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50" y="1333500"/>
            <a:ext cx="8866188"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A98C90B-DBAB-2F9A-A2DC-353304A89B6A}"/>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Store-and-Forward Packet Switching (1)</a:t>
            </a:r>
          </a:p>
        </p:txBody>
      </p:sp>
      <p:sp>
        <p:nvSpPr>
          <p:cNvPr id="18434" name="Rectangle 3">
            <a:extLst>
              <a:ext uri="{FF2B5EF4-FFF2-40B4-BE49-F238E27FC236}">
                <a16:creationId xmlns:a16="http://schemas.microsoft.com/office/drawing/2014/main" id="{C9CB2C82-7D61-58EB-E4FA-EECA2494DE89}"/>
              </a:ext>
            </a:extLst>
          </p:cNvPr>
          <p:cNvSpPr txBox="1">
            <a:spLocks noChangeArrowheads="1"/>
          </p:cNvSpPr>
          <p:nvPr/>
        </p:nvSpPr>
        <p:spPr bwMode="auto">
          <a:xfrm>
            <a:off x="412750" y="935038"/>
            <a:ext cx="8518525" cy="550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A host with a packet to send transmit it to the nearest router, either on it’s own LAN or over a point-to-point link to the ISP. </a:t>
            </a:r>
          </a:p>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The packet is stored there until it has fully arrived and the link has finished its processing by verifying the checksum. </a:t>
            </a:r>
          </a:p>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Then it is forwarded to the next router along the path until it reaches the destination host, where it is delivered.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5E3B67E-C88D-5CBE-8641-3E7048A66F1A}"/>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Services Provided to the Transport Layer</a:t>
            </a:r>
          </a:p>
        </p:txBody>
      </p:sp>
      <p:sp>
        <p:nvSpPr>
          <p:cNvPr id="11" name="Rectangle 3">
            <a:extLst>
              <a:ext uri="{FF2B5EF4-FFF2-40B4-BE49-F238E27FC236}">
                <a16:creationId xmlns:a16="http://schemas.microsoft.com/office/drawing/2014/main" id="{AD6A805E-0346-6D82-6ABE-AC59C489A473}"/>
              </a:ext>
            </a:extLst>
          </p:cNvPr>
          <p:cNvSpPr txBox="1">
            <a:spLocks noChangeArrowheads="1"/>
          </p:cNvSpPr>
          <p:nvPr/>
        </p:nvSpPr>
        <p:spPr bwMode="auto">
          <a:xfrm>
            <a:off x="412750" y="935038"/>
            <a:ext cx="8518525" cy="5507037"/>
          </a:xfrm>
          <a:prstGeom prst="rect">
            <a:avLst/>
          </a:prstGeom>
          <a:noFill/>
          <a:ln>
            <a:noFill/>
          </a:ln>
          <a:effectLst/>
        </p:spPr>
        <p:txBody>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marL="457200" indent="-457200" algn="just">
              <a:buFont typeface="Wingdings" pitchFamily="2" charset="2"/>
              <a:buChar char="q"/>
              <a:defRPr/>
            </a:pPr>
            <a:r>
              <a:rPr lang="en-US" sz="3200" dirty="0">
                <a:latin typeface="Times New Roman" pitchFamily="18" charset="0"/>
                <a:cs typeface="Times New Roman" pitchFamily="18" charset="0"/>
              </a:rPr>
              <a:t>An important question is precisely what kind of</a:t>
            </a:r>
          </a:p>
          <a:p>
            <a:pPr marL="0" indent="0" algn="just">
              <a:buFontTx/>
              <a:buNone/>
              <a:defRPr/>
            </a:pPr>
            <a:r>
              <a:rPr lang="en-US" sz="3200" dirty="0">
                <a:latin typeface="Times New Roman" pitchFamily="18" charset="0"/>
                <a:cs typeface="Times New Roman" pitchFamily="18" charset="0"/>
              </a:rPr>
              <a:t>services the network layer provides to the transport layer?</a:t>
            </a:r>
          </a:p>
          <a:p>
            <a:pPr marL="457200" indent="-457200" algn="just">
              <a:buFont typeface="Wingdings" pitchFamily="2" charset="2"/>
              <a:buChar char="q"/>
              <a:defRPr/>
            </a:pPr>
            <a:r>
              <a:rPr lang="en-US" sz="3200" b="1" dirty="0">
                <a:latin typeface="Times New Roman" pitchFamily="18" charset="0"/>
                <a:cs typeface="Times New Roman" pitchFamily="18" charset="0"/>
              </a:rPr>
              <a:t> </a:t>
            </a:r>
            <a:r>
              <a:rPr lang="en-US" sz="3200" dirty="0">
                <a:solidFill>
                  <a:srgbClr val="0070C0"/>
                </a:solidFill>
                <a:latin typeface="Times New Roman" pitchFamily="18" charset="0"/>
                <a:cs typeface="Times New Roman" pitchFamily="18" charset="0"/>
              </a:rPr>
              <a:t>Dealing with the following </a:t>
            </a:r>
            <a:r>
              <a:rPr lang="en-US" sz="3200" b="1" dirty="0">
                <a:solidFill>
                  <a:srgbClr val="0070C0"/>
                </a:solidFill>
                <a:latin typeface="Times New Roman" pitchFamily="18" charset="0"/>
                <a:cs typeface="Times New Roman" pitchFamily="18" charset="0"/>
              </a:rPr>
              <a:t>goals</a:t>
            </a:r>
            <a:r>
              <a:rPr lang="en-US" sz="3200" dirty="0">
                <a:solidFill>
                  <a:srgbClr val="0070C0"/>
                </a:solidFill>
                <a:latin typeface="Times New Roman" pitchFamily="18" charset="0"/>
                <a:cs typeface="Times New Roman" pitchFamily="18" charset="0"/>
              </a:rPr>
              <a:t> in mind:</a:t>
            </a:r>
          </a:p>
          <a:p>
            <a:pPr lvl="1" algn="just">
              <a:buFont typeface="+mj-lt"/>
              <a:buAutoNum type="arabicPeriod"/>
              <a:defRPr/>
            </a:pPr>
            <a:r>
              <a:rPr lang="en-US" sz="2800" dirty="0">
                <a:latin typeface="Times New Roman" pitchFamily="18" charset="0"/>
                <a:cs typeface="Times New Roman" pitchFamily="18" charset="0"/>
              </a:rPr>
              <a:t>The services should be </a:t>
            </a:r>
            <a:r>
              <a:rPr lang="en-US" sz="2800" b="1" dirty="0">
                <a:latin typeface="Times New Roman" pitchFamily="18" charset="0"/>
                <a:cs typeface="Times New Roman" pitchFamily="18" charset="0"/>
              </a:rPr>
              <a:t>independent</a:t>
            </a:r>
            <a:r>
              <a:rPr lang="en-US" sz="2800" dirty="0">
                <a:latin typeface="Times New Roman" pitchFamily="18" charset="0"/>
                <a:cs typeface="Times New Roman" pitchFamily="18" charset="0"/>
              </a:rPr>
              <a:t> of the </a:t>
            </a:r>
            <a:r>
              <a:rPr lang="en-US" sz="2800" dirty="0">
                <a:solidFill>
                  <a:schemeClr val="accent1">
                    <a:lumMod val="50000"/>
                  </a:schemeClr>
                </a:solidFill>
                <a:latin typeface="Times New Roman" pitchFamily="18" charset="0"/>
                <a:cs typeface="Times New Roman" pitchFamily="18" charset="0"/>
              </a:rPr>
              <a:t>router technology.</a:t>
            </a:r>
          </a:p>
          <a:p>
            <a:pPr lvl="1" algn="just">
              <a:buFont typeface="+mj-lt"/>
              <a:buAutoNum type="arabicPeriod"/>
              <a:defRPr/>
            </a:pPr>
            <a:r>
              <a:rPr lang="en-US" sz="2800" dirty="0">
                <a:latin typeface="Times New Roman" pitchFamily="18" charset="0"/>
                <a:cs typeface="Times New Roman" pitchFamily="18" charset="0"/>
              </a:rPr>
              <a:t>The transport layer should be shielded from the </a:t>
            </a:r>
            <a:r>
              <a:rPr lang="en-US" sz="2800" dirty="0">
                <a:solidFill>
                  <a:schemeClr val="accent1">
                    <a:lumMod val="50000"/>
                  </a:schemeClr>
                </a:solidFill>
                <a:latin typeface="Times New Roman" pitchFamily="18" charset="0"/>
                <a:cs typeface="Times New Roman" pitchFamily="18" charset="0"/>
              </a:rPr>
              <a:t>number, type, and topology of the routers </a:t>
            </a:r>
            <a:r>
              <a:rPr lang="en-US" sz="2800" dirty="0">
                <a:latin typeface="Times New Roman" pitchFamily="18" charset="0"/>
                <a:cs typeface="Times New Roman" pitchFamily="18" charset="0"/>
              </a:rPr>
              <a:t>present.</a:t>
            </a:r>
          </a:p>
          <a:p>
            <a:pPr lvl="1" algn="just">
              <a:buFont typeface="+mj-lt"/>
              <a:buAutoNum type="arabicPeriod"/>
              <a:defRPr/>
            </a:pPr>
            <a:r>
              <a:rPr lang="en-US" sz="2800" dirty="0">
                <a:latin typeface="Times New Roman" pitchFamily="18" charset="0"/>
                <a:cs typeface="Times New Roman" pitchFamily="18" charset="0"/>
              </a:rPr>
              <a:t>The network addresses made available to the transport layer should use a uniform numbering plan, even across LANs and WANs.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A1A6BD6-19D4-29D7-5838-06C3D137ABCC}"/>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Services Provided to the Transport Layer</a:t>
            </a:r>
          </a:p>
        </p:txBody>
      </p:sp>
      <p:sp>
        <p:nvSpPr>
          <p:cNvPr id="11" name="Rectangle 3">
            <a:extLst>
              <a:ext uri="{FF2B5EF4-FFF2-40B4-BE49-F238E27FC236}">
                <a16:creationId xmlns:a16="http://schemas.microsoft.com/office/drawing/2014/main" id="{4D0ED4A3-225E-53C2-CE96-AD6A4672C14A}"/>
              </a:ext>
            </a:extLst>
          </p:cNvPr>
          <p:cNvSpPr txBox="1">
            <a:spLocks noChangeArrowheads="1"/>
          </p:cNvSpPr>
          <p:nvPr/>
        </p:nvSpPr>
        <p:spPr bwMode="auto">
          <a:xfrm>
            <a:off x="412750" y="935038"/>
            <a:ext cx="8572500" cy="5260975"/>
          </a:xfrm>
          <a:prstGeom prst="rect">
            <a:avLst/>
          </a:prstGeom>
          <a:noFill/>
          <a:ln>
            <a:noFill/>
          </a:ln>
          <a:effectLst/>
        </p:spPr>
        <p:txBody>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marL="457200" indent="-457200" algn="just">
              <a:buFont typeface="Wingdings" pitchFamily="2" charset="2"/>
              <a:buChar char="q"/>
              <a:defRPr/>
            </a:pPr>
            <a:r>
              <a:rPr lang="en-US" sz="3200" dirty="0">
                <a:latin typeface="Times New Roman" pitchFamily="18" charset="0"/>
                <a:cs typeface="Times New Roman" pitchFamily="18" charset="0"/>
              </a:rPr>
              <a:t>An important question is precisely what kind of</a:t>
            </a:r>
          </a:p>
          <a:p>
            <a:pPr marL="0" indent="0" algn="just">
              <a:buFontTx/>
              <a:buNone/>
              <a:defRPr/>
            </a:pPr>
            <a:r>
              <a:rPr lang="en-US" sz="3200" dirty="0">
                <a:latin typeface="Times New Roman" pitchFamily="18" charset="0"/>
                <a:cs typeface="Times New Roman" pitchFamily="18" charset="0"/>
              </a:rPr>
              <a:t>services the network layer provides to the transport layer?</a:t>
            </a:r>
          </a:p>
          <a:p>
            <a:pPr marL="457200" indent="-457200" algn="just">
              <a:buFont typeface="Wingdings" pitchFamily="2" charset="2"/>
              <a:buChar char="q"/>
              <a:defRPr/>
            </a:pPr>
            <a:r>
              <a:rPr lang="en-US" sz="3200" b="1" dirty="0">
                <a:latin typeface="Times New Roman" pitchFamily="18" charset="0"/>
                <a:cs typeface="Times New Roman" pitchFamily="18" charset="0"/>
              </a:rPr>
              <a:t> Service Kinds: </a:t>
            </a:r>
            <a:endParaRPr lang="en-US" sz="3200" dirty="0">
              <a:solidFill>
                <a:srgbClr val="0070C0"/>
              </a:solidFill>
              <a:latin typeface="Times New Roman" pitchFamily="18" charset="0"/>
              <a:cs typeface="Times New Roman" pitchFamily="18" charset="0"/>
            </a:endParaRPr>
          </a:p>
          <a:p>
            <a:pPr lvl="1" algn="just">
              <a:buFont typeface="+mj-lt"/>
              <a:buAutoNum type="arabicPeriod"/>
              <a:defRPr/>
            </a:pPr>
            <a:r>
              <a:rPr lang="en-US" sz="2400" b="1" dirty="0">
                <a:latin typeface="Times New Roman" pitchFamily="18" charset="0"/>
                <a:cs typeface="Times New Roman" pitchFamily="18" charset="0"/>
              </a:rPr>
              <a:t>Connectionless Service: </a:t>
            </a:r>
            <a:r>
              <a:rPr lang="en-US" sz="2400" dirty="0">
                <a:latin typeface="Times New Roman" pitchFamily="18" charset="0"/>
                <a:cs typeface="Times New Roman" pitchFamily="18" charset="0"/>
              </a:rPr>
              <a:t>Internet Community. </a:t>
            </a:r>
          </a:p>
          <a:p>
            <a:pPr marL="1295400" lvl="3" indent="0" algn="just">
              <a:buFontTx/>
              <a:buNone/>
              <a:defRPr/>
            </a:pPr>
            <a:r>
              <a:rPr lang="en-US" sz="2400" dirty="0">
                <a:latin typeface="Times New Roman" pitchFamily="18" charset="0"/>
                <a:cs typeface="Times New Roman" pitchFamily="18" charset="0"/>
              </a:rPr>
              <a:t>The hosts should accept the fact that the network is unreliable, so need to do error control (i.e., error detection and correction) and flow control themselves. </a:t>
            </a:r>
          </a:p>
          <a:p>
            <a:pPr lvl="1" algn="just">
              <a:buFont typeface="+mj-lt"/>
              <a:buAutoNum type="arabicPeriod"/>
              <a:defRPr/>
            </a:pPr>
            <a:r>
              <a:rPr lang="en-US" sz="2400" b="1" dirty="0">
                <a:latin typeface="Times New Roman" pitchFamily="18" charset="0"/>
                <a:cs typeface="Times New Roman" pitchFamily="18" charset="0"/>
              </a:rPr>
              <a:t>Connection-Oriented Service: </a:t>
            </a:r>
            <a:r>
              <a:rPr lang="en-US" sz="2400" dirty="0">
                <a:latin typeface="Times New Roman" pitchFamily="18" charset="0"/>
                <a:cs typeface="Times New Roman" pitchFamily="18" charset="0"/>
              </a:rPr>
              <a:t>Telephone companies.</a:t>
            </a:r>
          </a:p>
          <a:p>
            <a:pPr marL="1295400" lvl="3" indent="0" algn="just">
              <a:buFontTx/>
              <a:buNone/>
              <a:defRPr/>
            </a:pPr>
            <a:r>
              <a:rPr lang="en-US" sz="2400" dirty="0">
                <a:latin typeface="Times New Roman" pitchFamily="18" charset="0"/>
                <a:cs typeface="Times New Roman" pitchFamily="18" charset="0"/>
              </a:rPr>
              <a:t>Network should provide a reliable, connection-oriented service. (ATM)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1E78B4B-FA83-9373-EE80-03F9341ECA85}"/>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Services Provided to the Transport Layer</a:t>
            </a:r>
          </a:p>
        </p:txBody>
      </p:sp>
      <p:sp>
        <p:nvSpPr>
          <p:cNvPr id="22530" name="Rectangle 3">
            <a:extLst>
              <a:ext uri="{FF2B5EF4-FFF2-40B4-BE49-F238E27FC236}">
                <a16:creationId xmlns:a16="http://schemas.microsoft.com/office/drawing/2014/main" id="{E648B60F-C2CA-5C6B-21F5-8F5E2DCC2932}"/>
              </a:ext>
            </a:extLst>
          </p:cNvPr>
          <p:cNvSpPr txBox="1">
            <a:spLocks noChangeArrowheads="1"/>
          </p:cNvSpPr>
          <p:nvPr/>
        </p:nvSpPr>
        <p:spPr bwMode="auto">
          <a:xfrm>
            <a:off x="412750" y="935038"/>
            <a:ext cx="8572500"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38300" indent="-342900">
              <a:spcBef>
                <a:spcPct val="20000"/>
              </a:spcBef>
              <a:buClr>
                <a:schemeClr val="accent2"/>
              </a:buClr>
              <a:buChar char="–"/>
              <a:defRPr sz="2000">
                <a:solidFill>
                  <a:schemeClr val="tx1"/>
                </a:solidFill>
                <a:latin typeface="Trebuchet MS" panose="020B0703020202090204" pitchFamily="34" charset="0"/>
              </a:defRPr>
            </a:lvl4pPr>
            <a:lvl5pPr marL="2209800" indent="-381000">
              <a:spcBef>
                <a:spcPct val="20000"/>
              </a:spcBef>
              <a:buClr>
                <a:schemeClr val="accent2"/>
              </a:buClr>
              <a:buChar char="»"/>
              <a:defRPr sz="2000">
                <a:solidFill>
                  <a:schemeClr val="tx1"/>
                </a:solidFill>
                <a:latin typeface="Trebuchet MS" panose="020B0703020202090204" pitchFamily="34" charset="0"/>
              </a:defRPr>
            </a:lvl5pPr>
            <a:lvl6pPr marL="26670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31242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5814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40386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200" b="1">
                <a:latin typeface="Times New Roman" panose="02020603050405020304" pitchFamily="18" charset="0"/>
                <a:cs typeface="Times New Roman" panose="02020603050405020304" pitchFamily="18" charset="0"/>
              </a:rPr>
              <a:t>Service Kinds: </a:t>
            </a:r>
            <a:endParaRPr lang="en-US" altLang="en-US" sz="3200">
              <a:solidFill>
                <a:srgbClr val="0070C0"/>
              </a:solidFill>
              <a:latin typeface="Times New Roman" panose="02020603050405020304" pitchFamily="18" charset="0"/>
              <a:cs typeface="Times New Roman" panose="02020603050405020304" pitchFamily="18" charset="0"/>
            </a:endParaRPr>
          </a:p>
          <a:p>
            <a:pPr lvl="1" algn="just">
              <a:buFont typeface="Trebuchet MS" panose="020B0703020202090204" pitchFamily="34" charset="0"/>
              <a:buAutoNum type="arabicPeriod"/>
            </a:pPr>
            <a:r>
              <a:rPr lang="en-US" altLang="en-US" sz="2400" b="1">
                <a:latin typeface="Times New Roman" panose="02020603050405020304" pitchFamily="18" charset="0"/>
                <a:cs typeface="Times New Roman" panose="02020603050405020304" pitchFamily="18" charset="0"/>
              </a:rPr>
              <a:t>Connectionless Service: </a:t>
            </a:r>
            <a:r>
              <a:rPr lang="en-US" altLang="en-US" sz="2400">
                <a:latin typeface="Times New Roman" panose="02020603050405020304" pitchFamily="18" charset="0"/>
                <a:cs typeface="Times New Roman" panose="02020603050405020304" pitchFamily="18" charset="0"/>
              </a:rPr>
              <a:t>Internet Community. </a:t>
            </a:r>
          </a:p>
          <a:p>
            <a:pPr lvl="3"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Connection in unreliable.</a:t>
            </a:r>
          </a:p>
          <a:p>
            <a:pPr lvl="3"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Host does the error control (i.e., error detection and correction) and flow control themselves. </a:t>
            </a:r>
          </a:p>
          <a:p>
            <a:pPr lvl="3"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There is no packet ordering. Because host are going to do flow control already. </a:t>
            </a:r>
          </a:p>
          <a:p>
            <a:pPr lvl="3"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Furthermore, each packet must carry the full destination address, because each packet sent is carried independently of its predecessors, if any.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56CB1DA8-4BC0-17F1-A71F-F4E6F9326830}"/>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Services Provided to the Transport Layer</a:t>
            </a:r>
          </a:p>
        </p:txBody>
      </p:sp>
      <p:sp>
        <p:nvSpPr>
          <p:cNvPr id="23554" name="Rectangle 3">
            <a:extLst>
              <a:ext uri="{FF2B5EF4-FFF2-40B4-BE49-F238E27FC236}">
                <a16:creationId xmlns:a16="http://schemas.microsoft.com/office/drawing/2014/main" id="{97818BA7-ED3B-A83A-0A07-19B159A2A935}"/>
              </a:ext>
            </a:extLst>
          </p:cNvPr>
          <p:cNvSpPr txBox="1">
            <a:spLocks noChangeArrowheads="1"/>
          </p:cNvSpPr>
          <p:nvPr/>
        </p:nvSpPr>
        <p:spPr bwMode="auto">
          <a:xfrm>
            <a:off x="412750" y="935038"/>
            <a:ext cx="7891463" cy="526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AutoNum type="alphaLcParenR"/>
              <a:defRPr sz="2400">
                <a:solidFill>
                  <a:schemeClr val="tx1"/>
                </a:solidFill>
                <a:latin typeface="Trebuchet MS" panose="020B0703020202090204" pitchFamily="34" charset="0"/>
              </a:defRPr>
            </a:lvl1pPr>
            <a:lvl2pPr marL="990600" indent="-5334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38300" indent="-342900">
              <a:spcBef>
                <a:spcPct val="20000"/>
              </a:spcBef>
              <a:buClr>
                <a:schemeClr val="accent2"/>
              </a:buClr>
              <a:buChar char="–"/>
              <a:defRPr sz="2000">
                <a:solidFill>
                  <a:schemeClr val="tx1"/>
                </a:solidFill>
                <a:latin typeface="Trebuchet MS" panose="020B0703020202090204" pitchFamily="34" charset="0"/>
              </a:defRPr>
            </a:lvl4pPr>
            <a:lvl5pPr marL="2209800" indent="-381000">
              <a:spcBef>
                <a:spcPct val="20000"/>
              </a:spcBef>
              <a:buClr>
                <a:schemeClr val="accent2"/>
              </a:buClr>
              <a:buChar char="»"/>
              <a:defRPr sz="2000">
                <a:solidFill>
                  <a:schemeClr val="tx1"/>
                </a:solidFill>
                <a:latin typeface="Trebuchet MS" panose="020B0703020202090204" pitchFamily="34" charset="0"/>
              </a:defRPr>
            </a:lvl5pPr>
            <a:lvl6pPr marL="26670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31242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5814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4038600" indent="-3810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200" b="1">
                <a:latin typeface="Times New Roman" panose="02020603050405020304" pitchFamily="18" charset="0"/>
                <a:cs typeface="Times New Roman" panose="02020603050405020304" pitchFamily="18" charset="0"/>
              </a:rPr>
              <a:t>Service Kinds: </a:t>
            </a:r>
            <a:endParaRPr lang="en-US" altLang="en-US" sz="3200">
              <a:solidFill>
                <a:srgbClr val="0070C0"/>
              </a:solidFill>
              <a:latin typeface="Times New Roman" panose="02020603050405020304" pitchFamily="18" charset="0"/>
              <a:cs typeface="Times New Roman" panose="02020603050405020304" pitchFamily="18" charset="0"/>
            </a:endParaRPr>
          </a:p>
          <a:p>
            <a:pPr lvl="1" algn="just">
              <a:buFont typeface="Trebuchet MS" panose="020B0703020202090204" pitchFamily="34" charset="0"/>
              <a:buAutoNum type="arabicPeriod" startAt="2"/>
            </a:pPr>
            <a:r>
              <a:rPr lang="en-US" altLang="en-US" sz="2400" b="1">
                <a:latin typeface="Times New Roman" panose="02020603050405020304" pitchFamily="18" charset="0"/>
                <a:cs typeface="Times New Roman" panose="02020603050405020304" pitchFamily="18" charset="0"/>
              </a:rPr>
              <a:t>Connection-Oriented Service: </a:t>
            </a:r>
            <a:r>
              <a:rPr lang="en-US" altLang="en-US" sz="2400">
                <a:latin typeface="Times New Roman" panose="02020603050405020304" pitchFamily="18" charset="0"/>
                <a:cs typeface="Times New Roman" panose="02020603050405020304" pitchFamily="18" charset="0"/>
              </a:rPr>
              <a:t>Telephone companies.</a:t>
            </a:r>
          </a:p>
          <a:p>
            <a:pPr lvl="3"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Network should provide a reliable, connection-oriented service. (ATM-Asynchronous Transfer Mode) </a:t>
            </a:r>
          </a:p>
          <a:p>
            <a:pPr lvl="3" algn="just">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Quality of service is the dominant factor. Quality of service is very difficult to achieve, especially for real-time traffic such as voice and video.</a:t>
            </a:r>
          </a:p>
          <a:p>
            <a:pPr lvl="3" algn="just">
              <a:buFont typeface="Arial" panose="020B0604020202020204" pitchFamily="34" charset="0"/>
              <a:buChar char="•"/>
            </a:pP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26B5E22-19A1-8220-8473-1BEE4C09863F}"/>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Implementation of Connectionless Service</a:t>
            </a:r>
          </a:p>
        </p:txBody>
      </p:sp>
      <p:sp>
        <p:nvSpPr>
          <p:cNvPr id="24578" name="Rectangle 3">
            <a:extLst>
              <a:ext uri="{FF2B5EF4-FFF2-40B4-BE49-F238E27FC236}">
                <a16:creationId xmlns:a16="http://schemas.microsoft.com/office/drawing/2014/main" id="{1DE9166E-A824-FCC5-2CD1-15875366E9B3}"/>
              </a:ext>
            </a:extLst>
          </p:cNvPr>
          <p:cNvSpPr txBox="1">
            <a:spLocks noChangeArrowheads="1"/>
          </p:cNvSpPr>
          <p:nvPr/>
        </p:nvSpPr>
        <p:spPr bwMode="auto">
          <a:xfrm>
            <a:off x="765175" y="1376363"/>
            <a:ext cx="7856538"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r>
              <a:rPr lang="en-US" altLang="en-US">
                <a:latin typeface="Times New Roman" panose="02020603050405020304" pitchFamily="18" charset="0"/>
                <a:cs typeface="Times New Roman" panose="02020603050405020304" pitchFamily="18" charset="0"/>
              </a:rPr>
              <a:t>Packets are injected into the network individually and routed independently of each other. </a:t>
            </a:r>
          </a:p>
          <a:p>
            <a:r>
              <a:rPr lang="en-US" altLang="en-US">
                <a:latin typeface="Times New Roman" panose="02020603050405020304" pitchFamily="18" charset="0"/>
                <a:cs typeface="Times New Roman" panose="02020603050405020304" pitchFamily="18" charset="0"/>
              </a:rPr>
              <a:t>No advance setup is needed.</a:t>
            </a:r>
          </a:p>
        </p:txBody>
      </p:sp>
      <p:pic>
        <p:nvPicPr>
          <p:cNvPr id="24579" name="Picture 6" descr="5-02">
            <a:extLst>
              <a:ext uri="{FF2B5EF4-FFF2-40B4-BE49-F238E27FC236}">
                <a16:creationId xmlns:a16="http://schemas.microsoft.com/office/drawing/2014/main" id="{2FA1730D-9888-BBD6-5245-7FA16FBF7E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14" t="832" r="-620" b="45772"/>
          <a:stretch>
            <a:fillRect/>
          </a:stretch>
        </p:blipFill>
        <p:spPr bwMode="auto">
          <a:xfrm>
            <a:off x="765175" y="3086100"/>
            <a:ext cx="8143875"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625B458-A186-ADF7-7015-44370F7DD6C3}"/>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Implementation of Connectionless Service</a:t>
            </a:r>
          </a:p>
        </p:txBody>
      </p:sp>
      <p:sp>
        <p:nvSpPr>
          <p:cNvPr id="25602" name="Rectangle 3">
            <a:extLst>
              <a:ext uri="{FF2B5EF4-FFF2-40B4-BE49-F238E27FC236}">
                <a16:creationId xmlns:a16="http://schemas.microsoft.com/office/drawing/2014/main" id="{909B0D51-3352-C4C1-975D-0EF2AAA681CB}"/>
              </a:ext>
            </a:extLst>
          </p:cNvPr>
          <p:cNvSpPr txBox="1">
            <a:spLocks noChangeArrowheads="1"/>
          </p:cNvSpPr>
          <p:nvPr/>
        </p:nvSpPr>
        <p:spPr bwMode="auto">
          <a:xfrm>
            <a:off x="788988" y="6105525"/>
            <a:ext cx="6630987"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a:buFontTx/>
              <a:buNone/>
            </a:pPr>
            <a:r>
              <a:rPr lang="en-US" altLang="en-US"/>
              <a:t>Routing within a diagram subnet.</a:t>
            </a:r>
          </a:p>
        </p:txBody>
      </p:sp>
      <p:pic>
        <p:nvPicPr>
          <p:cNvPr id="25603" name="Picture 6" descr="5-02">
            <a:extLst>
              <a:ext uri="{FF2B5EF4-FFF2-40B4-BE49-F238E27FC236}">
                <a16:creationId xmlns:a16="http://schemas.microsoft.com/office/drawing/2014/main" id="{A3790613-42BE-E22D-EE67-AFD232A5C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175" y="979488"/>
            <a:ext cx="7105650" cy="503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9FF63B4-45A7-8250-CE44-72BBBC22135F}"/>
              </a:ext>
            </a:extLst>
          </p:cNvPr>
          <p:cNvSpPr/>
          <p:nvPr/>
        </p:nvSpPr>
        <p:spPr bwMode="auto">
          <a:xfrm>
            <a:off x="5816600" y="3513138"/>
            <a:ext cx="3206750" cy="2378075"/>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285750" indent="-285750" algn="just" eaLnBrk="1" hangingPunct="1">
              <a:buFont typeface="Arial" pitchFamily="34" charset="0"/>
              <a:buChar char="•"/>
              <a:defRPr/>
            </a:pPr>
            <a:r>
              <a:rPr lang="en-US" sz="2400" dirty="0">
                <a:latin typeface="Arial" charset="0"/>
              </a:rPr>
              <a:t>Packet frequently called as </a:t>
            </a:r>
            <a:r>
              <a:rPr lang="en-US" sz="2400" b="1" dirty="0">
                <a:solidFill>
                  <a:srgbClr val="0070C0"/>
                </a:solidFill>
                <a:latin typeface="Arial" charset="0"/>
              </a:rPr>
              <a:t>datagram.</a:t>
            </a:r>
          </a:p>
          <a:p>
            <a:pPr marL="285750" indent="-285750" algn="just" eaLnBrk="1" hangingPunct="1">
              <a:buFont typeface="Arial" pitchFamily="34" charset="0"/>
              <a:buChar char="•"/>
              <a:defRPr/>
            </a:pPr>
            <a:r>
              <a:rPr lang="en-US" sz="2400" dirty="0">
                <a:latin typeface="Arial" charset="0"/>
              </a:rPr>
              <a:t>The network is called a </a:t>
            </a:r>
            <a:r>
              <a:rPr lang="en-US" sz="2400" b="1" dirty="0">
                <a:solidFill>
                  <a:srgbClr val="0070C0"/>
                </a:solidFill>
                <a:latin typeface="Arial" charset="0"/>
              </a:rPr>
              <a:t>datagram network.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1D2EB36-F6B3-7B6E-4A8F-86AECB21EFFF}"/>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Implementation of Connectionless Service</a:t>
            </a:r>
          </a:p>
        </p:txBody>
      </p:sp>
      <p:sp>
        <p:nvSpPr>
          <p:cNvPr id="26626" name="Rectangle 3">
            <a:extLst>
              <a:ext uri="{FF2B5EF4-FFF2-40B4-BE49-F238E27FC236}">
                <a16:creationId xmlns:a16="http://schemas.microsoft.com/office/drawing/2014/main" id="{4591A99A-5669-A3F7-1346-0324979A2779}"/>
              </a:ext>
            </a:extLst>
          </p:cNvPr>
          <p:cNvSpPr txBox="1">
            <a:spLocks noChangeArrowheads="1"/>
          </p:cNvSpPr>
          <p:nvPr/>
        </p:nvSpPr>
        <p:spPr bwMode="auto">
          <a:xfrm>
            <a:off x="1144588" y="6105525"/>
            <a:ext cx="6630987"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a:buFontTx/>
              <a:buNone/>
            </a:pPr>
            <a:r>
              <a:rPr lang="en-US" altLang="en-US"/>
              <a:t>Routing within a diagram subnet.</a:t>
            </a:r>
          </a:p>
        </p:txBody>
      </p:sp>
      <p:pic>
        <p:nvPicPr>
          <p:cNvPr id="26627" name="Picture 6" descr="5-02">
            <a:extLst>
              <a:ext uri="{FF2B5EF4-FFF2-40B4-BE49-F238E27FC236}">
                <a16:creationId xmlns:a16="http://schemas.microsoft.com/office/drawing/2014/main" id="{064A7B7E-6EA0-2C46-1A29-546F03E68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900" y="979488"/>
            <a:ext cx="7105650" cy="503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8A112ED-5358-C129-5382-A185423EA782}"/>
              </a:ext>
            </a:extLst>
          </p:cNvPr>
          <p:cNvSpPr>
            <a:spLocks noGrp="1" noChangeArrowheads="1"/>
          </p:cNvSpPr>
          <p:nvPr>
            <p:ph type="title"/>
          </p:nvPr>
        </p:nvSpPr>
        <p:spPr>
          <a:xfrm>
            <a:off x="82290" y="279920"/>
            <a:ext cx="9144000" cy="890954"/>
          </a:xfrm>
        </p:spPr>
        <p:txBody>
          <a:bodyPr/>
          <a:lstStyle/>
          <a:p>
            <a:pPr eaLnBrk="1" hangingPunct="1">
              <a:defRPr/>
            </a:pPr>
            <a:r>
              <a:rPr lang="en-US" sz="3200" b="1" kern="1200" dirty="0">
                <a:gradFill flip="none" rotWithShape="1">
                  <a:gsLst>
                    <a:gs pos="16000">
                      <a:srgbClr val="6B308E"/>
                    </a:gs>
                    <a:gs pos="100000">
                      <a:srgbClr val="28A7DF"/>
                    </a:gs>
                  </a:gsLst>
                  <a:lin ang="1800000" scaled="0"/>
                  <a:tileRect/>
                </a:gradFill>
                <a:latin typeface="Times New Roman" panose="02020603050405020304" pitchFamily="18" charset="0"/>
                <a:cs typeface="Times New Roman" panose="02020603050405020304" pitchFamily="18" charset="0"/>
              </a:rPr>
              <a:t>Implementation of Connection-Oriented Service</a:t>
            </a:r>
          </a:p>
        </p:txBody>
      </p:sp>
      <p:sp>
        <p:nvSpPr>
          <p:cNvPr id="27650" name="Rectangle 3">
            <a:extLst>
              <a:ext uri="{FF2B5EF4-FFF2-40B4-BE49-F238E27FC236}">
                <a16:creationId xmlns:a16="http://schemas.microsoft.com/office/drawing/2014/main" id="{0074F4D4-8DB5-61AA-EF76-730573F2435A}"/>
              </a:ext>
            </a:extLst>
          </p:cNvPr>
          <p:cNvSpPr txBox="1">
            <a:spLocks noChangeArrowheads="1"/>
          </p:cNvSpPr>
          <p:nvPr/>
        </p:nvSpPr>
        <p:spPr bwMode="auto">
          <a:xfrm>
            <a:off x="827088" y="1257300"/>
            <a:ext cx="7654925" cy="463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600">
                <a:latin typeface="Times New Roman" panose="02020603050405020304" pitchFamily="18" charset="0"/>
                <a:cs typeface="Times New Roman" panose="02020603050405020304" pitchFamily="18" charset="0"/>
              </a:rPr>
              <a:t>In connection-oriented service a path from the source router all the way to the destination router must be established before any data packets can be sent. </a:t>
            </a:r>
          </a:p>
          <a:p>
            <a:pPr algn="just">
              <a:buFont typeface="Wingdings" pitchFamily="2" charset="2"/>
              <a:buChar char="q"/>
            </a:pPr>
            <a:r>
              <a:rPr lang="en-US" altLang="en-US" sz="3600">
                <a:latin typeface="Times New Roman" panose="02020603050405020304" pitchFamily="18" charset="0"/>
                <a:cs typeface="Times New Roman" panose="02020603050405020304" pitchFamily="18" charset="0"/>
              </a:rPr>
              <a:t>This connection is called a </a:t>
            </a:r>
            <a:r>
              <a:rPr lang="en-US" altLang="en-US" sz="3600" b="1">
                <a:solidFill>
                  <a:srgbClr val="0070C0"/>
                </a:solidFill>
                <a:latin typeface="Times New Roman" panose="02020603050405020304" pitchFamily="18" charset="0"/>
                <a:cs typeface="Times New Roman" panose="02020603050405020304" pitchFamily="18" charset="0"/>
              </a:rPr>
              <a:t>VC (virtual circuit).</a:t>
            </a:r>
          </a:p>
          <a:p>
            <a:pPr algn="just">
              <a:buFont typeface="Wingdings" pitchFamily="2" charset="2"/>
              <a:buChar char="q"/>
            </a:pPr>
            <a:r>
              <a:rPr lang="en-US" altLang="en-US" sz="3600">
                <a:latin typeface="Times New Roman" panose="02020603050405020304" pitchFamily="18" charset="0"/>
                <a:cs typeface="Times New Roman" panose="02020603050405020304" pitchFamily="18" charset="0"/>
              </a:rPr>
              <a:t>The network is called a </a:t>
            </a:r>
            <a:r>
              <a:rPr lang="en-US" altLang="en-US" sz="3600" b="1">
                <a:solidFill>
                  <a:srgbClr val="0070C0"/>
                </a:solidFill>
                <a:latin typeface="Times New Roman" panose="02020603050405020304" pitchFamily="18" charset="0"/>
                <a:cs typeface="Times New Roman" panose="02020603050405020304" pitchFamily="18" charset="0"/>
              </a:rPr>
              <a:t>virtual-circuit network.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97B92AB-3EA8-AC57-84C6-E6086E3C4B11}"/>
              </a:ext>
            </a:extLst>
          </p:cNvPr>
          <p:cNvSpPr>
            <a:spLocks noGrp="1" noChangeArrowheads="1"/>
          </p:cNvSpPr>
          <p:nvPr>
            <p:ph type="title"/>
          </p:nvPr>
        </p:nvSpPr>
        <p:spPr>
          <a:xfrm>
            <a:off x="0" y="130629"/>
            <a:ext cx="9144000" cy="890954"/>
          </a:xfrm>
        </p:spPr>
        <p:txBody>
          <a:bodyPr/>
          <a:lstStyle/>
          <a:p>
            <a:pPr eaLnBrk="1" hangingPunct="1">
              <a:defRPr/>
            </a:pPr>
            <a:r>
              <a:rPr lang="en-US" sz="3200" kern="1200" dirty="0">
                <a:gradFill flip="none" rotWithShape="1">
                  <a:gsLst>
                    <a:gs pos="16000">
                      <a:srgbClr val="6B308E"/>
                    </a:gs>
                    <a:gs pos="100000">
                      <a:srgbClr val="28A7DF"/>
                    </a:gs>
                  </a:gsLst>
                  <a:lin ang="1800000" scaled="0"/>
                  <a:tileRect/>
                </a:gradFill>
                <a:latin typeface="Arial"/>
                <a:cs typeface="Arial" pitchFamily="34" charset="0"/>
              </a:rPr>
              <a:t>Implementation of Connection-Oriented Service(1)</a:t>
            </a:r>
          </a:p>
        </p:txBody>
      </p:sp>
      <p:sp>
        <p:nvSpPr>
          <p:cNvPr id="28674" name="Rectangle 3">
            <a:extLst>
              <a:ext uri="{FF2B5EF4-FFF2-40B4-BE49-F238E27FC236}">
                <a16:creationId xmlns:a16="http://schemas.microsoft.com/office/drawing/2014/main" id="{D71E47E2-94AF-631A-2215-8D4DBE617D18}"/>
              </a:ext>
            </a:extLst>
          </p:cNvPr>
          <p:cNvSpPr txBox="1">
            <a:spLocks noChangeArrowheads="1"/>
          </p:cNvSpPr>
          <p:nvPr/>
        </p:nvSpPr>
        <p:spPr bwMode="auto">
          <a:xfrm>
            <a:off x="0" y="6008688"/>
            <a:ext cx="9144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ctr">
              <a:buFontTx/>
              <a:buNone/>
            </a:pPr>
            <a:r>
              <a:rPr lang="en-US" altLang="en-US" sz="3200">
                <a:latin typeface="Times New Roman" panose="02020603050405020304" pitchFamily="18" charset="0"/>
                <a:cs typeface="Times New Roman" panose="02020603050405020304" pitchFamily="18" charset="0"/>
              </a:rPr>
              <a:t>Routing within a virtual-circuit subnet.</a:t>
            </a:r>
          </a:p>
        </p:txBody>
      </p:sp>
      <p:pic>
        <p:nvPicPr>
          <p:cNvPr id="28675" name="Picture 6" descr="5-03">
            <a:extLst>
              <a:ext uri="{FF2B5EF4-FFF2-40B4-BE49-F238E27FC236}">
                <a16:creationId xmlns:a16="http://schemas.microsoft.com/office/drawing/2014/main" id="{9491E9A7-7AEB-717D-A6E6-F7B48F8E21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184275"/>
            <a:ext cx="8564563"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AF57C37-84AF-A4A8-93BA-4257C6A08BEC}"/>
              </a:ext>
            </a:extLst>
          </p:cNvPr>
          <p:cNvSpPr>
            <a:spLocks noGrp="1" noChangeArrowheads="1"/>
          </p:cNvSpPr>
          <p:nvPr>
            <p:ph type="title"/>
          </p:nvPr>
        </p:nvSpPr>
        <p:spPr>
          <a:xfrm>
            <a:off x="0" y="238050"/>
            <a:ext cx="9144000" cy="890954"/>
          </a:xfrm>
        </p:spPr>
        <p:txBody>
          <a:bodyPr/>
          <a:lstStyle/>
          <a:p>
            <a:pPr eaLnBrk="1" hangingPunct="1">
              <a:defRPr/>
            </a:pPr>
            <a:r>
              <a:rPr lang="en-US" sz="3200" kern="1200" dirty="0">
                <a:gradFill flip="none" rotWithShape="1">
                  <a:gsLst>
                    <a:gs pos="16000">
                      <a:srgbClr val="6B308E"/>
                    </a:gs>
                    <a:gs pos="100000">
                      <a:srgbClr val="28A7DF"/>
                    </a:gs>
                  </a:gsLst>
                  <a:lin ang="1800000" scaled="0"/>
                  <a:tileRect/>
                </a:gradFill>
                <a:latin typeface="Arial"/>
                <a:cs typeface="Arial" pitchFamily="34" charset="0"/>
              </a:rPr>
              <a:t>Implementation of Connection-Oriented Service(2)</a:t>
            </a:r>
          </a:p>
        </p:txBody>
      </p:sp>
      <p:sp>
        <p:nvSpPr>
          <p:cNvPr id="29698" name="Rectangle 3">
            <a:extLst>
              <a:ext uri="{FF2B5EF4-FFF2-40B4-BE49-F238E27FC236}">
                <a16:creationId xmlns:a16="http://schemas.microsoft.com/office/drawing/2014/main" id="{1BC7BD78-7064-F343-CF69-54F198279BC5}"/>
              </a:ext>
            </a:extLst>
          </p:cNvPr>
          <p:cNvSpPr txBox="1">
            <a:spLocks noChangeArrowheads="1"/>
          </p:cNvSpPr>
          <p:nvPr/>
        </p:nvSpPr>
        <p:spPr bwMode="auto">
          <a:xfrm>
            <a:off x="419100" y="1285875"/>
            <a:ext cx="8388350" cy="443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Host H1 has established connection 1 with host H2. </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This connection is remembered as the first entry in each of the routing tables. </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What happens if H3 also wants to establish a connection to H2? </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Normally It chooses </a:t>
            </a:r>
            <a:r>
              <a:rPr lang="en-US" altLang="en-US" sz="2800" b="1">
                <a:latin typeface="Times New Roman" panose="02020603050405020304" pitchFamily="18" charset="0"/>
                <a:cs typeface="Times New Roman" panose="02020603050405020304" pitchFamily="18" charset="0"/>
              </a:rPr>
              <a:t>connection identifier </a:t>
            </a:r>
            <a:r>
              <a:rPr lang="en-US" altLang="en-US" sz="2800">
                <a:latin typeface="Times New Roman" panose="02020603050405020304" pitchFamily="18" charset="0"/>
                <a:cs typeface="Times New Roman" panose="02020603050405020304" pitchFamily="18" charset="0"/>
              </a:rPr>
              <a:t>1 [but 1 is already used]. That’s the problem!!!</a:t>
            </a:r>
          </a:p>
          <a:p>
            <a:pPr algn="just">
              <a:buFont typeface="Wingdings" pitchFamily="2" charset="2"/>
              <a:buChar char="q"/>
            </a:pPr>
            <a:r>
              <a:rPr lang="en-US" altLang="en-US" sz="2800">
                <a:latin typeface="Times New Roman" panose="02020603050405020304" pitchFamily="18" charset="0"/>
                <a:cs typeface="Times New Roman" panose="02020603050405020304" pitchFamily="18" charset="0"/>
              </a:rPr>
              <a:t>So have to choose different connection identifier I,e 2. </a:t>
            </a:r>
          </a:p>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This process is called </a:t>
            </a:r>
            <a:r>
              <a:rPr lang="en-US" altLang="en-US" sz="3200" b="1">
                <a:solidFill>
                  <a:srgbClr val="0070C0"/>
                </a:solidFill>
                <a:latin typeface="Times New Roman" panose="02020603050405020304" pitchFamily="18" charset="0"/>
                <a:cs typeface="Times New Roman" panose="02020603050405020304" pitchFamily="18" charset="0"/>
              </a:rPr>
              <a:t>label switching.</a:t>
            </a:r>
          </a:p>
          <a:p>
            <a:pPr algn="just">
              <a:buFont typeface="Wingdings" pitchFamily="2" charset="2"/>
              <a:buChar char="q"/>
            </a:pPr>
            <a:endParaRPr lang="en-US" altLang="en-US" sz="2800" b="1">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EAE78210-86AF-F42B-602D-8015BA6364DA}"/>
              </a:ext>
            </a:extLst>
          </p:cNvPr>
          <p:cNvSpPr>
            <a:spLocks noGrp="1" noChangeArrowheads="1"/>
          </p:cNvSpPr>
          <p:nvPr>
            <p:ph type="title"/>
          </p:nvPr>
        </p:nvSpPr>
        <p:spPr>
          <a:xfrm>
            <a:off x="0" y="1"/>
            <a:ext cx="9144000" cy="890954"/>
          </a:xfrm>
        </p:spPr>
        <p:txBody>
          <a:bodyPr/>
          <a:lstStyle/>
          <a:p>
            <a:pPr eaLnBrk="1" hangingPunct="1">
              <a:defRPr/>
            </a:pPr>
            <a:r>
              <a:rPr lang="en-US" sz="3200" kern="1200" dirty="0">
                <a:gradFill flip="none" rotWithShape="1">
                  <a:gsLst>
                    <a:gs pos="16000">
                      <a:srgbClr val="6B308E"/>
                    </a:gs>
                    <a:gs pos="100000">
                      <a:srgbClr val="28A7DF"/>
                    </a:gs>
                  </a:gsLst>
                  <a:lin ang="1800000" scaled="0"/>
                  <a:tileRect/>
                </a:gradFill>
                <a:latin typeface="Arial"/>
                <a:cs typeface="Arial" pitchFamily="34" charset="0"/>
              </a:rPr>
              <a:t>Comparison of Virtual-Circuit and Datagram Subnets</a:t>
            </a:r>
          </a:p>
        </p:txBody>
      </p:sp>
      <p:pic>
        <p:nvPicPr>
          <p:cNvPr id="30722" name="Picture 6" descr="5-4">
            <a:extLst>
              <a:ext uri="{FF2B5EF4-FFF2-40B4-BE49-F238E27FC236}">
                <a16:creationId xmlns:a16="http://schemas.microsoft.com/office/drawing/2014/main" id="{07149892-6CE1-366D-0B3B-31BA0A84E0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1012825"/>
            <a:ext cx="8748713" cy="560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45C84C4-0817-96EC-B9F6-7F40738B4178}"/>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Routing Algorithms </a:t>
            </a:r>
            <a:endParaRPr lang="en-US" sz="4000" dirty="0"/>
          </a:p>
        </p:txBody>
      </p:sp>
      <p:sp>
        <p:nvSpPr>
          <p:cNvPr id="31746" name="Rectangle 3">
            <a:extLst>
              <a:ext uri="{FF2B5EF4-FFF2-40B4-BE49-F238E27FC236}">
                <a16:creationId xmlns:a16="http://schemas.microsoft.com/office/drawing/2014/main" id="{0E310079-D2C6-34DF-E888-B7627D32FF96}"/>
              </a:ext>
            </a:extLst>
          </p:cNvPr>
          <p:cNvSpPr txBox="1">
            <a:spLocks noChangeArrowheads="1"/>
          </p:cNvSpPr>
          <p:nvPr/>
        </p:nvSpPr>
        <p:spPr bwMode="auto">
          <a:xfrm>
            <a:off x="412750" y="776288"/>
            <a:ext cx="8518525"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AutoNum type="alphaLcParenR"/>
              <a:defRPr sz="2400">
                <a:solidFill>
                  <a:schemeClr val="tx1"/>
                </a:solidFill>
                <a:latin typeface="Trebuchet MS" panose="020B0703020202090204" pitchFamily="34" charset="0"/>
              </a:defRPr>
            </a:lvl1pPr>
            <a:lvl2pPr marL="914400" indent="-457200">
              <a:spcBef>
                <a:spcPct val="20000"/>
              </a:spcBef>
              <a:buClr>
                <a:schemeClr val="accent2"/>
              </a:buClr>
              <a:buChar char="–"/>
              <a:defRPr sz="2000">
                <a:solidFill>
                  <a:schemeClr val="tx1"/>
                </a:solidFill>
                <a:latin typeface="Trebuchet MS" panose="020B0703020202090204" pitchFamily="34" charset="0"/>
              </a:defRPr>
            </a:lvl2pPr>
            <a:lvl3pPr marL="85725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Main function of Network Layer: </a:t>
            </a:r>
          </a:p>
          <a:p>
            <a:pPr lvl="1" algn="just">
              <a:buFont typeface="Wingdings" pitchFamily="2" charset="2"/>
              <a:buChar char="ü"/>
            </a:pPr>
            <a:r>
              <a:rPr lang="en-US" altLang="en-US" sz="2800">
                <a:latin typeface="Times New Roman" panose="02020603050405020304" pitchFamily="18" charset="0"/>
                <a:cs typeface="Times New Roman" panose="02020603050405020304" pitchFamily="18" charset="0"/>
              </a:rPr>
              <a:t>The main function of the network layer is </a:t>
            </a:r>
            <a:r>
              <a:rPr lang="en-US" altLang="en-US" sz="2800" b="1">
                <a:latin typeface="Times New Roman" panose="02020603050405020304" pitchFamily="18" charset="0"/>
                <a:cs typeface="Times New Roman" panose="02020603050405020304" pitchFamily="18" charset="0"/>
              </a:rPr>
              <a:t>routing packets </a:t>
            </a:r>
            <a:r>
              <a:rPr lang="en-US" altLang="en-US" sz="2800">
                <a:latin typeface="Times New Roman" panose="02020603050405020304" pitchFamily="18" charset="0"/>
                <a:cs typeface="Times New Roman" panose="02020603050405020304" pitchFamily="18" charset="0"/>
              </a:rPr>
              <a:t>from the source machine to the destination machine.</a:t>
            </a:r>
          </a:p>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Process inside Router:</a:t>
            </a:r>
          </a:p>
          <a:p>
            <a:pPr lvl="2" algn="just">
              <a:buFont typeface="Wingdings" pitchFamily="2" charset="2"/>
              <a:buChar char="ü"/>
            </a:pPr>
            <a:r>
              <a:rPr lang="en-US" altLang="en-US" b="1">
                <a:latin typeface="Times New Roman" panose="02020603050405020304" pitchFamily="18" charset="0"/>
                <a:cs typeface="Times New Roman" panose="02020603050405020304" pitchFamily="18" charset="0"/>
              </a:rPr>
              <a:t>Forwarding: </a:t>
            </a:r>
            <a:r>
              <a:rPr lang="en-US" altLang="en-US">
                <a:latin typeface="Times New Roman" panose="02020603050405020304" pitchFamily="18" charset="0"/>
                <a:cs typeface="Times New Roman" panose="02020603050405020304" pitchFamily="18" charset="0"/>
              </a:rPr>
              <a:t>handles each packet as it arrives, looking up the outgoing line to use for it in the routing tables.</a:t>
            </a:r>
          </a:p>
          <a:p>
            <a:pPr lvl="2" algn="just">
              <a:buFont typeface="Wingdings" pitchFamily="2" charset="2"/>
              <a:buChar char="ü"/>
            </a:pPr>
            <a:r>
              <a:rPr lang="en-US" altLang="en-US" b="1">
                <a:latin typeface="Times New Roman" panose="02020603050405020304" pitchFamily="18" charset="0"/>
                <a:cs typeface="Times New Roman" panose="02020603050405020304" pitchFamily="18" charset="0"/>
              </a:rPr>
              <a:t>Routing: </a:t>
            </a:r>
            <a:r>
              <a:rPr lang="en-US" altLang="en-US">
                <a:latin typeface="Times New Roman" panose="02020603050405020304" pitchFamily="18" charset="0"/>
                <a:cs typeface="Times New Roman" panose="02020603050405020304" pitchFamily="18" charset="0"/>
              </a:rPr>
              <a:t>Determines route taken by packets form the source machine to the destination machine ( Routing algorithm)</a:t>
            </a:r>
          </a:p>
          <a:p>
            <a:pPr algn="just">
              <a:buFont typeface="Wingdings" pitchFamily="2" charset="2"/>
              <a:buChar char="q"/>
            </a:pPr>
            <a:r>
              <a:rPr lang="en-US" altLang="en-US" sz="3200" b="1">
                <a:latin typeface="Times New Roman" panose="02020603050405020304" pitchFamily="18" charset="0"/>
                <a:cs typeface="Times New Roman" panose="02020603050405020304" pitchFamily="18" charset="0"/>
              </a:rPr>
              <a:t>Routing Algorithms:</a:t>
            </a:r>
          </a:p>
          <a:p>
            <a:pPr lvl="1" algn="just">
              <a:buFont typeface="Wingdings" pitchFamily="2" charset="2"/>
              <a:buChar char="ü"/>
            </a:pPr>
            <a:r>
              <a:rPr lang="en-US" altLang="en-US" sz="2400">
                <a:latin typeface="Times New Roman" panose="02020603050405020304" pitchFamily="18" charset="0"/>
                <a:cs typeface="Times New Roman" panose="02020603050405020304" pitchFamily="18" charset="0"/>
              </a:rPr>
              <a:t>The routing algorithm is that part of the network layer software responsible for deciding which output line an incoming packet should be transmitted on.</a:t>
            </a:r>
            <a:endParaRPr lang="en-US" altLang="en-US" sz="2800">
              <a:latin typeface="Times New Roman" panose="02020603050405020304" pitchFamily="18" charset="0"/>
              <a:cs typeface="Times New Roman" panose="02020603050405020304" pitchFamily="18" charset="0"/>
            </a:endParaRPr>
          </a:p>
          <a:p>
            <a:pPr lvl="1" algn="just">
              <a:buFont typeface="Wingdings" pitchFamily="2" charset="2"/>
              <a:buChar char="q"/>
            </a:pPr>
            <a:endParaRPr lang="en-US" altLang="en-US" sz="2400">
              <a:latin typeface="Arial" panose="020B0604020202020204" pitchFamily="34" charset="0"/>
            </a:endParaRPr>
          </a:p>
          <a:p>
            <a:pPr algn="just">
              <a:buFont typeface="Wingdings" pitchFamily="2" charset="2"/>
              <a:buChar char="q"/>
            </a:pPr>
            <a:endParaRPr lang="en-US" altLang="en-US">
              <a:latin typeface="Times New Roman" panose="02020603050405020304" pitchFamily="18" charset="0"/>
              <a:cs typeface="Times New Roman" panose="02020603050405020304" pitchFamily="18" charset="0"/>
            </a:endParaRPr>
          </a:p>
          <a:p>
            <a:pPr>
              <a:buFontTx/>
              <a:buChar char="•"/>
            </a:pPr>
            <a:endParaRPr lang="en-US" altLang="en-US" sz="3600" b="1">
              <a:solidFill>
                <a:srgbClr val="7030A0"/>
              </a:solidFill>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7C0A08E-F4E4-97D1-6808-EBDCFCB10E2F}"/>
              </a:ext>
            </a:extLst>
          </p:cNvPr>
          <p:cNvSpPr>
            <a:spLocks noGrp="1" noChangeArrowheads="1"/>
          </p:cNvSpPr>
          <p:nvPr>
            <p:ph type="title"/>
          </p:nvPr>
        </p:nvSpPr>
        <p:spPr>
          <a:xfrm>
            <a:off x="100012" y="76624"/>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Routing Algorithms </a:t>
            </a:r>
            <a:endParaRPr lang="en-US" sz="4000" dirty="0"/>
          </a:p>
        </p:txBody>
      </p:sp>
      <p:sp>
        <p:nvSpPr>
          <p:cNvPr id="20483" name="Rectangle 3">
            <a:extLst>
              <a:ext uri="{FF2B5EF4-FFF2-40B4-BE49-F238E27FC236}">
                <a16:creationId xmlns:a16="http://schemas.microsoft.com/office/drawing/2014/main" id="{DD92E8F8-8A4F-9B7B-8C50-6F04F1DD51AA}"/>
              </a:ext>
            </a:extLst>
          </p:cNvPr>
          <p:cNvSpPr txBox="1">
            <a:spLocks noChangeArrowheads="1"/>
          </p:cNvSpPr>
          <p:nvPr/>
        </p:nvSpPr>
        <p:spPr bwMode="auto">
          <a:xfrm>
            <a:off x="219075" y="1298575"/>
            <a:ext cx="8518525" cy="4392613"/>
          </a:xfrm>
          <a:prstGeom prst="rect">
            <a:avLst/>
          </a:prstGeom>
          <a:noFill/>
          <a:ln>
            <a:noFill/>
          </a:ln>
        </p:spPr>
        <p:txBody>
          <a:bodyPr/>
          <a:lstStyle>
            <a:lvl1pPr marL="457200" indent="-457200">
              <a:spcBef>
                <a:spcPct val="20000"/>
              </a:spcBef>
              <a:buClr>
                <a:schemeClr val="accent2"/>
              </a:buClr>
              <a:buAutoNum type="alphaLcParenR"/>
              <a:defRPr sz="2400">
                <a:solidFill>
                  <a:schemeClr val="tx1"/>
                </a:solidFill>
                <a:latin typeface="Trebuchet MS" panose="020B0603020202020204" pitchFamily="34" charset="0"/>
              </a:defRPr>
            </a:lvl1pPr>
            <a:lvl2pPr marL="914400" indent="-457200">
              <a:spcBef>
                <a:spcPct val="20000"/>
              </a:spcBef>
              <a:buClr>
                <a:schemeClr val="accent2"/>
              </a:buClr>
              <a:buChar char="–"/>
              <a:defRPr sz="2000">
                <a:solidFill>
                  <a:schemeClr val="tx1"/>
                </a:solidFill>
                <a:latin typeface="Trebuchet MS" panose="020B0603020202020204" pitchFamily="34" charset="0"/>
              </a:defRPr>
            </a:lvl2pPr>
            <a:lvl3pPr marL="857250" indent="-457200">
              <a:spcBef>
                <a:spcPct val="20000"/>
              </a:spcBef>
              <a:buClr>
                <a:schemeClr val="accent2"/>
              </a:buClr>
              <a:buChar char="•"/>
              <a:defRPr sz="2400">
                <a:solidFill>
                  <a:schemeClr val="tx1"/>
                </a:solidFill>
                <a:latin typeface="Trebuchet MS" panose="020B0603020202020204" pitchFamily="34" charset="0"/>
              </a:defRPr>
            </a:lvl3pPr>
            <a:lvl4pPr marL="1600200" indent="-228600">
              <a:spcBef>
                <a:spcPct val="20000"/>
              </a:spcBef>
              <a:buClr>
                <a:schemeClr val="accent2"/>
              </a:buClr>
              <a:buChar char="–"/>
              <a:defRPr sz="2000">
                <a:solidFill>
                  <a:schemeClr val="tx1"/>
                </a:solidFill>
                <a:latin typeface="Trebuchet MS" panose="020B0603020202020204" pitchFamily="34" charset="0"/>
              </a:defRPr>
            </a:lvl4pPr>
            <a:lvl5pPr marL="2057400" indent="-228600">
              <a:spcBef>
                <a:spcPct val="20000"/>
              </a:spcBef>
              <a:buClr>
                <a:schemeClr val="accent2"/>
              </a:buClr>
              <a:buChar char="»"/>
              <a:defRPr sz="2000">
                <a:solidFill>
                  <a:schemeClr val="tx1"/>
                </a:solidFill>
                <a:latin typeface="Trebuchet MS" panose="020B060302020202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603020202020204" pitchFamily="34" charset="0"/>
              </a:defRPr>
            </a:lvl9pPr>
          </a:lstStyle>
          <a:p>
            <a:pPr marL="457200" lvl="1" indent="0" algn="just">
              <a:buFontTx/>
              <a:buNone/>
              <a:defRPr/>
            </a:pPr>
            <a:r>
              <a:rPr lang="en-US" altLang="en-US" sz="2800" dirty="0">
                <a:latin typeface="Times New Roman" panose="02020603050405020304" pitchFamily="18" charset="0"/>
                <a:cs typeface="Times New Roman" panose="02020603050405020304" pitchFamily="18" charset="0"/>
              </a:rPr>
              <a:t>Network Layer Software responsible for deciding which output line an incoming packed should be transmitted on. If the network layer use-</a:t>
            </a:r>
          </a:p>
          <a:p>
            <a:pPr lvl="1" algn="just">
              <a:buFont typeface="Wingdings" panose="05000000000000000000" pitchFamily="2" charset="2"/>
              <a:buChar char="ü"/>
              <a:defRPr/>
            </a:pPr>
            <a:r>
              <a:rPr lang="en-US" altLang="en-US" sz="2800" b="1" dirty="0">
                <a:latin typeface="Times New Roman" panose="02020603050405020304" pitchFamily="18" charset="0"/>
                <a:cs typeface="Times New Roman" panose="02020603050405020304" pitchFamily="18" charset="0"/>
              </a:rPr>
              <a:t>Datagrams:</a:t>
            </a:r>
            <a:r>
              <a:rPr lang="en-US" altLang="en-US" sz="2800" dirty="0">
                <a:latin typeface="Times New Roman" panose="02020603050405020304" pitchFamily="18" charset="0"/>
                <a:cs typeface="Times New Roman" panose="02020603050405020304" pitchFamily="18" charset="0"/>
              </a:rPr>
              <a:t> require computation of decision making tables for every arriving data packet. </a:t>
            </a:r>
          </a:p>
          <a:p>
            <a:pPr lvl="1" algn="just">
              <a:buFont typeface="Wingdings" panose="05000000000000000000" pitchFamily="2" charset="2"/>
              <a:buChar char="ü"/>
              <a:defRPr/>
            </a:pPr>
            <a:r>
              <a:rPr lang="en-US" altLang="en-US" sz="2800" b="1" dirty="0">
                <a:latin typeface="Times New Roman" panose="02020603050405020304" pitchFamily="18" charset="0"/>
                <a:cs typeface="Times New Roman" panose="02020603050405020304" pitchFamily="18" charset="0"/>
              </a:rPr>
              <a:t>Virtual Circuit: </a:t>
            </a:r>
            <a:r>
              <a:rPr lang="en-US" altLang="en-US" sz="2800" dirty="0">
                <a:latin typeface="Times New Roman" panose="02020603050405020304" pitchFamily="18" charset="0"/>
                <a:cs typeface="Times New Roman" panose="02020603050405020304" pitchFamily="18" charset="0"/>
              </a:rPr>
              <a:t>routing decision are made only when a new virtual circuit is being set up.</a:t>
            </a:r>
          </a:p>
          <a:p>
            <a:pPr lvl="3" algn="just">
              <a:buFont typeface="Wingdings" panose="05000000000000000000" pitchFamily="2" charset="2"/>
              <a:buChar char="ü"/>
              <a:defRPr/>
            </a:pPr>
            <a:r>
              <a:rPr lang="en-US" altLang="en-US" sz="2800" b="1" dirty="0">
                <a:latin typeface="Times New Roman" panose="02020603050405020304" pitchFamily="18" charset="0"/>
                <a:cs typeface="Times New Roman" panose="02020603050405020304" pitchFamily="18" charset="0"/>
              </a:rPr>
              <a:t>Session Routing: </a:t>
            </a:r>
            <a:r>
              <a:rPr lang="en-US" altLang="en-US" sz="2800" dirty="0">
                <a:latin typeface="Times New Roman" panose="02020603050405020304" pitchFamily="18" charset="0"/>
                <a:cs typeface="Times New Roman" panose="02020603050405020304" pitchFamily="18" charset="0"/>
              </a:rPr>
              <a:t>data packets follow the same routing for the entire session.</a:t>
            </a:r>
          </a:p>
          <a:p>
            <a:pPr lvl="1" algn="just">
              <a:buFont typeface="Wingdings" panose="05000000000000000000" pitchFamily="2" charset="2"/>
              <a:buChar char="ü"/>
              <a:defRPr/>
            </a:pPr>
            <a:endParaRPr lang="en-US" altLang="en-US" sz="28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defRPr/>
            </a:pPr>
            <a:endParaRPr lang="en-US" altLang="en-US" sz="2400" dirty="0">
              <a:latin typeface="Arial" panose="020B0604020202020204" pitchFamily="34" charset="0"/>
            </a:endParaRPr>
          </a:p>
          <a:p>
            <a:pPr algn="just">
              <a:buFont typeface="Wingdings" panose="05000000000000000000" pitchFamily="2" charset="2"/>
              <a:buChar char="q"/>
              <a:defRPr/>
            </a:pPr>
            <a:endParaRPr lang="en-US" altLang="en-US" dirty="0">
              <a:latin typeface="Times New Roman" panose="02020603050405020304" pitchFamily="18" charset="0"/>
              <a:cs typeface="Times New Roman" panose="02020603050405020304" pitchFamily="18" charset="0"/>
            </a:endParaRPr>
          </a:p>
          <a:p>
            <a:pPr>
              <a:buFontTx/>
              <a:buChar char="•"/>
              <a:defRPr/>
            </a:pPr>
            <a:endParaRPr lang="en-US" altLang="en-US" sz="3600" b="1" dirty="0">
              <a:solidFill>
                <a:srgbClr val="7030A0"/>
              </a:solidFill>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184BAD8-B9F1-AC6F-7135-D6D85AA63664}"/>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Routing Algorithms </a:t>
            </a:r>
            <a:endParaRPr lang="en-US" sz="4000" dirty="0"/>
          </a:p>
        </p:txBody>
      </p:sp>
      <p:sp>
        <p:nvSpPr>
          <p:cNvPr id="33794" name="Rectangle 3">
            <a:extLst>
              <a:ext uri="{FF2B5EF4-FFF2-40B4-BE49-F238E27FC236}">
                <a16:creationId xmlns:a16="http://schemas.microsoft.com/office/drawing/2014/main" id="{B5A21626-39E9-66B7-62B7-BE97CBC5D363}"/>
              </a:ext>
            </a:extLst>
          </p:cNvPr>
          <p:cNvSpPr txBox="1">
            <a:spLocks noChangeArrowheads="1"/>
          </p:cNvSpPr>
          <p:nvPr/>
        </p:nvSpPr>
        <p:spPr bwMode="auto">
          <a:xfrm>
            <a:off x="312738" y="654050"/>
            <a:ext cx="8518525" cy="580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AutoNum type="alphaLcParenR"/>
              <a:defRPr sz="2400">
                <a:solidFill>
                  <a:schemeClr val="tx1"/>
                </a:solidFill>
                <a:latin typeface="Trebuchet MS" panose="020B0703020202090204" pitchFamily="34" charset="0"/>
              </a:defRPr>
            </a:lvl1pPr>
            <a:lvl2pPr marL="914400" indent="-457200">
              <a:spcBef>
                <a:spcPct val="20000"/>
              </a:spcBef>
              <a:buClr>
                <a:schemeClr val="accent2"/>
              </a:buClr>
              <a:buChar char="–"/>
              <a:defRPr sz="2000">
                <a:solidFill>
                  <a:schemeClr val="tx1"/>
                </a:solidFill>
                <a:latin typeface="Trebuchet MS" panose="020B0703020202090204" pitchFamily="34" charset="0"/>
              </a:defRPr>
            </a:lvl2pPr>
            <a:lvl3pPr marL="85725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Desired properties of Routing Algorithm: </a:t>
            </a:r>
          </a:p>
          <a:p>
            <a:pPr lvl="1" algn="just">
              <a:buFont typeface="Wingdings" pitchFamily="2" charset="2"/>
              <a:buChar char="q"/>
            </a:pPr>
            <a:r>
              <a:rPr lang="en-US" altLang="en-US" sz="2800" b="1">
                <a:latin typeface="Times New Roman" panose="02020603050405020304" pitchFamily="18" charset="0"/>
                <a:cs typeface="Times New Roman" panose="02020603050405020304" pitchFamily="18" charset="0"/>
              </a:rPr>
              <a:t>Correctness</a:t>
            </a:r>
            <a:r>
              <a:rPr lang="en-US" altLang="en-US" sz="2800">
                <a:latin typeface="Times New Roman" panose="02020603050405020304" pitchFamily="18" charset="0"/>
                <a:cs typeface="Times New Roman" panose="02020603050405020304" pitchFamily="18" charset="0"/>
              </a:rPr>
              <a:t> (Before we adopt any algorithm we need to make sure that it has been tested enough and it is functioning correctly)</a:t>
            </a:r>
          </a:p>
          <a:p>
            <a:pPr lvl="1" algn="just">
              <a:buFont typeface="Wingdings" pitchFamily="2" charset="2"/>
              <a:buChar char="q"/>
            </a:pPr>
            <a:r>
              <a:rPr lang="en-US" altLang="en-US" sz="2800" b="1">
                <a:latin typeface="Times New Roman" panose="02020603050405020304" pitchFamily="18" charset="0"/>
                <a:cs typeface="Times New Roman" panose="02020603050405020304" pitchFamily="18" charset="0"/>
              </a:rPr>
              <a:t>Simplicity</a:t>
            </a:r>
            <a:r>
              <a:rPr lang="en-US" altLang="en-US" sz="2800">
                <a:latin typeface="Times New Roman" panose="02020603050405020304" pitchFamily="18" charset="0"/>
                <a:cs typeface="Times New Roman" panose="02020603050405020304" pitchFamily="18" charset="0"/>
              </a:rPr>
              <a:t> (Algorithm should be less complex)</a:t>
            </a:r>
          </a:p>
          <a:p>
            <a:pPr lvl="1" algn="just">
              <a:buFont typeface="Wingdings" pitchFamily="2" charset="2"/>
              <a:buChar char="q"/>
            </a:pPr>
            <a:r>
              <a:rPr lang="en-US" altLang="en-US" sz="2800" b="1">
                <a:latin typeface="Times New Roman" panose="02020603050405020304" pitchFamily="18" charset="0"/>
                <a:cs typeface="Times New Roman" panose="02020603050405020304" pitchFamily="18" charset="0"/>
              </a:rPr>
              <a:t>Robustness</a:t>
            </a:r>
            <a:r>
              <a:rPr lang="en-US" altLang="en-US" sz="2800">
                <a:latin typeface="Times New Roman" panose="02020603050405020304" pitchFamily="18" charset="0"/>
                <a:cs typeface="Times New Roman" panose="02020603050405020304" pitchFamily="18" charset="0"/>
              </a:rPr>
              <a:t> (The routing algorithm should be able to cope with changes in the topology and traffic without requiring all jobs in all hosts to be aborted)</a:t>
            </a:r>
          </a:p>
          <a:p>
            <a:pPr lvl="1" algn="just">
              <a:buFont typeface="Wingdings" pitchFamily="2" charset="2"/>
              <a:buChar char="q"/>
            </a:pPr>
            <a:r>
              <a:rPr lang="en-US" altLang="en-US" sz="2800" b="1">
                <a:latin typeface="Times New Roman" panose="02020603050405020304" pitchFamily="18" charset="0"/>
                <a:cs typeface="Times New Roman" panose="02020603050405020304" pitchFamily="18" charset="0"/>
              </a:rPr>
              <a:t>Stability</a:t>
            </a:r>
            <a:r>
              <a:rPr lang="en-US" altLang="en-US" sz="2800">
                <a:latin typeface="Times New Roman" panose="02020603050405020304" pitchFamily="18" charset="0"/>
                <a:cs typeface="Times New Roman" panose="02020603050405020304" pitchFamily="18" charset="0"/>
              </a:rPr>
              <a:t> (Converge to a fixed set of paths)</a:t>
            </a:r>
          </a:p>
          <a:p>
            <a:pPr lvl="1" algn="just">
              <a:buFont typeface="Wingdings" pitchFamily="2" charset="2"/>
              <a:buChar char="q"/>
            </a:pPr>
            <a:r>
              <a:rPr lang="en-US" altLang="en-US" sz="2800" b="1">
                <a:latin typeface="Times New Roman" panose="02020603050405020304" pitchFamily="18" charset="0"/>
                <a:cs typeface="Times New Roman" panose="02020603050405020304" pitchFamily="18" charset="0"/>
              </a:rPr>
              <a:t>Fairness</a:t>
            </a:r>
            <a:r>
              <a:rPr lang="en-US" altLang="en-US" sz="2800">
                <a:latin typeface="Times New Roman" panose="02020603050405020304" pitchFamily="18" charset="0"/>
                <a:cs typeface="Times New Roman" panose="02020603050405020304" pitchFamily="18" charset="0"/>
              </a:rPr>
              <a:t> (No device or link has to be compromised)</a:t>
            </a:r>
          </a:p>
          <a:p>
            <a:pPr lvl="1" algn="just">
              <a:buFont typeface="Wingdings" pitchFamily="2" charset="2"/>
              <a:buChar char="q"/>
            </a:pPr>
            <a:r>
              <a:rPr lang="en-US" altLang="en-US" sz="2800" b="1">
                <a:latin typeface="Times New Roman" panose="02020603050405020304" pitchFamily="18" charset="0"/>
                <a:cs typeface="Times New Roman" panose="02020603050405020304" pitchFamily="18" charset="0"/>
              </a:rPr>
              <a:t>Optimality</a:t>
            </a:r>
            <a:r>
              <a:rPr lang="en-US" altLang="en-US" sz="2800">
                <a:latin typeface="Times New Roman" panose="02020603050405020304" pitchFamily="18" charset="0"/>
                <a:cs typeface="Times New Roman" panose="02020603050405020304" pitchFamily="18" charset="0"/>
              </a:rPr>
              <a:t> (Converge to provide optimal throughput)</a:t>
            </a:r>
            <a:endParaRPr lang="en-US" altLang="en-US" sz="2400">
              <a:latin typeface="Arial" panose="020B0604020202020204" pitchFamily="34" charset="0"/>
            </a:endParaRPr>
          </a:p>
          <a:p>
            <a:pPr algn="just">
              <a:buFont typeface="Wingdings" pitchFamily="2" charset="2"/>
              <a:buChar char="q"/>
            </a:pPr>
            <a:endParaRPr lang="en-US" altLang="en-US">
              <a:latin typeface="Times New Roman" panose="02020603050405020304" pitchFamily="18" charset="0"/>
              <a:cs typeface="Times New Roman" panose="02020603050405020304" pitchFamily="18" charset="0"/>
            </a:endParaRPr>
          </a:p>
          <a:p>
            <a:pPr>
              <a:buFontTx/>
              <a:buChar char="•"/>
            </a:pPr>
            <a:endParaRPr lang="en-US" altLang="en-US" sz="3600" b="1">
              <a:solidFill>
                <a:srgbClr val="7030A0"/>
              </a:solidFill>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BDC9D82-F100-99E1-7D44-41307CC6CC71}"/>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Network Performance Measures</a:t>
            </a:r>
            <a:endParaRPr lang="en-US" sz="4000" dirty="0"/>
          </a:p>
        </p:txBody>
      </p:sp>
      <p:sp>
        <p:nvSpPr>
          <p:cNvPr id="34818" name="Rectangle 3">
            <a:extLst>
              <a:ext uri="{FF2B5EF4-FFF2-40B4-BE49-F238E27FC236}">
                <a16:creationId xmlns:a16="http://schemas.microsoft.com/office/drawing/2014/main" id="{0F6DA7DA-B3D3-579A-3E8D-9ED5140894B5}"/>
              </a:ext>
            </a:extLst>
          </p:cNvPr>
          <p:cNvSpPr txBox="1">
            <a:spLocks noChangeArrowheads="1"/>
          </p:cNvSpPr>
          <p:nvPr/>
        </p:nvSpPr>
        <p:spPr bwMode="auto">
          <a:xfrm>
            <a:off x="412750" y="935038"/>
            <a:ext cx="8518525" cy="550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AutoNum type="alphaLcParenR"/>
              <a:defRPr sz="2400">
                <a:solidFill>
                  <a:schemeClr val="tx1"/>
                </a:solidFill>
                <a:latin typeface="Trebuchet MS" panose="020B0703020202090204" pitchFamily="34" charset="0"/>
              </a:defRPr>
            </a:lvl1pPr>
            <a:lvl2pPr marL="914400" indent="-457200">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buFont typeface="Wingdings" pitchFamily="2" charset="2"/>
              <a:buChar char="q"/>
            </a:pPr>
            <a:r>
              <a:rPr lang="en-US" altLang="en-US" sz="3200">
                <a:latin typeface="Times New Roman" panose="02020603050405020304" pitchFamily="18" charset="0"/>
                <a:cs typeface="Times New Roman" panose="02020603050405020304" pitchFamily="18" charset="0"/>
              </a:rPr>
              <a:t>Two Performance Measures</a:t>
            </a:r>
          </a:p>
          <a:p>
            <a:pPr lvl="1" algn="just">
              <a:buFont typeface="Wingdings" pitchFamily="2" charset="2"/>
              <a:buChar char="ü"/>
            </a:pPr>
            <a:r>
              <a:rPr lang="en-US" altLang="en-US" sz="3200">
                <a:latin typeface="Times New Roman" panose="02020603050405020304" pitchFamily="18" charset="0"/>
                <a:cs typeface="Times New Roman" panose="02020603050405020304" pitchFamily="18" charset="0"/>
              </a:rPr>
              <a:t>Quantity of Service (</a:t>
            </a:r>
            <a:r>
              <a:rPr lang="en-US" altLang="en-US" sz="3200">
                <a:solidFill>
                  <a:srgbClr val="0070C0"/>
                </a:solidFill>
                <a:latin typeface="Times New Roman" panose="02020603050405020304" pitchFamily="18" charset="0"/>
                <a:cs typeface="Times New Roman" panose="02020603050405020304" pitchFamily="18" charset="0"/>
              </a:rPr>
              <a:t>Throughput</a:t>
            </a:r>
            <a:r>
              <a:rPr lang="en-US" altLang="en-US" sz="3200">
                <a:latin typeface="Times New Roman" panose="02020603050405020304" pitchFamily="18" charset="0"/>
                <a:cs typeface="Times New Roman" panose="02020603050405020304" pitchFamily="18" charset="0"/>
              </a:rPr>
              <a:t>)</a:t>
            </a:r>
          </a:p>
          <a:p>
            <a:pPr lvl="2" algn="just">
              <a:buFont typeface="Wingdings" pitchFamily="2" charset="2"/>
              <a:buChar char="§"/>
            </a:pPr>
            <a:r>
              <a:rPr lang="en-US" altLang="en-US" sz="2800" b="1">
                <a:latin typeface="Times New Roman" panose="02020603050405020304" pitchFamily="18" charset="0"/>
                <a:cs typeface="Times New Roman" panose="02020603050405020304" pitchFamily="18" charset="0"/>
              </a:rPr>
              <a:t>How much </a:t>
            </a:r>
            <a:r>
              <a:rPr lang="en-US" altLang="en-US" sz="2800">
                <a:latin typeface="Times New Roman" panose="02020603050405020304" pitchFamily="18" charset="0"/>
                <a:cs typeface="Times New Roman" panose="02020603050405020304" pitchFamily="18" charset="0"/>
              </a:rPr>
              <a:t>data travels across the net?</a:t>
            </a:r>
          </a:p>
          <a:p>
            <a:pPr lvl="2" algn="just">
              <a:buFont typeface="Wingdings" pitchFamily="2" charset="2"/>
              <a:buChar char="§"/>
            </a:pPr>
            <a:r>
              <a:rPr lang="en-US" altLang="en-US" sz="2800">
                <a:latin typeface="Times New Roman" panose="02020603050405020304" pitchFamily="18" charset="0"/>
                <a:cs typeface="Times New Roman" panose="02020603050405020304" pitchFamily="18" charset="0"/>
              </a:rPr>
              <a:t>How long does it take to transfer long files?</a:t>
            </a:r>
          </a:p>
          <a:p>
            <a:pPr lvl="1" algn="just">
              <a:buFont typeface="Wingdings" pitchFamily="2" charset="2"/>
              <a:buChar char="ü"/>
            </a:pPr>
            <a:r>
              <a:rPr lang="en-US" altLang="en-US" sz="3200">
                <a:latin typeface="Times New Roman" panose="02020603050405020304" pitchFamily="18" charset="0"/>
                <a:cs typeface="Times New Roman" panose="02020603050405020304" pitchFamily="18" charset="0"/>
              </a:rPr>
              <a:t>Quality of Service (</a:t>
            </a:r>
            <a:r>
              <a:rPr lang="en-US" altLang="en-US" sz="3200">
                <a:solidFill>
                  <a:srgbClr val="0070C0"/>
                </a:solidFill>
                <a:latin typeface="Times New Roman" panose="02020603050405020304" pitchFamily="18" charset="0"/>
                <a:cs typeface="Times New Roman" panose="02020603050405020304" pitchFamily="18" charset="0"/>
              </a:rPr>
              <a:t>Average packet delay</a:t>
            </a:r>
            <a:r>
              <a:rPr lang="en-US" altLang="en-US" sz="3200">
                <a:latin typeface="Times New Roman" panose="02020603050405020304" pitchFamily="18" charset="0"/>
                <a:cs typeface="Times New Roman" panose="02020603050405020304" pitchFamily="18" charset="0"/>
              </a:rPr>
              <a:t>)</a:t>
            </a:r>
          </a:p>
          <a:p>
            <a:pPr lvl="2" algn="just">
              <a:buFont typeface="Wingdings" pitchFamily="2" charset="2"/>
              <a:buChar char="§"/>
            </a:pPr>
            <a:r>
              <a:rPr lang="en-US" altLang="en-US" sz="2800">
                <a:latin typeface="Times New Roman" panose="02020603050405020304" pitchFamily="18" charset="0"/>
                <a:cs typeface="Times New Roman" panose="02020603050405020304" pitchFamily="18" charset="0"/>
              </a:rPr>
              <a:t>How long does it take for a packet to arrive at its destination?</a:t>
            </a:r>
          </a:p>
          <a:p>
            <a:pPr lvl="2" algn="just">
              <a:buFont typeface="Wingdings" pitchFamily="2" charset="2"/>
              <a:buChar char="§"/>
            </a:pPr>
            <a:r>
              <a:rPr lang="en-US" altLang="en-US" sz="2800" i="1">
                <a:latin typeface="Times New Roman" panose="02020603050405020304" pitchFamily="18" charset="0"/>
                <a:cs typeface="Times New Roman" panose="02020603050405020304" pitchFamily="18" charset="0"/>
              </a:rPr>
              <a:t>How responsive </a:t>
            </a:r>
            <a:r>
              <a:rPr lang="en-US" altLang="en-US" sz="2800">
                <a:latin typeface="Times New Roman" panose="02020603050405020304" pitchFamily="18" charset="0"/>
                <a:cs typeface="Times New Roman" panose="02020603050405020304" pitchFamily="18" charset="0"/>
              </a:rPr>
              <a:t>is the system to user commands?</a:t>
            </a:r>
          </a:p>
          <a:p>
            <a:pPr lvl="2" algn="just">
              <a:buFont typeface="Wingdings" pitchFamily="2" charset="2"/>
              <a:buChar char="§"/>
            </a:pPr>
            <a:r>
              <a:rPr lang="en-US" altLang="en-US" sz="2800">
                <a:latin typeface="Times New Roman" panose="02020603050405020304" pitchFamily="18" charset="0"/>
                <a:cs typeface="Times New Roman" panose="02020603050405020304" pitchFamily="18" charset="0"/>
              </a:rPr>
              <a:t>Can the network support real-time delivery such as audio and video?</a:t>
            </a:r>
          </a:p>
          <a:p>
            <a:pPr lvl="1" algn="just">
              <a:buFont typeface="Wingdings" pitchFamily="2" charset="2"/>
              <a:buChar char="ü"/>
            </a:pPr>
            <a:endParaRPr lang="en-US" altLang="en-US" sz="2800">
              <a:latin typeface="Times New Roman" panose="02020603050405020304" pitchFamily="18" charset="0"/>
              <a:cs typeface="Times New Roman" panose="02020603050405020304" pitchFamily="18" charset="0"/>
            </a:endParaRPr>
          </a:p>
          <a:p>
            <a:pPr lvl="1" algn="just">
              <a:buFont typeface="Wingdings" pitchFamily="2" charset="2"/>
              <a:buChar char="q"/>
            </a:pPr>
            <a:endParaRPr lang="en-US" altLang="en-US" sz="2400">
              <a:latin typeface="Arial" panose="020B0604020202020204" pitchFamily="34" charset="0"/>
            </a:endParaRPr>
          </a:p>
          <a:p>
            <a:pPr algn="just">
              <a:buFont typeface="Wingdings" pitchFamily="2" charset="2"/>
              <a:buChar char="q"/>
            </a:pPr>
            <a:endParaRPr lang="en-US" altLang="en-US">
              <a:latin typeface="Times New Roman" panose="02020603050405020304" pitchFamily="18" charset="0"/>
              <a:cs typeface="Times New Roman" panose="02020603050405020304" pitchFamily="18" charset="0"/>
            </a:endParaRPr>
          </a:p>
          <a:p>
            <a:pPr>
              <a:buFontTx/>
              <a:buChar char="•"/>
            </a:pPr>
            <a:endParaRPr lang="en-US" altLang="en-US" sz="3600" b="1">
              <a:solidFill>
                <a:srgbClr val="7030A0"/>
              </a:solidFill>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54D5CD96-73C1-E738-E7FB-CACE53304FA1}"/>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*Fairness versus Optimality</a:t>
            </a:r>
            <a:endParaRPr lang="en-US" sz="4000" dirty="0"/>
          </a:p>
        </p:txBody>
      </p:sp>
      <p:pic>
        <p:nvPicPr>
          <p:cNvPr id="35842" name="Picture 3">
            <a:extLst>
              <a:ext uri="{FF2B5EF4-FFF2-40B4-BE49-F238E27FC236}">
                <a16:creationId xmlns:a16="http://schemas.microsoft.com/office/drawing/2014/main" id="{D00B7DA0-C827-96D0-0954-A476947285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38275"/>
            <a:ext cx="4303713" cy="452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3" name="Rectangle 4">
            <a:extLst>
              <a:ext uri="{FF2B5EF4-FFF2-40B4-BE49-F238E27FC236}">
                <a16:creationId xmlns:a16="http://schemas.microsoft.com/office/drawing/2014/main" id="{7448213D-3494-9045-20EE-A256DFA4E9B1}"/>
              </a:ext>
            </a:extLst>
          </p:cNvPr>
          <p:cNvSpPr txBox="1">
            <a:spLocks noChangeArrowheads="1"/>
          </p:cNvSpPr>
          <p:nvPr/>
        </p:nvSpPr>
        <p:spPr bwMode="auto">
          <a:xfrm>
            <a:off x="4303713" y="1558925"/>
            <a:ext cx="4433887"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accent2"/>
              </a:buClr>
              <a:buAutoNum type="alphaLcParenR"/>
              <a:defRPr sz="2400">
                <a:solidFill>
                  <a:schemeClr val="tx1"/>
                </a:solidFill>
                <a:latin typeface="Trebuchet MS" panose="020B0703020202090204" pitchFamily="34" charset="0"/>
              </a:defRPr>
            </a:lvl1pPr>
            <a:lvl2pPr marL="742950" indent="-285750">
              <a:spcBef>
                <a:spcPct val="20000"/>
              </a:spcBef>
              <a:buClr>
                <a:schemeClr val="accent2"/>
              </a:buClr>
              <a:buChar char="–"/>
              <a:defRPr sz="2000">
                <a:solidFill>
                  <a:schemeClr val="tx1"/>
                </a:solidFill>
                <a:latin typeface="Trebuchet MS" panose="020B0703020202090204" pitchFamily="34" charset="0"/>
              </a:defRPr>
            </a:lvl2pPr>
            <a:lvl3pPr marL="1143000" indent="-2286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lgn="just"/>
            <a:r>
              <a:rPr lang="en-US" altLang="en-US" sz="2800">
                <a:latin typeface="Times New Roman" panose="02020603050405020304" pitchFamily="18" charset="0"/>
                <a:cs typeface="Times New Roman" panose="02020603050405020304" pitchFamily="18" charset="0"/>
              </a:rPr>
              <a:t>Quantity of service (fairness) versus quality of service (optimality).</a:t>
            </a:r>
          </a:p>
          <a:p>
            <a:pPr algn="just"/>
            <a:r>
              <a:rPr lang="en-US" altLang="en-US" sz="2800">
                <a:latin typeface="Times New Roman" panose="02020603050405020304" pitchFamily="18" charset="0"/>
                <a:cs typeface="Times New Roman" panose="02020603050405020304" pitchFamily="18" charset="0"/>
              </a:rPr>
              <a:t>To optimize throughput, saturate paths between A and A’, B and B’, and C and C’, but what happens to the response time from X to X’?</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93EC0098-BCDD-E2EB-4FFA-4F599753EBCD}"/>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*Fairness versus Optimality/Efficiency</a:t>
            </a:r>
            <a:endParaRPr lang="en-US" sz="4000" dirty="0"/>
          </a:p>
        </p:txBody>
      </p:sp>
      <p:pic>
        <p:nvPicPr>
          <p:cNvPr id="37890" name="Picture 3">
            <a:extLst>
              <a:ext uri="{FF2B5EF4-FFF2-40B4-BE49-F238E27FC236}">
                <a16:creationId xmlns:a16="http://schemas.microsoft.com/office/drawing/2014/main" id="{1057F020-7C70-CAEC-4BE4-6E128E55BF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6315" b="10307"/>
          <a:stretch>
            <a:fillRect/>
          </a:stretch>
        </p:blipFill>
        <p:spPr bwMode="auto">
          <a:xfrm>
            <a:off x="411163" y="890588"/>
            <a:ext cx="7804150" cy="437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1" name="TextBox 2">
            <a:extLst>
              <a:ext uri="{FF2B5EF4-FFF2-40B4-BE49-F238E27FC236}">
                <a16:creationId xmlns:a16="http://schemas.microsoft.com/office/drawing/2014/main" id="{A175D218-2446-9560-2241-F03ED1B7B181}"/>
              </a:ext>
            </a:extLst>
          </p:cNvPr>
          <p:cNvSpPr txBox="1">
            <a:spLocks noChangeArrowheads="1"/>
          </p:cNvSpPr>
          <p:nvPr/>
        </p:nvSpPr>
        <p:spPr bwMode="auto">
          <a:xfrm>
            <a:off x="854075" y="5384800"/>
            <a:ext cx="76311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Roman"/>
              </a:rPr>
              <a:t>There is enough traffic between </a:t>
            </a:r>
            <a:r>
              <a:rPr lang="en-US" altLang="en-US" i="1">
                <a:latin typeface="Times-Italic"/>
              </a:rPr>
              <a:t>A </a:t>
            </a:r>
            <a:r>
              <a:rPr lang="en-US" altLang="en-US">
                <a:latin typeface="Times-Roman"/>
              </a:rPr>
              <a:t>and </a:t>
            </a:r>
            <a:r>
              <a:rPr lang="en-US" altLang="en-US" i="1">
                <a:latin typeface="Times-Italic"/>
              </a:rPr>
              <a:t>A’</a:t>
            </a:r>
            <a:r>
              <a:rPr lang="en-US" altLang="en-US">
                <a:latin typeface="Times-Roman"/>
              </a:rPr>
              <a:t>, between </a:t>
            </a:r>
            <a:r>
              <a:rPr lang="en-US" altLang="en-US" i="1">
                <a:latin typeface="Times-Italic"/>
              </a:rPr>
              <a:t>B </a:t>
            </a:r>
            <a:r>
              <a:rPr lang="en-US" altLang="en-US">
                <a:latin typeface="Times-Roman"/>
              </a:rPr>
              <a:t>and </a:t>
            </a:r>
            <a:r>
              <a:rPr lang="en-US" altLang="en-US" i="1">
                <a:latin typeface="Times-Italic"/>
              </a:rPr>
              <a:t>B’</a:t>
            </a:r>
            <a:r>
              <a:rPr lang="en-US" altLang="en-US">
                <a:latin typeface="Times-Roman"/>
              </a:rPr>
              <a:t>, and between </a:t>
            </a:r>
            <a:r>
              <a:rPr lang="en-US" altLang="en-US" i="1">
                <a:latin typeface="Times-Italic"/>
              </a:rPr>
              <a:t>C </a:t>
            </a:r>
            <a:r>
              <a:rPr lang="en-US" altLang="en-US">
                <a:latin typeface="Times-Roman"/>
              </a:rPr>
              <a:t>and </a:t>
            </a:r>
            <a:r>
              <a:rPr lang="en-US" altLang="en-US" i="1">
                <a:latin typeface="Times-Italic"/>
              </a:rPr>
              <a:t>C’ </a:t>
            </a:r>
            <a:r>
              <a:rPr lang="en-US" altLang="en-US">
                <a:latin typeface="Times-Roman"/>
              </a:rPr>
              <a:t>to saturate the horizontal links. To maximize the total flow, the X to X′ traffic should be shut off altogether. So it’s not fair for X to X’ link. So fairness drops but optimum output is achieved. </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FD0B485-78AA-1A9B-0318-9504538BA8C6}"/>
              </a:ext>
            </a:extLst>
          </p:cNvPr>
          <p:cNvSpPr>
            <a:spLocks noGrp="1" noChangeArrowheads="1"/>
          </p:cNvSpPr>
          <p:nvPr>
            <p:ph type="title"/>
          </p:nvPr>
        </p:nvSpPr>
        <p:spPr>
          <a:xfrm>
            <a:off x="0" y="1"/>
            <a:ext cx="9144000" cy="890954"/>
          </a:xfrm>
        </p:spPr>
        <p:txBody>
          <a:bodyPr/>
          <a:lstStyle/>
          <a:p>
            <a:pPr eaLnBrk="1" hangingPunct="1">
              <a:defRPr/>
            </a:pPr>
            <a:r>
              <a:rPr lang="en-US" sz="3600" kern="1200" dirty="0">
                <a:gradFill flip="none" rotWithShape="1">
                  <a:gsLst>
                    <a:gs pos="16000">
                      <a:srgbClr val="6B308E"/>
                    </a:gs>
                    <a:gs pos="100000">
                      <a:srgbClr val="28A7DF"/>
                    </a:gs>
                  </a:gsLst>
                  <a:lin ang="1800000" scaled="0"/>
                  <a:tileRect/>
                </a:gradFill>
                <a:latin typeface="Arial"/>
                <a:cs typeface="Arial" pitchFamily="34" charset="0"/>
              </a:rPr>
              <a:t>Routing Algorithms </a:t>
            </a:r>
            <a:endParaRPr lang="en-US" sz="4000" dirty="0"/>
          </a:p>
        </p:txBody>
      </p:sp>
      <p:sp>
        <p:nvSpPr>
          <p:cNvPr id="38914" name="Rectangle 3">
            <a:extLst>
              <a:ext uri="{FF2B5EF4-FFF2-40B4-BE49-F238E27FC236}">
                <a16:creationId xmlns:a16="http://schemas.microsoft.com/office/drawing/2014/main" id="{29E5C092-2758-132C-7A52-DE6BF3E3FE99}"/>
              </a:ext>
            </a:extLst>
          </p:cNvPr>
          <p:cNvSpPr txBox="1">
            <a:spLocks noChangeArrowheads="1"/>
          </p:cNvSpPr>
          <p:nvPr/>
        </p:nvSpPr>
        <p:spPr bwMode="auto">
          <a:xfrm>
            <a:off x="412750" y="935038"/>
            <a:ext cx="8518525" cy="550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AutoNum type="alphaLcParenR"/>
              <a:defRPr sz="2400">
                <a:solidFill>
                  <a:schemeClr val="tx1"/>
                </a:solidFill>
                <a:latin typeface="Trebuchet MS" panose="020B0703020202090204" pitchFamily="34" charset="0"/>
              </a:defRPr>
            </a:lvl1pPr>
            <a:lvl2pPr>
              <a:spcBef>
                <a:spcPct val="20000"/>
              </a:spcBef>
              <a:buClr>
                <a:schemeClr val="accent2"/>
              </a:buClr>
              <a:buChar char="–"/>
              <a:defRPr sz="2000">
                <a:solidFill>
                  <a:schemeClr val="tx1"/>
                </a:solidFill>
                <a:latin typeface="Trebuchet MS" panose="020B0703020202090204" pitchFamily="34" charset="0"/>
              </a:defRPr>
            </a:lvl2pPr>
            <a:lvl3pPr marL="1371600" indent="-457200">
              <a:spcBef>
                <a:spcPct val="20000"/>
              </a:spcBef>
              <a:buClr>
                <a:schemeClr val="accent2"/>
              </a:buClr>
              <a:buChar char="•"/>
              <a:defRPr sz="2400">
                <a:solidFill>
                  <a:schemeClr val="tx1"/>
                </a:solidFill>
                <a:latin typeface="Trebuchet MS" panose="020B0703020202090204" pitchFamily="34" charset="0"/>
              </a:defRPr>
            </a:lvl3pPr>
            <a:lvl4pPr marL="1600200" indent="-228600">
              <a:spcBef>
                <a:spcPct val="20000"/>
              </a:spcBef>
              <a:buClr>
                <a:schemeClr val="accent2"/>
              </a:buClr>
              <a:buChar char="–"/>
              <a:defRPr sz="2000">
                <a:solidFill>
                  <a:schemeClr val="tx1"/>
                </a:solidFill>
                <a:latin typeface="Trebuchet MS" panose="020B0703020202090204" pitchFamily="34" charset="0"/>
              </a:defRPr>
            </a:lvl4pPr>
            <a:lvl5pPr marL="2057400" indent="-228600">
              <a:spcBef>
                <a:spcPct val="20000"/>
              </a:spcBef>
              <a:buClr>
                <a:schemeClr val="accent2"/>
              </a:buClr>
              <a:buChar char="»"/>
              <a:defRPr sz="2000">
                <a:solidFill>
                  <a:schemeClr val="tx1"/>
                </a:solidFill>
                <a:latin typeface="Trebuchet MS" panose="020B0703020202090204" pitchFamily="34" charset="0"/>
              </a:defRPr>
            </a:lvl5pPr>
            <a:lvl6pPr marL="25146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6pPr>
            <a:lvl7pPr marL="29718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7pPr>
            <a:lvl8pPr marL="34290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8pPr>
            <a:lvl9pPr marL="3886200" indent="-228600" eaLnBrk="0" fontAlgn="base" hangingPunct="0">
              <a:spcBef>
                <a:spcPct val="20000"/>
              </a:spcBef>
              <a:spcAft>
                <a:spcPct val="0"/>
              </a:spcAft>
              <a:buClr>
                <a:schemeClr val="accent2"/>
              </a:buClr>
              <a:buChar char="»"/>
              <a:defRPr sz="2000">
                <a:solidFill>
                  <a:schemeClr val="tx1"/>
                </a:solidFill>
                <a:latin typeface="Trebuchet MS" panose="020B0703020202090204" pitchFamily="34" charset="0"/>
              </a:defRPr>
            </a:lvl9pPr>
          </a:lstStyle>
          <a:p>
            <a:pPr>
              <a:buFont typeface="Wingdings" pitchFamily="2" charset="2"/>
              <a:buChar char="q"/>
            </a:pPr>
            <a:r>
              <a:rPr lang="en-US" altLang="en-US" sz="3200">
                <a:latin typeface="Times-Roman"/>
              </a:rPr>
              <a:t>Routing algorithms can be grouped into two major classes: </a:t>
            </a:r>
          </a:p>
          <a:p>
            <a:pPr lvl="1">
              <a:buFontTx/>
              <a:buNone/>
            </a:pPr>
            <a:r>
              <a:rPr lang="en-US" altLang="en-US">
                <a:latin typeface="Times-Roman"/>
              </a:rPr>
              <a:t>1. </a:t>
            </a:r>
            <a:r>
              <a:rPr lang="en-US" altLang="en-US" sz="2800">
                <a:latin typeface="Times-Roman"/>
              </a:rPr>
              <a:t>Nonadaptive and</a:t>
            </a:r>
          </a:p>
          <a:p>
            <a:pPr lvl="1">
              <a:buFontTx/>
              <a:buNone/>
            </a:pPr>
            <a:r>
              <a:rPr lang="en-US" altLang="en-US">
                <a:latin typeface="Times-Roman"/>
              </a:rPr>
              <a:t>2. </a:t>
            </a:r>
            <a:r>
              <a:rPr lang="en-US" altLang="en-US" sz="2800">
                <a:latin typeface="Times-Roman"/>
              </a:rPr>
              <a:t>Adaptive. </a:t>
            </a:r>
          </a:p>
          <a:p>
            <a:pPr>
              <a:buFont typeface="Wingdings" pitchFamily="2" charset="2"/>
              <a:buAutoNum type="alphaLcParenR"/>
            </a:pPr>
            <a:r>
              <a:rPr lang="en-US" altLang="en-US" sz="3200" b="1">
                <a:latin typeface="Times-Bold"/>
              </a:rPr>
              <a:t>Nonadaptive algorithms </a:t>
            </a:r>
            <a:r>
              <a:rPr lang="en-US" altLang="en-US" sz="3200">
                <a:latin typeface="Times-Roman"/>
              </a:rPr>
              <a:t>the choice of the route to use to get from source to destination is computed in </a:t>
            </a:r>
            <a:r>
              <a:rPr lang="en-US" altLang="en-US" sz="3200" i="1">
                <a:latin typeface="Times-Roman"/>
              </a:rPr>
              <a:t>advance. Static</a:t>
            </a:r>
          </a:p>
          <a:p>
            <a:pPr>
              <a:buFont typeface="Wingdings" pitchFamily="2" charset="2"/>
              <a:buAutoNum type="alphaLcParenR"/>
            </a:pPr>
            <a:r>
              <a:rPr lang="en-US" altLang="en-US" sz="3200" b="1">
                <a:latin typeface="Times-Bold"/>
              </a:rPr>
              <a:t>Adaptive algorithms</a:t>
            </a:r>
            <a:r>
              <a:rPr lang="en-US" altLang="en-US" sz="3200">
                <a:latin typeface="Times-Roman"/>
              </a:rPr>
              <a:t>, in contrast, change their routing decisions to reflect changes in the topology, and sometimes changes in the traffic as well. Dynamic</a:t>
            </a:r>
          </a:p>
          <a:p>
            <a:pPr>
              <a:buFont typeface="Wingdings" pitchFamily="2" charset="2"/>
              <a:buChar char="§"/>
            </a:pPr>
            <a:endParaRPr lang="en-US" altLang="en-US" sz="2800">
              <a:latin typeface="Times New Roman" panose="02020603050405020304" pitchFamily="18" charset="0"/>
              <a:cs typeface="Times New Roman" panose="02020603050405020304" pitchFamily="18" charset="0"/>
            </a:endParaRPr>
          </a:p>
          <a:p>
            <a:pPr lvl="1" algn="just">
              <a:buFont typeface="Wingdings" pitchFamily="2" charset="2"/>
              <a:buChar char="q"/>
            </a:pPr>
            <a:endParaRPr lang="en-US" altLang="en-US" sz="2400">
              <a:latin typeface="Arial" panose="020B0604020202020204" pitchFamily="34" charset="0"/>
            </a:endParaRPr>
          </a:p>
          <a:p>
            <a:pPr algn="just">
              <a:buFont typeface="Wingdings" pitchFamily="2" charset="2"/>
              <a:buChar char="q"/>
            </a:pPr>
            <a:endParaRPr lang="en-US" altLang="en-US">
              <a:latin typeface="Times New Roman" panose="02020603050405020304" pitchFamily="18" charset="0"/>
              <a:cs typeface="Times New Roman" panose="02020603050405020304" pitchFamily="18" charset="0"/>
            </a:endParaRPr>
          </a:p>
          <a:p>
            <a:pPr>
              <a:buFontTx/>
              <a:buChar char="•"/>
            </a:pPr>
            <a:endParaRPr lang="en-US" altLang="en-US" sz="3600" b="1">
              <a:solidFill>
                <a:srgbClr val="7030A0"/>
              </a:solidFill>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4075</TotalTime>
  <Words>1331</Words>
  <Application>Microsoft Macintosh PowerPoint</Application>
  <PresentationFormat>On-screen Show (4:3)</PresentationFormat>
  <Paragraphs>129</Paragraphs>
  <Slides>23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Trebuchet MS</vt:lpstr>
      <vt:lpstr>Calibri</vt:lpstr>
      <vt:lpstr>Times New Roman</vt:lpstr>
      <vt:lpstr>Wingdings</vt:lpstr>
      <vt:lpstr>Times-Roman</vt:lpstr>
      <vt:lpstr>Times-Italic</vt:lpstr>
      <vt:lpstr>Times-Bold</vt:lpstr>
      <vt:lpstr>Tannenbaum</vt:lpstr>
      <vt:lpstr>PowerPoint Presentation</vt:lpstr>
      <vt:lpstr>Layers? </vt:lpstr>
      <vt:lpstr>Network Layer Design Issue</vt:lpstr>
      <vt:lpstr>Store-and-Forward Packet Switching</vt:lpstr>
      <vt:lpstr>Store-and-Forward Packet Switching (1)</vt:lpstr>
      <vt:lpstr>Services Provided to the Transport Layer</vt:lpstr>
      <vt:lpstr>Services Provided to the Transport Layer</vt:lpstr>
      <vt:lpstr>Services Provided to the Transport Layer</vt:lpstr>
      <vt:lpstr>Services Provided to the Transport Layer</vt:lpstr>
      <vt:lpstr>Implementation of Connectionless Service</vt:lpstr>
      <vt:lpstr>Implementation of Connectionless Service</vt:lpstr>
      <vt:lpstr>Implementation of Connectionless Service</vt:lpstr>
      <vt:lpstr>Implementation of Connection-Oriented Service</vt:lpstr>
      <vt:lpstr>Implementation of Connection-Oriented Service(1)</vt:lpstr>
      <vt:lpstr>Implementation of Connection-Oriented Service(2)</vt:lpstr>
      <vt:lpstr>Comparison of Virtual-Circuit and Datagram Subnets</vt:lpstr>
      <vt:lpstr>Routing Algorithms </vt:lpstr>
      <vt:lpstr>Routing Algorithms </vt:lpstr>
      <vt:lpstr>Routing Algorithms </vt:lpstr>
      <vt:lpstr>Network Performance Measures</vt:lpstr>
      <vt:lpstr>*Fairness versus Optimality</vt:lpstr>
      <vt:lpstr>*Fairness versus Optimality/Efficiency</vt:lpstr>
      <vt:lpstr>Routing Algorithms </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Physical Layer</dc:title>
  <dc:creator>Steve Armstrong</dc:creator>
  <cp:lastModifiedBy>Shafiullah Shafin</cp:lastModifiedBy>
  <cp:revision>266</cp:revision>
  <dcterms:created xsi:type="dcterms:W3CDTF">2002-07-01T13:57:45Z</dcterms:created>
  <dcterms:modified xsi:type="dcterms:W3CDTF">2025-12-08T18:51:34Z</dcterms:modified>
</cp:coreProperties>
</file>