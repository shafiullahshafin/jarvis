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62" r:id="rId4"/>
    <p:sldId id="257" r:id="rId5"/>
    <p:sldId id="282" r:id="rId6"/>
    <p:sldId id="258" r:id="rId7"/>
    <p:sldId id="259" r:id="rId8"/>
    <p:sldId id="263" r:id="rId9"/>
    <p:sldId id="264" r:id="rId10"/>
    <p:sldId id="265" r:id="rId11"/>
    <p:sldId id="266" r:id="rId12"/>
    <p:sldId id="267" r:id="rId13"/>
    <p:sldId id="268" r:id="rId14"/>
    <p:sldId id="283" r:id="rId15"/>
    <p:sldId id="284" r:id="rId16"/>
    <p:sldId id="285" r:id="rId17"/>
    <p:sldId id="292" r:id="rId18"/>
    <p:sldId id="261" r:id="rId19"/>
    <p:sldId id="286" r:id="rId20"/>
    <p:sldId id="287" r:id="rId21"/>
    <p:sldId id="288" r:id="rId22"/>
    <p:sldId id="293" r:id="rId23"/>
    <p:sldId id="289" r:id="rId24"/>
    <p:sldId id="290" r:id="rId25"/>
    <p:sldId id="291" r:id="rId26"/>
    <p:sldId id="29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1608"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4F2CF2C6-71E3-4DA9-BCB6-716D044AE7C0}" type="datetimeFigureOut">
              <a:rPr lang="en-US" smtClean="0"/>
              <a:pPr/>
              <a:t>2/25/2019</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82AC7789-D3F8-4159-9E48-81A3C46DB31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4F2CF2C6-71E3-4DA9-BCB6-716D044AE7C0}" type="datetimeFigureOut">
              <a:rPr lang="en-US" smtClean="0"/>
              <a:pPr/>
              <a:t>2/25/2019</a:t>
            </a:fld>
            <a:endParaRPr lang="en-US"/>
          </a:p>
        </p:txBody>
      </p:sp>
      <p:sp>
        <p:nvSpPr>
          <p:cNvPr id="9" name="Slide Number Placeholder 8"/>
          <p:cNvSpPr>
            <a:spLocks noGrp="1"/>
          </p:cNvSpPr>
          <p:nvPr>
            <p:ph type="sldNum" sz="quarter" idx="15"/>
          </p:nvPr>
        </p:nvSpPr>
        <p:spPr/>
        <p:txBody>
          <a:bodyPr rtlCol="0"/>
          <a:lstStyle/>
          <a:p>
            <a:fld id="{82AC7789-D3F8-4159-9E48-81A3C46DB31F}"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4F2CF2C6-71E3-4DA9-BCB6-716D044AE7C0}" type="datetimeFigureOut">
              <a:rPr lang="en-US" smtClean="0"/>
              <a:pPr/>
              <a:t>2/25/2019</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82AC7789-D3F8-4159-9E48-81A3C46DB31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4F2CF2C6-71E3-4DA9-BCB6-716D044AE7C0}" type="datetimeFigureOut">
              <a:rPr lang="en-US" smtClean="0"/>
              <a:pPr/>
              <a:t>2/25/2019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AC7789-D3F8-4159-9E48-81A3C46DB31F}"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4F2CF2C6-71E3-4DA9-BCB6-716D044AE7C0}" type="datetimeFigureOut">
              <a:rPr lang="en-US" smtClean="0"/>
              <a:pPr/>
              <a:t>2/25/2019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AC7789-D3F8-4159-9E48-81A3C46DB31F}"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4F2CF2C6-71E3-4DA9-BCB6-716D044AE7C0}" type="datetimeFigureOut">
              <a:rPr lang="en-US" smtClean="0"/>
              <a:pPr/>
              <a:t>2/25/2019</a:t>
            </a:fld>
            <a:endParaRPr lang="en-US"/>
          </a:p>
        </p:txBody>
      </p:sp>
      <p:sp>
        <p:nvSpPr>
          <p:cNvPr id="7" name="Slide Number Placeholder 6"/>
          <p:cNvSpPr>
            <a:spLocks noGrp="1"/>
          </p:cNvSpPr>
          <p:nvPr>
            <p:ph type="sldNum" sz="quarter" idx="11"/>
          </p:nvPr>
        </p:nvSpPr>
        <p:spPr/>
        <p:txBody>
          <a:bodyPr rtlCol="0"/>
          <a:lstStyle/>
          <a:p>
            <a:fld id="{82AC7789-D3F8-4159-9E48-81A3C46DB31F}"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2CF2C6-71E3-4DA9-BCB6-716D044AE7C0}" type="datetimeFigureOut">
              <a:rPr lang="en-US" smtClean="0"/>
              <a:pPr/>
              <a:t>2/25/2019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AC7789-D3F8-4159-9E48-81A3C46DB31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4F2CF2C6-71E3-4DA9-BCB6-716D044AE7C0}" type="datetimeFigureOut">
              <a:rPr lang="en-US" smtClean="0"/>
              <a:pPr/>
              <a:t>2/25/2019</a:t>
            </a:fld>
            <a:endParaRPr lang="en-US"/>
          </a:p>
        </p:txBody>
      </p:sp>
      <p:sp>
        <p:nvSpPr>
          <p:cNvPr id="22" name="Slide Number Placeholder 21"/>
          <p:cNvSpPr>
            <a:spLocks noGrp="1"/>
          </p:cNvSpPr>
          <p:nvPr>
            <p:ph type="sldNum" sz="quarter" idx="15"/>
          </p:nvPr>
        </p:nvSpPr>
        <p:spPr/>
        <p:txBody>
          <a:bodyPr rtlCol="0"/>
          <a:lstStyle/>
          <a:p>
            <a:fld id="{82AC7789-D3F8-4159-9E48-81A3C46DB31F}"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4F2CF2C6-71E3-4DA9-BCB6-716D044AE7C0}" type="datetimeFigureOut">
              <a:rPr lang="en-US" smtClean="0"/>
              <a:pPr/>
              <a:t>2/25/2019</a:t>
            </a:fld>
            <a:endParaRPr lang="en-US"/>
          </a:p>
        </p:txBody>
      </p:sp>
      <p:sp>
        <p:nvSpPr>
          <p:cNvPr id="18" name="Slide Number Placeholder 17"/>
          <p:cNvSpPr>
            <a:spLocks noGrp="1"/>
          </p:cNvSpPr>
          <p:nvPr>
            <p:ph type="sldNum" sz="quarter" idx="11"/>
          </p:nvPr>
        </p:nvSpPr>
        <p:spPr/>
        <p:txBody>
          <a:bodyPr rtlCol="0"/>
          <a:lstStyle/>
          <a:p>
            <a:fld id="{82AC7789-D3F8-4159-9E48-81A3C46DB31F}"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F2CF2C6-71E3-4DA9-BCB6-716D044AE7C0}"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AC7789-D3F8-4159-9E48-81A3C46DB31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F2CF2C6-71E3-4DA9-BCB6-716D044AE7C0}" type="datetimeFigureOut">
              <a:rPr lang="en-US" smtClean="0"/>
              <a:pPr/>
              <a:t>2/25/2019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AC7789-D3F8-4159-9E48-81A3C46DB31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4F2CF2C6-71E3-4DA9-BCB6-716D044AE7C0}" type="datetimeFigureOut">
              <a:rPr lang="en-US" smtClean="0"/>
              <a:pPr/>
              <a:t>2/25/2019</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82AC7789-D3F8-4159-9E48-81A3C46DB31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603684"/>
            <a:ext cx="6553200" cy="1894362"/>
          </a:xfrm>
        </p:spPr>
        <p:txBody>
          <a:bodyPr/>
          <a:lstStyle/>
          <a:p>
            <a:r>
              <a:rPr lang="en-US" dirty="0" smtClean="0"/>
              <a:t>C – Loop</a:t>
            </a:r>
            <a:endParaRPr lang="en-US" dirty="0"/>
          </a:p>
        </p:txBody>
      </p:sp>
      <p:sp>
        <p:nvSpPr>
          <p:cNvPr id="3" name="TextBox 2"/>
          <p:cNvSpPr txBox="1"/>
          <p:nvPr/>
        </p:nvSpPr>
        <p:spPr>
          <a:xfrm>
            <a:off x="2895600" y="4876800"/>
            <a:ext cx="5638800" cy="923330"/>
          </a:xfrm>
          <a:prstGeom prst="rect">
            <a:avLst/>
          </a:prstGeom>
          <a:noFill/>
        </p:spPr>
        <p:txBody>
          <a:bodyPr wrap="square" rtlCol="0">
            <a:spAutoFit/>
          </a:bodyPr>
          <a:lstStyle/>
          <a:p>
            <a:r>
              <a:rPr lang="en-US" dirty="0" smtClean="0"/>
              <a:t>Abu Sayeed</a:t>
            </a:r>
          </a:p>
          <a:p>
            <a:r>
              <a:rPr lang="en-US" dirty="0" smtClean="0"/>
              <a:t>Assistant Professor</a:t>
            </a:r>
          </a:p>
          <a:p>
            <a:r>
              <a:rPr lang="en-US" dirty="0" smtClean="0"/>
              <a:t>Department of Computer Science &amp;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785" y="228599"/>
            <a:ext cx="7467600" cy="709575"/>
          </a:xfrm>
        </p:spPr>
        <p:txBody>
          <a:bodyPr>
            <a:normAutofit/>
          </a:bodyPr>
          <a:lstStyle/>
          <a:p>
            <a:pPr algn="ctr"/>
            <a:r>
              <a:rPr lang="en-US" dirty="0"/>
              <a:t>C </a:t>
            </a:r>
            <a:r>
              <a:rPr lang="en-US" dirty="0" smtClean="0"/>
              <a:t>– Loop</a:t>
            </a:r>
            <a:endParaRPr lang="en-US" dirty="0"/>
          </a:p>
        </p:txBody>
      </p:sp>
      <p:sp>
        <p:nvSpPr>
          <p:cNvPr id="3" name="Content Placeholder 2"/>
          <p:cNvSpPr>
            <a:spLocks noGrp="1"/>
          </p:cNvSpPr>
          <p:nvPr>
            <p:ph sz="quarter" idx="1"/>
          </p:nvPr>
        </p:nvSpPr>
        <p:spPr>
          <a:xfrm>
            <a:off x="228600" y="972070"/>
            <a:ext cx="4648200" cy="5504930"/>
          </a:xfrm>
        </p:spPr>
        <p:txBody>
          <a:bodyPr>
            <a:normAutofit lnSpcReduction="10000"/>
          </a:bodyPr>
          <a:lstStyle/>
          <a:p>
            <a:pPr algn="just"/>
            <a:r>
              <a:rPr lang="en-US" dirty="0"/>
              <a:t>There may be a situation, when you need to execute a block of code several number of times. In general, statements are executed sequentially: The first statement in a function is executed first, followed by the second, and so on</a:t>
            </a:r>
            <a:r>
              <a:rPr lang="en-US" dirty="0" smtClean="0"/>
              <a:t>.</a:t>
            </a:r>
            <a:endParaRPr lang="en-US" dirty="0"/>
          </a:p>
          <a:p>
            <a:pPr algn="just"/>
            <a:r>
              <a:rPr lang="en-US" dirty="0"/>
              <a:t>A loop statement allows us to execute a statement or group of statements multiple times and following is the general form of a loop statement in most of the programming languages:</a:t>
            </a:r>
          </a:p>
          <a:p>
            <a:pPr algn="just"/>
            <a:endParaRPr lang="en-US" dirty="0"/>
          </a:p>
        </p:txBody>
      </p:sp>
      <p:pic>
        <p:nvPicPr>
          <p:cNvPr id="4" name="Picture 3"/>
          <p:cNvPicPr>
            <a:picLocks noChangeAspect="1"/>
          </p:cNvPicPr>
          <p:nvPr/>
        </p:nvPicPr>
        <p:blipFill>
          <a:blip r:embed="rId2" cstate="print"/>
          <a:stretch>
            <a:fillRect/>
          </a:stretch>
        </p:blipFill>
        <p:spPr>
          <a:xfrm>
            <a:off x="4876800" y="1066800"/>
            <a:ext cx="3860800" cy="4419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4832" y="198438"/>
            <a:ext cx="7467600" cy="715962"/>
          </a:xfrm>
        </p:spPr>
        <p:txBody>
          <a:bodyPr>
            <a:normAutofit/>
          </a:bodyPr>
          <a:lstStyle/>
          <a:p>
            <a:pPr algn="ctr"/>
            <a:r>
              <a:rPr lang="en-US" dirty="0"/>
              <a:t>T</a:t>
            </a:r>
            <a:r>
              <a:rPr lang="en-US" dirty="0" smtClean="0"/>
              <a:t>ypes of Loop</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xmlns="" val="4006535699"/>
              </p:ext>
            </p:extLst>
          </p:nvPr>
        </p:nvGraphicFramePr>
        <p:xfrm>
          <a:off x="457200" y="2133600"/>
          <a:ext cx="8229600" cy="4038600"/>
        </p:xfrm>
        <a:graphic>
          <a:graphicData uri="http://schemas.openxmlformats.org/drawingml/2006/table">
            <a:tbl>
              <a:tblPr/>
              <a:tblGrid>
                <a:gridCol w="2718709"/>
                <a:gridCol w="5510891"/>
              </a:tblGrid>
              <a:tr h="428279">
                <a:tc>
                  <a:txBody>
                    <a:bodyPr/>
                    <a:lstStyle/>
                    <a:p>
                      <a:pPr algn="l"/>
                      <a:r>
                        <a:rPr lang="en-US" sz="1500" b="1" dirty="0"/>
                        <a:t>Statement</a:t>
                      </a:r>
                    </a:p>
                  </a:txBody>
                  <a:tcPr marL="39017" marR="39017" marT="39017" marB="3901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chemeClr val="accent2">
                        <a:lumMod val="60000"/>
                        <a:lumOff val="40000"/>
                      </a:schemeClr>
                    </a:solidFill>
                  </a:tcPr>
                </a:tc>
                <a:tc>
                  <a:txBody>
                    <a:bodyPr/>
                    <a:lstStyle/>
                    <a:p>
                      <a:pPr algn="l"/>
                      <a:r>
                        <a:rPr lang="en-US" sz="1500" b="1" dirty="0"/>
                        <a:t>Description</a:t>
                      </a:r>
                    </a:p>
                  </a:txBody>
                  <a:tcPr marL="39017" marR="39017" marT="39017" marB="3901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chemeClr val="accent2">
                        <a:lumMod val="60000"/>
                        <a:lumOff val="40000"/>
                      </a:schemeClr>
                    </a:solidFill>
                  </a:tcPr>
                </a:tc>
              </a:tr>
              <a:tr h="79013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u="none" strike="noStrike" dirty="0" smtClean="0">
                          <a:solidFill>
                            <a:schemeClr val="tx1"/>
                          </a:solidFill>
                        </a:rPr>
                        <a:t>1.</a:t>
                      </a:r>
                      <a:r>
                        <a:rPr lang="en-US" sz="1500" b="1" u="none" strike="noStrike" dirty="0" smtClean="0">
                          <a:solidFill>
                            <a:srgbClr val="900B09"/>
                          </a:solidFill>
                        </a:rPr>
                        <a:t> for loop</a:t>
                      </a:r>
                      <a:endParaRPr lang="en-US" sz="1500" dirty="0"/>
                    </a:p>
                  </a:txBody>
                  <a:tcPr marL="39017" marR="39017" marT="39017" marB="3901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dirty="0" smtClean="0"/>
                        <a:t>Execute a sequence of statements multiple times and abbreviates the code that manages the loop variable.</a:t>
                      </a:r>
                      <a:endParaRPr lang="en-US" sz="1500" dirty="0"/>
                    </a:p>
                  </a:txBody>
                  <a:tcPr marL="39017" marR="39017" marT="39017" marB="3901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r>
              <a:tr h="113071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u="none" strike="noStrike" dirty="0" smtClean="0">
                          <a:solidFill>
                            <a:schemeClr val="tx1"/>
                          </a:solidFill>
                        </a:rPr>
                        <a:t>2. </a:t>
                      </a:r>
                      <a:r>
                        <a:rPr kumimoji="0" lang="en-US" sz="1500" b="1" u="none" strike="noStrike" kern="1200" dirty="0" smtClean="0">
                          <a:solidFill>
                            <a:srgbClr val="900B09"/>
                          </a:solidFill>
                          <a:latin typeface="+mn-lt"/>
                          <a:ea typeface="+mn-ea"/>
                          <a:cs typeface="+mn-cs"/>
                        </a:rPr>
                        <a:t>while</a:t>
                      </a:r>
                      <a:r>
                        <a:rPr lang="en-US" sz="1500" b="1" u="none" strike="noStrike" dirty="0" smtClean="0">
                          <a:solidFill>
                            <a:schemeClr val="tx1"/>
                          </a:solidFill>
                        </a:rPr>
                        <a:t> </a:t>
                      </a:r>
                      <a:r>
                        <a:rPr kumimoji="0" lang="en-US" sz="1500" b="1" u="none" strike="noStrike" kern="1200" dirty="0" smtClean="0">
                          <a:solidFill>
                            <a:srgbClr val="900B09"/>
                          </a:solidFill>
                          <a:latin typeface="+mn-lt"/>
                          <a:ea typeface="+mn-ea"/>
                          <a:cs typeface="+mn-cs"/>
                        </a:rPr>
                        <a:t>loop</a:t>
                      </a:r>
                      <a:endParaRPr kumimoji="0" lang="en-US" sz="1500" b="1" u="none" strike="noStrike" kern="1200" dirty="0">
                        <a:solidFill>
                          <a:srgbClr val="900B09"/>
                        </a:solidFill>
                        <a:latin typeface="+mn-lt"/>
                        <a:ea typeface="+mn-ea"/>
                        <a:cs typeface="+mn-cs"/>
                      </a:endParaRPr>
                    </a:p>
                  </a:txBody>
                  <a:tcPr marL="39017" marR="39017" marT="39017" marB="3901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dirty="0" smtClean="0"/>
                        <a:t>Repeats a statement or group of statements while a given condition is true. It tests the condition before executing the loop body.</a:t>
                      </a:r>
                      <a:endParaRPr lang="en-US" sz="1500" dirty="0"/>
                    </a:p>
                  </a:txBody>
                  <a:tcPr marL="39017" marR="39017" marT="39017" marB="3901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r>
              <a:tr h="899329">
                <a:tc>
                  <a:txBody>
                    <a:bodyPr/>
                    <a:lstStyle/>
                    <a:p>
                      <a:r>
                        <a:rPr kumimoji="0" lang="en-US" sz="1500" b="1" u="none" strike="noStrike" kern="1200" dirty="0" smtClean="0">
                          <a:solidFill>
                            <a:schemeClr val="tx1"/>
                          </a:solidFill>
                          <a:latin typeface="+mn-lt"/>
                          <a:ea typeface="+mn-ea"/>
                          <a:cs typeface="+mn-cs"/>
                        </a:rPr>
                        <a:t>3.</a:t>
                      </a:r>
                      <a:r>
                        <a:rPr kumimoji="0" lang="en-US" sz="1500" b="1" u="none" strike="noStrike" kern="1200" dirty="0" smtClean="0">
                          <a:solidFill>
                            <a:srgbClr val="900B09"/>
                          </a:solidFill>
                          <a:latin typeface="+mn-lt"/>
                          <a:ea typeface="+mn-ea"/>
                          <a:cs typeface="+mn-cs"/>
                        </a:rPr>
                        <a:t> do...while loop</a:t>
                      </a:r>
                      <a:endParaRPr kumimoji="0" lang="en-US" sz="1500" u="none" strike="noStrike" kern="1200" dirty="0" smtClean="0">
                        <a:solidFill>
                          <a:srgbClr val="900B09"/>
                        </a:solidFill>
                        <a:latin typeface="+mn-lt"/>
                        <a:ea typeface="+mn-ea"/>
                        <a:cs typeface="+mn-cs"/>
                      </a:endParaRPr>
                    </a:p>
                  </a:txBody>
                  <a:tcPr marL="47625" marR="47625" marT="47625" marB="47625">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dirty="0" smtClean="0"/>
                        <a:t>Like a while statement, except that it tests the condition at the end of the loop body</a:t>
                      </a:r>
                      <a:endParaRPr lang="en-US" dirty="0"/>
                    </a:p>
                  </a:txBody>
                  <a:tcPr marL="47625" marR="47625" marT="47625" marB="47625">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r>
              <a:tr h="790139">
                <a:tc>
                  <a:txBody>
                    <a:bodyPr/>
                    <a:lstStyle/>
                    <a:p>
                      <a:r>
                        <a:rPr lang="en-US" sz="1500" b="1" u="none" strike="noStrike" dirty="0" smtClean="0">
                          <a:solidFill>
                            <a:schemeClr val="tx1"/>
                          </a:solidFill>
                        </a:rPr>
                        <a:t>4.  </a:t>
                      </a:r>
                      <a:r>
                        <a:rPr lang="en-US" sz="1500" b="1" i="0" u="none" strike="noStrike" dirty="0" smtClean="0">
                          <a:solidFill>
                            <a:srgbClr val="900B09"/>
                          </a:solidFill>
                        </a:rPr>
                        <a:t>nested loop</a:t>
                      </a:r>
                      <a:endParaRPr lang="en-US" sz="1500" i="0" dirty="0"/>
                    </a:p>
                  </a:txBody>
                  <a:tcPr marL="39017" marR="39017" marT="39017" marB="3901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dirty="0" smtClean="0"/>
                        <a:t>You can use one or more loop inside any another while, for or </a:t>
                      </a:r>
                      <a:r>
                        <a:rPr lang="en-US" sz="1600" dirty="0" err="1" smtClean="0"/>
                        <a:t>do..while</a:t>
                      </a:r>
                      <a:r>
                        <a:rPr lang="en-US" sz="1600" dirty="0" smtClean="0"/>
                        <a:t> loop.</a:t>
                      </a:r>
                      <a:endParaRPr lang="en-US" sz="1500" dirty="0"/>
                    </a:p>
                  </a:txBody>
                  <a:tcPr marL="39017" marR="39017" marT="39017" marB="39017">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r>
            </a:tbl>
          </a:graphicData>
        </a:graphic>
      </p:graphicFrame>
      <p:sp>
        <p:nvSpPr>
          <p:cNvPr id="6" name="Rectangle 5"/>
          <p:cNvSpPr/>
          <p:nvPr/>
        </p:nvSpPr>
        <p:spPr>
          <a:xfrm>
            <a:off x="400928" y="1169804"/>
            <a:ext cx="8229600" cy="707886"/>
          </a:xfrm>
          <a:prstGeom prst="rect">
            <a:avLst/>
          </a:prstGeom>
        </p:spPr>
        <p:txBody>
          <a:bodyPr wrap="square">
            <a:spAutoFit/>
          </a:bodyPr>
          <a:lstStyle/>
          <a:p>
            <a:pPr algn="just"/>
            <a:r>
              <a:rPr lang="en-US" sz="2000" dirty="0"/>
              <a:t>C programming language provides the following types of loop to handle looping requirements.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088"/>
            <a:ext cx="8229600" cy="792162"/>
          </a:xfrm>
        </p:spPr>
        <p:txBody>
          <a:bodyPr/>
          <a:lstStyle/>
          <a:p>
            <a:pPr algn="ctr"/>
            <a:r>
              <a:rPr lang="en-US" dirty="0" smtClean="0"/>
              <a:t>For Loop</a:t>
            </a:r>
            <a:endParaRPr lang="en-US" dirty="0"/>
          </a:p>
        </p:txBody>
      </p:sp>
      <p:sp>
        <p:nvSpPr>
          <p:cNvPr id="3" name="Content Placeholder 2"/>
          <p:cNvSpPr>
            <a:spLocks noGrp="1"/>
          </p:cNvSpPr>
          <p:nvPr>
            <p:ph sz="quarter" idx="1"/>
          </p:nvPr>
        </p:nvSpPr>
        <p:spPr>
          <a:xfrm>
            <a:off x="457200" y="1173179"/>
            <a:ext cx="8229600" cy="1363001"/>
          </a:xfrm>
        </p:spPr>
        <p:txBody>
          <a:bodyPr>
            <a:normAutofit fontScale="92500" lnSpcReduction="20000"/>
          </a:bodyPr>
          <a:lstStyle/>
          <a:p>
            <a:pPr algn="just"/>
            <a:r>
              <a:rPr lang="en-US" dirty="0"/>
              <a:t>A </a:t>
            </a:r>
            <a:r>
              <a:rPr lang="en-US" b="1" dirty="0"/>
              <a:t>for</a:t>
            </a:r>
            <a:r>
              <a:rPr lang="en-US" dirty="0"/>
              <a:t> loop is a repetition control structure that allows you to efficiently write a loop that needs to execute a specific number of times</a:t>
            </a:r>
            <a:r>
              <a:rPr lang="en-US" dirty="0" smtClean="0"/>
              <a:t>.</a:t>
            </a:r>
          </a:p>
          <a:p>
            <a:r>
              <a:rPr lang="en-US" sz="2400" b="1" dirty="0" smtClean="0"/>
              <a:t>Syntax</a:t>
            </a:r>
            <a:r>
              <a:rPr lang="en-US" sz="2000" b="1" dirty="0" smtClean="0"/>
              <a:t>:</a:t>
            </a:r>
          </a:p>
          <a:p>
            <a:endParaRPr lang="en-US" sz="2400" dirty="0"/>
          </a:p>
        </p:txBody>
      </p:sp>
      <p:sp>
        <p:nvSpPr>
          <p:cNvPr id="7" name="Content Placeholder 2"/>
          <p:cNvSpPr txBox="1">
            <a:spLocks/>
          </p:cNvSpPr>
          <p:nvPr/>
        </p:nvSpPr>
        <p:spPr>
          <a:xfrm>
            <a:off x="448992" y="3892060"/>
            <a:ext cx="8314008" cy="2613096"/>
          </a:xfrm>
          <a:prstGeom prst="rect">
            <a:avLst/>
          </a:prstGeom>
        </p:spPr>
        <p:txBody>
          <a:bodyPr vert="horz" lIns="91440" tIns="45720" rIns="91440" bIns="45720" rtlCol="0">
            <a:noAutofit/>
          </a:bodyPr>
          <a:lstStyle/>
          <a:p>
            <a:pPr marL="274320" lvl="0" indent="-274320" algn="just">
              <a:spcBef>
                <a:spcPts val="600"/>
              </a:spcBef>
              <a:buClr>
                <a:schemeClr val="accent1"/>
              </a:buClr>
              <a:buSzPct val="70000"/>
              <a:buFont typeface="Wingdings"/>
              <a:buChar char=""/>
            </a:pPr>
            <a:endParaRPr lang="en-US" sz="2400" dirty="0"/>
          </a:p>
        </p:txBody>
      </p:sp>
      <p:pic>
        <p:nvPicPr>
          <p:cNvPr id="5" name="Picture 4"/>
          <p:cNvPicPr>
            <a:picLocks noChangeAspect="1"/>
          </p:cNvPicPr>
          <p:nvPr/>
        </p:nvPicPr>
        <p:blipFill>
          <a:blip r:embed="rId2" cstate="print"/>
          <a:stretch>
            <a:fillRect/>
          </a:stretch>
        </p:blipFill>
        <p:spPr>
          <a:xfrm>
            <a:off x="1752600" y="2947267"/>
            <a:ext cx="5715000" cy="1305000"/>
          </a:xfrm>
          <a:prstGeom prst="rect">
            <a:avLst/>
          </a:prstGeom>
          <a:ln>
            <a:solidFill>
              <a:schemeClr val="accent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088"/>
            <a:ext cx="8229600" cy="792162"/>
          </a:xfrm>
        </p:spPr>
        <p:txBody>
          <a:bodyPr/>
          <a:lstStyle/>
          <a:p>
            <a:pPr algn="ctr"/>
            <a:r>
              <a:rPr lang="en-US" dirty="0" smtClean="0"/>
              <a:t>Flow </a:t>
            </a:r>
            <a:r>
              <a:rPr lang="en-US" dirty="0"/>
              <a:t>of control in a for </a:t>
            </a:r>
            <a:r>
              <a:rPr lang="en-US" dirty="0" smtClean="0"/>
              <a:t>loop</a:t>
            </a:r>
            <a:endParaRPr lang="en-US" dirty="0"/>
          </a:p>
        </p:txBody>
      </p:sp>
      <p:sp>
        <p:nvSpPr>
          <p:cNvPr id="3" name="Content Placeholder 2"/>
          <p:cNvSpPr>
            <a:spLocks noGrp="1"/>
          </p:cNvSpPr>
          <p:nvPr>
            <p:ph sz="quarter" idx="1"/>
          </p:nvPr>
        </p:nvSpPr>
        <p:spPr>
          <a:xfrm>
            <a:off x="225064" y="1227799"/>
            <a:ext cx="8537935" cy="5020601"/>
          </a:xfrm>
        </p:spPr>
        <p:txBody>
          <a:bodyPr>
            <a:normAutofit fontScale="92500" lnSpcReduction="20000"/>
          </a:bodyPr>
          <a:lstStyle/>
          <a:p>
            <a:pPr algn="just"/>
            <a:r>
              <a:rPr lang="en-US" dirty="0" smtClean="0"/>
              <a:t>The </a:t>
            </a:r>
            <a:r>
              <a:rPr lang="en-US" b="1" dirty="0" err="1"/>
              <a:t>init</a:t>
            </a:r>
            <a:r>
              <a:rPr lang="en-US" dirty="0"/>
              <a:t> step is executed first, and only once. This step allows you to declare and initialize any loop control variables. You are not required to put a statement here, as long as a semicolon appears.</a:t>
            </a:r>
          </a:p>
          <a:p>
            <a:pPr algn="just"/>
            <a:r>
              <a:rPr lang="en-US" dirty="0"/>
              <a:t>Next, the </a:t>
            </a:r>
            <a:r>
              <a:rPr lang="en-US" b="1" dirty="0"/>
              <a:t>condition</a:t>
            </a:r>
            <a:r>
              <a:rPr lang="en-US" dirty="0"/>
              <a:t> is evaluated. If it is true, the body of the loop is executed. If it is false, the body of the loop does not execute and flow of control jumps to the next statement just after the for loop.</a:t>
            </a:r>
          </a:p>
          <a:p>
            <a:pPr algn="just"/>
            <a:r>
              <a:rPr lang="en-US" dirty="0"/>
              <a:t>After the body of the for loop executes, the flow of control jumps back up to the </a:t>
            </a:r>
            <a:r>
              <a:rPr lang="en-US" b="1" dirty="0"/>
              <a:t>increment</a:t>
            </a:r>
            <a:r>
              <a:rPr lang="en-US" dirty="0"/>
              <a:t> statement. This statement allows you to update any loop control variables. This statement can be left blank, as long as a semicolon appears after the condition.</a:t>
            </a:r>
          </a:p>
          <a:p>
            <a:pPr algn="just"/>
            <a:r>
              <a:rPr lang="en-US" dirty="0"/>
              <a:t>The condition is now evaluated again. If it is true, the loop executes and the process repeats itself (body of loop, then increment step, and then again condition). After the condition becomes false, the for loop terminates.</a:t>
            </a:r>
          </a:p>
          <a:p>
            <a:pPr algn="just"/>
            <a:endParaRPr lang="en-US" sz="2400" dirty="0"/>
          </a:p>
        </p:txBody>
      </p:sp>
    </p:spTree>
    <p:extLst>
      <p:ext uri="{BB962C8B-B14F-4D97-AF65-F5344CB8AC3E}">
        <p14:creationId xmlns:p14="http://schemas.microsoft.com/office/powerpoint/2010/main" xmlns="" val="1090924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5398"/>
            <a:ext cx="8229600" cy="792162"/>
          </a:xfrm>
        </p:spPr>
        <p:txBody>
          <a:bodyPr/>
          <a:lstStyle/>
          <a:p>
            <a:pPr algn="ctr"/>
            <a:r>
              <a:rPr lang="en-US" dirty="0" smtClean="0"/>
              <a:t>Flow Diagram : For Loop</a:t>
            </a:r>
            <a:endParaRPr lang="en-US" dirty="0"/>
          </a:p>
        </p:txBody>
      </p:sp>
      <p:pic>
        <p:nvPicPr>
          <p:cNvPr id="3" name="Picture 2"/>
          <p:cNvPicPr>
            <a:picLocks noChangeAspect="1"/>
          </p:cNvPicPr>
          <p:nvPr/>
        </p:nvPicPr>
        <p:blipFill>
          <a:blip r:embed="rId2" cstate="print"/>
          <a:stretch>
            <a:fillRect/>
          </a:stretch>
        </p:blipFill>
        <p:spPr>
          <a:xfrm>
            <a:off x="2784165" y="1232855"/>
            <a:ext cx="3644900" cy="51170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pPr algn="ctr"/>
            <a:r>
              <a:rPr lang="en-US" dirty="0" smtClean="0"/>
              <a:t>Code Example</a:t>
            </a:r>
            <a:endParaRPr lang="en-US" dirty="0"/>
          </a:p>
        </p:txBody>
      </p:sp>
      <p:pic>
        <p:nvPicPr>
          <p:cNvPr id="3" name="Picture 2"/>
          <p:cNvPicPr>
            <a:picLocks noChangeAspect="1"/>
          </p:cNvPicPr>
          <p:nvPr/>
        </p:nvPicPr>
        <p:blipFill>
          <a:blip r:embed="rId2" cstate="print"/>
          <a:stretch>
            <a:fillRect/>
          </a:stretch>
        </p:blipFill>
        <p:spPr>
          <a:xfrm>
            <a:off x="304800" y="1894879"/>
            <a:ext cx="6002830" cy="3439121"/>
          </a:xfrm>
          <a:prstGeom prst="rect">
            <a:avLst/>
          </a:prstGeom>
          <a:ln>
            <a:solidFill>
              <a:schemeClr val="accent1"/>
            </a:solidFill>
          </a:ln>
        </p:spPr>
      </p:pic>
      <p:pic>
        <p:nvPicPr>
          <p:cNvPr id="4" name="Picture 3"/>
          <p:cNvPicPr>
            <a:picLocks noChangeAspect="1"/>
          </p:cNvPicPr>
          <p:nvPr/>
        </p:nvPicPr>
        <p:blipFill>
          <a:blip r:embed="rId3" cstate="print"/>
          <a:stretch>
            <a:fillRect/>
          </a:stretch>
        </p:blipFill>
        <p:spPr>
          <a:xfrm>
            <a:off x="6537350" y="2402310"/>
            <a:ext cx="2118026" cy="2590800"/>
          </a:xfrm>
          <a:prstGeom prst="rect">
            <a:avLst/>
          </a:prstGeom>
          <a:ln>
            <a:solidFill>
              <a:schemeClr val="accent1"/>
            </a:solidFill>
          </a:ln>
        </p:spPr>
      </p:pic>
      <p:sp>
        <p:nvSpPr>
          <p:cNvPr id="5" name="TextBox 4"/>
          <p:cNvSpPr txBox="1"/>
          <p:nvPr/>
        </p:nvSpPr>
        <p:spPr>
          <a:xfrm>
            <a:off x="6426770" y="2032770"/>
            <a:ext cx="1219200" cy="369332"/>
          </a:xfrm>
          <a:prstGeom prst="rect">
            <a:avLst/>
          </a:prstGeom>
          <a:noFill/>
        </p:spPr>
        <p:txBody>
          <a:bodyPr wrap="square" rtlCol="0">
            <a:spAutoFit/>
          </a:bodyPr>
          <a:lstStyle/>
          <a:p>
            <a:r>
              <a:rPr lang="en-US" dirty="0" smtClean="0"/>
              <a:t>Output: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639762"/>
          </a:xfrm>
        </p:spPr>
        <p:txBody>
          <a:bodyPr/>
          <a:lstStyle/>
          <a:p>
            <a:pPr algn="ctr"/>
            <a:r>
              <a:rPr lang="en-US" dirty="0" smtClean="0"/>
              <a:t>2. While Loop</a:t>
            </a:r>
            <a:endParaRPr lang="en-US" dirty="0"/>
          </a:p>
        </p:txBody>
      </p:sp>
      <p:sp>
        <p:nvSpPr>
          <p:cNvPr id="3" name="Content Placeholder 2"/>
          <p:cNvSpPr>
            <a:spLocks noGrp="1"/>
          </p:cNvSpPr>
          <p:nvPr>
            <p:ph sz="quarter" idx="1"/>
          </p:nvPr>
        </p:nvSpPr>
        <p:spPr>
          <a:xfrm>
            <a:off x="457200" y="1096305"/>
            <a:ext cx="8229600" cy="1142999"/>
          </a:xfrm>
        </p:spPr>
        <p:txBody>
          <a:bodyPr>
            <a:normAutofit fontScale="92500" lnSpcReduction="10000"/>
          </a:bodyPr>
          <a:lstStyle/>
          <a:p>
            <a:pPr algn="just"/>
            <a:r>
              <a:rPr lang="en-US" dirty="0"/>
              <a:t>A </a:t>
            </a:r>
            <a:r>
              <a:rPr lang="en-US" b="1" dirty="0"/>
              <a:t>while</a:t>
            </a:r>
            <a:r>
              <a:rPr lang="en-US" dirty="0"/>
              <a:t> loop </a:t>
            </a:r>
            <a:r>
              <a:rPr lang="en-US" dirty="0" smtClean="0"/>
              <a:t>statement </a:t>
            </a:r>
            <a:r>
              <a:rPr lang="en-US" dirty="0"/>
              <a:t>repeatedly executes a target statement as long as a given condition is true</a:t>
            </a:r>
            <a:r>
              <a:rPr lang="en-US" dirty="0" smtClean="0"/>
              <a:t>.</a:t>
            </a:r>
          </a:p>
          <a:p>
            <a:pPr algn="just"/>
            <a:r>
              <a:rPr lang="en-US" b="1" dirty="0"/>
              <a:t>Syntax</a:t>
            </a:r>
            <a:r>
              <a:rPr lang="en-US" dirty="0"/>
              <a:t>:</a:t>
            </a:r>
          </a:p>
          <a:p>
            <a:pPr algn="just"/>
            <a:endParaRPr lang="en-US" dirty="0"/>
          </a:p>
        </p:txBody>
      </p:sp>
      <p:sp>
        <p:nvSpPr>
          <p:cNvPr id="6" name="Content Placeholder 2"/>
          <p:cNvSpPr txBox="1">
            <a:spLocks/>
          </p:cNvSpPr>
          <p:nvPr/>
        </p:nvSpPr>
        <p:spPr>
          <a:xfrm>
            <a:off x="304800" y="4267200"/>
            <a:ext cx="8229600" cy="1981199"/>
          </a:xfrm>
          <a:prstGeom prst="rect">
            <a:avLst/>
          </a:prstGeom>
        </p:spPr>
        <p:txBody>
          <a:bodyPr vert="horz">
            <a:normAutofit fontScale="92500" lnSpcReduction="20000"/>
          </a:bodyPr>
          <a:lstStyle/>
          <a:p>
            <a:pPr marL="274320" lvl="0" indent="-274320" algn="just">
              <a:spcBef>
                <a:spcPts val="600"/>
              </a:spcBef>
              <a:buClr>
                <a:schemeClr val="accent1"/>
              </a:buClr>
              <a:buSzPct val="70000"/>
              <a:buFont typeface="Wingdings"/>
              <a:buChar char=""/>
            </a:pPr>
            <a:r>
              <a:rPr lang="en-US" sz="2400" dirty="0"/>
              <a:t>Here, statement(s) may be a single statement or a block of statements. </a:t>
            </a:r>
            <a:endParaRPr lang="en-US" sz="2400" dirty="0" smtClean="0"/>
          </a:p>
          <a:p>
            <a:pPr marL="274320" lvl="0" indent="-274320" algn="just">
              <a:spcBef>
                <a:spcPts val="600"/>
              </a:spcBef>
              <a:buClr>
                <a:schemeClr val="accent1"/>
              </a:buClr>
              <a:buSzPct val="70000"/>
              <a:buFont typeface="Wingdings"/>
              <a:buChar char=""/>
            </a:pPr>
            <a:r>
              <a:rPr lang="en-US" sz="2400" dirty="0" smtClean="0"/>
              <a:t>The </a:t>
            </a:r>
            <a:r>
              <a:rPr lang="en-US" sz="2400" dirty="0"/>
              <a:t>condition may be any expression, and true is any nonzero value. The loop iterates while the condition is true.</a:t>
            </a:r>
          </a:p>
          <a:p>
            <a:pPr marL="274320" lvl="0" indent="-274320" algn="just">
              <a:spcBef>
                <a:spcPts val="600"/>
              </a:spcBef>
              <a:buClr>
                <a:schemeClr val="accent1"/>
              </a:buClr>
              <a:buSzPct val="70000"/>
              <a:buFont typeface="Wingdings"/>
              <a:buChar char=""/>
            </a:pPr>
            <a:r>
              <a:rPr lang="en-US" sz="2400" dirty="0"/>
              <a:t>When the condition becomes false, program control passes to the line immediately following the loop</a:t>
            </a:r>
            <a:r>
              <a:rPr lang="en-US" sz="2400" dirty="0" smtClean="0"/>
              <a:t>.</a:t>
            </a:r>
            <a:endParaRPr lang="en-US" sz="2400" dirty="0"/>
          </a:p>
        </p:txBody>
      </p:sp>
      <p:pic>
        <p:nvPicPr>
          <p:cNvPr id="4" name="Picture 3"/>
          <p:cNvPicPr>
            <a:picLocks noChangeAspect="1"/>
          </p:cNvPicPr>
          <p:nvPr/>
        </p:nvPicPr>
        <p:blipFill>
          <a:blip r:embed="rId2" cstate="print"/>
          <a:stretch>
            <a:fillRect/>
          </a:stretch>
        </p:blipFill>
        <p:spPr>
          <a:xfrm>
            <a:off x="2940100" y="2217725"/>
            <a:ext cx="3124200" cy="1511710"/>
          </a:xfrm>
          <a:prstGeom prst="rect">
            <a:avLst/>
          </a:prstGeom>
          <a:ln>
            <a:solidFill>
              <a:schemeClr val="accent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820" y="165398"/>
            <a:ext cx="7467600" cy="715962"/>
          </a:xfrm>
        </p:spPr>
        <p:txBody>
          <a:bodyPr/>
          <a:lstStyle/>
          <a:p>
            <a:pPr algn="ctr"/>
            <a:r>
              <a:rPr lang="en-US" dirty="0" smtClean="0"/>
              <a:t>Flow Diagram: While Loop</a:t>
            </a:r>
            <a:endParaRPr lang="en-US" dirty="0"/>
          </a:p>
        </p:txBody>
      </p:sp>
      <p:pic>
        <p:nvPicPr>
          <p:cNvPr id="3" name="Picture 2"/>
          <p:cNvPicPr>
            <a:picLocks noChangeAspect="1"/>
          </p:cNvPicPr>
          <p:nvPr/>
        </p:nvPicPr>
        <p:blipFill>
          <a:blip r:embed="rId2" cstate="print"/>
          <a:stretch>
            <a:fillRect/>
          </a:stretch>
        </p:blipFill>
        <p:spPr>
          <a:xfrm>
            <a:off x="2873165" y="840734"/>
            <a:ext cx="3063850" cy="4706446"/>
          </a:xfrm>
          <a:prstGeom prst="rect">
            <a:avLst/>
          </a:prstGeom>
        </p:spPr>
      </p:pic>
      <p:sp>
        <p:nvSpPr>
          <p:cNvPr id="4" name="Rectangle 3"/>
          <p:cNvSpPr/>
          <p:nvPr/>
        </p:nvSpPr>
        <p:spPr>
          <a:xfrm>
            <a:off x="347960" y="5595640"/>
            <a:ext cx="8338840" cy="923330"/>
          </a:xfrm>
          <a:prstGeom prst="rect">
            <a:avLst/>
          </a:prstGeom>
        </p:spPr>
        <p:txBody>
          <a:bodyPr wrap="square">
            <a:spAutoFit/>
          </a:bodyPr>
          <a:lstStyle/>
          <a:p>
            <a:r>
              <a:rPr lang="en-US" dirty="0"/>
              <a:t>Here, key point of the while loop is that the loop might not ever run. When the condition is tested and the result is false, the loop body will be skipped and the first statement after the while loop will be executed.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2094"/>
            <a:ext cx="8229600" cy="639762"/>
          </a:xfrm>
        </p:spPr>
        <p:txBody>
          <a:bodyPr>
            <a:normAutofit/>
          </a:bodyPr>
          <a:lstStyle/>
          <a:p>
            <a:pPr algn="ctr"/>
            <a:r>
              <a:rPr lang="en-US" dirty="0" smtClean="0"/>
              <a:t>Code Example : If else  </a:t>
            </a:r>
            <a:endParaRPr lang="en-US" dirty="0"/>
          </a:p>
        </p:txBody>
      </p:sp>
      <p:pic>
        <p:nvPicPr>
          <p:cNvPr id="3" name="Picture 2"/>
          <p:cNvPicPr>
            <a:picLocks noChangeAspect="1"/>
          </p:cNvPicPr>
          <p:nvPr/>
        </p:nvPicPr>
        <p:blipFill>
          <a:blip r:embed="rId2" cstate="print"/>
          <a:stretch>
            <a:fillRect/>
          </a:stretch>
        </p:blipFill>
        <p:spPr>
          <a:xfrm>
            <a:off x="394655" y="1346484"/>
            <a:ext cx="5715000" cy="4650227"/>
          </a:xfrm>
          <a:prstGeom prst="rect">
            <a:avLst/>
          </a:prstGeom>
          <a:ln>
            <a:solidFill>
              <a:schemeClr val="accent1"/>
            </a:solidFill>
          </a:ln>
        </p:spPr>
      </p:pic>
      <p:pic>
        <p:nvPicPr>
          <p:cNvPr id="4" name="Picture 3"/>
          <p:cNvPicPr>
            <a:picLocks noChangeAspect="1"/>
          </p:cNvPicPr>
          <p:nvPr/>
        </p:nvPicPr>
        <p:blipFill>
          <a:blip r:embed="rId3" cstate="print"/>
          <a:stretch>
            <a:fillRect/>
          </a:stretch>
        </p:blipFill>
        <p:spPr>
          <a:xfrm>
            <a:off x="6377025" y="2209800"/>
            <a:ext cx="2133600" cy="2594919"/>
          </a:xfrm>
          <a:prstGeom prst="rect">
            <a:avLst/>
          </a:prstGeom>
          <a:ln>
            <a:solidFill>
              <a:schemeClr val="accent1"/>
            </a:solidFill>
          </a:ln>
        </p:spPr>
      </p:pic>
      <p:sp>
        <p:nvSpPr>
          <p:cNvPr id="5" name="TextBox 4"/>
          <p:cNvSpPr txBox="1"/>
          <p:nvPr/>
        </p:nvSpPr>
        <p:spPr>
          <a:xfrm>
            <a:off x="6248400" y="1752600"/>
            <a:ext cx="1752600" cy="369332"/>
          </a:xfrm>
          <a:prstGeom prst="rect">
            <a:avLst/>
          </a:prstGeom>
          <a:noFill/>
        </p:spPr>
        <p:txBody>
          <a:bodyPr wrap="square" rtlCol="0">
            <a:spAutoFit/>
          </a:bodyPr>
          <a:lstStyle/>
          <a:p>
            <a:r>
              <a:rPr lang="en-US" dirty="0" smtClean="0"/>
              <a:t>Output: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565" y="23775"/>
            <a:ext cx="7467600" cy="715962"/>
          </a:xfrm>
        </p:spPr>
        <p:txBody>
          <a:bodyPr/>
          <a:lstStyle/>
          <a:p>
            <a:pPr algn="ctr"/>
            <a:r>
              <a:rPr lang="en-US" dirty="0" smtClean="0"/>
              <a:t>3. </a:t>
            </a:r>
            <a:r>
              <a:rPr lang="en-US" dirty="0" err="1"/>
              <a:t>D</a:t>
            </a:r>
            <a:r>
              <a:rPr lang="en-US" dirty="0" err="1" smtClean="0"/>
              <a:t>o..While</a:t>
            </a:r>
            <a:r>
              <a:rPr lang="en-US" dirty="0" smtClean="0"/>
              <a:t> Loop</a:t>
            </a:r>
            <a:endParaRPr lang="en-US" dirty="0"/>
          </a:p>
        </p:txBody>
      </p:sp>
      <p:sp>
        <p:nvSpPr>
          <p:cNvPr id="3" name="Content Placeholder 2"/>
          <p:cNvSpPr>
            <a:spLocks noGrp="1"/>
          </p:cNvSpPr>
          <p:nvPr>
            <p:ph sz="quarter" idx="1"/>
          </p:nvPr>
        </p:nvSpPr>
        <p:spPr>
          <a:xfrm>
            <a:off x="238719" y="798090"/>
            <a:ext cx="8477585" cy="2428280"/>
          </a:xfrm>
        </p:spPr>
        <p:txBody>
          <a:bodyPr>
            <a:normAutofit fontScale="92500"/>
          </a:bodyPr>
          <a:lstStyle/>
          <a:p>
            <a:pPr algn="just"/>
            <a:r>
              <a:rPr lang="en-US" dirty="0"/>
              <a:t>Unlike </a:t>
            </a:r>
            <a:r>
              <a:rPr lang="en-US" b="1" dirty="0"/>
              <a:t>for</a:t>
            </a:r>
            <a:r>
              <a:rPr lang="en-US" dirty="0"/>
              <a:t> and </a:t>
            </a:r>
            <a:r>
              <a:rPr lang="en-US" b="1" dirty="0"/>
              <a:t>while</a:t>
            </a:r>
            <a:r>
              <a:rPr lang="en-US" dirty="0"/>
              <a:t> loops, which test the loop condition at the top of the loop, the </a:t>
            </a:r>
            <a:r>
              <a:rPr lang="en-US" b="1" dirty="0"/>
              <a:t>do...while</a:t>
            </a:r>
            <a:r>
              <a:rPr lang="en-US" dirty="0"/>
              <a:t> loop </a:t>
            </a:r>
            <a:r>
              <a:rPr lang="en-US" dirty="0" smtClean="0"/>
              <a:t>in </a:t>
            </a:r>
            <a:r>
              <a:rPr lang="en-US" dirty="0"/>
              <a:t>checks its condition at the bottom of the loop.</a:t>
            </a:r>
          </a:p>
          <a:p>
            <a:pPr algn="just"/>
            <a:r>
              <a:rPr lang="en-US" dirty="0"/>
              <a:t>A </a:t>
            </a:r>
            <a:r>
              <a:rPr lang="en-US" b="1" dirty="0"/>
              <a:t>do...while</a:t>
            </a:r>
            <a:r>
              <a:rPr lang="en-US" dirty="0"/>
              <a:t> loop is similar to a while loop, except that a do...while loop is guaranteed to execute at least one time.</a:t>
            </a:r>
          </a:p>
          <a:p>
            <a:pPr algn="just"/>
            <a:r>
              <a:rPr lang="en-US" b="1" dirty="0"/>
              <a:t>Syntax</a:t>
            </a:r>
            <a:r>
              <a:rPr lang="en-US" b="1" dirty="0" smtClean="0"/>
              <a:t>:</a:t>
            </a:r>
            <a:endParaRPr lang="en-US" b="1" dirty="0"/>
          </a:p>
        </p:txBody>
      </p:sp>
      <p:pic>
        <p:nvPicPr>
          <p:cNvPr id="4" name="Picture 3"/>
          <p:cNvPicPr>
            <a:picLocks noChangeAspect="1"/>
          </p:cNvPicPr>
          <p:nvPr/>
        </p:nvPicPr>
        <p:blipFill>
          <a:blip r:embed="rId2" cstate="print"/>
          <a:stretch>
            <a:fillRect/>
          </a:stretch>
        </p:blipFill>
        <p:spPr>
          <a:xfrm>
            <a:off x="2891210" y="2775270"/>
            <a:ext cx="3451860" cy="1600200"/>
          </a:xfrm>
          <a:prstGeom prst="rect">
            <a:avLst/>
          </a:prstGeom>
          <a:ln>
            <a:solidFill>
              <a:schemeClr val="accent1"/>
            </a:solidFill>
          </a:ln>
        </p:spPr>
      </p:pic>
      <p:sp>
        <p:nvSpPr>
          <p:cNvPr id="5" name="Content Placeholder 2"/>
          <p:cNvSpPr txBox="1">
            <a:spLocks/>
          </p:cNvSpPr>
          <p:nvPr/>
        </p:nvSpPr>
        <p:spPr>
          <a:xfrm>
            <a:off x="281879" y="4391550"/>
            <a:ext cx="8481121" cy="2329900"/>
          </a:xfrm>
          <a:prstGeom prst="rect">
            <a:avLst/>
          </a:prstGeom>
        </p:spPr>
        <p:txBody>
          <a:bodyPr vert="horz">
            <a:normAutofit fontScale="925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r>
              <a:rPr lang="en-US" dirty="0"/>
              <a:t>Notice that the conditional expression appears at the end of the loop, so the statement(s) in the loop execute once before the condition is tested.</a:t>
            </a:r>
          </a:p>
          <a:p>
            <a:pPr algn="just"/>
            <a:r>
              <a:rPr lang="en-US" dirty="0"/>
              <a:t>If the condition is true, the flow of control jumps back up to do, and the statement(s) in the loop execute again. This process repeats until the given condition becomes false.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304800"/>
            <a:ext cx="7467600" cy="639762"/>
          </a:xfrm>
        </p:spPr>
        <p:txBody>
          <a:bodyPr/>
          <a:lstStyle/>
          <a:p>
            <a:pPr algn="ctr"/>
            <a:r>
              <a:rPr lang="en-US" dirty="0"/>
              <a:t>Flow </a:t>
            </a:r>
            <a:r>
              <a:rPr lang="en-US" dirty="0" smtClean="0"/>
              <a:t>Diagram: </a:t>
            </a:r>
            <a:r>
              <a:rPr lang="en-US" dirty="0" err="1" smtClean="0"/>
              <a:t>Do..While</a:t>
            </a:r>
            <a:r>
              <a:rPr lang="en-US" dirty="0" smtClean="0"/>
              <a:t> Loop</a:t>
            </a:r>
            <a:endParaRPr lang="en-US" dirty="0"/>
          </a:p>
        </p:txBody>
      </p:sp>
      <p:pic>
        <p:nvPicPr>
          <p:cNvPr id="2" name="Picture 1"/>
          <p:cNvPicPr>
            <a:picLocks noChangeAspect="1"/>
          </p:cNvPicPr>
          <p:nvPr/>
        </p:nvPicPr>
        <p:blipFill>
          <a:blip r:embed="rId2" cstate="print"/>
          <a:stretch>
            <a:fillRect/>
          </a:stretch>
        </p:blipFill>
        <p:spPr>
          <a:xfrm>
            <a:off x="2560909" y="1104230"/>
            <a:ext cx="4182197" cy="4997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5008" y="148026"/>
            <a:ext cx="6330460" cy="639762"/>
          </a:xfrm>
        </p:spPr>
        <p:txBody>
          <a:bodyPr/>
          <a:lstStyle/>
          <a:p>
            <a:pPr algn="ctr"/>
            <a:r>
              <a:rPr lang="en-US" dirty="0" smtClean="0"/>
              <a:t>Code example: Do...While</a:t>
            </a:r>
            <a:endParaRPr lang="en-US" dirty="0"/>
          </a:p>
        </p:txBody>
      </p:sp>
      <p:pic>
        <p:nvPicPr>
          <p:cNvPr id="3" name="Picture 2"/>
          <p:cNvPicPr>
            <a:picLocks noChangeAspect="1"/>
          </p:cNvPicPr>
          <p:nvPr/>
        </p:nvPicPr>
        <p:blipFill>
          <a:blip r:embed="rId2" cstate="print"/>
          <a:stretch>
            <a:fillRect/>
          </a:stretch>
        </p:blipFill>
        <p:spPr>
          <a:xfrm>
            <a:off x="296875" y="1334170"/>
            <a:ext cx="5638088" cy="4419600"/>
          </a:xfrm>
          <a:prstGeom prst="rect">
            <a:avLst/>
          </a:prstGeom>
          <a:ln>
            <a:solidFill>
              <a:schemeClr val="accent1"/>
            </a:solidFill>
          </a:ln>
        </p:spPr>
      </p:pic>
      <p:pic>
        <p:nvPicPr>
          <p:cNvPr id="4" name="Picture 3"/>
          <p:cNvPicPr>
            <a:picLocks noChangeAspect="1"/>
          </p:cNvPicPr>
          <p:nvPr/>
        </p:nvPicPr>
        <p:blipFill>
          <a:blip r:embed="rId3" cstate="print"/>
          <a:stretch>
            <a:fillRect/>
          </a:stretch>
        </p:blipFill>
        <p:spPr>
          <a:xfrm>
            <a:off x="6148710" y="2012900"/>
            <a:ext cx="2457879" cy="2971800"/>
          </a:xfrm>
          <a:prstGeom prst="rect">
            <a:avLst/>
          </a:prstGeom>
          <a:ln>
            <a:solidFill>
              <a:schemeClr val="accent1"/>
            </a:solidFill>
          </a:ln>
        </p:spPr>
      </p:pic>
      <p:sp>
        <p:nvSpPr>
          <p:cNvPr id="5" name="TextBox 4"/>
          <p:cNvSpPr txBox="1"/>
          <p:nvPr/>
        </p:nvSpPr>
        <p:spPr>
          <a:xfrm>
            <a:off x="6125505" y="1442070"/>
            <a:ext cx="1524000" cy="369332"/>
          </a:xfrm>
          <a:prstGeom prst="rect">
            <a:avLst/>
          </a:prstGeom>
          <a:noFill/>
        </p:spPr>
        <p:txBody>
          <a:bodyPr wrap="square" rtlCol="0">
            <a:spAutoFit/>
          </a:bodyPr>
          <a:lstStyle/>
          <a:p>
            <a:r>
              <a:rPr lang="en-US" dirty="0" smtClean="0"/>
              <a:t>Output: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r>
              <a:rPr lang="en-US" b="1" dirty="0"/>
              <a:t>nested loops in </a:t>
            </a:r>
            <a:r>
              <a:rPr lang="en-US" b="1" dirty="0" smtClean="0"/>
              <a:t>C</a:t>
            </a:r>
            <a:endParaRPr lang="en-US" dirty="0"/>
          </a:p>
        </p:txBody>
      </p:sp>
      <p:sp>
        <p:nvSpPr>
          <p:cNvPr id="3" name="Content Placeholder 2"/>
          <p:cNvSpPr>
            <a:spLocks noGrp="1"/>
          </p:cNvSpPr>
          <p:nvPr>
            <p:ph sz="quarter" idx="1"/>
          </p:nvPr>
        </p:nvSpPr>
        <p:spPr>
          <a:xfrm>
            <a:off x="457200" y="1163240"/>
            <a:ext cx="8077200" cy="817960"/>
          </a:xfrm>
        </p:spPr>
        <p:txBody>
          <a:bodyPr>
            <a:normAutofit fontScale="92500" lnSpcReduction="10000"/>
          </a:bodyPr>
          <a:lstStyle/>
          <a:p>
            <a:r>
              <a:rPr lang="en-US" dirty="0" smtClean="0"/>
              <a:t>It is allow </a:t>
            </a:r>
            <a:r>
              <a:rPr lang="en-US" dirty="0"/>
              <a:t>to use one loop inside another loop</a:t>
            </a:r>
            <a:r>
              <a:rPr lang="en-US" dirty="0" smtClean="0"/>
              <a:t>.</a:t>
            </a:r>
          </a:p>
          <a:p>
            <a:r>
              <a:rPr lang="en-US" dirty="0"/>
              <a:t>The syntax for a </a:t>
            </a:r>
            <a:r>
              <a:rPr lang="en-US" b="1" dirty="0"/>
              <a:t>nested for loop</a:t>
            </a:r>
            <a:r>
              <a:rPr lang="en-US" dirty="0"/>
              <a:t> statement </a:t>
            </a:r>
          </a:p>
        </p:txBody>
      </p:sp>
      <p:pic>
        <p:nvPicPr>
          <p:cNvPr id="4" name="Picture 3"/>
          <p:cNvPicPr>
            <a:picLocks noChangeAspect="1"/>
          </p:cNvPicPr>
          <p:nvPr/>
        </p:nvPicPr>
        <p:blipFill>
          <a:blip r:embed="rId2" cstate="print"/>
          <a:stretch>
            <a:fillRect/>
          </a:stretch>
        </p:blipFill>
        <p:spPr>
          <a:xfrm>
            <a:off x="2286000" y="2057400"/>
            <a:ext cx="4167930" cy="1676400"/>
          </a:xfrm>
          <a:prstGeom prst="rect">
            <a:avLst/>
          </a:prstGeom>
          <a:ln>
            <a:solidFill>
              <a:schemeClr val="accent1"/>
            </a:solidFill>
          </a:ln>
        </p:spPr>
      </p:pic>
      <p:sp>
        <p:nvSpPr>
          <p:cNvPr id="5" name="Content Placeholder 2"/>
          <p:cNvSpPr txBox="1">
            <a:spLocks/>
          </p:cNvSpPr>
          <p:nvPr/>
        </p:nvSpPr>
        <p:spPr>
          <a:xfrm>
            <a:off x="459395" y="3962400"/>
            <a:ext cx="8077200" cy="410620"/>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en-US" dirty="0" smtClean="0"/>
              <a:t>The </a:t>
            </a:r>
            <a:r>
              <a:rPr lang="en-US" dirty="0"/>
              <a:t>syntax for a </a:t>
            </a:r>
            <a:r>
              <a:rPr lang="en-US" b="1" dirty="0"/>
              <a:t>nested while loop</a:t>
            </a:r>
            <a:r>
              <a:rPr lang="en-US" dirty="0"/>
              <a:t> statement </a:t>
            </a:r>
          </a:p>
        </p:txBody>
      </p:sp>
      <p:pic>
        <p:nvPicPr>
          <p:cNvPr id="6" name="Picture 5"/>
          <p:cNvPicPr>
            <a:picLocks noChangeAspect="1"/>
          </p:cNvPicPr>
          <p:nvPr/>
        </p:nvPicPr>
        <p:blipFill>
          <a:blip r:embed="rId3" cstate="print"/>
          <a:stretch>
            <a:fillRect/>
          </a:stretch>
        </p:blipFill>
        <p:spPr>
          <a:xfrm>
            <a:off x="2286000" y="4648199"/>
            <a:ext cx="4114800" cy="1713225"/>
          </a:xfrm>
          <a:prstGeom prst="rect">
            <a:avLst/>
          </a:prstGeom>
          <a:ln>
            <a:solidFill>
              <a:schemeClr val="accent1"/>
            </a:solidFill>
          </a:ln>
        </p:spPr>
      </p:pic>
    </p:spTree>
    <p:extLst>
      <p:ext uri="{BB962C8B-B14F-4D97-AF65-F5344CB8AC3E}">
        <p14:creationId xmlns:p14="http://schemas.microsoft.com/office/powerpoint/2010/main" xmlns="" val="3768730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7467600" cy="609600"/>
          </a:xfrm>
        </p:spPr>
        <p:txBody>
          <a:bodyPr/>
          <a:lstStyle/>
          <a:p>
            <a:pPr algn="ctr"/>
            <a:r>
              <a:rPr lang="en-US" b="1" dirty="0"/>
              <a:t>nested loops in C</a:t>
            </a:r>
            <a:endParaRPr lang="en-US" dirty="0"/>
          </a:p>
        </p:txBody>
      </p:sp>
      <p:sp>
        <p:nvSpPr>
          <p:cNvPr id="3" name="Content Placeholder 2"/>
          <p:cNvSpPr>
            <a:spLocks noGrp="1"/>
          </p:cNvSpPr>
          <p:nvPr>
            <p:ph sz="quarter" idx="1"/>
          </p:nvPr>
        </p:nvSpPr>
        <p:spPr>
          <a:xfrm>
            <a:off x="457200" y="1600200"/>
            <a:ext cx="7467600" cy="533400"/>
          </a:xfrm>
        </p:spPr>
        <p:txBody>
          <a:bodyPr/>
          <a:lstStyle/>
          <a:p>
            <a:r>
              <a:rPr lang="en-US" dirty="0"/>
              <a:t>The syntax for a </a:t>
            </a:r>
            <a:r>
              <a:rPr lang="en-US" b="1" dirty="0"/>
              <a:t>nested do...while loop</a:t>
            </a:r>
            <a:r>
              <a:rPr lang="en-US" dirty="0"/>
              <a:t> </a:t>
            </a:r>
          </a:p>
        </p:txBody>
      </p:sp>
      <p:pic>
        <p:nvPicPr>
          <p:cNvPr id="5" name="Picture 4"/>
          <p:cNvPicPr>
            <a:picLocks noChangeAspect="1"/>
          </p:cNvPicPr>
          <p:nvPr/>
        </p:nvPicPr>
        <p:blipFill>
          <a:blip r:embed="rId2" cstate="print"/>
          <a:stretch>
            <a:fillRect/>
          </a:stretch>
        </p:blipFill>
        <p:spPr>
          <a:xfrm>
            <a:off x="2133600" y="2360274"/>
            <a:ext cx="4191000" cy="1830726"/>
          </a:xfrm>
          <a:prstGeom prst="rect">
            <a:avLst/>
          </a:prstGeom>
          <a:ln>
            <a:solidFill>
              <a:schemeClr val="accent1"/>
            </a:solidFill>
          </a:ln>
        </p:spPr>
      </p:pic>
      <p:sp>
        <p:nvSpPr>
          <p:cNvPr id="6" name="Content Placeholder 2"/>
          <p:cNvSpPr txBox="1">
            <a:spLocks/>
          </p:cNvSpPr>
          <p:nvPr/>
        </p:nvSpPr>
        <p:spPr>
          <a:xfrm>
            <a:off x="459394" y="4415324"/>
            <a:ext cx="8075005" cy="1223476"/>
          </a:xfrm>
          <a:prstGeom prst="rect">
            <a:avLst/>
          </a:prstGeom>
        </p:spPr>
        <p:txBody>
          <a:bodyPr vert="horz">
            <a:normAutofit fontScale="925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algn="just"/>
            <a:r>
              <a:rPr lang="en-US" dirty="0"/>
              <a:t>A final note on loop nesting is that you can put any type of loop inside of any other type of loop. For example, a for loop can be inside a while loop or vice versa. </a:t>
            </a:r>
          </a:p>
        </p:txBody>
      </p:sp>
    </p:spTree>
    <p:extLst>
      <p:ext uri="{BB962C8B-B14F-4D97-AF65-F5344CB8AC3E}">
        <p14:creationId xmlns:p14="http://schemas.microsoft.com/office/powerpoint/2010/main" xmlns="" val="3182487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pPr algn="ctr"/>
            <a:r>
              <a:rPr lang="en-US" dirty="0" smtClean="0"/>
              <a:t>Code Example Nested For Loop</a:t>
            </a:r>
            <a:endParaRPr lang="en-US" dirty="0"/>
          </a:p>
        </p:txBody>
      </p:sp>
      <p:pic>
        <p:nvPicPr>
          <p:cNvPr id="8193" name="Picture 1"/>
          <p:cNvPicPr>
            <a:picLocks noChangeAspect="1" noChangeArrowheads="1"/>
          </p:cNvPicPr>
          <p:nvPr/>
        </p:nvPicPr>
        <p:blipFill>
          <a:blip r:embed="rId2" cstate="print"/>
          <a:srcRect/>
          <a:stretch>
            <a:fillRect/>
          </a:stretch>
        </p:blipFill>
        <p:spPr bwMode="auto">
          <a:xfrm>
            <a:off x="228599" y="1600200"/>
            <a:ext cx="6691539" cy="5024524"/>
          </a:xfrm>
          <a:prstGeom prst="rect">
            <a:avLst/>
          </a:prstGeom>
          <a:noFill/>
          <a:ln w="9525">
            <a:solidFill>
              <a:schemeClr val="accent1"/>
            </a:solidFill>
            <a:miter lim="800000"/>
            <a:headEnd/>
            <a:tailEnd/>
          </a:ln>
        </p:spPr>
      </p:pic>
      <p:pic>
        <p:nvPicPr>
          <p:cNvPr id="8194" name="Picture 2"/>
          <p:cNvPicPr>
            <a:picLocks noChangeAspect="1" noChangeArrowheads="1"/>
          </p:cNvPicPr>
          <p:nvPr/>
        </p:nvPicPr>
        <p:blipFill>
          <a:blip r:embed="rId3" cstate="print"/>
          <a:srcRect/>
          <a:stretch>
            <a:fillRect/>
          </a:stretch>
        </p:blipFill>
        <p:spPr bwMode="auto">
          <a:xfrm>
            <a:off x="6096000" y="1736705"/>
            <a:ext cx="2590800" cy="2606695"/>
          </a:xfrm>
          <a:prstGeom prst="rect">
            <a:avLst/>
          </a:prstGeom>
          <a:noFill/>
          <a:ln w="9525">
            <a:solidFill>
              <a:schemeClr val="accent1"/>
            </a:solidFill>
            <a:miter lim="800000"/>
            <a:headEnd/>
            <a:tailEnd/>
          </a:ln>
        </p:spPr>
      </p:pic>
    </p:spTree>
    <p:extLst>
      <p:ext uri="{BB962C8B-B14F-4D97-AF65-F5344CB8AC3E}">
        <p14:creationId xmlns:p14="http://schemas.microsoft.com/office/powerpoint/2010/main" xmlns="" val="4000462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pPr algn="ctr"/>
            <a:r>
              <a:rPr lang="en-US" dirty="0" smtClean="0"/>
              <a:t>Code Example Nested For Loop</a:t>
            </a:r>
            <a:endParaRPr lang="en-US" dirty="0"/>
          </a:p>
        </p:txBody>
      </p:sp>
      <p:pic>
        <p:nvPicPr>
          <p:cNvPr id="36866" name="Picture 2"/>
          <p:cNvPicPr>
            <a:picLocks noChangeAspect="1" noChangeArrowheads="1"/>
          </p:cNvPicPr>
          <p:nvPr/>
        </p:nvPicPr>
        <p:blipFill>
          <a:blip r:embed="rId2" cstate="print"/>
          <a:srcRect/>
          <a:stretch>
            <a:fillRect/>
          </a:stretch>
        </p:blipFill>
        <p:spPr bwMode="auto">
          <a:xfrm>
            <a:off x="228600" y="1478284"/>
            <a:ext cx="6336792" cy="4800600"/>
          </a:xfrm>
          <a:prstGeom prst="rect">
            <a:avLst/>
          </a:prstGeom>
          <a:noFill/>
          <a:ln w="9525">
            <a:solidFill>
              <a:schemeClr val="accent1"/>
            </a:solidFill>
            <a:miter lim="800000"/>
            <a:headEnd/>
            <a:tailEnd/>
          </a:ln>
        </p:spPr>
      </p:pic>
      <p:pic>
        <p:nvPicPr>
          <p:cNvPr id="36867" name="Picture 3"/>
          <p:cNvPicPr>
            <a:picLocks noChangeAspect="1" noChangeArrowheads="1"/>
          </p:cNvPicPr>
          <p:nvPr/>
        </p:nvPicPr>
        <p:blipFill>
          <a:blip r:embed="rId3" cstate="print"/>
          <a:srcRect/>
          <a:stretch>
            <a:fillRect/>
          </a:stretch>
        </p:blipFill>
        <p:spPr bwMode="auto">
          <a:xfrm>
            <a:off x="6934200" y="1904999"/>
            <a:ext cx="1447800" cy="2352675"/>
          </a:xfrm>
          <a:prstGeom prst="rect">
            <a:avLst/>
          </a:prstGeom>
          <a:noFill/>
          <a:ln w="9525">
            <a:noFill/>
            <a:miter lim="800000"/>
            <a:headEnd/>
            <a:tailEnd/>
          </a:ln>
        </p:spPr>
      </p:pic>
    </p:spTree>
    <p:extLst>
      <p:ext uri="{BB962C8B-B14F-4D97-AF65-F5344CB8AC3E}">
        <p14:creationId xmlns:p14="http://schemas.microsoft.com/office/powerpoint/2010/main" xmlns="" val="4000462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87362"/>
          </a:xfrm>
        </p:spPr>
        <p:txBody>
          <a:bodyPr>
            <a:normAutofit fontScale="90000"/>
          </a:bodyPr>
          <a:lstStyle/>
          <a:p>
            <a:pPr algn="ctr"/>
            <a:r>
              <a:rPr lang="en-US" dirty="0"/>
              <a:t>Loop Control Statements:</a:t>
            </a:r>
          </a:p>
        </p:txBody>
      </p:sp>
      <p:sp>
        <p:nvSpPr>
          <p:cNvPr id="5" name="Rectangle 4"/>
          <p:cNvSpPr/>
          <p:nvPr/>
        </p:nvSpPr>
        <p:spPr>
          <a:xfrm>
            <a:off x="304800" y="1066800"/>
            <a:ext cx="8382000" cy="830997"/>
          </a:xfrm>
          <a:prstGeom prst="rect">
            <a:avLst/>
          </a:prstGeom>
        </p:spPr>
        <p:txBody>
          <a:bodyPr wrap="square">
            <a:spAutoFit/>
          </a:bodyPr>
          <a:lstStyle/>
          <a:p>
            <a:r>
              <a:rPr lang="en-US" sz="2400" dirty="0"/>
              <a:t>Loop control statements change execution from its normal sequence. </a:t>
            </a:r>
            <a:r>
              <a:rPr lang="en-US" sz="2400" dirty="0" smtClean="0"/>
              <a:t>C </a:t>
            </a:r>
            <a:r>
              <a:rPr lang="en-US" sz="2400" dirty="0"/>
              <a:t>supports the following control statements.</a:t>
            </a:r>
          </a:p>
        </p:txBody>
      </p:sp>
      <p:graphicFrame>
        <p:nvGraphicFramePr>
          <p:cNvPr id="6" name="Table 5"/>
          <p:cNvGraphicFramePr>
            <a:graphicFrameLocks noGrp="1"/>
          </p:cNvGraphicFramePr>
          <p:nvPr/>
        </p:nvGraphicFramePr>
        <p:xfrm>
          <a:off x="728004" y="2438400"/>
          <a:ext cx="7543800" cy="2986006"/>
        </p:xfrm>
        <a:graphic>
          <a:graphicData uri="http://schemas.openxmlformats.org/drawingml/2006/table">
            <a:tbl>
              <a:tblPr/>
              <a:tblGrid>
                <a:gridCol w="2114958"/>
                <a:gridCol w="5428842"/>
              </a:tblGrid>
              <a:tr h="582047">
                <a:tc>
                  <a:txBody>
                    <a:bodyPr/>
                    <a:lstStyle/>
                    <a:p>
                      <a:pPr algn="l"/>
                      <a:r>
                        <a:rPr lang="en-US" sz="1600" b="1" dirty="0"/>
                        <a:t>Control Statement</a:t>
                      </a:r>
                    </a:p>
                  </a:txBody>
                  <a:tcPr marL="43051" marR="43051" marT="43051" marB="43051">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EEEEEE"/>
                    </a:solidFill>
                  </a:tcPr>
                </a:tc>
                <a:tc>
                  <a:txBody>
                    <a:bodyPr/>
                    <a:lstStyle/>
                    <a:p>
                      <a:pPr algn="l"/>
                      <a:r>
                        <a:rPr lang="en-US" sz="1600" b="1" dirty="0"/>
                        <a:t>Description</a:t>
                      </a:r>
                    </a:p>
                  </a:txBody>
                  <a:tcPr marL="43051" marR="43051" marT="43051" marB="43051">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EEEEEE"/>
                    </a:solidFill>
                  </a:tcPr>
                </a:tc>
              </a:tr>
              <a:tr h="1325966">
                <a:tc>
                  <a:txBody>
                    <a:bodyPr/>
                    <a:lstStyle/>
                    <a:p>
                      <a:r>
                        <a:rPr lang="en-US" sz="1600" b="1" u="none" strike="noStrike" dirty="0">
                          <a:solidFill>
                            <a:srgbClr val="900B09"/>
                          </a:solidFill>
                        </a:rPr>
                        <a:t>break</a:t>
                      </a:r>
                      <a:r>
                        <a:rPr lang="en-US" sz="1600" u="none" strike="noStrike" dirty="0">
                          <a:solidFill>
                            <a:srgbClr val="900B09"/>
                          </a:solidFill>
                        </a:rPr>
                        <a:t> statement</a:t>
                      </a:r>
                      <a:endParaRPr lang="en-US" sz="1600" dirty="0"/>
                    </a:p>
                  </a:txBody>
                  <a:tcPr marL="43051" marR="43051" marT="43051" marB="43051">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dirty="0"/>
                        <a:t>Terminates the </a:t>
                      </a:r>
                      <a:r>
                        <a:rPr lang="en-US" sz="1600" b="1" dirty="0"/>
                        <a:t>loop</a:t>
                      </a:r>
                      <a:r>
                        <a:rPr lang="en-US" sz="1600" dirty="0"/>
                        <a:t> or </a:t>
                      </a:r>
                      <a:r>
                        <a:rPr lang="en-US" sz="1600" b="1" dirty="0"/>
                        <a:t>switch</a:t>
                      </a:r>
                      <a:r>
                        <a:rPr lang="en-US" sz="1600" dirty="0"/>
                        <a:t> statement and transfers execution to the statement immediately following the loop or switch.</a:t>
                      </a:r>
                    </a:p>
                  </a:txBody>
                  <a:tcPr marL="43051" marR="43051" marT="43051" marB="43051">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r>
              <a:tr h="1077993">
                <a:tc>
                  <a:txBody>
                    <a:bodyPr/>
                    <a:lstStyle/>
                    <a:p>
                      <a:r>
                        <a:rPr lang="en-US" sz="1600" b="1" u="none" strike="noStrike" dirty="0">
                          <a:solidFill>
                            <a:srgbClr val="900B09"/>
                          </a:solidFill>
                        </a:rPr>
                        <a:t>continue</a:t>
                      </a:r>
                      <a:r>
                        <a:rPr lang="en-US" sz="1600" u="none" strike="noStrike" dirty="0">
                          <a:solidFill>
                            <a:srgbClr val="900B09"/>
                          </a:solidFill>
                        </a:rPr>
                        <a:t> statement</a:t>
                      </a:r>
                      <a:endParaRPr lang="en-US" sz="1600" dirty="0"/>
                    </a:p>
                  </a:txBody>
                  <a:tcPr marL="43051" marR="43051" marT="43051" marB="43051">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c>
                  <a:txBody>
                    <a:bodyPr/>
                    <a:lstStyle/>
                    <a:p>
                      <a:r>
                        <a:rPr lang="en-US" sz="1600" dirty="0"/>
                        <a:t>Causes the loop to skip the remainder of its body and immediately retest its condition prior to reiterating.</a:t>
                      </a:r>
                    </a:p>
                  </a:txBody>
                  <a:tcPr marL="43051" marR="43051" marT="43051" marB="43051">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7F7F7"/>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pPr algn="ctr"/>
            <a:r>
              <a:rPr lang="en-US" dirty="0"/>
              <a:t>break </a:t>
            </a:r>
            <a:r>
              <a:rPr lang="en-US" dirty="0" smtClean="0"/>
              <a:t>statement</a:t>
            </a:r>
            <a:endParaRPr lang="en-US" dirty="0"/>
          </a:p>
        </p:txBody>
      </p:sp>
      <p:sp>
        <p:nvSpPr>
          <p:cNvPr id="3" name="Content Placeholder 2"/>
          <p:cNvSpPr>
            <a:spLocks noGrp="1"/>
          </p:cNvSpPr>
          <p:nvPr>
            <p:ph sz="quarter" idx="1"/>
          </p:nvPr>
        </p:nvSpPr>
        <p:spPr>
          <a:xfrm>
            <a:off x="457200" y="1600200"/>
            <a:ext cx="8229600" cy="4873752"/>
          </a:xfrm>
        </p:spPr>
        <p:txBody>
          <a:bodyPr>
            <a:normAutofit lnSpcReduction="10000"/>
          </a:bodyPr>
          <a:lstStyle/>
          <a:p>
            <a:r>
              <a:rPr lang="en-US" dirty="0"/>
              <a:t>The </a:t>
            </a:r>
            <a:r>
              <a:rPr lang="en-US" b="1" dirty="0"/>
              <a:t>break</a:t>
            </a:r>
            <a:r>
              <a:rPr lang="en-US" dirty="0"/>
              <a:t> statement in C programming language has the following two usages:</a:t>
            </a:r>
          </a:p>
          <a:p>
            <a:pPr lvl="1"/>
            <a:r>
              <a:rPr lang="en-US" dirty="0"/>
              <a:t>When the </a:t>
            </a:r>
            <a:r>
              <a:rPr lang="en-US" b="1" dirty="0"/>
              <a:t>break</a:t>
            </a:r>
            <a:r>
              <a:rPr lang="en-US" dirty="0"/>
              <a:t> statement is encountered inside a loop, the loop is immediately terminated and program control resumes at the next statement following the loop.</a:t>
            </a:r>
          </a:p>
          <a:p>
            <a:pPr lvl="1"/>
            <a:r>
              <a:rPr lang="en-US" dirty="0"/>
              <a:t>It can be used to terminate a case in the </a:t>
            </a:r>
            <a:r>
              <a:rPr lang="en-US" b="1" dirty="0"/>
              <a:t>switch</a:t>
            </a:r>
            <a:r>
              <a:rPr lang="en-US" dirty="0"/>
              <a:t> statement </a:t>
            </a:r>
            <a:r>
              <a:rPr lang="en-US" dirty="0" smtClean="0"/>
              <a:t>(we already saw).</a:t>
            </a:r>
          </a:p>
          <a:p>
            <a:r>
              <a:rPr lang="en-US" dirty="0"/>
              <a:t>If you are using nested loops (i.e., one loop inside another loop), the break statement will stop the execution of the innermost loop and start executing the next line of code after the block</a:t>
            </a:r>
            <a:r>
              <a:rPr lang="en-US" dirty="0" smtClean="0"/>
              <a:t>.</a:t>
            </a:r>
          </a:p>
          <a:p>
            <a:r>
              <a:rPr lang="en-US" b="1" dirty="0" smtClean="0"/>
              <a:t>Syntax:</a:t>
            </a:r>
            <a:endParaRPr lang="en-US" b="1" dirty="0"/>
          </a:p>
          <a:p>
            <a:pPr marL="365760" lvl="1" indent="0">
              <a:buNone/>
            </a:pPr>
            <a:r>
              <a:rPr lang="en-US" dirty="0" smtClean="0"/>
              <a:t>		</a:t>
            </a:r>
            <a:r>
              <a:rPr lang="en-US" b="1" dirty="0" smtClean="0">
                <a:solidFill>
                  <a:srgbClr val="FF0000"/>
                </a:solidFill>
              </a:rPr>
              <a:t>break</a:t>
            </a:r>
            <a:r>
              <a:rPr lang="en-US" b="1" dirty="0">
                <a:solidFill>
                  <a:srgbClr val="FF0000"/>
                </a:solidFill>
              </a:rPr>
              <a:t>;</a:t>
            </a:r>
          </a:p>
          <a:p>
            <a:endParaRPr lang="en-US" dirty="0"/>
          </a:p>
        </p:txBody>
      </p:sp>
    </p:spTree>
    <p:extLst>
      <p:ext uri="{BB962C8B-B14F-4D97-AF65-F5344CB8AC3E}">
        <p14:creationId xmlns:p14="http://schemas.microsoft.com/office/powerpoint/2010/main" xmlns="" val="1421791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563562"/>
          </a:xfrm>
        </p:spPr>
        <p:txBody>
          <a:bodyPr/>
          <a:lstStyle/>
          <a:p>
            <a:pPr algn="ctr"/>
            <a:r>
              <a:rPr lang="en-US" dirty="0"/>
              <a:t>Flow Diagram</a:t>
            </a:r>
            <a:r>
              <a:rPr lang="en-US" dirty="0" smtClean="0"/>
              <a:t>: Break Statement</a:t>
            </a:r>
            <a:endParaRPr lang="en-US" dirty="0"/>
          </a:p>
        </p:txBody>
      </p:sp>
      <p:pic>
        <p:nvPicPr>
          <p:cNvPr id="4" name="Picture 3"/>
          <p:cNvPicPr>
            <a:picLocks noChangeAspect="1"/>
          </p:cNvPicPr>
          <p:nvPr/>
        </p:nvPicPr>
        <p:blipFill>
          <a:blip r:embed="rId2" cstate="print"/>
          <a:stretch>
            <a:fillRect/>
          </a:stretch>
        </p:blipFill>
        <p:spPr>
          <a:xfrm>
            <a:off x="2291629" y="883839"/>
            <a:ext cx="4432015" cy="5147357"/>
          </a:xfrm>
          <a:prstGeom prst="rect">
            <a:avLst/>
          </a:prstGeom>
        </p:spPr>
      </p:pic>
    </p:spTree>
    <p:extLst>
      <p:ext uri="{BB962C8B-B14F-4D97-AF65-F5344CB8AC3E}">
        <p14:creationId xmlns:p14="http://schemas.microsoft.com/office/powerpoint/2010/main" xmlns="" val="1987297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4832" y="274638"/>
            <a:ext cx="6553200" cy="792162"/>
          </a:xfrm>
        </p:spPr>
        <p:txBody>
          <a:bodyPr/>
          <a:lstStyle/>
          <a:p>
            <a:pPr algn="ctr"/>
            <a:r>
              <a:rPr lang="en-US" dirty="0"/>
              <a:t>Code </a:t>
            </a:r>
            <a:r>
              <a:rPr lang="en-US" dirty="0" smtClean="0"/>
              <a:t>example: Break</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39889" y="1686956"/>
            <a:ext cx="8484306" cy="4953000"/>
          </a:xfrm>
          <a:prstGeom prst="rect">
            <a:avLst/>
          </a:prstGeom>
          <a:noFill/>
          <a:ln w="9525">
            <a:solidFill>
              <a:schemeClr val="accent1"/>
            </a:solid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6496755" y="1905000"/>
            <a:ext cx="2054577" cy="990600"/>
          </a:xfrm>
          <a:prstGeom prst="rect">
            <a:avLst/>
          </a:prstGeom>
          <a:noFill/>
          <a:ln w="9525">
            <a:solidFill>
              <a:schemeClr val="accent1"/>
            </a:solidFill>
            <a:miter lim="800000"/>
            <a:headEnd/>
            <a:tailEnd/>
          </a:ln>
        </p:spPr>
      </p:pic>
    </p:spTree>
    <p:extLst>
      <p:ext uri="{BB962C8B-B14F-4D97-AF65-F5344CB8AC3E}">
        <p14:creationId xmlns:p14="http://schemas.microsoft.com/office/powerpoint/2010/main" xmlns="" val="2462939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808038"/>
          </a:xfrm>
        </p:spPr>
        <p:txBody>
          <a:bodyPr/>
          <a:lstStyle/>
          <a:p>
            <a:pPr algn="ctr"/>
            <a:r>
              <a:rPr lang="en-US" dirty="0" smtClean="0"/>
              <a:t>Break</a:t>
            </a:r>
            <a:endParaRPr lang="en-US" dirty="0"/>
          </a:p>
        </p:txBody>
      </p:sp>
      <p:pic>
        <p:nvPicPr>
          <p:cNvPr id="1026" name="Picture 2" descr="working of break statement in C programming in for, while and do...while loops"/>
          <p:cNvPicPr>
            <a:picLocks noChangeAspect="1" noChangeArrowheads="1"/>
          </p:cNvPicPr>
          <p:nvPr/>
        </p:nvPicPr>
        <p:blipFill>
          <a:blip r:embed="rId2" cstate="print"/>
          <a:srcRect/>
          <a:stretch>
            <a:fillRect/>
          </a:stretch>
        </p:blipFill>
        <p:spPr bwMode="auto">
          <a:xfrm>
            <a:off x="533400" y="838200"/>
            <a:ext cx="7728331" cy="58674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639762"/>
          </a:xfrm>
        </p:spPr>
        <p:txBody>
          <a:bodyPr/>
          <a:lstStyle/>
          <a:p>
            <a:pPr algn="ctr"/>
            <a:r>
              <a:rPr lang="en-US" dirty="0"/>
              <a:t>continue statement</a:t>
            </a:r>
          </a:p>
        </p:txBody>
      </p:sp>
      <p:sp>
        <p:nvSpPr>
          <p:cNvPr id="3" name="Content Placeholder 2"/>
          <p:cNvSpPr>
            <a:spLocks noGrp="1"/>
          </p:cNvSpPr>
          <p:nvPr>
            <p:ph sz="quarter" idx="1"/>
          </p:nvPr>
        </p:nvSpPr>
        <p:spPr>
          <a:xfrm>
            <a:off x="457200" y="1600200"/>
            <a:ext cx="8153400" cy="4873752"/>
          </a:xfrm>
        </p:spPr>
        <p:txBody>
          <a:bodyPr/>
          <a:lstStyle/>
          <a:p>
            <a:pPr algn="just"/>
            <a:r>
              <a:rPr lang="en-US" dirty="0"/>
              <a:t>The </a:t>
            </a:r>
            <a:r>
              <a:rPr lang="en-US" b="1" dirty="0"/>
              <a:t>continue</a:t>
            </a:r>
            <a:r>
              <a:rPr lang="en-US" dirty="0"/>
              <a:t> statement </a:t>
            </a:r>
            <a:r>
              <a:rPr lang="en-US" dirty="0" smtClean="0"/>
              <a:t>works </a:t>
            </a:r>
            <a:r>
              <a:rPr lang="en-US" dirty="0"/>
              <a:t>somewhat like the </a:t>
            </a:r>
            <a:r>
              <a:rPr lang="en-US" b="1" dirty="0"/>
              <a:t>break</a:t>
            </a:r>
            <a:r>
              <a:rPr lang="en-US" dirty="0"/>
              <a:t> statement. Instead of forcing termination, however, continue forces the next iteration of the loop to take place, skipping any code in between</a:t>
            </a:r>
            <a:r>
              <a:rPr lang="en-US" dirty="0" smtClean="0"/>
              <a:t>.</a:t>
            </a:r>
          </a:p>
          <a:p>
            <a:pPr algn="just"/>
            <a:r>
              <a:rPr lang="en-US" dirty="0"/>
              <a:t>For the </a:t>
            </a:r>
            <a:r>
              <a:rPr lang="en-US" b="1" dirty="0"/>
              <a:t>for</a:t>
            </a:r>
            <a:r>
              <a:rPr lang="en-US" dirty="0"/>
              <a:t> loop, </a:t>
            </a:r>
            <a:r>
              <a:rPr lang="en-US" b="1" dirty="0"/>
              <a:t>continue</a:t>
            </a:r>
            <a:r>
              <a:rPr lang="en-US" dirty="0"/>
              <a:t> statement causes the conditional test and increment portions of the loop to execute. For the </a:t>
            </a:r>
            <a:r>
              <a:rPr lang="en-US" b="1" dirty="0"/>
              <a:t>while</a:t>
            </a:r>
            <a:r>
              <a:rPr lang="en-US" dirty="0"/>
              <a:t> and </a:t>
            </a:r>
            <a:r>
              <a:rPr lang="en-US" b="1" dirty="0"/>
              <a:t>do...while</a:t>
            </a:r>
            <a:r>
              <a:rPr lang="en-US" dirty="0"/>
              <a:t> loops, </a:t>
            </a:r>
            <a:r>
              <a:rPr lang="en-US" b="1" dirty="0"/>
              <a:t>continue</a:t>
            </a:r>
            <a:r>
              <a:rPr lang="en-US" dirty="0"/>
              <a:t> statement causes the program control passes to the conditional tests</a:t>
            </a:r>
            <a:r>
              <a:rPr lang="en-US" dirty="0" smtClean="0"/>
              <a:t>.</a:t>
            </a:r>
          </a:p>
          <a:p>
            <a:pPr algn="just"/>
            <a:r>
              <a:rPr lang="en-US" b="1" dirty="0" smtClean="0"/>
              <a:t>Syntax:</a:t>
            </a:r>
            <a:endParaRPr lang="en-US" b="1" dirty="0"/>
          </a:p>
          <a:p>
            <a:pPr marL="914400" lvl="3" indent="0" algn="just">
              <a:buNone/>
            </a:pPr>
            <a:r>
              <a:rPr lang="en-US" b="1" dirty="0">
                <a:solidFill>
                  <a:srgbClr val="FF0000"/>
                </a:solidFill>
              </a:rPr>
              <a:t>c</a:t>
            </a:r>
            <a:r>
              <a:rPr lang="en-US" b="1" dirty="0" smtClean="0">
                <a:solidFill>
                  <a:srgbClr val="FF0000"/>
                </a:solidFill>
              </a:rPr>
              <a:t>ontinue;</a:t>
            </a:r>
            <a:endParaRPr lang="en-US" b="1" dirty="0">
              <a:solidFill>
                <a:srgbClr val="FF0000"/>
              </a:solidFill>
            </a:endParaRPr>
          </a:p>
        </p:txBody>
      </p:sp>
    </p:spTree>
    <p:extLst>
      <p:ext uri="{BB962C8B-B14F-4D97-AF65-F5344CB8AC3E}">
        <p14:creationId xmlns:p14="http://schemas.microsoft.com/office/powerpoint/2010/main" xmlns="" val="3629212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868362"/>
          </a:xfrm>
        </p:spPr>
        <p:txBody>
          <a:bodyPr/>
          <a:lstStyle/>
          <a:p>
            <a:pPr algn="ctr"/>
            <a:r>
              <a:rPr lang="en-US" dirty="0" smtClean="0"/>
              <a:t>Flow Diagram: continue</a:t>
            </a:r>
            <a:endParaRPr lang="en-US" dirty="0"/>
          </a:p>
        </p:txBody>
      </p:sp>
      <p:pic>
        <p:nvPicPr>
          <p:cNvPr id="4" name="Picture 3"/>
          <p:cNvPicPr>
            <a:picLocks noChangeAspect="1"/>
          </p:cNvPicPr>
          <p:nvPr/>
        </p:nvPicPr>
        <p:blipFill>
          <a:blip r:embed="rId2" cstate="print"/>
          <a:stretch>
            <a:fillRect/>
          </a:stretch>
        </p:blipFill>
        <p:spPr>
          <a:xfrm>
            <a:off x="2438400" y="1524000"/>
            <a:ext cx="4114800" cy="4778943"/>
          </a:xfrm>
          <a:prstGeom prst="rect">
            <a:avLst/>
          </a:prstGeom>
        </p:spPr>
      </p:pic>
    </p:spTree>
    <p:extLst>
      <p:ext uri="{BB962C8B-B14F-4D97-AF65-F5344CB8AC3E}">
        <p14:creationId xmlns:p14="http://schemas.microsoft.com/office/powerpoint/2010/main" xmlns="" val="633781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792162"/>
          </a:xfrm>
        </p:spPr>
        <p:txBody>
          <a:bodyPr>
            <a:normAutofit fontScale="90000"/>
          </a:bodyPr>
          <a:lstStyle/>
          <a:p>
            <a:pPr algn="ctr"/>
            <a:r>
              <a:rPr lang="en-US" dirty="0" smtClean="0"/>
              <a:t>Code Example: Continue</a:t>
            </a:r>
            <a:r>
              <a:rPr lang="en-US" dirty="0"/>
              <a:t/>
            </a:r>
            <a:br>
              <a:rPr lang="en-US" dirty="0"/>
            </a:br>
            <a:endParaRPr lang="en-US" dirty="0"/>
          </a:p>
        </p:txBody>
      </p:sp>
      <p:sp>
        <p:nvSpPr>
          <p:cNvPr id="5" name="Rectangle 4"/>
          <p:cNvSpPr/>
          <p:nvPr/>
        </p:nvSpPr>
        <p:spPr>
          <a:xfrm>
            <a:off x="6400800" y="1371600"/>
            <a:ext cx="1610320" cy="1477328"/>
          </a:xfrm>
          <a:prstGeom prst="rect">
            <a:avLst/>
          </a:prstGeom>
          <a:ln>
            <a:solidFill>
              <a:schemeClr val="accent1"/>
            </a:solidFill>
          </a:ln>
        </p:spPr>
        <p:txBody>
          <a:bodyPr wrap="square">
            <a:spAutoFit/>
          </a:bodyPr>
          <a:lstStyle/>
          <a:p>
            <a:r>
              <a:rPr lang="en-US" dirty="0"/>
              <a:t>value of </a:t>
            </a:r>
            <a:r>
              <a:rPr lang="en-US" dirty="0" err="1"/>
              <a:t>i</a:t>
            </a:r>
            <a:r>
              <a:rPr lang="en-US" dirty="0"/>
              <a:t>: 0</a:t>
            </a:r>
          </a:p>
          <a:p>
            <a:r>
              <a:rPr lang="en-US" dirty="0"/>
              <a:t>value of </a:t>
            </a:r>
            <a:r>
              <a:rPr lang="en-US" dirty="0" err="1"/>
              <a:t>i</a:t>
            </a:r>
            <a:r>
              <a:rPr lang="en-US" dirty="0"/>
              <a:t>: 1</a:t>
            </a:r>
          </a:p>
          <a:p>
            <a:r>
              <a:rPr lang="en-US" dirty="0"/>
              <a:t>value of </a:t>
            </a:r>
            <a:r>
              <a:rPr lang="en-US" dirty="0" err="1"/>
              <a:t>i</a:t>
            </a:r>
            <a:r>
              <a:rPr lang="en-US" dirty="0"/>
              <a:t>: 2</a:t>
            </a:r>
          </a:p>
          <a:p>
            <a:r>
              <a:rPr lang="en-US" dirty="0" smtClean="0"/>
              <a:t>value </a:t>
            </a:r>
            <a:r>
              <a:rPr lang="en-US" dirty="0"/>
              <a:t>of </a:t>
            </a:r>
            <a:r>
              <a:rPr lang="en-US" dirty="0" err="1"/>
              <a:t>i</a:t>
            </a:r>
            <a:r>
              <a:rPr lang="en-US" dirty="0"/>
              <a:t>: 4</a:t>
            </a:r>
          </a:p>
          <a:p>
            <a:r>
              <a:rPr lang="en-US" dirty="0"/>
              <a:t>value of </a:t>
            </a:r>
            <a:r>
              <a:rPr lang="en-US" dirty="0" err="1"/>
              <a:t>i</a:t>
            </a:r>
            <a:r>
              <a:rPr lang="en-US" dirty="0"/>
              <a:t>: </a:t>
            </a:r>
            <a:r>
              <a:rPr lang="en-US" dirty="0" smtClean="0"/>
              <a:t>5</a:t>
            </a:r>
            <a:endParaRPr lang="en-US" dirty="0"/>
          </a:p>
        </p:txBody>
      </p:sp>
      <p:pic>
        <p:nvPicPr>
          <p:cNvPr id="6" name="Picture 5"/>
          <p:cNvPicPr>
            <a:picLocks noChangeAspect="1"/>
          </p:cNvPicPr>
          <p:nvPr/>
        </p:nvPicPr>
        <p:blipFill>
          <a:blip r:embed="rId2" cstate="print"/>
          <a:stretch>
            <a:fillRect/>
          </a:stretch>
        </p:blipFill>
        <p:spPr>
          <a:xfrm>
            <a:off x="304800" y="992892"/>
            <a:ext cx="5562600" cy="5395304"/>
          </a:xfrm>
          <a:prstGeom prst="rect">
            <a:avLst/>
          </a:prstGeom>
          <a:ln>
            <a:solidFill>
              <a:schemeClr val="accent1"/>
            </a:solidFill>
          </a:ln>
        </p:spPr>
      </p:pic>
      <p:sp>
        <p:nvSpPr>
          <p:cNvPr id="7" name="Cloud Callout 6"/>
          <p:cNvSpPr/>
          <p:nvPr/>
        </p:nvSpPr>
        <p:spPr>
          <a:xfrm>
            <a:off x="6645816" y="3657600"/>
            <a:ext cx="2057400" cy="1295400"/>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Notice that </a:t>
            </a:r>
            <a:r>
              <a:rPr lang="en-US" b="1" dirty="0" smtClean="0"/>
              <a:t>3</a:t>
            </a:r>
            <a:r>
              <a:rPr lang="en-US" dirty="0" smtClean="0"/>
              <a:t> is not there!</a:t>
            </a:r>
            <a:endParaRPr lang="en-US" dirty="0"/>
          </a:p>
        </p:txBody>
      </p:sp>
    </p:spTree>
    <p:extLst>
      <p:ext uri="{BB962C8B-B14F-4D97-AF65-F5344CB8AC3E}">
        <p14:creationId xmlns:p14="http://schemas.microsoft.com/office/powerpoint/2010/main" xmlns="" val="1196026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pPr algn="ctr"/>
            <a:r>
              <a:rPr lang="en-US" dirty="0" smtClean="0"/>
              <a:t>Continue</a:t>
            </a:r>
            <a:endParaRPr lang="en-US" dirty="0"/>
          </a:p>
        </p:txBody>
      </p:sp>
      <p:pic>
        <p:nvPicPr>
          <p:cNvPr id="38914" name="Picture 2" descr="Working of continue statement in  C programming language"/>
          <p:cNvPicPr>
            <a:picLocks noChangeAspect="1" noChangeArrowheads="1"/>
          </p:cNvPicPr>
          <p:nvPr/>
        </p:nvPicPr>
        <p:blipFill>
          <a:blip r:embed="rId2" cstate="print"/>
          <a:srcRect/>
          <a:stretch>
            <a:fillRect/>
          </a:stretch>
        </p:blipFill>
        <p:spPr bwMode="auto">
          <a:xfrm>
            <a:off x="533400" y="910210"/>
            <a:ext cx="7904218" cy="5947790"/>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515</TotalTime>
  <Words>1099</Words>
  <Application>Microsoft Office PowerPoint</Application>
  <PresentationFormat>On-screen Show (4:3)</PresentationFormat>
  <Paragraphs>90</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Oriel</vt:lpstr>
      <vt:lpstr>C – Loop</vt:lpstr>
      <vt:lpstr>C – Loop</vt:lpstr>
      <vt:lpstr>Types of Loop</vt:lpstr>
      <vt:lpstr>For Loop</vt:lpstr>
      <vt:lpstr>Flow of control in a for loop</vt:lpstr>
      <vt:lpstr>Flow Diagram : For Loop</vt:lpstr>
      <vt:lpstr>Code Example</vt:lpstr>
      <vt:lpstr>2. While Loop</vt:lpstr>
      <vt:lpstr>Flow Diagram: While Loop</vt:lpstr>
      <vt:lpstr>Code Example : If else  </vt:lpstr>
      <vt:lpstr>3. Do..While Loop</vt:lpstr>
      <vt:lpstr>Flow Diagram: Do..While Loop</vt:lpstr>
      <vt:lpstr>Code example: Do...While</vt:lpstr>
      <vt:lpstr>nested loops in C</vt:lpstr>
      <vt:lpstr>nested loops in C</vt:lpstr>
      <vt:lpstr>Code Example Nested For Loop</vt:lpstr>
      <vt:lpstr>Code Example Nested For Loop</vt:lpstr>
      <vt:lpstr>Loop Control Statements:</vt:lpstr>
      <vt:lpstr>break statement</vt:lpstr>
      <vt:lpstr>Flow Diagram: Break Statement</vt:lpstr>
      <vt:lpstr>Code example: Break</vt:lpstr>
      <vt:lpstr>Break</vt:lpstr>
      <vt:lpstr>continue statement</vt:lpstr>
      <vt:lpstr>Flow Diagram: continue</vt:lpstr>
      <vt:lpstr>Code Example: Continue </vt:lpstr>
      <vt:lpstr>Continue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SRH Noori</dc:creator>
  <cp:lastModifiedBy>Abu Sayeed</cp:lastModifiedBy>
  <cp:revision>478</cp:revision>
  <dcterms:created xsi:type="dcterms:W3CDTF">2014-02-11T09:44:22Z</dcterms:created>
  <dcterms:modified xsi:type="dcterms:W3CDTF">2019-02-25T02:54:22Z</dcterms:modified>
</cp:coreProperties>
</file>