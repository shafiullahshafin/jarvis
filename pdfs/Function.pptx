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309" r:id="rId3"/>
    <p:sldId id="258" r:id="rId4"/>
    <p:sldId id="308" r:id="rId5"/>
    <p:sldId id="310" r:id="rId6"/>
    <p:sldId id="311" r:id="rId7"/>
    <p:sldId id="312" r:id="rId8"/>
    <p:sldId id="31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14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-1378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11C17-18C7-EB46-8D67-82CF0FA6E721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AEB0F-EB7C-4C4B-98A8-31B11A595D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549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9368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483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583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645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516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471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0067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1488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088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468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4133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10E5D-F403-004B-B4BC-A0C54E805E3B}" type="datetimeFigureOut">
              <a:rPr lang="en-US" smtClean="0"/>
              <a:pPr/>
              <a:t>5/7/2018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8D78A-9B44-8844-A730-B4D2F02897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668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19686"/>
            <a:ext cx="6400800" cy="1019114"/>
          </a:xfrm>
        </p:spPr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</a:rPr>
              <a:t>Dr. Md. Al </a:t>
            </a:r>
            <a:r>
              <a:rPr lang="en-US" dirty="0" err="1" smtClean="0">
                <a:solidFill>
                  <a:schemeClr val="tx1"/>
                </a:solidFill>
              </a:rPr>
              <a:t>Mamun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6904" y="425021"/>
            <a:ext cx="64008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Function</a:t>
            </a:r>
            <a:endParaRPr lang="en-US" sz="5400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2186" y="2233269"/>
            <a:ext cx="21822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96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C</a:t>
            </a:r>
            <a:endParaRPr lang="en-US" sz="96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123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Method, Procedure, Function or Sub-routine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406091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solidFill>
                  <a:srgbClr val="000000"/>
                </a:solidFill>
                <a:ea typeface="+mj-ea"/>
                <a:cs typeface="+mj-cs"/>
              </a:rPr>
              <a:t>Function is a group of statements that together perform a task. </a:t>
            </a:r>
            <a:endParaRPr lang="en-US" sz="2600" dirty="0" smtClean="0">
              <a:solidFill>
                <a:srgbClr val="000000"/>
              </a:solidFill>
              <a:ea typeface="+mj-ea"/>
              <a:cs typeface="+mj-cs"/>
            </a:endParaRPr>
          </a:p>
          <a:p>
            <a:endParaRPr lang="en-US" sz="2600" dirty="0" smtClean="0">
              <a:solidFill>
                <a:srgbClr val="000000"/>
              </a:solidFill>
              <a:ea typeface="+mj-ea"/>
              <a:cs typeface="+mj-cs"/>
            </a:endParaRPr>
          </a:p>
          <a:p>
            <a:r>
              <a:rPr lang="en-US" sz="2600" dirty="0">
                <a:solidFill>
                  <a:srgbClr val="000000"/>
                </a:solidFill>
                <a:ea typeface="+mj-ea"/>
                <a:cs typeface="+mj-cs"/>
              </a:rPr>
              <a:t>Every C program has at least </a:t>
            </a:r>
            <a:r>
              <a:rPr lang="en-US" sz="2600" dirty="0" smtClean="0">
                <a:solidFill>
                  <a:srgbClr val="000000"/>
                </a:solidFill>
                <a:ea typeface="+mj-ea"/>
                <a:cs typeface="+mj-cs"/>
              </a:rPr>
              <a:t>one </a:t>
            </a:r>
            <a:r>
              <a:rPr lang="en-US" sz="2600" dirty="0">
                <a:solidFill>
                  <a:srgbClr val="000000"/>
                </a:solidFill>
                <a:ea typeface="+mj-ea"/>
                <a:cs typeface="+mj-cs"/>
              </a:rPr>
              <a:t>function, which is main(), and all the most trivial programs can define additional functions. </a:t>
            </a:r>
            <a:endParaRPr lang="en-US" sz="2600" dirty="0" smtClean="0">
              <a:solidFill>
                <a:srgbClr val="000000"/>
              </a:solidFill>
              <a:ea typeface="+mj-ea"/>
              <a:cs typeface="+mj-cs"/>
            </a:endParaRPr>
          </a:p>
          <a:p>
            <a:endParaRPr lang="en-US" sz="2000" dirty="0" smtClean="0">
              <a:solidFill>
                <a:srgbClr val="000000"/>
              </a:solidFill>
              <a:ea typeface="+mj-ea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You can divide up your code into </a:t>
            </a:r>
            <a:r>
              <a:rPr lang="en-US" sz="2400" dirty="0" smtClean="0">
                <a:solidFill>
                  <a:srgbClr val="000000"/>
                </a:solidFill>
              </a:rPr>
              <a:t>separate functions</a:t>
            </a:r>
            <a:r>
              <a:rPr lang="en-US" sz="2400" dirty="0">
                <a:solidFill>
                  <a:srgbClr val="000000"/>
                </a:solidFill>
              </a:rPr>
              <a:t>. How you divide up your code among different functions is up to you, but logically the division usually is so each function performs a specific task. </a:t>
            </a:r>
            <a:endParaRPr lang="en-US" sz="2400" dirty="0" smtClean="0">
              <a:solidFill>
                <a:srgbClr val="000000"/>
              </a:solidFill>
            </a:endParaRPr>
          </a:p>
          <a:p>
            <a:endParaRPr lang="en-US" sz="2400" dirty="0" smtClean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A function declaration tells the compiler about a function's name, return type, and parameters. A function definition provides the actual body of the function. </a:t>
            </a: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7143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331-A5DD-6E4D-B61B-96E1FDF714EA}" type="slidenum">
              <a:rPr lang="en-US"/>
              <a:pPr/>
              <a:t>3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Defining a function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general form of a function definition in C programming language is as follows: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return_type</a:t>
            </a:r>
            <a:r>
              <a:rPr lang="en-US" dirty="0" smtClean="0"/>
              <a:t> </a:t>
            </a:r>
            <a:r>
              <a:rPr lang="en-US" dirty="0" err="1"/>
              <a:t>function_name</a:t>
            </a:r>
            <a:r>
              <a:rPr lang="en-US" dirty="0"/>
              <a:t>( parameter list 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 smtClean="0"/>
              <a:t>	body </a:t>
            </a:r>
            <a:r>
              <a:rPr lang="en-US" dirty="0"/>
              <a:t>of the function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573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Defining a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9189"/>
            <a:ext cx="8229600" cy="54898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Type: A function may return a value. The </a:t>
            </a:r>
            <a:r>
              <a:rPr lang="en-US" dirty="0" err="1"/>
              <a:t>return_type</a:t>
            </a:r>
            <a:r>
              <a:rPr lang="en-US" dirty="0"/>
              <a:t> is the data type of the value the function returns. Some functions perform the desired operations without returning a value. In this case, the </a:t>
            </a:r>
            <a:r>
              <a:rPr lang="en-US" dirty="0" err="1"/>
              <a:t>return_type</a:t>
            </a:r>
            <a:r>
              <a:rPr lang="en-US" dirty="0"/>
              <a:t> is the keyword void.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/>
              <a:t>Name: This is the actual name of the function. The function name and the parameter list together constitute the function signature.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Parameters</a:t>
            </a:r>
            <a:r>
              <a:rPr lang="en-US" dirty="0"/>
              <a:t>: A parameter is like a placeholder. When a function is invoked, you pass a value to the parameter. This value is referred to as actual parameter or argument. The parameter list refers to the type, order, and number of the parameters of a function. </a:t>
            </a:r>
            <a:r>
              <a:rPr lang="en-US" dirty="0" smtClean="0"/>
              <a:t>Parameters </a:t>
            </a:r>
            <a:r>
              <a:rPr lang="en-US" dirty="0"/>
              <a:t>are optional; that is, a function may contain no parameters.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/>
              <a:t>Body: The function body contains a collection of statements that define what </a:t>
            </a:r>
            <a:r>
              <a:rPr lang="en-US" dirty="0" smtClean="0"/>
              <a:t>the </a:t>
            </a:r>
            <a:r>
              <a:rPr lang="en-US" dirty="0"/>
              <a:t>function does.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7769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/* function returning the max between two numbers */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max(</a:t>
            </a:r>
            <a:r>
              <a:rPr lang="en-US" dirty="0" err="1"/>
              <a:t>int</a:t>
            </a:r>
            <a:r>
              <a:rPr lang="en-US" dirty="0"/>
              <a:t> num1, </a:t>
            </a:r>
            <a:r>
              <a:rPr lang="en-US" dirty="0" err="1"/>
              <a:t>int</a:t>
            </a:r>
            <a:r>
              <a:rPr lang="en-US" dirty="0"/>
              <a:t> num2)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  <a:r>
              <a:rPr lang="en-US" dirty="0"/>
              <a:t>/* local variable declaration */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result; </a:t>
            </a:r>
          </a:p>
          <a:p>
            <a:pPr marL="0" indent="0">
              <a:buNone/>
            </a:pPr>
            <a:r>
              <a:rPr lang="en-US" dirty="0" smtClean="0"/>
              <a:t>	if </a:t>
            </a:r>
            <a:r>
              <a:rPr lang="en-US" dirty="0"/>
              <a:t>(num1 &gt; num2)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result </a:t>
            </a:r>
            <a:r>
              <a:rPr lang="en-US" dirty="0"/>
              <a:t>= num1;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else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result </a:t>
            </a:r>
            <a:r>
              <a:rPr lang="en-US" dirty="0"/>
              <a:t>= num2; </a:t>
            </a:r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result;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2742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58"/>
          </a:xfrm>
        </p:spPr>
        <p:txBody>
          <a:bodyPr/>
          <a:lstStyle/>
          <a:p>
            <a:r>
              <a:rPr lang="en-US" dirty="0"/>
              <a:t>A function declaration tells the compiler about a function name and how to call the function. The actual body of the function can be defined separately. </a:t>
            </a:r>
          </a:p>
          <a:p>
            <a:pPr marL="457200" lvl="1" indent="0"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return_type</a:t>
            </a:r>
            <a:r>
              <a:rPr lang="en-US" dirty="0" smtClean="0"/>
              <a:t> </a:t>
            </a:r>
            <a:r>
              <a:rPr lang="en-US" dirty="0" err="1"/>
              <a:t>function_name</a:t>
            </a:r>
            <a:r>
              <a:rPr lang="en-US" dirty="0"/>
              <a:t>( parameter list );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ro-RO" dirty="0" smtClean="0"/>
              <a:t>      int </a:t>
            </a:r>
            <a:r>
              <a:rPr lang="ro-RO" dirty="0"/>
              <a:t>max(int num1, int num2); </a:t>
            </a:r>
            <a:endParaRPr lang="ro-RO" dirty="0" smtClean="0"/>
          </a:p>
          <a:p>
            <a:pPr marL="457200" lvl="1" indent="0">
              <a:buNone/>
            </a:pPr>
            <a:r>
              <a:rPr lang="fr-FR" dirty="0" smtClean="0"/>
              <a:t>       or</a:t>
            </a:r>
          </a:p>
          <a:p>
            <a:pPr marL="457200" lvl="1" indent="0">
              <a:buNone/>
            </a:pPr>
            <a:r>
              <a:rPr lang="fr-FR" dirty="0"/>
              <a:t> </a:t>
            </a:r>
            <a:r>
              <a:rPr lang="fr-FR" dirty="0" smtClean="0"/>
              <a:t>     </a:t>
            </a:r>
            <a:r>
              <a:rPr lang="fr-FR" dirty="0" err="1" smtClean="0"/>
              <a:t>int</a:t>
            </a:r>
            <a:r>
              <a:rPr lang="fr-FR" dirty="0" smtClean="0"/>
              <a:t> </a:t>
            </a:r>
            <a:r>
              <a:rPr lang="fr-FR" dirty="0"/>
              <a:t>max(</a:t>
            </a:r>
            <a:r>
              <a:rPr lang="fr-FR" dirty="0" err="1"/>
              <a:t>int</a:t>
            </a:r>
            <a:r>
              <a:rPr lang="fr-FR" dirty="0"/>
              <a:t>, </a:t>
            </a:r>
            <a:r>
              <a:rPr lang="fr-FR" dirty="0" err="1"/>
              <a:t>int</a:t>
            </a:r>
            <a:r>
              <a:rPr lang="fr-FR" dirty="0"/>
              <a:t>);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159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Calling a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When a program calls a function, program control is transferred to the called function. A called function performs defined task, and when its return statement is executed or when its function-ending closing brace is reached, it returns program control back to the main program.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call a function, you simply need to pass the required parameters along with function name, and if function returns a value, then you can store returned value.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5348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5943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8627"/>
            <a:ext cx="8229600" cy="58897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</a:t>
            </a:r>
            <a:r>
              <a:rPr lang="en-US" dirty="0"/>
              <a:t>* function declaration *</a:t>
            </a:r>
            <a:r>
              <a:rPr lang="en-US" dirty="0" smtClean="0"/>
              <a:t>/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max(</a:t>
            </a:r>
            <a:r>
              <a:rPr lang="en-US" dirty="0" err="1"/>
              <a:t>int</a:t>
            </a:r>
            <a:r>
              <a:rPr lang="en-US" dirty="0"/>
              <a:t> num1, </a:t>
            </a:r>
            <a:r>
              <a:rPr lang="en-US" dirty="0" err="1"/>
              <a:t>int</a:t>
            </a:r>
            <a:r>
              <a:rPr lang="en-US" dirty="0"/>
              <a:t> num2);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 () { </a:t>
            </a:r>
          </a:p>
          <a:p>
            <a:pPr marL="0" indent="0">
              <a:buNone/>
            </a:pPr>
            <a:r>
              <a:rPr lang="en-US" dirty="0" smtClean="0"/>
              <a:t>	/</a:t>
            </a:r>
            <a:r>
              <a:rPr lang="en-US" dirty="0"/>
              <a:t>* local variable definition */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a = 100;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b = 200;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ret; </a:t>
            </a:r>
          </a:p>
          <a:p>
            <a:pPr marL="0" indent="0">
              <a:buNone/>
            </a:pPr>
            <a:r>
              <a:rPr lang="en-US" dirty="0" smtClean="0"/>
              <a:t>	/</a:t>
            </a:r>
            <a:r>
              <a:rPr lang="en-US" dirty="0"/>
              <a:t>* calling a function to get max value *</a:t>
            </a:r>
            <a:r>
              <a:rPr lang="en-US" dirty="0" smtClean="0"/>
              <a:t>/</a:t>
            </a:r>
          </a:p>
          <a:p>
            <a:pPr marL="0" indent="0">
              <a:buNone/>
            </a:pPr>
            <a:r>
              <a:rPr lang="en-US" dirty="0" smtClean="0"/>
              <a:t>	ret </a:t>
            </a:r>
            <a:r>
              <a:rPr lang="en-US" dirty="0"/>
              <a:t>= max(a, b);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 "Max value is : %d\n", ret 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0;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}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/* function returning the max between two numbers */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max(</a:t>
            </a:r>
            <a:r>
              <a:rPr lang="en-US" dirty="0" err="1"/>
              <a:t>int</a:t>
            </a:r>
            <a:r>
              <a:rPr lang="en-US" dirty="0"/>
              <a:t> num1, </a:t>
            </a:r>
            <a:r>
              <a:rPr lang="en-US" dirty="0" err="1"/>
              <a:t>int</a:t>
            </a:r>
            <a:r>
              <a:rPr lang="en-US" dirty="0"/>
              <a:t> num2)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  <a:r>
              <a:rPr lang="en-US" dirty="0"/>
              <a:t>/* local variable declaration */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result; </a:t>
            </a:r>
          </a:p>
          <a:p>
            <a:pPr marL="0" indent="0">
              <a:buNone/>
            </a:pPr>
            <a:r>
              <a:rPr lang="en-US" dirty="0" smtClean="0"/>
              <a:t>	if </a:t>
            </a:r>
            <a:r>
              <a:rPr lang="en-US" dirty="0"/>
              <a:t>(num1 &gt; num2)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result </a:t>
            </a:r>
            <a:r>
              <a:rPr lang="en-US" dirty="0"/>
              <a:t>= num1;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else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result </a:t>
            </a:r>
            <a:r>
              <a:rPr lang="en-US" dirty="0"/>
              <a:t>= num2;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result;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8661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1943F-98B3-2946-A649-AE8DE65930CA}" type="slidenum">
              <a:rPr lang="en-US"/>
              <a:pPr/>
              <a:t>9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accent2"/>
                </a:solidFill>
              </a:rPr>
              <a:t>Prints a simple greeting.</a:t>
            </a:r>
            <a:endParaRPr lang="en-AU" sz="2000" b="1"/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procedure sayHello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   output </a:t>
            </a:r>
            <a:r>
              <a:rPr lang="ja-JP" altLang="en-US" sz="2000" b="1">
                <a:latin typeface="Arial"/>
              </a:rPr>
              <a:t>“</a:t>
            </a:r>
            <a:r>
              <a:rPr lang="en-US" sz="2000" b="1">
                <a:latin typeface="Arial" charset="0"/>
              </a:rPr>
              <a:t>Hello World!</a:t>
            </a:r>
            <a:r>
              <a:rPr lang="ja-JP" altLang="en-US" sz="2000" b="1">
                <a:latin typeface="Arial"/>
              </a:rPr>
              <a:t>”</a:t>
            </a: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Main Program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   do procedure sayHello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}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hello1.c</a:t>
            </a:r>
          </a:p>
        </p:txBody>
      </p:sp>
    </p:spTree>
    <p:extLst>
      <p:ext uri="{BB962C8B-B14F-4D97-AF65-F5344CB8AC3E}">
        <p14:creationId xmlns:p14="http://schemas.microsoft.com/office/powerpoint/2010/main" xmlns="" val="3314981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3BD4-8A83-7645-A4D1-ECC0B91A3FE8}" type="slidenum">
              <a:rPr lang="en-US"/>
              <a:pPr/>
              <a:t>10</a:t>
            </a:fld>
            <a:endParaRPr lang="en-US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038600" y="2286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  <a:p>
            <a:pPr marL="342900" indent="-342900"/>
            <a:r>
              <a:rPr lang="en-US" sz="2000" b="1" i="1">
                <a:solidFill>
                  <a:schemeClr val="accent2"/>
                </a:solidFill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solidFill>
                  <a:schemeClr val="accent2"/>
                </a:solidFill>
                <a:latin typeface="Courier New" charset="0"/>
              </a:rPr>
              <a:t> * Print a simple greeting.</a:t>
            </a:r>
          </a:p>
          <a:p>
            <a:pPr marL="342900" indent="-342900"/>
            <a:r>
              <a:rPr lang="en-US" sz="2000" b="1" i="1">
                <a:solidFill>
                  <a:schemeClr val="accent2"/>
                </a:solidFill>
                <a:latin typeface="Courier New" charset="0"/>
              </a:rPr>
              <a:t> */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void sayHello ( void 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printf(</a:t>
            </a:r>
            <a:r>
              <a:rPr lang="ja-JP" altLang="en-US" sz="2000" b="1">
                <a:latin typeface="Arial"/>
              </a:rPr>
              <a:t>“</a:t>
            </a:r>
            <a:r>
              <a:rPr lang="en-US" sz="2000" b="1">
                <a:latin typeface="Courier New" charset="0"/>
              </a:rPr>
              <a:t>Hello World!\n</a:t>
            </a:r>
            <a:r>
              <a:rPr lang="ja-JP" altLang="en-US" sz="2000" b="1">
                <a:latin typeface="Arial"/>
              </a:rPr>
              <a:t>”</a:t>
            </a:r>
            <a:r>
              <a:rPr lang="en-US" sz="2000" b="1">
                <a:latin typeface="Courier New" charset="0"/>
              </a:rPr>
              <a:t>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 i="1">
                <a:solidFill>
                  <a:schemeClr val="accent2"/>
                </a:solidFill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solidFill>
                  <a:schemeClr val="accent2"/>
                </a:solidFill>
                <a:latin typeface="Courier New" charset="0"/>
              </a:rPr>
              <a:t> * Call a function which</a:t>
            </a:r>
          </a:p>
          <a:p>
            <a:pPr marL="342900" indent="-342900"/>
            <a:r>
              <a:rPr lang="en-US" sz="2000" b="1" i="1">
                <a:solidFill>
                  <a:schemeClr val="accent2"/>
                </a:solidFill>
                <a:latin typeface="Courier New" charset="0"/>
              </a:rPr>
              <a:t> * prints a simple greeting.</a:t>
            </a:r>
          </a:p>
          <a:p>
            <a:pPr marL="342900" indent="-342900"/>
            <a:r>
              <a:rPr lang="en-US" sz="2000" b="1" i="1">
                <a:solidFill>
                  <a:schemeClr val="accent2"/>
                </a:solidFill>
                <a:latin typeface="Courier New" charset="0"/>
              </a:rPr>
              <a:t> */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sayHello();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AU" sz="1800" b="1">
              <a:latin typeface="Courier New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accent2"/>
                </a:solidFill>
              </a:rPr>
              <a:t>Prints a simple greeting.</a:t>
            </a:r>
            <a:endParaRPr lang="en-AU" sz="2000" b="1"/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procedure sayHello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   output </a:t>
            </a:r>
            <a:r>
              <a:rPr lang="ja-JP" altLang="en-US" sz="2000" b="1">
                <a:latin typeface="Arial"/>
              </a:rPr>
              <a:t>“</a:t>
            </a:r>
            <a:r>
              <a:rPr lang="en-US" sz="2000" b="1">
                <a:latin typeface="Arial" charset="0"/>
              </a:rPr>
              <a:t>Hello World!</a:t>
            </a:r>
            <a:r>
              <a:rPr lang="ja-JP" altLang="en-US" sz="2000" b="1">
                <a:latin typeface="Arial"/>
              </a:rPr>
              <a:t>”</a:t>
            </a: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Main Program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   do procedure sayHello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000" b="1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>
                <a:latin typeface="Arial" charset="0"/>
              </a:rPr>
              <a:t>}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hello1.c</a:t>
            </a:r>
          </a:p>
        </p:txBody>
      </p:sp>
    </p:spTree>
    <p:extLst>
      <p:ext uri="{BB962C8B-B14F-4D97-AF65-F5344CB8AC3E}">
        <p14:creationId xmlns:p14="http://schemas.microsoft.com/office/powerpoint/2010/main" xmlns="" val="3139755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BE67-AC40-3049-AB5E-964C9239539E}" type="slidenum">
              <a:rPr lang="en-US"/>
              <a:pPr/>
              <a:t>11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hello1.c</a:t>
            </a:r>
          </a:p>
        </p:txBody>
      </p:sp>
      <p:grpSp>
        <p:nvGrpSpPr>
          <p:cNvPr id="10243" name="Group 3"/>
          <p:cNvGrpSpPr>
            <a:grpSpLocks/>
          </p:cNvGrpSpPr>
          <p:nvPr/>
        </p:nvGrpSpPr>
        <p:grpSpPr bwMode="auto">
          <a:xfrm>
            <a:off x="228600" y="1981200"/>
            <a:ext cx="8229600" cy="1371600"/>
            <a:chOff x="432" y="1104"/>
            <a:chExt cx="4608" cy="864"/>
          </a:xfrm>
        </p:grpSpPr>
        <p:sp>
          <p:nvSpPr>
            <p:cNvPr id="10244" name="Rectangle 4"/>
            <p:cNvSpPr>
              <a:spLocks noChangeArrowheads="1"/>
            </p:cNvSpPr>
            <p:nvPr/>
          </p:nvSpPr>
          <p:spPr bwMode="auto">
            <a:xfrm>
              <a:off x="2592" y="1104"/>
              <a:ext cx="2448" cy="86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5" name="AutoShape 5"/>
            <p:cNvSpPr>
              <a:spLocks/>
            </p:cNvSpPr>
            <p:nvPr/>
          </p:nvSpPr>
          <p:spPr bwMode="auto">
            <a:xfrm>
              <a:off x="2208" y="1152"/>
              <a:ext cx="384" cy="816"/>
            </a:xfrm>
            <a:prstGeom prst="leftBrace">
              <a:avLst>
                <a:gd name="adj1" fmla="val 17708"/>
                <a:gd name="adj2" fmla="val 50000"/>
              </a:avLst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432" y="1248"/>
              <a:ext cx="1680" cy="5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Function definition</a:t>
              </a:r>
            </a:p>
          </p:txBody>
        </p:sp>
      </p:grpSp>
      <p:grpSp>
        <p:nvGrpSpPr>
          <p:cNvPr id="10247" name="Group 7"/>
          <p:cNvGrpSpPr>
            <a:grpSpLocks/>
          </p:cNvGrpSpPr>
          <p:nvPr/>
        </p:nvGrpSpPr>
        <p:grpSpPr bwMode="auto">
          <a:xfrm>
            <a:off x="838200" y="5410200"/>
            <a:ext cx="5410200" cy="579438"/>
            <a:chOff x="480" y="3360"/>
            <a:chExt cx="3408" cy="458"/>
          </a:xfrm>
        </p:grpSpPr>
        <p:sp>
          <p:nvSpPr>
            <p:cNvPr id="10248" name="Rectangle 8"/>
            <p:cNvSpPr>
              <a:spLocks noChangeArrowheads="1"/>
            </p:cNvSpPr>
            <p:nvPr/>
          </p:nvSpPr>
          <p:spPr bwMode="auto">
            <a:xfrm>
              <a:off x="2688" y="3360"/>
              <a:ext cx="1200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AutoShape 9"/>
            <p:cNvSpPr>
              <a:spLocks/>
            </p:cNvSpPr>
            <p:nvPr/>
          </p:nvSpPr>
          <p:spPr bwMode="auto">
            <a:xfrm>
              <a:off x="2208" y="3408"/>
              <a:ext cx="480" cy="336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Text Box 10"/>
            <p:cNvSpPr txBox="1">
              <a:spLocks noChangeArrowheads="1"/>
            </p:cNvSpPr>
            <p:nvPr/>
          </p:nvSpPr>
          <p:spPr bwMode="auto">
            <a:xfrm>
              <a:off x="480" y="3408"/>
              <a:ext cx="1680" cy="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Function call</a:t>
              </a:r>
            </a:p>
          </p:txBody>
        </p:sp>
      </p:grp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4038600" y="3810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  <a:p>
            <a:pPr marL="342900" indent="-342900"/>
            <a:r>
              <a:rPr lang="en-US" sz="2000" b="1" i="1"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Print a simple greeting.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*/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void sayHello ( void 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printf(</a:t>
            </a:r>
            <a:r>
              <a:rPr lang="ja-JP" altLang="en-US" sz="2000" b="1">
                <a:latin typeface="Arial"/>
              </a:rPr>
              <a:t>“</a:t>
            </a:r>
            <a:r>
              <a:rPr lang="en-US" sz="2000" b="1">
                <a:latin typeface="Courier New" charset="0"/>
              </a:rPr>
              <a:t>Hello World!\n</a:t>
            </a:r>
            <a:r>
              <a:rPr lang="ja-JP" altLang="en-US" sz="2000" b="1">
                <a:latin typeface="Arial"/>
              </a:rPr>
              <a:t>”</a:t>
            </a:r>
            <a:r>
              <a:rPr lang="en-US" sz="2000" b="1">
                <a:latin typeface="Courier New" charset="0"/>
              </a:rPr>
              <a:t>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  <a:p>
            <a:pPr marL="342900" indent="-342900"/>
            <a:r>
              <a:rPr lang="en-US" sz="2000" b="1" i="1"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Call a function which 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prints a simple greeting.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*/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sayHello();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AU" sz="18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89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7FDF-C1E4-AB4B-850A-D9733E358AD7}" type="slidenum">
              <a:rPr lang="en-US"/>
              <a:pPr/>
              <a:t>12</a:t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hello1.c</a:t>
            </a:r>
          </a:p>
        </p:txBody>
      </p:sp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685800" y="990600"/>
            <a:ext cx="5562600" cy="1219200"/>
            <a:chOff x="432" y="624"/>
            <a:chExt cx="3408" cy="768"/>
          </a:xfrm>
        </p:grpSpPr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432" y="624"/>
              <a:ext cx="1680" cy="3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Function name</a:t>
              </a:r>
            </a:p>
          </p:txBody>
        </p:sp>
        <p:sp>
          <p:nvSpPr>
            <p:cNvPr id="11269" name="Line 5"/>
            <p:cNvSpPr>
              <a:spLocks noChangeShapeType="1"/>
            </p:cNvSpPr>
            <p:nvPr/>
          </p:nvSpPr>
          <p:spPr bwMode="auto">
            <a:xfrm>
              <a:off x="2112" y="912"/>
              <a:ext cx="864" cy="288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3024" y="1200"/>
              <a:ext cx="816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71" name="Group 7"/>
          <p:cNvGrpSpPr>
            <a:grpSpLocks/>
          </p:cNvGrpSpPr>
          <p:nvPr/>
        </p:nvGrpSpPr>
        <p:grpSpPr bwMode="auto">
          <a:xfrm>
            <a:off x="762000" y="2209800"/>
            <a:ext cx="7924800" cy="914400"/>
            <a:chOff x="480" y="1392"/>
            <a:chExt cx="4992" cy="528"/>
          </a:xfrm>
        </p:grpSpPr>
        <p:sp>
          <p:nvSpPr>
            <p:cNvPr id="11272" name="AutoShape 8"/>
            <p:cNvSpPr>
              <a:spLocks/>
            </p:cNvSpPr>
            <p:nvPr/>
          </p:nvSpPr>
          <p:spPr bwMode="auto">
            <a:xfrm>
              <a:off x="2208" y="1488"/>
              <a:ext cx="432" cy="336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57150">
              <a:solidFill>
                <a:srgbClr val="8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80008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Text Box 9"/>
            <p:cNvSpPr txBox="1">
              <a:spLocks noChangeArrowheads="1"/>
            </p:cNvSpPr>
            <p:nvPr/>
          </p:nvSpPr>
          <p:spPr bwMode="auto">
            <a:xfrm>
              <a:off x="480" y="1488"/>
              <a:ext cx="1680" cy="306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Function body</a:t>
              </a:r>
            </a:p>
          </p:txBody>
        </p:sp>
        <p:sp>
          <p:nvSpPr>
            <p:cNvPr id="11274" name="Rectangle 10"/>
            <p:cNvSpPr>
              <a:spLocks noChangeArrowheads="1"/>
            </p:cNvSpPr>
            <p:nvPr/>
          </p:nvSpPr>
          <p:spPr bwMode="auto">
            <a:xfrm>
              <a:off x="2640" y="1392"/>
              <a:ext cx="2832" cy="52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4038600" y="2286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  <a:p>
            <a:pPr marL="342900" indent="-342900"/>
            <a:r>
              <a:rPr lang="en-US" sz="2000" b="1" i="1"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Print a simple greeting.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*/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void sayHello ( void 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printf(</a:t>
            </a:r>
            <a:r>
              <a:rPr lang="ja-JP" altLang="en-US" sz="2000" b="1">
                <a:latin typeface="Arial"/>
              </a:rPr>
              <a:t>“</a:t>
            </a:r>
            <a:r>
              <a:rPr lang="en-US" sz="2000" b="1">
                <a:latin typeface="Courier New" charset="0"/>
              </a:rPr>
              <a:t>Hello World!\n</a:t>
            </a:r>
            <a:r>
              <a:rPr lang="ja-JP" altLang="en-US" sz="2000" b="1">
                <a:latin typeface="Arial"/>
              </a:rPr>
              <a:t>”</a:t>
            </a:r>
            <a:r>
              <a:rPr lang="en-US" sz="2000" b="1">
                <a:latin typeface="Courier New" charset="0"/>
              </a:rPr>
              <a:t>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 i="1"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Call a function which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prints a simple greeting.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*/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sayHello();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AU" sz="18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339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BCE6-DC23-0C44-8520-48E89228E7B7}" type="slidenum">
              <a:rPr lang="en-US"/>
              <a:pPr/>
              <a:t>13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hello1.c</a:t>
            </a:r>
          </a:p>
        </p:txBody>
      </p:sp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685800" y="990600"/>
            <a:ext cx="4191000" cy="1219200"/>
            <a:chOff x="432" y="624"/>
            <a:chExt cx="2640" cy="768"/>
          </a:xfrm>
        </p:grpSpPr>
        <p:sp>
          <p:nvSpPr>
            <p:cNvPr id="12292" name="Rectangle 4"/>
            <p:cNvSpPr>
              <a:spLocks noChangeArrowheads="1"/>
            </p:cNvSpPr>
            <p:nvPr/>
          </p:nvSpPr>
          <p:spPr bwMode="auto">
            <a:xfrm>
              <a:off x="2592" y="1152"/>
              <a:ext cx="480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3" name="Text Box 5"/>
            <p:cNvSpPr txBox="1">
              <a:spLocks noChangeArrowheads="1"/>
            </p:cNvSpPr>
            <p:nvPr/>
          </p:nvSpPr>
          <p:spPr bwMode="auto">
            <a:xfrm>
              <a:off x="432" y="624"/>
              <a:ext cx="1680" cy="333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Return type</a:t>
              </a:r>
            </a:p>
          </p:txBody>
        </p:sp>
        <p:sp>
          <p:nvSpPr>
            <p:cNvPr id="12294" name="Line 6"/>
            <p:cNvSpPr>
              <a:spLocks noChangeShapeType="1"/>
            </p:cNvSpPr>
            <p:nvPr/>
          </p:nvSpPr>
          <p:spPr bwMode="auto">
            <a:xfrm>
              <a:off x="2112" y="912"/>
              <a:ext cx="480" cy="336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295" name="Group 7"/>
          <p:cNvGrpSpPr>
            <a:grpSpLocks/>
          </p:cNvGrpSpPr>
          <p:nvPr/>
        </p:nvGrpSpPr>
        <p:grpSpPr bwMode="auto">
          <a:xfrm>
            <a:off x="762000" y="1828800"/>
            <a:ext cx="6781800" cy="2632075"/>
            <a:chOff x="480" y="1152"/>
            <a:chExt cx="4128" cy="1658"/>
          </a:xfrm>
        </p:grpSpPr>
        <p:sp>
          <p:nvSpPr>
            <p:cNvPr id="12296" name="Rectangle 8"/>
            <p:cNvSpPr>
              <a:spLocks noChangeArrowheads="1"/>
            </p:cNvSpPr>
            <p:nvPr/>
          </p:nvSpPr>
          <p:spPr bwMode="auto">
            <a:xfrm>
              <a:off x="3840" y="1152"/>
              <a:ext cx="768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7" name="Text Box 9"/>
            <p:cNvSpPr txBox="1">
              <a:spLocks noChangeArrowheads="1"/>
            </p:cNvSpPr>
            <p:nvPr/>
          </p:nvSpPr>
          <p:spPr bwMode="auto">
            <a:xfrm>
              <a:off x="480" y="2208"/>
              <a:ext cx="1680" cy="602"/>
            </a:xfrm>
            <a:prstGeom prst="rect">
              <a:avLst/>
            </a:prstGeom>
            <a:solidFill>
              <a:srgbClr val="990000"/>
            </a:solidFill>
            <a:ln w="9525">
              <a:solidFill>
                <a:srgbClr val="99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Formal Parameter List</a:t>
              </a:r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 flipV="1">
              <a:off x="2160" y="1440"/>
              <a:ext cx="1680" cy="960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4038600" y="2286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  <a:p>
            <a:pPr marL="342900" indent="-342900"/>
            <a:r>
              <a:rPr lang="en-US" sz="2000" b="1" i="1"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Print a simple greeting.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*/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void sayHello ( void 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printf(</a:t>
            </a:r>
            <a:r>
              <a:rPr lang="ja-JP" altLang="en-US" sz="2000" b="1">
                <a:latin typeface="Arial"/>
              </a:rPr>
              <a:t>“</a:t>
            </a:r>
            <a:r>
              <a:rPr lang="en-US" sz="2000" b="1">
                <a:latin typeface="Courier New" charset="0"/>
              </a:rPr>
              <a:t>Hello World!\n</a:t>
            </a:r>
            <a:r>
              <a:rPr lang="ja-JP" altLang="en-US" sz="2000" b="1">
                <a:latin typeface="Arial"/>
              </a:rPr>
              <a:t>”</a:t>
            </a:r>
            <a:r>
              <a:rPr lang="en-US" sz="2000" b="1">
                <a:latin typeface="Courier New" charset="0"/>
              </a:rPr>
              <a:t>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 i="1">
                <a:latin typeface="Courier New" charset="0"/>
              </a:rPr>
              <a:t>/*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Call a function which 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 prints a simple greeting.</a:t>
            </a:r>
          </a:p>
          <a:p>
            <a:pPr marL="342900" indent="-342900"/>
            <a:r>
              <a:rPr lang="en-US" sz="2000" b="1" i="1">
                <a:latin typeface="Courier New" charset="0"/>
              </a:rPr>
              <a:t> */</a:t>
            </a:r>
          </a:p>
          <a:p>
            <a:pPr marL="342900" indent="-342900"/>
            <a:endParaRPr lang="en-US" sz="800" b="1">
              <a:latin typeface="Courier New" charset="0"/>
            </a:endParaRPr>
          </a:p>
          <a:p>
            <a:pPr marL="342900" indent="-342900"/>
            <a:r>
              <a:rPr lang="en-US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{  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sayHello();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US" sz="2000" b="1">
                <a:latin typeface="Courier New" charset="0"/>
              </a:rPr>
              <a:t>}</a:t>
            </a:r>
          </a:p>
          <a:p>
            <a:pPr marL="342900" indent="-342900"/>
            <a:endParaRPr lang="en-AU" sz="18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746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C5E8D-1306-5945-9453-35F82A63949F}" type="slidenum">
              <a:rPr lang="en-US"/>
              <a:pPr/>
              <a:t>14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Parameters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Information passed to a function</a:t>
            </a:r>
          </a:p>
          <a:p>
            <a:r>
              <a:rPr lang="ja-JP" altLang="en-US">
                <a:solidFill>
                  <a:schemeClr val="accent2"/>
                </a:solidFill>
                <a:latin typeface="Arial"/>
              </a:rPr>
              <a:t>“</a:t>
            </a:r>
            <a:r>
              <a:rPr lang="en-US">
                <a:solidFill>
                  <a:schemeClr val="accent2"/>
                </a:solidFill>
              </a:rPr>
              <a:t>Formal</a:t>
            </a:r>
            <a:r>
              <a:rPr lang="ja-JP" altLang="en-US">
                <a:solidFill>
                  <a:schemeClr val="accent2"/>
                </a:solidFill>
                <a:latin typeface="Arial"/>
              </a:rPr>
              <a:t>”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parameters are local variables declared in the function declaration.</a:t>
            </a:r>
          </a:p>
          <a:p>
            <a:r>
              <a:rPr lang="ja-JP" altLang="en-US">
                <a:solidFill>
                  <a:schemeClr val="accent2"/>
                </a:solidFill>
                <a:latin typeface="Arial"/>
              </a:rPr>
              <a:t>“</a:t>
            </a:r>
            <a:r>
              <a:rPr lang="en-US">
                <a:solidFill>
                  <a:schemeClr val="accent2"/>
                </a:solidFill>
              </a:rPr>
              <a:t>Actual</a:t>
            </a:r>
            <a:r>
              <a:rPr lang="ja-JP" altLang="en-US">
                <a:solidFill>
                  <a:schemeClr val="accent2"/>
                </a:solidFill>
                <a:latin typeface="Arial"/>
              </a:rPr>
              <a:t>”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parameters are values passed to the function when it is called.</a:t>
            </a:r>
          </a:p>
        </p:txBody>
      </p:sp>
    </p:spTree>
    <p:extLst>
      <p:ext uri="{BB962C8B-B14F-4D97-AF65-F5344CB8AC3E}">
        <p14:creationId xmlns:p14="http://schemas.microsoft.com/office/powerpoint/2010/main" xmlns="" val="389480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436-C3CC-6045-9DEA-ED1B04684CEE}" type="slidenum">
              <a:rPr lang="en-US"/>
              <a:pPr/>
              <a:t>15</a:t>
            </a:fld>
            <a:endParaRPr lang="en-US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438400" y="1371600"/>
            <a:ext cx="2514600" cy="381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04800" y="762000"/>
            <a:ext cx="5867400" cy="571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i="1" dirty="0">
                <a:latin typeface="Courier New" charset="0"/>
              </a:rPr>
              <a:t>/* Print two numbers in order. */</a:t>
            </a:r>
            <a:endParaRPr lang="en-AU" sz="2000" b="1" dirty="0">
              <a:latin typeface="Courier New" charset="0"/>
            </a:endParaRP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>
                <a:latin typeface="Courier New" charset="0"/>
              </a:rPr>
              <a:t>void </a:t>
            </a:r>
            <a:r>
              <a:rPr lang="en-AU" sz="2000" b="1" dirty="0" err="1">
                <a:latin typeface="Courier New" charset="0"/>
              </a:rPr>
              <a:t>badSort</a:t>
            </a:r>
            <a:r>
              <a:rPr lang="en-AU" sz="2000" b="1" dirty="0">
                <a:latin typeface="Courier New" charset="0"/>
              </a:rPr>
              <a:t> ( 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a, 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b 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temp;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>
                <a:latin typeface="Courier New" charset="0"/>
              </a:rPr>
              <a:t>  if ( a &gt; b 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  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("%d %d\n", b, a);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else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  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("%d %d\n", a, b);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  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}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endParaRPr lang="en-AU" sz="1800" b="1" dirty="0">
              <a:latin typeface="Courier New" charset="0"/>
            </a:endParaRP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badsort.c</a:t>
            </a:r>
          </a:p>
        </p:txBody>
      </p:sp>
      <p:sp>
        <p:nvSpPr>
          <p:cNvPr id="14341" name="AutoShape 5"/>
          <p:cNvSpPr>
            <a:spLocks noChangeArrowheads="1"/>
          </p:cNvSpPr>
          <p:nvPr/>
        </p:nvSpPr>
        <p:spPr bwMode="auto">
          <a:xfrm>
            <a:off x="4953000" y="3048000"/>
            <a:ext cx="4191000" cy="1295400"/>
          </a:xfrm>
          <a:prstGeom prst="wedgeRectCallout">
            <a:avLst>
              <a:gd name="adj1" fmla="val -84394"/>
              <a:gd name="adj2" fmla="val -15098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 sz="3200" b="1" i="1" dirty="0">
                <a:solidFill>
                  <a:srgbClr val="FFFF66"/>
                </a:solidFill>
                <a:latin typeface="Arial" charset="0"/>
              </a:rPr>
              <a:t>Parameters</a:t>
            </a:r>
            <a:r>
              <a:rPr lang="en-AU" sz="3200" b="1" i="1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AU" sz="3200" b="1" i="1" dirty="0" smtClean="0">
                <a:solidFill>
                  <a:schemeClr val="bg1"/>
                </a:solidFill>
                <a:latin typeface="Arial" charset="0"/>
              </a:rPr>
              <a:t>( </a:t>
            </a:r>
            <a:r>
              <a:rPr lang="en-AU" sz="3200" b="1" i="1" dirty="0">
                <a:solidFill>
                  <a:schemeClr val="bg1"/>
                </a:solidFill>
                <a:latin typeface="Arial" charset="0"/>
              </a:rPr>
              <a:t>Arguments)</a:t>
            </a:r>
          </a:p>
        </p:txBody>
      </p:sp>
    </p:spTree>
    <p:extLst>
      <p:ext uri="{BB962C8B-B14F-4D97-AF65-F5344CB8AC3E}">
        <p14:creationId xmlns:p14="http://schemas.microsoft.com/office/powerpoint/2010/main" xmlns="" val="2209240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22AD-B2CC-B249-B5CF-EDE3AE735E89}" type="slidenum">
              <a:rPr lang="en-US"/>
              <a:pPr/>
              <a:t>16</a:t>
            </a:fld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badsort.c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28600" y="762000"/>
            <a:ext cx="5638800" cy="579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i="1">
                <a:solidFill>
                  <a:schemeClr val="accent2"/>
                </a:solidFill>
                <a:latin typeface="Courier New" charset="0"/>
              </a:rPr>
              <a:t>/* Print two numbers in order. */</a:t>
            </a:r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void badSort ( int </a:t>
            </a:r>
            <a:r>
              <a:rPr lang="en-AU" sz="2000" b="1">
                <a:solidFill>
                  <a:srgbClr val="FF3300"/>
                </a:solidFill>
                <a:latin typeface="Courier New" charset="0"/>
              </a:rPr>
              <a:t>a</a:t>
            </a:r>
            <a:r>
              <a:rPr lang="en-AU" sz="2000" b="1">
                <a:latin typeface="Courier New" charset="0"/>
              </a:rPr>
              <a:t>, int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b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temp;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if ( a &gt; b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  printf("%d %d\n",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b</a:t>
            </a:r>
            <a:r>
              <a:rPr lang="en-AU" sz="2000" b="1">
                <a:latin typeface="Courier New" charset="0"/>
              </a:rPr>
              <a:t>, </a:t>
            </a:r>
            <a:r>
              <a:rPr lang="en-AU" sz="2000" b="1">
                <a:solidFill>
                  <a:srgbClr val="FF3300"/>
                </a:solidFill>
                <a:latin typeface="Courier New" charset="0"/>
              </a:rPr>
              <a:t>a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  printf("%d %d\n", </a:t>
            </a:r>
            <a:r>
              <a:rPr lang="en-AU" sz="2000" b="1">
                <a:solidFill>
                  <a:srgbClr val="FF3300"/>
                </a:solidFill>
                <a:latin typeface="Courier New" charset="0"/>
              </a:rPr>
              <a:t>a</a:t>
            </a:r>
            <a:r>
              <a:rPr lang="en-AU" sz="2000" b="1">
                <a:latin typeface="Courier New" charset="0"/>
              </a:rPr>
              <a:t>,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b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solidFill>
                <a:schemeClr val="folHlink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0219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CB70D-B1C7-514E-811B-1964E50D0FF4}" type="slidenum">
              <a:rPr lang="en-US"/>
              <a:pPr/>
              <a:t>17</a:t>
            </a:fld>
            <a:endParaRPr lang="en-US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5257800" y="3886200"/>
            <a:ext cx="36576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x = 3, y = 5;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badSort ( </a:t>
            </a:r>
            <a:r>
              <a:rPr lang="en-AU" sz="2000" b="1">
                <a:solidFill>
                  <a:srgbClr val="008000"/>
                </a:solidFill>
                <a:latin typeface="Courier New" charset="0"/>
              </a:rPr>
              <a:t>10</a:t>
            </a:r>
            <a:r>
              <a:rPr lang="en-AU" sz="2000" b="1">
                <a:latin typeface="Courier New" charset="0"/>
              </a:rPr>
              <a:t>, </a:t>
            </a:r>
            <a:r>
              <a:rPr lang="en-AU" sz="2000" b="1">
                <a:solidFill>
                  <a:srgbClr val="008000"/>
                </a:solidFill>
                <a:latin typeface="Courier New" charset="0"/>
              </a:rPr>
              <a:t>9</a:t>
            </a:r>
            <a:r>
              <a:rPr lang="en-AU" sz="2000" b="1">
                <a:latin typeface="Courier New" charset="0"/>
              </a:rPr>
              <a:t> 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badSort ( </a:t>
            </a:r>
            <a:r>
              <a:rPr lang="en-AU" sz="2000" b="1">
                <a:solidFill>
                  <a:srgbClr val="008000"/>
                </a:solidFill>
                <a:latin typeface="Courier New" charset="0"/>
              </a:rPr>
              <a:t>y</a:t>
            </a:r>
            <a:r>
              <a:rPr lang="en-AU" sz="2000" b="1">
                <a:latin typeface="Courier New" charset="0"/>
              </a:rPr>
              <a:t>, </a:t>
            </a:r>
            <a:r>
              <a:rPr lang="en-AU" sz="2000" b="1">
                <a:solidFill>
                  <a:srgbClr val="008000"/>
                </a:solidFill>
                <a:latin typeface="Courier New" charset="0"/>
              </a:rPr>
              <a:t>x+4</a:t>
            </a:r>
            <a:r>
              <a:rPr lang="en-AU" sz="2000" b="1">
                <a:latin typeface="Courier New" charset="0"/>
              </a:rPr>
              <a:t> 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1800" b="1">
              <a:solidFill>
                <a:schemeClr val="folHlink"/>
              </a:solidFill>
              <a:latin typeface="Courier New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badsort.c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838200"/>
            <a:ext cx="4876800" cy="571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i="1">
                <a:solidFill>
                  <a:schemeClr val="accent2"/>
                </a:solidFill>
                <a:latin typeface="Courier New" charset="0"/>
              </a:rPr>
              <a:t>/* Print two numbers in order. */</a:t>
            </a:r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void badSort ( int </a:t>
            </a:r>
            <a:r>
              <a:rPr lang="en-AU" sz="2000" b="1">
                <a:solidFill>
                  <a:srgbClr val="FF3300"/>
                </a:solidFill>
                <a:latin typeface="Courier New" charset="0"/>
              </a:rPr>
              <a:t>a</a:t>
            </a:r>
            <a:r>
              <a:rPr lang="en-AU" sz="2000" b="1">
                <a:latin typeface="Courier New" charset="0"/>
              </a:rPr>
              <a:t>, int </a:t>
            </a:r>
            <a:r>
              <a:rPr lang="en-AU" sz="2000" b="1">
                <a:solidFill>
                  <a:srgbClr val="FF3300"/>
                </a:solidFill>
                <a:latin typeface="Courier New" charset="0"/>
              </a:rPr>
              <a:t>b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temp;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if ( a &gt; b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  printf("%d %d\n", b, a);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  printf("%d %d\n", a, b);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solidFill>
                <a:schemeClr val="folHlink"/>
              </a:solidFill>
              <a:latin typeface="Courier New" charset="0"/>
            </a:endParaRPr>
          </a:p>
        </p:txBody>
      </p:sp>
      <p:grpSp>
        <p:nvGrpSpPr>
          <p:cNvPr id="16389" name="Group 5"/>
          <p:cNvGrpSpPr>
            <a:grpSpLocks/>
          </p:cNvGrpSpPr>
          <p:nvPr/>
        </p:nvGrpSpPr>
        <p:grpSpPr bwMode="auto">
          <a:xfrm>
            <a:off x="3429000" y="0"/>
            <a:ext cx="3733800" cy="1828800"/>
            <a:chOff x="1968" y="240"/>
            <a:chExt cx="2352" cy="1152"/>
          </a:xfrm>
        </p:grpSpPr>
        <p:sp>
          <p:nvSpPr>
            <p:cNvPr id="16390" name="Text Box 6"/>
            <p:cNvSpPr txBox="1">
              <a:spLocks noChangeArrowheads="1"/>
            </p:cNvSpPr>
            <p:nvPr/>
          </p:nvSpPr>
          <p:spPr bwMode="auto">
            <a:xfrm>
              <a:off x="2640" y="240"/>
              <a:ext cx="1680" cy="5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Formal parameters</a:t>
              </a:r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 flipH="1">
              <a:off x="1968" y="816"/>
              <a:ext cx="1104" cy="5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2" name="Line 8"/>
            <p:cNvSpPr>
              <a:spLocks noChangeShapeType="1"/>
            </p:cNvSpPr>
            <p:nvPr/>
          </p:nvSpPr>
          <p:spPr bwMode="auto">
            <a:xfrm flipH="1">
              <a:off x="2544" y="816"/>
              <a:ext cx="960" cy="5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393" name="Group 9"/>
          <p:cNvGrpSpPr>
            <a:grpSpLocks/>
          </p:cNvGrpSpPr>
          <p:nvPr/>
        </p:nvGrpSpPr>
        <p:grpSpPr bwMode="auto">
          <a:xfrm>
            <a:off x="6172200" y="2362200"/>
            <a:ext cx="2667000" cy="2819400"/>
            <a:chOff x="3744" y="1488"/>
            <a:chExt cx="1680" cy="1776"/>
          </a:xfrm>
        </p:grpSpPr>
        <p:sp>
          <p:nvSpPr>
            <p:cNvPr id="16394" name="Text Box 10"/>
            <p:cNvSpPr txBox="1">
              <a:spLocks noChangeArrowheads="1"/>
            </p:cNvSpPr>
            <p:nvPr/>
          </p:nvSpPr>
          <p:spPr bwMode="auto">
            <a:xfrm>
              <a:off x="3744" y="1488"/>
              <a:ext cx="1680" cy="602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800" b="1" i="1">
                  <a:solidFill>
                    <a:schemeClr val="bg1"/>
                  </a:solidFill>
                  <a:latin typeface="Arial" charset="0"/>
                </a:rPr>
                <a:t>Actual parameters</a:t>
              </a:r>
            </a:p>
          </p:txBody>
        </p: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>
              <a:off x="4560" y="2064"/>
              <a:ext cx="0" cy="120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848" y="2064"/>
              <a:ext cx="0" cy="120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54439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8016F-14DB-2240-89A6-2BE418B34D72}" type="slidenum">
              <a:rPr lang="en-US"/>
              <a:pPr/>
              <a:t>18</a:t>
            </a:fld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Parameters (cont.)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Parameters are passed by </a:t>
            </a:r>
            <a:r>
              <a:rPr lang="en-US">
                <a:solidFill>
                  <a:schemeClr val="accent2"/>
                </a:solidFill>
              </a:rPr>
              <a:t>copying</a:t>
            </a:r>
            <a:r>
              <a:rPr lang="en-US"/>
              <a:t> the value of the actual parameters to the formal parameters.</a:t>
            </a:r>
          </a:p>
          <a:p>
            <a:r>
              <a:rPr lang="en-US"/>
              <a:t>Changes to formal parameters do not affect the value of the actual parameters.</a:t>
            </a:r>
          </a:p>
        </p:txBody>
      </p:sp>
    </p:spTree>
    <p:extLst>
      <p:ext uri="{BB962C8B-B14F-4D97-AF65-F5344CB8AC3E}">
        <p14:creationId xmlns:p14="http://schemas.microsoft.com/office/powerpoint/2010/main" xmlns="" val="149654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64B26-C17F-7E4A-AA4E-817304F21793}" type="slidenum">
              <a:rPr lang="en-US"/>
              <a:pPr/>
              <a:t>19</a:t>
            </a:fld>
            <a:endParaRPr lang="en-US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4876800" y="762000"/>
            <a:ext cx="4038600" cy="441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a = 3, b = 5;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printf("%d %d\n",a,b);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badSwap ( a, b 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printf("%d %d\n",a,b);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505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badswap.c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762000"/>
            <a:ext cx="4876800" cy="441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endParaRPr lang="en-US" sz="1800" b="1">
              <a:latin typeface="Courier New" charset="0"/>
            </a:endParaRPr>
          </a:p>
          <a:p>
            <a:pPr marL="342900" indent="-342900"/>
            <a:r>
              <a:rPr lang="en-US" sz="2000" i="1">
                <a:solidFill>
                  <a:schemeClr val="accent2"/>
                </a:solidFill>
                <a:latin typeface="Courier New" charset="0"/>
              </a:rPr>
              <a:t>/* Swap the values of two variables. */</a:t>
            </a:r>
            <a:endParaRPr lang="en-US" sz="2000">
              <a:latin typeface="Courier New" charset="0"/>
            </a:endParaRPr>
          </a:p>
          <a:p>
            <a:pPr marL="342900" indent="-342900"/>
            <a:endParaRPr lang="en-US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void badSwap ( int a, int b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temp;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temp = a;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a = b;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b = temp;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printf("%d %d\n", a, b);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126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AF5C5-348B-E441-BFCB-FBE772DA48FF}" type="slidenum">
              <a:rPr lang="en-US"/>
              <a:pPr/>
              <a:t>20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505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badswap.c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533400" y="47244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800" i="1">
                <a:solidFill>
                  <a:schemeClr val="accent2"/>
                </a:solidFill>
              </a:rPr>
              <a:t>Output: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905000" y="4800600"/>
            <a:ext cx="6477000" cy="1447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3  5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876800" y="762000"/>
            <a:ext cx="40386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a = 3, b = 5;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  printf("%d %d\n",a,b);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badSwap ( a, b 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printf("%d %d\n",a,b);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762000"/>
            <a:ext cx="4876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i="1">
                <a:solidFill>
                  <a:schemeClr val="folHlink"/>
                </a:solidFill>
                <a:latin typeface="Courier New" charset="0"/>
              </a:rPr>
              <a:t>/* Swap the values of two variables. */</a:t>
            </a:r>
            <a:endParaRPr lang="en-US" sz="2000">
              <a:solidFill>
                <a:schemeClr val="folHlink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void badSwap ( int a, int b )</a:t>
            </a: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  int temp;</a:t>
            </a:r>
          </a:p>
          <a:p>
            <a:pPr marL="342900" indent="-342900"/>
            <a:endParaRPr lang="en-AU" sz="2000" b="1">
              <a:solidFill>
                <a:schemeClr val="folHlink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  temp = a;</a:t>
            </a: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  a = b;</a:t>
            </a: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  b = temp;</a:t>
            </a:r>
          </a:p>
          <a:p>
            <a:pPr marL="342900" indent="-342900"/>
            <a:endParaRPr lang="en-AU" sz="2000" b="1">
              <a:solidFill>
                <a:schemeClr val="folHlink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  printf("%d %d\n", a, b);</a:t>
            </a:r>
          </a:p>
          <a:p>
            <a:pPr marL="342900" indent="-342900"/>
            <a:r>
              <a:rPr lang="en-AU" sz="2000" b="1">
                <a:solidFill>
                  <a:schemeClr val="folHlink"/>
                </a:solidFill>
                <a:latin typeface="Courier New" charset="0"/>
              </a:rPr>
              <a:t>}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0653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AA62-5981-4D4C-8FC4-3C508D380C5A}" type="slidenum">
              <a:rPr lang="en-US"/>
              <a:pPr/>
              <a:t>21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505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badswap.c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533400" y="47244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800" i="1">
                <a:solidFill>
                  <a:schemeClr val="accent2"/>
                </a:solidFill>
              </a:rPr>
              <a:t>Output: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905000" y="4800600"/>
            <a:ext cx="6477000" cy="1447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3  5</a:t>
            </a:r>
          </a:p>
          <a:p>
            <a:pPr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5  3</a:t>
            </a:r>
          </a:p>
          <a:p>
            <a:pPr>
              <a:spcBef>
                <a:spcPct val="30000"/>
              </a:spcBef>
            </a:pPr>
            <a:endParaRPr lang="en-AU" b="1">
              <a:solidFill>
                <a:schemeClr val="bg1"/>
              </a:solidFill>
              <a:latin typeface="Courier New" charset="0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876800" y="762000"/>
            <a:ext cx="40386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a = 3, b = 5;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 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printf("%d %d\n",a,b); </a:t>
            </a:r>
            <a:endParaRPr lang="en-AU" sz="2000" b="1">
              <a:solidFill>
                <a:srgbClr val="CC3300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  badSwap ( a, b 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printf("%d %d\n",a,b);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0" y="762000"/>
            <a:ext cx="4876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i="1">
                <a:solidFill>
                  <a:schemeClr val="tx2"/>
                </a:solidFill>
                <a:latin typeface="Courier New" charset="0"/>
              </a:rPr>
              <a:t>/* Swap the values of two variables. */</a:t>
            </a:r>
            <a:endParaRPr lang="en-US" sz="2000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void badSwap ( int a, int b )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int temp;</a:t>
            </a:r>
          </a:p>
          <a:p>
            <a:pPr marL="342900" indent="-342900"/>
            <a:endParaRPr lang="en-AU" sz="2000" b="1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temp = a;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a = b;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b = temp;</a:t>
            </a:r>
          </a:p>
          <a:p>
            <a:pPr marL="342900" indent="-342900"/>
            <a:endParaRPr lang="en-AU" sz="2000" b="1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  printf("%d %d\n", a, b);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}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7259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9715-CAD3-1242-B07B-5B35C953782F}" type="slidenum">
              <a:rPr lang="en-US"/>
              <a:pPr/>
              <a:t>22</a:t>
            </a:fld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505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badswap.c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533400" y="47244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800" i="1">
                <a:solidFill>
                  <a:schemeClr val="accent2"/>
                </a:solidFill>
              </a:rPr>
              <a:t>Output: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905000" y="4800600"/>
            <a:ext cx="6477000" cy="1447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3  5</a:t>
            </a:r>
          </a:p>
          <a:p>
            <a:pPr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5  3</a:t>
            </a:r>
          </a:p>
          <a:p>
            <a:pPr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3  5</a:t>
            </a:r>
          </a:p>
          <a:p>
            <a:pPr>
              <a:spcBef>
                <a:spcPct val="30000"/>
              </a:spcBef>
            </a:pPr>
            <a:endParaRPr lang="en-AU" b="1">
              <a:solidFill>
                <a:schemeClr val="bg1"/>
              </a:solidFill>
              <a:latin typeface="Courier New" charset="0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876800" y="762000"/>
            <a:ext cx="40386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a = 3, b = 5;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 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printf("%d %d\n",a,b);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badSwap ( a, b );</a:t>
            </a:r>
          </a:p>
          <a:p>
            <a:pPr marL="342900" indent="-342900"/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  printf("%d %d\n",a,b);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762000"/>
            <a:ext cx="4876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i="1">
                <a:solidFill>
                  <a:schemeClr val="tx2"/>
                </a:solidFill>
                <a:latin typeface="Courier New" charset="0"/>
              </a:rPr>
              <a:t>/* Swap the values of two variables. */</a:t>
            </a:r>
            <a:endParaRPr lang="en-US" sz="2000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void badSwap ( int a, int b )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int temp;</a:t>
            </a:r>
          </a:p>
          <a:p>
            <a:pPr marL="342900" indent="-342900"/>
            <a:endParaRPr lang="en-AU" sz="2000" b="1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temp = a;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a = b;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b = temp;</a:t>
            </a:r>
          </a:p>
          <a:p>
            <a:pPr marL="342900" indent="-342900"/>
            <a:endParaRPr lang="en-AU" sz="2000" b="1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printf("%d %d\n", a, b);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}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4343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8DF4-38C4-754E-A3B2-C6EA44851FDD}" type="slidenum">
              <a:rPr lang="en-US"/>
              <a:pPr/>
              <a:t>23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505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badswap.c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105400" y="4572000"/>
            <a:ext cx="381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i="1" u="sng">
                <a:solidFill>
                  <a:schemeClr val="accent2"/>
                </a:solidFill>
              </a:rPr>
              <a:t>Calling</a:t>
            </a:r>
            <a:r>
              <a:rPr lang="en-AU" sz="2800" i="1">
                <a:solidFill>
                  <a:schemeClr val="accent2"/>
                </a:solidFill>
              </a:rPr>
              <a:t> function’s environment: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248400" y="5562600"/>
            <a:ext cx="1219200" cy="914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a: 3</a:t>
            </a:r>
          </a:p>
          <a:p>
            <a:pPr algn="ctr"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b: 5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838200" y="4572000"/>
            <a:ext cx="381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i="1" u="sng">
                <a:solidFill>
                  <a:srgbClr val="CC3300"/>
                </a:solidFill>
              </a:rPr>
              <a:t>Called</a:t>
            </a:r>
            <a:r>
              <a:rPr lang="en-AU" sz="2800" i="1">
                <a:solidFill>
                  <a:srgbClr val="CC3300"/>
                </a:solidFill>
              </a:rPr>
              <a:t> function’s environment: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981200" y="5562600"/>
            <a:ext cx="1219200" cy="914400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a: 5</a:t>
            </a:r>
          </a:p>
          <a:p>
            <a:pPr algn="ctr">
              <a:spcBef>
                <a:spcPct val="30000"/>
              </a:spcBef>
            </a:pPr>
            <a:r>
              <a:rPr lang="en-AU" b="1">
                <a:solidFill>
                  <a:schemeClr val="bg1"/>
                </a:solidFill>
                <a:latin typeface="Courier New" charset="0"/>
              </a:rPr>
              <a:t>b: 3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4876800" y="762000"/>
            <a:ext cx="40386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AU" sz="2000" b="1">
                <a:latin typeface="Courier New" charset="0"/>
              </a:rPr>
              <a:t>int main(void)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int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a</a:t>
            </a:r>
            <a:r>
              <a:rPr lang="en-AU" sz="2000" b="1">
                <a:latin typeface="Courier New" charset="0"/>
              </a:rPr>
              <a:t> =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3</a:t>
            </a:r>
            <a:r>
              <a:rPr lang="en-AU" sz="2000" b="1">
                <a:latin typeface="Courier New" charset="0"/>
              </a:rPr>
              <a:t>,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b</a:t>
            </a:r>
            <a:r>
              <a:rPr lang="en-AU" sz="2000" b="1">
                <a:latin typeface="Courier New" charset="0"/>
              </a:rPr>
              <a:t> =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5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 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printf("%d %d\n",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a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,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b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); </a:t>
            </a:r>
            <a:endParaRPr lang="en-AU" sz="2000" b="1">
              <a:solidFill>
                <a:srgbClr val="CC3300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badSwap (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a</a:t>
            </a:r>
            <a:r>
              <a:rPr lang="en-AU" sz="2000" b="1">
                <a:latin typeface="Courier New" charset="0"/>
              </a:rPr>
              <a:t>,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b</a:t>
            </a:r>
            <a:r>
              <a:rPr lang="en-AU" sz="2000" b="1">
                <a:latin typeface="Courier New" charset="0"/>
              </a:rPr>
              <a:t> 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  printf("%d %d\n",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a</a:t>
            </a:r>
            <a:r>
              <a:rPr lang="en-AU" sz="2000" b="1">
                <a:latin typeface="Courier New" charset="0"/>
              </a:rPr>
              <a:t>,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b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  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762000"/>
            <a:ext cx="4876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sz="2000" i="1">
                <a:solidFill>
                  <a:schemeClr val="tx2"/>
                </a:solidFill>
                <a:latin typeface="Courier New" charset="0"/>
              </a:rPr>
              <a:t>/* Swap the values of two variables. */</a:t>
            </a:r>
            <a:endParaRPr lang="en-US" sz="2000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void badSwap ( int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a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, int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b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int temp;</a:t>
            </a:r>
          </a:p>
          <a:p>
            <a:pPr marL="342900" indent="-342900"/>
            <a:endParaRPr lang="en-AU" sz="2000" b="1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temp =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a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a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=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b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b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= temp;</a:t>
            </a:r>
          </a:p>
          <a:p>
            <a:pPr marL="342900" indent="-342900"/>
            <a:endParaRPr lang="en-AU" sz="2000" b="1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  printf("%d %d\n",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a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, </a:t>
            </a:r>
            <a:r>
              <a:rPr lang="en-AU" sz="2000" b="1">
                <a:solidFill>
                  <a:srgbClr val="CC3300"/>
                </a:solidFill>
                <a:latin typeface="Courier New" charset="0"/>
              </a:rPr>
              <a:t>b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);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}</a:t>
            </a:r>
          </a:p>
          <a:p>
            <a:pPr marL="342900" indent="-342900"/>
            <a:endParaRPr lang="en-US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35889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CA4A-5AED-5742-879F-0C6DFECB9DD5}" type="slidenum">
              <a:rPr lang="en-US"/>
              <a:pPr/>
              <a:t>24</a:t>
            </a:fld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Parameters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371600"/>
          </a:xfrm>
        </p:spPr>
        <p:txBody>
          <a:bodyPr/>
          <a:lstStyle/>
          <a:p>
            <a:r>
              <a:rPr lang="en-US"/>
              <a:t>If a function does not take parameters, declare its formal argument list </a:t>
            </a:r>
            <a:r>
              <a:rPr lang="en-US">
                <a:solidFill>
                  <a:schemeClr val="accent2"/>
                </a:solidFill>
              </a:rPr>
              <a:t>void</a:t>
            </a:r>
            <a:r>
              <a:rPr lang="en-US"/>
              <a:t>.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048000" y="3505200"/>
            <a:ext cx="5257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b="1">
                <a:latin typeface="Courier New" charset="0"/>
              </a:rPr>
              <a:t>void sayHello ( </a:t>
            </a:r>
            <a:r>
              <a:rPr lang="en-US" b="1">
                <a:solidFill>
                  <a:schemeClr val="accent2"/>
                </a:solidFill>
                <a:latin typeface="Courier New" charset="0"/>
              </a:rPr>
              <a:t>void</a:t>
            </a:r>
            <a:r>
              <a:rPr lang="en-US" b="1">
                <a:latin typeface="Courier New" charset="0"/>
              </a:rPr>
              <a:t> )</a:t>
            </a:r>
          </a:p>
          <a:p>
            <a:pPr marL="342900" indent="-342900"/>
            <a:r>
              <a:rPr lang="en-US" b="1">
                <a:latin typeface="Courier New" charset="0"/>
              </a:rPr>
              <a:t>{</a:t>
            </a:r>
          </a:p>
          <a:p>
            <a:pPr marL="342900" indent="-342900"/>
            <a:r>
              <a:rPr lang="en-US" b="1">
                <a:latin typeface="Courier New" charset="0"/>
              </a:rPr>
              <a:t>  printf(</a:t>
            </a:r>
            <a:r>
              <a:rPr lang="ja-JP" altLang="en-US" b="1">
                <a:latin typeface="Arial"/>
              </a:rPr>
              <a:t>“</a:t>
            </a:r>
            <a:r>
              <a:rPr lang="en-US" b="1">
                <a:latin typeface="Courier New" charset="0"/>
              </a:rPr>
              <a:t>Hello World!\n</a:t>
            </a:r>
            <a:r>
              <a:rPr lang="ja-JP" altLang="en-US" b="1">
                <a:latin typeface="Arial"/>
              </a:rPr>
              <a:t>”</a:t>
            </a:r>
            <a:r>
              <a:rPr lang="en-US" b="1">
                <a:latin typeface="Courier New" charset="0"/>
              </a:rPr>
              <a:t>);</a:t>
            </a:r>
          </a:p>
          <a:p>
            <a:pPr marL="342900" indent="-342900"/>
            <a:r>
              <a:rPr lang="en-US" b="1">
                <a:latin typeface="Courier New" charset="0"/>
              </a:rPr>
              <a:t>}</a:t>
            </a:r>
          </a:p>
          <a:p>
            <a:pPr marL="342900" indent="-342900"/>
            <a:endParaRPr lang="en-US" b="1">
              <a:latin typeface="Courier New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048000" y="5791200"/>
            <a:ext cx="525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b="1">
                <a:latin typeface="Courier New" charset="0"/>
              </a:rPr>
              <a:t>sayHello();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609600" y="57912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AU" sz="2800" i="1">
                <a:solidFill>
                  <a:schemeClr val="accent2"/>
                </a:solidFill>
              </a:rPr>
              <a:t>Function call: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609600" y="35052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AU" sz="2800" i="1">
                <a:solidFill>
                  <a:schemeClr val="accent2"/>
                </a:solidFill>
              </a:rPr>
              <a:t>Declaration:</a:t>
            </a:r>
          </a:p>
        </p:txBody>
      </p:sp>
    </p:spTree>
    <p:extLst>
      <p:ext uri="{BB962C8B-B14F-4D97-AF65-F5344CB8AC3E}">
        <p14:creationId xmlns:p14="http://schemas.microsoft.com/office/powerpoint/2010/main" xmlns="" val="1806794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2139-A6B8-2A48-9E06-D79A729EEC09}" type="slidenum">
              <a:rPr lang="en-US"/>
              <a:pPr/>
              <a:t>25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Return Values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Values are returned by copying a value specified after the </a:t>
            </a:r>
            <a:r>
              <a:rPr lang="en-US" b="1">
                <a:solidFill>
                  <a:schemeClr val="accent2"/>
                </a:solidFill>
                <a:latin typeface="Courier New" charset="0"/>
              </a:rPr>
              <a:t>return</a:t>
            </a:r>
            <a:r>
              <a:rPr lang="en-US"/>
              <a:t> keyword</a:t>
            </a:r>
          </a:p>
        </p:txBody>
      </p:sp>
    </p:spTree>
    <p:extLst>
      <p:ext uri="{BB962C8B-B14F-4D97-AF65-F5344CB8AC3E}">
        <p14:creationId xmlns:p14="http://schemas.microsoft.com/office/powerpoint/2010/main" xmlns="" val="1198813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2261-8EDD-634E-83C4-10B1F5F85970}" type="slidenum">
              <a:rPr lang="en-US"/>
              <a:pPr/>
              <a:t>26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95600" y="1219200"/>
            <a:ext cx="5791200" cy="53340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r>
              <a:rPr lang="en-AU" sz="2000" i="1">
                <a:latin typeface="Courier New" charset="0"/>
              </a:rPr>
              <a:t>/* Returns the larger of two numbers. */</a:t>
            </a: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int</a:t>
            </a:r>
            <a:r>
              <a:rPr lang="en-AU" sz="2000" b="1">
                <a:latin typeface="Courier New" charset="0"/>
              </a:rPr>
              <a:t> max (int a, int 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int result;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if (a &gt; 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  result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  result =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return result;</a:t>
            </a: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}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max.c</a:t>
            </a:r>
          </a:p>
        </p:txBody>
      </p:sp>
      <p:sp>
        <p:nvSpPr>
          <p:cNvPr id="25604" name="AutoShape 4"/>
          <p:cNvSpPr>
            <a:spLocks noChangeArrowheads="1"/>
          </p:cNvSpPr>
          <p:nvPr/>
        </p:nvSpPr>
        <p:spPr bwMode="auto">
          <a:xfrm>
            <a:off x="228600" y="914400"/>
            <a:ext cx="2438400" cy="609600"/>
          </a:xfrm>
          <a:prstGeom prst="wedgeRectCallout">
            <a:avLst>
              <a:gd name="adj1" fmla="val 62759"/>
              <a:gd name="adj2" fmla="val 12708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 sz="2800" b="1" i="1">
                <a:solidFill>
                  <a:schemeClr val="bg1"/>
                </a:solidFill>
                <a:latin typeface="Arial" charset="0"/>
              </a:rPr>
              <a:t>Return type</a:t>
            </a:r>
          </a:p>
        </p:txBody>
      </p:sp>
    </p:spTree>
    <p:extLst>
      <p:ext uri="{BB962C8B-B14F-4D97-AF65-F5344CB8AC3E}">
        <p14:creationId xmlns:p14="http://schemas.microsoft.com/office/powerpoint/2010/main" xmlns="" val="167959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98FCE-614F-E449-928D-8415D870ACBE}" type="slidenum">
              <a:rPr lang="en-US"/>
              <a:pPr/>
              <a:t>27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5791200" cy="53340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r>
              <a:rPr lang="en-AU" sz="2000" i="1">
                <a:latin typeface="Courier New" charset="0"/>
              </a:rPr>
              <a:t>/* Returns the larger of two numbers. */</a:t>
            </a: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int</a:t>
            </a:r>
            <a:r>
              <a:rPr lang="en-AU" sz="2000" b="1">
                <a:latin typeface="Courier New" charset="0"/>
              </a:rPr>
              <a:t> max (int a, int 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int result;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if (a &gt; 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  result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  result =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  </a:t>
            </a:r>
            <a:r>
              <a:rPr lang="en-AU" sz="2000" b="1">
                <a:solidFill>
                  <a:schemeClr val="accent2"/>
                </a:solidFill>
                <a:latin typeface="Courier New" charset="0"/>
              </a:rPr>
              <a:t>return result;</a:t>
            </a:r>
            <a:endParaRPr lang="en-AU" sz="2000" b="1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latin typeface="Courier New" charset="0"/>
              </a:rPr>
              <a:t>}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max.c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4419600" y="2057400"/>
            <a:ext cx="4495800" cy="36861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 tIns="137160" rIns="182880" bIns="137160">
            <a:spAutoFit/>
          </a:bodyPr>
          <a:lstStyle/>
          <a:p>
            <a:pPr>
              <a:spcBef>
                <a:spcPct val="40000"/>
              </a:spcBef>
            </a:pPr>
            <a:r>
              <a:rPr lang="en-US" sz="3600"/>
              <a:t>For example:</a:t>
            </a:r>
          </a:p>
          <a:p>
            <a:pPr>
              <a:spcBef>
                <a:spcPct val="40000"/>
              </a:spcBef>
            </a:pPr>
            <a:r>
              <a:rPr lang="en-US" sz="3600"/>
              <a:t>The value of the expression</a:t>
            </a:r>
          </a:p>
          <a:p>
            <a:pPr>
              <a:spcBef>
                <a:spcPct val="40000"/>
              </a:spcBef>
            </a:pPr>
            <a:r>
              <a:rPr lang="en-US" sz="3600"/>
              <a:t>    </a:t>
            </a:r>
            <a:r>
              <a:rPr lang="en-US" sz="3600" b="1">
                <a:solidFill>
                  <a:schemeClr val="accent2"/>
                </a:solidFill>
                <a:latin typeface="Courier New" charset="0"/>
              </a:rPr>
              <a:t>max(7,5)</a:t>
            </a:r>
            <a:r>
              <a:rPr lang="en-US" sz="3600"/>
              <a:t> </a:t>
            </a:r>
          </a:p>
          <a:p>
            <a:pPr>
              <a:spcBef>
                <a:spcPct val="40000"/>
              </a:spcBef>
            </a:pPr>
            <a:r>
              <a:rPr lang="en-US" sz="3600"/>
              <a:t>is the integer 7.</a:t>
            </a:r>
          </a:p>
        </p:txBody>
      </p:sp>
    </p:spTree>
    <p:extLst>
      <p:ext uri="{BB962C8B-B14F-4D97-AF65-F5344CB8AC3E}">
        <p14:creationId xmlns:p14="http://schemas.microsoft.com/office/powerpoint/2010/main" xmlns="" val="2958586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05CC-973D-064D-93E5-0F524A2B17B5}" type="slidenum">
              <a:rPr lang="en-US"/>
              <a:pPr/>
              <a:t>28</a:t>
            </a:fld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95600" y="1219200"/>
            <a:ext cx="5791200" cy="54864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182880">
            <a:norm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AU" sz="2000" i="1" dirty="0">
                <a:latin typeface="Courier New" charset="0"/>
              </a:rPr>
              <a:t>/* Returns the larger of two numbers. */</a:t>
            </a:r>
            <a:endParaRPr lang="en-AU" sz="2000" b="1" dirty="0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i</a:t>
            </a:r>
            <a:r>
              <a:rPr lang="en-AU" sz="2000" b="1" dirty="0" err="1" smtClean="0">
                <a:solidFill>
                  <a:schemeClr val="accent2"/>
                </a:solidFill>
                <a:latin typeface="Courier New" charset="0"/>
              </a:rPr>
              <a:t>nt</a:t>
            </a:r>
            <a:r>
              <a:rPr lang="en-AU" sz="2000" b="1" dirty="0" smtClean="0">
                <a:latin typeface="Courier New" charset="0"/>
              </a:rPr>
              <a:t> max </a:t>
            </a:r>
            <a:r>
              <a:rPr lang="en-AU" sz="2000" b="1" dirty="0">
                <a:latin typeface="Courier New" charset="0"/>
              </a:rPr>
              <a:t>(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a, 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result;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 dirty="0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if (a &gt; 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  result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  result =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 dirty="0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  </a:t>
            </a:r>
            <a:r>
              <a:rPr lang="en-AU" sz="2000" b="1" dirty="0">
                <a:solidFill>
                  <a:schemeClr val="accent2"/>
                </a:solidFill>
                <a:latin typeface="Courier New" charset="0"/>
              </a:rPr>
              <a:t>return result;</a:t>
            </a:r>
            <a:endParaRPr lang="en-AU" sz="2000" b="1" dirty="0">
              <a:latin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latin typeface="Courier New" charset="0"/>
              </a:rPr>
              <a:t>}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0480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max.c</a:t>
            </a:r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>
            <a:off x="228600" y="914400"/>
            <a:ext cx="2438400" cy="609600"/>
          </a:xfrm>
          <a:prstGeom prst="wedgeRectCallout">
            <a:avLst>
              <a:gd name="adj1" fmla="val 62759"/>
              <a:gd name="adj2" fmla="val 127083"/>
            </a:avLst>
          </a:pr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 sz="2800" i="1">
                <a:solidFill>
                  <a:schemeClr val="bg1"/>
                </a:solidFill>
              </a:rPr>
              <a:t>This style okay.</a:t>
            </a:r>
          </a:p>
        </p:txBody>
      </p:sp>
    </p:spTree>
    <p:extLst>
      <p:ext uri="{BB962C8B-B14F-4D97-AF65-F5344CB8AC3E}">
        <p14:creationId xmlns:p14="http://schemas.microsoft.com/office/powerpoint/2010/main" xmlns="" val="3916597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6345-5406-724A-B047-FD51EAFCBD05}" type="slidenum">
              <a:rPr lang="en-US"/>
              <a:pPr/>
              <a:t>29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Return Values (cont.)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a function does not return a value, declare its return type </a:t>
            </a:r>
            <a:r>
              <a:rPr lang="en-US">
                <a:solidFill>
                  <a:schemeClr val="accent2"/>
                </a:solidFill>
              </a:rPr>
              <a:t>void</a:t>
            </a:r>
            <a:r>
              <a:rPr lang="en-US"/>
              <a:t>.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352800" y="3429000"/>
            <a:ext cx="5257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b="1">
                <a:solidFill>
                  <a:schemeClr val="accent2"/>
                </a:solidFill>
                <a:latin typeface="Courier New" charset="0"/>
              </a:rPr>
              <a:t>void</a:t>
            </a:r>
            <a:r>
              <a:rPr lang="en-US" b="1">
                <a:latin typeface="Courier New" charset="0"/>
              </a:rPr>
              <a:t> sayHello ( void )</a:t>
            </a:r>
          </a:p>
          <a:p>
            <a:pPr marL="342900" indent="-342900"/>
            <a:r>
              <a:rPr lang="en-US" b="1">
                <a:latin typeface="Courier New" charset="0"/>
              </a:rPr>
              <a:t>{</a:t>
            </a:r>
          </a:p>
          <a:p>
            <a:pPr marL="342900" indent="-342900"/>
            <a:r>
              <a:rPr lang="en-US" b="1">
                <a:latin typeface="Courier New" charset="0"/>
              </a:rPr>
              <a:t>  printf(</a:t>
            </a:r>
            <a:r>
              <a:rPr lang="ja-JP" altLang="en-US" b="1">
                <a:latin typeface="Arial"/>
              </a:rPr>
              <a:t>“</a:t>
            </a:r>
            <a:r>
              <a:rPr lang="en-US" b="1">
                <a:latin typeface="Courier New" charset="0"/>
              </a:rPr>
              <a:t>Hello World!\n</a:t>
            </a:r>
            <a:r>
              <a:rPr lang="ja-JP" altLang="en-US" b="1">
                <a:latin typeface="Arial"/>
              </a:rPr>
              <a:t>”</a:t>
            </a:r>
            <a:r>
              <a:rPr lang="en-US" b="1">
                <a:latin typeface="Courier New" charset="0"/>
              </a:rPr>
              <a:t>);</a:t>
            </a:r>
          </a:p>
          <a:p>
            <a:pPr marL="342900" indent="-342900"/>
            <a:r>
              <a:rPr lang="en-US" b="1">
                <a:latin typeface="Courier New" charset="0"/>
              </a:rPr>
              <a:t>}</a:t>
            </a:r>
          </a:p>
          <a:p>
            <a:pPr marL="342900" indent="-342900"/>
            <a:endParaRPr lang="en-US" b="1">
              <a:latin typeface="Courier New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352800" y="5715000"/>
            <a:ext cx="525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2880"/>
          <a:lstStyle/>
          <a:p>
            <a:pPr marL="342900" indent="-342900"/>
            <a:r>
              <a:rPr lang="en-US" b="1">
                <a:latin typeface="Courier New" charset="0"/>
              </a:rPr>
              <a:t>sayHello();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914400" y="57150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AU" sz="2800" i="1">
                <a:solidFill>
                  <a:schemeClr val="accent2"/>
                </a:solidFill>
              </a:rPr>
              <a:t>Function call: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914400" y="34290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AU" sz="2800" i="1">
                <a:solidFill>
                  <a:schemeClr val="accent2"/>
                </a:solidFill>
              </a:rPr>
              <a:t>Declaration:</a:t>
            </a:r>
          </a:p>
        </p:txBody>
      </p:sp>
    </p:spTree>
    <p:extLst>
      <p:ext uri="{BB962C8B-B14F-4D97-AF65-F5344CB8AC3E}">
        <p14:creationId xmlns:p14="http://schemas.microsoft.com/office/powerpoint/2010/main" xmlns="" val="756580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Prototyping of Functions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886200"/>
          </a:xfrm>
        </p:spPr>
        <p:txBody>
          <a:bodyPr/>
          <a:lstStyle/>
          <a:p>
            <a:r>
              <a:rPr lang="en-US"/>
              <a:t>Must declare functions before use (like variables)</a:t>
            </a:r>
          </a:p>
          <a:p>
            <a:r>
              <a:rPr lang="en-US"/>
              <a:t>Declaration is called a </a:t>
            </a:r>
            <a:r>
              <a:rPr lang="ja-JP" altLang="en-US">
                <a:latin typeface="Arial"/>
              </a:rPr>
              <a:t>“</a:t>
            </a:r>
            <a:r>
              <a:rPr lang="en-US">
                <a:solidFill>
                  <a:schemeClr val="accent2"/>
                </a:solidFill>
              </a:rPr>
              <a:t>prototype</a:t>
            </a:r>
            <a:r>
              <a:rPr lang="ja-JP" altLang="en-US">
                <a:latin typeface="Arial"/>
              </a:rPr>
              <a:t>”</a:t>
            </a:r>
            <a:endParaRPr lang="en-US"/>
          </a:p>
          <a:p>
            <a:r>
              <a:rPr lang="en-US"/>
              <a:t>Specifies the </a:t>
            </a:r>
            <a:r>
              <a:rPr lang="en-US">
                <a:solidFill>
                  <a:schemeClr val="accent2"/>
                </a:solidFill>
              </a:rPr>
              <a:t>name</a:t>
            </a:r>
            <a:r>
              <a:rPr lang="en-US"/>
              <a:t>, </a:t>
            </a:r>
            <a:r>
              <a:rPr lang="en-US">
                <a:solidFill>
                  <a:schemeClr val="accent2"/>
                </a:solidFill>
              </a:rPr>
              <a:t>parameters</a:t>
            </a:r>
            <a:r>
              <a:rPr lang="en-US"/>
              <a:t> and </a:t>
            </a:r>
            <a:r>
              <a:rPr lang="en-US">
                <a:solidFill>
                  <a:schemeClr val="accent2"/>
                </a:solidFill>
              </a:rPr>
              <a:t>return type</a:t>
            </a:r>
            <a:r>
              <a:rPr lang="en-US"/>
              <a:t> of the function, but not the code</a:t>
            </a:r>
          </a:p>
        </p:txBody>
      </p:sp>
    </p:spTree>
    <p:extLst>
      <p:ext uri="{BB962C8B-B14F-4D97-AF65-F5344CB8AC3E}">
        <p14:creationId xmlns:p14="http://schemas.microsoft.com/office/powerpoint/2010/main" xmlns="" val="334073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609600"/>
            <a:ext cx="5344757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 dirty="0">
                <a:latin typeface="Courier New" charset="0"/>
              </a:rPr>
              <a:t>#include &lt;</a:t>
            </a:r>
            <a:r>
              <a:rPr lang="en-AU" sz="2000" b="1" dirty="0" err="1">
                <a:latin typeface="Courier New" charset="0"/>
              </a:rPr>
              <a:t>stdio.h</a:t>
            </a:r>
            <a:r>
              <a:rPr lang="en-AU" sz="2000" b="1" dirty="0">
                <a:latin typeface="Courier New" charset="0"/>
              </a:rPr>
              <a:t>&gt;</a:t>
            </a:r>
          </a:p>
          <a:p>
            <a:pPr marL="342900" indent="-342900"/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2000" b="1" dirty="0" err="1">
                <a:solidFill>
                  <a:srgbClr val="CC0000"/>
                </a:solidFill>
                <a:latin typeface="Courier New" charset="0"/>
              </a:rPr>
              <a:t>int</a:t>
            </a:r>
            <a:r>
              <a:rPr lang="en-AU" sz="2000" b="1" dirty="0">
                <a:solidFill>
                  <a:srgbClr val="CC0000"/>
                </a:solidFill>
                <a:latin typeface="Courier New" charset="0"/>
              </a:rPr>
              <a:t> </a:t>
            </a:r>
            <a:r>
              <a:rPr lang="en-AU" sz="2000" b="1" dirty="0" err="1">
                <a:solidFill>
                  <a:srgbClr val="CC0000"/>
                </a:solidFill>
                <a:latin typeface="Courier New" charset="0"/>
              </a:rPr>
              <a:t>isNegative</a:t>
            </a:r>
            <a:r>
              <a:rPr lang="en-AU" sz="2000" b="1" dirty="0">
                <a:solidFill>
                  <a:srgbClr val="CC0000"/>
                </a:solidFill>
                <a:latin typeface="Courier New" charset="0"/>
              </a:rPr>
              <a:t> (</a:t>
            </a:r>
            <a:r>
              <a:rPr lang="en-AU" sz="2000" b="1" dirty="0" err="1">
                <a:solidFill>
                  <a:srgbClr val="CC0000"/>
                </a:solidFill>
                <a:latin typeface="Courier New" charset="0"/>
              </a:rPr>
              <a:t>int</a:t>
            </a:r>
            <a:r>
              <a:rPr lang="en-AU" sz="2000" b="1" dirty="0">
                <a:solidFill>
                  <a:srgbClr val="CC0000"/>
                </a:solidFill>
                <a:latin typeface="Courier New" charset="0"/>
              </a:rPr>
              <a:t>);</a:t>
            </a:r>
          </a:p>
          <a:p>
            <a:pPr marL="342900" indent="-342900"/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main (void)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 dirty="0">
                <a:latin typeface="Courier New" charset="0"/>
              </a:rPr>
              <a:t>;</a:t>
            </a:r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800" b="1" dirty="0">
                <a:latin typeface="Courier New" charset="0"/>
              </a:rPr>
              <a:t>	</a:t>
            </a:r>
          </a:p>
          <a:p>
            <a:pPr marL="342900" indent="-342900"/>
            <a:r>
              <a:rPr lang="en-AU" sz="8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 ("Enter an integer: ");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scanf</a:t>
            </a:r>
            <a:r>
              <a:rPr lang="en-AU" sz="2000" b="1" dirty="0">
                <a:latin typeface="Courier New" charset="0"/>
              </a:rPr>
              <a:t> ("%</a:t>
            </a:r>
            <a:r>
              <a:rPr lang="en-AU" sz="2000" b="1" dirty="0" err="1">
                <a:latin typeface="Courier New" charset="0"/>
              </a:rPr>
              <a:t>d",&amp;</a:t>
            </a:r>
            <a:r>
              <a:rPr lang="en-AU" sz="2000" b="1" dirty="0" err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 dirty="0">
                <a:latin typeface="Courier New" charset="0"/>
              </a:rPr>
              <a:t>);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>
                <a:latin typeface="Courier New" charset="0"/>
              </a:rPr>
              <a:t>	if (</a:t>
            </a:r>
            <a:r>
              <a:rPr lang="en-AU" sz="2000" b="1" dirty="0" err="1">
                <a:solidFill>
                  <a:schemeClr val="tx2"/>
                </a:solidFill>
                <a:latin typeface="Courier New" charset="0"/>
              </a:rPr>
              <a:t>isNegative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(number)</a:t>
            </a:r>
            <a:r>
              <a:rPr lang="en-AU" sz="2000" b="1" dirty="0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("Negative\n");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("Positive\n");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800" b="1" dirty="0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}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5344757" y="609600"/>
            <a:ext cx="4493503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 err="1" smtClean="0">
                <a:latin typeface="Courier New" charset="0"/>
              </a:rPr>
              <a:t>int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 err="1" smtClean="0">
                <a:latin typeface="Courier New" charset="0"/>
              </a:rPr>
              <a:t>isNegative</a:t>
            </a:r>
            <a:r>
              <a:rPr lang="en-AU" sz="2000" b="1" dirty="0" smtClean="0">
                <a:latin typeface="Courier New" charset="0"/>
              </a:rPr>
              <a:t> ( </a:t>
            </a:r>
            <a:r>
              <a:rPr lang="en-AU" sz="2000" b="1" dirty="0" err="1" smtClean="0">
                <a:latin typeface="Courier New" charset="0"/>
              </a:rPr>
              <a:t>int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 smtClean="0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 dirty="0" smtClean="0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 dirty="0" smtClean="0">
                <a:latin typeface="Courier New" charset="0"/>
              </a:rPr>
              <a:t>{</a:t>
            </a:r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 dirty="0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if ( 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 dirty="0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}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endParaRPr lang="en-AU" sz="2000" b="1" dirty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40374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609600"/>
            <a:ext cx="55626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int isNegative (int);</a:t>
            </a: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;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  <a:r>
              <a:rPr lang="en-AU" sz="2000" b="1">
                <a:latin typeface="Courier New" charset="0"/>
              </a:rPr>
              <a:t>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5562600" y="609600"/>
            <a:ext cx="35814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3581400" y="228600"/>
            <a:ext cx="3276600" cy="685800"/>
          </a:xfrm>
          <a:prstGeom prst="wedgeRectCallout">
            <a:avLst>
              <a:gd name="adj1" fmla="val -52616"/>
              <a:gd name="adj2" fmla="val 100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/>
              <a:t>Function Prototype</a:t>
            </a:r>
          </a:p>
        </p:txBody>
      </p:sp>
    </p:spTree>
    <p:extLst>
      <p:ext uri="{BB962C8B-B14F-4D97-AF65-F5344CB8AC3E}">
        <p14:creationId xmlns:p14="http://schemas.microsoft.com/office/powerpoint/2010/main" xmlns="" val="491759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609600"/>
            <a:ext cx="55626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int isNegative (int);</a:t>
            </a:r>
            <a:endParaRPr lang="en-AU" sz="2000" b="1">
              <a:solidFill>
                <a:srgbClr val="CC0000"/>
              </a:solidFill>
              <a:latin typeface="Courier New" charset="0"/>
            </a:endParaRP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;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  <a:r>
              <a:rPr lang="en-AU" sz="2000" b="1">
                <a:latin typeface="Courier New" charset="0"/>
              </a:rPr>
              <a:t>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5562600" y="609600"/>
            <a:ext cx="35814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1143000" y="5334000"/>
            <a:ext cx="3124200" cy="762000"/>
          </a:xfrm>
          <a:prstGeom prst="wedgeRectCallout">
            <a:avLst>
              <a:gd name="adj1" fmla="val 78148"/>
              <a:gd name="adj2" fmla="val -330625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/>
              <a:t>Function Definition</a:t>
            </a:r>
          </a:p>
        </p:txBody>
      </p:sp>
      <p:sp>
        <p:nvSpPr>
          <p:cNvPr id="10246" name="AutoShape 6"/>
          <p:cNvSpPr>
            <a:spLocks/>
          </p:cNvSpPr>
          <p:nvPr/>
        </p:nvSpPr>
        <p:spPr bwMode="auto">
          <a:xfrm>
            <a:off x="5181600" y="1066800"/>
            <a:ext cx="609600" cy="4038600"/>
          </a:xfrm>
          <a:prstGeom prst="leftBrace">
            <a:avLst>
              <a:gd name="adj1" fmla="val 55208"/>
              <a:gd name="adj2" fmla="val 50000"/>
            </a:avLst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7206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609600"/>
            <a:ext cx="55626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int isNegative (int);</a:t>
            </a: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;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  <a:r>
              <a:rPr lang="en-AU" sz="2000" b="1">
                <a:latin typeface="Courier New" charset="0"/>
              </a:rPr>
              <a:t>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5562600" y="609600"/>
            <a:ext cx="35814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11269" name="AutoShape 5"/>
          <p:cNvSpPr>
            <a:spLocks noChangeArrowheads="1"/>
          </p:cNvSpPr>
          <p:nvPr/>
        </p:nvSpPr>
        <p:spPr bwMode="auto">
          <a:xfrm>
            <a:off x="1143000" y="5334000"/>
            <a:ext cx="4038600" cy="1295400"/>
          </a:xfrm>
          <a:prstGeom prst="wedgeRectCallout">
            <a:avLst>
              <a:gd name="adj1" fmla="val -12148"/>
              <a:gd name="adj2" fmla="val -16863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/>
              <a:t>Function Call </a:t>
            </a:r>
          </a:p>
          <a:p>
            <a:pPr algn="ctr"/>
            <a:r>
              <a:rPr lang="en-AU"/>
              <a:t>(</a:t>
            </a:r>
            <a:r>
              <a:rPr lang="en-AU" i="1"/>
              <a:t>Must</a:t>
            </a:r>
            <a:r>
              <a:rPr lang="en-AU"/>
              <a:t> be after prototype, but </a:t>
            </a:r>
            <a:r>
              <a:rPr lang="en-AU" i="1"/>
              <a:t>can</a:t>
            </a:r>
            <a:r>
              <a:rPr lang="en-AU"/>
              <a:t> be before definition)</a:t>
            </a:r>
          </a:p>
        </p:txBody>
      </p:sp>
    </p:spTree>
    <p:extLst>
      <p:ext uri="{BB962C8B-B14F-4D97-AF65-F5344CB8AC3E}">
        <p14:creationId xmlns:p14="http://schemas.microsoft.com/office/powerpoint/2010/main" xmlns="" val="4184342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609600"/>
            <a:ext cx="55626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 dirty="0">
                <a:latin typeface="Courier New" charset="0"/>
              </a:rPr>
              <a:t>#include &lt;</a:t>
            </a:r>
            <a:r>
              <a:rPr lang="en-AU" sz="2000" b="1" dirty="0" err="1">
                <a:latin typeface="Courier New" charset="0"/>
              </a:rPr>
              <a:t>stdio.h</a:t>
            </a:r>
            <a:r>
              <a:rPr lang="en-AU" sz="2000" b="1" dirty="0">
                <a:latin typeface="Courier New" charset="0"/>
              </a:rPr>
              <a:t>&gt;</a:t>
            </a:r>
          </a:p>
          <a:p>
            <a:pPr marL="342900" indent="-342900"/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2000" b="1" dirty="0" err="1">
                <a:solidFill>
                  <a:schemeClr val="tx2"/>
                </a:solidFill>
                <a:latin typeface="Courier New" charset="0"/>
              </a:rPr>
              <a:t>int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 </a:t>
            </a:r>
            <a:r>
              <a:rPr lang="en-AU" sz="2000" b="1" dirty="0" err="1">
                <a:solidFill>
                  <a:schemeClr val="tx2"/>
                </a:solidFill>
                <a:latin typeface="Courier New" charset="0"/>
              </a:rPr>
              <a:t>isNegative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 (</a:t>
            </a:r>
            <a:r>
              <a:rPr lang="en-AU" sz="2000" b="1" dirty="0" err="1">
                <a:solidFill>
                  <a:schemeClr val="tx2"/>
                </a:solidFill>
                <a:latin typeface="Courier New" charset="0"/>
              </a:rPr>
              <a:t>int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);</a:t>
            </a:r>
          </a:p>
          <a:p>
            <a:pPr marL="342900" indent="-342900"/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main (void)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 dirty="0">
                <a:latin typeface="Courier New" charset="0"/>
              </a:rPr>
              <a:t>;</a:t>
            </a:r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800" b="1" dirty="0">
                <a:latin typeface="Courier New" charset="0"/>
              </a:rPr>
              <a:t>	</a:t>
            </a:r>
          </a:p>
          <a:p>
            <a:pPr marL="342900" indent="-342900"/>
            <a:r>
              <a:rPr lang="en-AU" sz="8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 ("Enter an integer: ");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scanf</a:t>
            </a:r>
            <a:r>
              <a:rPr lang="en-AU" sz="2000" b="1" dirty="0">
                <a:latin typeface="Courier New" charset="0"/>
              </a:rPr>
              <a:t> ("%</a:t>
            </a:r>
            <a:r>
              <a:rPr lang="en-AU" sz="2000" b="1" dirty="0" err="1">
                <a:latin typeface="Courier New" charset="0"/>
              </a:rPr>
              <a:t>d",&amp;</a:t>
            </a:r>
            <a:r>
              <a:rPr lang="en-AU" sz="2000" b="1" dirty="0" err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 dirty="0">
                <a:latin typeface="Courier New" charset="0"/>
              </a:rPr>
              <a:t>);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>
                <a:latin typeface="Courier New" charset="0"/>
              </a:rPr>
              <a:t>	if (</a:t>
            </a:r>
            <a:r>
              <a:rPr lang="en-AU" sz="2000" b="1" dirty="0" err="1">
                <a:solidFill>
                  <a:schemeClr val="tx2"/>
                </a:solidFill>
                <a:latin typeface="Courier New" charset="0"/>
              </a:rPr>
              <a:t>isNegative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(number)</a:t>
            </a:r>
            <a:r>
              <a:rPr lang="en-AU" sz="2000" b="1" dirty="0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("Negative\n");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</a:t>
            </a:r>
            <a:r>
              <a:rPr lang="en-AU" sz="2000" b="1" dirty="0" err="1">
                <a:latin typeface="Courier New" charset="0"/>
              </a:rPr>
              <a:t>printf</a:t>
            </a:r>
            <a:r>
              <a:rPr lang="en-AU" sz="2000" b="1" dirty="0">
                <a:latin typeface="Courier New" charset="0"/>
              </a:rPr>
              <a:t>("Positive\n");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  <a:endParaRPr lang="en-AU" sz="800" b="1" dirty="0">
              <a:latin typeface="Courier New" charset="0"/>
            </a:endParaRPr>
          </a:p>
          <a:p>
            <a:pPr marL="342900" indent="-342900"/>
            <a:r>
              <a:rPr lang="en-AU" sz="800" b="1" dirty="0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}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5562600" y="609600"/>
            <a:ext cx="35814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>
            <a:off x="4267200" y="990600"/>
            <a:ext cx="4495800" cy="1219200"/>
          </a:xfrm>
          <a:prstGeom prst="wedgeRectCallout">
            <a:avLst>
              <a:gd name="adj1" fmla="val -75037"/>
              <a:gd name="adj2" fmla="val -66148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/>
              <a:t>Header files (filename</a:t>
            </a:r>
            <a:r>
              <a:rPr lang="en-AU" b="1">
                <a:solidFill>
                  <a:srgbClr val="CC0000"/>
                </a:solidFill>
              </a:rPr>
              <a:t>.h</a:t>
            </a:r>
            <a:r>
              <a:rPr lang="en-AU"/>
              <a:t>) contain function prototypes and global variable declarations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3231508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609600"/>
            <a:ext cx="55626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int isNegative (int);</a:t>
            </a: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;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  <a:r>
              <a:rPr lang="en-AU" sz="2000" b="1">
                <a:latin typeface="Courier New" charset="0"/>
              </a:rPr>
              <a:t>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562600" y="609600"/>
            <a:ext cx="35814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13317" name="AutoShape 5"/>
          <p:cNvSpPr>
            <a:spLocks noChangeArrowheads="1"/>
          </p:cNvSpPr>
          <p:nvPr/>
        </p:nvSpPr>
        <p:spPr bwMode="auto">
          <a:xfrm>
            <a:off x="3962400" y="990600"/>
            <a:ext cx="4800600" cy="1219200"/>
          </a:xfrm>
          <a:prstGeom prst="wedgeRectCallout">
            <a:avLst>
              <a:gd name="adj1" fmla="val -67097"/>
              <a:gd name="adj2" fmla="val -66148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 b="1"/>
              <a:t>stdio.h</a:t>
            </a:r>
            <a:r>
              <a:rPr lang="en-AU"/>
              <a:t> contains function prototypes for </a:t>
            </a:r>
            <a:r>
              <a:rPr lang="en-AU" b="1">
                <a:latin typeface="Courier New" charset="0"/>
              </a:rPr>
              <a:t>printf()</a:t>
            </a:r>
            <a:r>
              <a:rPr lang="en-AU">
                <a:latin typeface="Courier New" charset="0"/>
              </a:rPr>
              <a:t>, </a:t>
            </a:r>
            <a:r>
              <a:rPr lang="en-AU" b="1">
                <a:latin typeface="Courier New" charset="0"/>
              </a:rPr>
              <a:t>scanf()</a:t>
            </a:r>
            <a:r>
              <a:rPr lang="en-AU">
                <a:latin typeface="Courier New" charset="0"/>
              </a:rPr>
              <a:t>, </a:t>
            </a:r>
            <a:r>
              <a:rPr lang="en-AU"/>
              <a:t>and other I/O functions</a:t>
            </a:r>
          </a:p>
        </p:txBody>
      </p:sp>
    </p:spTree>
    <p:extLst>
      <p:ext uri="{BB962C8B-B14F-4D97-AF65-F5344CB8AC3E}">
        <p14:creationId xmlns:p14="http://schemas.microsoft.com/office/powerpoint/2010/main" xmlns="" val="2094723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>
                <a:solidFill>
                  <a:schemeClr val="accent2"/>
                </a:solidFill>
              </a:rPr>
              <a:t>Header files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You can make your own header files with prototypes of frequently used functions:</a:t>
            </a:r>
          </a:p>
          <a:p>
            <a:pPr lvl="1">
              <a:buFontTx/>
              <a:buNone/>
            </a:pPr>
            <a:r>
              <a:rPr lang="en-AU" b="1"/>
              <a:t>#include "myFunctions.h"</a:t>
            </a:r>
            <a:endParaRPr lang="en-AU"/>
          </a:p>
          <a:p>
            <a:r>
              <a:rPr lang="en-AU"/>
              <a:t>Put the functions in a corresponding C file, and include those too:</a:t>
            </a:r>
          </a:p>
          <a:p>
            <a:pPr lvl="1">
              <a:buFontTx/>
              <a:buNone/>
            </a:pPr>
            <a:r>
              <a:rPr lang="en-AU" b="1"/>
              <a:t>#include "myFunctions.c"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424475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533400"/>
            <a:ext cx="55626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&lt;</a:t>
            </a:r>
            <a:r>
              <a:rPr lang="en-AU" sz="2000" b="1">
                <a:latin typeface="Courier New" charset="0"/>
              </a:rPr>
              <a:t>stdio.h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&gt;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#include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"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myFunctions.h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"</a:t>
            </a:r>
          </a:p>
          <a:p>
            <a:pPr marL="342900" indent="-342900"/>
            <a:r>
              <a:rPr lang="en-AU" sz="2000" b="1">
                <a:solidFill>
                  <a:schemeClr val="tx2"/>
                </a:solidFill>
                <a:latin typeface="Courier New" charset="0"/>
              </a:rPr>
              <a:t>#include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"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myFunctions.c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"</a:t>
            </a:r>
            <a:endParaRPr lang="en-AU" sz="2000" b="1">
              <a:solidFill>
                <a:schemeClr val="tx2"/>
              </a:solidFill>
              <a:latin typeface="Courier New" charset="0"/>
            </a:endParaRPr>
          </a:p>
          <a:p>
            <a:pPr marL="342900" indent="-342900"/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;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  <a:r>
              <a:rPr lang="en-AU" sz="2000" b="1">
                <a:latin typeface="Courier New" charset="0"/>
              </a:rPr>
              <a:t>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  <a:endParaRPr lang="en-AU" sz="800" b="1">
              <a:latin typeface="Courier New" charset="0"/>
            </a:endParaRPr>
          </a:p>
          <a:p>
            <a:pPr marL="342900" indent="-342900"/>
            <a:r>
              <a:rPr lang="en-AU" sz="8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5029200" y="990600"/>
            <a:ext cx="4114800" cy="1600200"/>
          </a:xfrm>
          <a:prstGeom prst="wedgeRectCallout">
            <a:avLst>
              <a:gd name="adj1" fmla="val -74884"/>
              <a:gd name="adj2" fmla="val -42958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AU"/>
              <a:t>Note</a:t>
            </a:r>
            <a:r>
              <a:rPr lang="en-AU">
                <a:solidFill>
                  <a:schemeClr val="tx2"/>
                </a:solidFill>
              </a:rPr>
              <a:t>:</a:t>
            </a:r>
          </a:p>
          <a:p>
            <a:pPr>
              <a:buFontTx/>
              <a:buChar char="•"/>
            </a:pPr>
            <a:r>
              <a:rPr lang="en-AU">
                <a:solidFill>
                  <a:schemeClr val="tx2"/>
                </a:solidFill>
              </a:rPr>
              <a:t> </a:t>
            </a:r>
            <a:r>
              <a:rPr lang="en-AU" b="1">
                <a:solidFill>
                  <a:srgbClr val="CC0000"/>
                </a:solidFill>
                <a:latin typeface="Courier New" charset="0"/>
              </a:rPr>
              <a:t>" "</a:t>
            </a:r>
            <a:r>
              <a:rPr lang="en-AU">
                <a:latin typeface="Courier New" charset="0"/>
              </a:rPr>
              <a:t> </a:t>
            </a:r>
            <a:r>
              <a:rPr lang="en-AU"/>
              <a:t>around file name for user-defined files</a:t>
            </a:r>
          </a:p>
          <a:p>
            <a:pPr>
              <a:buFontTx/>
              <a:buChar char="•"/>
            </a:pPr>
            <a:r>
              <a:rPr lang="en-AU"/>
              <a:t> </a:t>
            </a:r>
            <a:r>
              <a:rPr lang="en-AU" b="1">
                <a:solidFill>
                  <a:srgbClr val="CC0000"/>
                </a:solidFill>
                <a:latin typeface="Courier New" charset="0"/>
              </a:rPr>
              <a:t>&lt; &gt; </a:t>
            </a:r>
            <a:r>
              <a:rPr lang="en-AU">
                <a:solidFill>
                  <a:schemeClr val="tx2"/>
                </a:solidFill>
              </a:rPr>
              <a:t>for standard system files</a:t>
            </a:r>
            <a:r>
              <a:rPr lang="en-AU">
                <a:solidFill>
                  <a:srgbClr val="CC0000"/>
                </a:solidFill>
              </a:rPr>
              <a:t> </a:t>
            </a:r>
            <a:endParaRPr lang="en-AU"/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4876800" y="3657600"/>
            <a:ext cx="4267200" cy="1981200"/>
          </a:xfrm>
          <a:prstGeom prst="wedgeRectCallout">
            <a:avLst>
              <a:gd name="adj1" fmla="val -67634"/>
              <a:gd name="adj2" fmla="val -46556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AU" b="1">
                <a:latin typeface="Courier New" charset="0"/>
              </a:rPr>
              <a:t>isNegative() </a:t>
            </a:r>
            <a:r>
              <a:rPr lang="en-AU"/>
              <a:t>is declared in </a:t>
            </a:r>
            <a:r>
              <a:rPr lang="en-AU" b="1">
                <a:latin typeface="Courier New" charset="0"/>
              </a:rPr>
              <a:t>myFunctions.h</a:t>
            </a:r>
            <a:r>
              <a:rPr lang="en-AU"/>
              <a:t> and defined in </a:t>
            </a:r>
            <a:r>
              <a:rPr lang="en-AU" b="1">
                <a:latin typeface="Courier New" charset="0"/>
              </a:rPr>
              <a:t>myFunctions.c,</a:t>
            </a:r>
            <a:r>
              <a:rPr lang="en-AU"/>
              <a:t> </a:t>
            </a:r>
            <a:r>
              <a:rPr lang="en-AU" i="1"/>
              <a:t>not</a:t>
            </a:r>
            <a:r>
              <a:rPr lang="en-AU"/>
              <a:t> in this file!</a:t>
            </a:r>
          </a:p>
        </p:txBody>
      </p:sp>
    </p:spTree>
    <p:extLst>
      <p:ext uri="{BB962C8B-B14F-4D97-AF65-F5344CB8AC3E}">
        <p14:creationId xmlns:p14="http://schemas.microsoft.com/office/powerpoint/2010/main" xmlns="" val="14498544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myFunctions.</a:t>
            </a:r>
            <a:r>
              <a:rPr lang="en-US" sz="2800">
                <a:solidFill>
                  <a:srgbClr val="CC0000"/>
                </a:solidFill>
              </a:rPr>
              <a:t>c</a:t>
            </a:r>
            <a:endParaRPr lang="en-US" sz="2800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57199" y="609600"/>
            <a:ext cx="4038601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US" sz="2000" b="1" dirty="0">
                <a:latin typeface="Courier New" charset="0"/>
              </a:rPr>
              <a:t>i</a:t>
            </a:r>
            <a:r>
              <a:rPr lang="en-AU" sz="2000" b="1" dirty="0" err="1" smtClean="0">
                <a:latin typeface="Courier New" charset="0"/>
              </a:rPr>
              <a:t>nt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 err="1" smtClean="0">
                <a:latin typeface="Courier New" charset="0"/>
              </a:rPr>
              <a:t>isNegative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>
                <a:latin typeface="Courier New" charset="0"/>
              </a:rPr>
              <a:t>( 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 dirty="0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 dirty="0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if ( </a:t>
            </a:r>
            <a:r>
              <a:rPr lang="en-AU" sz="2000" b="1" dirty="0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 dirty="0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}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endParaRPr lang="en-AU" sz="2000" b="1" dirty="0">
              <a:latin typeface="Courier New" charset="0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495800" y="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2800" i="1">
                <a:solidFill>
                  <a:schemeClr val="tx2"/>
                </a:solidFill>
              </a:rPr>
              <a:t>Example: </a:t>
            </a:r>
            <a:r>
              <a:rPr lang="en-US" sz="2800">
                <a:solidFill>
                  <a:schemeClr val="tx2"/>
                </a:solidFill>
              </a:rPr>
              <a:t>myFunctions.</a:t>
            </a:r>
            <a:r>
              <a:rPr lang="en-US" sz="2800">
                <a:solidFill>
                  <a:srgbClr val="CC0000"/>
                </a:solidFill>
              </a:rPr>
              <a:t>h</a:t>
            </a:r>
            <a:endParaRPr lang="en-US" sz="2800">
              <a:solidFill>
                <a:schemeClr val="tx2"/>
              </a:solidFill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4648200" y="609600"/>
            <a:ext cx="40386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isNegative ( int 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2508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Scope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i="1"/>
              <a:t>Where can you use a variable which is declared in a function?</a:t>
            </a:r>
          </a:p>
          <a:p>
            <a:r>
              <a:rPr lang="en-US"/>
              <a:t>In that function </a:t>
            </a:r>
            <a:r>
              <a:rPr lang="en-US" b="1"/>
              <a:t>only</a:t>
            </a:r>
          </a:p>
          <a:p>
            <a:r>
              <a:rPr lang="en-US"/>
              <a:t>Not in a </a:t>
            </a:r>
            <a:r>
              <a:rPr lang="en-US" i="1"/>
              <a:t>calling</a:t>
            </a:r>
            <a:r>
              <a:rPr lang="en-US"/>
              <a:t> function</a:t>
            </a:r>
          </a:p>
          <a:p>
            <a:r>
              <a:rPr lang="en-US"/>
              <a:t>Not in a </a:t>
            </a:r>
            <a:r>
              <a:rPr lang="en-US" i="1"/>
              <a:t>called</a:t>
            </a:r>
            <a:r>
              <a:rPr lang="en-US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xmlns="" val="37788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Scope: Local Variables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Formal parameters: only accessible whilst function executing</a:t>
            </a:r>
          </a:p>
          <a:p>
            <a:r>
              <a:rPr lang="en-US"/>
              <a:t>Variables declared in a function body: only accessible whilst function executing</a:t>
            </a:r>
          </a:p>
          <a:p>
            <a:r>
              <a:rPr lang="en-US"/>
              <a:t>In fact, this is true of every block in a program</a:t>
            </a:r>
          </a:p>
        </p:txBody>
      </p:sp>
    </p:spTree>
    <p:extLst>
      <p:ext uri="{BB962C8B-B14F-4D97-AF65-F5344CB8AC3E}">
        <p14:creationId xmlns:p14="http://schemas.microsoft.com/office/powerpoint/2010/main" xmlns="" val="28407484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-195370" y="609600"/>
            <a:ext cx="4074854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 dirty="0">
                <a:latin typeface="Courier New" charset="0"/>
              </a:rPr>
              <a:t>#include &lt;</a:t>
            </a:r>
            <a:r>
              <a:rPr lang="en-AU" sz="2000" b="1" dirty="0" err="1">
                <a:latin typeface="Courier New" charset="0"/>
              </a:rPr>
              <a:t>stdio.h</a:t>
            </a:r>
            <a:r>
              <a:rPr lang="en-AU" sz="2000" b="1" dirty="0">
                <a:latin typeface="Courier New" charset="0"/>
              </a:rPr>
              <a:t>&gt;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 err="1" smtClean="0">
                <a:latin typeface="Courier New" charset="0"/>
              </a:rPr>
              <a:t>int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 err="1" smtClean="0">
                <a:latin typeface="Courier New" charset="0"/>
              </a:rPr>
              <a:t>isNegative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>
                <a:latin typeface="Courier New" charset="0"/>
              </a:rPr>
              <a:t>( 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</a:t>
            </a:r>
            <a:r>
              <a:rPr lang="en-AU" sz="2000" b="1" dirty="0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 sz="2000" b="1" dirty="0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result;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if (</a:t>
            </a:r>
            <a:r>
              <a:rPr lang="en-AU" sz="2000" b="1" dirty="0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 sz="2000" b="1" dirty="0">
                <a:latin typeface="Courier New" charset="0"/>
              </a:rPr>
              <a:t>&lt;0)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}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endParaRPr lang="en-AU" sz="2000" b="1" dirty="0">
              <a:latin typeface="Courier New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767844" y="609600"/>
            <a:ext cx="5376156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(isNegative(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54207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-307011" y="609600"/>
            <a:ext cx="4032989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 dirty="0">
                <a:latin typeface="Courier New" charset="0"/>
              </a:rPr>
              <a:t>#include &lt;</a:t>
            </a:r>
            <a:r>
              <a:rPr lang="en-AU" sz="2000" b="1" dirty="0" err="1">
                <a:latin typeface="Courier New" charset="0"/>
              </a:rPr>
              <a:t>stdio.h</a:t>
            </a:r>
            <a:r>
              <a:rPr lang="en-AU" sz="2000" b="1" dirty="0">
                <a:latin typeface="Courier New" charset="0"/>
              </a:rPr>
              <a:t>&gt;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r>
              <a:rPr lang="en-AU" sz="2000" b="1" dirty="0" err="1" smtClean="0">
                <a:latin typeface="Courier New" charset="0"/>
              </a:rPr>
              <a:t>int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 err="1" smtClean="0">
                <a:latin typeface="Courier New" charset="0"/>
              </a:rPr>
              <a:t>isNegative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>
                <a:latin typeface="Courier New" charset="0"/>
              </a:rPr>
              <a:t>( </a:t>
            </a:r>
            <a:r>
              <a:rPr lang="en-AU" sz="2000" b="1" dirty="0" err="1" smtClean="0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</a:t>
            </a:r>
            <a:r>
              <a:rPr lang="en-AU" sz="2000" b="1" dirty="0" smtClean="0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 sz="2000" b="1" dirty="0" smtClean="0">
                <a:latin typeface="Courier New" charset="0"/>
              </a:rPr>
              <a:t> </a:t>
            </a:r>
            <a:r>
              <a:rPr lang="en-AU" sz="2000" b="1" dirty="0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</a:t>
            </a:r>
            <a:r>
              <a:rPr lang="en-AU" sz="2000" b="1" dirty="0" err="1">
                <a:latin typeface="Courier New" charset="0"/>
              </a:rPr>
              <a:t>int</a:t>
            </a:r>
            <a:r>
              <a:rPr lang="en-AU" sz="2000" b="1" dirty="0">
                <a:latin typeface="Courier New" charset="0"/>
              </a:rPr>
              <a:t> result;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if (</a:t>
            </a:r>
            <a:r>
              <a:rPr lang="en-AU" sz="2000" b="1" dirty="0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 sz="2000" b="1" dirty="0">
                <a:latin typeface="Courier New" charset="0"/>
              </a:rPr>
              <a:t>&lt;0)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 dirty="0">
                <a:latin typeface="Courier New" charset="0"/>
              </a:rPr>
              <a:t>}</a:t>
            </a:r>
          </a:p>
          <a:p>
            <a:pPr marL="342900" indent="-342900"/>
            <a:endParaRPr lang="en-AU" sz="2000" b="1" dirty="0">
              <a:latin typeface="Courier New" charset="0"/>
            </a:endParaRPr>
          </a:p>
          <a:p>
            <a:pPr marL="342900" indent="-342900"/>
            <a:endParaRPr lang="en-AU" sz="2000" b="1" dirty="0">
              <a:latin typeface="Courier New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725978" y="609600"/>
            <a:ext cx="5418022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number;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(isNegative(number))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381000" y="5029200"/>
            <a:ext cx="4343400" cy="1600200"/>
          </a:xfrm>
          <a:prstGeom prst="wedgeRectCallout">
            <a:avLst>
              <a:gd name="adj1" fmla="val -14875"/>
              <a:gd name="adj2" fmla="val -187301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>
                <a:solidFill>
                  <a:srgbClr val="CC0000"/>
                </a:solidFill>
              </a:rPr>
              <a:t>ERROR!  </a:t>
            </a:r>
            <a:r>
              <a:rPr lang="en-AU"/>
              <a:t>Number is local to the </a:t>
            </a:r>
            <a:r>
              <a:rPr lang="en-AU" b="1">
                <a:latin typeface="Courier New" charset="0"/>
              </a:rPr>
              <a:t>main </a:t>
            </a:r>
            <a:r>
              <a:rPr lang="en-AU"/>
              <a:t>function, not accessible here</a:t>
            </a:r>
            <a:endParaRPr lang="en-AU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919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609600"/>
            <a:ext cx="35052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505200" y="609600"/>
            <a:ext cx="56388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number;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2362200" y="4572000"/>
            <a:ext cx="3505200" cy="1447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en-AU"/>
              <a:t>Use the parameter </a:t>
            </a:r>
            <a:r>
              <a:rPr lang="en-AU" b="1" i="1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/>
              <a:t> which is local to the function</a:t>
            </a:r>
            <a:r>
              <a:rPr lang="en-AU" b="1">
                <a:latin typeface="Courier New" charset="0"/>
              </a:rPr>
              <a:t> isNegative()</a:t>
            </a:r>
            <a:endParaRPr lang="en-AU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 flipH="1" flipV="1">
            <a:off x="1524000" y="2743200"/>
            <a:ext cx="1143000" cy="18288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flipH="1" flipV="1">
            <a:off x="2971800" y="1828800"/>
            <a:ext cx="0" cy="27432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312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609600"/>
            <a:ext cx="35052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505200" y="609600"/>
            <a:ext cx="56388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number;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2533" name="AutoShape 5"/>
          <p:cNvSpPr>
            <a:spLocks noChangeArrowheads="1"/>
          </p:cNvSpPr>
          <p:nvPr/>
        </p:nvSpPr>
        <p:spPr bwMode="auto">
          <a:xfrm>
            <a:off x="6172200" y="4953000"/>
            <a:ext cx="2286000" cy="1143000"/>
          </a:xfrm>
          <a:prstGeom prst="wedgeRectCallout">
            <a:avLst>
              <a:gd name="adj1" fmla="val -25278"/>
              <a:gd name="adj2" fmla="val -190694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 b="1" i="1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/>
              <a:t> is the </a:t>
            </a:r>
            <a:r>
              <a:rPr lang="en-AU" b="1" i="1"/>
              <a:t>actual</a:t>
            </a:r>
            <a:r>
              <a:rPr lang="en-AU"/>
              <a:t> parameter</a:t>
            </a:r>
          </a:p>
        </p:txBody>
      </p:sp>
      <p:sp>
        <p:nvSpPr>
          <p:cNvPr id="22534" name="AutoShape 6"/>
          <p:cNvSpPr>
            <a:spLocks noChangeArrowheads="1"/>
          </p:cNvSpPr>
          <p:nvPr/>
        </p:nvSpPr>
        <p:spPr bwMode="auto">
          <a:xfrm>
            <a:off x="1447800" y="3810000"/>
            <a:ext cx="2514600" cy="1447800"/>
          </a:xfrm>
          <a:prstGeom prst="wedgeRectCallout">
            <a:avLst>
              <a:gd name="adj1" fmla="val 11111"/>
              <a:gd name="adj2" fmla="val -185306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 b="1" i="1">
                <a:solidFill>
                  <a:srgbClr val="CC0000"/>
                </a:solidFill>
                <a:latin typeface="Courier New" charset="0"/>
              </a:rPr>
              <a:t>n</a:t>
            </a:r>
            <a:r>
              <a:rPr lang="en-AU"/>
              <a:t> is the </a:t>
            </a:r>
            <a:r>
              <a:rPr lang="en-AU" b="1" i="1"/>
              <a:t>formal</a:t>
            </a:r>
            <a:r>
              <a:rPr lang="en-AU"/>
              <a:t> parameter</a:t>
            </a:r>
          </a:p>
        </p:txBody>
      </p:sp>
    </p:spTree>
    <p:extLst>
      <p:ext uri="{BB962C8B-B14F-4D97-AF65-F5344CB8AC3E}">
        <p14:creationId xmlns:p14="http://schemas.microsoft.com/office/powerpoint/2010/main" xmlns="" val="3148304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609600"/>
            <a:ext cx="35052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38862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isNegative.c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505200" y="609600"/>
            <a:ext cx="56388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isNegative(number)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3557" name="AutoShape 5"/>
          <p:cNvSpPr>
            <a:spLocks noChangeArrowheads="1"/>
          </p:cNvSpPr>
          <p:nvPr/>
        </p:nvSpPr>
        <p:spPr bwMode="auto">
          <a:xfrm>
            <a:off x="1981200" y="5410200"/>
            <a:ext cx="5715000" cy="1447800"/>
          </a:xfrm>
          <a:prstGeom prst="wedgeRectCallout">
            <a:avLst>
              <a:gd name="adj1" fmla="val -25056"/>
              <a:gd name="adj2" fmla="val -49014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AU" b="1" i="1">
                <a:solidFill>
                  <a:srgbClr val="CC0000"/>
                </a:solidFill>
                <a:latin typeface="Courier New" charset="0"/>
              </a:rPr>
              <a:t>result &amp; n:</a:t>
            </a:r>
            <a:r>
              <a:rPr lang="en-AU"/>
              <a:t> local  to </a:t>
            </a:r>
            <a:r>
              <a:rPr lang="en-AU" b="1" i="1">
                <a:latin typeface="Courier New" charset="0"/>
              </a:rPr>
              <a:t>isNegative()</a:t>
            </a:r>
          </a:p>
          <a:p>
            <a:r>
              <a:rPr lang="en-AU" b="1" i="1">
                <a:solidFill>
                  <a:srgbClr val="CC0000"/>
                </a:solidFill>
                <a:latin typeface="Courier New" charset="0"/>
              </a:rPr>
              <a:t>number:</a:t>
            </a:r>
            <a:r>
              <a:rPr lang="en-AU" b="1" i="1">
                <a:latin typeface="Courier New" charset="0"/>
              </a:rPr>
              <a:t> </a:t>
            </a:r>
            <a:r>
              <a:rPr lang="en-AU"/>
              <a:t>local  to</a:t>
            </a:r>
            <a:r>
              <a:rPr lang="en-AU" b="1" i="1">
                <a:latin typeface="Courier New" charset="0"/>
              </a:rPr>
              <a:t> main()</a:t>
            </a:r>
            <a:endParaRPr lang="en-AU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 flipH="1" flipV="1">
            <a:off x="1752600" y="2514600"/>
            <a:ext cx="1371600" cy="28956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3657600" y="1828800"/>
            <a:ext cx="1447800" cy="35814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824285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609600"/>
            <a:ext cx="35052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int number;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void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 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62484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isNegativeGlobal.c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505200" y="609600"/>
            <a:ext cx="56388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isNegative()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15379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609600"/>
            <a:ext cx="35052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r>
              <a:rPr lang="en-AU" sz="2000" b="1">
                <a:latin typeface="Courier New" charset="0"/>
              </a:rPr>
              <a:t>#include &lt;stdio.h&gt;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solidFill>
                  <a:srgbClr val="CC0000"/>
                </a:solidFill>
                <a:latin typeface="Courier New" charset="0"/>
              </a:rPr>
              <a:t>int number;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isNegative ( void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int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result</a:t>
            </a:r>
            <a:r>
              <a:rPr lang="en-AU" sz="2000" b="1">
                <a:latin typeface="Courier New" charset="0"/>
              </a:rPr>
              <a:t>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if ( 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 </a:t>
            </a:r>
            <a:r>
              <a:rPr lang="en-AU" sz="2000" b="1">
                <a:latin typeface="Courier New" charset="0"/>
              </a:rPr>
              <a:t>&lt;0 )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result=1;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 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result =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result;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6248400" cy="4572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en-US" sz="2800" i="1"/>
              <a:t>Example: </a:t>
            </a:r>
            <a:r>
              <a:rPr lang="en-US" sz="2800"/>
              <a:t>isNegativeGlobal.c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505200" y="609600"/>
            <a:ext cx="5638800" cy="624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10896" rIns="36000"/>
          <a:lstStyle/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int main (void)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printf ("Enter an integer: 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scanf ("%d",&amp;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number</a:t>
            </a:r>
            <a:r>
              <a:rPr lang="en-AU" sz="2000" b="1">
                <a:latin typeface="Courier New" charset="0"/>
              </a:rPr>
              <a:t>);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  <a:p>
            <a:pPr marL="342900" indent="-342900"/>
            <a:r>
              <a:rPr lang="en-AU" sz="2000" b="1">
                <a:latin typeface="Courier New" charset="0"/>
              </a:rPr>
              <a:t>	if (</a:t>
            </a:r>
            <a:r>
              <a:rPr lang="en-AU" sz="2000" b="1">
                <a:solidFill>
                  <a:schemeClr val="tx2"/>
                </a:solidFill>
                <a:latin typeface="Courier New" charset="0"/>
              </a:rPr>
              <a:t>isNegative()</a:t>
            </a:r>
            <a:r>
              <a:rPr lang="en-AU" sz="2000" b="1">
                <a:latin typeface="Courier New" charset="0"/>
              </a:rPr>
              <a:t>)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printf("Negative\n");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else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{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	printf("Positive\n");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}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	return 0;</a:t>
            </a:r>
          </a:p>
          <a:p>
            <a:pPr marL="342900" indent="-342900"/>
            <a:r>
              <a:rPr lang="en-AU" sz="2000" b="1">
                <a:latin typeface="Courier New" charset="0"/>
              </a:rPr>
              <a:t>}</a:t>
            </a:r>
          </a:p>
          <a:p>
            <a:pPr marL="342900" indent="-342900"/>
            <a:endParaRPr lang="en-AU" sz="2000" b="1">
              <a:latin typeface="Courier New" charset="0"/>
            </a:endParaRPr>
          </a:p>
        </p:txBody>
      </p:sp>
      <p:sp>
        <p:nvSpPr>
          <p:cNvPr id="25605" name="AutoShape 5"/>
          <p:cNvSpPr>
            <a:spLocks noChangeArrowheads="1"/>
          </p:cNvSpPr>
          <p:nvPr/>
        </p:nvSpPr>
        <p:spPr bwMode="auto">
          <a:xfrm>
            <a:off x="2819400" y="1752600"/>
            <a:ext cx="4648200" cy="2438400"/>
          </a:xfrm>
          <a:prstGeom prst="wedgeRectCallout">
            <a:avLst>
              <a:gd name="adj1" fmla="val -65708"/>
              <a:gd name="adj2" fmla="val -6009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AU" sz="2800"/>
              <a:t>number is now GLOBAL - declared </a:t>
            </a:r>
            <a:r>
              <a:rPr lang="en-AU" sz="2800" i="1"/>
              <a:t>outside</a:t>
            </a:r>
            <a:r>
              <a:rPr lang="en-AU" sz="2800"/>
              <a:t> any function, accessible in all functions (</a:t>
            </a:r>
            <a:r>
              <a:rPr lang="en-AU" sz="2800" i="1"/>
              <a:t>after</a:t>
            </a:r>
            <a:r>
              <a:rPr lang="en-AU" sz="2800"/>
              <a:t> the declaration)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1488470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>
                <a:solidFill>
                  <a:schemeClr val="accent2"/>
                </a:solidFill>
              </a:rPr>
              <a:t>Scope: Global Variables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Global variables are accessible in any function </a:t>
            </a:r>
            <a:r>
              <a:rPr lang="en-AU" b="1"/>
              <a:t>after</a:t>
            </a:r>
            <a:r>
              <a:rPr lang="en-AU"/>
              <a:t> their declaration to the end of that source file </a:t>
            </a:r>
          </a:p>
          <a:p>
            <a:r>
              <a:rPr lang="en-AU"/>
              <a:t>They're useful, but risky </a:t>
            </a:r>
          </a:p>
          <a:p>
            <a:pPr lvl="1"/>
            <a:r>
              <a:rPr lang="en-AU"/>
              <a:t>if any and every function can modify them, it can be difficult to keep track of their value</a:t>
            </a:r>
          </a:p>
          <a:p>
            <a:r>
              <a:rPr lang="en-AU"/>
              <a:t>Better to use local variables and parameter passing if possible</a:t>
            </a:r>
          </a:p>
        </p:txBody>
      </p:sp>
    </p:spTree>
    <p:extLst>
      <p:ext uri="{BB962C8B-B14F-4D97-AF65-F5344CB8AC3E}">
        <p14:creationId xmlns:p14="http://schemas.microsoft.com/office/powerpoint/2010/main" xmlns="" val="50389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>
                <a:solidFill>
                  <a:schemeClr val="accent2"/>
                </a:solidFill>
              </a:rPr>
              <a:t>Scope: Functions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Functions are also accessible in any function </a:t>
            </a:r>
            <a:r>
              <a:rPr lang="en-AU" b="1"/>
              <a:t>after</a:t>
            </a:r>
            <a:r>
              <a:rPr lang="en-AU"/>
              <a:t> their declaration to the end of that source file</a:t>
            </a:r>
          </a:p>
        </p:txBody>
      </p:sp>
    </p:spTree>
    <p:extLst>
      <p:ext uri="{BB962C8B-B14F-4D97-AF65-F5344CB8AC3E}">
        <p14:creationId xmlns:p14="http://schemas.microsoft.com/office/powerpoint/2010/main" xmlns="" val="38890208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>
                <a:solidFill>
                  <a:schemeClr val="accent2"/>
                </a:solidFill>
              </a:rPr>
              <a:t>Summary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Include function </a:t>
            </a:r>
            <a:r>
              <a:rPr lang="en-AU" i="1"/>
              <a:t>prototype</a:t>
            </a:r>
            <a:r>
              <a:rPr lang="en-AU"/>
              <a:t> </a:t>
            </a:r>
            <a:r>
              <a:rPr lang="en-AU" b="1"/>
              <a:t>before</a:t>
            </a:r>
            <a:r>
              <a:rPr lang="en-AU"/>
              <a:t> its use</a:t>
            </a:r>
          </a:p>
          <a:p>
            <a:r>
              <a:rPr lang="en-AU"/>
              <a:t>Be careful about the </a:t>
            </a:r>
            <a:r>
              <a:rPr lang="en-AU" i="1"/>
              <a:t>scope</a:t>
            </a:r>
            <a:r>
              <a:rPr lang="en-AU"/>
              <a:t> of variables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905770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3643312" y="1865312"/>
          <a:ext cx="1857375" cy="3995738"/>
        </p:xfrm>
        <a:graphic>
          <a:graphicData uri="http://schemas.openxmlformats.org/presentationml/2006/ole">
            <p:oleObj spid="_x0000_s1025" name="Clip" r:id="rId3" imgW="1854740" imgH="398834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07960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2633</Words>
  <Application>Microsoft Macintosh PowerPoint</Application>
  <PresentationFormat>On-screen Show (4:3)</PresentationFormat>
  <Paragraphs>1062</Paragraphs>
  <Slides>52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Office Theme</vt:lpstr>
      <vt:lpstr>Clip</vt:lpstr>
      <vt:lpstr>Slide 1</vt:lpstr>
      <vt:lpstr>Method, Procedure, Function or Sub-routine</vt:lpstr>
      <vt:lpstr>Defining a function</vt:lpstr>
      <vt:lpstr>Defining a function</vt:lpstr>
      <vt:lpstr>Example</vt:lpstr>
      <vt:lpstr>Function Declaration</vt:lpstr>
      <vt:lpstr>Calling a Function </vt:lpstr>
      <vt:lpstr>Example</vt:lpstr>
      <vt:lpstr>Example: hello1.c</vt:lpstr>
      <vt:lpstr>Example: hello1.c</vt:lpstr>
      <vt:lpstr>Example: hello1.c</vt:lpstr>
      <vt:lpstr>Example: hello1.c</vt:lpstr>
      <vt:lpstr>Example: hello1.c</vt:lpstr>
      <vt:lpstr>Parameters</vt:lpstr>
      <vt:lpstr>Example: badsort.c</vt:lpstr>
      <vt:lpstr>Example: badsort.c</vt:lpstr>
      <vt:lpstr>Example: badsort.c</vt:lpstr>
      <vt:lpstr>Parameters (cont.)</vt:lpstr>
      <vt:lpstr>Example: badswap.c</vt:lpstr>
      <vt:lpstr>Example: badswap.c</vt:lpstr>
      <vt:lpstr>Example: badswap.c</vt:lpstr>
      <vt:lpstr>Example: badswap.c</vt:lpstr>
      <vt:lpstr>Example: badswap.c</vt:lpstr>
      <vt:lpstr>Parameters (cont.)</vt:lpstr>
      <vt:lpstr>Return Values</vt:lpstr>
      <vt:lpstr>Example: max.c</vt:lpstr>
      <vt:lpstr>Example: max.c</vt:lpstr>
      <vt:lpstr>Example: max.c</vt:lpstr>
      <vt:lpstr>Return Values (cont.)</vt:lpstr>
      <vt:lpstr>Prototyping of Functions</vt:lpstr>
      <vt:lpstr>Example: isNegative.c</vt:lpstr>
      <vt:lpstr>Example: isNegative.c</vt:lpstr>
      <vt:lpstr>Example: isNegative.c</vt:lpstr>
      <vt:lpstr>Example: isNegative.c</vt:lpstr>
      <vt:lpstr>Example: isNegative.c</vt:lpstr>
      <vt:lpstr>Example: isNegative.c</vt:lpstr>
      <vt:lpstr>Header files</vt:lpstr>
      <vt:lpstr>Example: isNegative.c</vt:lpstr>
      <vt:lpstr>Example: myFunctions.c</vt:lpstr>
      <vt:lpstr>Scope</vt:lpstr>
      <vt:lpstr>Scope: Local Variables</vt:lpstr>
      <vt:lpstr>Example: isNegative.c</vt:lpstr>
      <vt:lpstr>Example: isNegative.c</vt:lpstr>
      <vt:lpstr>Example: isNegative.c</vt:lpstr>
      <vt:lpstr>Example: isNegative.c</vt:lpstr>
      <vt:lpstr>Example: isNegative.c</vt:lpstr>
      <vt:lpstr>Example: isNegativeGlobal.c</vt:lpstr>
      <vt:lpstr>Example: isNegativeGlobal.c</vt:lpstr>
      <vt:lpstr>Scope: Global Variables</vt:lpstr>
      <vt:lpstr>Scope: Functions</vt:lpstr>
      <vt:lpstr>Summary</vt:lpstr>
      <vt:lpstr>Slide 52</vt:lpstr>
    </vt:vector>
  </TitlesOfParts>
  <Company>RUET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MAMUN MAMUN</dc:creator>
  <cp:lastModifiedBy>Kushtia</cp:lastModifiedBy>
  <cp:revision>17</cp:revision>
  <dcterms:created xsi:type="dcterms:W3CDTF">2014-04-20T17:14:05Z</dcterms:created>
  <dcterms:modified xsi:type="dcterms:W3CDTF">2018-05-07T15:16:29Z</dcterms:modified>
</cp:coreProperties>
</file>