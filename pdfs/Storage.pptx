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1256" y="-12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printerSettings" Target="printerSettings/printerSettings1.bin"/><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E206D48-7305-AC4E-887B-4C16B1443FAA}" type="datetimeFigureOut">
              <a:rPr lang="en-US" smtClean="0"/>
              <a:t>5/4/14</a:t>
            </a:fld>
            <a:endParaRPr lang="en-US"/>
          </a:p>
        </p:txBody>
      </p:sp>
      <p:sp>
        <p:nvSpPr>
          <p:cNvPr id="8" name="Slide Number Placeholder 7"/>
          <p:cNvSpPr>
            <a:spLocks noGrp="1"/>
          </p:cNvSpPr>
          <p:nvPr>
            <p:ph type="sldNum" sz="quarter" idx="11"/>
          </p:nvPr>
        </p:nvSpPr>
        <p:spPr/>
        <p:txBody>
          <a:bodyPr/>
          <a:lstStyle/>
          <a:p>
            <a:fld id="{07DE3DBD-221B-B443-8F4E-B5B113A27E3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E206D48-7305-AC4E-887B-4C16B1443FAA}" type="datetimeFigureOut">
              <a:rPr lang="en-US" smtClean="0"/>
              <a:t>5/4/14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206D48-7305-AC4E-887B-4C16B1443FAA}" type="datetimeFigureOut">
              <a:rPr lang="en-US" smtClean="0"/>
              <a:t>5/4/14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E3DBD-221B-B443-8F4E-B5B113A27E38}"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E206D48-7305-AC4E-887B-4C16B1443FAA}" type="datetimeFigureOut">
              <a:rPr lang="en-US" smtClean="0"/>
              <a:t>5/4/14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E3DBD-221B-B443-8F4E-B5B113A27E38}"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6E206D48-7305-AC4E-887B-4C16B1443FAA}" type="datetimeFigureOut">
              <a:rPr lang="en-US" smtClean="0"/>
              <a:t>5/4/14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DE3DBD-221B-B443-8F4E-B5B113A27E38}"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E206D48-7305-AC4E-887B-4C16B1443FAA}" type="datetimeFigureOut">
              <a:rPr lang="en-US" smtClean="0"/>
              <a:t>5/4/14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206D48-7305-AC4E-887B-4C16B1443FAA}" type="datetimeFigureOut">
              <a:rPr lang="en-US" smtClean="0"/>
              <a:t>5/4/14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206D48-7305-AC4E-887B-4C16B1443FAA}" type="datetimeFigureOut">
              <a:rPr lang="en-US" smtClean="0"/>
              <a:t>5/4/14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206D48-7305-AC4E-887B-4C16B1443FAA}" type="datetimeFigureOut">
              <a:rPr lang="en-US" smtClean="0"/>
              <a:t>5/4/14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206D48-7305-AC4E-887B-4C16B1443FAA}" type="datetimeFigureOut">
              <a:rPr lang="en-US" smtClean="0"/>
              <a:t>5/4/14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206D48-7305-AC4E-887B-4C16B1443FAA}" type="datetimeFigureOut">
              <a:rPr lang="en-US" smtClean="0"/>
              <a:t>5/4/14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E3DBD-221B-B443-8F4E-B5B113A27E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E206D48-7305-AC4E-887B-4C16B1443FAA}" type="datetimeFigureOut">
              <a:rPr lang="en-US" smtClean="0"/>
              <a:t>5/4/14</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7DE3DBD-221B-B443-8F4E-B5B113A27E38}"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8308"/>
            <a:ext cx="7772400" cy="1470025"/>
          </a:xfrm>
        </p:spPr>
        <p:txBody>
          <a:bodyPr/>
          <a:lstStyle/>
          <a:p>
            <a:r>
              <a:rPr lang="en-US" dirty="0" smtClean="0"/>
              <a:t>C Storage Classes &amp; Scope</a:t>
            </a:r>
            <a:endParaRPr lang="en-US" dirty="0"/>
          </a:p>
        </p:txBody>
      </p:sp>
      <p:sp>
        <p:nvSpPr>
          <p:cNvPr id="3" name="Subtitle 2"/>
          <p:cNvSpPr>
            <a:spLocks noGrp="1"/>
          </p:cNvSpPr>
          <p:nvPr>
            <p:ph type="subTitle" idx="1"/>
          </p:nvPr>
        </p:nvSpPr>
        <p:spPr>
          <a:xfrm>
            <a:off x="1371600" y="4783666"/>
            <a:ext cx="6400800" cy="855133"/>
          </a:xfrm>
        </p:spPr>
        <p:txBody>
          <a:bodyPr/>
          <a:lstStyle/>
          <a:p>
            <a:r>
              <a:rPr lang="en-US" dirty="0" smtClean="0">
                <a:solidFill>
                  <a:schemeClr val="tx1"/>
                </a:solidFill>
              </a:rPr>
              <a:t>Dr. Md. Al </a:t>
            </a:r>
            <a:r>
              <a:rPr lang="en-US" dirty="0" err="1" smtClean="0">
                <a:solidFill>
                  <a:schemeClr val="tx1"/>
                </a:solidFill>
              </a:rPr>
              <a:t>Mamun</a:t>
            </a:r>
            <a:endParaRPr lang="en-US" dirty="0">
              <a:solidFill>
                <a:schemeClr val="tx1"/>
              </a:solidFill>
            </a:endParaRPr>
          </a:p>
        </p:txBody>
      </p:sp>
    </p:spTree>
    <p:extLst>
      <p:ext uri="{BB962C8B-B14F-4D97-AF65-F5344CB8AC3E}">
        <p14:creationId xmlns:p14="http://schemas.microsoft.com/office/powerpoint/2010/main" val="303967795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Class</a:t>
            </a:r>
            <a:endParaRPr lang="en-US" dirty="0"/>
          </a:p>
        </p:txBody>
      </p:sp>
      <p:sp>
        <p:nvSpPr>
          <p:cNvPr id="3" name="Content Placeholder 2"/>
          <p:cNvSpPr>
            <a:spLocks noGrp="1"/>
          </p:cNvSpPr>
          <p:nvPr>
            <p:ph idx="1"/>
          </p:nvPr>
        </p:nvSpPr>
        <p:spPr/>
        <p:txBody>
          <a:bodyPr>
            <a:normAutofit/>
          </a:bodyPr>
          <a:lstStyle/>
          <a:p>
            <a:pPr>
              <a:lnSpc>
                <a:spcPct val="150000"/>
              </a:lnSpc>
            </a:pPr>
            <a:r>
              <a:rPr lang="en-US" dirty="0" smtClean="0">
                <a:solidFill>
                  <a:srgbClr val="000000"/>
                </a:solidFill>
              </a:rPr>
              <a:t>A storage </a:t>
            </a:r>
            <a:r>
              <a:rPr lang="en-US" dirty="0">
                <a:solidFill>
                  <a:srgbClr val="000000"/>
                </a:solidFill>
              </a:rPr>
              <a:t>class defines the scope (visibility) </a:t>
            </a:r>
            <a:r>
              <a:rPr lang="en-US" dirty="0" smtClean="0">
                <a:solidFill>
                  <a:srgbClr val="000000"/>
                </a:solidFill>
              </a:rPr>
              <a:t>and life</a:t>
            </a:r>
            <a:r>
              <a:rPr lang="en-US" dirty="0">
                <a:solidFill>
                  <a:srgbClr val="000000"/>
                </a:solidFill>
              </a:rPr>
              <a:t>-time of variables and/or </a:t>
            </a:r>
            <a:r>
              <a:rPr lang="en-US" dirty="0" smtClean="0">
                <a:solidFill>
                  <a:srgbClr val="000000"/>
                </a:solidFill>
              </a:rPr>
              <a:t>functions within </a:t>
            </a:r>
            <a:r>
              <a:rPr lang="en-US" dirty="0">
                <a:solidFill>
                  <a:srgbClr val="000000"/>
                </a:solidFill>
              </a:rPr>
              <a:t>a C Program. These </a:t>
            </a:r>
            <a:r>
              <a:rPr lang="en-US" dirty="0" err="1">
                <a:solidFill>
                  <a:srgbClr val="000000"/>
                </a:solidFill>
              </a:rPr>
              <a:t>specifiers</a:t>
            </a:r>
            <a:r>
              <a:rPr lang="en-US" dirty="0">
                <a:solidFill>
                  <a:srgbClr val="000000"/>
                </a:solidFill>
              </a:rPr>
              <a:t> precede the type that they modify. There are the following storage classes, </a:t>
            </a:r>
          </a:p>
          <a:p>
            <a:pPr lvl="1">
              <a:lnSpc>
                <a:spcPct val="150000"/>
              </a:lnSpc>
            </a:pPr>
            <a:r>
              <a:rPr lang="en-US" dirty="0">
                <a:solidFill>
                  <a:srgbClr val="000000"/>
                </a:solidFill>
              </a:rPr>
              <a:t>a</a:t>
            </a:r>
            <a:r>
              <a:rPr lang="en-US" dirty="0" smtClean="0">
                <a:solidFill>
                  <a:srgbClr val="000000"/>
                </a:solidFill>
              </a:rPr>
              <a:t>uto </a:t>
            </a:r>
            <a:endParaRPr lang="en-US" dirty="0">
              <a:solidFill>
                <a:srgbClr val="000000"/>
              </a:solidFill>
            </a:endParaRPr>
          </a:p>
          <a:p>
            <a:pPr lvl="1">
              <a:lnSpc>
                <a:spcPct val="150000"/>
              </a:lnSpc>
            </a:pPr>
            <a:r>
              <a:rPr lang="en-US" dirty="0">
                <a:solidFill>
                  <a:srgbClr val="000000"/>
                </a:solidFill>
              </a:rPr>
              <a:t>r</a:t>
            </a:r>
            <a:r>
              <a:rPr lang="en-US" dirty="0" smtClean="0">
                <a:solidFill>
                  <a:srgbClr val="000000"/>
                </a:solidFill>
              </a:rPr>
              <a:t>egister </a:t>
            </a:r>
            <a:endParaRPr lang="en-US" dirty="0">
              <a:solidFill>
                <a:srgbClr val="000000"/>
              </a:solidFill>
            </a:endParaRPr>
          </a:p>
          <a:p>
            <a:pPr lvl="1">
              <a:lnSpc>
                <a:spcPct val="150000"/>
              </a:lnSpc>
            </a:pPr>
            <a:r>
              <a:rPr lang="en-US" dirty="0">
                <a:solidFill>
                  <a:srgbClr val="000000"/>
                </a:solidFill>
              </a:rPr>
              <a:t>s</a:t>
            </a:r>
            <a:r>
              <a:rPr lang="en-US" dirty="0" smtClean="0">
                <a:solidFill>
                  <a:srgbClr val="000000"/>
                </a:solidFill>
              </a:rPr>
              <a:t>tatic </a:t>
            </a:r>
            <a:endParaRPr lang="en-US" dirty="0">
              <a:solidFill>
                <a:srgbClr val="000000"/>
              </a:solidFill>
            </a:endParaRPr>
          </a:p>
          <a:p>
            <a:pPr lvl="1">
              <a:lnSpc>
                <a:spcPct val="150000"/>
              </a:lnSpc>
            </a:pPr>
            <a:r>
              <a:rPr lang="en-US" dirty="0">
                <a:solidFill>
                  <a:srgbClr val="000000"/>
                </a:solidFill>
              </a:rPr>
              <a:t> extern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241778466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a:t>
            </a:r>
            <a:endParaRPr lang="en-US" dirty="0"/>
          </a:p>
        </p:txBody>
      </p:sp>
      <p:sp>
        <p:nvSpPr>
          <p:cNvPr id="3" name="Content Placeholder 2"/>
          <p:cNvSpPr>
            <a:spLocks noGrp="1"/>
          </p:cNvSpPr>
          <p:nvPr>
            <p:ph idx="1"/>
          </p:nvPr>
        </p:nvSpPr>
        <p:spPr/>
        <p:txBody>
          <a:bodyPr>
            <a:normAutofit/>
          </a:bodyPr>
          <a:lstStyle/>
          <a:p>
            <a:pPr marL="0" indent="0">
              <a:buNone/>
            </a:pPr>
            <a:r>
              <a:rPr lang="en-US" dirty="0">
                <a:solidFill>
                  <a:srgbClr val="000000"/>
                </a:solidFill>
              </a:rPr>
              <a:t>The auto storage class is the default storage class for all local variables. </a:t>
            </a:r>
            <a:endParaRPr lang="en-US" dirty="0" smtClean="0">
              <a:solidFill>
                <a:srgbClr val="000000"/>
              </a:solidFill>
            </a:endParaRPr>
          </a:p>
          <a:p>
            <a:pPr marL="0" indent="0">
              <a:buNone/>
            </a:pPr>
            <a:r>
              <a:rPr lang="en-US" dirty="0" smtClean="0">
                <a:solidFill>
                  <a:srgbClr val="000000"/>
                </a:solidFill>
              </a:rPr>
              <a:t>			{</a:t>
            </a:r>
            <a:r>
              <a:rPr lang="en-US" dirty="0">
                <a:solidFill>
                  <a:srgbClr val="000000"/>
                </a:solidFill>
              </a:rPr>
              <a:t/>
            </a:r>
            <a:br>
              <a:rPr lang="en-US" dirty="0">
                <a:solidFill>
                  <a:srgbClr val="000000"/>
                </a:solidFill>
              </a:rPr>
            </a:br>
            <a:r>
              <a:rPr lang="en-US" dirty="0" smtClean="0">
                <a:solidFill>
                  <a:srgbClr val="000000"/>
                </a:solidFill>
              </a:rPr>
              <a:t>				</a:t>
            </a:r>
            <a:r>
              <a:rPr lang="en-US" dirty="0" err="1" smtClean="0">
                <a:solidFill>
                  <a:srgbClr val="000000"/>
                </a:solidFill>
              </a:rPr>
              <a:t>int</a:t>
            </a:r>
            <a:r>
              <a:rPr lang="en-US" dirty="0" smtClean="0">
                <a:solidFill>
                  <a:srgbClr val="000000"/>
                </a:solidFill>
              </a:rPr>
              <a:t> </a:t>
            </a:r>
            <a:r>
              <a:rPr lang="en-US" dirty="0">
                <a:solidFill>
                  <a:srgbClr val="000000"/>
                </a:solidFill>
              </a:rPr>
              <a:t>mount; </a:t>
            </a:r>
            <a:endParaRPr lang="en-US" dirty="0" smtClean="0">
              <a:solidFill>
                <a:srgbClr val="000000"/>
              </a:solidFill>
              <a:effectLst/>
            </a:endParaRPr>
          </a:p>
          <a:p>
            <a:pPr marL="0" indent="0">
              <a:buNone/>
            </a:pPr>
            <a:r>
              <a:rPr lang="en-US" dirty="0" smtClean="0">
                <a:solidFill>
                  <a:srgbClr val="000000"/>
                </a:solidFill>
              </a:rPr>
              <a:t>				auto </a:t>
            </a:r>
            <a:r>
              <a:rPr lang="en-US" dirty="0" err="1">
                <a:solidFill>
                  <a:srgbClr val="000000"/>
                </a:solidFill>
              </a:rPr>
              <a:t>int</a:t>
            </a:r>
            <a:r>
              <a:rPr lang="en-US" dirty="0">
                <a:solidFill>
                  <a:srgbClr val="000000"/>
                </a:solidFill>
              </a:rPr>
              <a:t> month; </a:t>
            </a:r>
            <a:endParaRPr lang="en-US" dirty="0" smtClean="0">
              <a:solidFill>
                <a:srgbClr val="000000"/>
              </a:solidFill>
            </a:endParaRPr>
          </a:p>
          <a:p>
            <a:pPr marL="0" indent="0">
              <a:buNone/>
            </a:pPr>
            <a:r>
              <a:rPr lang="en-US" dirty="0">
                <a:solidFill>
                  <a:srgbClr val="000000"/>
                </a:solidFill>
              </a:rPr>
              <a:t>	</a:t>
            </a:r>
            <a:r>
              <a:rPr lang="en-US" dirty="0" smtClean="0">
                <a:solidFill>
                  <a:srgbClr val="000000"/>
                </a:solidFill>
              </a:rPr>
              <a:t>		} </a:t>
            </a:r>
            <a:endParaRPr lang="en-US" dirty="0" smtClean="0">
              <a:solidFill>
                <a:srgbClr val="000000"/>
              </a:solidFill>
              <a:effectLst/>
            </a:endParaRPr>
          </a:p>
          <a:p>
            <a:pPr marL="0" indent="0">
              <a:buNone/>
            </a:pPr>
            <a:r>
              <a:rPr lang="en-US" dirty="0">
                <a:solidFill>
                  <a:srgbClr val="000000"/>
                </a:solidFill>
              </a:rPr>
              <a:t>The example above defines two variables with the same storage class, auto can only be used within functions, i.e., local variables. </a:t>
            </a:r>
            <a:endParaRPr lang="en-US" dirty="0" smtClean="0">
              <a:solidFill>
                <a:srgbClr val="000000"/>
              </a:solidFill>
            </a:endParaRPr>
          </a:p>
          <a:p>
            <a:endParaRPr lang="en-US" dirty="0"/>
          </a:p>
        </p:txBody>
      </p:sp>
    </p:spTree>
    <p:extLst>
      <p:ext uri="{BB962C8B-B14F-4D97-AF65-F5344CB8AC3E}">
        <p14:creationId xmlns:p14="http://schemas.microsoft.com/office/powerpoint/2010/main" val="106529902"/>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869" y="274638"/>
            <a:ext cx="8229600" cy="1143000"/>
          </a:xfrm>
        </p:spPr>
        <p:txBody>
          <a:bodyPr/>
          <a:lstStyle/>
          <a:p>
            <a:r>
              <a:rPr lang="en-US" dirty="0" smtClean="0"/>
              <a:t>register</a:t>
            </a:r>
            <a:endParaRPr lang="en-US" dirty="0"/>
          </a:p>
        </p:txBody>
      </p:sp>
      <p:sp>
        <p:nvSpPr>
          <p:cNvPr id="3" name="Content Placeholder 2"/>
          <p:cNvSpPr>
            <a:spLocks noGrp="1"/>
          </p:cNvSpPr>
          <p:nvPr>
            <p:ph idx="1"/>
          </p:nvPr>
        </p:nvSpPr>
        <p:spPr/>
        <p:txBody>
          <a:bodyPr>
            <a:normAutofit fontScale="77500" lnSpcReduction="20000"/>
          </a:bodyPr>
          <a:lstStyle/>
          <a:p>
            <a:r>
              <a:rPr lang="en-US" dirty="0">
                <a:solidFill>
                  <a:srgbClr val="000000"/>
                </a:solidFill>
              </a:rPr>
              <a:t>The register storage class is used to define local variables that should be stored in a register instead of RAM. This means that the variable has a maximum size equal to the register size (usually one word) and can't have the unary '&amp;' operator applied to it (as it does not have a memory location). </a:t>
            </a:r>
          </a:p>
          <a:p>
            <a:pPr marL="0" indent="0">
              <a:buNone/>
            </a:pPr>
            <a:r>
              <a:rPr lang="en-US" dirty="0" smtClean="0">
                <a:solidFill>
                  <a:srgbClr val="000000"/>
                </a:solidFill>
              </a:rPr>
              <a:t>			</a:t>
            </a:r>
          </a:p>
          <a:p>
            <a:pPr marL="0" indent="0">
              <a:buNone/>
            </a:pPr>
            <a:r>
              <a:rPr lang="en-US" dirty="0">
                <a:solidFill>
                  <a:srgbClr val="000000"/>
                </a:solidFill>
              </a:rPr>
              <a:t>	</a:t>
            </a:r>
            <a:r>
              <a:rPr lang="en-US" dirty="0" smtClean="0">
                <a:solidFill>
                  <a:srgbClr val="000000"/>
                </a:solidFill>
              </a:rPr>
              <a:t>		</a:t>
            </a:r>
            <a:r>
              <a:rPr lang="fr-FR" dirty="0" smtClean="0">
                <a:solidFill>
                  <a:srgbClr val="000000"/>
                </a:solidFill>
              </a:rPr>
              <a:t>{ </a:t>
            </a:r>
          </a:p>
          <a:p>
            <a:pPr marL="0" indent="0">
              <a:buNone/>
            </a:pPr>
            <a:r>
              <a:rPr lang="fr-FR" dirty="0">
                <a:solidFill>
                  <a:srgbClr val="000000"/>
                </a:solidFill>
              </a:rPr>
              <a:t>	</a:t>
            </a:r>
            <a:r>
              <a:rPr lang="fr-FR" dirty="0" smtClean="0">
                <a:solidFill>
                  <a:srgbClr val="000000"/>
                </a:solidFill>
              </a:rPr>
              <a:t>			</a:t>
            </a:r>
            <a:r>
              <a:rPr lang="fr-FR" dirty="0" err="1" smtClean="0">
                <a:solidFill>
                  <a:srgbClr val="000000"/>
                </a:solidFill>
              </a:rPr>
              <a:t>register</a:t>
            </a:r>
            <a:r>
              <a:rPr lang="fr-FR" dirty="0" smtClean="0">
                <a:solidFill>
                  <a:srgbClr val="000000"/>
                </a:solidFill>
              </a:rPr>
              <a:t> </a:t>
            </a:r>
            <a:r>
              <a:rPr lang="fr-FR" dirty="0" err="1">
                <a:solidFill>
                  <a:srgbClr val="000000"/>
                </a:solidFill>
              </a:rPr>
              <a:t>int</a:t>
            </a:r>
            <a:r>
              <a:rPr lang="fr-FR" dirty="0">
                <a:solidFill>
                  <a:srgbClr val="000000"/>
                </a:solidFill>
              </a:rPr>
              <a:t> miles; </a:t>
            </a:r>
            <a:endParaRPr lang="fr-FR" dirty="0" smtClean="0">
              <a:solidFill>
                <a:srgbClr val="000000"/>
              </a:solidFill>
            </a:endParaRPr>
          </a:p>
          <a:p>
            <a:pPr marL="0" indent="0">
              <a:buNone/>
            </a:pPr>
            <a:r>
              <a:rPr lang="fr-FR" dirty="0">
                <a:solidFill>
                  <a:srgbClr val="000000"/>
                </a:solidFill>
              </a:rPr>
              <a:t>	</a:t>
            </a:r>
            <a:r>
              <a:rPr lang="fr-FR" dirty="0" smtClean="0">
                <a:solidFill>
                  <a:srgbClr val="000000"/>
                </a:solidFill>
              </a:rPr>
              <a:t>		} </a:t>
            </a:r>
          </a:p>
          <a:p>
            <a:pPr marL="0" indent="0">
              <a:buNone/>
            </a:pPr>
            <a:endParaRPr lang="en-US" dirty="0" smtClean="0">
              <a:solidFill>
                <a:srgbClr val="000000"/>
              </a:solidFill>
            </a:endParaRPr>
          </a:p>
          <a:p>
            <a:pPr marL="0" indent="0">
              <a:buNone/>
            </a:pPr>
            <a:endParaRPr lang="en-US" dirty="0">
              <a:solidFill>
                <a:srgbClr val="000000"/>
              </a:solidFill>
            </a:endParaRPr>
          </a:p>
          <a:p>
            <a:r>
              <a:rPr lang="en-US" dirty="0" smtClean="0">
                <a:solidFill>
                  <a:srgbClr val="000000"/>
                </a:solidFill>
              </a:rPr>
              <a:t>The register should only be used for variables that require quick access such as counters. It should also be noted that defining 'register' does not mean that the variable will be stored in a register. </a:t>
            </a:r>
            <a:r>
              <a:rPr lang="en-US" dirty="0">
                <a:solidFill>
                  <a:srgbClr val="000000"/>
                </a:solidFill>
              </a:rPr>
              <a:t>It means that it MIGHT be stored in a register depending on hardware and implementation </a:t>
            </a:r>
            <a:r>
              <a:rPr lang="en-US" dirty="0" smtClean="0">
                <a:solidFill>
                  <a:srgbClr val="000000"/>
                </a:solidFill>
              </a:rPr>
              <a:t>restrictions. </a:t>
            </a:r>
          </a:p>
          <a:p>
            <a:pPr marL="0" indent="0">
              <a:buNone/>
            </a:pPr>
            <a:endParaRPr lang="en-US" dirty="0" smtClean="0"/>
          </a:p>
          <a:p>
            <a:pPr marL="0" indent="0">
              <a:buNone/>
            </a:pPr>
            <a:endParaRPr lang="fr-FR" dirty="0" smtClean="0"/>
          </a:p>
          <a:p>
            <a:pPr marL="0" indent="0">
              <a:buNone/>
            </a:pPr>
            <a:endParaRPr lang="fr-FR" dirty="0" smtClean="0"/>
          </a:p>
          <a:p>
            <a:pPr marL="0" indent="0">
              <a:buNone/>
            </a:pPr>
            <a:endParaRPr lang="fr-FR" dirty="0" smtClean="0"/>
          </a:p>
          <a:p>
            <a:endParaRPr lang="en-US" dirty="0" smtClean="0"/>
          </a:p>
          <a:p>
            <a:endParaRPr lang="en-US" dirty="0"/>
          </a:p>
        </p:txBody>
      </p:sp>
    </p:spTree>
    <p:extLst>
      <p:ext uri="{BB962C8B-B14F-4D97-AF65-F5344CB8AC3E}">
        <p14:creationId xmlns:p14="http://schemas.microsoft.com/office/powerpoint/2010/main" val="185041714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8470"/>
            <a:ext cx="8229600" cy="1600200"/>
          </a:xfrm>
        </p:spPr>
        <p:txBody>
          <a:bodyPr/>
          <a:lstStyle/>
          <a:p>
            <a:r>
              <a:rPr lang="en-US" dirty="0" smtClean="0"/>
              <a:t>static</a:t>
            </a:r>
            <a:endParaRPr lang="en-US" dirty="0"/>
          </a:p>
        </p:txBody>
      </p:sp>
      <p:sp>
        <p:nvSpPr>
          <p:cNvPr id="3" name="Content Placeholder 2"/>
          <p:cNvSpPr>
            <a:spLocks noGrp="1"/>
          </p:cNvSpPr>
          <p:nvPr>
            <p:ph idx="1"/>
          </p:nvPr>
        </p:nvSpPr>
        <p:spPr/>
        <p:txBody>
          <a:bodyPr>
            <a:normAutofit fontScale="92500"/>
          </a:bodyPr>
          <a:lstStyle/>
          <a:p>
            <a:pPr algn="just"/>
            <a:r>
              <a:rPr lang="en-US" dirty="0">
                <a:solidFill>
                  <a:srgbClr val="000000"/>
                </a:solidFill>
              </a:rPr>
              <a:t>The static storage class instructs the compiler to keep a local variable in existence during the life-time of the program instead of creating and destroying it each time it comes into and goes out of scope. </a:t>
            </a:r>
            <a:endParaRPr lang="en-US" dirty="0" smtClean="0">
              <a:solidFill>
                <a:srgbClr val="000000"/>
              </a:solidFill>
            </a:endParaRPr>
          </a:p>
          <a:p>
            <a:pPr marL="0" indent="0" algn="just">
              <a:buNone/>
            </a:pPr>
            <a:endParaRPr lang="en-US" dirty="0" smtClean="0">
              <a:solidFill>
                <a:srgbClr val="000000"/>
              </a:solidFill>
            </a:endParaRPr>
          </a:p>
          <a:p>
            <a:pPr algn="just"/>
            <a:r>
              <a:rPr lang="en-US" dirty="0" smtClean="0">
                <a:solidFill>
                  <a:srgbClr val="000000"/>
                </a:solidFill>
              </a:rPr>
              <a:t>Therefore</a:t>
            </a:r>
            <a:r>
              <a:rPr lang="en-US" dirty="0">
                <a:solidFill>
                  <a:srgbClr val="000000"/>
                </a:solidFill>
              </a:rPr>
              <a:t>, making local variables static allows them to maintain their values between function calls. </a:t>
            </a:r>
            <a:endParaRPr lang="en-US" dirty="0" smtClean="0">
              <a:solidFill>
                <a:srgbClr val="000000"/>
              </a:solidFill>
            </a:endParaRPr>
          </a:p>
          <a:p>
            <a:pPr marL="0" indent="0" algn="just">
              <a:buNone/>
            </a:pPr>
            <a:endParaRPr lang="en-US" dirty="0" smtClean="0">
              <a:solidFill>
                <a:srgbClr val="000000"/>
              </a:solidFill>
              <a:effectLst/>
            </a:endParaRPr>
          </a:p>
          <a:p>
            <a:pPr algn="just"/>
            <a:r>
              <a:rPr lang="en-US" dirty="0">
                <a:solidFill>
                  <a:srgbClr val="000000"/>
                </a:solidFill>
              </a:rPr>
              <a:t>The static modifier may also be applied to global variables. When this is done, it </a:t>
            </a:r>
            <a:r>
              <a:rPr lang="en-US" dirty="0" smtClean="0">
                <a:solidFill>
                  <a:srgbClr val="000000"/>
                </a:solidFill>
              </a:rPr>
              <a:t>causes that </a:t>
            </a:r>
            <a:r>
              <a:rPr lang="en-US" dirty="0">
                <a:solidFill>
                  <a:srgbClr val="000000"/>
                </a:solidFill>
              </a:rPr>
              <a:t>variable's scope to be restricted to the file in which it is declared. </a:t>
            </a:r>
            <a:endParaRPr lang="en-US" dirty="0" smtClean="0">
              <a:solidFill>
                <a:srgbClr val="000000"/>
              </a:solidFill>
              <a:effectLst/>
            </a:endParaRPr>
          </a:p>
          <a:p>
            <a:pPr algn="just"/>
            <a:endParaRPr lang="en-US" dirty="0"/>
          </a:p>
        </p:txBody>
      </p:sp>
    </p:spTree>
    <p:extLst>
      <p:ext uri="{BB962C8B-B14F-4D97-AF65-F5344CB8AC3E}">
        <p14:creationId xmlns:p14="http://schemas.microsoft.com/office/powerpoint/2010/main" val="2880699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57200" y="1600200"/>
            <a:ext cx="8229600" cy="5257800"/>
          </a:xfrm>
        </p:spPr>
        <p:txBody>
          <a:bodyPr>
            <a:normAutofit fontScale="62500" lnSpcReduction="20000"/>
          </a:bodyPr>
          <a:lstStyle/>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smtClean="0">
                <a:solidFill>
                  <a:srgbClr val="000000"/>
                </a:solidFill>
              </a:rPr>
              <a:t>/</a:t>
            </a:r>
            <a:r>
              <a:rPr lang="en-US" dirty="0">
                <a:solidFill>
                  <a:srgbClr val="000000"/>
                </a:solidFill>
              </a:rPr>
              <a:t>* function declaration */ </a:t>
            </a:r>
            <a:endParaRPr lang="en-US" dirty="0" smtClean="0">
              <a:solidFill>
                <a:srgbClr val="000000"/>
              </a:solidFill>
            </a:endParaRPr>
          </a:p>
          <a:p>
            <a:pPr marL="0" indent="0">
              <a:buNone/>
            </a:pPr>
            <a:r>
              <a:rPr lang="en-US" dirty="0" smtClean="0">
                <a:solidFill>
                  <a:srgbClr val="000000"/>
                </a:solidFill>
              </a:rPr>
              <a:t>void </a:t>
            </a:r>
            <a:r>
              <a:rPr lang="en-US" dirty="0" err="1">
                <a:solidFill>
                  <a:srgbClr val="000000"/>
                </a:solidFill>
              </a:rPr>
              <a:t>func</a:t>
            </a:r>
            <a:r>
              <a:rPr lang="en-US" dirty="0">
                <a:solidFill>
                  <a:srgbClr val="000000"/>
                </a:solidFill>
              </a:rPr>
              <a:t>(void)</a:t>
            </a:r>
            <a:r>
              <a:rPr lang="en-US" dirty="0" smtClean="0">
                <a:solidFill>
                  <a:srgbClr val="000000"/>
                </a:solidFill>
              </a:rPr>
              <a:t>;</a:t>
            </a:r>
          </a:p>
          <a:p>
            <a:pPr marL="0" indent="0">
              <a:buNone/>
            </a:pPr>
            <a:r>
              <a:rPr lang="en-US" dirty="0">
                <a:solidFill>
                  <a:srgbClr val="000000"/>
                </a:solidFill>
              </a:rPr>
              <a:t/>
            </a:r>
            <a:br>
              <a:rPr lang="en-US" dirty="0">
                <a:solidFill>
                  <a:srgbClr val="000000"/>
                </a:solidFill>
              </a:rPr>
            </a:br>
            <a:r>
              <a:rPr lang="en-US" dirty="0">
                <a:solidFill>
                  <a:srgbClr val="000000"/>
                </a:solidFill>
              </a:rPr>
              <a:t>static </a:t>
            </a:r>
            <a:r>
              <a:rPr lang="en-US" dirty="0" err="1">
                <a:solidFill>
                  <a:srgbClr val="000000"/>
                </a:solidFill>
              </a:rPr>
              <a:t>int</a:t>
            </a:r>
            <a:r>
              <a:rPr lang="en-US" dirty="0">
                <a:solidFill>
                  <a:srgbClr val="000000"/>
                </a:solidFill>
              </a:rPr>
              <a:t> count = 5; /* global variable */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a:solidFill>
                  <a:srgbClr val="000000"/>
                </a:solidFill>
              </a:rPr>
              <a:t>main() { </a:t>
            </a:r>
            <a:endParaRPr lang="en-US" dirty="0" smtClean="0">
              <a:solidFill>
                <a:srgbClr val="000000"/>
              </a:solidFill>
              <a:effectLst/>
            </a:endParaRPr>
          </a:p>
          <a:p>
            <a:pPr marL="0" indent="0">
              <a:buNone/>
            </a:pPr>
            <a:r>
              <a:rPr lang="en-US" dirty="0" smtClean="0">
                <a:solidFill>
                  <a:srgbClr val="000000"/>
                </a:solidFill>
              </a:rPr>
              <a:t>	while</a:t>
            </a:r>
            <a:r>
              <a:rPr lang="en-US" dirty="0">
                <a:solidFill>
                  <a:srgbClr val="000000"/>
                </a:solidFill>
              </a:rPr>
              <a:t>(count--) </a:t>
            </a:r>
            <a:endParaRPr lang="en-US" dirty="0" smtClean="0">
              <a:solidFill>
                <a:srgbClr val="000000"/>
              </a:solidFill>
            </a:endParaRPr>
          </a:p>
          <a:p>
            <a:pPr marL="0" indent="0">
              <a:buNone/>
            </a:pPr>
            <a:r>
              <a:rPr lang="en-US" dirty="0">
                <a:solidFill>
                  <a:srgbClr val="000000"/>
                </a:solidFill>
              </a:rPr>
              <a:t>	</a:t>
            </a:r>
            <a:r>
              <a:rPr lang="en-US" dirty="0" smtClean="0">
                <a:solidFill>
                  <a:srgbClr val="000000"/>
                </a:solidFill>
              </a:rPr>
              <a:t>	{ </a:t>
            </a:r>
          </a:p>
          <a:p>
            <a:pPr marL="0" indent="0">
              <a:buNone/>
            </a:pPr>
            <a:r>
              <a:rPr lang="en-US" dirty="0">
                <a:solidFill>
                  <a:srgbClr val="000000"/>
                </a:solidFill>
              </a:rPr>
              <a:t>	</a:t>
            </a:r>
            <a:r>
              <a:rPr lang="en-US" dirty="0" smtClean="0">
                <a:solidFill>
                  <a:srgbClr val="000000"/>
                </a:solidFill>
              </a:rPr>
              <a:t>		</a:t>
            </a:r>
            <a:r>
              <a:rPr lang="en-US" dirty="0" err="1" smtClean="0">
                <a:solidFill>
                  <a:srgbClr val="000000"/>
                </a:solidFill>
              </a:rPr>
              <a:t>func</a:t>
            </a:r>
            <a:r>
              <a:rPr lang="en-US" dirty="0">
                <a:solidFill>
                  <a:srgbClr val="000000"/>
                </a:solidFill>
              </a:rPr>
              <a:t>(); </a:t>
            </a:r>
            <a:endParaRPr lang="en-US" dirty="0" smtClean="0">
              <a:solidFill>
                <a:srgbClr val="000000"/>
              </a:solidFill>
            </a:endParaRPr>
          </a:p>
          <a:p>
            <a:pPr marL="0" indent="0">
              <a:buNone/>
            </a:pPr>
            <a:r>
              <a:rPr lang="en-US" dirty="0">
                <a:solidFill>
                  <a:srgbClr val="000000"/>
                </a:solidFill>
              </a:rPr>
              <a:t>	</a:t>
            </a:r>
            <a:r>
              <a:rPr lang="en-US" dirty="0" smtClean="0">
                <a:solidFill>
                  <a:srgbClr val="000000"/>
                </a:solidFill>
              </a:rPr>
              <a:t>	} </a:t>
            </a:r>
            <a:endParaRPr lang="en-US" dirty="0" smtClean="0">
              <a:solidFill>
                <a:srgbClr val="000000"/>
              </a:solidFill>
              <a:effectLst/>
            </a:endParaRPr>
          </a:p>
          <a:p>
            <a:pPr marL="0" indent="0">
              <a:buNone/>
            </a:pPr>
            <a:r>
              <a:rPr lang="en-US" dirty="0">
                <a:solidFill>
                  <a:srgbClr val="000000"/>
                </a:solidFill>
              </a:rPr>
              <a:t>return 0;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pPr marL="0" indent="0">
              <a:buNone/>
            </a:pPr>
            <a:r>
              <a:rPr lang="en-US" dirty="0">
                <a:solidFill>
                  <a:srgbClr val="000000"/>
                </a:solidFill>
              </a:rPr>
              <a:t>/* function definition */ </a:t>
            </a:r>
            <a:endParaRPr lang="en-US" dirty="0" smtClean="0">
              <a:solidFill>
                <a:srgbClr val="000000"/>
              </a:solidFill>
            </a:endParaRPr>
          </a:p>
          <a:p>
            <a:pPr marL="0" indent="0">
              <a:buNone/>
            </a:pPr>
            <a:r>
              <a:rPr lang="en-US" dirty="0" smtClean="0">
                <a:solidFill>
                  <a:srgbClr val="000000"/>
                </a:solidFill>
              </a:rPr>
              <a:t>void </a:t>
            </a:r>
            <a:r>
              <a:rPr lang="en-US" dirty="0" err="1">
                <a:solidFill>
                  <a:srgbClr val="000000"/>
                </a:solidFill>
              </a:rPr>
              <a:t>func</a:t>
            </a:r>
            <a:r>
              <a:rPr lang="en-US" dirty="0">
                <a:solidFill>
                  <a:srgbClr val="000000"/>
                </a:solidFill>
              </a:rPr>
              <a:t>( void ) </a:t>
            </a:r>
            <a:endParaRPr lang="en-US" dirty="0" smtClean="0">
              <a:solidFill>
                <a:srgbClr val="000000"/>
              </a:solidFill>
            </a:endParaRPr>
          </a:p>
          <a:p>
            <a:pPr marL="0" indent="0">
              <a:buNone/>
            </a:pPr>
            <a:r>
              <a:rPr lang="en-US" dirty="0" smtClean="0">
                <a:solidFill>
                  <a:srgbClr val="000000"/>
                </a:solidFill>
              </a:rPr>
              <a:t>{ </a:t>
            </a:r>
          </a:p>
          <a:p>
            <a:pPr marL="0" indent="0">
              <a:buNone/>
            </a:pPr>
            <a:r>
              <a:rPr lang="en-US" dirty="0">
                <a:solidFill>
                  <a:srgbClr val="000000"/>
                </a:solidFill>
              </a:rPr>
              <a:t>	</a:t>
            </a:r>
            <a:r>
              <a:rPr lang="en-US" dirty="0" smtClean="0">
                <a:solidFill>
                  <a:srgbClr val="000000"/>
                </a:solidFill>
              </a:rPr>
              <a:t>static </a:t>
            </a:r>
            <a:r>
              <a:rPr lang="en-US" dirty="0" err="1">
                <a:solidFill>
                  <a:srgbClr val="000000"/>
                </a:solidFill>
              </a:rPr>
              <a:t>int</a:t>
            </a:r>
            <a:r>
              <a:rPr lang="en-US" dirty="0">
                <a:solidFill>
                  <a:srgbClr val="000000"/>
                </a:solidFill>
              </a:rPr>
              <a:t> </a:t>
            </a:r>
            <a:r>
              <a:rPr lang="en-US" dirty="0" err="1">
                <a:solidFill>
                  <a:srgbClr val="000000"/>
                </a:solidFill>
              </a:rPr>
              <a:t>i</a:t>
            </a:r>
            <a:r>
              <a:rPr lang="en-US" dirty="0">
                <a:solidFill>
                  <a:srgbClr val="000000"/>
                </a:solidFill>
              </a:rPr>
              <a:t> = 5; /* local static variable *</a:t>
            </a:r>
            <a:r>
              <a:rPr lang="en-US" dirty="0" smtClean="0">
                <a:solidFill>
                  <a:srgbClr val="000000"/>
                </a:solidFill>
              </a:rPr>
              <a:t>/</a:t>
            </a:r>
          </a:p>
          <a:p>
            <a:pPr marL="0" indent="0">
              <a:buNone/>
            </a:pPr>
            <a:r>
              <a:rPr lang="en-US" dirty="0">
                <a:solidFill>
                  <a:srgbClr val="000000"/>
                </a:solidFill>
              </a:rPr>
              <a:t>	</a:t>
            </a:r>
            <a:r>
              <a:rPr lang="en-US" dirty="0" smtClean="0">
                <a:solidFill>
                  <a:srgbClr val="000000"/>
                </a:solidFill>
              </a:rPr>
              <a:t> </a:t>
            </a:r>
            <a:r>
              <a:rPr lang="en-US" dirty="0" err="1">
                <a:solidFill>
                  <a:srgbClr val="000000"/>
                </a:solidFill>
              </a:rPr>
              <a:t>i</a:t>
            </a:r>
            <a:r>
              <a:rPr lang="en-US" dirty="0">
                <a:solidFill>
                  <a:srgbClr val="000000"/>
                </a:solidFill>
              </a:rPr>
              <a:t>++;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smtClean="0">
                <a:solidFill>
                  <a:srgbClr val="000000"/>
                </a:solidFill>
              </a:rPr>
              <a:t>	</a:t>
            </a:r>
            <a:r>
              <a:rPr lang="en-US" dirty="0" err="1" smtClean="0">
                <a:solidFill>
                  <a:srgbClr val="000000"/>
                </a:solidFill>
              </a:rPr>
              <a:t>printf</a:t>
            </a:r>
            <a:r>
              <a:rPr lang="en-US" dirty="0">
                <a:solidFill>
                  <a:srgbClr val="000000"/>
                </a:solidFill>
              </a:rPr>
              <a:t>("</a:t>
            </a:r>
            <a:r>
              <a:rPr lang="en-US" dirty="0" err="1">
                <a:solidFill>
                  <a:srgbClr val="000000"/>
                </a:solidFill>
              </a:rPr>
              <a:t>i</a:t>
            </a:r>
            <a:r>
              <a:rPr lang="en-US" dirty="0">
                <a:solidFill>
                  <a:srgbClr val="000000"/>
                </a:solidFill>
              </a:rPr>
              <a:t> is %d and count is %d\n", </a:t>
            </a:r>
            <a:r>
              <a:rPr lang="en-US" dirty="0" err="1">
                <a:solidFill>
                  <a:srgbClr val="000000"/>
                </a:solidFill>
              </a:rPr>
              <a:t>i</a:t>
            </a:r>
            <a:r>
              <a:rPr lang="en-US" dirty="0">
                <a:solidFill>
                  <a:srgbClr val="000000"/>
                </a:solidFill>
              </a:rPr>
              <a:t>, count);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1338255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idx="1"/>
          </p:nvPr>
        </p:nvSpPr>
        <p:spPr/>
        <p:txBody>
          <a:bodyPr/>
          <a:lstStyle/>
          <a:p>
            <a:pPr marL="0" indent="0">
              <a:buNone/>
            </a:pPr>
            <a:r>
              <a:rPr lang="en-US" dirty="0" err="1">
                <a:solidFill>
                  <a:srgbClr val="000000"/>
                </a:solidFill>
              </a:rPr>
              <a:t>i</a:t>
            </a:r>
            <a:r>
              <a:rPr lang="en-US" dirty="0">
                <a:solidFill>
                  <a:srgbClr val="000000"/>
                </a:solidFill>
              </a:rPr>
              <a:t> is 6 and count is 4 </a:t>
            </a:r>
            <a:endParaRPr lang="en-US" dirty="0" smtClean="0">
              <a:solidFill>
                <a:srgbClr val="000000"/>
              </a:solidFill>
            </a:endParaRPr>
          </a:p>
          <a:p>
            <a:pPr marL="0" indent="0">
              <a:buNone/>
            </a:pPr>
            <a:r>
              <a:rPr lang="en-US" dirty="0" err="1" smtClean="0">
                <a:solidFill>
                  <a:srgbClr val="000000"/>
                </a:solidFill>
              </a:rPr>
              <a:t>i</a:t>
            </a:r>
            <a:r>
              <a:rPr lang="en-US" dirty="0" smtClean="0">
                <a:solidFill>
                  <a:srgbClr val="000000"/>
                </a:solidFill>
              </a:rPr>
              <a:t> </a:t>
            </a:r>
            <a:r>
              <a:rPr lang="en-US" dirty="0">
                <a:solidFill>
                  <a:srgbClr val="000000"/>
                </a:solidFill>
              </a:rPr>
              <a:t>is 7 and count is 3 </a:t>
            </a:r>
            <a:endParaRPr lang="en-US" dirty="0" smtClean="0">
              <a:solidFill>
                <a:srgbClr val="000000"/>
              </a:solidFill>
            </a:endParaRPr>
          </a:p>
          <a:p>
            <a:pPr marL="0" indent="0">
              <a:buNone/>
            </a:pPr>
            <a:r>
              <a:rPr lang="en-US" dirty="0" err="1" smtClean="0">
                <a:solidFill>
                  <a:srgbClr val="000000"/>
                </a:solidFill>
              </a:rPr>
              <a:t>i</a:t>
            </a:r>
            <a:r>
              <a:rPr lang="en-US" dirty="0" smtClean="0">
                <a:solidFill>
                  <a:srgbClr val="000000"/>
                </a:solidFill>
              </a:rPr>
              <a:t> </a:t>
            </a:r>
            <a:r>
              <a:rPr lang="en-US" dirty="0">
                <a:solidFill>
                  <a:srgbClr val="000000"/>
                </a:solidFill>
              </a:rPr>
              <a:t>is 8 and count is 2 </a:t>
            </a:r>
            <a:endParaRPr lang="en-US" dirty="0" smtClean="0">
              <a:solidFill>
                <a:srgbClr val="000000"/>
              </a:solidFill>
            </a:endParaRPr>
          </a:p>
          <a:p>
            <a:pPr marL="0" indent="0">
              <a:buNone/>
            </a:pPr>
            <a:r>
              <a:rPr lang="en-US" dirty="0" err="1" smtClean="0">
                <a:solidFill>
                  <a:srgbClr val="000000"/>
                </a:solidFill>
              </a:rPr>
              <a:t>i</a:t>
            </a:r>
            <a:r>
              <a:rPr lang="en-US" dirty="0" smtClean="0">
                <a:solidFill>
                  <a:srgbClr val="000000"/>
                </a:solidFill>
              </a:rPr>
              <a:t> </a:t>
            </a:r>
            <a:r>
              <a:rPr lang="en-US" dirty="0">
                <a:solidFill>
                  <a:srgbClr val="000000"/>
                </a:solidFill>
              </a:rPr>
              <a:t>is 9 and count is 1 </a:t>
            </a:r>
            <a:endParaRPr lang="en-US" dirty="0" smtClean="0">
              <a:solidFill>
                <a:srgbClr val="000000"/>
              </a:solidFill>
            </a:endParaRPr>
          </a:p>
          <a:p>
            <a:pPr marL="0" indent="0">
              <a:buNone/>
            </a:pPr>
            <a:r>
              <a:rPr lang="en-US" dirty="0" err="1" smtClean="0">
                <a:solidFill>
                  <a:srgbClr val="000000"/>
                </a:solidFill>
              </a:rPr>
              <a:t>i</a:t>
            </a:r>
            <a:r>
              <a:rPr lang="en-US" dirty="0" smtClean="0">
                <a:solidFill>
                  <a:srgbClr val="000000"/>
                </a:solidFill>
              </a:rPr>
              <a:t> </a:t>
            </a:r>
            <a:r>
              <a:rPr lang="en-US" dirty="0">
                <a:solidFill>
                  <a:srgbClr val="000000"/>
                </a:solidFill>
              </a:rPr>
              <a:t>is 10 and count is 0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300262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t>
            </a:r>
            <a:endParaRPr lang="en-US" dirty="0"/>
          </a:p>
        </p:txBody>
      </p:sp>
      <p:sp>
        <p:nvSpPr>
          <p:cNvPr id="3" name="Content Placeholder 2"/>
          <p:cNvSpPr>
            <a:spLocks noGrp="1"/>
          </p:cNvSpPr>
          <p:nvPr>
            <p:ph idx="1"/>
          </p:nvPr>
        </p:nvSpPr>
        <p:spPr/>
        <p:txBody>
          <a:bodyPr>
            <a:normAutofit fontScale="92500" lnSpcReduction="20000"/>
          </a:bodyPr>
          <a:lstStyle/>
          <a:p>
            <a:r>
              <a:rPr lang="en-US" dirty="0">
                <a:solidFill>
                  <a:srgbClr val="000000"/>
                </a:solidFill>
              </a:rPr>
              <a:t>The extern storage class is used to give a reference of a global variable that is visible to ALL the program files. When you use 'extern', the variable cannot be initialized as all it does is point the variable name at a storage location that has been previously defined. </a:t>
            </a:r>
            <a:endParaRPr lang="en-US" dirty="0" smtClean="0">
              <a:solidFill>
                <a:srgbClr val="000000"/>
              </a:solidFill>
            </a:endParaRPr>
          </a:p>
          <a:p>
            <a:endParaRPr lang="en-US" dirty="0" smtClean="0">
              <a:solidFill>
                <a:srgbClr val="000000"/>
              </a:solidFill>
              <a:effectLst/>
            </a:endParaRPr>
          </a:p>
          <a:p>
            <a:r>
              <a:rPr lang="en-US" dirty="0">
                <a:solidFill>
                  <a:srgbClr val="000000"/>
                </a:solidFill>
              </a:rPr>
              <a:t>When you have multiple files and you define a global variable or function, which will be used in other files also, then extern will be used in another file to give reference of defined variable or function. Just for understanding, extern is used to declare a global variable or function in another file. </a:t>
            </a:r>
            <a:endParaRPr lang="en-US" dirty="0" smtClean="0">
              <a:solidFill>
                <a:srgbClr val="000000"/>
              </a:solidFill>
            </a:endParaRPr>
          </a:p>
          <a:p>
            <a:endParaRPr lang="en-US" dirty="0" smtClean="0">
              <a:solidFill>
                <a:srgbClr val="000000"/>
              </a:solidFill>
              <a:effectLst/>
            </a:endParaRPr>
          </a:p>
          <a:p>
            <a:r>
              <a:rPr lang="en-US" dirty="0">
                <a:solidFill>
                  <a:srgbClr val="000000"/>
                </a:solidFill>
              </a:rPr>
              <a:t>The extern modifier is most commonly used when there are two or more files sharing the </a:t>
            </a:r>
            <a:r>
              <a:rPr lang="en-US" dirty="0" smtClean="0">
                <a:solidFill>
                  <a:srgbClr val="000000"/>
                </a:solidFill>
              </a:rPr>
              <a:t>same </a:t>
            </a:r>
            <a:r>
              <a:rPr lang="en-US" dirty="0">
                <a:solidFill>
                  <a:srgbClr val="000000"/>
                </a:solidFill>
              </a:rPr>
              <a:t>global </a:t>
            </a:r>
            <a:r>
              <a:rPr lang="en-US" dirty="0" smtClean="0">
                <a:solidFill>
                  <a:srgbClr val="000000"/>
                </a:solidFill>
              </a:rPr>
              <a:t>variables.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1302844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u="sng" dirty="0">
                <a:solidFill>
                  <a:srgbClr val="000000"/>
                </a:solidFill>
              </a:rPr>
              <a:t>First File: </a:t>
            </a:r>
            <a:r>
              <a:rPr lang="en-US" b="1" u="sng" dirty="0" err="1">
                <a:solidFill>
                  <a:srgbClr val="000000"/>
                </a:solidFill>
              </a:rPr>
              <a:t>main.c</a:t>
            </a:r>
            <a:r>
              <a:rPr lang="en-US" b="1" u="sng" dirty="0">
                <a:solidFill>
                  <a:srgbClr val="000000"/>
                </a:solidFill>
              </a:rPr>
              <a:t> </a:t>
            </a:r>
            <a:endParaRPr lang="en-US" b="1" u="sng" dirty="0" smtClean="0">
              <a:solidFill>
                <a:srgbClr val="000000"/>
              </a:solidFill>
              <a:effectLst/>
            </a:endParaRPr>
          </a:p>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count ; </a:t>
            </a:r>
            <a:endParaRPr lang="en-US" dirty="0" smtClean="0">
              <a:solidFill>
                <a:srgbClr val="000000"/>
              </a:solidFill>
            </a:endParaRPr>
          </a:p>
          <a:p>
            <a:pPr marL="0" indent="0">
              <a:buNone/>
            </a:pPr>
            <a:r>
              <a:rPr lang="en-US" dirty="0" smtClean="0">
                <a:solidFill>
                  <a:srgbClr val="000000"/>
                </a:solidFill>
              </a:rPr>
              <a:t>extern </a:t>
            </a:r>
            <a:r>
              <a:rPr lang="en-US" dirty="0">
                <a:solidFill>
                  <a:srgbClr val="000000"/>
                </a:solidFill>
              </a:rPr>
              <a:t>void </a:t>
            </a:r>
            <a:r>
              <a:rPr lang="en-US" dirty="0" err="1">
                <a:solidFill>
                  <a:srgbClr val="000000"/>
                </a:solidFill>
              </a:rPr>
              <a:t>write_extern</a:t>
            </a:r>
            <a:r>
              <a:rPr lang="en-US" dirty="0">
                <a:solidFill>
                  <a:srgbClr val="000000"/>
                </a:solidFill>
              </a:rPr>
              <a:t>(); </a:t>
            </a:r>
            <a:endParaRPr lang="en-US" dirty="0" smtClean="0">
              <a:solidFill>
                <a:srgbClr val="000000"/>
              </a:solidFill>
            </a:endParaRPr>
          </a:p>
          <a:p>
            <a:pPr marL="0" indent="0">
              <a:buNone/>
            </a:pPr>
            <a:r>
              <a:rPr lang="en-US" dirty="0" smtClean="0">
                <a:solidFill>
                  <a:srgbClr val="000000"/>
                </a:solidFill>
              </a:rPr>
              <a:t>main</a:t>
            </a:r>
            <a:r>
              <a:rPr lang="en-US" dirty="0">
                <a:solidFill>
                  <a:srgbClr val="000000"/>
                </a:solidFill>
              </a:rPr>
              <a:t>() { </a:t>
            </a:r>
            <a:endParaRPr lang="en-US" dirty="0" smtClean="0">
              <a:solidFill>
                <a:srgbClr val="000000"/>
              </a:solidFill>
              <a:effectLst/>
            </a:endParaRPr>
          </a:p>
          <a:p>
            <a:pPr marL="0" indent="0">
              <a:buNone/>
            </a:pPr>
            <a:r>
              <a:rPr lang="en-US" dirty="0" err="1">
                <a:solidFill>
                  <a:srgbClr val="000000"/>
                </a:solidFill>
              </a:rPr>
              <a:t>write_extern</a:t>
            </a:r>
            <a:r>
              <a:rPr lang="en-US" dirty="0">
                <a:solidFill>
                  <a:srgbClr val="000000"/>
                </a:solidFill>
              </a:rPr>
              <a:t>();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pPr marL="0" indent="0">
              <a:buNone/>
            </a:pPr>
            <a:r>
              <a:rPr lang="en-US" b="1" u="sng" dirty="0">
                <a:solidFill>
                  <a:srgbClr val="000000"/>
                </a:solidFill>
              </a:rPr>
              <a:t>Second File: </a:t>
            </a:r>
            <a:r>
              <a:rPr lang="en-US" b="1" u="sng" dirty="0" err="1">
                <a:solidFill>
                  <a:srgbClr val="000000"/>
                </a:solidFill>
              </a:rPr>
              <a:t>write.c</a:t>
            </a:r>
            <a:r>
              <a:rPr lang="en-US" b="1" u="sng" dirty="0">
                <a:solidFill>
                  <a:srgbClr val="000000"/>
                </a:solidFill>
              </a:rPr>
              <a:t> </a:t>
            </a:r>
            <a:endParaRPr lang="en-US" b="1" u="sng" dirty="0" smtClean="0">
              <a:solidFill>
                <a:srgbClr val="000000"/>
              </a:solidFill>
              <a:effectLst/>
            </a:endParaRPr>
          </a:p>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smtClean="0">
                <a:solidFill>
                  <a:srgbClr val="000000"/>
                </a:solidFill>
              </a:rPr>
              <a:t>extern </a:t>
            </a:r>
            <a:r>
              <a:rPr lang="en-US" dirty="0" err="1">
                <a:solidFill>
                  <a:srgbClr val="000000"/>
                </a:solidFill>
              </a:rPr>
              <a:t>int</a:t>
            </a:r>
            <a:r>
              <a:rPr lang="en-US" dirty="0">
                <a:solidFill>
                  <a:srgbClr val="000000"/>
                </a:solidFill>
              </a:rPr>
              <a:t> count; </a:t>
            </a:r>
            <a:endParaRPr lang="en-US" dirty="0" smtClean="0">
              <a:solidFill>
                <a:srgbClr val="000000"/>
              </a:solidFill>
            </a:endParaRPr>
          </a:p>
          <a:p>
            <a:pPr marL="0" indent="0">
              <a:buNone/>
            </a:pPr>
            <a:r>
              <a:rPr lang="en-US" dirty="0" smtClean="0">
                <a:solidFill>
                  <a:srgbClr val="000000"/>
                </a:solidFill>
              </a:rPr>
              <a:t>void </a:t>
            </a:r>
            <a:r>
              <a:rPr lang="en-US" dirty="0" err="1">
                <a:solidFill>
                  <a:srgbClr val="000000"/>
                </a:solidFill>
              </a:rPr>
              <a:t>write_extern</a:t>
            </a:r>
            <a:r>
              <a:rPr lang="en-US" dirty="0">
                <a:solidFill>
                  <a:srgbClr val="000000"/>
                </a:solidFill>
              </a:rPr>
              <a:t>(void) </a:t>
            </a:r>
            <a:endParaRPr lang="en-US" dirty="0" smtClean="0">
              <a:solidFill>
                <a:srgbClr val="000000"/>
              </a:solidFill>
            </a:endParaRPr>
          </a:p>
          <a:p>
            <a:pPr marL="0" indent="0">
              <a:buNone/>
            </a:pPr>
            <a:r>
              <a:rPr lang="en-US" dirty="0" smtClean="0">
                <a:solidFill>
                  <a:srgbClr val="000000"/>
                </a:solidFill>
              </a:rPr>
              <a:t>{ </a:t>
            </a:r>
          </a:p>
          <a:p>
            <a:pPr marL="0" indent="0">
              <a:buNone/>
            </a:pPr>
            <a:r>
              <a:rPr lang="en-US" dirty="0" smtClean="0">
                <a:solidFill>
                  <a:srgbClr val="000000"/>
                </a:solidFill>
              </a:rPr>
              <a:t>count </a:t>
            </a:r>
            <a:r>
              <a:rPr lang="en-US" dirty="0">
                <a:solidFill>
                  <a:srgbClr val="000000"/>
                </a:solidFill>
              </a:rPr>
              <a:t>= 5; </a:t>
            </a:r>
            <a:endParaRPr lang="en-US" dirty="0" smtClean="0">
              <a:solidFill>
                <a:srgbClr val="000000"/>
              </a:solidFill>
              <a:effectLst/>
            </a:endParaRPr>
          </a:p>
          <a:p>
            <a:pPr marL="0" indent="0">
              <a:buNone/>
            </a:pPr>
            <a:r>
              <a:rPr lang="en-US" dirty="0" err="1">
                <a:solidFill>
                  <a:srgbClr val="000000"/>
                </a:solidFill>
              </a:rPr>
              <a:t>printf</a:t>
            </a:r>
            <a:r>
              <a:rPr lang="en-US" dirty="0">
                <a:solidFill>
                  <a:srgbClr val="000000"/>
                </a:solidFill>
              </a:rPr>
              <a:t>("count is %d\n", count);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3775069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Scope Rules</a:t>
            </a:r>
            <a:endParaRPr lang="en-US" dirty="0"/>
          </a:p>
        </p:txBody>
      </p:sp>
      <p:sp>
        <p:nvSpPr>
          <p:cNvPr id="3" name="Content Placeholder 2"/>
          <p:cNvSpPr>
            <a:spLocks noGrp="1"/>
          </p:cNvSpPr>
          <p:nvPr>
            <p:ph idx="1"/>
          </p:nvPr>
        </p:nvSpPr>
        <p:spPr>
          <a:xfrm>
            <a:off x="457200" y="1600200"/>
            <a:ext cx="8229600" cy="4919133"/>
          </a:xfrm>
        </p:spPr>
        <p:txBody>
          <a:bodyPr>
            <a:normAutofit/>
          </a:bodyPr>
          <a:lstStyle/>
          <a:p>
            <a:pPr marL="0" indent="0" algn="just">
              <a:buNone/>
            </a:pPr>
            <a:r>
              <a:rPr lang="en-US" dirty="0" smtClean="0">
                <a:solidFill>
                  <a:srgbClr val="000000"/>
                </a:solidFill>
              </a:rPr>
              <a:t>A scope </a:t>
            </a:r>
            <a:r>
              <a:rPr lang="en-US" dirty="0">
                <a:solidFill>
                  <a:srgbClr val="000000"/>
                </a:solidFill>
              </a:rPr>
              <a:t>in any programming is a region of the program where a defined variable can </a:t>
            </a:r>
            <a:r>
              <a:rPr lang="en-US" dirty="0" smtClean="0">
                <a:solidFill>
                  <a:srgbClr val="000000"/>
                </a:solidFill>
              </a:rPr>
              <a:t>have its </a:t>
            </a:r>
            <a:r>
              <a:rPr lang="en-US" dirty="0">
                <a:solidFill>
                  <a:srgbClr val="000000"/>
                </a:solidFill>
              </a:rPr>
              <a:t>existence and beyond that variable cannot be accessed. There are three places where variables can be declared in C programming language: </a:t>
            </a:r>
            <a:endParaRPr lang="en-US" dirty="0" smtClean="0">
              <a:solidFill>
                <a:srgbClr val="000000"/>
              </a:solidFill>
            </a:endParaRPr>
          </a:p>
          <a:p>
            <a:pPr marL="0" indent="0" algn="just">
              <a:buNone/>
            </a:pPr>
            <a:endParaRPr lang="en-US" dirty="0" smtClean="0">
              <a:effectLst/>
            </a:endParaRPr>
          </a:p>
          <a:p>
            <a:pPr marL="0" indent="0" algn="just">
              <a:buNone/>
            </a:pPr>
            <a:r>
              <a:rPr lang="en-US" dirty="0">
                <a:solidFill>
                  <a:srgbClr val="FF0000"/>
                </a:solidFill>
              </a:rPr>
              <a:t>  Inside a function or a block which is called local variables, </a:t>
            </a:r>
            <a:endParaRPr lang="en-US" dirty="0" smtClean="0">
              <a:solidFill>
                <a:srgbClr val="FF0000"/>
              </a:solidFill>
              <a:effectLst/>
            </a:endParaRPr>
          </a:p>
          <a:p>
            <a:pPr marL="0" indent="0" algn="just">
              <a:buNone/>
            </a:pPr>
            <a:r>
              <a:rPr lang="en-US" dirty="0">
                <a:solidFill>
                  <a:srgbClr val="FF0000"/>
                </a:solidFill>
              </a:rPr>
              <a:t>  Outside of all functions which is called global variables. </a:t>
            </a:r>
            <a:endParaRPr lang="en-US" dirty="0" smtClean="0">
              <a:solidFill>
                <a:srgbClr val="FF0000"/>
              </a:solidFill>
              <a:effectLst/>
            </a:endParaRPr>
          </a:p>
          <a:p>
            <a:pPr marL="0" indent="0" algn="just">
              <a:buNone/>
            </a:pPr>
            <a:r>
              <a:rPr lang="en-US" dirty="0">
                <a:solidFill>
                  <a:srgbClr val="FF0000"/>
                </a:solidFill>
              </a:rPr>
              <a:t>  In the definition of function parameters which is called formal parameters. </a:t>
            </a:r>
            <a:endParaRPr lang="en-US" dirty="0" smtClean="0">
              <a:solidFill>
                <a:srgbClr val="FF0000"/>
              </a:solidFill>
              <a:effectLst/>
            </a:endParaRPr>
          </a:p>
          <a:p>
            <a:endParaRPr lang="en-US" dirty="0"/>
          </a:p>
        </p:txBody>
      </p:sp>
    </p:spTree>
    <p:extLst>
      <p:ext uri="{BB962C8B-B14F-4D97-AF65-F5344CB8AC3E}">
        <p14:creationId xmlns:p14="http://schemas.microsoft.com/office/powerpoint/2010/main" val="3120675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Variable</a:t>
            </a:r>
            <a:endParaRPr lang="en-US" dirty="0"/>
          </a:p>
        </p:txBody>
      </p:sp>
      <p:sp>
        <p:nvSpPr>
          <p:cNvPr id="3" name="Content Placeholder 2"/>
          <p:cNvSpPr>
            <a:spLocks noGrp="1"/>
          </p:cNvSpPr>
          <p:nvPr>
            <p:ph idx="1"/>
          </p:nvPr>
        </p:nvSpPr>
        <p:spPr/>
        <p:txBody>
          <a:bodyPr/>
          <a:lstStyle/>
          <a:p>
            <a:r>
              <a:rPr lang="en-US" dirty="0">
                <a:solidFill>
                  <a:srgbClr val="000000"/>
                </a:solidFill>
              </a:rPr>
              <a:t>Variables that are declared inside a function or block are called local variables. </a:t>
            </a:r>
            <a:endParaRPr lang="en-US" dirty="0" smtClean="0">
              <a:solidFill>
                <a:srgbClr val="000000"/>
              </a:solidFill>
            </a:endParaRPr>
          </a:p>
          <a:p>
            <a:endParaRPr lang="en-US" dirty="0">
              <a:solidFill>
                <a:srgbClr val="000000"/>
              </a:solidFill>
            </a:endParaRPr>
          </a:p>
          <a:p>
            <a:r>
              <a:rPr lang="en-US" dirty="0" smtClean="0">
                <a:solidFill>
                  <a:srgbClr val="000000"/>
                </a:solidFill>
              </a:rPr>
              <a:t>They </a:t>
            </a:r>
            <a:r>
              <a:rPr lang="en-US" dirty="0">
                <a:solidFill>
                  <a:srgbClr val="000000"/>
                </a:solidFill>
              </a:rPr>
              <a:t>can be used only by statements that are inside that function or block of code. </a:t>
            </a:r>
            <a:endParaRPr lang="en-US" dirty="0" smtClean="0">
              <a:solidFill>
                <a:srgbClr val="000000"/>
              </a:solidFill>
            </a:endParaRPr>
          </a:p>
          <a:p>
            <a:endParaRPr lang="en-US" dirty="0">
              <a:solidFill>
                <a:srgbClr val="000000"/>
              </a:solidFill>
            </a:endParaRPr>
          </a:p>
          <a:p>
            <a:r>
              <a:rPr lang="en-US" dirty="0" smtClean="0">
                <a:solidFill>
                  <a:srgbClr val="000000"/>
                </a:solidFill>
              </a:rPr>
              <a:t>Local </a:t>
            </a:r>
            <a:r>
              <a:rPr lang="en-US" dirty="0">
                <a:solidFill>
                  <a:srgbClr val="000000"/>
                </a:solidFill>
              </a:rPr>
              <a:t>variables are not known to functions outside their own. </a:t>
            </a:r>
            <a:endParaRPr lang="en-US" dirty="0" smtClean="0">
              <a:solidFill>
                <a:srgbClr val="000000"/>
              </a:solidFill>
            </a:endParaRPr>
          </a:p>
          <a:p>
            <a:endParaRPr lang="en-US" dirty="0"/>
          </a:p>
        </p:txBody>
      </p:sp>
    </p:spTree>
    <p:extLst>
      <p:ext uri="{BB962C8B-B14F-4D97-AF65-F5344CB8AC3E}">
        <p14:creationId xmlns:p14="http://schemas.microsoft.com/office/powerpoint/2010/main" val="94579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main () { </a:t>
            </a:r>
            <a:endParaRPr lang="en-US" dirty="0" smtClean="0">
              <a:solidFill>
                <a:srgbClr val="000000"/>
              </a:solidFill>
              <a:effectLst/>
            </a:endParaRPr>
          </a:p>
          <a:p>
            <a:pPr marL="0" indent="0">
              <a:buNone/>
            </a:pPr>
            <a:r>
              <a:rPr lang="en-US" dirty="0">
                <a:solidFill>
                  <a:srgbClr val="000000"/>
                </a:solidFill>
              </a:rPr>
              <a:t>/* local variable declaration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a, b; </a:t>
            </a:r>
            <a:r>
              <a:rPr lang="en-US" dirty="0" err="1">
                <a:solidFill>
                  <a:srgbClr val="000000"/>
                </a:solidFill>
              </a:rPr>
              <a:t>int</a:t>
            </a:r>
            <a:r>
              <a:rPr lang="en-US" dirty="0">
                <a:solidFill>
                  <a:srgbClr val="000000"/>
                </a:solidFill>
              </a:rPr>
              <a:t> c; </a:t>
            </a:r>
            <a:endParaRPr lang="en-US" dirty="0" smtClean="0">
              <a:solidFill>
                <a:srgbClr val="000000"/>
              </a:solidFill>
            </a:endParaRPr>
          </a:p>
          <a:p>
            <a:pPr marL="0" indent="0">
              <a:buNone/>
            </a:pPr>
            <a:endParaRPr lang="en-US" dirty="0">
              <a:solidFill>
                <a:srgbClr val="000000"/>
              </a:solidFill>
            </a:endParaRPr>
          </a:p>
          <a:p>
            <a:pPr marL="0" indent="0">
              <a:buNone/>
            </a:pPr>
            <a:r>
              <a:rPr lang="en-US" dirty="0" smtClean="0">
                <a:solidFill>
                  <a:srgbClr val="000000"/>
                </a:solidFill>
              </a:rPr>
              <a:t>/</a:t>
            </a:r>
            <a:r>
              <a:rPr lang="en-US" dirty="0">
                <a:solidFill>
                  <a:srgbClr val="000000"/>
                </a:solidFill>
              </a:rPr>
              <a:t>* actual initialization */ </a:t>
            </a:r>
            <a:endParaRPr lang="en-US" dirty="0" smtClean="0">
              <a:solidFill>
                <a:srgbClr val="000000"/>
              </a:solidFill>
              <a:effectLst/>
            </a:endParaRPr>
          </a:p>
          <a:p>
            <a:pPr marL="0" indent="0">
              <a:buNone/>
            </a:pPr>
            <a:r>
              <a:rPr lang="en-US" dirty="0">
                <a:solidFill>
                  <a:srgbClr val="000000"/>
                </a:solidFill>
              </a:rPr>
              <a:t>a = 10;</a:t>
            </a:r>
            <a:br>
              <a:rPr lang="en-US" dirty="0">
                <a:solidFill>
                  <a:srgbClr val="000000"/>
                </a:solidFill>
              </a:rPr>
            </a:br>
            <a:r>
              <a:rPr lang="en-US" dirty="0">
                <a:solidFill>
                  <a:srgbClr val="000000"/>
                </a:solidFill>
              </a:rPr>
              <a:t>b = 20;</a:t>
            </a:r>
            <a:br>
              <a:rPr lang="en-US" dirty="0">
                <a:solidFill>
                  <a:srgbClr val="000000"/>
                </a:solidFill>
              </a:rPr>
            </a:br>
            <a:r>
              <a:rPr lang="en-US" dirty="0">
                <a:solidFill>
                  <a:srgbClr val="000000"/>
                </a:solidFill>
              </a:rPr>
              <a:t>c = a + b; </a:t>
            </a:r>
            <a:endParaRPr lang="en-US" dirty="0" smtClean="0">
              <a:solidFill>
                <a:srgbClr val="000000"/>
              </a:solidFill>
              <a:effectLst/>
            </a:endParaRPr>
          </a:p>
          <a:p>
            <a:pPr marL="0" indent="0">
              <a:buNone/>
            </a:pPr>
            <a:r>
              <a:rPr lang="en-US" dirty="0" err="1">
                <a:solidFill>
                  <a:srgbClr val="000000"/>
                </a:solidFill>
              </a:rPr>
              <a:t>printf</a:t>
            </a:r>
            <a:r>
              <a:rPr lang="en-US" dirty="0">
                <a:solidFill>
                  <a:srgbClr val="000000"/>
                </a:solidFill>
              </a:rPr>
              <a:t> ("value of a = %d, b = %d and c = %d\n", a, b, c); </a:t>
            </a:r>
            <a:endParaRPr lang="en-US" dirty="0" smtClean="0">
              <a:solidFill>
                <a:srgbClr val="000000"/>
              </a:solidFill>
            </a:endParaRPr>
          </a:p>
          <a:p>
            <a:pPr marL="0" indent="0">
              <a:buNone/>
            </a:pPr>
            <a:r>
              <a:rPr lang="en-US" dirty="0" smtClean="0">
                <a:solidFill>
                  <a:srgbClr val="000000"/>
                </a:solidFill>
              </a:rPr>
              <a:t>return </a:t>
            </a:r>
            <a:r>
              <a:rPr lang="en-US" dirty="0">
                <a:solidFill>
                  <a:srgbClr val="000000"/>
                </a:solidFill>
              </a:rPr>
              <a:t>0; </a:t>
            </a:r>
            <a:endParaRPr lang="en-US" dirty="0" smtClean="0">
              <a:solidFill>
                <a:srgbClr val="000000"/>
              </a:solidFill>
              <a:effectLst/>
            </a:endParaRPr>
          </a:p>
          <a:p>
            <a:pPr marL="0" indent="0">
              <a:buNone/>
            </a:pPr>
            <a:r>
              <a:rPr lang="en-US" dirty="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1309494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Variable</a:t>
            </a:r>
            <a:endParaRPr lang="en-US" dirty="0"/>
          </a:p>
        </p:txBody>
      </p:sp>
      <p:sp>
        <p:nvSpPr>
          <p:cNvPr id="3" name="Content Placeholder 2"/>
          <p:cNvSpPr>
            <a:spLocks noGrp="1"/>
          </p:cNvSpPr>
          <p:nvPr>
            <p:ph idx="1"/>
          </p:nvPr>
        </p:nvSpPr>
        <p:spPr/>
        <p:txBody>
          <a:bodyPr>
            <a:normAutofit lnSpcReduction="10000"/>
          </a:bodyPr>
          <a:lstStyle/>
          <a:p>
            <a:pPr algn="just"/>
            <a:r>
              <a:rPr lang="en-US" dirty="0">
                <a:solidFill>
                  <a:srgbClr val="000000"/>
                </a:solidFill>
              </a:rPr>
              <a:t>Global variables are defined outside of a function, usually on top of the program. </a:t>
            </a:r>
            <a:endParaRPr lang="en-US" dirty="0" smtClean="0">
              <a:solidFill>
                <a:srgbClr val="000000"/>
              </a:solidFill>
            </a:endParaRPr>
          </a:p>
          <a:p>
            <a:pPr algn="just"/>
            <a:endParaRPr lang="en-US" dirty="0">
              <a:solidFill>
                <a:srgbClr val="000000"/>
              </a:solidFill>
            </a:endParaRPr>
          </a:p>
          <a:p>
            <a:pPr algn="just"/>
            <a:r>
              <a:rPr lang="en-US" dirty="0" smtClean="0">
                <a:solidFill>
                  <a:srgbClr val="000000"/>
                </a:solidFill>
              </a:rPr>
              <a:t>The </a:t>
            </a:r>
            <a:r>
              <a:rPr lang="en-US" dirty="0">
                <a:solidFill>
                  <a:srgbClr val="000000"/>
                </a:solidFill>
              </a:rPr>
              <a:t>global variables will hold their value throughout the lifetime of your program and they can be accessed inside any of the functions defined for the program. </a:t>
            </a:r>
            <a:endParaRPr lang="en-US" dirty="0" smtClean="0">
              <a:solidFill>
                <a:srgbClr val="000000"/>
              </a:solidFill>
            </a:endParaRPr>
          </a:p>
          <a:p>
            <a:pPr algn="just"/>
            <a:endParaRPr lang="en-US" dirty="0" smtClean="0">
              <a:solidFill>
                <a:srgbClr val="000000"/>
              </a:solidFill>
              <a:effectLst/>
            </a:endParaRPr>
          </a:p>
          <a:p>
            <a:pPr algn="just"/>
            <a:r>
              <a:rPr lang="en-US" dirty="0">
                <a:solidFill>
                  <a:srgbClr val="000000"/>
                </a:solidFill>
              </a:rPr>
              <a:t>A global variable can be accessed by any function. That is, a global variable is available for use throughout your entire program after its declaration.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965434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smtClean="0">
                <a:solidFill>
                  <a:srgbClr val="000000"/>
                </a:solidFill>
              </a:rPr>
              <a:t>/</a:t>
            </a:r>
            <a:r>
              <a:rPr lang="en-US" dirty="0">
                <a:solidFill>
                  <a:srgbClr val="000000"/>
                </a:solidFill>
              </a:rPr>
              <a:t>* global variable declaration */ </a:t>
            </a:r>
            <a:endParaRPr lang="en-US" dirty="0" smtClean="0">
              <a:solidFill>
                <a:srgbClr val="000000"/>
              </a:solidFill>
              <a:effectLst/>
            </a:endParaRPr>
          </a:p>
          <a:p>
            <a:pPr marL="0" indent="0">
              <a:buNone/>
            </a:pPr>
            <a:r>
              <a:rPr lang="en-US" dirty="0" err="1">
                <a:solidFill>
                  <a:srgbClr val="000000"/>
                </a:solidFill>
              </a:rPr>
              <a:t>int</a:t>
            </a:r>
            <a:r>
              <a:rPr lang="en-US" dirty="0">
                <a:solidFill>
                  <a:srgbClr val="000000"/>
                </a:solidFill>
              </a:rPr>
              <a:t> g;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err="1">
                <a:solidFill>
                  <a:srgbClr val="000000"/>
                </a:solidFill>
              </a:rPr>
              <a:t>int</a:t>
            </a:r>
            <a:r>
              <a:rPr lang="en-US" dirty="0">
                <a:solidFill>
                  <a:srgbClr val="000000"/>
                </a:solidFill>
              </a:rPr>
              <a:t> main () { </a:t>
            </a:r>
            <a:endParaRPr lang="en-US" dirty="0" smtClean="0">
              <a:solidFill>
                <a:srgbClr val="000000"/>
              </a:solidFill>
              <a:effectLst/>
            </a:endParaRPr>
          </a:p>
          <a:p>
            <a:pPr marL="0" indent="0">
              <a:buNone/>
            </a:pPr>
            <a:r>
              <a:rPr lang="en-US" dirty="0">
                <a:solidFill>
                  <a:srgbClr val="000000"/>
                </a:solidFill>
              </a:rPr>
              <a:t>/* local variable declaration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a, b;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a:solidFill>
                  <a:srgbClr val="000000"/>
                </a:solidFill>
              </a:rPr>
              <a:t>/* actual initialization */ </a:t>
            </a:r>
            <a:endParaRPr lang="en-US" dirty="0" smtClean="0">
              <a:solidFill>
                <a:srgbClr val="000000"/>
              </a:solidFill>
            </a:endParaRPr>
          </a:p>
          <a:p>
            <a:pPr marL="0" indent="0">
              <a:buNone/>
            </a:pPr>
            <a:r>
              <a:rPr lang="en-US" dirty="0" smtClean="0">
                <a:solidFill>
                  <a:srgbClr val="000000"/>
                </a:solidFill>
              </a:rPr>
              <a:t>a </a:t>
            </a:r>
            <a:r>
              <a:rPr lang="en-US" dirty="0">
                <a:solidFill>
                  <a:srgbClr val="000000"/>
                </a:solidFill>
              </a:rPr>
              <a:t>= 10;</a:t>
            </a:r>
            <a:br>
              <a:rPr lang="en-US" dirty="0">
                <a:solidFill>
                  <a:srgbClr val="000000"/>
                </a:solidFill>
              </a:rPr>
            </a:br>
            <a:r>
              <a:rPr lang="en-US" dirty="0">
                <a:solidFill>
                  <a:srgbClr val="000000"/>
                </a:solidFill>
              </a:rPr>
              <a:t>b = 20;</a:t>
            </a:r>
            <a:br>
              <a:rPr lang="en-US" dirty="0">
                <a:solidFill>
                  <a:srgbClr val="000000"/>
                </a:solidFill>
              </a:rPr>
            </a:br>
            <a:r>
              <a:rPr lang="en-US" dirty="0">
                <a:solidFill>
                  <a:srgbClr val="000000"/>
                </a:solidFill>
              </a:rPr>
              <a:t>g = a + b; </a:t>
            </a:r>
            <a:endParaRPr lang="en-US" dirty="0" smtClean="0">
              <a:solidFill>
                <a:srgbClr val="000000"/>
              </a:solidFill>
              <a:effectLst/>
            </a:endParaRPr>
          </a:p>
          <a:p>
            <a:pPr marL="0" indent="0">
              <a:buNone/>
            </a:pPr>
            <a:r>
              <a:rPr lang="en-US" dirty="0" err="1">
                <a:solidFill>
                  <a:srgbClr val="000000"/>
                </a:solidFill>
              </a:rPr>
              <a:t>printf</a:t>
            </a:r>
            <a:r>
              <a:rPr lang="en-US" dirty="0">
                <a:solidFill>
                  <a:srgbClr val="000000"/>
                </a:solidFill>
              </a:rPr>
              <a:t> ("value of a = %d, b = %d and g = %d\n", a, b, g); </a:t>
            </a:r>
            <a:endParaRPr lang="en-US" dirty="0" smtClean="0">
              <a:solidFill>
                <a:srgbClr val="000000"/>
              </a:solidFill>
            </a:endParaRPr>
          </a:p>
          <a:p>
            <a:pPr marL="0" indent="0">
              <a:buNone/>
            </a:pPr>
            <a:r>
              <a:rPr lang="en-US" dirty="0" smtClean="0">
                <a:solidFill>
                  <a:srgbClr val="000000"/>
                </a:solidFill>
              </a:rPr>
              <a:t>return </a:t>
            </a:r>
            <a:r>
              <a:rPr lang="en-US" dirty="0">
                <a:solidFill>
                  <a:srgbClr val="000000"/>
                </a:solidFill>
              </a:rPr>
              <a:t>0; </a:t>
            </a:r>
            <a:endParaRPr lang="en-US" dirty="0" smtClean="0">
              <a:solidFill>
                <a:srgbClr val="000000"/>
              </a:solidFill>
              <a:effectLst/>
            </a:endParaRPr>
          </a:p>
          <a:p>
            <a:pPr marL="0" indent="0">
              <a:buNone/>
            </a:pPr>
            <a:r>
              <a:rPr lang="en-US" dirty="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3686804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r>
              <a:rPr lang="en-US" dirty="0" smtClean="0">
                <a:solidFill>
                  <a:srgbClr val="000000"/>
                </a:solidFill>
              </a:rPr>
              <a:t>A program </a:t>
            </a:r>
            <a:r>
              <a:rPr lang="en-US" dirty="0">
                <a:solidFill>
                  <a:srgbClr val="000000"/>
                </a:solidFill>
              </a:rPr>
              <a:t>can have same name for local and global variables but value of local variable inside a function will take preference. </a:t>
            </a:r>
            <a:endParaRPr lang="en-US" dirty="0" smtClean="0">
              <a:solidFill>
                <a:srgbClr val="000000"/>
              </a:solidFill>
            </a:endParaRPr>
          </a:p>
          <a:p>
            <a:pPr marL="0" indent="0">
              <a:buNone/>
            </a:pPr>
            <a:endParaRPr lang="en-US" dirty="0" smtClean="0">
              <a:solidFill>
                <a:srgbClr val="000000"/>
              </a:solidFill>
            </a:endParaRPr>
          </a:p>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smtClean="0">
                <a:solidFill>
                  <a:srgbClr val="000000"/>
                </a:solidFill>
              </a:rPr>
              <a:t>/</a:t>
            </a:r>
            <a:r>
              <a:rPr lang="en-US" dirty="0">
                <a:solidFill>
                  <a:srgbClr val="000000"/>
                </a:solidFill>
              </a:rPr>
              <a:t>* global variable declaration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g = 20;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err="1">
                <a:solidFill>
                  <a:srgbClr val="000000"/>
                </a:solidFill>
              </a:rPr>
              <a:t>int</a:t>
            </a:r>
            <a:r>
              <a:rPr lang="en-US" dirty="0">
                <a:solidFill>
                  <a:srgbClr val="000000"/>
                </a:solidFill>
              </a:rPr>
              <a:t> main () { </a:t>
            </a:r>
            <a:endParaRPr lang="en-US" dirty="0" smtClean="0">
              <a:solidFill>
                <a:srgbClr val="000000"/>
              </a:solidFill>
              <a:effectLst/>
            </a:endParaRPr>
          </a:p>
          <a:p>
            <a:pPr marL="0" indent="0">
              <a:buNone/>
            </a:pPr>
            <a:r>
              <a:rPr lang="en-US" dirty="0">
                <a:solidFill>
                  <a:srgbClr val="000000"/>
                </a:solidFill>
              </a:rPr>
              <a:t>/* local variable declaration */ </a:t>
            </a:r>
            <a:endParaRPr lang="en-US" dirty="0" smtClean="0">
              <a:solidFill>
                <a:srgbClr val="000000"/>
              </a:solidFill>
            </a:endParaRPr>
          </a:p>
          <a:p>
            <a:pPr marL="0" indent="0">
              <a:buNone/>
            </a:pP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g = 10;</a:t>
            </a:r>
            <a:br>
              <a:rPr lang="en-US" dirty="0">
                <a:solidFill>
                  <a:srgbClr val="000000"/>
                </a:solidFill>
              </a:rPr>
            </a:br>
            <a:r>
              <a:rPr lang="en-US" dirty="0" err="1">
                <a:solidFill>
                  <a:srgbClr val="000000"/>
                </a:solidFill>
              </a:rPr>
              <a:t>printf</a:t>
            </a:r>
            <a:r>
              <a:rPr lang="en-US" dirty="0">
                <a:solidFill>
                  <a:srgbClr val="000000"/>
                </a:solidFill>
              </a:rPr>
              <a:t> ("value of g = %d\n", g); </a:t>
            </a:r>
            <a:endParaRPr lang="en-US" dirty="0" smtClean="0">
              <a:solidFill>
                <a:srgbClr val="000000"/>
              </a:solidFill>
              <a:effectLst/>
            </a:endParaRPr>
          </a:p>
          <a:p>
            <a:pPr marL="0" indent="0">
              <a:buNone/>
            </a:pPr>
            <a:r>
              <a:rPr lang="en-US" dirty="0">
                <a:solidFill>
                  <a:srgbClr val="000000"/>
                </a:solidFill>
              </a:rPr>
              <a:t>return 0;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719586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Parameter</a:t>
            </a:r>
            <a:endParaRPr lang="en-US" dirty="0"/>
          </a:p>
        </p:txBody>
      </p:sp>
      <p:sp>
        <p:nvSpPr>
          <p:cNvPr id="3" name="Content Placeholder 2"/>
          <p:cNvSpPr>
            <a:spLocks noGrp="1"/>
          </p:cNvSpPr>
          <p:nvPr>
            <p:ph idx="1"/>
          </p:nvPr>
        </p:nvSpPr>
        <p:spPr/>
        <p:txBody>
          <a:bodyPr/>
          <a:lstStyle/>
          <a:p>
            <a:pPr algn="just"/>
            <a:endParaRPr lang="en-US" dirty="0" smtClean="0"/>
          </a:p>
          <a:p>
            <a:pPr algn="just"/>
            <a:endParaRPr lang="en-US" dirty="0"/>
          </a:p>
          <a:p>
            <a:pPr algn="just"/>
            <a:r>
              <a:rPr lang="en-US" dirty="0" smtClean="0">
                <a:solidFill>
                  <a:srgbClr val="000000"/>
                </a:solidFill>
              </a:rPr>
              <a:t>Function </a:t>
            </a:r>
            <a:r>
              <a:rPr lang="en-US" dirty="0">
                <a:solidFill>
                  <a:srgbClr val="000000"/>
                </a:solidFill>
              </a:rPr>
              <a:t>parameters, so called formal parameters, are treated as local variables within that function and they will take preference over the global variables. </a:t>
            </a:r>
            <a:endParaRPr lang="en-US" dirty="0" smtClean="0">
              <a:solidFill>
                <a:srgbClr val="000000"/>
              </a:solidFill>
            </a:endParaRPr>
          </a:p>
          <a:p>
            <a:endParaRPr lang="en-US" dirty="0"/>
          </a:p>
        </p:txBody>
      </p:sp>
    </p:spTree>
    <p:extLst>
      <p:ext uri="{BB962C8B-B14F-4D97-AF65-F5344CB8AC3E}">
        <p14:creationId xmlns:p14="http://schemas.microsoft.com/office/powerpoint/2010/main" val="203350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6914"/>
            <a:ext cx="8229600" cy="1143000"/>
          </a:xfrm>
        </p:spPr>
        <p:txBody>
          <a:bodyPr/>
          <a:lstStyle/>
          <a:p>
            <a:r>
              <a:rPr lang="en-US" dirty="0" smtClean="0"/>
              <a:t>Example</a:t>
            </a:r>
            <a:endParaRPr lang="en-US" dirty="0"/>
          </a:p>
        </p:txBody>
      </p:sp>
      <p:sp>
        <p:nvSpPr>
          <p:cNvPr id="3" name="Content Placeholder 2"/>
          <p:cNvSpPr>
            <a:spLocks noGrp="1"/>
          </p:cNvSpPr>
          <p:nvPr>
            <p:ph idx="1"/>
          </p:nvPr>
        </p:nvSpPr>
        <p:spPr>
          <a:xfrm>
            <a:off x="457200" y="1058333"/>
            <a:ext cx="8229600" cy="5700889"/>
          </a:xfrm>
        </p:spPr>
        <p:txBody>
          <a:bodyPr>
            <a:normAutofit fontScale="62500" lnSpcReduction="20000"/>
          </a:bodyPr>
          <a:lstStyle/>
          <a:p>
            <a:pPr marL="0" indent="0">
              <a:buNone/>
            </a:pPr>
            <a:r>
              <a:rPr lang="en-US" dirty="0">
                <a:solidFill>
                  <a:srgbClr val="000000"/>
                </a:solidFill>
              </a:rPr>
              <a:t>#include &lt;</a:t>
            </a:r>
            <a:r>
              <a:rPr lang="en-US" dirty="0" err="1">
                <a:solidFill>
                  <a:srgbClr val="000000"/>
                </a:solidFill>
              </a:rPr>
              <a:t>stdio.h</a:t>
            </a:r>
            <a:r>
              <a:rPr lang="en-US" dirty="0">
                <a:solidFill>
                  <a:srgbClr val="000000"/>
                </a:solidFill>
              </a:rPr>
              <a:t>&gt; </a:t>
            </a:r>
            <a:endParaRPr lang="en-US" dirty="0" smtClean="0">
              <a:solidFill>
                <a:srgbClr val="000000"/>
              </a:solidFill>
            </a:endParaRPr>
          </a:p>
          <a:p>
            <a:pPr marL="0" indent="0">
              <a:buNone/>
            </a:pPr>
            <a:r>
              <a:rPr lang="en-US" dirty="0" smtClean="0">
                <a:solidFill>
                  <a:srgbClr val="000000"/>
                </a:solidFill>
              </a:rPr>
              <a:t>/</a:t>
            </a:r>
            <a:r>
              <a:rPr lang="en-US" dirty="0">
                <a:solidFill>
                  <a:srgbClr val="000000"/>
                </a:solidFill>
              </a:rPr>
              <a:t>* global variable declaration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a = 20; </a:t>
            </a:r>
            <a:endParaRPr lang="en-US" dirty="0" smtClean="0">
              <a:solidFill>
                <a:srgbClr val="000000"/>
              </a:solidFill>
            </a:endParaRPr>
          </a:p>
          <a:p>
            <a:pPr marL="0" indent="0">
              <a:buNone/>
            </a:pPr>
            <a:endParaRPr lang="en-US" dirty="0" smtClean="0">
              <a:solidFill>
                <a:srgbClr val="000000"/>
              </a:solidFill>
              <a:effectLst/>
            </a:endParaRPr>
          </a:p>
          <a:p>
            <a:pPr marL="0" indent="0">
              <a:buNone/>
            </a:pPr>
            <a:r>
              <a:rPr lang="en-US" dirty="0" err="1">
                <a:solidFill>
                  <a:srgbClr val="000000"/>
                </a:solidFill>
              </a:rPr>
              <a:t>int</a:t>
            </a:r>
            <a:r>
              <a:rPr lang="en-US" dirty="0">
                <a:solidFill>
                  <a:srgbClr val="000000"/>
                </a:solidFill>
              </a:rPr>
              <a:t> main ()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pPr marL="0" indent="0">
              <a:buNone/>
            </a:pPr>
            <a:r>
              <a:rPr lang="en-US" dirty="0">
                <a:solidFill>
                  <a:srgbClr val="000000"/>
                </a:solidFill>
              </a:rPr>
              <a:t>/* local variable declaration in main function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a = 10;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b = 20;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c = 0; </a:t>
            </a:r>
            <a:endParaRPr lang="en-US" dirty="0" smtClean="0">
              <a:solidFill>
                <a:srgbClr val="000000"/>
              </a:solidFill>
              <a:effectLst/>
            </a:endParaRPr>
          </a:p>
          <a:p>
            <a:pPr marL="0" indent="0">
              <a:buNone/>
            </a:pPr>
            <a:r>
              <a:rPr lang="en-US" dirty="0" err="1">
                <a:solidFill>
                  <a:srgbClr val="000000"/>
                </a:solidFill>
              </a:rPr>
              <a:t>printf</a:t>
            </a:r>
            <a:r>
              <a:rPr lang="en-US" dirty="0">
                <a:solidFill>
                  <a:srgbClr val="000000"/>
                </a:solidFill>
              </a:rPr>
              <a:t> ("value of a in main() = %d\n", a); </a:t>
            </a:r>
            <a:endParaRPr lang="en-US" dirty="0" smtClean="0">
              <a:solidFill>
                <a:srgbClr val="000000"/>
              </a:solidFill>
            </a:endParaRPr>
          </a:p>
          <a:p>
            <a:pPr marL="0" indent="0">
              <a:buNone/>
            </a:pPr>
            <a:r>
              <a:rPr lang="en-US" dirty="0" smtClean="0">
                <a:solidFill>
                  <a:srgbClr val="000000"/>
                </a:solidFill>
              </a:rPr>
              <a:t>c </a:t>
            </a:r>
            <a:r>
              <a:rPr lang="en-US" dirty="0">
                <a:solidFill>
                  <a:srgbClr val="000000"/>
                </a:solidFill>
              </a:rPr>
              <a:t>= sum( a, b); </a:t>
            </a:r>
            <a:endParaRPr lang="en-US" dirty="0" smtClean="0">
              <a:solidFill>
                <a:srgbClr val="000000"/>
              </a:solidFill>
            </a:endParaRPr>
          </a:p>
          <a:p>
            <a:pPr marL="0" indent="0">
              <a:buNone/>
            </a:pPr>
            <a:r>
              <a:rPr lang="en-US" dirty="0" err="1" smtClean="0">
                <a:solidFill>
                  <a:srgbClr val="000000"/>
                </a:solidFill>
              </a:rPr>
              <a:t>printf</a:t>
            </a:r>
            <a:r>
              <a:rPr lang="en-US" dirty="0" smtClean="0">
                <a:solidFill>
                  <a:srgbClr val="000000"/>
                </a:solidFill>
              </a:rPr>
              <a:t> </a:t>
            </a:r>
            <a:r>
              <a:rPr lang="en-US" dirty="0">
                <a:solidFill>
                  <a:srgbClr val="000000"/>
                </a:solidFill>
              </a:rPr>
              <a:t>("value of c in main() = %d\n", c); </a:t>
            </a:r>
            <a:endParaRPr lang="en-US" dirty="0" smtClean="0">
              <a:solidFill>
                <a:srgbClr val="000000"/>
              </a:solidFill>
            </a:endParaRPr>
          </a:p>
          <a:p>
            <a:pPr marL="0" indent="0">
              <a:buNone/>
            </a:pPr>
            <a:r>
              <a:rPr lang="en-US" dirty="0" smtClean="0">
                <a:solidFill>
                  <a:srgbClr val="000000"/>
                </a:solidFill>
              </a:rPr>
              <a:t>return </a:t>
            </a:r>
            <a:r>
              <a:rPr lang="en-US" dirty="0">
                <a:solidFill>
                  <a:srgbClr val="000000"/>
                </a:solidFill>
              </a:rPr>
              <a:t>0; </a:t>
            </a:r>
            <a:endParaRPr lang="en-US" dirty="0" smtClean="0">
              <a:solidFill>
                <a:srgbClr val="000000"/>
              </a:solidFill>
            </a:endParaRPr>
          </a:p>
          <a:p>
            <a:pPr marL="0" indent="0">
              <a:buNone/>
            </a:pPr>
            <a:r>
              <a:rPr lang="en-US" dirty="0" smtClean="0">
                <a:solidFill>
                  <a:srgbClr val="000000"/>
                </a:solidFill>
              </a:rPr>
              <a:t>} </a:t>
            </a:r>
          </a:p>
          <a:p>
            <a:pPr marL="0" indent="0">
              <a:buNone/>
            </a:pPr>
            <a:endParaRPr lang="en-US" dirty="0" smtClean="0">
              <a:solidFill>
                <a:srgbClr val="000000"/>
              </a:solidFill>
              <a:effectLst/>
            </a:endParaRPr>
          </a:p>
          <a:p>
            <a:pPr marL="0" indent="0">
              <a:buNone/>
            </a:pPr>
            <a:r>
              <a:rPr lang="en-US" dirty="0">
                <a:solidFill>
                  <a:srgbClr val="000000"/>
                </a:solidFill>
              </a:rPr>
              <a:t>/* function to add two integers */ </a:t>
            </a:r>
            <a:endParaRPr lang="en-US" dirty="0" smtClean="0">
              <a:solidFill>
                <a:srgbClr val="000000"/>
              </a:solidFill>
            </a:endParaRPr>
          </a:p>
          <a:p>
            <a:pPr marL="0" indent="0">
              <a:buNone/>
            </a:pPr>
            <a:r>
              <a:rPr lang="en-US" dirty="0" err="1" smtClean="0">
                <a:solidFill>
                  <a:srgbClr val="000000"/>
                </a:solidFill>
              </a:rPr>
              <a:t>int</a:t>
            </a:r>
            <a:r>
              <a:rPr lang="en-US" dirty="0" smtClean="0">
                <a:solidFill>
                  <a:srgbClr val="000000"/>
                </a:solidFill>
              </a:rPr>
              <a:t> </a:t>
            </a:r>
            <a:r>
              <a:rPr lang="en-US" dirty="0">
                <a:solidFill>
                  <a:srgbClr val="000000"/>
                </a:solidFill>
              </a:rPr>
              <a:t>sum(</a:t>
            </a:r>
            <a:r>
              <a:rPr lang="en-US" dirty="0" err="1">
                <a:solidFill>
                  <a:srgbClr val="000000"/>
                </a:solidFill>
              </a:rPr>
              <a:t>int</a:t>
            </a:r>
            <a:r>
              <a:rPr lang="en-US" dirty="0">
                <a:solidFill>
                  <a:srgbClr val="000000"/>
                </a:solidFill>
              </a:rPr>
              <a:t> a, </a:t>
            </a:r>
            <a:r>
              <a:rPr lang="en-US" dirty="0" err="1">
                <a:solidFill>
                  <a:srgbClr val="000000"/>
                </a:solidFill>
              </a:rPr>
              <a:t>int</a:t>
            </a:r>
            <a:r>
              <a:rPr lang="en-US" dirty="0">
                <a:solidFill>
                  <a:srgbClr val="000000"/>
                </a:solidFill>
              </a:rPr>
              <a:t> b) </a:t>
            </a:r>
            <a:endParaRPr lang="en-US" dirty="0" smtClean="0">
              <a:solidFill>
                <a:srgbClr val="000000"/>
              </a:solidFill>
            </a:endParaRPr>
          </a:p>
          <a:p>
            <a:pPr marL="0" indent="0">
              <a:buNone/>
            </a:pPr>
            <a:r>
              <a:rPr lang="en-US" dirty="0" smtClean="0">
                <a:solidFill>
                  <a:srgbClr val="000000"/>
                </a:solidFill>
              </a:rPr>
              <a:t>{ </a:t>
            </a:r>
          </a:p>
          <a:p>
            <a:pPr marL="0" indent="0">
              <a:buNone/>
            </a:pPr>
            <a:r>
              <a:rPr lang="en-US" dirty="0" err="1" smtClean="0">
                <a:solidFill>
                  <a:srgbClr val="000000"/>
                </a:solidFill>
              </a:rPr>
              <a:t>printf</a:t>
            </a:r>
            <a:r>
              <a:rPr lang="en-US" dirty="0" smtClean="0">
                <a:solidFill>
                  <a:srgbClr val="000000"/>
                </a:solidFill>
              </a:rPr>
              <a:t> </a:t>
            </a:r>
            <a:r>
              <a:rPr lang="en-US" dirty="0">
                <a:solidFill>
                  <a:srgbClr val="000000"/>
                </a:solidFill>
              </a:rPr>
              <a:t>("value of a in sum() = %d\n", a); </a:t>
            </a:r>
            <a:endParaRPr lang="en-US" dirty="0" smtClean="0">
              <a:solidFill>
                <a:srgbClr val="000000"/>
              </a:solidFill>
            </a:endParaRPr>
          </a:p>
          <a:p>
            <a:pPr marL="0" indent="0">
              <a:buNone/>
            </a:pPr>
            <a:r>
              <a:rPr lang="en-US" dirty="0" err="1" smtClean="0">
                <a:solidFill>
                  <a:srgbClr val="000000"/>
                </a:solidFill>
              </a:rPr>
              <a:t>printf</a:t>
            </a:r>
            <a:r>
              <a:rPr lang="en-US" dirty="0" smtClean="0">
                <a:solidFill>
                  <a:srgbClr val="000000"/>
                </a:solidFill>
              </a:rPr>
              <a:t> </a:t>
            </a:r>
            <a:r>
              <a:rPr lang="en-US" dirty="0">
                <a:solidFill>
                  <a:srgbClr val="000000"/>
                </a:solidFill>
              </a:rPr>
              <a:t>("value of b in sum() = %d\n", b); </a:t>
            </a:r>
            <a:endParaRPr lang="en-US" dirty="0" smtClean="0">
              <a:solidFill>
                <a:srgbClr val="000000"/>
              </a:solidFill>
            </a:endParaRPr>
          </a:p>
          <a:p>
            <a:pPr marL="0" indent="0">
              <a:buNone/>
            </a:pPr>
            <a:r>
              <a:rPr lang="en-US" dirty="0" smtClean="0">
                <a:solidFill>
                  <a:srgbClr val="000000"/>
                </a:solidFill>
              </a:rPr>
              <a:t>return </a:t>
            </a:r>
            <a:r>
              <a:rPr lang="en-US" dirty="0">
                <a:solidFill>
                  <a:srgbClr val="000000"/>
                </a:solidFill>
              </a:rPr>
              <a:t>a + b; </a:t>
            </a:r>
            <a:endParaRPr lang="en-US" dirty="0" smtClean="0">
              <a:solidFill>
                <a:srgbClr val="000000"/>
              </a:solidFill>
            </a:endParaRPr>
          </a:p>
          <a:p>
            <a:pPr marL="0" indent="0">
              <a:buNone/>
            </a:pPr>
            <a:r>
              <a:rPr lang="en-US" dirty="0" smtClean="0">
                <a:solidFill>
                  <a:srgbClr val="000000"/>
                </a:solidFill>
              </a:rPr>
              <a:t>} </a:t>
            </a:r>
            <a:endParaRPr lang="en-US" dirty="0" smtClean="0">
              <a:solidFill>
                <a:srgbClr val="000000"/>
              </a:solidFill>
              <a:effectLst/>
            </a:endParaRPr>
          </a:p>
          <a:p>
            <a:endParaRPr lang="en-US" dirty="0"/>
          </a:p>
        </p:txBody>
      </p:sp>
    </p:spTree>
    <p:extLst>
      <p:ext uri="{BB962C8B-B14F-4D97-AF65-F5344CB8AC3E}">
        <p14:creationId xmlns:p14="http://schemas.microsoft.com/office/powerpoint/2010/main" val="178794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idx="1"/>
          </p:nvPr>
        </p:nvSpPr>
        <p:spPr/>
        <p:txBody>
          <a:bodyPr/>
          <a:lstStyle/>
          <a:p>
            <a:pPr marL="0" indent="0">
              <a:buNone/>
            </a:pPr>
            <a:r>
              <a:rPr lang="en-US" dirty="0">
                <a:solidFill>
                  <a:srgbClr val="000000"/>
                </a:solidFill>
              </a:rPr>
              <a:t>v</a:t>
            </a:r>
            <a:r>
              <a:rPr lang="en-US" dirty="0" smtClean="0">
                <a:solidFill>
                  <a:srgbClr val="000000"/>
                </a:solidFill>
              </a:rPr>
              <a:t>alue of a in main() =  10</a:t>
            </a:r>
          </a:p>
          <a:p>
            <a:pPr marL="0" indent="0">
              <a:buNone/>
            </a:pPr>
            <a:r>
              <a:rPr lang="en-US" dirty="0" smtClean="0">
                <a:solidFill>
                  <a:srgbClr val="000000"/>
                </a:solidFill>
              </a:rPr>
              <a:t>value of a in sum() =  10</a:t>
            </a:r>
          </a:p>
          <a:p>
            <a:pPr marL="0" indent="0">
              <a:buNone/>
            </a:pPr>
            <a:r>
              <a:rPr lang="en-US" dirty="0" smtClean="0">
                <a:solidFill>
                  <a:srgbClr val="000000"/>
                </a:solidFill>
              </a:rPr>
              <a:t>value of a in sum() =  20</a:t>
            </a:r>
          </a:p>
          <a:p>
            <a:pPr marL="0" indent="0">
              <a:buNone/>
            </a:pPr>
            <a:r>
              <a:rPr lang="en-US" dirty="0" smtClean="0">
                <a:solidFill>
                  <a:srgbClr val="000000"/>
                </a:solidFill>
              </a:rPr>
              <a:t>value of a in main() =  30</a:t>
            </a:r>
          </a:p>
          <a:p>
            <a:pPr marL="0" indent="0">
              <a:buNone/>
            </a:pPr>
            <a:endParaRPr lang="en-US" dirty="0" smtClean="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07377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pPr marL="0" indent="0" algn="ctr">
              <a:buNone/>
            </a:pPr>
            <a:r>
              <a:rPr lang="en-US" dirty="0" smtClean="0"/>
              <a:t>End of Slides </a:t>
            </a:r>
            <a:r>
              <a:rPr lang="en-US" dirty="0" smtClean="0">
                <a:sym typeface="Wingdings"/>
              </a:rPr>
              <a:t></a:t>
            </a:r>
            <a:endParaRPr lang="en-US" dirty="0"/>
          </a:p>
        </p:txBody>
      </p:sp>
    </p:spTree>
    <p:extLst>
      <p:ext uri="{BB962C8B-B14F-4D97-AF65-F5344CB8AC3E}">
        <p14:creationId xmlns:p14="http://schemas.microsoft.com/office/powerpoint/2010/main" val="41915111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Executive.thmx</Template>
  <TotalTime>63</TotalTime>
  <Words>1012</Words>
  <Application>Microsoft Macintosh PowerPoint</Application>
  <PresentationFormat>On-screen Show (4:3)</PresentationFormat>
  <Paragraphs>176</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Executive</vt:lpstr>
      <vt:lpstr>C Storage Classes &amp; Scope</vt:lpstr>
      <vt:lpstr>Storage Class</vt:lpstr>
      <vt:lpstr>auto</vt:lpstr>
      <vt:lpstr>register</vt:lpstr>
      <vt:lpstr>static</vt:lpstr>
      <vt:lpstr>Example</vt:lpstr>
      <vt:lpstr>Output</vt:lpstr>
      <vt:lpstr>extern</vt:lpstr>
      <vt:lpstr>Example</vt:lpstr>
      <vt:lpstr>C Scope Rules</vt:lpstr>
      <vt:lpstr>Local Variable</vt:lpstr>
      <vt:lpstr>Example</vt:lpstr>
      <vt:lpstr>Global Variable</vt:lpstr>
      <vt:lpstr>Example</vt:lpstr>
      <vt:lpstr>Example</vt:lpstr>
      <vt:lpstr>Formal Parameter</vt:lpstr>
      <vt:lpstr>Example</vt:lpstr>
      <vt:lpstr>Output</vt:lpstr>
      <vt:lpstr>PowerPoint Presentation</vt:lpstr>
    </vt:vector>
  </TitlesOfParts>
  <Company>RUET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Storage Classes &amp; Scope</dc:title>
  <dc:creator>MAMUN MAMUN</dc:creator>
  <cp:lastModifiedBy>MAMUN MAMUN</cp:lastModifiedBy>
  <cp:revision>8</cp:revision>
  <dcterms:created xsi:type="dcterms:W3CDTF">2014-04-25T03:54:23Z</dcterms:created>
  <dcterms:modified xsi:type="dcterms:W3CDTF">2014-05-03T18:27:15Z</dcterms:modified>
</cp:coreProperties>
</file>