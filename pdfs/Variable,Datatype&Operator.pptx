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60" r:id="rId1"/>
  </p:sldMasterIdLst>
  <p:sldIdLst>
    <p:sldId id="28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8" r:id="rId13"/>
    <p:sldId id="269" r:id="rId14"/>
    <p:sldId id="267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57319"/>
            <a:ext cx="8915400" cy="877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034553"/>
            <a:ext cx="8001000" cy="3823447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91440" rIns="274320" bIns="9144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DC69-E1B3-D47F-2406-892AAB59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E396AF-2D65-CB44-9EFA-BE864970010D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A84EF-9679-EB27-5465-5B7595046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CAC8F-9293-0E96-BADE-923C2184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8F722C-6FB8-4342-8FBC-EE6E007B0718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164396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98FD9-EDF9-F4AB-F837-F0F2CE5E5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DE675D-7A90-BA42-8CD9-A8989E21DB8E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E9B2F-1CE5-D5CF-A2D5-052A1AD83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0BA8D-B29A-B38A-3266-E86022C2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97ABDB-3287-424A-BF80-C86C08CF3CB7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397632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025435"/>
            <a:ext cx="8915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943600"/>
            <a:ext cx="8001000" cy="914400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91440" rIns="274320" bIns="91440" rtlCol="0"/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7988300" cy="38862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B88D9-122B-5C92-C9CD-0145923D31A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0170551B-CFDD-A14D-8D6F-40212EE77742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BC348-73E5-9AF3-4193-E2400B5BFBE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399"/>
            <a:ext cx="8915400" cy="2286000"/>
          </a:xfrm>
          <a:solidFill>
            <a:schemeClr val="tx2"/>
          </a:solidFill>
        </p:spPr>
        <p:txBody>
          <a:bodyPr rtlCol="0" anchor="b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5484607"/>
            <a:ext cx="8001000" cy="777240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91440" rIns="274320" bIns="91440" rtlCol="0" anchor="ctr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6C452-E659-F070-6E29-D04CA43DE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9E9698-951A-9149-9577-4024B20CD513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40701-BC7A-FC58-862B-56C530203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324A3-BA49-719E-82BC-6265F9CE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F5801D-74A0-424A-9781-53B8D3A220F6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1193172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595563"/>
            <a:ext cx="3566160" cy="368141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800"/>
            </a:lvl6pPr>
            <a:lvl7pPr marL="2055813" indent="-344488">
              <a:defRPr sz="1800"/>
            </a:lvl7pPr>
            <a:lvl8pPr marL="2055813" indent="-344488">
              <a:defRPr sz="1800"/>
            </a:lvl8pPr>
            <a:lvl9pPr marL="2055813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7534" y="2595563"/>
            <a:ext cx="3566160" cy="368141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800"/>
            </a:lvl6pPr>
            <a:lvl7pPr marL="2055813" indent="-344488">
              <a:defRPr sz="1800"/>
            </a:lvl7pPr>
            <a:lvl8pPr marL="2055813" indent="-344488">
              <a:defRPr sz="1800"/>
            </a:lvl8pPr>
            <a:lvl9pPr marL="2055813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4E0807E-5E4E-A48C-398B-8065A7FB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E3C3BA3-D1C2-B745-B7D4-28F1C91A715F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0A9D3B1-ECF5-641C-6D31-4F84F2407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95C3ED-5DE7-1133-6F91-316CF8BB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014EE6-0372-054D-BA44-9A3BDB18D33D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18925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A81B9E-6646-3502-D540-DCD00759383A}"/>
              </a:ext>
            </a:extLst>
          </p:cNvPr>
          <p:cNvCxnSpPr/>
          <p:nvPr/>
        </p:nvCxnSpPr>
        <p:spPr>
          <a:xfrm>
            <a:off x="1211263" y="2905125"/>
            <a:ext cx="338455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961229-158A-EA46-26E1-613A8ECE91B4}"/>
              </a:ext>
            </a:extLst>
          </p:cNvPr>
          <p:cNvCxnSpPr/>
          <p:nvPr/>
        </p:nvCxnSpPr>
        <p:spPr>
          <a:xfrm>
            <a:off x="5238750" y="2905125"/>
            <a:ext cx="3382963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444FDF-E520-771B-2304-9DC618BEBD29}"/>
              </a:ext>
            </a:extLst>
          </p:cNvPr>
          <p:cNvCxnSpPr/>
          <p:nvPr/>
        </p:nvCxnSpPr>
        <p:spPr>
          <a:xfrm>
            <a:off x="1211263" y="2905125"/>
            <a:ext cx="338455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72C4A3-E071-71ED-41FD-064CD8DF8BFF}"/>
              </a:ext>
            </a:extLst>
          </p:cNvPr>
          <p:cNvCxnSpPr/>
          <p:nvPr/>
        </p:nvCxnSpPr>
        <p:spPr>
          <a:xfrm>
            <a:off x="5238750" y="2905125"/>
            <a:ext cx="3382963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807C93-ABDA-4428-61FC-627178045C94}"/>
              </a:ext>
            </a:extLst>
          </p:cNvPr>
          <p:cNvCxnSpPr/>
          <p:nvPr/>
        </p:nvCxnSpPr>
        <p:spPr>
          <a:xfrm>
            <a:off x="1211263" y="2905125"/>
            <a:ext cx="338455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0FF6F-4071-7C98-0A4A-F16BC6024663}"/>
              </a:ext>
            </a:extLst>
          </p:cNvPr>
          <p:cNvCxnSpPr/>
          <p:nvPr/>
        </p:nvCxnSpPr>
        <p:spPr>
          <a:xfrm>
            <a:off x="5238750" y="2905125"/>
            <a:ext cx="3382963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588" y="2017713"/>
            <a:ext cx="3566160" cy="877887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588" y="3065929"/>
            <a:ext cx="3566160" cy="321104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600"/>
            </a:lvl6pPr>
            <a:lvl7pPr marL="2055813" indent="-344488">
              <a:defRPr sz="1600"/>
            </a:lvl7pPr>
            <a:lvl8pPr marL="2055813" indent="-344488">
              <a:defRPr sz="1600"/>
            </a:lvl8pPr>
            <a:lvl9pPr marL="2055813" indent="-344488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7534" y="2017713"/>
            <a:ext cx="3566160" cy="877887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7534" y="3065929"/>
            <a:ext cx="3566160" cy="321104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600"/>
            </a:lvl6pPr>
            <a:lvl7pPr marL="2055813" indent="-344488">
              <a:defRPr sz="1600"/>
            </a:lvl7pPr>
            <a:lvl8pPr marL="2055813" indent="-344488">
              <a:defRPr sz="1600"/>
            </a:lvl8pPr>
            <a:lvl9pPr marL="2055813" indent="-344488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Date Placeholder 6">
            <a:extLst>
              <a:ext uri="{FF2B5EF4-FFF2-40B4-BE49-F238E27FC236}">
                <a16:creationId xmlns:a16="http://schemas.microsoft.com/office/drawing/2014/main" id="{B48120E2-4B7C-1EEC-72AF-20CC540E9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EDB402-A7DE-AD4D-A7FA-ABAB7DC80ACE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14" name="Footer Placeholder 7">
            <a:extLst>
              <a:ext uri="{FF2B5EF4-FFF2-40B4-BE49-F238E27FC236}">
                <a16:creationId xmlns:a16="http://schemas.microsoft.com/office/drawing/2014/main" id="{C7179319-E995-D268-3C03-3CBCB846B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F6F77AEA-D3E8-2363-9868-3721D326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65E065-D609-0A44-A391-869B2D705067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2005864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3A796-C2E7-D24C-6928-B28B8C29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2A9787-63D6-E741-9ACF-DE37BB6692B7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F2E10FB-C6E6-F3C2-334F-E234292F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A880F3F-6147-1B11-C3BF-090414505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B9E6E8-13FC-D94B-A2AB-B7EBD0BC1028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3685216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484E18F-D668-6567-805C-6D61774F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2BC25C-085E-C146-91BA-D311019D68EC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7863012-6BEE-D8BC-DE84-9BDFB3B6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FA6C9AD-FF04-F8C6-5D3A-9E26265EF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6ADCBC-D842-0F4F-81D5-57073DA96349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396405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4712"/>
            <a:ext cx="8915400" cy="914400"/>
          </a:xfrm>
          <a:solidFill>
            <a:schemeClr val="tx2"/>
          </a:solidFill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7534" y="2590800"/>
            <a:ext cx="3566160" cy="3686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2000"/>
            </a:lvl6pPr>
            <a:lvl7pPr marL="2055813" indent="-344488">
              <a:defRPr sz="2000"/>
            </a:lvl7pPr>
            <a:lvl8pPr marL="2055813" indent="-344488">
              <a:defRPr sz="2000"/>
            </a:lvl8pPr>
            <a:lvl9pPr marL="2055813" indent="-344488"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952" y="2039111"/>
            <a:ext cx="3566160" cy="4224528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274320" rIns="274320" bIns="2743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5CA214B-7FF7-FED8-60AA-2923CEF2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8BED1B-3045-3740-AC3A-E8B423AF5E44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7F462C5-6ABF-762D-5660-4159C647C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3A32EE-4D63-6988-439A-50D92266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68B70F-D4C4-E249-8F62-740152E8F202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316929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4712"/>
            <a:ext cx="8915400" cy="914400"/>
          </a:xfrm>
          <a:solidFill>
            <a:schemeClr val="tx2"/>
          </a:solidFill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87987" y="2048256"/>
            <a:ext cx="3427413" cy="420624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039112"/>
            <a:ext cx="4572000" cy="4224528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274320" rIns="274320" bIns="274320" rtlCol="0">
            <a:normAutofit/>
          </a:bodyPr>
          <a:lstStyle>
            <a:lvl1pPr marL="0" indent="0"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04B40A8-1BCE-9C99-5415-537F283E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B0F8E9-6DFF-D543-8D1B-B1307D95C6FC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EEB64A-77A3-1CB2-39C2-BE2B5C93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9C5E9B-590B-91F7-21FC-3C3B9699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AAF7C6-B103-BE43-9E58-5AEC1A7061E3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314814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8915400" cy="877824"/>
          </a:xfrm>
        </p:spPr>
        <p:txBody>
          <a:bodyPr tIns="137160" bIns="137160"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002305"/>
            <a:ext cx="8001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7988300" cy="2980944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F0838-2F8A-3D30-B211-90CA9FB1434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84ABC36D-7A97-2A46-B79D-9BB149249728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5BD15-208B-67C5-803C-725FC60B91C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8915400" cy="877824"/>
          </a:xfrm>
        </p:spPr>
        <p:txBody>
          <a:bodyPr tIns="137160" bIns="137160"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002305"/>
            <a:ext cx="8001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3986784" cy="2980944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928616" y="1129553"/>
            <a:ext cx="3986784" cy="2980944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73783-E7B7-4F2F-5715-4B83BB2CC00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fld id="{361CC647-F67A-8147-B640-01A87508BFED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E7AD0-1372-5C28-1BAE-826FEBC9C0D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18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8915400" cy="877824"/>
          </a:xfrm>
        </p:spPr>
        <p:txBody>
          <a:bodyPr tIns="137160" bIns="137160"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002305"/>
            <a:ext cx="8001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6601968" cy="2980944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7543800" y="1129553"/>
            <a:ext cx="1371600" cy="1481328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7543800" y="2629169"/>
            <a:ext cx="1371600" cy="1481328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00EBB-69AE-E97D-A8ED-0ED201F0E10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fld id="{F63760D6-ABBA-5D4A-8BAD-A3D37AC55A87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D6A25-25AA-7244-3BE8-9B632363A58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81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D482C-AC06-00B4-F034-3EF1F1DA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E2708B-0903-F442-87B8-DC04B68211FC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98FF-89D7-F9BF-D9A1-5EDD8B1F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A3978-C6C2-88FF-5C3A-ABD068245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45E3AD-1F5B-0141-8DF5-A6570E2EE8CE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2734163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7553" y="1129554"/>
            <a:ext cx="914400" cy="5533278"/>
          </a:xfrm>
        </p:spPr>
        <p:txBody>
          <a:bodyPr vert="eaVert" lIns="274320" tIns="685800" bIns="68580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1734671"/>
            <a:ext cx="6426200" cy="4542304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7C592-9485-6AA1-A09C-E2557A25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3EDD7D-A3EB-524D-BF07-257A3749667C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E0CE1-C789-8A8F-FAF8-DF4EC9BB7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DB6D5-C7C5-BBD4-EE49-77249959B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77081B-F49D-8443-A1FA-FF7FCADCCF85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373491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A0E6B81-A57B-7DBF-AA93-64390E81100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1123950"/>
            <a:ext cx="8913813" cy="9144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188720" tIns="45720" rIns="27432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BD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89F17EB-C778-465C-ABDA-33A9607234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114425" y="2595563"/>
            <a:ext cx="7610475" cy="367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BD"/>
              <a:t>Click to edit Master text styles</a:t>
            </a:r>
          </a:p>
          <a:p>
            <a:pPr lvl="1"/>
            <a:r>
              <a:rPr lang="en-US" altLang="en-BD"/>
              <a:t>Second level</a:t>
            </a:r>
          </a:p>
          <a:p>
            <a:pPr lvl="2"/>
            <a:r>
              <a:rPr lang="en-US" altLang="en-BD"/>
              <a:t>Third level</a:t>
            </a:r>
          </a:p>
          <a:p>
            <a:pPr lvl="3"/>
            <a:r>
              <a:rPr lang="en-US" altLang="en-BD"/>
              <a:t>Fourth level</a:t>
            </a:r>
          </a:p>
          <a:p>
            <a:pPr lvl="4"/>
            <a:r>
              <a:rPr lang="en-US" altLang="en-BD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60530-A724-A7AD-FDCE-6C8BAB8CA8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80188" y="188913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595959"/>
                </a:solidFill>
              </a:defRPr>
            </a:lvl1pPr>
          </a:lstStyle>
          <a:p>
            <a:fld id="{CD1C636C-3D3E-0F4D-B611-1E2292FD2393}" type="datetimeFigureOut">
              <a:rPr lang="en-US" altLang="en-BD"/>
              <a:pPr/>
              <a:t>12/9/25</a:t>
            </a:fld>
            <a:endParaRPr lang="en-US" alt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847C5-2192-7D70-E55C-F576EA0C9C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0775" y="18891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34B66-D441-6AAB-DB32-039020DCA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89988" y="656907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rgbClr val="595959"/>
                </a:solidFill>
              </a:defRPr>
            </a:lvl1pPr>
          </a:lstStyle>
          <a:p>
            <a:fld id="{86D97294-0DA1-1C41-B244-6A48BFBE8437}" type="slidenum">
              <a:rPr lang="en-US" altLang="en-BD"/>
              <a:pPr/>
              <a:t>‹#›</a:t>
            </a:fld>
            <a:endParaRPr lang="en-US" altLang="en-B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1E1F21-65B3-5A80-2926-4DC496B50BE7}"/>
              </a:ext>
            </a:extLst>
          </p:cNvPr>
          <p:cNvSpPr/>
          <p:nvPr/>
        </p:nvSpPr>
        <p:spPr>
          <a:xfrm>
            <a:off x="914400" y="0"/>
            <a:ext cx="7999413" cy="18256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FFA03C-984B-044C-D70F-DF6782852A8B}"/>
              </a:ext>
            </a:extLst>
          </p:cNvPr>
          <p:cNvSpPr/>
          <p:nvPr/>
        </p:nvSpPr>
        <p:spPr>
          <a:xfrm>
            <a:off x="914400" y="6675438"/>
            <a:ext cx="7999413" cy="18256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51" r:id="rId3"/>
    <p:sldLayoutId id="2147483743" r:id="rId4"/>
    <p:sldLayoutId id="2147483744" r:id="rId5"/>
    <p:sldLayoutId id="2147483752" r:id="rId6"/>
    <p:sldLayoutId id="2147483745" r:id="rId7"/>
    <p:sldLayoutId id="2147483746" r:id="rId8"/>
    <p:sldLayoutId id="2147483747" r:id="rId9"/>
    <p:sldLayoutId id="2147483748" r:id="rId10"/>
    <p:sldLayoutId id="2147483753" r:id="rId11"/>
    <p:sldLayoutId id="2147483754" r:id="rId12"/>
    <p:sldLayoutId id="2147483755" r:id="rId13"/>
    <p:sldLayoutId id="2147483749" r:id="rId14"/>
    <p:sldLayoutId id="2147483750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entury Gothic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entury Gothic" charset="0"/>
          <a:ea typeface="ＭＳ Ｐゴシック" charset="0"/>
          <a:cs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entury Gothic" charset="0"/>
          <a:ea typeface="ＭＳ Ｐゴシック" charset="0"/>
          <a:cs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entury Gothic" charset="0"/>
          <a:ea typeface="ＭＳ Ｐゴシック" charset="0"/>
          <a:cs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Century 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Font typeface="Wingdings 2" pitchFamily="2" charset="2"/>
        <a:buChar char=""/>
        <a:defRPr sz="2000" kern="1200">
          <a:solidFill>
            <a:srgbClr val="595959"/>
          </a:solidFill>
          <a:latin typeface="+mn-lt"/>
          <a:ea typeface="ＭＳ Ｐゴシック" charset="0"/>
          <a:cs typeface="ＭＳ Ｐゴシック" charset="0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rgbClr val="51640B"/>
        </a:buClr>
        <a:buFont typeface="Wingdings 2" pitchFamily="2" charset="2"/>
        <a:buChar char="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2pPr>
      <a:lvl3pPr marL="1035050" indent="-3492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Font typeface="Wingdings 2" pitchFamily="2" charset="2"/>
        <a:buChar char="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3pPr>
      <a:lvl4pPr marL="1371600" indent="-336550" algn="l" rtl="0" eaLnBrk="0" fontAlgn="base" hangingPunct="0">
        <a:spcBef>
          <a:spcPts val="600"/>
        </a:spcBef>
        <a:spcAft>
          <a:spcPct val="0"/>
        </a:spcAft>
        <a:buClr>
          <a:srgbClr val="51640B"/>
        </a:buClr>
        <a:buFont typeface="Wingdings 2" pitchFamily="2" charset="2"/>
        <a:buChar char="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4pPr>
      <a:lvl5pPr marL="1720850" indent="-3492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Font typeface="Wingdings 2" pitchFamily="2" charset="2"/>
        <a:buChar char="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5pPr>
      <a:lvl6pPr marL="2055813" indent="-344488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398713" indent="-344488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743200" indent="-344488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087688" indent="-344488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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D66CA0C9-1AF4-8304-B406-E57D4D479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57413"/>
            <a:ext cx="9144000" cy="877887"/>
          </a:xfrm>
        </p:spPr>
        <p:txBody>
          <a:bodyPr/>
          <a:lstStyle/>
          <a:p>
            <a:r>
              <a:rPr lang="en-US" altLang="en-BD">
                <a:ea typeface="ＭＳ Ｐゴシック" panose="020B0600070205080204" pitchFamily="34" charset="-128"/>
              </a:rPr>
              <a:t>Variable, Data type and Operator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11E6B-E5C6-2F10-46A8-D53C001AB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035300"/>
            <a:ext cx="8001000" cy="3822700"/>
          </a:xfrm>
        </p:spPr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Dr. Md. Al </a:t>
            </a:r>
            <a:r>
              <a:rPr lang="en-US" dirty="0" err="1">
                <a:solidFill>
                  <a:schemeClr val="tx1"/>
                </a:solidFill>
              </a:rPr>
              <a:t>Mamun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Assistant Professor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Computer Science &amp; Engineering Department</a:t>
            </a: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Rajshahi</a:t>
            </a:r>
            <a:r>
              <a:rPr lang="en-US" dirty="0">
                <a:solidFill>
                  <a:schemeClr val="tx1"/>
                </a:solidFill>
              </a:rPr>
              <a:t> University of Engineering &amp; Technology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F814D1D6-9EB6-CE0C-01DB-A7F8C8E75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C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4D479-7989-763E-AC5D-FDCD23E21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The C programming language is a general-purpose, platform independent, high-level language that was originally developed by Dennis M. Ritchie to develop the UNIX operating </a:t>
            </a:r>
            <a:r>
              <a:rPr lang="en-US" dirty="0">
                <a:solidFill>
                  <a:srgbClr val="000000"/>
                </a:solidFill>
              </a:rPr>
              <a:t>system at Bell Labs. </a:t>
            </a: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The language was formalized in 1988 by the American National Standard Institute. (ANSI). </a:t>
            </a: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C is used for systems programming</a:t>
            </a:r>
            <a:endParaRPr lang="en-US" i="1" dirty="0">
              <a:solidFill>
                <a:srgbClr val="000000"/>
              </a:solidFill>
            </a:endParaRPr>
          </a:p>
          <a:p>
            <a:pPr marL="742950" lvl="1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compilers and interpreters,</a:t>
            </a:r>
          </a:p>
          <a:p>
            <a:pPr marL="742950" lvl="1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operating systems</a:t>
            </a:r>
          </a:p>
          <a:p>
            <a:pPr marL="742950" lvl="1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database systems</a:t>
            </a:r>
          </a:p>
          <a:p>
            <a:pPr marL="742950" lvl="1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 microcontrollers </a:t>
            </a:r>
            <a:r>
              <a:rPr lang="en-US" i="1" dirty="0">
                <a:solidFill>
                  <a:srgbClr val="000000"/>
                </a:solidFill>
              </a:rPr>
              <a:t>etc.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A6416115-34A7-DF70-B693-01AFF17E3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C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9A008-B947-69EC-E914-C3B44B4E2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>
              <a:buFont typeface="Wingdings 2" pitchFamily="2" charset="2"/>
              <a:buNone/>
            </a:pPr>
            <a:r>
              <a:rPr lang="en-US" altLang="en-BD">
                <a:solidFill>
                  <a:srgbClr val="595959"/>
                </a:solidFill>
                <a:ea typeface="ＭＳ Ｐゴシック" panose="020B0600070205080204" pitchFamily="34" charset="-128"/>
              </a:rPr>
              <a:t>  </a:t>
            </a: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Easy to learn </a:t>
            </a:r>
          </a:p>
          <a:p>
            <a:pPr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  Structured language </a:t>
            </a:r>
          </a:p>
          <a:p>
            <a:pPr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  It produces efficient programs. </a:t>
            </a:r>
          </a:p>
          <a:p>
            <a:pPr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  It can handle low-level activities. </a:t>
            </a:r>
          </a:p>
          <a:p>
            <a:pPr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  It can be compiled on a variety of computer platforms.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C is static (compiled), typed and imperative.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"C is quirky, flawed, and an enormous success."–Ritchie </a:t>
            </a:r>
          </a:p>
          <a:p>
            <a:pPr>
              <a:buFont typeface="Wingdings 2" pitchFamily="2" charset="2"/>
              <a:buNone/>
            </a:pPr>
            <a:endParaRPr lang="en-US" altLang="en-BD">
              <a:solidFill>
                <a:srgbClr val="595959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9989CE4A-693B-1BFF-EEF5-6F6FA2366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C Basic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F3722-2FBC-989C-D195-B040518D9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>
              <a:buFont typeface="Wingdings 2" pitchFamily="2" charset="2"/>
              <a:buNone/>
            </a:pPr>
            <a:endParaRPr lang="en-US" altLang="en-BD">
              <a:solidFill>
                <a:srgbClr val="595959"/>
              </a:solidFill>
              <a:ea typeface="ＭＳ Ｐゴシック" panose="020B0600070205080204" pitchFamily="34" charset="-128"/>
            </a:endParaRPr>
          </a:p>
          <a:p>
            <a:pPr>
              <a:buFont typeface="Wingdings 2" pitchFamily="2" charset="2"/>
              <a:buNone/>
            </a:pPr>
            <a:r>
              <a:rPr lang="en-US" altLang="en-BD">
                <a:solidFill>
                  <a:srgbClr val="595959"/>
                </a:solidFill>
                <a:ea typeface="ＭＳ Ｐゴシック" panose="020B0600070205080204" pitchFamily="34" charset="-128"/>
              </a:rPr>
              <a:t>• </a:t>
            </a: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Variable declarations: </a:t>
            </a:r>
            <a:r>
              <a:rPr lang="en-US" altLang="en-BD" b="1">
                <a:solidFill>
                  <a:srgbClr val="000000"/>
                </a:solidFill>
                <a:ea typeface="ＭＳ Ｐゴシック" panose="020B0600070205080204" pitchFamily="34" charset="-128"/>
              </a:rPr>
              <a:t>int </a:t>
            </a: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i ; </a:t>
            </a:r>
            <a:r>
              <a:rPr lang="en-US" altLang="en-BD" b="1">
                <a:solidFill>
                  <a:srgbClr val="000000"/>
                </a:solidFill>
                <a:ea typeface="ＭＳ Ｐゴシック" panose="020B0600070205080204" pitchFamily="34" charset="-128"/>
              </a:rPr>
              <a:t>float </a:t>
            </a: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f ; </a:t>
            </a:r>
          </a:p>
          <a:p>
            <a:pPr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• Intialization: </a:t>
            </a:r>
            <a:r>
              <a:rPr lang="en-US" altLang="en-BD" b="1">
                <a:solidFill>
                  <a:srgbClr val="000000"/>
                </a:solidFill>
                <a:ea typeface="ＭＳ Ｐゴシック" panose="020B0600070205080204" pitchFamily="34" charset="-128"/>
              </a:rPr>
              <a:t>char </a:t>
            </a: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c=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; </a:t>
            </a:r>
            <a:r>
              <a:rPr lang="en-US" altLang="en-BD" b="1">
                <a:solidFill>
                  <a:srgbClr val="000000"/>
                </a:solidFill>
                <a:ea typeface="ＭＳ Ｐゴシック" panose="020B0600070205080204" pitchFamily="34" charset="-128"/>
              </a:rPr>
              <a:t>int </a:t>
            </a: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x=y=10;</a:t>
            </a:r>
          </a:p>
          <a:p>
            <a:pPr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• Operators: +,−,∗,/,%</a:t>
            </a:r>
          </a:p>
          <a:p>
            <a:pPr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• Expressions: </a:t>
            </a:r>
            <a:r>
              <a:rPr lang="en-US" altLang="en-BD" b="1">
                <a:solidFill>
                  <a:srgbClr val="000000"/>
                </a:solidFill>
                <a:ea typeface="ＭＳ Ｐゴシック" panose="020B0600070205080204" pitchFamily="34" charset="-128"/>
              </a:rPr>
              <a:t>int </a:t>
            </a: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x,y,z; </a:t>
            </a:r>
          </a:p>
          <a:p>
            <a:pPr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	          x=y∗2+z∗3; </a:t>
            </a:r>
          </a:p>
          <a:p>
            <a:pPr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• Function: </a:t>
            </a:r>
            <a:r>
              <a:rPr lang="en-US" altLang="en-BD" b="1">
                <a:solidFill>
                  <a:srgbClr val="000000"/>
                </a:solidFill>
                <a:ea typeface="ＭＳ Ｐゴシック" panose="020B0600070205080204" pitchFamily="34" charset="-128"/>
              </a:rPr>
              <a:t>int </a:t>
            </a: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factorial (</a:t>
            </a:r>
            <a:r>
              <a:rPr lang="en-US" altLang="en-BD" b="1">
                <a:solidFill>
                  <a:srgbClr val="000000"/>
                </a:solidFill>
                <a:ea typeface="ＭＳ Ｐゴシック" panose="020B0600070205080204" pitchFamily="34" charset="-128"/>
              </a:rPr>
              <a:t>int </a:t>
            </a: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n); /∗function takes int, returns int∗/ </a:t>
            </a:r>
          </a:p>
          <a:p>
            <a:pPr>
              <a:buFont typeface="Wingdings 2" pitchFamily="2" charset="2"/>
              <a:buNone/>
            </a:pPr>
            <a:endParaRPr lang="en-US" altLang="en-BD">
              <a:solidFill>
                <a:srgbClr val="595959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85D3B1B1-3DEE-CFFD-42B3-EA8DE2832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C Variables and datatypes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CB5BB-8CB4-94C9-4A16-EDBC0D626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000000"/>
                </a:solidFill>
              </a:rPr>
              <a:t>Identifiers</a:t>
            </a: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A C identifier is a name used to identify a variable. An identifier starts with a letter A to Z or a to z or an underscore _ followed by zero or more letters, underscores, and digits (0 to 9). </a:t>
            </a: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C does not allow punctuation characters such as @, $, and % within identifiers. C is a case sensitive programming language. Thus, Manpower and manpower are two different identifiers in C. Here are some examples of acceptable identifiers: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err="1">
                <a:solidFill>
                  <a:srgbClr val="000000"/>
                </a:solidFill>
              </a:rPr>
              <a:t>Mohd</a:t>
            </a:r>
            <a:r>
              <a:rPr lang="en-US" dirty="0">
                <a:solidFill>
                  <a:srgbClr val="000000"/>
                </a:solidFill>
              </a:rPr>
              <a:t>                          </a:t>
            </a:r>
            <a:r>
              <a:rPr lang="en-US" dirty="0" err="1">
                <a:solidFill>
                  <a:srgbClr val="000000"/>
                </a:solidFill>
              </a:rPr>
              <a:t>zara</a:t>
            </a:r>
            <a:r>
              <a:rPr lang="en-US" dirty="0">
                <a:solidFill>
                  <a:srgbClr val="000000"/>
                </a:solidFill>
              </a:rPr>
              <a:t>            </a:t>
            </a:r>
            <a:r>
              <a:rPr lang="en-US" dirty="0" err="1">
                <a:solidFill>
                  <a:srgbClr val="000000"/>
                </a:solidFill>
              </a:rPr>
              <a:t>abc</a:t>
            </a:r>
            <a:r>
              <a:rPr lang="en-US" dirty="0">
                <a:solidFill>
                  <a:srgbClr val="000000"/>
                </a:solidFill>
              </a:rPr>
              <a:t>          </a:t>
            </a:r>
            <a:r>
              <a:rPr lang="en-US" dirty="0" err="1">
                <a:solidFill>
                  <a:srgbClr val="000000"/>
                </a:solidFill>
              </a:rPr>
              <a:t>move_name</a:t>
            </a:r>
            <a:r>
              <a:rPr lang="en-US" dirty="0">
                <a:solidFill>
                  <a:srgbClr val="000000"/>
                </a:solidFill>
              </a:rPr>
              <a:t>          a_123      myname50 _temp         j               a23b9                    </a:t>
            </a:r>
            <a:r>
              <a:rPr lang="en-US" dirty="0" err="1">
                <a:solidFill>
                  <a:srgbClr val="000000"/>
                </a:solidFill>
              </a:rPr>
              <a:t>retVal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57200E1D-4B53-F207-F9E7-A2905B393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C Variables and datatypes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7CD43-7015-8163-19F9-1FF25236B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err="1">
                <a:solidFill>
                  <a:srgbClr val="000000"/>
                </a:solidFill>
              </a:rPr>
              <a:t>Datatypes</a:t>
            </a:r>
            <a:r>
              <a:rPr lang="en-US" b="1" dirty="0">
                <a:solidFill>
                  <a:srgbClr val="000000"/>
                </a:solidFill>
              </a:rPr>
              <a:t>: </a:t>
            </a:r>
          </a:p>
          <a:p>
            <a:pPr marL="285750" indent="-285750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The </a:t>
            </a:r>
            <a:r>
              <a:rPr lang="en-US" b="1" dirty="0" err="1">
                <a:solidFill>
                  <a:srgbClr val="000000"/>
                </a:solidFill>
              </a:rPr>
              <a:t>datatype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of an object in memory determines the set of values it can have and what operations that can be performed on it. </a:t>
            </a:r>
          </a:p>
          <a:p>
            <a:pPr marL="285750" indent="-285750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C allows implicit conversions as well as forced (potentially dangerous) casting. </a:t>
            </a:r>
          </a:p>
          <a:p>
            <a:pPr marL="285750" indent="-285750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Generally, the type of a variable determines how much space it occupies in storage and how the bit pattern stored is interpreted. 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D44CF8A5-464E-2FDA-094C-7854327E3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C Variables and datatypes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91D21-38B6-3EB7-4C26-65F0D5CB9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baseline="30000" dirty="0">
              <a:solidFill>
                <a:schemeClr val="tx1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400" baseline="30000" dirty="0">
                <a:solidFill>
                  <a:schemeClr val="tx1"/>
                </a:solidFill>
              </a:rPr>
              <a:t>The </a:t>
            </a:r>
            <a:r>
              <a:rPr lang="en-US" sz="2400" baseline="30000" dirty="0" err="1">
                <a:solidFill>
                  <a:schemeClr val="tx1"/>
                </a:solidFill>
              </a:rPr>
              <a:t>datatypes</a:t>
            </a:r>
            <a:r>
              <a:rPr lang="en-US" sz="2400" baseline="30000" dirty="0">
                <a:solidFill>
                  <a:schemeClr val="tx1"/>
                </a:solidFill>
              </a:rPr>
              <a:t> in C can be classified as follows:</a:t>
            </a:r>
          </a:p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76C21F-7324-DCE2-6A27-5B300C97C1E0}"/>
              </a:ext>
            </a:extLst>
          </p:cNvPr>
          <p:cNvGraphicFramePr>
            <a:graphicFrameLocks noGrp="1"/>
          </p:cNvGraphicFramePr>
          <p:nvPr/>
        </p:nvGraphicFramePr>
        <p:xfrm>
          <a:off x="1192213" y="2206625"/>
          <a:ext cx="7159625" cy="4576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0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5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S.N.</a:t>
                      </a:r>
                    </a:p>
                  </a:txBody>
                  <a:tcPr marL="91445" marR="91445" marT="45710" marB="4571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Types and Description</a:t>
                      </a:r>
                    </a:p>
                  </a:txBody>
                  <a:tcPr marL="91445" marR="91445" marT="45710" marB="4571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347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5" marR="91445" marT="45710" marB="45710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Basic Types: </a:t>
                      </a:r>
                      <a:endParaRPr lang="en-US" sz="1800" dirty="0">
                        <a:effectLst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They are arithmetic types and consists of the two types: (a) integer types and (b) floating- point types. </a:t>
                      </a:r>
                      <a:endParaRPr lang="en-US" sz="1800" dirty="0">
                        <a:effectLst/>
                      </a:endParaRPr>
                    </a:p>
                  </a:txBody>
                  <a:tcPr marL="91445" marR="91445" marT="45710" marB="4571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655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45" marR="91445" marT="45710" marB="45710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Enumerated types: </a:t>
                      </a:r>
                      <a:endParaRPr lang="en-US" sz="1800" dirty="0">
                        <a:effectLst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They are again arithmetic types and they are used to define variables that can only be assigned certain discrete integer values throughout the program. </a:t>
                      </a:r>
                      <a:endParaRPr lang="en-US" sz="1800" dirty="0">
                        <a:effectLst/>
                      </a:endParaRPr>
                    </a:p>
                  </a:txBody>
                  <a:tcPr marL="91445" marR="91445" marT="45710" marB="4571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347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45" marR="91445" marT="45710" marB="45710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type void: </a:t>
                      </a:r>
                      <a:endParaRPr lang="en-US" sz="1800" dirty="0">
                        <a:effectLst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type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specifier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void indicates that no value is available. </a:t>
                      </a:r>
                      <a:endParaRPr lang="en-US" sz="1800" dirty="0">
                        <a:effectLst/>
                      </a:endParaRPr>
                    </a:p>
                  </a:txBody>
                  <a:tcPr marL="91445" marR="91445" marT="45710" marB="4571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655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45" marR="91445" marT="45710" marB="45710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Derived types: </a:t>
                      </a:r>
                      <a:endParaRPr lang="en-US" sz="1800" dirty="0">
                        <a:effectLst/>
                      </a:endParaRP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They include (a) Pointer types, (b) Array types, (c) Structure types, (d) Union types and (e) Function types. </a:t>
                      </a:r>
                      <a:endParaRPr lang="en-US" sz="1800" dirty="0">
                        <a:effectLst/>
                      </a:endParaRPr>
                    </a:p>
                  </a:txBody>
                  <a:tcPr marL="91445" marR="91445" marT="45710" marB="4571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1AE8E961-7701-24A9-86B4-36DA610D4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Integer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CB012-1B72-C383-80B7-F2929E765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Standard integer types with its storage sizes and value ranges:</a:t>
            </a:r>
            <a:endParaRPr lang="en-US" sz="2400" baseline="30000" dirty="0">
              <a:solidFill>
                <a:schemeClr val="tx1"/>
              </a:solidFill>
            </a:endParaRPr>
          </a:p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529F73-B84E-8810-14EB-6EBFC0FC1786}"/>
              </a:ext>
            </a:extLst>
          </p:cNvPr>
          <p:cNvGraphicFramePr>
            <a:graphicFrameLocks noGrp="1"/>
          </p:cNvGraphicFramePr>
          <p:nvPr/>
        </p:nvGraphicFramePr>
        <p:xfrm>
          <a:off x="1192213" y="1985963"/>
          <a:ext cx="7159625" cy="4246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92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Type</a:t>
                      </a:r>
                    </a:p>
                  </a:txBody>
                  <a:tcPr marL="91445" marR="91445" marT="42990" marB="42990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Storage</a:t>
                      </a:r>
                      <a:r>
                        <a:rPr lang="en-US" sz="1700" baseline="0" dirty="0">
                          <a:solidFill>
                            <a:srgbClr val="000000"/>
                          </a:solidFill>
                        </a:rPr>
                        <a:t> Size</a:t>
                      </a:r>
                      <a:endParaRPr lang="en-US" sz="1700" dirty="0">
                        <a:solidFill>
                          <a:srgbClr val="000000"/>
                        </a:solidFill>
                      </a:endParaRPr>
                    </a:p>
                  </a:txBody>
                  <a:tcPr marL="91445" marR="91445" marT="42990" marB="42990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Value Range</a:t>
                      </a:r>
                    </a:p>
                  </a:txBody>
                  <a:tcPr marL="91445" marR="91445" marT="42990" marB="429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92"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char</a:t>
                      </a:r>
                    </a:p>
                  </a:txBody>
                  <a:tcPr marL="91445" marR="91445" marT="42990" marB="42990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1 byte</a:t>
                      </a:r>
                    </a:p>
                  </a:txBody>
                  <a:tcPr marL="91445" marR="91445" marT="42990" marB="429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-128 to 127 or 0 to 255 </a:t>
                      </a:r>
                      <a:endParaRPr lang="en-US" sz="1700" dirty="0">
                        <a:effectLst/>
                      </a:endParaRPr>
                    </a:p>
                  </a:txBody>
                  <a:tcPr marL="91445" marR="91445" marT="42990" marB="429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92"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Unsigned char</a:t>
                      </a:r>
                    </a:p>
                  </a:txBody>
                  <a:tcPr marL="91445" marR="91445" marT="42990" marB="42990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1 byte </a:t>
                      </a:r>
                    </a:p>
                  </a:txBody>
                  <a:tcPr marL="91445" marR="91445" marT="42990" marB="42990" anchor="ctr"/>
                </a:tc>
                <a:tc>
                  <a:txBody>
                    <a:bodyPr/>
                    <a:lstStyle/>
                    <a:p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255 </a:t>
                      </a:r>
                      <a:endParaRPr lang="en-US" sz="1700" dirty="0">
                        <a:effectLst/>
                      </a:endParaRPr>
                    </a:p>
                  </a:txBody>
                  <a:tcPr marL="91445" marR="91445" marT="42990" marB="429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92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+mn-lt"/>
                        </a:rPr>
                        <a:t>signed char </a:t>
                      </a:r>
                    </a:p>
                  </a:txBody>
                  <a:tcPr marL="91445" marR="91445" marT="42990" marB="42990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+mn-lt"/>
                        </a:rPr>
                        <a:t>1 byte </a:t>
                      </a:r>
                    </a:p>
                  </a:txBody>
                  <a:tcPr marL="91445" marR="91445" marT="42990" marB="42990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  <a:latin typeface="+mn-lt"/>
                        </a:rPr>
                        <a:t>-128 to 127 </a:t>
                      </a:r>
                    </a:p>
                  </a:txBody>
                  <a:tcPr marL="91445" marR="91445" marT="42990" marB="429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05">
                <a:tc>
                  <a:txBody>
                    <a:bodyPr/>
                    <a:lstStyle/>
                    <a:p>
                      <a:r>
                        <a:rPr lang="fr-FR" sz="1700" dirty="0" err="1">
                          <a:effectLst/>
                          <a:latin typeface="+mn-lt"/>
                        </a:rPr>
                        <a:t>int</a:t>
                      </a:r>
                      <a:r>
                        <a:rPr lang="fr-FR" sz="1700" dirty="0"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91445" marR="91445" marT="42990" marB="42990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  <a:latin typeface="+mn-lt"/>
                        </a:rPr>
                        <a:t>2 or 4 bytes </a:t>
                      </a:r>
                    </a:p>
                  </a:txBody>
                  <a:tcPr marL="91445" marR="91445" marT="42990" marB="42990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  <a:latin typeface="+mn-lt"/>
                        </a:rPr>
                        <a:t>-32,768 to 32,767 or -2,147,483,648 to 2,147,483,647 </a:t>
                      </a:r>
                    </a:p>
                  </a:txBody>
                  <a:tcPr marL="91445" marR="91445" marT="42990" marB="429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05"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unsigned </a:t>
                      </a:r>
                      <a:r>
                        <a:rPr lang="en-US" sz="1700" dirty="0" err="1">
                          <a:effectLst/>
                        </a:rPr>
                        <a:t>int</a:t>
                      </a:r>
                      <a:endParaRPr lang="en-US" sz="1700" dirty="0">
                        <a:effectLst/>
                      </a:endParaRPr>
                    </a:p>
                  </a:txBody>
                  <a:tcPr marL="91445" marR="91445" marT="42990" marB="429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effectLst/>
                          <a:latin typeface="+mn-lt"/>
                        </a:rPr>
                        <a:t>2 or 4 bytes </a:t>
                      </a:r>
                    </a:p>
                    <a:p>
                      <a:endParaRPr lang="en-US" sz="1700" dirty="0">
                        <a:effectLst/>
                      </a:endParaRPr>
                    </a:p>
                  </a:txBody>
                  <a:tcPr marL="91445" marR="91445" marT="42990" marB="429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65,535 or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4,294,967,295 </a:t>
                      </a:r>
                      <a:endParaRPr lang="en-US" sz="1700" dirty="0">
                        <a:effectLst/>
                      </a:endParaRPr>
                    </a:p>
                  </a:txBody>
                  <a:tcPr marL="91445" marR="91445" marT="42990" marB="429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692"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short</a:t>
                      </a:r>
                    </a:p>
                  </a:txBody>
                  <a:tcPr marL="91445" marR="91445" marT="42990" marB="42990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2 bytes</a:t>
                      </a:r>
                    </a:p>
                  </a:txBody>
                  <a:tcPr marL="91445" marR="91445" marT="42990" marB="42990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  <a:latin typeface="+mn-lt"/>
                        </a:rPr>
                        <a:t>-32,768 to 32,767</a:t>
                      </a:r>
                      <a:endParaRPr lang="en-US" sz="1700" dirty="0">
                        <a:effectLst/>
                      </a:endParaRPr>
                    </a:p>
                  </a:txBody>
                  <a:tcPr marL="91445" marR="91445" marT="42990" marB="429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692">
                <a:tc>
                  <a:txBody>
                    <a:bodyPr/>
                    <a:lstStyle/>
                    <a:p>
                      <a:r>
                        <a:rPr lang="en-US" sz="1700" dirty="0"/>
                        <a:t>unsigned short</a:t>
                      </a:r>
                    </a:p>
                  </a:txBody>
                  <a:tcPr marL="91445" marR="91445" marT="42990" marB="429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effectLst/>
                        </a:rPr>
                        <a:t>2 bytes</a:t>
                      </a:r>
                    </a:p>
                  </a:txBody>
                  <a:tcPr marL="91445" marR="91445" marT="42990" marB="429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65,535 </a:t>
                      </a:r>
                    </a:p>
                  </a:txBody>
                  <a:tcPr marL="91445" marR="91445" marT="42990" marB="429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1905">
                <a:tc>
                  <a:txBody>
                    <a:bodyPr/>
                    <a:lstStyle/>
                    <a:p>
                      <a:r>
                        <a:rPr lang="en-US" sz="1700" dirty="0"/>
                        <a:t>long</a:t>
                      </a:r>
                    </a:p>
                  </a:txBody>
                  <a:tcPr marL="91445" marR="91445" marT="42990" marB="429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effectLst/>
                        </a:rPr>
                        <a:t>4 byte</a:t>
                      </a:r>
                    </a:p>
                  </a:txBody>
                  <a:tcPr marL="91445" marR="91445" marT="42990" marB="429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effectLst/>
                          <a:latin typeface="+mn-lt"/>
                        </a:rPr>
                        <a:t>-2,147,483,648 to 2,147,483,647</a:t>
                      </a:r>
                      <a:endParaRPr lang="en-US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5" marR="91445" marT="42990" marB="429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692">
                <a:tc>
                  <a:txBody>
                    <a:bodyPr/>
                    <a:lstStyle/>
                    <a:p>
                      <a:r>
                        <a:rPr lang="en-US" sz="1700" dirty="0"/>
                        <a:t>unsigned</a:t>
                      </a:r>
                      <a:r>
                        <a:rPr lang="en-US" sz="1700" baseline="0" dirty="0"/>
                        <a:t> long</a:t>
                      </a:r>
                      <a:endParaRPr lang="en-US" sz="1700" dirty="0"/>
                    </a:p>
                  </a:txBody>
                  <a:tcPr marL="91445" marR="91445" marT="42990" marB="429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effectLst/>
                        </a:rPr>
                        <a:t>4 bytes</a:t>
                      </a:r>
                    </a:p>
                  </a:txBody>
                  <a:tcPr marL="91445" marR="91445" marT="42990" marB="429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to 4,294,967,295 </a:t>
                      </a:r>
                      <a:endParaRPr lang="en-US" sz="1700" dirty="0">
                        <a:effectLst/>
                      </a:endParaRPr>
                    </a:p>
                  </a:txBody>
                  <a:tcPr marL="91445" marR="91445" marT="42990" marB="429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A2595A97-5741-F307-4EE5-7C9531D76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sizeof operator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C91CA2-F1ED-7A4C-CA5E-4A57577BB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>
            <a:normAutofit lnSpcReduction="10000"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To get the exact size of a type or a variable on a particular platform, you can use the </a:t>
            </a:r>
            <a:r>
              <a:rPr lang="en-US" dirty="0" err="1">
                <a:solidFill>
                  <a:srgbClr val="000000"/>
                </a:solidFill>
              </a:rPr>
              <a:t>sizeof</a:t>
            </a:r>
            <a:r>
              <a:rPr lang="en-US" dirty="0">
                <a:solidFill>
                  <a:srgbClr val="000000"/>
                </a:solidFill>
              </a:rPr>
              <a:t> operator. </a:t>
            </a: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The expressions </a:t>
            </a:r>
            <a:r>
              <a:rPr lang="en-US" dirty="0" err="1">
                <a:solidFill>
                  <a:srgbClr val="000000"/>
                </a:solidFill>
              </a:rPr>
              <a:t>sizeof</a:t>
            </a:r>
            <a:r>
              <a:rPr lang="en-US" dirty="0">
                <a:solidFill>
                  <a:srgbClr val="000000"/>
                </a:solidFill>
              </a:rPr>
              <a:t>(type) yields the storage size of the object or type in bytes. </a:t>
            </a: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Following is an example to get the size of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type on any machine: </a:t>
            </a: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dirty="0">
              <a:solidFill>
                <a:srgbClr val="000000"/>
              </a:solidFill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stdio.h</a:t>
            </a:r>
            <a:r>
              <a:rPr lang="en-US" dirty="0">
                <a:solidFill>
                  <a:srgbClr val="000000"/>
                </a:solidFill>
              </a:rPr>
              <a:t>&gt;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limits.h</a:t>
            </a:r>
            <a:r>
              <a:rPr lang="en-US" dirty="0">
                <a:solidFill>
                  <a:srgbClr val="000000"/>
                </a:solidFill>
              </a:rPr>
              <a:t>&gt;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main() {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("Storage size for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: %d \n", </a:t>
            </a:r>
            <a:r>
              <a:rPr lang="en-US" dirty="0" err="1">
                <a:solidFill>
                  <a:srgbClr val="000000"/>
                </a:solidFill>
              </a:rPr>
              <a:t>sizeof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));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return 0;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}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5238415E-F36B-5B84-9B46-CD1EE2C77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Floating-Point Types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CD9CE-2097-C07B-AB40-5734563C3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Standard integer types with its storage sizes and value ranges:</a:t>
            </a:r>
            <a:endParaRPr lang="en-US" sz="2400" baseline="30000" dirty="0">
              <a:solidFill>
                <a:schemeClr val="tx1"/>
              </a:solidFill>
            </a:endParaRPr>
          </a:p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875CBE-7198-57D5-082A-E424846B5355}"/>
              </a:ext>
            </a:extLst>
          </p:cNvPr>
          <p:cNvGraphicFramePr>
            <a:graphicFrameLocks noGrp="1"/>
          </p:cNvGraphicFramePr>
          <p:nvPr/>
        </p:nvGraphicFramePr>
        <p:xfrm>
          <a:off x="1192213" y="1985963"/>
          <a:ext cx="7518400" cy="2763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2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4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15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Type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Storage</a:t>
                      </a:r>
                      <a:r>
                        <a:rPr lang="en-US" sz="1800" baseline="0" dirty="0">
                          <a:solidFill>
                            <a:srgbClr val="000000"/>
                          </a:solidFill>
                        </a:rPr>
                        <a:t> Size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Value Range</a:t>
                      </a:r>
                    </a:p>
                  </a:txBody>
                  <a:tcPr marL="91443" marR="91443"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Precision</a:t>
                      </a:r>
                    </a:p>
                  </a:txBody>
                  <a:tcPr marL="91443" marR="91443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83">
                <a:tc>
                  <a:txBody>
                    <a:bodyPr/>
                    <a:lstStyle/>
                    <a:p>
                      <a:endParaRPr lang="en-US" sz="1800">
                        <a:effectLst/>
                        <a:latin typeface="+mn-lt"/>
                      </a:endParaRP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endParaRPr lang="en-US" sz="1800">
                        <a:effectLst/>
                        <a:latin typeface="+mn-lt"/>
                      </a:endParaRP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endParaRPr lang="en-US" sz="1800">
                        <a:effectLst/>
                        <a:latin typeface="+mn-lt"/>
                      </a:endParaRP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endParaRPr lang="en-US" sz="1800">
                        <a:effectLst/>
                        <a:latin typeface="+mn-lt"/>
                      </a:endParaRPr>
                    </a:p>
                  </a:txBody>
                  <a:tcPr marL="91443" marR="91443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3">
                <a:tc>
                  <a:txBody>
                    <a:bodyPr/>
                    <a:lstStyle/>
                    <a:p>
                      <a:r>
                        <a:rPr lang="ro-RO" sz="1800">
                          <a:effectLst/>
                          <a:latin typeface="+mn-lt"/>
                        </a:rPr>
                        <a:t>float </a:t>
                      </a: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</a:rPr>
                        <a:t>4 byte </a:t>
                      </a: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</a:rPr>
                        <a:t>1.2E-38 to 3.4E+38 </a:t>
                      </a: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</a:rPr>
                        <a:t>6 decimal places </a:t>
                      </a:r>
                    </a:p>
                  </a:txBody>
                  <a:tcPr marL="91443" marR="91443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3">
                <a:tc>
                  <a:txBody>
                    <a:bodyPr/>
                    <a:lstStyle/>
                    <a:p>
                      <a:r>
                        <a:rPr lang="nb-NO" sz="1800">
                          <a:effectLst/>
                          <a:latin typeface="+mn-lt"/>
                        </a:rPr>
                        <a:t>double </a:t>
                      </a: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</a:rPr>
                        <a:t>8 byte </a:t>
                      </a: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+mn-lt"/>
                        </a:rPr>
                        <a:t>2.3E-308 to 1.7E+308 </a:t>
                      </a: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</a:rPr>
                        <a:t>15 decimal places </a:t>
                      </a:r>
                    </a:p>
                  </a:txBody>
                  <a:tcPr marL="91443" marR="91443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153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long</a:t>
                      </a:r>
                      <a:r>
                        <a:rPr lang="en-US" sz="1800" baseline="0" dirty="0">
                          <a:effectLst/>
                        </a:rPr>
                        <a:t> double</a:t>
                      </a:r>
                      <a:endParaRPr lang="en-US" sz="1800" dirty="0">
                        <a:effectLst/>
                      </a:endParaRP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 bytes</a:t>
                      </a: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3.4E-4932 to 1.1E+4932 </a:t>
                      </a:r>
                      <a:endParaRPr lang="en-US" sz="1800" dirty="0">
                        <a:effectLst/>
                      </a:endParaRPr>
                    </a:p>
                    <a:p>
                      <a:endParaRPr lang="en-US" sz="1800" dirty="0">
                        <a:effectLst/>
                      </a:endParaRP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19 decimal places</a:t>
                      </a:r>
                    </a:p>
                  </a:txBody>
                  <a:tcPr marL="91443" marR="91443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3">
                <a:tc>
                  <a:txBody>
                    <a:bodyPr/>
                    <a:lstStyle/>
                    <a:p>
                      <a:endParaRPr lang="en-US" sz="1800">
                        <a:effectLst/>
                      </a:endParaRP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endParaRPr lang="en-US" sz="1800">
                        <a:effectLst/>
                      </a:endParaRP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91443" marR="91443" marT="45725" marB="45725" anchor="ctr"/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91443" marR="91443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F85EFD8F-AE05-AFE4-3E13-9A774B237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Floating-Point Types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BD36FB-0C1A-CD8E-939B-455F3DA3C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stdio.h</a:t>
            </a:r>
            <a:r>
              <a:rPr lang="en-US" dirty="0">
                <a:solidFill>
                  <a:srgbClr val="000000"/>
                </a:solidFill>
              </a:rPr>
              <a:t>&gt;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float.h</a:t>
            </a:r>
            <a:r>
              <a:rPr lang="en-US" dirty="0">
                <a:solidFill>
                  <a:srgbClr val="000000"/>
                </a:solidFill>
              </a:rPr>
              <a:t>&gt;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main()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{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("Storage size for float : %d \n", </a:t>
            </a:r>
            <a:r>
              <a:rPr lang="en-US" dirty="0" err="1">
                <a:solidFill>
                  <a:srgbClr val="000000"/>
                </a:solidFill>
              </a:rPr>
              <a:t>sizeof</a:t>
            </a:r>
            <a:r>
              <a:rPr lang="en-US" dirty="0">
                <a:solidFill>
                  <a:srgbClr val="000000"/>
                </a:solidFill>
              </a:rPr>
              <a:t>(float));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("Minimum float positive value: %E\n", FLT_MIN ); 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("Maximum float positive value: %E\n", FLT_MAX ); 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("Precision value: %d\n", FLT_DIG );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return 0;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} </a:t>
            </a:r>
          </a:p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87792B-5730-1E08-ACA9-FC21640D3EF4}"/>
              </a:ext>
            </a:extLst>
          </p:cNvPr>
          <p:cNvGraphicFramePr>
            <a:graphicFrameLocks noGrp="1"/>
          </p:cNvGraphicFramePr>
          <p:nvPr/>
        </p:nvGraphicFramePr>
        <p:xfrm>
          <a:off x="1662113" y="5191125"/>
          <a:ext cx="6413500" cy="146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6367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Output</a:t>
                      </a:r>
                    </a:p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Storage size for float : 4 </a:t>
                      </a:r>
                    </a:p>
                    <a:p>
                      <a:r>
                        <a:rPr lang="fi-FI" sz="1800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Minimum</a:t>
                      </a:r>
                      <a:r>
                        <a:rPr lang="fi-FI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i-FI" sz="1800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float</a:t>
                      </a:r>
                      <a:r>
                        <a:rPr lang="fi-FI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i-FI" sz="1800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positive</a:t>
                      </a:r>
                      <a:r>
                        <a:rPr lang="fi-FI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i-FI" sz="1800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value</a:t>
                      </a:r>
                      <a:r>
                        <a:rPr lang="fi-FI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: 1.175494E-38 </a:t>
                      </a:r>
                    </a:p>
                    <a:p>
                      <a:r>
                        <a:rPr lang="fi-FI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Maximum </a:t>
                      </a:r>
                      <a:r>
                        <a:rPr lang="fi-FI" sz="1800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float</a:t>
                      </a:r>
                      <a:r>
                        <a:rPr lang="fi-FI" sz="18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i-FI" sz="1800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po</a:t>
                      </a:r>
                      <a:r>
                        <a:rPr lang="fi-FI" sz="1800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sitive</a:t>
                      </a:r>
                      <a:r>
                        <a:rPr lang="fi-FI" sz="180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i-FI" sz="1800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value</a:t>
                      </a:r>
                      <a:r>
                        <a:rPr lang="fi-FI" sz="180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: 3.402823E+38 </a:t>
                      </a:r>
                    </a:p>
                    <a:p>
                      <a:r>
                        <a:rPr lang="fi-FI" sz="180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Precision </a:t>
                      </a:r>
                      <a:r>
                        <a:rPr lang="fi-FI" sz="1800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value</a:t>
                      </a:r>
                      <a:r>
                        <a:rPr lang="fi-FI" sz="180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: 6 </a:t>
                      </a:r>
                    </a:p>
                  </a:txBody>
                  <a:tcPr marL="91436" marR="91436" marT="45712" marB="45712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2B478EB6-DF0C-7DC4-1CF5-7497EBF2D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C Variables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E8149-8BF0-A172-D36D-DE083AAF3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variable is nothing but a name given to a storage area that our programs can manipulate. Basic variable types:</a:t>
            </a:r>
          </a:p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7A2E89-2D4B-69B3-C53E-71A737724596}"/>
              </a:ext>
            </a:extLst>
          </p:cNvPr>
          <p:cNvGraphicFramePr>
            <a:graphicFrameLocks noGrp="1"/>
          </p:cNvGraphicFramePr>
          <p:nvPr/>
        </p:nvGraphicFramePr>
        <p:xfrm>
          <a:off x="1192213" y="2689225"/>
          <a:ext cx="7600950" cy="249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02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Type</a:t>
                      </a:r>
                    </a:p>
                  </a:txBody>
                  <a:tcPr marL="91439" marR="91439" marT="45743" marB="4574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Description</a:t>
                      </a:r>
                    </a:p>
                  </a:txBody>
                  <a:tcPr marL="91439" marR="91439" marT="45743" marB="457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406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</a:rPr>
                        <a:t>char</a:t>
                      </a:r>
                    </a:p>
                  </a:txBody>
                  <a:tcPr marL="91439" marR="91439" marT="45743" marB="4574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Typically a single octet(one byte). This is an integer type. </a:t>
                      </a:r>
                      <a:endParaRPr lang="en-US" sz="1800" dirty="0">
                        <a:effectLst/>
                      </a:endParaRPr>
                    </a:p>
                  </a:txBody>
                  <a:tcPr marL="91439" marR="91439" marT="45743" marB="4574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29">
                <a:tc>
                  <a:txBody>
                    <a:bodyPr/>
                    <a:lstStyle/>
                    <a:p>
                      <a:r>
                        <a:rPr lang="ro-RO" sz="1800" dirty="0">
                          <a:effectLst/>
                          <a:latin typeface="+mn-lt"/>
                        </a:rPr>
                        <a:t>int</a:t>
                      </a:r>
                    </a:p>
                  </a:txBody>
                  <a:tcPr marL="91439" marR="91439" marT="45743" marB="4574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most natural size of integer for the machine. </a:t>
                      </a:r>
                      <a:endParaRPr lang="en-US" sz="1800" dirty="0">
                        <a:effectLst/>
                      </a:endParaRPr>
                    </a:p>
                  </a:txBody>
                  <a:tcPr marL="91439" marR="91439" marT="45743" marB="4574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29">
                <a:tc>
                  <a:txBody>
                    <a:bodyPr/>
                    <a:lstStyle/>
                    <a:p>
                      <a:r>
                        <a:rPr lang="nb-NO" sz="1800" dirty="0">
                          <a:effectLst/>
                          <a:latin typeface="+mn-lt"/>
                        </a:rPr>
                        <a:t>float</a:t>
                      </a:r>
                    </a:p>
                  </a:txBody>
                  <a:tcPr marL="91439" marR="91439" marT="45743" marB="45743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single-precision floating point value. </a:t>
                      </a:r>
                      <a:endParaRPr lang="en-US" sz="1800" dirty="0">
                        <a:effectLst/>
                      </a:endParaRPr>
                    </a:p>
                  </a:txBody>
                  <a:tcPr marL="91439" marR="91439" marT="45743" marB="4574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29">
                <a:tc>
                  <a:txBody>
                    <a:bodyPr/>
                    <a:lstStyle/>
                    <a:p>
                      <a:r>
                        <a:rPr lang="en-US" sz="1800" baseline="0" dirty="0">
                          <a:effectLst/>
                        </a:rPr>
                        <a:t>double</a:t>
                      </a:r>
                      <a:endParaRPr lang="en-US" sz="1800" dirty="0">
                        <a:effectLst/>
                      </a:endParaRPr>
                    </a:p>
                  </a:txBody>
                  <a:tcPr marL="91439" marR="91439" marT="45743" marB="45743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double-precision floating point value. </a:t>
                      </a:r>
                      <a:endParaRPr lang="en-US" sz="1800" dirty="0">
                        <a:effectLst/>
                      </a:endParaRPr>
                    </a:p>
                  </a:txBody>
                  <a:tcPr marL="91439" marR="91439" marT="45743" marB="4574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029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void</a:t>
                      </a:r>
                    </a:p>
                  </a:txBody>
                  <a:tcPr marL="91439" marR="91439" marT="45743" marB="4574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Represents the absence of type. </a:t>
                      </a:r>
                      <a:endParaRPr lang="en-US" sz="1800" dirty="0">
                        <a:effectLst/>
                      </a:endParaRPr>
                    </a:p>
                  </a:txBody>
                  <a:tcPr marL="91439" marR="91439" marT="45743" marB="4574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E1C37954-E680-6895-55BB-B613E4EAC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C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20E83-3CDE-4C04-1CEA-D64136898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u="sng" dirty="0">
                <a:solidFill>
                  <a:srgbClr val="000000"/>
                </a:solidFill>
              </a:rPr>
              <a:t>Variable declaration: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type </a:t>
            </a:r>
            <a:r>
              <a:rPr lang="en-US" dirty="0" err="1">
                <a:solidFill>
                  <a:srgbClr val="000000"/>
                </a:solidFill>
              </a:rPr>
              <a:t>variable_list</a:t>
            </a:r>
            <a:r>
              <a:rPr lang="en-US" dirty="0">
                <a:solidFill>
                  <a:srgbClr val="000000"/>
                </a:solidFill>
              </a:rPr>
              <a:t>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000000"/>
                </a:solidFill>
              </a:rPr>
              <a:t>Example: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, j, k;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char c, </a:t>
            </a:r>
            <a:r>
              <a:rPr lang="en-US" dirty="0" err="1">
                <a:solidFill>
                  <a:srgbClr val="000000"/>
                </a:solidFill>
              </a:rPr>
              <a:t>ch</a:t>
            </a:r>
            <a:r>
              <a:rPr lang="en-US" dirty="0">
                <a:solidFill>
                  <a:srgbClr val="000000"/>
                </a:solidFill>
              </a:rPr>
              <a:t>;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float f, salary;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double d;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u="sng" dirty="0">
                <a:solidFill>
                  <a:srgbClr val="000000"/>
                </a:solidFill>
              </a:rPr>
              <a:t>Variable initialization: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type </a:t>
            </a:r>
            <a:r>
              <a:rPr lang="en-US" dirty="0" err="1">
                <a:solidFill>
                  <a:srgbClr val="000000"/>
                </a:solidFill>
              </a:rPr>
              <a:t>variable_name</a:t>
            </a:r>
            <a:r>
              <a:rPr lang="en-US" dirty="0">
                <a:solidFill>
                  <a:srgbClr val="000000"/>
                </a:solidFill>
              </a:rPr>
              <a:t> = value;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000000"/>
                </a:solidFill>
              </a:rPr>
              <a:t>Example: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extern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d = 3, f = 5;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d = 3, f = 5;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char x = 'x';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FDBFF895-FECB-5266-164A-3C76D9F66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Key Words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5A874-6913-CA33-D6F9-FCB808AB6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>
            <a:normAutofit fontScale="25000" lnSpcReduction="20000"/>
          </a:bodyPr>
          <a:lstStyle/>
          <a:p>
            <a:pPr algn="just" fontAlgn="auto">
              <a:spcAft>
                <a:spcPts val="0"/>
              </a:spcAft>
              <a:defRPr/>
            </a:pPr>
            <a:r>
              <a:rPr lang="en-US" sz="11200" dirty="0">
                <a:solidFill>
                  <a:schemeClr val="tx1"/>
                </a:solidFill>
              </a:rPr>
              <a:t>The following list shows the reserved words in C. These reserved words may not be used as constant or variable or any other identifier names. </a:t>
            </a:r>
          </a:p>
          <a:p>
            <a:pPr fontAlgn="auto">
              <a:spcAft>
                <a:spcPts val="0"/>
              </a:spcAft>
              <a:defRPr/>
            </a:pPr>
            <a:endParaRPr lang="en-US" sz="11200" dirty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11200" dirty="0">
                <a:solidFill>
                  <a:srgbClr val="000000"/>
                </a:solidFill>
              </a:rPr>
              <a:t>auto, else, long ,switch ,break ,</a:t>
            </a:r>
            <a:r>
              <a:rPr lang="en-US" sz="11200" dirty="0" err="1">
                <a:solidFill>
                  <a:srgbClr val="000000"/>
                </a:solidFill>
              </a:rPr>
              <a:t>enum</a:t>
            </a:r>
            <a:r>
              <a:rPr lang="en-US" sz="11200" dirty="0">
                <a:solidFill>
                  <a:srgbClr val="000000"/>
                </a:solidFill>
              </a:rPr>
              <a:t> , register ,</a:t>
            </a:r>
            <a:r>
              <a:rPr lang="en-US" sz="11200" dirty="0" err="1">
                <a:solidFill>
                  <a:srgbClr val="000000"/>
                </a:solidFill>
              </a:rPr>
              <a:t>typedef</a:t>
            </a:r>
            <a:r>
              <a:rPr lang="en-US" sz="11200" dirty="0">
                <a:solidFill>
                  <a:srgbClr val="000000"/>
                </a:solidFill>
              </a:rPr>
              <a:t> ,case ,extern ,return , union ,char ,float ,short ,unsigned ,</a:t>
            </a:r>
            <a:r>
              <a:rPr lang="en-US" sz="11200" dirty="0" err="1">
                <a:solidFill>
                  <a:srgbClr val="000000"/>
                </a:solidFill>
              </a:rPr>
              <a:t>const</a:t>
            </a:r>
            <a:r>
              <a:rPr lang="en-US" sz="11200" dirty="0">
                <a:solidFill>
                  <a:srgbClr val="000000"/>
                </a:solidFill>
              </a:rPr>
              <a:t> , for ,signed ,void ,continue ,</a:t>
            </a:r>
            <a:r>
              <a:rPr lang="en-US" sz="11200" dirty="0" err="1">
                <a:solidFill>
                  <a:srgbClr val="000000"/>
                </a:solidFill>
              </a:rPr>
              <a:t>goto</a:t>
            </a:r>
            <a:r>
              <a:rPr lang="en-US" sz="11200" dirty="0">
                <a:solidFill>
                  <a:srgbClr val="000000"/>
                </a:solidFill>
              </a:rPr>
              <a:t> ,</a:t>
            </a:r>
            <a:r>
              <a:rPr lang="en-US" sz="11200" dirty="0" err="1">
                <a:solidFill>
                  <a:srgbClr val="000000"/>
                </a:solidFill>
              </a:rPr>
              <a:t>sizeof</a:t>
            </a:r>
            <a:r>
              <a:rPr lang="en-US" sz="11200" dirty="0">
                <a:solidFill>
                  <a:srgbClr val="000000"/>
                </a:solidFill>
              </a:rPr>
              <a:t>, volatile ,default ,if ,static ,while ,do ,</a:t>
            </a:r>
            <a:r>
              <a:rPr lang="en-US" sz="11200" dirty="0" err="1">
                <a:solidFill>
                  <a:srgbClr val="000000"/>
                </a:solidFill>
              </a:rPr>
              <a:t>int</a:t>
            </a:r>
            <a:r>
              <a:rPr lang="en-US" sz="11200" dirty="0">
                <a:solidFill>
                  <a:srgbClr val="000000"/>
                </a:solidFill>
              </a:rPr>
              <a:t>, </a:t>
            </a:r>
            <a:r>
              <a:rPr lang="en-US" sz="11200" dirty="0" err="1">
                <a:solidFill>
                  <a:srgbClr val="000000"/>
                </a:solidFill>
              </a:rPr>
              <a:t>struct</a:t>
            </a:r>
            <a:r>
              <a:rPr lang="en-US" sz="11200" dirty="0">
                <a:solidFill>
                  <a:srgbClr val="000000"/>
                </a:solidFill>
              </a:rPr>
              <a:t> , _packed ,double </a:t>
            </a:r>
          </a:p>
          <a:p>
            <a:pPr algn="just"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BBAEEB-BA4C-6E6A-EDC6-1663E243F1E2}"/>
              </a:ext>
            </a:extLst>
          </p:cNvPr>
          <p:cNvGraphicFramePr>
            <a:graphicFrameLocks noGrp="1"/>
          </p:cNvGraphicFramePr>
          <p:nvPr/>
        </p:nvGraphicFramePr>
        <p:xfrm>
          <a:off x="1131888" y="3054350"/>
          <a:ext cx="7288212" cy="3268663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7288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86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auto, else, long ,switch ,break ,</a:t>
                      </a:r>
                      <a:r>
                        <a:rPr lang="en-US" sz="2000" dirty="0" err="1"/>
                        <a:t>enum</a:t>
                      </a:r>
                      <a:r>
                        <a:rPr lang="en-US" sz="2000" dirty="0"/>
                        <a:t> ,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register ,</a:t>
                      </a:r>
                      <a:r>
                        <a:rPr lang="en-US" sz="2000" dirty="0" err="1"/>
                        <a:t>typedef</a:t>
                      </a:r>
                      <a:r>
                        <a:rPr lang="en-US" sz="2000" dirty="0"/>
                        <a:t> ,case ,extern ,return ,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union ,char ,float ,short ,unsigned ,</a:t>
                      </a:r>
                      <a:r>
                        <a:rPr lang="en-US" sz="2000" dirty="0" err="1"/>
                        <a:t>const</a:t>
                      </a:r>
                      <a:r>
                        <a:rPr lang="en-US" sz="2000" dirty="0"/>
                        <a:t> , for ,signed ,void ,continue ,</a:t>
                      </a:r>
                      <a:r>
                        <a:rPr lang="en-US" sz="2000" dirty="0" err="1"/>
                        <a:t>goto</a:t>
                      </a:r>
                      <a:r>
                        <a:rPr lang="en-US" sz="2000" dirty="0"/>
                        <a:t> ,</a:t>
                      </a:r>
                      <a:r>
                        <a:rPr lang="en-US" sz="2000" dirty="0" err="1"/>
                        <a:t>sizeof</a:t>
                      </a:r>
                      <a:r>
                        <a:rPr lang="en-US" sz="2000" dirty="0"/>
                        <a:t>, volatile ,default ,if ,static ,while ,do ,</a:t>
                      </a:r>
                      <a:r>
                        <a:rPr lang="en-US" sz="2000" dirty="0" err="1"/>
                        <a:t>int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struct</a:t>
                      </a:r>
                      <a:r>
                        <a:rPr lang="en-US" sz="2000" dirty="0"/>
                        <a:t> , _packed ,double </a:t>
                      </a:r>
                    </a:p>
                    <a:p>
                      <a:endParaRPr lang="en-US" sz="1800" dirty="0"/>
                    </a:p>
                  </a:txBody>
                  <a:tcPr marL="91434" marR="91434"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F7226D73-21C7-5C2F-C17B-C44FB1BB5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Character constant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E3586D-6F06-5E4F-9528-059BCF6BD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There are certain characters in C when they are preceded by a backslash they will have special meaning and they are used to represent like newline (\n) or tab (\t). Here, you have a list of some of such escape sequence codes: </a:t>
            </a:r>
          </a:p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C00378-6E38-EFBC-440A-D867E41C36F7}"/>
              </a:ext>
            </a:extLst>
          </p:cNvPr>
          <p:cNvGraphicFramePr>
            <a:graphicFrameLocks noGrp="1"/>
          </p:cNvGraphicFramePr>
          <p:nvPr/>
        </p:nvGraphicFramePr>
        <p:xfrm>
          <a:off x="1192213" y="2689225"/>
          <a:ext cx="7600950" cy="3978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18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Escape</a:t>
                      </a:r>
                      <a:r>
                        <a:rPr lang="en-US" sz="1800" baseline="0" dirty="0">
                          <a:solidFill>
                            <a:srgbClr val="000000"/>
                          </a:solidFill>
                        </a:rPr>
                        <a:t> Sequence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Meaning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\a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Alert or bell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\b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Backspace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\f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Form feed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\n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Newline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\r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Carriage Return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\t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Horizontal tab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\v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Vertical tab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\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ooo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Octal number of one to three digits </a:t>
                      </a:r>
                      <a:endParaRPr lang="en-US" sz="1800" dirty="0"/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\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xhh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Hexadecimal number of one or more digits </a:t>
                      </a:r>
                      <a:endParaRPr lang="en-US" sz="1800" dirty="0">
                        <a:effectLst/>
                      </a:endParaRP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1928B470-39B2-5119-450C-9A8A5895B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Defining Constant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A6B21-8463-D25D-36E2-63125C6B0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marL="285750" indent="-285750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Using #define preprocessor.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 #define identifier value </a:t>
            </a:r>
          </a:p>
          <a:p>
            <a:pPr marL="285750" indent="-285750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</a:rPr>
              <a:t>Using </a:t>
            </a:r>
            <a:r>
              <a:rPr lang="en-US" dirty="0" err="1">
                <a:solidFill>
                  <a:srgbClr val="000000"/>
                </a:solidFill>
              </a:rPr>
              <a:t>const</a:t>
            </a:r>
            <a:r>
              <a:rPr lang="en-US" dirty="0">
                <a:solidFill>
                  <a:srgbClr val="000000"/>
                </a:solidFill>
              </a:rPr>
              <a:t> keyword.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const</a:t>
            </a:r>
            <a:r>
              <a:rPr lang="en-US" dirty="0">
                <a:solidFill>
                  <a:srgbClr val="000000"/>
                </a:solidFill>
              </a:rPr>
              <a:t> type variable = value;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48046F83-E08F-0E1C-1F1B-D3252C9B7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Defining Constant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D70EC-D71F-2320-EAF0-23DDBFC50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113" y="1339850"/>
            <a:ext cx="8001000" cy="5518150"/>
          </a:xfrm>
        </p:spPr>
        <p:txBody>
          <a:bodyPr/>
          <a:lstStyle/>
          <a:p>
            <a:pPr>
              <a:lnSpc>
                <a:spcPct val="90000"/>
              </a:lnSpc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#include &lt;stdio.h&gt; </a:t>
            </a:r>
          </a:p>
          <a:p>
            <a:pPr>
              <a:lnSpc>
                <a:spcPct val="90000"/>
              </a:lnSpc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#define LENGTH 10 </a:t>
            </a:r>
          </a:p>
          <a:p>
            <a:pPr>
              <a:lnSpc>
                <a:spcPct val="90000"/>
              </a:lnSpc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#define WIDTH 5 </a:t>
            </a:r>
          </a:p>
          <a:p>
            <a:pPr>
              <a:lnSpc>
                <a:spcPct val="90000"/>
              </a:lnSpc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#define NEWLINE '\n</a:t>
            </a: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’</a:t>
            </a:r>
            <a:endParaRPr lang="en-US" altLang="en-BD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int main() { </a:t>
            </a:r>
          </a:p>
          <a:p>
            <a:pPr>
              <a:lnSpc>
                <a:spcPct val="90000"/>
              </a:lnSpc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	int area; </a:t>
            </a:r>
          </a:p>
          <a:p>
            <a:pPr>
              <a:lnSpc>
                <a:spcPct val="90000"/>
              </a:lnSpc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	area = LENGTH * WIDTH; </a:t>
            </a:r>
          </a:p>
          <a:p>
            <a:pPr>
              <a:lnSpc>
                <a:spcPct val="90000"/>
              </a:lnSpc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	printf("value of area : %d", area);</a:t>
            </a:r>
          </a:p>
          <a:p>
            <a:pPr>
              <a:lnSpc>
                <a:spcPct val="90000"/>
              </a:lnSpc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	printf("%c", NEWLINE); </a:t>
            </a:r>
          </a:p>
          <a:p>
            <a:pPr>
              <a:lnSpc>
                <a:spcPct val="90000"/>
              </a:lnSpc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	return 0; </a:t>
            </a:r>
          </a:p>
          <a:p>
            <a:pPr>
              <a:lnSpc>
                <a:spcPct val="90000"/>
              </a:lnSpc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} 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Wingdings 2" pitchFamily="2" charset="2"/>
              <a:buNone/>
            </a:pPr>
            <a:endParaRPr lang="en-US" altLang="en-BD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3F705152-2906-42F2-EA40-27DE6F9EE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Defining Constant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56FE2-8AB7-5305-C3EF-7C957E71C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stdio.h</a:t>
            </a:r>
            <a:r>
              <a:rPr lang="en-US" dirty="0">
                <a:solidFill>
                  <a:srgbClr val="000000"/>
                </a:solidFill>
              </a:rPr>
              <a:t>&gt;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main() {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const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LENGTH = 10;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const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WIDTH = 5;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const</a:t>
            </a:r>
            <a:r>
              <a:rPr lang="en-US" dirty="0">
                <a:solidFill>
                  <a:srgbClr val="000000"/>
                </a:solidFill>
              </a:rPr>
              <a:t> char NEWLINE = '\n';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area;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area = LENGTH * WIDTH;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("value of area : %d", area);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("%c", NEWLINE);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return 0;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}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2D329B84-31FF-A96D-680A-34A7390F6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C Operators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1B994-6391-85F3-B7B1-D44F4BACD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Operator performs mathematical or logical operations on the variables</a:t>
            </a:r>
          </a:p>
          <a:p>
            <a:pPr marL="285750" indent="-285750">
              <a:buFont typeface="Wingdings 2" pitchFamily="2" charset="2"/>
              <a:buNone/>
            </a:pPr>
            <a:r>
              <a:rPr lang="en-US" altLang="en-BD">
                <a:solidFill>
                  <a:srgbClr val="595959"/>
                </a:solidFill>
                <a:ea typeface="ＭＳ Ｐゴシック" panose="020B0600070205080204" pitchFamily="34" charset="-128"/>
              </a:rPr>
              <a:t>	  </a:t>
            </a: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Arithmetic Operators </a:t>
            </a:r>
          </a:p>
          <a:p>
            <a:pPr marL="285750" indent="-285750"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	  Relational Operators </a:t>
            </a:r>
          </a:p>
          <a:p>
            <a:pPr marL="285750" indent="-285750"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	  Logical Operators </a:t>
            </a:r>
          </a:p>
          <a:p>
            <a:pPr marL="285750" indent="-285750"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	  Bitwise Operators </a:t>
            </a:r>
          </a:p>
          <a:p>
            <a:pPr marL="285750" indent="-285750"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	  Assignment Operators </a:t>
            </a:r>
          </a:p>
          <a:p>
            <a:pPr marL="285750" indent="-285750"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	  Misc Operators 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Wingdings 2" pitchFamily="2" charset="2"/>
              <a:buNone/>
            </a:pPr>
            <a:endParaRPr lang="en-US" altLang="en-BD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CCD59CDA-9FEF-3724-B0FD-C5F24E196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Arithmetic Operators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7FBF3-AA2C-34C1-5B85-E0DD911C5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A=10;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B=20;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437348-18C1-72BA-F7D2-439C7A237EF1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689225"/>
          <a:ext cx="7878763" cy="3775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2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1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0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Operator</a:t>
                      </a: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Description</a:t>
                      </a: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Example</a:t>
                      </a:r>
                    </a:p>
                  </a:txBody>
                  <a:tcPr marL="91434" marR="91434"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0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+</a:t>
                      </a: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Adds two operands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A+B will give 30</a:t>
                      </a:r>
                    </a:p>
                  </a:txBody>
                  <a:tcPr marL="91434" marR="91434" marT="45728" marB="45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0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-</a:t>
                      </a: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Subtracts second operand from the first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A-B will give -10</a:t>
                      </a:r>
                    </a:p>
                  </a:txBody>
                  <a:tcPr marL="91434" marR="91434" marT="45728" marB="45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0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*</a:t>
                      </a: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Multiplies both operands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A*B will give 200</a:t>
                      </a:r>
                    </a:p>
                  </a:txBody>
                  <a:tcPr marL="91434" marR="91434" marT="45728" marB="45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0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/</a:t>
                      </a: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Divides numerator by de-numerator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B/A will give 2</a:t>
                      </a:r>
                    </a:p>
                  </a:txBody>
                  <a:tcPr marL="91434" marR="91434" marT="45728" marB="45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18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%</a:t>
                      </a: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Modulus Operator and remainder of after an integer division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 % A will give 0 </a:t>
                      </a:r>
                      <a:endParaRPr lang="en-US" sz="1800" dirty="0">
                        <a:effectLst/>
                      </a:endParaRPr>
                    </a:p>
                    <a:p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4" marR="91434" marT="45728" marB="457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18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++</a:t>
                      </a: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Increments operator increases integer value by one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A++ will give 11 </a:t>
                      </a:r>
                      <a:endParaRPr lang="en-US" sz="1800" dirty="0">
                        <a:effectLst/>
                      </a:endParaRPr>
                    </a:p>
                    <a:p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4" marR="91434" marT="45728" marB="4572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18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--</a:t>
                      </a: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Decrements operator decreases integer value by one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 marT="45728" marB="4572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A-- will give 9 </a:t>
                      </a:r>
                      <a:endParaRPr lang="en-US" sz="1800" dirty="0">
                        <a:effectLst/>
                      </a:endParaRPr>
                    </a:p>
                    <a:p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4" marR="91434" marT="45728" marB="4572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19E4381C-A480-C08E-0AB6-6CE14AEBC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Arithmetic Operators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D0F89-A17C-2DB5-E959-9B2249301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#include &lt;</a:t>
            </a:r>
            <a:r>
              <a:rPr lang="en-US" dirty="0" err="1">
                <a:solidFill>
                  <a:schemeClr val="tx1"/>
                </a:solidFill>
              </a:rPr>
              <a:t>stdio.h</a:t>
            </a:r>
            <a:r>
              <a:rPr lang="en-US" dirty="0">
                <a:solidFill>
                  <a:schemeClr val="tx1"/>
                </a:solidFill>
              </a:rPr>
              <a:t>&gt;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main() {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a = 21; </a:t>
            </a: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b = 10; </a:t>
            </a: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c 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c = a + b;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1 - Value of c is %d\n", c );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c = a - b;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2 - Value of c is %d\n", c );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c = a * b;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3 - Value of c is %d\n", c );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c = a / b; 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4 - Value of c is %d\n", c );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c = a % b;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5 - Value of c is %d\n", c );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c = a++;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6 - Value of c is %d\n", c );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c = a--;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("Line 7 - Value of c is %d\n", c );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             }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66C37CA4-FE39-4DDC-8A10-CD4E7A02B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Relational Operators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9CC80-3C71-B714-146F-475F6317A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A=10;    </a:t>
            </a: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B=20;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5A4677-FE41-B31B-6586-A9999C5F64E8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792288"/>
          <a:ext cx="7878763" cy="5126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8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1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Operator</a:t>
                      </a:r>
                    </a:p>
                  </a:txBody>
                  <a:tcPr marL="91434" marR="91434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Description</a:t>
                      </a:r>
                    </a:p>
                  </a:txBody>
                  <a:tcPr marL="91434" marR="91434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Example</a:t>
                      </a:r>
                    </a:p>
                  </a:txBody>
                  <a:tcPr marL="91434" marR="91434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02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==</a:t>
                      </a:r>
                    </a:p>
                  </a:txBody>
                  <a:tcPr marT="45722" marB="45722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+mn-lt"/>
                        </a:rPr>
                        <a:t>Checks if the values of two operands are equal or not, if yes then condition becomes true. </a:t>
                      </a:r>
                    </a:p>
                  </a:txBody>
                  <a:tcPr marT="45722" marB="45722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(A==B) is not true</a:t>
                      </a:r>
                    </a:p>
                  </a:txBody>
                  <a:tcPr marT="45722" marB="4572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00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!=</a:t>
                      </a:r>
                    </a:p>
                  </a:txBody>
                  <a:tcPr marL="91434" marR="91434" marT="45730" marB="45730"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Checks if the values of two operands are equal or not, if values are not equal then condition becomes true. </a:t>
                      </a:r>
                      <a:endParaRPr lang="en-US" sz="1600" dirty="0">
                        <a:effectLst/>
                      </a:endParaRPr>
                    </a:p>
                  </a:txBody>
                  <a:tcPr marL="91434" marR="91434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(A!=B) is true</a:t>
                      </a:r>
                    </a:p>
                  </a:txBody>
                  <a:tcPr marL="91434" marR="91434"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00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&gt;</a:t>
                      </a:r>
                    </a:p>
                  </a:txBody>
                  <a:tcPr marL="91434" marR="91434" marT="45730" marB="4573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Checks if the value of left operand is greater than the value of right operand, if yes then condition becomes true. </a:t>
                      </a:r>
                      <a:endParaRPr lang="en-US" sz="1600" dirty="0">
                        <a:effectLst/>
                      </a:endParaRPr>
                    </a:p>
                  </a:txBody>
                  <a:tcPr marL="91434" marR="91434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(A&gt;B) is not true</a:t>
                      </a:r>
                    </a:p>
                  </a:txBody>
                  <a:tcPr marL="91434" marR="91434"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00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&lt;</a:t>
                      </a:r>
                    </a:p>
                  </a:txBody>
                  <a:tcPr marL="91434" marR="91434" marT="45730" marB="4573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Checks if the value of left operand is less than the value of right operand, if yes then condition becomes true. </a:t>
                      </a:r>
                      <a:endParaRPr lang="en-US" sz="1600" dirty="0">
                        <a:effectLst/>
                      </a:endParaRPr>
                    </a:p>
                  </a:txBody>
                  <a:tcPr marL="91434" marR="91434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(A&lt;B) is true</a:t>
                      </a:r>
                    </a:p>
                  </a:txBody>
                  <a:tcPr marL="91434" marR="91434" marT="45730" marB="4573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300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&gt;=</a:t>
                      </a:r>
                    </a:p>
                  </a:txBody>
                  <a:tcPr marL="91434" marR="91434" marT="45730" marB="45730"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Checks if the value of left operand is greater than or equal to the value of right operand, if yes then condition becomes true. </a:t>
                      </a:r>
                      <a:endParaRPr lang="en-US" sz="1600" dirty="0">
                        <a:effectLst/>
                      </a:endParaRPr>
                    </a:p>
                  </a:txBody>
                  <a:tcPr marL="91434" marR="91434" marT="45730" marB="4573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(A&gt;=B) is not true</a:t>
                      </a:r>
                    </a:p>
                  </a:txBody>
                  <a:tcPr marL="91434" marR="91434" marT="45730" marB="4573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300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&lt;=</a:t>
                      </a:r>
                    </a:p>
                  </a:txBody>
                  <a:tcPr marL="91434" marR="91434" marT="45730" marB="4573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Checks if the value of left operand is less than or equal to the value of right operand, if yes then condition becomes true. </a:t>
                      </a:r>
                      <a:endParaRPr lang="en-US" sz="1600" dirty="0">
                        <a:effectLst/>
                      </a:endParaRPr>
                    </a:p>
                  </a:txBody>
                  <a:tcPr marL="91434" marR="91434" marT="45730" marB="4573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(A&lt;=B) is true</a:t>
                      </a:r>
                    </a:p>
                    <a:p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4" marR="91434" marT="45730" marB="4573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64D61A57-C93B-452E-94BF-C1C960714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Relational Operators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EFFE8-D230-40B0-539F-6D4892796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stdio.h</a:t>
            </a:r>
            <a:r>
              <a:rPr lang="en-US" dirty="0">
                <a:solidFill>
                  <a:srgbClr val="000000"/>
                </a:solidFill>
              </a:rPr>
              <a:t>&gt;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void main() {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a = 21;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b = 10;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c 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if( a == b )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1 - a is equal to b\n" );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else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1 - a is not equal to b\n" );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	if ( a &lt; b )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2 - a is less than b\n" ); 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else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 	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2 - a is not less than b\n" );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	if ( a &gt; b )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3 - a is greater than b\n" );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else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3 - a is not greater than b\n" ); 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/* Lets change value of a and b */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a = 5; b = 20;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if ( a &lt;= b )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	 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4 - a is either less than or equal to b\n" );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	if ( b &gt;= a )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  	</a:t>
            </a:r>
            <a:r>
              <a:rPr lang="en-US" sz="1700" dirty="0" err="1">
                <a:solidFill>
                  <a:srgbClr val="000000"/>
                </a:solidFill>
              </a:rPr>
              <a:t>printf</a:t>
            </a:r>
            <a:r>
              <a:rPr lang="en-US" sz="1700" dirty="0">
                <a:solidFill>
                  <a:srgbClr val="000000"/>
                </a:solidFill>
              </a:rPr>
              <a:t>("Line 5 - b is either greater than or equal to b\n" );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} </a:t>
            </a:r>
          </a:p>
          <a:p>
            <a:pPr>
              <a:spcBef>
                <a:spcPts val="0"/>
              </a:spcBef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C44DBAA2-9A0A-758F-B9C3-DD0985237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Logical Operators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34A8D-6C44-74AD-A437-F8737B0D8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A=1;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B=0;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E3F500-CB40-DA03-3B03-ADF11042CAEE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689225"/>
          <a:ext cx="7878763" cy="3387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2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1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0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Operator</a:t>
                      </a:r>
                    </a:p>
                  </a:txBody>
                  <a:tcPr marL="91434" marR="91434" marT="45703" marB="4570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Description</a:t>
                      </a:r>
                    </a:p>
                  </a:txBody>
                  <a:tcPr marL="91434" marR="91434" marT="45703" marB="4570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Example</a:t>
                      </a:r>
                    </a:p>
                  </a:txBody>
                  <a:tcPr marL="91434" marR="91434" marT="45703" marB="4570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2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&amp;&amp;</a:t>
                      </a:r>
                    </a:p>
                  </a:txBody>
                  <a:tcPr marL="91434" marR="91434" marT="45703" marB="45703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Called Logical AND operator. If both the operands are non-zero, then condition becomes true.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 marT="45703" marB="4570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(A &amp;&amp; B) is</a:t>
                      </a:r>
                      <a:r>
                        <a:rPr lang="en-US" sz="1800" baseline="0" dirty="0">
                          <a:solidFill>
                            <a:srgbClr val="000000"/>
                          </a:solidFill>
                        </a:rPr>
                        <a:t> false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4" marR="91434" marT="45703" marB="4570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2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||</a:t>
                      </a:r>
                    </a:p>
                  </a:txBody>
                  <a:tcPr marL="91434" marR="91434" marT="45703" marB="45703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Called Logical OR Operator. If any of the two operands is non- zero, then condition becomes true.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 marT="45703" marB="4570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(A || B) is true</a:t>
                      </a:r>
                    </a:p>
                  </a:txBody>
                  <a:tcPr marL="91434" marR="91434" marT="45703" marB="4570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52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!</a:t>
                      </a:r>
                    </a:p>
                  </a:txBody>
                  <a:tcPr marL="91434" marR="91434" marT="45703" marB="45703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Called Logical NOT Operator. Use to reverses the logical state of its operand. If a condition is true, then Logical NOT operator will make false.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 marT="45703" marB="4570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!(A &amp;&amp; B) is</a:t>
                      </a:r>
                      <a:r>
                        <a:rPr lang="en-US" sz="1800" baseline="0" dirty="0">
                          <a:solidFill>
                            <a:srgbClr val="000000"/>
                          </a:solidFill>
                        </a:rPr>
                        <a:t> true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4" marR="91434" marT="45703" marB="4570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3EB9EFE0-DD3A-0FD1-B47F-7C447EAB34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Logical Operators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589C5-D5F7-F136-7C54-6C5DA31AD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stdio.h</a:t>
            </a:r>
            <a:r>
              <a:rPr lang="en-US" dirty="0">
                <a:solidFill>
                  <a:srgbClr val="000000"/>
                </a:solidFill>
              </a:rPr>
              <a:t>&gt; main()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{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a = 5;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b = 20;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c 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if ( a &amp;&amp; b )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1 - Condition is true\n" ); 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if ( a || b )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2 - Condition is true\n" ); 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/* lets change the value of a and b */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a = 0; b = 10;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if ( a &amp;&amp; b )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3 - Condition is true\n" );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else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 	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3 - Condition is not true\n" ); 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if ( !(a &amp;&amp; b) )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4 - Condition is true\n" );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} </a:t>
            </a:r>
          </a:p>
          <a:p>
            <a:pPr>
              <a:spcBef>
                <a:spcPts val="0"/>
              </a:spcBef>
              <a:defRPr/>
            </a:pP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224D3ACD-B509-D046-1C4E-E802C8D47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Bitwise Operators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C52A8-5D43-872A-52DB-4CCDDD7D4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EDC8CF-1E48-14B8-057F-C8BD6B4239A8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357313"/>
          <a:ext cx="7900988" cy="5178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1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7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Operator</a:t>
                      </a:r>
                    </a:p>
                  </a:txBody>
                  <a:tcPr marL="91430" marR="91430" marT="45728" marB="4572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Description</a:t>
                      </a:r>
                    </a:p>
                  </a:txBody>
                  <a:tcPr marL="91430" marR="91430"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9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&amp;</a:t>
                      </a:r>
                    </a:p>
                  </a:txBody>
                  <a:tcPr marL="91430" marR="91430" marT="45728" marB="45728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Binary AND Operator copies a bit to the result if it exists in both operands. </a:t>
                      </a:r>
                      <a:endParaRPr lang="en-US" sz="1800" dirty="0">
                        <a:effectLst/>
                      </a:endParaRPr>
                    </a:p>
                  </a:txBody>
                  <a:tcPr marL="91430" marR="91430" marT="45728" marB="45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9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|</a:t>
                      </a:r>
                    </a:p>
                  </a:txBody>
                  <a:tcPr marL="91430" marR="91430" marT="45728" marB="45728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Binary OR Operator copies a bit if it exists in either operand. </a:t>
                      </a:r>
                      <a:endParaRPr lang="en-US" sz="1800" dirty="0">
                        <a:effectLst/>
                      </a:endParaRPr>
                    </a:p>
                  </a:txBody>
                  <a:tcPr marL="91430" marR="91430" marT="45728" marB="45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9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^</a:t>
                      </a:r>
                    </a:p>
                  </a:txBody>
                  <a:tcPr marL="91430" marR="91430" marT="45728" marB="45728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Binary XOR Operator copies the bit if it is set in one operand but not both. </a:t>
                      </a:r>
                      <a:endParaRPr lang="en-US" sz="1800" dirty="0">
                        <a:effectLst/>
                      </a:endParaRPr>
                    </a:p>
                  </a:txBody>
                  <a:tcPr marL="91430" marR="91430" marT="45728" marB="45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43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~</a:t>
                      </a:r>
                    </a:p>
                  </a:txBody>
                  <a:tcPr marL="91430" marR="91430" marT="45728" marB="4572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Binary Ones Complement Operator is unary and has the effect of 'flipping' bits. </a:t>
                      </a:r>
                      <a:endParaRPr lang="en-US" sz="1800" dirty="0">
                        <a:effectLst/>
                      </a:endParaRPr>
                    </a:p>
                  </a:txBody>
                  <a:tcPr marL="91430" marR="91430" marT="45728" marB="45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445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&lt;&lt;</a:t>
                      </a:r>
                    </a:p>
                  </a:txBody>
                  <a:tcPr marL="91430" marR="91430" marT="45728" marB="4572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Binary Left Shift Operator. The left operands value is moved left by the number of bits specified by the right operand. </a:t>
                      </a:r>
                      <a:endParaRPr lang="en-US" sz="1800" dirty="0">
                        <a:effectLst/>
                      </a:endParaRPr>
                    </a:p>
                  </a:txBody>
                  <a:tcPr marL="91430" marR="91430" marT="45728" marB="457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445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&gt;&gt;</a:t>
                      </a:r>
                    </a:p>
                  </a:txBody>
                  <a:tcPr marL="91430" marR="91430" marT="45728" marB="4572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Binary Right Shift Operator. The left operands value is moved right by the number of bits specified by the right operand. </a:t>
                      </a:r>
                      <a:endParaRPr lang="en-US" sz="1800" dirty="0">
                        <a:effectLst/>
                      </a:endParaRPr>
                    </a:p>
                  </a:txBody>
                  <a:tcPr marL="91430" marR="91430" marT="45728" marB="4572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30092A69-17CE-1594-9C42-74113A810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0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Bitwise Operators (Example)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CDBEF-CDD6-CFAE-221E-71E0A8FD3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CB9AD6-0785-8A84-B2A4-C19C72B467C8}"/>
              </a:ext>
            </a:extLst>
          </p:cNvPr>
          <p:cNvGraphicFramePr>
            <a:graphicFrameLocks noGrp="1"/>
          </p:cNvGraphicFramePr>
          <p:nvPr/>
        </p:nvGraphicFramePr>
        <p:xfrm>
          <a:off x="2393950" y="1752600"/>
          <a:ext cx="4633913" cy="2855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5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q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p&amp;q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p|q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p^q</a:t>
                      </a:r>
                      <a:endParaRPr 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3" marR="91433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29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91433" marR="91433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29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33" marR="91433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29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33" marR="91433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27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1433" marR="91433"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91433" marR="91433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E9E43337-1081-B367-22B0-5DEE275AD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0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Bitwise Operators (Example)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763C13-8B32-7F0D-3A2F-F9F65AE4C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>
              <a:buFont typeface="Wingdings 2" pitchFamily="2" charset="2"/>
              <a:buNone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A = 00111100     (60)</a:t>
            </a:r>
            <a:b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</a:b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B = 00001101      (13)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(A &amp; B) will give 12, which is 0000 1100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(A | B) will give 61, which is 0011 1101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(A ^ B) will give 49, which is 0011 0001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(~A ) will give -60, which is 1100 0011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A &lt;&lt; 2 will give 240, which is 1111 0000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BD">
                <a:solidFill>
                  <a:srgbClr val="000000"/>
                </a:solidFill>
                <a:ea typeface="ＭＳ Ｐゴシック" panose="020B0600070205080204" pitchFamily="34" charset="-128"/>
              </a:rPr>
              <a:t>A &gt;&gt; 2 will give 15, which is 0000 1111 </a:t>
            </a:r>
          </a:p>
          <a:p>
            <a:pPr>
              <a:buFont typeface="Wingdings 2" pitchFamily="2" charset="2"/>
              <a:buNone/>
            </a:pPr>
            <a:endParaRPr lang="en-US" altLang="en-BD">
              <a:solidFill>
                <a:srgbClr val="595959"/>
              </a:solidFill>
              <a:ea typeface="ＭＳ Ｐゴシック" panose="020B0600070205080204" pitchFamily="34" charset="-128"/>
            </a:endParaRPr>
          </a:p>
          <a:p>
            <a:pPr>
              <a:buFont typeface="Wingdings 2" pitchFamily="2" charset="2"/>
              <a:buNone/>
            </a:pPr>
            <a:br>
              <a:rPr lang="en-US" altLang="en-BD">
                <a:solidFill>
                  <a:srgbClr val="595959"/>
                </a:solidFill>
                <a:ea typeface="ＭＳ Ｐゴシック" panose="020B0600070205080204" pitchFamily="34" charset="-128"/>
              </a:rPr>
            </a:br>
            <a:endParaRPr lang="en-US" altLang="en-BD">
              <a:solidFill>
                <a:srgbClr val="595959"/>
              </a:solidFill>
              <a:ea typeface="ＭＳ Ｐゴシック" panose="020B0600070205080204" pitchFamily="34" charset="-128"/>
            </a:endParaRPr>
          </a:p>
          <a:p>
            <a:pPr>
              <a:buFont typeface="Wingdings 2" pitchFamily="2" charset="2"/>
              <a:buNone/>
            </a:pPr>
            <a:endParaRPr lang="en-US" altLang="en-BD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7E373752-4AB3-DE75-4C04-F3AD82F30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0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Bitwise Operators (Example)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18212-A008-83FD-1AA6-C17DC49E1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#include &lt;</a:t>
            </a:r>
            <a:r>
              <a:rPr lang="en-US" dirty="0" err="1">
                <a:solidFill>
                  <a:srgbClr val="000000"/>
                </a:solidFill>
              </a:rPr>
              <a:t>stdio.h</a:t>
            </a:r>
            <a:r>
              <a:rPr lang="en-US" dirty="0">
                <a:solidFill>
                  <a:srgbClr val="000000"/>
                </a:solidFill>
              </a:rPr>
              <a:t>&gt;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Void main() {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unsigned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a = 60;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unsigned 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b = 13;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int</a:t>
            </a:r>
            <a:r>
              <a:rPr lang="en-US" dirty="0">
                <a:solidFill>
                  <a:srgbClr val="000000"/>
                </a:solidFill>
              </a:rPr>
              <a:t> c = 0;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/* 60 = 0011 1100 */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/* 13 = 0000 1101 */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c = a &amp; b; 	/* 12 = 0000 1100 */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1 - Value of c is %d\n", c );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c = a | b; /* 61 = 0011 1101 */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2 - Value of c is %d\n", c );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c = a ^ b; 	/* 49 = 0011 0001 */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3 - Value of c is %d\n", c );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c = ~a; /*-61 = 1100 0011 */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4 - Value of c is %d\n", c );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c = a &lt;&lt; 2; /* 240 = 1111 0000 */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5 - Value of c is %d\n", c ); 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>
              <a:spcBef>
                <a:spcPts val="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	c = a &gt;&gt; 2; /* 15 = 0000 1111 */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err="1">
                <a:solidFill>
                  <a:srgbClr val="000000"/>
                </a:solidFill>
              </a:rPr>
              <a:t>printf</a:t>
            </a:r>
            <a:r>
              <a:rPr lang="en-US" dirty="0">
                <a:solidFill>
                  <a:srgbClr val="000000"/>
                </a:solidFill>
              </a:rPr>
              <a:t>("Line 6 - Value of c is %d\n", c );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	}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877B736E-F857-13D8-95EC-64BF171BD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Assignment Operators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647EB-7F1A-1E46-963A-B840EADC0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1E02C5-FB17-8F37-9ABF-98CEBF3A36D7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357313"/>
          <a:ext cx="7900988" cy="4832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1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4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Operator</a:t>
                      </a: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Description</a:t>
                      </a:r>
                    </a:p>
                  </a:txBody>
                  <a:tcPr marL="91430" marR="91430" marT="45736" marB="457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18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+</a:t>
                      </a: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= A + B will assign value of A + B in C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4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+=</a:t>
                      </a: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+= A is equivalent to C = C + A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64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-=</a:t>
                      </a: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-= A is equivalent to C = C - A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4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*=</a:t>
                      </a: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*= A is equivalent to C = C * A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41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/=</a:t>
                      </a: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/= A is equivalent to C = C / A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26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%=</a:t>
                      </a: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%= A is equivalent to C = C % A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26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&lt;&lt;=</a:t>
                      </a: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&lt;&lt;= 2 is same as C = C &lt;&lt; 2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26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&gt;&gt;=</a:t>
                      </a: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&gt;&gt;= 2 is same as C = C &gt;&gt; 2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26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&amp;=</a:t>
                      </a: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&amp;= 2 is same as C = C &amp; 2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26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^=</a:t>
                      </a: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^= 2 is same as C = C ^ 2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26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|=</a:t>
                      </a:r>
                    </a:p>
                  </a:txBody>
                  <a:tcPr marL="91430" marR="91430" marT="45736" marB="4573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|= 2 is same as C = C | 2 </a:t>
                      </a:r>
                      <a:endParaRPr lang="en-US" sz="1800" dirty="0"/>
                    </a:p>
                  </a:txBody>
                  <a:tcPr marL="91430" marR="91430" marT="45736" marB="45736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D997370B-5551-7303-3456-8784EA5E0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Misc Operators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83B8B-AFF0-FCDE-8409-491E011BF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456F27-76F2-1F74-C83B-6FA2C3C525DB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689225"/>
          <a:ext cx="787876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2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1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Operator</a:t>
                      </a: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Description</a:t>
                      </a: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Example</a:t>
                      </a:r>
                    </a:p>
                  </a:txBody>
                  <a:tcPr marL="91434" marR="914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sizeof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()</a:t>
                      </a: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size of an variable. </a:t>
                      </a:r>
                      <a:endParaRPr lang="en-US" sz="1800">
                        <a:effectLst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&amp;</a:t>
                      </a: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address of an variable.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*</a:t>
                      </a: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Pointer to a variable.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4" marR="914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?:</a:t>
                      </a: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Conditional Expression </a:t>
                      </a:r>
                      <a:endParaRPr lang="en-US" sz="1800" dirty="0">
                        <a:effectLst/>
                      </a:endParaRPr>
                    </a:p>
                  </a:txBody>
                  <a:tcPr marL="91434" marR="9143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(a&gt;b)?1:0</a:t>
                      </a:r>
                    </a:p>
                  </a:txBody>
                  <a:tcPr marL="91434" marR="9143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508AA68D-5864-AE53-D7A9-D28256346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9250"/>
            <a:ext cx="8915400" cy="877888"/>
          </a:xfrm>
        </p:spPr>
        <p:txBody>
          <a:bodyPr/>
          <a:lstStyle/>
          <a:p>
            <a:pPr eaLnBrk="1" hangingPunct="1"/>
            <a:r>
              <a:rPr lang="en-US" altLang="en-BD">
                <a:ea typeface="ＭＳ Ｐゴシック" panose="020B0600070205080204" pitchFamily="34" charset="-128"/>
              </a:rPr>
              <a:t>Operators Precedence in C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AF523-1D8D-B244-90F5-E544AD517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39850"/>
            <a:ext cx="8001000" cy="551815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8B8416-4BED-802C-3349-A89820F16FD6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339850"/>
          <a:ext cx="7878763" cy="5934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9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1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80">
                <a:tc>
                  <a:txBody>
                    <a:bodyPr/>
                    <a:lstStyle/>
                    <a:p>
                      <a:r>
                        <a:rPr lang="pl-PL" sz="18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Category</a:t>
                      </a:r>
                      <a:r>
                        <a:rPr lang="pl-PL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it-IT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Operator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Associativity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ro-RO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Postfix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() [] -&gt; . ++ - -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Unary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 - ! ~ ++ - - (type)* &amp; sizeof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Right to left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Multiplicative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*/ %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Additive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+- 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</a:rPr>
                        <a:t>Shift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</a:rPr>
                        <a:t>&lt;&lt; &gt;&gt;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Relational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&lt;&lt;=  &gt;&gt;=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Equality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==  !=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Bitwise AND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&amp;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ro-RO" sz="1800" dirty="0">
                          <a:solidFill>
                            <a:srgbClr val="000000"/>
                          </a:solidFill>
                          <a:effectLst/>
                        </a:rPr>
                        <a:t>Bitwise XOR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^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ro-RO" sz="1800" dirty="0">
                          <a:solidFill>
                            <a:srgbClr val="000000"/>
                          </a:solidFill>
                          <a:effectLst/>
                        </a:rPr>
                        <a:t>Bitwise OR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|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ro-RO" sz="1800" dirty="0">
                          <a:solidFill>
                            <a:srgbClr val="000000"/>
                          </a:solidFill>
                          <a:effectLst/>
                        </a:rPr>
                        <a:t>Logical AND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&amp;&amp;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ro-RO" sz="1800" dirty="0">
                          <a:solidFill>
                            <a:srgbClr val="000000"/>
                          </a:solidFill>
                          <a:effectLst/>
                        </a:rPr>
                        <a:t>Logical</a:t>
                      </a:r>
                      <a:r>
                        <a:rPr lang="ro-RO" sz="1800" baseline="0" dirty="0">
                          <a:solidFill>
                            <a:srgbClr val="000000"/>
                          </a:solidFill>
                          <a:effectLst/>
                        </a:rPr>
                        <a:t> OR</a:t>
                      </a:r>
                      <a:endParaRPr lang="ro-RO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||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ro-RO" sz="1800" dirty="0">
                          <a:solidFill>
                            <a:srgbClr val="000000"/>
                          </a:solidFill>
                          <a:effectLst/>
                        </a:rPr>
                        <a:t>Conditional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?: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Right to left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ro-RO" sz="1800" dirty="0">
                          <a:solidFill>
                            <a:srgbClr val="000000"/>
                          </a:solidFill>
                          <a:effectLst/>
                        </a:rPr>
                        <a:t>Assignment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= += -=</a:t>
                      </a:r>
                      <a:r>
                        <a:rPr lang="en-US" sz="1800" baseline="0" dirty="0">
                          <a:solidFill>
                            <a:srgbClr val="000000"/>
                          </a:solidFill>
                          <a:effectLst/>
                        </a:rPr>
                        <a:t> *= /= %= &gt;&gt;= &lt;&lt;= &amp;= ^= |=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Right to left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r>
                        <a:rPr lang="ro-RO" sz="1800" dirty="0">
                          <a:solidFill>
                            <a:srgbClr val="000000"/>
                          </a:solidFill>
                          <a:effectLst/>
                        </a:rPr>
                        <a:t>Comma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</a:p>
                  </a:txBody>
                  <a:tcPr marT="45717" marB="45717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Left to right </a:t>
                      </a:r>
                    </a:p>
                  </a:txBody>
                  <a:tcPr marT="45717" marB="45717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F7C921CD-A455-1641-2094-B5C946435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BD">
                <a:ea typeface="ＭＳ Ｐゴシック" panose="020B0600070205080204" pitchFamily="34" charset="-128"/>
              </a:rPr>
              <a:t>Good Luck</a:t>
            </a:r>
          </a:p>
        </p:txBody>
      </p:sp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0DD56DC3-77BC-5573-7DF3-8B4E91FCB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4913" y="2411413"/>
            <a:ext cx="7610475" cy="3670300"/>
          </a:xfrm>
        </p:spPr>
        <p:txBody>
          <a:bodyPr/>
          <a:lstStyle/>
          <a:p>
            <a:endParaRPr lang="en-US" altLang="en-BD">
              <a:ea typeface="ＭＳ Ｐゴシック" panose="020B0600070205080204" pitchFamily="34" charset="-128"/>
            </a:endParaRPr>
          </a:p>
          <a:p>
            <a:endParaRPr lang="en-US" altLang="en-BD">
              <a:ea typeface="ＭＳ Ｐゴシック" panose="020B0600070205080204" pitchFamily="34" charset="-128"/>
            </a:endParaRPr>
          </a:p>
          <a:p>
            <a:r>
              <a:rPr lang="en-US" altLang="en-BD">
                <a:ea typeface="ＭＳ Ｐゴシック" panose="020B0600070205080204" pitchFamily="34" charset="-128"/>
              </a:rPr>
              <a:t>Thank you </a:t>
            </a:r>
            <a:r>
              <a:rPr lang="en-US" altLang="en-BD">
                <a:ea typeface="ＭＳ Ｐゴシック" panose="020B0600070205080204" pitchFamily="34" charset="-128"/>
                <a:sym typeface="Wingdings" pitchFamily="2" charset="2"/>
              </a:rPr>
              <a:t></a:t>
            </a:r>
          </a:p>
          <a:p>
            <a:r>
              <a:rPr lang="en-US" altLang="en-BD">
                <a:ea typeface="ＭＳ Ｐゴシック" panose="020B0600070205080204" pitchFamily="34" charset="-128"/>
                <a:sym typeface="Wingdings" pitchFamily="2" charset="2"/>
              </a:rPr>
              <a:t>Any Questions</a:t>
            </a:r>
          </a:p>
          <a:p>
            <a:endParaRPr lang="en-US" altLang="en-B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ception">
  <a:themeElements>
    <a:clrScheme name="Perception">
      <a:dk1>
        <a:sysClr val="windowText" lastClr="000000"/>
      </a:dk1>
      <a:lt1>
        <a:sysClr val="window" lastClr="FFFFFF"/>
      </a:lt1>
      <a:dk2>
        <a:srgbClr val="333333"/>
      </a:dk2>
      <a:lt2>
        <a:srgbClr val="BBC0AC"/>
      </a:lt2>
      <a:accent1>
        <a:srgbClr val="A2C816"/>
      </a:accent1>
      <a:accent2>
        <a:srgbClr val="E07602"/>
      </a:accent2>
      <a:accent3>
        <a:srgbClr val="E4C402"/>
      </a:accent3>
      <a:accent4>
        <a:srgbClr val="7DC1EF"/>
      </a:accent4>
      <a:accent5>
        <a:srgbClr val="21449B"/>
      </a:accent5>
      <a:accent6>
        <a:srgbClr val="A2B170"/>
      </a:accent6>
      <a:hlink>
        <a:srgbClr val="8DA440"/>
      </a:hlink>
      <a:folHlink>
        <a:srgbClr val="4C4F3F"/>
      </a:folHlink>
    </a:clrScheme>
    <a:fontScheme name="Perception">
      <a:majorFont>
        <a:latin typeface="Century Gothic"/>
        <a:ea typeface=""/>
        <a:cs typeface=""/>
        <a:font script="Jpan" typeface="メイリオ"/>
      </a:majorFont>
      <a:minorFont>
        <a:latin typeface="Century Gothic"/>
        <a:ea typeface=""/>
        <a:cs typeface=""/>
        <a:font script="Jpan" typeface="メイリオ"/>
      </a:minorFont>
    </a:fontScheme>
    <a:fmtScheme name="Perception">
      <a:fillStyleLst>
        <a:solidFill>
          <a:schemeClr val="phClr"/>
        </a:solidFill>
        <a:solidFill>
          <a:schemeClr val="phClr">
            <a:shade val="90000"/>
          </a:schemeClr>
        </a:solidFill>
        <a:solidFill>
          <a:schemeClr val="phClr">
            <a:shade val="80000"/>
          </a:schemeClr>
        </a:soli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>
              <a:alpha val="8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bliqueTopRight"/>
            <a:lightRig rig="threePt" dir="tl"/>
          </a:scene3d>
          <a:sp3d>
            <a:bevelT w="25400" h="25400"/>
          </a:sp3d>
        </a:effectStyle>
        <a:effectStyle>
          <a:effectLst/>
          <a:scene3d>
            <a:camera prst="perspectiveFront" fov="4200000"/>
            <a:lightRig rig="balanced" dir="tl">
              <a:rot lat="0" lon="0" rev="18600000"/>
            </a:lightRig>
          </a:scene3d>
          <a:sp3d prstMaterial="metal">
            <a:bevelT w="63500" h="50800" prst="angle"/>
          </a:sp3d>
        </a:effectStyle>
      </a:effectStyleLst>
      <a:bgFillStyleLst>
        <a:solidFill>
          <a:schemeClr val="phClr">
            <a:tint val="90000"/>
          </a:schemeClr>
        </a:solidFill>
        <a:solidFill>
          <a:schemeClr val="phClr">
            <a:tint val="50000"/>
          </a:schemeClr>
        </a:solidFill>
        <a:solidFill>
          <a:schemeClr val="phClr">
            <a:shade val="60000"/>
          </a:schemeClr>
        </a:soli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Perception.thmx</Template>
  <TotalTime>322</TotalTime>
  <Words>3266</Words>
  <Application>Microsoft Macintosh PowerPoint</Application>
  <PresentationFormat>On-screen Show (4:3)</PresentationFormat>
  <Paragraphs>522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Century Gothic</vt:lpstr>
      <vt:lpstr>ＭＳ Ｐゴシック</vt:lpstr>
      <vt:lpstr>Arial</vt:lpstr>
      <vt:lpstr>Wingdings 2</vt:lpstr>
      <vt:lpstr>Calibri</vt:lpstr>
      <vt:lpstr>Wingdings</vt:lpstr>
      <vt:lpstr>Perception</vt:lpstr>
      <vt:lpstr>Variable, Data type and Operator</vt:lpstr>
      <vt:lpstr>C Programming</vt:lpstr>
      <vt:lpstr>C Features</vt:lpstr>
      <vt:lpstr>C Basic</vt:lpstr>
      <vt:lpstr>C Variables and datatypes</vt:lpstr>
      <vt:lpstr>C Variables and datatypes</vt:lpstr>
      <vt:lpstr>C Variables and datatypes</vt:lpstr>
      <vt:lpstr>Integer Types</vt:lpstr>
      <vt:lpstr>sizeof operator</vt:lpstr>
      <vt:lpstr>Floating-Point Types </vt:lpstr>
      <vt:lpstr>Floating-Point Types </vt:lpstr>
      <vt:lpstr>C Variables </vt:lpstr>
      <vt:lpstr>C Variables</vt:lpstr>
      <vt:lpstr>Key Words</vt:lpstr>
      <vt:lpstr>Character constant </vt:lpstr>
      <vt:lpstr>Defining Constant</vt:lpstr>
      <vt:lpstr>Defining Constant</vt:lpstr>
      <vt:lpstr>Defining Constant</vt:lpstr>
      <vt:lpstr>C Operators</vt:lpstr>
      <vt:lpstr>Arithmetic Operators </vt:lpstr>
      <vt:lpstr>Arithmetic Operators </vt:lpstr>
      <vt:lpstr>Relational Operators </vt:lpstr>
      <vt:lpstr>Relational Operators </vt:lpstr>
      <vt:lpstr>Logical Operators </vt:lpstr>
      <vt:lpstr>Logical Operators </vt:lpstr>
      <vt:lpstr>Bitwise Operators </vt:lpstr>
      <vt:lpstr>Bitwise Operators (Example) </vt:lpstr>
      <vt:lpstr>Bitwise Operators (Example) </vt:lpstr>
      <vt:lpstr>Bitwise Operators (Example) </vt:lpstr>
      <vt:lpstr>Assignment Operators </vt:lpstr>
      <vt:lpstr>Misc Operators </vt:lpstr>
      <vt:lpstr>Operators Precedence in C </vt:lpstr>
      <vt:lpstr>Good Luck</vt:lpstr>
    </vt:vector>
  </TitlesOfParts>
  <Company>RUET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Programming</dc:title>
  <dc:creator>MAMUN MAMUN</dc:creator>
  <cp:lastModifiedBy>Shafiullah Shafin</cp:lastModifiedBy>
  <cp:revision>28</cp:revision>
  <dcterms:created xsi:type="dcterms:W3CDTF">2014-04-04T17:20:28Z</dcterms:created>
  <dcterms:modified xsi:type="dcterms:W3CDTF">2025-12-08T18:56:13Z</dcterms:modified>
</cp:coreProperties>
</file>