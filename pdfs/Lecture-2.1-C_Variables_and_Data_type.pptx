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85" r:id="rId3"/>
    <p:sldId id="271" r:id="rId4"/>
    <p:sldId id="272" r:id="rId5"/>
    <p:sldId id="277" r:id="rId6"/>
    <p:sldId id="273" r:id="rId7"/>
    <p:sldId id="274" r:id="rId8"/>
    <p:sldId id="275" r:id="rId9"/>
    <p:sldId id="276" r:id="rId10"/>
    <p:sldId id="257" r:id="rId11"/>
    <p:sldId id="258" r:id="rId12"/>
    <p:sldId id="263" r:id="rId13"/>
    <p:sldId id="264" r:id="rId14"/>
    <p:sldId id="280" r:id="rId15"/>
    <p:sldId id="278" r:id="rId16"/>
    <p:sldId id="267" r:id="rId17"/>
    <p:sldId id="268" r:id="rId18"/>
    <p:sldId id="269" r:id="rId19"/>
    <p:sldId id="279" r:id="rId20"/>
    <p:sldId id="281" r:id="rId21"/>
    <p:sldId id="282" r:id="rId22"/>
    <p:sldId id="283" r:id="rId23"/>
    <p:sldId id="284" r:id="rId24"/>
  </p:sldIdLst>
  <p:sldSz cx="9144000" cy="6858000" type="letter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F477222-AEB7-A00F-C541-4074BF70E7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BA3C39D-6B87-3F53-9AF6-3436439D113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1733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321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226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30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738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159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47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656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282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68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228600"/>
            <a:ext cx="21526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055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234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>
            <a:extLst>
              <a:ext uri="{FF2B5EF4-FFF2-40B4-BE49-F238E27FC236}">
                <a16:creationId xmlns:a16="http://schemas.microsoft.com/office/drawing/2014/main" id="{89A8CDF6-B9C6-9881-E265-9A132EF0D29F}"/>
              </a:ext>
            </a:extLst>
          </p:cNvPr>
          <p:cNvGrpSpPr>
            <a:grpSpLocks/>
          </p:cNvGrpSpPr>
          <p:nvPr/>
        </p:nvGrpSpPr>
        <p:grpSpPr bwMode="auto">
          <a:xfrm>
            <a:off x="11113" y="990600"/>
            <a:ext cx="9132887" cy="152400"/>
            <a:chOff x="0" y="900"/>
            <a:chExt cx="5753" cy="96"/>
          </a:xfrm>
        </p:grpSpPr>
        <p:sp>
          <p:nvSpPr>
            <p:cNvPr id="1031" name="Rectangle 2">
              <a:extLst>
                <a:ext uri="{FF2B5EF4-FFF2-40B4-BE49-F238E27FC236}">
                  <a16:creationId xmlns:a16="http://schemas.microsoft.com/office/drawing/2014/main" id="{7D0A158D-B8A6-139C-9516-D7EA999A7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00"/>
              <a:ext cx="5753" cy="47"/>
            </a:xfrm>
            <a:prstGeom prst="rect">
              <a:avLst/>
            </a:prstGeom>
            <a:gradFill rotWithShape="0">
              <a:gsLst>
                <a:gs pos="0">
                  <a:srgbClr val="BCBCBC"/>
                </a:gs>
                <a:gs pos="50000">
                  <a:srgbClr val="EBEBEB"/>
                </a:gs>
                <a:gs pos="100000">
                  <a:srgbClr val="BCBCBC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14E9524F-930E-2683-B632-1D00BA7F0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2"/>
              <a:ext cx="5753" cy="24"/>
            </a:xfrm>
            <a:prstGeom prst="rect">
              <a:avLst/>
            </a:prstGeom>
            <a:gradFill rotWithShape="0"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FE12BBFB-30DA-F3CB-71E7-4829F1CFF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text styles</a:t>
            </a:r>
          </a:p>
          <a:p>
            <a:pPr lvl="1"/>
            <a:r>
              <a:rPr lang="en-US" altLang="en-BD"/>
              <a:t>Second Level</a:t>
            </a:r>
          </a:p>
          <a:p>
            <a:pPr lvl="2"/>
            <a:r>
              <a:rPr lang="en-US" altLang="en-BD"/>
              <a:t>Third Level</a:t>
            </a:r>
          </a:p>
          <a:p>
            <a:pPr lvl="3"/>
            <a:r>
              <a:rPr lang="en-US" altLang="en-BD"/>
              <a:t>Fourth Level</a:t>
            </a:r>
          </a:p>
          <a:p>
            <a:pPr lvl="4"/>
            <a:r>
              <a:rPr lang="en-US" altLang="en-BD"/>
              <a:t>Fifth Level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7E531A18-A7A0-EE60-DFF8-307953EFD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title style</a:t>
            </a: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F163BB83-BB42-6BAB-BFD1-53C8F23E9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6486525"/>
            <a:ext cx="214312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pPr>
              <a:defRPr/>
            </a:pPr>
            <a:r>
              <a:rPr lang="en-US" sz="1400"/>
              <a:t>CMSC 104, Version 9/01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62DC3AC0-CB3B-9372-643E-835A0A42B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5050" y="6486525"/>
            <a:ext cx="3968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E772F19-F8BE-2446-AC04-115B1B8772C2}" type="slidenum">
              <a:rPr lang="en-US" altLang="en-BD" sz="1400"/>
              <a:pPr algn="r"/>
              <a:t>‹#›</a:t>
            </a:fld>
            <a:endParaRPr lang="en-US" altLang="en-BD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Char char="o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AC9016-08AC-7F77-2C37-70315E53E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Variables in C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929C77-FDAE-3FA4-F5DC-9305F4B68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4419600"/>
          </a:xfrm>
          <a:noFill/>
        </p:spPr>
        <p:txBody>
          <a:bodyPr/>
          <a:lstStyle/>
          <a:p>
            <a:endParaRPr lang="en-US" altLang="en-BD" sz="2800">
              <a:ea typeface="ＭＳ Ｐゴシック" panose="020B0600070205080204" pitchFamily="34" charset="-128"/>
            </a:endParaRPr>
          </a:p>
          <a:p>
            <a:endParaRPr lang="en-US" altLang="en-BD" sz="2800">
              <a:ea typeface="ＭＳ Ｐゴシック" panose="020B0600070205080204" pitchFamily="34" charset="-128"/>
            </a:endParaRPr>
          </a:p>
          <a:p>
            <a:endParaRPr lang="en-US" altLang="en-BD" sz="2800">
              <a:ea typeface="ＭＳ Ｐゴシック" panose="020B0600070205080204" pitchFamily="34" charset="-128"/>
            </a:endParaRPr>
          </a:p>
          <a:p>
            <a:endParaRPr lang="en-US" altLang="en-BD" sz="2800">
              <a:ea typeface="ＭＳ Ｐゴシック" panose="020B0600070205080204" pitchFamily="34" charset="-128"/>
            </a:endParaRPr>
          </a:p>
          <a:p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Abu Sayeed</a:t>
            </a: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Assistant Professor</a:t>
            </a: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Department of Computer Science &amp; Engineering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66B1273-D524-93C8-0EB9-448C7FDC3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Variables in C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EAC9AE6-D0F5-08AE-E28F-D19279D79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441960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altLang="en-BD" sz="2800" u="sng">
                <a:ea typeface="ＭＳ Ｐゴシック" panose="020B0600070205080204" pitchFamily="34" charset="-128"/>
              </a:rPr>
              <a:t>Topics</a:t>
            </a:r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endParaRPr lang="en-US" altLang="en-BD" sz="1000">
              <a:ea typeface="ＭＳ Ｐゴシック" panose="020B0600070205080204" pitchFamily="34" charset="-128"/>
            </a:endParaRPr>
          </a:p>
          <a:p>
            <a:r>
              <a:rPr lang="en-US" altLang="en-BD" sz="2800">
                <a:ea typeface="ＭＳ Ｐゴシック" panose="020B0600070205080204" pitchFamily="34" charset="-128"/>
              </a:rPr>
              <a:t>What is Variable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Naming Variables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Declaring Variables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Using Variables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The Assignment Statement</a:t>
            </a:r>
          </a:p>
          <a:p>
            <a:pPr>
              <a:buFontTx/>
              <a:buNone/>
            </a:pPr>
            <a:endParaRPr lang="en-US" altLang="en-BD" sz="1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8565A2F-70D5-9463-AC2C-72F689100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What Are Variables in C?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F4476BE-094E-0E7E-9746-F52A30499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10600" cy="5105400"/>
          </a:xfrm>
        </p:spPr>
        <p:txBody>
          <a:bodyPr/>
          <a:lstStyle/>
          <a:p>
            <a:r>
              <a:rPr lang="en-US" altLang="en-BD" sz="2800">
                <a:ea typeface="ＭＳ Ｐゴシック" panose="020B0600070205080204" pitchFamily="34" charset="-128"/>
              </a:rPr>
              <a:t>Variables are the names that refer to sections of memory into which </a:t>
            </a:r>
            <a:r>
              <a:rPr lang="en-US" altLang="en-BD" sz="2800" b="1">
                <a:ea typeface="ＭＳ Ｐゴシック" panose="020B0600070205080204" pitchFamily="34" charset="-128"/>
              </a:rPr>
              <a:t>data can be stored</a:t>
            </a:r>
            <a:r>
              <a:rPr lang="en-US" altLang="en-BD" sz="2800">
                <a:ea typeface="ＭＳ Ｐゴシック" panose="020B0600070205080204" pitchFamily="34" charset="-128"/>
              </a:rPr>
              <a:t>. </a:t>
            </a:r>
            <a:endParaRPr lang="en-US" altLang="en-BD" sz="2800" b="1">
              <a:ea typeface="ＭＳ Ｐゴシック" panose="020B0600070205080204" pitchFamily="34" charset="-128"/>
            </a:endParaRPr>
          </a:p>
          <a:p>
            <a:r>
              <a:rPr lang="en-US" altLang="en-BD" sz="2800" b="1">
                <a:ea typeface="ＭＳ Ｐゴシック" panose="020B0600070205080204" pitchFamily="34" charset="-128"/>
              </a:rPr>
              <a:t>Variables</a:t>
            </a:r>
            <a:r>
              <a:rPr lang="en-US" altLang="en-BD" sz="2800">
                <a:ea typeface="ＭＳ Ｐゴシック" panose="020B0600070205080204" pitchFamily="34" charset="-128"/>
              </a:rPr>
              <a:t> in C have the same meaning as variables in algebra.  That is, they represent some unknown, or variable, value.</a:t>
            </a:r>
          </a:p>
          <a:p>
            <a:pPr algn="ctr"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x = a + b</a:t>
            </a:r>
          </a:p>
          <a:p>
            <a:pPr algn="ctr"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z + 2 = 3(y - 5)</a:t>
            </a:r>
          </a:p>
          <a:p>
            <a:pPr>
              <a:buFontTx/>
              <a:buNone/>
            </a:pPr>
            <a:endParaRPr lang="en-US" altLang="en-BD" sz="1100">
              <a:ea typeface="ＭＳ Ｐゴシック" panose="020B0600070205080204" pitchFamily="34" charset="-128"/>
            </a:endParaRPr>
          </a:p>
          <a:p>
            <a:r>
              <a:rPr lang="en-US" altLang="en-BD" sz="2800">
                <a:ea typeface="ＭＳ Ｐゴシック" panose="020B0600070205080204" pitchFamily="34" charset="-128"/>
              </a:rPr>
              <a:t>Remember that variables in algebra are represented by a single alphabetic character.</a:t>
            </a:r>
          </a:p>
          <a:p>
            <a:pPr>
              <a:buFontTx/>
              <a:buNone/>
            </a:pPr>
            <a:endParaRPr lang="en-US" altLang="en-BD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E10E42C-593F-4581-3A09-0EF552FEA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Naming Variables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0094DB6-F91E-BDE8-E5C0-CE9C41BE9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5410200"/>
          </a:xfrm>
        </p:spPr>
        <p:txBody>
          <a:bodyPr/>
          <a:lstStyle/>
          <a:p>
            <a:r>
              <a:rPr lang="en-US" altLang="en-BD" sz="2800">
                <a:ea typeface="ＭＳ Ｐゴシック" panose="020B0600070205080204" pitchFamily="34" charset="-128"/>
              </a:rPr>
              <a:t>Rules for variable naming: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Can be composed of letters (both uppercase and lowercase letters), digits and underscore only.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The first character should be either a letter or an underscore(not any digit). 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Punctuation and special characters are not allowed except underscore.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Variable name should not be keywords.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names are case sensitive. </a:t>
            </a:r>
          </a:p>
          <a:p>
            <a:pPr lvl="1"/>
            <a:r>
              <a:rPr lang="en-US" altLang="en-BD" sz="2400">
                <a:ea typeface="ＭＳ Ｐゴシック" panose="020B0600070205080204" pitchFamily="34" charset="-128"/>
              </a:rPr>
              <a:t>There is no rule for the length of a variable name. However, the first 31 characters are discriminated by the compiler. So, the first 31 letters of two name in a program should be different.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26D9B2A-0AB5-77F7-2F8A-8B4C8FFBB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Reserved Words (Keywords) in C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6FEB0FD-9EEC-ADEE-A99C-8115A1C68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3962400" cy="4114800"/>
          </a:xfrm>
          <a:noFill/>
        </p:spPr>
        <p:txBody>
          <a:bodyPr/>
          <a:lstStyle/>
          <a:p>
            <a:r>
              <a:rPr lang="en-US" altLang="en-BD" sz="2800">
                <a:ea typeface="ＭＳ Ｐゴシック" panose="020B0600070205080204" pitchFamily="34" charset="-128"/>
              </a:rPr>
              <a:t>auto	   break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case	   char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const	   continue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default	   do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double	   else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enum	   extern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float	   for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goto	   if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D5419A5-FC01-D56D-0CB0-1E7691231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1906588"/>
            <a:ext cx="34925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int		     long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register	     return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short	             signed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sizeof	     static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struct	     switch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typedef	     union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unsigned	     void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 "/>
            </a:pPr>
            <a:r>
              <a:rPr lang="en-US" altLang="en-BD" sz="2800"/>
              <a:t>volatile	     while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47B81A-59E2-C3A7-4FC1-A90C4AD12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Naming Conventions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017AD3E-759E-237C-D3BC-2EDA825B8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4953000"/>
          </a:xfrm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C programmers generally agree on the following </a:t>
            </a:r>
            <a:r>
              <a:rPr lang="en-US" altLang="en-BD" b="1">
                <a:ea typeface="ＭＳ Ｐゴシック" panose="020B0600070205080204" pitchFamily="34" charset="-128"/>
              </a:rPr>
              <a:t>conventions</a:t>
            </a:r>
            <a:r>
              <a:rPr lang="en-US" altLang="en-BD">
                <a:ea typeface="ＭＳ Ｐゴシック" panose="020B0600070205080204" pitchFamily="34" charset="-128"/>
              </a:rPr>
              <a:t> for naming variables.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Begin variable names with lowercase letters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Use meaningful identifiers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Separate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words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within identifiers with underscores or mixed upper and lower case.  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Examples:  surfaceArea   surface_Area     			        surface_area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Be consistent!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D205519-3F0A-6376-7997-27B32939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Naming Conventions (con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4EDFC38-F447-DDEC-EB0F-3FD106B92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10600" cy="5181600"/>
          </a:xfrm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Use all uppercase for </a:t>
            </a:r>
            <a:r>
              <a:rPr lang="en-US" altLang="en-BD" b="1">
                <a:ea typeface="ＭＳ Ｐゴシック" panose="020B0600070205080204" pitchFamily="34" charset="-128"/>
              </a:rPr>
              <a:t>symbolic constants</a:t>
            </a:r>
            <a:r>
              <a:rPr lang="en-US" altLang="en-BD">
                <a:ea typeface="ＭＳ Ｐゴシック" panose="020B0600070205080204" pitchFamily="34" charset="-128"/>
              </a:rPr>
              <a:t>   (used in </a:t>
            </a:r>
            <a:r>
              <a:rPr lang="en-US" altLang="en-BD" b="1">
                <a:ea typeface="ＭＳ Ｐゴシック" panose="020B0600070205080204" pitchFamily="34" charset="-128"/>
              </a:rPr>
              <a:t>#define</a:t>
            </a:r>
            <a:r>
              <a:rPr lang="en-US" altLang="en-BD">
                <a:ea typeface="ＭＳ Ｐゴシック" panose="020B0600070205080204" pitchFamily="34" charset="-128"/>
              </a:rPr>
              <a:t> preprocessor directives).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Examples:</a:t>
            </a:r>
          </a:p>
          <a:p>
            <a:pPr>
              <a:buFontTx/>
              <a:buNone/>
            </a:pPr>
            <a:endParaRPr lang="en-US" altLang="en-BD" sz="100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    #define PI 3.14159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    #define AGE  52</a:t>
            </a:r>
            <a:endParaRPr lang="en-US" altLang="en-BD" sz="12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AC90C1A-B03B-5D98-EF95-2FAE8926C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Case Sensitivity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488382-2D25-CCC7-5DDB-AC43A0034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5029200"/>
          </a:xfrm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C is </a:t>
            </a:r>
            <a:r>
              <a:rPr lang="en-US" altLang="en-BD" b="1">
                <a:ea typeface="ＭＳ Ｐゴシック" panose="020B0600070205080204" pitchFamily="34" charset="-128"/>
              </a:rPr>
              <a:t>case sensitive</a:t>
            </a:r>
            <a:endParaRPr lang="en-US" altLang="en-BD">
              <a:ea typeface="ＭＳ Ｐゴシック" panose="020B0600070205080204" pitchFamily="34" charset="-128"/>
            </a:endParaRP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It matters whether an </a:t>
            </a:r>
            <a:r>
              <a:rPr lang="en-US" altLang="en-BD" b="1">
                <a:ea typeface="ＭＳ Ｐゴシック" panose="020B0600070205080204" pitchFamily="34" charset="-128"/>
              </a:rPr>
              <a:t>identifier</a:t>
            </a:r>
            <a:r>
              <a:rPr lang="en-US" altLang="en-BD">
                <a:ea typeface="ＭＳ Ｐゴシック" panose="020B0600070205080204" pitchFamily="34" charset="-128"/>
              </a:rPr>
              <a:t>, such as a variable name, is uppercase or lowercase.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Example: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area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Area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AREA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ArEa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are all seen as </a:t>
            </a:r>
            <a:r>
              <a:rPr lang="en-US" altLang="en-BD" u="sng">
                <a:ea typeface="ＭＳ Ｐゴシック" panose="020B0600070205080204" pitchFamily="34" charset="-128"/>
              </a:rPr>
              <a:t>different</a:t>
            </a:r>
            <a:r>
              <a:rPr lang="en-US" altLang="en-BD">
                <a:ea typeface="ＭＳ Ｐゴシック" panose="020B0600070205080204" pitchFamily="34" charset="-128"/>
              </a:rPr>
              <a:t> variables by the compiler.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428117-552D-0D58-B962-099ED2F46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Which Are Legal Identifiers?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78155AB-D653-9E6C-3364-688A1FF03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AREA		      area_under_the_curve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3D			      num45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Last-Chance	      #values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x_yt3		      pi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num$		      %done		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lucky***		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24F7449-5046-EFF9-DF34-6429F6C81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Declaring Variables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62C3B88-8BCB-E2B0-F63E-B7C412090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Before using a variable, you must give the compiler some information about the variable; i.e., you must </a:t>
            </a:r>
            <a:r>
              <a:rPr lang="en-US" altLang="en-BD" b="1">
                <a:ea typeface="ＭＳ Ｐゴシック" panose="020B0600070205080204" pitchFamily="34" charset="-128"/>
              </a:rPr>
              <a:t>declare</a:t>
            </a:r>
            <a:r>
              <a:rPr lang="en-US" altLang="en-BD">
                <a:ea typeface="ＭＳ Ｐゴシック" panose="020B0600070205080204" pitchFamily="34" charset="-128"/>
              </a:rPr>
              <a:t> it.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The </a:t>
            </a:r>
            <a:r>
              <a:rPr lang="en-US" altLang="en-BD" b="1">
                <a:ea typeface="ＭＳ Ｐゴシック" panose="020B0600070205080204" pitchFamily="34" charset="-128"/>
              </a:rPr>
              <a:t>declaration statement</a:t>
            </a:r>
            <a:r>
              <a:rPr lang="en-US" altLang="en-BD">
                <a:ea typeface="ＭＳ Ｐゴシック" panose="020B0600070205080204" pitchFamily="34" charset="-128"/>
              </a:rPr>
              <a:t> includes the </a:t>
            </a:r>
            <a:r>
              <a:rPr lang="en-US" altLang="en-BD" b="1">
                <a:ea typeface="ＭＳ Ｐゴシック" panose="020B0600070205080204" pitchFamily="34" charset="-128"/>
              </a:rPr>
              <a:t>data type</a:t>
            </a:r>
            <a:r>
              <a:rPr lang="en-US" altLang="en-BD">
                <a:ea typeface="ＭＳ Ｐゴシック" panose="020B0600070205080204" pitchFamily="34" charset="-128"/>
              </a:rPr>
              <a:t> of the variable.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Examples of variable declarations:	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 			int  meatballs ;</a:t>
            </a:r>
          </a:p>
          <a:p>
            <a:pPr>
              <a:buFont typeface="Monotype Sorts" pitchFamily="2" charset="2"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 			float  area ;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E1763E1-15FA-49AE-3E92-65E4D648A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Declaring Variables (con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E13CD21-7000-4E70-B2B0-EF4407000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334000"/>
          </a:xfrm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When we declare a variable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Space is set aside in memory to hold a value of the specified data type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That space is associated with the variable name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That space is associated with a unique </a:t>
            </a:r>
            <a:r>
              <a:rPr lang="en-US" altLang="en-BD" b="1">
                <a:ea typeface="ＭＳ Ｐゴシック" panose="020B0600070205080204" pitchFamily="34" charset="-128"/>
              </a:rPr>
              <a:t>address</a:t>
            </a:r>
            <a:endParaRPr lang="en-US" altLang="en-BD">
              <a:ea typeface="ＭＳ Ｐゴシック" panose="020B0600070205080204" pitchFamily="34" charset="-128"/>
            </a:endParaRPr>
          </a:p>
          <a:p>
            <a:r>
              <a:rPr lang="en-US" altLang="en-BD">
                <a:ea typeface="ＭＳ Ｐゴシック" panose="020B0600070205080204" pitchFamily="34" charset="-128"/>
              </a:rPr>
              <a:t>Visualization of the declaration</a:t>
            </a:r>
          </a:p>
          <a:p>
            <a:pPr lvl="1">
              <a:buFontTx/>
              <a:buChar char=" "/>
            </a:pPr>
            <a:r>
              <a:rPr lang="en-US" altLang="en-BD">
                <a:ea typeface="ＭＳ Ｐゴシック" panose="020B0600070205080204" pitchFamily="34" charset="-128"/>
              </a:rPr>
              <a:t>int  meatballs ;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3A59358-D586-5182-A555-68B64051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029200"/>
            <a:ext cx="2273300" cy="74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0414CEA3-5F19-E308-8070-C29E23A16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572000"/>
            <a:ext cx="14874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/>
              <a:t>meatballs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BD929EA9-4593-1D67-AEF6-ADBC571FD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867400"/>
            <a:ext cx="9096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/>
              <a:t>FE07</a:t>
            </a:r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05FC6223-0077-7974-C147-7FB800C92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816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BD" b="1"/>
              <a:t>garbage</a:t>
            </a:r>
            <a:endParaRPr lang="en-US" altLang="en-BD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9C65760-789F-AF48-6FA9-FD1A9ECD1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More About Variables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3E8706D-27E9-9221-A8E0-838C4B75E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518160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C has three basic predefined data types:</a:t>
            </a:r>
          </a:p>
          <a:p>
            <a:pPr>
              <a:buFontTx/>
              <a:buNone/>
            </a:pPr>
            <a:endParaRPr lang="en-US" altLang="en-BD" sz="1200">
              <a:ea typeface="ＭＳ Ｐゴシック" panose="020B0600070205080204" pitchFamily="34" charset="-128"/>
            </a:endParaRPr>
          </a:p>
          <a:p>
            <a:r>
              <a:rPr lang="en-US" altLang="en-BD">
                <a:ea typeface="ＭＳ Ｐゴシック" panose="020B0600070205080204" pitchFamily="34" charset="-128"/>
              </a:rPr>
              <a:t>Integers (whole numbers)</a:t>
            </a:r>
          </a:p>
          <a:p>
            <a:pPr lvl="1"/>
            <a:r>
              <a:rPr lang="en-US" altLang="en-BD" b="1">
                <a:ea typeface="ＭＳ Ｐゴシック" panose="020B0600070205080204" pitchFamily="34" charset="-128"/>
              </a:rPr>
              <a:t>Int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Floating point (real numbers)</a:t>
            </a:r>
          </a:p>
          <a:p>
            <a:pPr lvl="1"/>
            <a:r>
              <a:rPr lang="en-US" altLang="en-BD" b="1">
                <a:ea typeface="ＭＳ Ｐゴシック" panose="020B0600070205080204" pitchFamily="34" charset="-128"/>
              </a:rPr>
              <a:t>float</a:t>
            </a:r>
            <a:r>
              <a:rPr lang="en-US" altLang="en-BD">
                <a:ea typeface="ＭＳ Ｐゴシック" panose="020B0600070205080204" pitchFamily="34" charset="-128"/>
              </a:rPr>
              <a:t>, </a:t>
            </a:r>
          </a:p>
          <a:p>
            <a:pPr lvl="1"/>
            <a:r>
              <a:rPr lang="en-US" altLang="en-BD" b="1">
                <a:ea typeface="ＭＳ Ｐゴシック" panose="020B0600070205080204" pitchFamily="34" charset="-128"/>
              </a:rPr>
              <a:t>double</a:t>
            </a:r>
            <a:endParaRPr lang="en-US" altLang="en-BD">
              <a:ea typeface="ＭＳ Ｐゴシック" panose="020B0600070205080204" pitchFamily="34" charset="-128"/>
            </a:endParaRPr>
          </a:p>
          <a:p>
            <a:r>
              <a:rPr lang="en-US" altLang="en-BD">
                <a:ea typeface="ＭＳ Ｐゴシック" panose="020B0600070205080204" pitchFamily="34" charset="-128"/>
              </a:rPr>
              <a:t>Characters</a:t>
            </a:r>
          </a:p>
          <a:p>
            <a:pPr lvl="1"/>
            <a:r>
              <a:rPr lang="en-US" altLang="en-BD" b="1">
                <a:ea typeface="ＭＳ Ｐゴシック" panose="020B0600070205080204" pitchFamily="34" charset="-128"/>
              </a:rPr>
              <a:t>char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2D7B12F-3C50-ADF0-2811-ACAF7DC06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Using Variables: Initialization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2F0C931-F5D6-135E-E9FE-52BF71514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181600"/>
          </a:xfrm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Variables may be given initial values, or </a:t>
            </a:r>
            <a:r>
              <a:rPr lang="en-US" altLang="en-BD" b="1">
                <a:ea typeface="ＭＳ Ｐゴシック" panose="020B0600070205080204" pitchFamily="34" charset="-128"/>
              </a:rPr>
              <a:t>initialized</a:t>
            </a:r>
            <a:r>
              <a:rPr lang="en-US" altLang="en-BD">
                <a:ea typeface="ＭＳ Ｐゴシック" panose="020B0600070205080204" pitchFamily="34" charset="-128"/>
              </a:rPr>
              <a:t>, when declared.  Examples:</a:t>
            </a:r>
          </a:p>
          <a:p>
            <a:pPr>
              <a:buFontTx/>
              <a:buNone/>
            </a:pPr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	int length = 7 ;</a:t>
            </a:r>
          </a:p>
          <a:p>
            <a:pPr>
              <a:buFontTx/>
              <a:buNone/>
            </a:pPr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	float diameter = 5.9 ;</a:t>
            </a:r>
          </a:p>
          <a:p>
            <a:pPr>
              <a:buFontTx/>
              <a:buNone/>
            </a:pPr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	char initial = </a:t>
            </a:r>
            <a:r>
              <a:rPr lang="ja-JP" altLang="en-US" sz="2800">
                <a:ea typeface="ＭＳ Ｐゴシック" panose="020B0600070205080204" pitchFamily="34" charset="-128"/>
              </a:rPr>
              <a:t>‘</a:t>
            </a:r>
            <a:r>
              <a:rPr lang="en-US" altLang="ja-JP" sz="2800">
                <a:ea typeface="ＭＳ Ｐゴシック" panose="020B0600070205080204" pitchFamily="34" charset="-128"/>
              </a:rPr>
              <a:t>A</a:t>
            </a:r>
            <a:r>
              <a:rPr lang="ja-JP" altLang="en-US" sz="2800"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ea typeface="ＭＳ Ｐゴシック" panose="020B0600070205080204" pitchFamily="34" charset="-128"/>
              </a:rPr>
              <a:t> ;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13A80552-75F3-138C-F050-BDC27B60D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743200"/>
            <a:ext cx="14478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BD"/>
              <a:t>7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8530FCC9-D5F0-58D6-79C0-ECCAD8A4B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0"/>
            <a:ext cx="1600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BD"/>
              <a:t>5.9</a:t>
            </a:r>
          </a:p>
        </p:txBody>
      </p:sp>
      <p:sp>
        <p:nvSpPr>
          <p:cNvPr id="14342" name="Rectangle 8">
            <a:extLst>
              <a:ext uri="{FF2B5EF4-FFF2-40B4-BE49-F238E27FC236}">
                <a16:creationId xmlns:a16="http://schemas.microsoft.com/office/drawing/2014/main" id="{15AD3A20-D964-DF87-F139-B00B26C5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800600"/>
            <a:ext cx="15240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ja-JP" altLang="en-US"/>
              <a:t>‘</a:t>
            </a:r>
            <a:r>
              <a:rPr lang="en-US" altLang="ja-JP"/>
              <a:t>A</a:t>
            </a:r>
            <a:r>
              <a:rPr lang="ja-JP" altLang="en-US"/>
              <a:t>’</a:t>
            </a:r>
            <a:endParaRPr lang="en-US" altLang="en-BD"/>
          </a:p>
        </p:txBody>
      </p:sp>
      <p:sp>
        <p:nvSpPr>
          <p:cNvPr id="14343" name="Text Box 9">
            <a:extLst>
              <a:ext uri="{FF2B5EF4-FFF2-40B4-BE49-F238E27FC236}">
                <a16:creationId xmlns:a16="http://schemas.microsoft.com/office/drawing/2014/main" id="{F822BE67-4F87-DD0F-6B41-5C9831D17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4384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BD" sz="1800"/>
              <a:t>length</a:t>
            </a:r>
            <a:endParaRPr lang="en-US" altLang="en-BD"/>
          </a:p>
        </p:txBody>
      </p:sp>
      <p:sp>
        <p:nvSpPr>
          <p:cNvPr id="14344" name="Text Box 10">
            <a:extLst>
              <a:ext uri="{FF2B5EF4-FFF2-40B4-BE49-F238E27FC236}">
                <a16:creationId xmlns:a16="http://schemas.microsoft.com/office/drawing/2014/main" id="{9FAFB4C9-FE0B-696A-F6BC-8E9E091DC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290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BD" sz="1800"/>
              <a:t>diameter</a:t>
            </a:r>
            <a:endParaRPr lang="en-US" altLang="en-BD"/>
          </a:p>
        </p:txBody>
      </p:sp>
      <p:sp>
        <p:nvSpPr>
          <p:cNvPr id="14345" name="Text Box 11">
            <a:extLst>
              <a:ext uri="{FF2B5EF4-FFF2-40B4-BE49-F238E27FC236}">
                <a16:creationId xmlns:a16="http://schemas.microsoft.com/office/drawing/2014/main" id="{C1193E7C-F906-ACCD-4A9F-0A04F9B61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495800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BD" sz="1800"/>
              <a:t>initial</a:t>
            </a:r>
            <a:endParaRPr lang="en-US" altLang="en-BD"/>
          </a:p>
        </p:txBody>
      </p:sp>
      <p:sp>
        <p:nvSpPr>
          <p:cNvPr id="14346" name="AutoShape 12">
            <a:extLst>
              <a:ext uri="{FF2B5EF4-FFF2-40B4-BE49-F238E27FC236}">
                <a16:creationId xmlns:a16="http://schemas.microsoft.com/office/drawing/2014/main" id="{C9A68268-5B5C-3856-5526-00BC33B47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743200"/>
            <a:ext cx="609600" cy="409575"/>
          </a:xfrm>
          <a:prstGeom prst="rightArrow">
            <a:avLst>
              <a:gd name="adj1" fmla="val 50000"/>
              <a:gd name="adj2" fmla="val 3720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4347" name="AutoShape 13">
            <a:extLst>
              <a:ext uri="{FF2B5EF4-FFF2-40B4-BE49-F238E27FC236}">
                <a16:creationId xmlns:a16="http://schemas.microsoft.com/office/drawing/2014/main" id="{9AF1EC3E-A27B-192A-1BBB-5F9267E34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810000"/>
            <a:ext cx="685800" cy="409575"/>
          </a:xfrm>
          <a:prstGeom prst="rightArrow">
            <a:avLst>
              <a:gd name="adj1" fmla="val 50000"/>
              <a:gd name="adj2" fmla="val 4186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4348" name="AutoShape 14">
            <a:extLst>
              <a:ext uri="{FF2B5EF4-FFF2-40B4-BE49-F238E27FC236}">
                <a16:creationId xmlns:a16="http://schemas.microsoft.com/office/drawing/2014/main" id="{A1C93057-D483-1692-33F7-2B09704E1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671513" cy="409575"/>
          </a:xfrm>
          <a:prstGeom prst="rightArrow">
            <a:avLst>
              <a:gd name="adj1" fmla="val 50000"/>
              <a:gd name="adj2" fmla="val 40988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53582DB-3B56-593E-5E08-600E191A1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Using Variables: Initialization (con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5A48FA2-10DA-1AF0-D591-CEFF5FB39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Do not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hide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the initialization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put initialized variables on a separate line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a comment is always a good idea</a:t>
            </a:r>
          </a:p>
          <a:p>
            <a:pPr lvl="1"/>
            <a:r>
              <a:rPr lang="en-US" altLang="en-BD">
                <a:ea typeface="ＭＳ Ｐゴシック" panose="020B0600070205080204" pitchFamily="34" charset="-128"/>
              </a:rPr>
              <a:t>Example: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int height ;        /* rectangle height */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int width = 6 ;   /* rectangle width   */</a:t>
            </a: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		int area ;          /* rectangle area     */</a:t>
            </a:r>
          </a:p>
          <a:p>
            <a:pPr lvl="1">
              <a:buFontTx/>
              <a:buNone/>
            </a:pPr>
            <a:endParaRPr lang="en-US" altLang="en-BD" sz="1000"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r>
              <a:rPr lang="en-US" altLang="en-BD">
                <a:ea typeface="ＭＳ Ｐゴシック" panose="020B0600070205080204" pitchFamily="34" charset="-128"/>
              </a:rPr>
              <a:t>	       NOT  int height, width = 6, area 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93EBABE-21BE-DC04-5798-ACAAE9677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Using Variables: Assignment</a:t>
            </a:r>
            <a:endParaRPr lang="en-US" altLang="en-BD" sz="2800">
              <a:ea typeface="ＭＳ Ｐゴシック" panose="020B0600070205080204" pitchFamily="34" charset="-128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2000E35-590D-A657-B0F7-01C0E9737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915400" cy="5257800"/>
          </a:xfrm>
        </p:spPr>
        <p:txBody>
          <a:bodyPr/>
          <a:lstStyle/>
          <a:p>
            <a:r>
              <a:rPr lang="en-US" altLang="en-BD" sz="2800">
                <a:ea typeface="ＭＳ Ｐゴシック" panose="020B0600070205080204" pitchFamily="34" charset="-128"/>
              </a:rPr>
              <a:t>Variables may have values assigned to them through the use of an </a:t>
            </a:r>
            <a:r>
              <a:rPr lang="en-US" altLang="en-BD" sz="2800" b="1">
                <a:ea typeface="ＭＳ Ｐゴシック" panose="020B0600070205080204" pitchFamily="34" charset="-128"/>
              </a:rPr>
              <a:t>assignment statement</a:t>
            </a:r>
            <a:r>
              <a:rPr lang="en-US" altLang="en-BD" sz="2800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Such a statement uses the </a:t>
            </a:r>
            <a:r>
              <a:rPr lang="en-US" altLang="en-BD" sz="2800" b="1">
                <a:ea typeface="ＭＳ Ｐゴシック" panose="020B0600070205080204" pitchFamily="34" charset="-128"/>
              </a:rPr>
              <a:t>assignment operator  =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This operator </a:t>
            </a:r>
            <a:r>
              <a:rPr lang="en-US" altLang="en-BD" sz="2800" u="sng">
                <a:ea typeface="ＭＳ Ｐゴシック" panose="020B0600070205080204" pitchFamily="34" charset="-128"/>
              </a:rPr>
              <a:t>does not</a:t>
            </a:r>
            <a:r>
              <a:rPr lang="en-US" altLang="en-BD" sz="2800">
                <a:ea typeface="ＭＳ Ｐゴシック" panose="020B0600070205080204" pitchFamily="34" charset="-128"/>
              </a:rPr>
              <a:t> denote equality.  It assigns the value of the righthand side of the statement (the </a:t>
            </a:r>
            <a:r>
              <a:rPr lang="en-US" altLang="en-BD" sz="2800" b="1">
                <a:ea typeface="ＭＳ Ｐゴシック" panose="020B0600070205080204" pitchFamily="34" charset="-128"/>
              </a:rPr>
              <a:t>expression</a:t>
            </a:r>
            <a:r>
              <a:rPr lang="en-US" altLang="en-BD" sz="2800">
                <a:ea typeface="ＭＳ Ｐゴシック" panose="020B0600070205080204" pitchFamily="34" charset="-128"/>
              </a:rPr>
              <a:t>) to the variable on the lefthand side.</a:t>
            </a:r>
          </a:p>
          <a:p>
            <a:r>
              <a:rPr lang="en-US" altLang="en-BD" sz="2800">
                <a:ea typeface="ＭＳ Ｐゴシック" panose="020B0600070205080204" pitchFamily="34" charset="-128"/>
              </a:rPr>
              <a:t>Examples:</a:t>
            </a: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	diameter = 5.9 ;</a:t>
            </a: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	area = length * width ;</a:t>
            </a:r>
          </a:p>
          <a:p>
            <a:pPr>
              <a:buFontTx/>
              <a:buNone/>
            </a:pPr>
            <a:r>
              <a:rPr lang="en-US" altLang="en-BD" sz="2800">
                <a:ea typeface="ＭＳ Ｐゴシック" panose="020B0600070205080204" pitchFamily="34" charset="-128"/>
              </a:rPr>
              <a:t>	Note that only single variables may appear on the lefthand side of the assignment operator.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4A643E6-2C4C-CE0C-DFEB-C1F8F31AD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/>
          <a:lstStyle/>
          <a:p>
            <a:r>
              <a:rPr lang="en-US" altLang="en-BD" sz="3200">
                <a:ea typeface="ＭＳ Ｐゴシック" panose="020B0600070205080204" pitchFamily="34" charset="-128"/>
              </a:rPr>
              <a:t>Example: Declarations and Assignments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A1FAA3A-4DB4-789B-043F-307474B2C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4114800"/>
          </a:xfrm>
          <a:noFill/>
        </p:spPr>
        <p:txBody>
          <a:bodyPr/>
          <a:lstStyle/>
          <a:p>
            <a:pPr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#include &lt;stdio.h&gt;</a:t>
            </a:r>
          </a:p>
          <a:p>
            <a:pPr>
              <a:lnSpc>
                <a:spcPct val="120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int main( )</a:t>
            </a:r>
          </a:p>
          <a:p>
            <a:pPr>
              <a:lnSpc>
                <a:spcPct val="75000"/>
              </a:lnSpc>
              <a:spcBef>
                <a:spcPct val="10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75000"/>
              </a:lnSpc>
              <a:spcBef>
                <a:spcPct val="25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	int  inches, feet, fathoms ;</a:t>
            </a:r>
          </a:p>
          <a:p>
            <a:pPr>
              <a:spcBef>
                <a:spcPct val="70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fathoms = 7 ; </a:t>
            </a:r>
          </a:p>
          <a:p>
            <a:pPr>
              <a:spcBef>
                <a:spcPct val="10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feet = 6 * fathoms ;</a:t>
            </a:r>
          </a:p>
          <a:p>
            <a:pPr>
              <a:spcBef>
                <a:spcPct val="10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inches = 12 * feet ;</a:t>
            </a:r>
            <a:endParaRPr lang="en-US" altLang="en-BD">
              <a:ea typeface="ＭＳ Ｐゴシック" panose="020B0600070205080204" pitchFamily="34" charset="-128"/>
            </a:endParaRPr>
          </a:p>
          <a:p>
            <a:pPr lvl="3"/>
            <a:r>
              <a:rPr lang="en-US" altLang="en-BD">
                <a:ea typeface="ＭＳ Ｐゴシック" panose="020B0600070205080204" pitchFamily="34" charset="-128"/>
              </a:rPr>
              <a:t> </a:t>
            </a:r>
          </a:p>
          <a:p>
            <a:pPr lvl="3"/>
            <a:r>
              <a:rPr lang="en-US" altLang="en-BD">
                <a:ea typeface="ＭＳ Ｐゴシック" panose="020B0600070205080204" pitchFamily="34" charset="-128"/>
              </a:rPr>
              <a:t> </a:t>
            </a:r>
          </a:p>
          <a:p>
            <a:pPr lvl="3"/>
            <a:r>
              <a:rPr lang="en-US" altLang="en-BD">
                <a:ea typeface="ＭＳ Ｐゴシック" panose="020B0600070205080204" pitchFamily="34" charset="-128"/>
              </a:rPr>
              <a:t> </a:t>
            </a:r>
            <a:endParaRPr lang="en-US" altLang="en-BD" sz="1800">
              <a:ea typeface="ＭＳ Ｐゴシック" panose="020B0600070205080204" pitchFamily="34" charset="-128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F2C6E821-0E30-F7DC-3027-958B8D24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572000"/>
            <a:ext cx="8413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inches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40569184-E7B5-AA71-CA6A-161B26B74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962400"/>
            <a:ext cx="561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feet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E26A5E0E-78C9-670C-196C-6D712EDA0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352800"/>
            <a:ext cx="993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fathoms</a:t>
            </a:r>
          </a:p>
        </p:txBody>
      </p:sp>
      <p:sp>
        <p:nvSpPr>
          <p:cNvPr id="17415" name="AutoShape 7">
            <a:extLst>
              <a:ext uri="{FF2B5EF4-FFF2-40B4-BE49-F238E27FC236}">
                <a16:creationId xmlns:a16="http://schemas.microsoft.com/office/drawing/2014/main" id="{570F915D-AEFB-716E-56FB-0192638DD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28800"/>
            <a:ext cx="368300" cy="1282700"/>
          </a:xfrm>
          <a:prstGeom prst="rightArrow">
            <a:avLst>
              <a:gd name="adj1" fmla="val 55694"/>
              <a:gd name="adj2" fmla="val 5474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16" name="AutoShape 8">
            <a:extLst>
              <a:ext uri="{FF2B5EF4-FFF2-40B4-BE49-F238E27FC236}">
                <a16:creationId xmlns:a16="http://schemas.microsoft.com/office/drawing/2014/main" id="{D42A5A2D-4E9E-A632-6680-8CD07705B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09800"/>
            <a:ext cx="1435100" cy="292100"/>
          </a:xfrm>
          <a:prstGeom prst="rightArrow">
            <a:avLst>
              <a:gd name="adj1" fmla="val 50000"/>
              <a:gd name="adj2" fmla="val 24567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C256CFD8-C43A-0E62-F33F-A12526C02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352800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7418" name="Line 10">
            <a:extLst>
              <a:ext uri="{FF2B5EF4-FFF2-40B4-BE49-F238E27FC236}">
                <a16:creationId xmlns:a16="http://schemas.microsoft.com/office/drawing/2014/main" id="{8A705D2A-AB46-1CCB-EFDE-07C6A6D00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352800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7419" name="Line 11">
            <a:extLst>
              <a:ext uri="{FF2B5EF4-FFF2-40B4-BE49-F238E27FC236}">
                <a16:creationId xmlns:a16="http://schemas.microsoft.com/office/drawing/2014/main" id="{9C6BD481-64AB-0719-548F-6BD0472A7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352800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79E95F76-C415-951B-4D8B-E04986CF3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352800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14D9BE7A-95B1-62EE-C1DB-777972613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2672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6110E77C-02DE-1BDF-50E6-7FDBF8699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ADDE1622-87B1-382E-E012-2497BBA53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6764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BD" sz="2000"/>
              <a:t>garbage</a:t>
            </a:r>
            <a:endParaRPr lang="en-US" altLang="en-BD"/>
          </a:p>
        </p:txBody>
      </p:sp>
      <p:sp>
        <p:nvSpPr>
          <p:cNvPr id="17424" name="Rectangle 16">
            <a:extLst>
              <a:ext uri="{FF2B5EF4-FFF2-40B4-BE49-F238E27FC236}">
                <a16:creationId xmlns:a16="http://schemas.microsoft.com/office/drawing/2014/main" id="{4CB4FB85-6D16-CFA3-1CFD-460045856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9530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9CD45ADF-9734-2C08-76BC-C3EB35BD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590800"/>
            <a:ext cx="993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fathoms</a:t>
            </a:r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B53FE76F-16D7-2083-5206-D7983671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6576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7</a:t>
            </a:r>
          </a:p>
        </p:txBody>
      </p:sp>
      <p:sp>
        <p:nvSpPr>
          <p:cNvPr id="17427" name="AutoShape 19">
            <a:extLst>
              <a:ext uri="{FF2B5EF4-FFF2-40B4-BE49-F238E27FC236}">
                <a16:creationId xmlns:a16="http://schemas.microsoft.com/office/drawing/2014/main" id="{F5560624-0C02-DAAE-F14F-51E95C007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114800"/>
            <a:ext cx="749300" cy="215900"/>
          </a:xfrm>
          <a:prstGeom prst="rightArrow">
            <a:avLst>
              <a:gd name="adj1" fmla="val 50000"/>
              <a:gd name="adj2" fmla="val 17354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28" name="AutoShape 20">
            <a:extLst>
              <a:ext uri="{FF2B5EF4-FFF2-40B4-BE49-F238E27FC236}">
                <a16:creationId xmlns:a16="http://schemas.microsoft.com/office/drawing/2014/main" id="{CE22212B-BFD5-45DA-FEA0-25C60840D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648200"/>
            <a:ext cx="749300" cy="215900"/>
          </a:xfrm>
          <a:prstGeom prst="rightArrow">
            <a:avLst>
              <a:gd name="adj1" fmla="val 50000"/>
              <a:gd name="adj2" fmla="val 17354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29" name="AutoShape 21">
            <a:extLst>
              <a:ext uri="{FF2B5EF4-FFF2-40B4-BE49-F238E27FC236}">
                <a16:creationId xmlns:a16="http://schemas.microsoft.com/office/drawing/2014/main" id="{51C1CCA4-9FA9-5493-2F64-952E7597D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581400"/>
            <a:ext cx="749300" cy="215900"/>
          </a:xfrm>
          <a:prstGeom prst="rightArrow">
            <a:avLst>
              <a:gd name="adj1" fmla="val 50000"/>
              <a:gd name="adj2" fmla="val 17354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30" name="Rectangle 22">
            <a:extLst>
              <a:ext uri="{FF2B5EF4-FFF2-40B4-BE49-F238E27FC236}">
                <a16:creationId xmlns:a16="http://schemas.microsoft.com/office/drawing/2014/main" id="{E51AD11B-FCAD-B66D-C0E7-100ADA499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2860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BD" sz="2000"/>
              <a:t>garbage</a:t>
            </a:r>
          </a:p>
        </p:txBody>
      </p:sp>
      <p:sp>
        <p:nvSpPr>
          <p:cNvPr id="17431" name="Rectangle 23">
            <a:extLst>
              <a:ext uri="{FF2B5EF4-FFF2-40B4-BE49-F238E27FC236}">
                <a16:creationId xmlns:a16="http://schemas.microsoft.com/office/drawing/2014/main" id="{3D328BD8-3C71-2CE1-413E-B478BAFEF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981200"/>
            <a:ext cx="561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feet</a:t>
            </a:r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D67D326E-D95D-878F-6FDC-4D0841BD8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26720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42</a:t>
            </a:r>
          </a:p>
        </p:txBody>
      </p:sp>
      <p:sp>
        <p:nvSpPr>
          <p:cNvPr id="17433" name="Rectangle 25">
            <a:extLst>
              <a:ext uri="{FF2B5EF4-FFF2-40B4-BE49-F238E27FC236}">
                <a16:creationId xmlns:a16="http://schemas.microsoft.com/office/drawing/2014/main" id="{C983B1C3-3D76-EA02-5292-59364CCCC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95600"/>
            <a:ext cx="12827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BD" sz="2000"/>
              <a:t>garbage</a:t>
            </a:r>
          </a:p>
        </p:txBody>
      </p:sp>
      <p:sp>
        <p:nvSpPr>
          <p:cNvPr id="17434" name="Rectangle 26">
            <a:extLst>
              <a:ext uri="{FF2B5EF4-FFF2-40B4-BE49-F238E27FC236}">
                <a16:creationId xmlns:a16="http://schemas.microsoft.com/office/drawing/2014/main" id="{AEDFBB99-8A6F-21D0-76FB-B6C28FEB4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953000"/>
            <a:ext cx="561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504</a:t>
            </a:r>
          </a:p>
        </p:txBody>
      </p:sp>
      <p:sp>
        <p:nvSpPr>
          <p:cNvPr id="17435" name="AutoShape 27">
            <a:extLst>
              <a:ext uri="{FF2B5EF4-FFF2-40B4-BE49-F238E27FC236}">
                <a16:creationId xmlns:a16="http://schemas.microsoft.com/office/drawing/2014/main" id="{639DD2A5-7108-1486-15CB-339A605327F4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771900" y="2400300"/>
            <a:ext cx="215900" cy="2921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BD" altLang="en-BD"/>
          </a:p>
        </p:txBody>
      </p:sp>
      <p:sp>
        <p:nvSpPr>
          <p:cNvPr id="17436" name="Rectangle 28">
            <a:extLst>
              <a:ext uri="{FF2B5EF4-FFF2-40B4-BE49-F238E27FC236}">
                <a16:creationId xmlns:a16="http://schemas.microsoft.com/office/drawing/2014/main" id="{13F008AD-9AC8-8DF4-C2C7-46DA49AF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371600"/>
            <a:ext cx="8413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BD" sz="1800"/>
              <a:t>inches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E1518FC-28DD-8376-EB27-6D4FF95D2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77200" cy="685800"/>
          </a:xfrm>
          <a:noFill/>
        </p:spPr>
        <p:txBody>
          <a:bodyPr/>
          <a:lstStyle/>
          <a:p>
            <a:r>
              <a:rPr lang="en-US" altLang="en-BD" sz="2800">
                <a:ea typeface="ＭＳ Ｐゴシック" panose="020B0600070205080204" pitchFamily="34" charset="-128"/>
              </a:rPr>
              <a:t>Example: Declarations and Assignments (cont</a:t>
            </a:r>
            <a:r>
              <a:rPr lang="ja-JP" altLang="en-US" sz="2800"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ea typeface="ＭＳ Ｐゴシック" panose="020B0600070205080204" pitchFamily="34" charset="-128"/>
              </a:rPr>
              <a:t>d)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BFD085A-65C3-A2F2-EBFE-6783775C6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5105400"/>
          </a:xfrm>
          <a:noFill/>
        </p:spPr>
        <p:txBody>
          <a:bodyPr/>
          <a:lstStyle/>
          <a:p>
            <a:pPr lvl="3">
              <a:lnSpc>
                <a:spcPct val="60000"/>
              </a:lnSpc>
            </a:pPr>
            <a:r>
              <a:rPr lang="en-US" altLang="en-BD">
                <a:ea typeface="ＭＳ Ｐゴシック" panose="020B0600070205080204" pitchFamily="34" charset="-128"/>
              </a:rPr>
              <a:t> </a:t>
            </a:r>
          </a:p>
          <a:p>
            <a:pPr lvl="3">
              <a:lnSpc>
                <a:spcPct val="60000"/>
              </a:lnSpc>
            </a:pPr>
            <a:r>
              <a:rPr lang="en-US" altLang="en-BD">
                <a:ea typeface="ＭＳ Ｐゴシック" panose="020B0600070205080204" pitchFamily="34" charset="-128"/>
              </a:rPr>
              <a:t> </a:t>
            </a:r>
          </a:p>
          <a:p>
            <a:pPr lvl="3">
              <a:lnSpc>
                <a:spcPct val="60000"/>
              </a:lnSpc>
            </a:pPr>
            <a:r>
              <a:rPr lang="en-US" altLang="en-BD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60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printf (</a:t>
            </a:r>
            <a:r>
              <a:rPr lang="ja-JP" altLang="en-US" sz="2800">
                <a:ea typeface="ＭＳ Ｐゴシック" panose="020B0600070205080204" pitchFamily="34" charset="-128"/>
              </a:rPr>
              <a:t>“</a:t>
            </a:r>
            <a:r>
              <a:rPr lang="en-US" altLang="ja-JP" sz="2800">
                <a:ea typeface="ＭＳ Ｐゴシック" panose="020B0600070205080204" pitchFamily="34" charset="-128"/>
              </a:rPr>
              <a:t>Its depth at sea: \n</a:t>
            </a:r>
            <a:r>
              <a:rPr lang="ja-JP" altLang="en-US" sz="2800">
                <a:ea typeface="ＭＳ Ｐゴシック" panose="020B0600070205080204" pitchFamily="34" charset="-128"/>
              </a:rPr>
              <a:t>”</a:t>
            </a:r>
            <a:r>
              <a:rPr lang="en-US" altLang="ja-JP" sz="2800">
                <a:ea typeface="ＭＳ Ｐゴシック" panose="020B0600070205080204" pitchFamily="34" charset="-128"/>
              </a:rPr>
              <a:t>) ;</a:t>
            </a:r>
          </a:p>
          <a:p>
            <a:pPr>
              <a:lnSpc>
                <a:spcPct val="75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printf (</a:t>
            </a:r>
            <a:r>
              <a:rPr lang="ja-JP" altLang="en-US" sz="2800">
                <a:ea typeface="ＭＳ Ｐゴシック" panose="020B0600070205080204" pitchFamily="34" charset="-128"/>
              </a:rPr>
              <a:t>“</a:t>
            </a:r>
            <a:r>
              <a:rPr lang="en-US" altLang="ja-JP" sz="2800">
                <a:ea typeface="ＭＳ Ｐゴシック" panose="020B0600070205080204" pitchFamily="34" charset="-128"/>
              </a:rPr>
              <a:t>    %d fathoms \n</a:t>
            </a:r>
            <a:r>
              <a:rPr lang="ja-JP" altLang="en-US" sz="2800">
                <a:ea typeface="ＭＳ Ｐゴシック" panose="020B0600070205080204" pitchFamily="34" charset="-128"/>
              </a:rPr>
              <a:t>”</a:t>
            </a:r>
            <a:r>
              <a:rPr lang="en-US" altLang="ja-JP" sz="2800">
                <a:ea typeface="ＭＳ Ｐゴシック" panose="020B0600070205080204" pitchFamily="34" charset="-128"/>
              </a:rPr>
              <a:t>, fathoms) ;</a:t>
            </a:r>
          </a:p>
          <a:p>
            <a:pPr>
              <a:lnSpc>
                <a:spcPct val="75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	printf (</a:t>
            </a:r>
            <a:r>
              <a:rPr lang="ja-JP" altLang="en-US" sz="2800">
                <a:ea typeface="ＭＳ Ｐゴシック" panose="020B0600070205080204" pitchFamily="34" charset="-128"/>
              </a:rPr>
              <a:t>“</a:t>
            </a:r>
            <a:r>
              <a:rPr lang="en-US" altLang="ja-JP" sz="2800">
                <a:ea typeface="ＭＳ Ｐゴシック" panose="020B0600070205080204" pitchFamily="34" charset="-128"/>
              </a:rPr>
              <a:t>    %d feet \n</a:t>
            </a:r>
            <a:r>
              <a:rPr lang="ja-JP" altLang="en-US" sz="2800">
                <a:ea typeface="ＭＳ Ｐゴシック" panose="020B0600070205080204" pitchFamily="34" charset="-128"/>
              </a:rPr>
              <a:t>”</a:t>
            </a:r>
            <a:r>
              <a:rPr lang="en-US" altLang="ja-JP" sz="2800">
                <a:ea typeface="ＭＳ Ｐゴシック" panose="020B0600070205080204" pitchFamily="34" charset="-128"/>
              </a:rPr>
              <a:t>, feet) ;</a:t>
            </a:r>
          </a:p>
          <a:p>
            <a:pPr>
              <a:lnSpc>
                <a:spcPct val="75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	printf (</a:t>
            </a:r>
            <a:r>
              <a:rPr lang="ja-JP" altLang="en-US" sz="2800">
                <a:ea typeface="ＭＳ Ｐゴシック" panose="020B0600070205080204" pitchFamily="34" charset="-128"/>
              </a:rPr>
              <a:t>“</a:t>
            </a:r>
            <a:r>
              <a:rPr lang="en-US" altLang="ja-JP" sz="2800">
                <a:ea typeface="ＭＳ Ｐゴシック" panose="020B0600070205080204" pitchFamily="34" charset="-128"/>
              </a:rPr>
              <a:t>    %d inches \n</a:t>
            </a:r>
            <a:r>
              <a:rPr lang="ja-JP" altLang="en-US" sz="2800">
                <a:ea typeface="ＭＳ Ｐゴシック" panose="020B0600070205080204" pitchFamily="34" charset="-128"/>
              </a:rPr>
              <a:t>”</a:t>
            </a:r>
            <a:r>
              <a:rPr lang="en-US" altLang="ja-JP" sz="2800">
                <a:ea typeface="ＭＳ Ｐゴシック" panose="020B0600070205080204" pitchFamily="34" charset="-128"/>
              </a:rPr>
              <a:t>, inches) ;</a:t>
            </a:r>
          </a:p>
          <a:p>
            <a:pPr>
              <a:lnSpc>
                <a:spcPct val="75000"/>
              </a:lnSpc>
              <a:buFont typeface="Monotype Sorts" pitchFamily="2" charset="2"/>
              <a:buChar char=" "/>
            </a:pPr>
            <a:endParaRPr lang="en-US" altLang="en-BD" sz="2800">
              <a:ea typeface="ＭＳ Ｐゴシック" panose="020B0600070205080204" pitchFamily="34" charset="-128"/>
            </a:endParaRPr>
          </a:p>
          <a:p>
            <a:pPr>
              <a:lnSpc>
                <a:spcPct val="75000"/>
              </a:lnSpc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      return 0 ;</a:t>
            </a:r>
          </a:p>
          <a:p>
            <a:pPr>
              <a:lnSpc>
                <a:spcPct val="75000"/>
              </a:lnSpc>
              <a:spcBef>
                <a:spcPct val="10000"/>
              </a:spcBef>
              <a:buFont typeface="Monotype Sorts" pitchFamily="2" charset="2"/>
              <a:buChar char=" "/>
            </a:pPr>
            <a:r>
              <a:rPr lang="en-US" altLang="en-BD" sz="2800">
                <a:ea typeface="ＭＳ Ｐゴシック" panose="020B0600070205080204" pitchFamily="34" charset="-128"/>
              </a:rPr>
              <a:t>}  </a:t>
            </a:r>
          </a:p>
          <a:p>
            <a:pPr>
              <a:lnSpc>
                <a:spcPct val="75000"/>
              </a:lnSpc>
              <a:spcBef>
                <a:spcPct val="10000"/>
              </a:spcBef>
              <a:buFont typeface="Monotype Sorts" pitchFamily="2" charset="2"/>
              <a:buChar char=" "/>
            </a:pPr>
            <a:endParaRPr lang="en-US" altLang="en-BD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4BC4B1B-AC20-B26F-97D4-4B4E06DD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Enhancing Our Example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F9A40E4-85C5-6DFF-00A1-D9D7719E8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What if the depth were really 5.75 fathoms? Our program, as it is, couldn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 handle it.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Unlike integers, floating point numbers can contain decimal portions.  So, let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use floating point, rather than integer.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Let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also ask the user to enter the number of fathoms, rather than </a:t>
            </a:r>
            <a:r>
              <a:rPr lang="ja-JP" altLang="en-US" b="1">
                <a:ea typeface="ＭＳ Ｐゴシック" panose="020B0600070205080204" pitchFamily="34" charset="-128"/>
              </a:rPr>
              <a:t>“</a:t>
            </a:r>
            <a:r>
              <a:rPr lang="en-US" altLang="ja-JP" b="1">
                <a:ea typeface="ＭＳ Ｐゴシック" panose="020B0600070205080204" pitchFamily="34" charset="-128"/>
              </a:rPr>
              <a:t>hard-coding</a:t>
            </a:r>
            <a:r>
              <a:rPr lang="ja-JP" altLang="en-US" b="1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it in.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164C111-17C0-77EA-A933-345E8D107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Enhanced Program</a:t>
            </a:r>
            <a:endParaRPr lang="en-US" altLang="en-BD" sz="2400" b="1">
              <a:ea typeface="ＭＳ Ｐゴシック" panose="020B0600070205080204" pitchFamily="34" charset="-128"/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1BAA4048-8DB0-EE03-9DD0-0CAE5D595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66800"/>
            <a:ext cx="7848600" cy="556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BD" b="1"/>
              <a:t>#include &lt;stdio.h&gt;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int main ( )</a:t>
            </a:r>
          </a:p>
          <a:p>
            <a:pPr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{</a:t>
            </a:r>
          </a:p>
          <a:p>
            <a:pPr>
              <a:spcBef>
                <a:spcPct val="25000"/>
              </a:spcBef>
              <a:buFont typeface="Monotype Sorts" pitchFamily="2" charset="2"/>
              <a:buNone/>
            </a:pPr>
            <a:r>
              <a:rPr lang="en-US" altLang="en-BD" b="1"/>
              <a:t>    float  inches, feet, fathoms ;</a:t>
            </a:r>
          </a:p>
          <a:p>
            <a:pPr>
              <a:spcBef>
                <a:spcPct val="25000"/>
              </a:spcBef>
              <a:buFont typeface="Monotype Sorts" pitchFamily="2" charset="2"/>
              <a:buNone/>
            </a:pPr>
            <a:endParaRPr lang="en-US" altLang="en-BD" sz="800" b="1"/>
          </a:p>
          <a:p>
            <a:pPr>
              <a:lnSpc>
                <a:spcPts val="2900"/>
              </a:lnSpc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Enter the depth in fathoms : </a:t>
            </a:r>
            <a:r>
              <a:rPr lang="ja-JP" altLang="en-US" b="1"/>
              <a:t>”</a:t>
            </a:r>
            <a:r>
              <a:rPr lang="en-US" altLang="ja-JP" b="1"/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scanf (</a:t>
            </a:r>
            <a:r>
              <a:rPr lang="ja-JP" altLang="en-US" b="1"/>
              <a:t>“</a:t>
            </a:r>
            <a:r>
              <a:rPr lang="en-US" altLang="ja-JP" b="1"/>
              <a:t>%f</a:t>
            </a:r>
            <a:r>
              <a:rPr lang="ja-JP" altLang="en-US" b="1"/>
              <a:t>”</a:t>
            </a:r>
            <a:r>
              <a:rPr lang="en-US" altLang="ja-JP" b="1"/>
              <a:t>, &amp;fathoms)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feet = 6 * fathoms ;</a:t>
            </a:r>
          </a:p>
          <a:p>
            <a:pPr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    inches = 12 * feet ;  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Its depth at sea: \n</a:t>
            </a:r>
            <a:r>
              <a:rPr lang="ja-JP" altLang="en-US" b="1"/>
              <a:t>”</a:t>
            </a:r>
            <a:r>
              <a:rPr lang="en-US" altLang="ja-JP" b="1"/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fathoms \n</a:t>
            </a:r>
            <a:r>
              <a:rPr lang="ja-JP" altLang="en-US" b="1"/>
              <a:t>”</a:t>
            </a:r>
            <a:r>
              <a:rPr lang="en-US" altLang="ja-JP" b="1"/>
              <a:t>, fathoms)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feet \n</a:t>
            </a:r>
            <a:r>
              <a:rPr lang="ja-JP" altLang="en-US" b="1"/>
              <a:t>”</a:t>
            </a:r>
            <a:r>
              <a:rPr lang="en-US" altLang="ja-JP" b="1"/>
              <a:t>, feet)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inches \n</a:t>
            </a:r>
            <a:r>
              <a:rPr lang="ja-JP" altLang="en-US" b="1"/>
              <a:t>”</a:t>
            </a:r>
            <a:r>
              <a:rPr lang="en-US" altLang="ja-JP" b="1"/>
              <a:t>, inches)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return 0 ;</a:t>
            </a:r>
          </a:p>
          <a:p>
            <a:pPr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}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CC50D78-F94F-DBD5-5423-7F137DCFF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Final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Clean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Program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6298FE0A-71B0-25BA-E399-016A996CD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8382000" cy="525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BD" b="1"/>
              <a:t>#include &lt;stdio.h&gt;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int main( )</a:t>
            </a:r>
          </a:p>
          <a:p>
            <a:pPr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{</a:t>
            </a:r>
          </a:p>
          <a:p>
            <a:pPr>
              <a:lnSpc>
                <a:spcPct val="70000"/>
              </a:lnSpc>
              <a:spcBef>
                <a:spcPct val="25000"/>
              </a:spcBef>
              <a:buFont typeface="Monotype Sorts" pitchFamily="2" charset="2"/>
              <a:buNone/>
            </a:pPr>
            <a:r>
              <a:rPr lang="en-US" altLang="en-BD" b="1"/>
              <a:t>    float  inches ;       /* number of inches deep   */</a:t>
            </a:r>
          </a:p>
          <a:p>
            <a:pPr>
              <a:lnSpc>
                <a:spcPct val="70000"/>
              </a:lnSpc>
              <a:spcBef>
                <a:spcPct val="25000"/>
              </a:spcBef>
              <a:buFont typeface="Monotype Sorts" pitchFamily="2" charset="2"/>
              <a:buNone/>
            </a:pPr>
            <a:r>
              <a:rPr lang="en-US" altLang="en-BD" b="1"/>
              <a:t>    float feet ;             /* number of feet deep        */</a:t>
            </a:r>
          </a:p>
          <a:p>
            <a:pPr>
              <a:lnSpc>
                <a:spcPct val="70000"/>
              </a:lnSpc>
              <a:spcBef>
                <a:spcPct val="25000"/>
              </a:spcBef>
              <a:buFont typeface="Monotype Sorts" pitchFamily="2" charset="2"/>
              <a:buNone/>
            </a:pPr>
            <a:r>
              <a:rPr lang="en-US" altLang="en-BD" b="1"/>
              <a:t>    float fathoms ;     /* number of fathoms deep */</a:t>
            </a:r>
          </a:p>
          <a:p>
            <a:pPr>
              <a:spcBef>
                <a:spcPct val="25000"/>
              </a:spcBef>
              <a:buFont typeface="Monotype Sorts" pitchFamily="2" charset="2"/>
              <a:buNone/>
            </a:pPr>
            <a:endParaRPr lang="en-US" altLang="en-BD" sz="1000" b="1"/>
          </a:p>
          <a:p>
            <a:pPr>
              <a:spcBef>
                <a:spcPct val="25000"/>
              </a:spcBef>
              <a:buFont typeface="Monotype Sorts" pitchFamily="2" charset="2"/>
              <a:buNone/>
            </a:pPr>
            <a:r>
              <a:rPr lang="en-US" altLang="en-BD" b="1"/>
              <a:t>    /* Get the depth in fathoms from the user */</a:t>
            </a:r>
          </a:p>
          <a:p>
            <a:pPr>
              <a:spcBef>
                <a:spcPct val="25000"/>
              </a:spcBef>
              <a:buFont typeface="Monotype Sorts" pitchFamily="2" charset="2"/>
              <a:buNone/>
            </a:pPr>
            <a:endParaRPr lang="en-US" altLang="en-BD" sz="1000" b="1"/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Enter the depth in fathoms : </a:t>
            </a:r>
            <a:r>
              <a:rPr lang="ja-JP" altLang="en-US" b="1"/>
              <a:t>”</a:t>
            </a:r>
            <a:r>
              <a:rPr lang="en-US" altLang="ja-JP" b="1"/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scanf (</a:t>
            </a:r>
            <a:r>
              <a:rPr lang="ja-JP" altLang="en-US" b="1"/>
              <a:t>“</a:t>
            </a:r>
            <a:r>
              <a:rPr lang="en-US" altLang="ja-JP" b="1"/>
              <a:t>%f</a:t>
            </a:r>
            <a:r>
              <a:rPr lang="ja-JP" altLang="en-US" b="1"/>
              <a:t>”</a:t>
            </a:r>
            <a:r>
              <a:rPr lang="en-US" altLang="ja-JP" b="1"/>
              <a:t>, &amp;fathoms) ;</a:t>
            </a:r>
          </a:p>
          <a:p>
            <a:pPr>
              <a:buFont typeface="Monotype Sorts" pitchFamily="2" charset="2"/>
              <a:buNone/>
            </a:pPr>
            <a:endParaRPr lang="en-US" altLang="en-BD" sz="1200" b="1"/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/* Convert the depth to inches */</a:t>
            </a:r>
          </a:p>
          <a:p>
            <a:pPr>
              <a:buFont typeface="Monotype Sorts" pitchFamily="2" charset="2"/>
              <a:buNone/>
            </a:pPr>
            <a:endParaRPr lang="en-US" altLang="en-BD" sz="1200" b="1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BD" b="1"/>
              <a:t>    feet = 6 * fathoms 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    inches = 12 * feet ;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5404289-CE5C-2A93-D9F1-108DD206A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Final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Clean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Program (con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DE3D109D-4B71-7BEE-979A-0A4281B73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8534400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BD" b="1"/>
              <a:t>    /* Display the results */</a:t>
            </a:r>
          </a:p>
          <a:p>
            <a:pPr>
              <a:buFont typeface="Monotype Sorts" pitchFamily="2" charset="2"/>
              <a:buNone/>
            </a:pPr>
            <a:endParaRPr lang="en-US" altLang="en-BD" sz="1000" b="1"/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Its depth at sea: \n</a:t>
            </a:r>
            <a:r>
              <a:rPr lang="ja-JP" altLang="en-US" b="1"/>
              <a:t>”</a:t>
            </a:r>
            <a:r>
              <a:rPr lang="en-US" altLang="ja-JP" b="1"/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fathoms \n</a:t>
            </a:r>
            <a:r>
              <a:rPr lang="ja-JP" altLang="en-US" b="1"/>
              <a:t>”</a:t>
            </a:r>
            <a:r>
              <a:rPr lang="en-US" altLang="ja-JP" b="1"/>
              <a:t>, fathoms) 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feet \n</a:t>
            </a:r>
            <a:r>
              <a:rPr lang="ja-JP" altLang="en-US" b="1"/>
              <a:t>”</a:t>
            </a:r>
            <a:r>
              <a:rPr lang="en-US" altLang="ja-JP" b="1"/>
              <a:t>, feet);</a:t>
            </a:r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printf (</a:t>
            </a:r>
            <a:r>
              <a:rPr lang="ja-JP" altLang="en-US" b="1"/>
              <a:t>“</a:t>
            </a:r>
            <a:r>
              <a:rPr lang="en-US" altLang="ja-JP" b="1"/>
              <a:t>    %f inches \n</a:t>
            </a:r>
            <a:r>
              <a:rPr lang="ja-JP" altLang="en-US" b="1"/>
              <a:t>”</a:t>
            </a:r>
            <a:r>
              <a:rPr lang="en-US" altLang="ja-JP" b="1"/>
              <a:t>, inches);</a:t>
            </a:r>
          </a:p>
          <a:p>
            <a:pPr>
              <a:buFont typeface="Monotype Sorts" pitchFamily="2" charset="2"/>
              <a:buNone/>
            </a:pPr>
            <a:endParaRPr lang="en-US" altLang="en-BD" sz="1000" b="1"/>
          </a:p>
          <a:p>
            <a:pPr>
              <a:buFont typeface="Monotype Sorts" pitchFamily="2" charset="2"/>
              <a:buNone/>
            </a:pPr>
            <a:r>
              <a:rPr lang="en-US" altLang="en-BD" b="1"/>
              <a:t>    return 0 ;</a:t>
            </a:r>
          </a:p>
          <a:p>
            <a:pPr>
              <a:spcBef>
                <a:spcPct val="10000"/>
              </a:spcBef>
              <a:buFont typeface="Monotype Sorts" pitchFamily="2" charset="2"/>
              <a:buNone/>
            </a:pPr>
            <a:r>
              <a:rPr lang="en-US" altLang="en-BD" b="1"/>
              <a:t>}</a:t>
            </a:r>
          </a:p>
          <a:p>
            <a:pPr>
              <a:spcBef>
                <a:spcPct val="50000"/>
              </a:spcBef>
            </a:pPr>
            <a:endParaRPr lang="en-US" altLang="en-BD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D5107F6-8EAA-962C-9FBA-C5350BC9D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Good Programming Practices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47C56B2-61AC-4BDA-17D3-2AADFA69F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Place each variable declaration on its own line with a descriptive comment.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Place a comment before each logical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chunk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of code describing what it does.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Do not place a comment on the same line as code (with the exception of variable declarations).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Use spaces around all arithmetic and assignment operators.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Use blank lines to enhance readability.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6A73930-D5B1-11C0-5545-F006CA8A1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Good Programming Practices (con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t)</a:t>
            </a:r>
            <a:endParaRPr lang="en-US" altLang="en-BD">
              <a:ea typeface="ＭＳ Ｐゴシック" panose="020B0600070205080204" pitchFamily="34" charset="-128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A0DE0F6-0086-21AA-EE80-F72EAB2ED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Place a blank line between the last variable declaration and the first executable statement of the program.</a:t>
            </a:r>
          </a:p>
          <a:p>
            <a:r>
              <a:rPr lang="en-US" altLang="en-BD">
                <a:ea typeface="ＭＳ Ｐゴシック" panose="020B0600070205080204" pitchFamily="34" charset="-128"/>
              </a:rPr>
              <a:t>Indent the body of the program 3 to 4 tab stops -- be consistent!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000000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efault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.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.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.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.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.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.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259895417</TotalTime>
  <Pages>15</Pages>
  <Words>1440</Words>
  <Application>Microsoft Macintosh PowerPoint</Application>
  <PresentationFormat>Letter Paper (8.5x11 in)</PresentationFormat>
  <Paragraphs>226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ＭＳ Ｐゴシック</vt:lpstr>
      <vt:lpstr>Monotype Sorts</vt:lpstr>
      <vt:lpstr>Times New Roman</vt:lpstr>
      <vt:lpstr>default</vt:lpstr>
      <vt:lpstr>Variables in C</vt:lpstr>
      <vt:lpstr>Variables in C</vt:lpstr>
      <vt:lpstr>What Are Variables in C?</vt:lpstr>
      <vt:lpstr>Naming Variables</vt:lpstr>
      <vt:lpstr>Reserved Words (Keywords) in C</vt:lpstr>
      <vt:lpstr>Naming Conventions</vt:lpstr>
      <vt:lpstr>Naming Conventions (con’t)</vt:lpstr>
      <vt:lpstr>Case Sensitivity</vt:lpstr>
      <vt:lpstr>Which Are Legal Identifiers?</vt:lpstr>
      <vt:lpstr>Declaring Variables</vt:lpstr>
      <vt:lpstr>Declaring Variables (con’t)</vt:lpstr>
      <vt:lpstr>More About Variables</vt:lpstr>
      <vt:lpstr>Using Variables: Initialization</vt:lpstr>
      <vt:lpstr>Using Variables: Initialization (con’t)</vt:lpstr>
      <vt:lpstr>Using Variables: Assignment</vt:lpstr>
      <vt:lpstr>Example: Declarations and Assignments</vt:lpstr>
      <vt:lpstr>Example: Declarations and Assignments (cont’d)</vt:lpstr>
      <vt:lpstr>Enhancing Our Example</vt:lpstr>
      <vt:lpstr>Enhanced Program</vt:lpstr>
      <vt:lpstr>Final “Clean” Program</vt:lpstr>
      <vt:lpstr>Final “Clean” Program (con’t)</vt:lpstr>
      <vt:lpstr>Good Programming Practices</vt:lpstr>
      <vt:lpstr>Good Programming Practices (con’t)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in C</dc:title>
  <dc:subject>CMSC 104</dc:subject>
  <dc:creator>Dennis Frey</dc:creator>
  <cp:keywords/>
  <dc:description>Modified 9/01 by S. Mitchell</dc:description>
  <cp:lastModifiedBy>Shafiullah Shafin</cp:lastModifiedBy>
  <cp:revision>150</cp:revision>
  <cp:lastPrinted>1601-01-01T00:00:00Z</cp:lastPrinted>
  <dcterms:created xsi:type="dcterms:W3CDTF">1999-01-21T20:40:53Z</dcterms:created>
  <dcterms:modified xsi:type="dcterms:W3CDTF">2025-12-08T18:53:39Z</dcterms:modified>
</cp:coreProperties>
</file>