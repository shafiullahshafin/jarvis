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60" r:id="rId1"/>
    <p:sldMasterId id="2147483669" r:id="rId2"/>
  </p:sldMasterIdLst>
  <p:notesMasterIdLst>
    <p:notesMasterId r:id="rId26"/>
  </p:notesMasterIdLst>
  <p:sldIdLst>
    <p:sldId id="320" r:id="rId3"/>
    <p:sldId id="321" r:id="rId4"/>
    <p:sldId id="322" r:id="rId5"/>
    <p:sldId id="276" r:id="rId6"/>
    <p:sldId id="313" r:id="rId7"/>
    <p:sldId id="314" r:id="rId8"/>
    <p:sldId id="277" r:id="rId9"/>
    <p:sldId id="315" r:id="rId10"/>
    <p:sldId id="278" r:id="rId11"/>
    <p:sldId id="279" r:id="rId12"/>
    <p:sldId id="316" r:id="rId13"/>
    <p:sldId id="280" r:id="rId14"/>
    <p:sldId id="318" r:id="rId15"/>
    <p:sldId id="317" r:id="rId16"/>
    <p:sldId id="319" r:id="rId17"/>
    <p:sldId id="281" r:id="rId18"/>
    <p:sldId id="282" r:id="rId19"/>
    <p:sldId id="284" r:id="rId20"/>
    <p:sldId id="285" r:id="rId21"/>
    <p:sldId id="297" r:id="rId22"/>
    <p:sldId id="308" r:id="rId23"/>
    <p:sldId id="310" r:id="rId24"/>
    <p:sldId id="311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217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9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1:14.7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1 274,'4'-1,"0"0,0 0,0 0,0-1,0 1,0-1,0 0,5-3,7-3,168-60,-68 26,62-11,-70 24,-49 4,-49 20,1 0,0 1,-1 0,1 0,1 1,16-2,103 2,-129 3,25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1:16.1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1,'505'15,"-498"-14,25 0,0 1,0 2,-1 2,0 0,54 20,-54-12,0 0,42 29,-50-26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1:21.915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73 1,'-5'0,"1"0,-1 0,0 0,1 1,-1 0,1-1,-1 2,1-1,-1 0,1 1,0 0,-1 0,1 0,-4 4,8-6,0 0,0 0,-1 1,1-1,0 0,0 0,0 1,0-1,0 0,0 1,0-1,0 0,0 1,0-1,0 0,0 0,0 1,0-1,0 0,0 1,0-1,0 0,1 0,-1 1,0-1,0 0,0 0,0 1,1-1,-1 0,0 0,0 0,0 1,1-1,-1 0,0 0,0 0,1 0,-1 0,0 1,0-1,1 0,-1 0,0 0,1 0,11 4,0 0,1-1,-1 0,1-1,-1-1,1 0,23-1,-3 0,372 2,-271-3,-111-1,-23 2,0 0,0 0,0 0,0 0,0-1,0 1,1 0,-1 0,0 0,0 0,0 0,0 0,0 0,0 0,0 0,0-1,0 1,0 0,0 0,0 0,1 0,-1 0,0 0,0 0,0-1,0 1,0 0,0 0,0 0,0 0,0 0,0 0,0-1,0 1,-1 0,1 0,0 0,0 0,0 0,0 0,0-1,0 1,0 0,0 0,0 0,0 0,0 0,0 0,-1 0,1 0,0 0,0 0,0-1,0 1,0 0,0 0,0 0,-1 0,1 0,0 0,0 0,0 0,-5-2,0 0,0 0,0 1,0 0,-10-2,-17 0,1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1:32.176"/>
    </inkml:context>
    <inkml:brush xml:id="br0">
      <inkml:brushProperty name="width" value="0.3" units="cm"/>
      <inkml:brushProperty name="height" value="0.6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 0,'-20'0,"20"0,36 0,2391 0,-2402 2,-1 0,1 2,-1 1,24 8,-22-6,0-1,0-1,38 3,99-10,57 3,-133 13,-62-9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1:41.7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1,'2379'0,"-2353"0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1:43.5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76,'1047'0,"-888"-13,0 1,-61 12,-16 2,-1-4,137-21,-145 11,121-4,77 17,-108 1,-142-2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1:47.3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1,'4924'0,"-4899"0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4:54.1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61 51,'0'-1,"-1"-1,1 1,0 0,0-1,-1 1,1 0,-1-1,1 1,-1 0,1 0,-1 0,0-1,1 1,-1 0,0 0,0 0,0 0,0 0,0 1,0-1,-2-1,-26-12,14 8,39 1,291 18,3 23,-133-14,-48 4,-102-17,1-1,0-3,52 3,1193-11,-1259 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03.7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11.09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76,'14'-5,"0"1,0 0,0 1,1 1,-1 0,0 1,26 1,-6-1,152 1,36-3,-184-1,66-17,-73 14,1 0,0 2,42-1,737 8,-780-2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12.5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1,'85'4,"101"17,32 2,331-19,-293-6,201 2,-431-3,-15 0,-11 3,0 0,0 0,0 0,0 0,0 0,0 0,-1 0,1 0,0 0,0 0,0 0,0 0,0 0,0 0,0 0,0-1,0 1,0 0,0 0,0 0,-1 0,1 0,0 0,0 0,0 0,0 0,0 0,0 0,0 0,0 0,0 0,0-1,0 1,0 0,0 0,0 0,0 0,0 0,0 0,0 0,0 0,0 0,0 0,0 0,0-1,0 1,0 0,0 0,0 0,0 0,0 0,0 0,0 0,0 0,0 0,0 0,0 0,0 0,0-1,1 1,-1 0,0 0,0 0,-13-3,1 1,-25-1,28 2,-37-2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14.68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25,'2725'0,"-2701"-1,1-2,28-5,9-2,-42 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19.51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0,'92'4,"126"23,-80-8,267 7,4-26,-178-1,-202-1,54-8,-40 3,-19 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21.5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1 151,'0'-1,"0"0,1 1,-1-1,0 0,1 1,-1-1,1 1,-1-1,1 1,-1-1,1 1,-1-1,1 1,-1-1,1 1,0 0,-1-1,1 1,0 0,-1 0,1-1,0 1,-1 0,2 0,23-4,-20 3,99-8,165 6,-150 4,720 0,-771-3,0-3,93-19,130-48,-253 64,1 2,-1 1,1 3,70 3,-70-1,-15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36.879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26,'3'-3,"0"1,0 0,1 0,-1 0,1 0,0 1,-1 0,1-1,0 1,0 1,6-2,48-2,-44 4,91-2,183 22,-180-12,135-8,-97-2,1335 2,-1460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39.507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0,'4488'0,"-4437"5,-30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1-30T16:25:43.179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2,'1318'0,"-2387"0,1064-1,-1 1,0 0,0 0,0 1,0-1,1 1,-1 1,0-1,1 1,-1 0,1 0,0 0,-1 1,1 0,0 0,0 1,1-1,-1 1,1 0,0 0,-4 5,-5 5,1 0,1 1,0 0,1 1,1 0,0 1,1-1,1 2,1-1,-6 24,9-24,-1-1,-8 20,11-35,1 0,0-1,0 1,-1 0,1 0,0 0,0 0,0-1,0 1,0 0,0 0,0 0,0 0,0-1,0 1,0 0,0 0,1 0,-1-1,0 1,1 0,-1 0,0-1,1 1,-1 0,1-1,-1 1,1 0,-1-1,1 1,0-1,-1 1,1-1,0 1,0-1,-1 1,1-1,0 0,0 1,-1-1,1 0,1 0,43 5,-37-5,416-1,-159-2,-167-2,100-19,31 1,-938 25,464-2,856 0,-571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1F9001-308E-0854-67EB-0163D06975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C2A1D-70C9-50F3-BE57-A4A0C4DB29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53781EE-335E-6C4C-9478-297064B36470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E3CC034-7BF2-786F-A530-204566E0C2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F1045CA-D791-F524-8417-C13CEB564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FF09F-F89C-4D2F-D25F-6646FEC992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B95B8-7A0B-3CBC-58F8-AF2096248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AE5BF2D-E500-E541-AFB9-BDE85640C2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4C08B-EEBD-4B3F-0612-AC42C1EDA6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58FBFE53-4126-9341-901A-98E21B267513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E7319-8085-F903-368F-BD5C47E220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423F2C-F439-D86A-0E04-0A17C28AC6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7734AF7-3606-4341-A0FB-C0027BDBEB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88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C0D1E-0F32-DD29-262D-5E89A5F38F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841CD65-3746-CB45-9D00-9491C29C0599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C6295-635B-025C-67A1-CE39D040A8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728A249-72B6-0589-5DE6-6B889B3649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182A81C4-8402-1642-8D36-69CA411AAF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099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5D147-E538-15A4-668B-4D9F07D9C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A0F63-24C1-D94B-815C-AB4593CAAC1B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9BCCE-A906-23C8-C467-B34F823D6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F2262-9CD7-621B-FB62-CE10183F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23FAA-710F-5E42-BF52-F95BCDE157B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1390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2F6C36E-8C47-9F79-9397-1434B64DEF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629400"/>
            <a:ext cx="9144000" cy="228600"/>
          </a:xfrm>
        </p:spPr>
        <p:txBody>
          <a:bodyPr/>
          <a:lstStyle>
            <a:lvl1pPr>
              <a:defRPr sz="120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Computer Networks, Fifth Edition by Andrew </a:t>
            </a:r>
            <a:r>
              <a:rPr lang="en-US" err="1"/>
              <a:t>Tanenbaum</a:t>
            </a:r>
            <a:r>
              <a:rPr lang="en-US"/>
              <a:t> and David </a:t>
            </a:r>
            <a:r>
              <a:rPr lang="en-US" err="1"/>
              <a:t>Wetherall</a:t>
            </a:r>
            <a:r>
              <a:rPr lang="en-US"/>
              <a:t>, © Pearson Education-Prentice Hall, 2011</a:t>
            </a:r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76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42960-2433-A9E2-851C-41DC2D80B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80D6-5583-034F-9768-4D91619929F5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5D366-CE22-3B14-60EE-26F3D9A9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7F609-4711-543B-EAAB-968000C98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1F07E7-9D9D-9B46-8496-8794C2B52B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636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030F14-DA05-BED9-B85D-BC2204F4C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556F7B-A220-1B42-A39A-268D951C0086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48CF4F8-9C50-C68A-2C7F-8BD67D54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207E8C-9294-118D-40AD-7C2CC66C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2F9882-F42C-B34F-A961-A9E1ED1158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435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CB22FBD-790C-1E3A-F9AC-3F0771AE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0864E-5B2E-7840-A280-323728CCABA7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FF1AEC1-9E70-2444-3601-6821DCFF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EE7183-024E-FE80-16A5-96E4A7988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69FB0-BFCF-3040-8DD6-71253FF836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824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C69E7B62-E2AE-EF48-73EB-78EA1ADCC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A9446-7037-4B4B-AAC5-11F8A91D299E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54B661C-7C24-4DCE-ECA0-D326564A9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B74900-C2ED-F873-4E8E-C969CC22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8106F7-2878-5443-B1D8-9126833589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7037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CA8EEBA0-3D07-81EB-8710-0E3EF443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9A62F-1BE2-CB45-BDFE-E5ECC08DE480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9197E63-62C1-DB3D-893D-D7E30CF5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00E6BD-882F-933B-D3E0-FDC766FE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C7D3AB-E26B-3E48-900F-36893A76D1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6600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A42FB68-FBD8-BA22-8C45-812B33374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16289-DAF9-2947-9D24-177325E7B1F2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47AFCF-CFB7-2C09-BEA3-127A4B23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D67489-0AD5-2738-575B-C08F0E732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4325E-7F5D-BE40-B3E0-B7586114BE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1559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852C780-BE38-CC25-C157-7B45BB6D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39BFF-4FCF-D848-8692-09D3405B03BD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40E5B68-D6EF-0866-207A-8BE018E7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8B1531-7022-8308-704B-ACE7E436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F37496-15B3-924A-B9C1-83037BF6E2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81813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AEC51-0810-DCB3-962B-27B27AC2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7A77E-2906-5A4D-88D7-BD1621B386AC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A2D33-BC90-A661-CF13-E7D96E3D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BBD08-B868-3741-ED0A-B4CE64E84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61975-76C0-AF4F-B717-A5B73C961C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5560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D3837-CA3A-7310-5C15-2F930FD80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00792-869A-0945-B13C-E558B6CEA372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27F6A-FFD6-6322-49C5-579BA0EB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DAB6-A9D9-F4FB-FBEB-AED1F260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1567D9-675E-C744-9ECB-B5235F8BDAC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0423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20B6F62-0C02-CBA4-8E15-0C52CBF96A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720F783-822A-D89C-7356-44BBF3DC7D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5715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7980D89-5851-7637-796F-E87EC983B971}"/>
              </a:ext>
            </a:extLst>
          </p:cNvPr>
          <p:cNvSpPr txBox="1">
            <a:spLocks/>
          </p:cNvSpPr>
          <p:nvPr userDrawn="1"/>
        </p:nvSpPr>
        <p:spPr>
          <a:xfrm>
            <a:off x="0" y="6629400"/>
            <a:ext cx="9144000" cy="22860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algn="ctr" eaLnBrk="1" hangingPunct="1">
              <a:defRPr/>
            </a:pPr>
            <a:r>
              <a:rPr lang="en-US" i="1" dirty="0">
                <a:latin typeface="Arial" charset="0"/>
                <a:cs typeface="Arial" charset="0"/>
              </a:rPr>
              <a:t>Computer Networks</a:t>
            </a:r>
            <a:r>
              <a:rPr lang="en-US" dirty="0">
                <a:latin typeface="Arial" charset="0"/>
                <a:cs typeface="Arial" charset="0"/>
              </a:rPr>
              <a:t>, Fifth Edition by Andrew </a:t>
            </a:r>
            <a:r>
              <a:rPr lang="en-US" dirty="0" err="1">
                <a:latin typeface="Arial" charset="0"/>
                <a:cs typeface="Arial" charset="0"/>
              </a:rPr>
              <a:t>Tanenbaum</a:t>
            </a:r>
            <a:r>
              <a:rPr lang="en-US" dirty="0">
                <a:latin typeface="Arial" charset="0"/>
                <a:cs typeface="Arial" charset="0"/>
              </a:rPr>
              <a:t> and David </a:t>
            </a:r>
            <a:r>
              <a:rPr lang="en-US" dirty="0" err="1">
                <a:latin typeface="Arial" charset="0"/>
                <a:cs typeface="Arial" charset="0"/>
              </a:rPr>
              <a:t>Wetherall</a:t>
            </a:r>
            <a:r>
              <a:rPr lang="en-US" dirty="0">
                <a:latin typeface="Arial" charset="0"/>
                <a:cs typeface="Arial" charset="0"/>
              </a:rPr>
              <a:t>, © Pearson Education-Prentice Hall, 2011</a:t>
            </a:r>
          </a:p>
          <a:p>
            <a:pPr eaLnBrk="1" hangingPunct="1"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Times New Roman" pitchFamily="18" charset="0"/>
        </a:defRPr>
      </a:lvl9pPr>
    </p:titleStyle>
    <p:bodyStyle>
      <a:lvl1pPr marL="609600" indent="-609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AutoNum type="alphaLcParenR"/>
        <a:defRPr sz="24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600" indent="-5334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cs typeface="Arial" charset="0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sz="2000">
          <a:solidFill>
            <a:schemeClr val="tx1"/>
          </a:solidFill>
          <a:latin typeface="+mn-lt"/>
          <a:cs typeface="Arial" charset="0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  <a:cs typeface="Arial" charset="0"/>
        </a:defRPr>
      </a:lvl5pPr>
      <a:lvl6pPr marL="2667000" indent="-3810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6pPr>
      <a:lvl7pPr marL="3124200" indent="-3810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7pPr>
      <a:lvl8pPr marL="3581400" indent="-3810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8pPr>
      <a:lvl9pPr marL="4038600" indent="-3810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940815BF-6E57-4D0C-9591-30CB8C097B8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81000" y="304800"/>
            <a:ext cx="8229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547C9764-23CD-38E3-88AA-10A4419F61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1828800"/>
            <a:ext cx="7543800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0765E-9F22-3738-C954-4773EBCA0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99FD9E4B-AB9A-C24E-BF7A-128D34905C7B}" type="datetimeFigureOut">
              <a:rPr lang="en-US"/>
              <a:pPr>
                <a:defRPr/>
              </a:pPr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A32D-0DCF-714B-DA4A-0F57243AEA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F63E5-50F1-B2F8-6B11-1BF43CB726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5CB4A99-6B8C-924F-BFCC-A20BAAFA94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96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lang="en-US" sz="3600" kern="1200" dirty="0">
          <a:solidFill>
            <a:srgbClr val="FF0000"/>
          </a:solidFill>
          <a:latin typeface="Times New Roman" pitchFamily="18" charset="0"/>
          <a:ea typeface="+mj-ea"/>
          <a:cs typeface="Times New Roman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FF0000"/>
          </a:solidFill>
          <a:latin typeface="Times New Roman" pitchFamily="18" charset="0"/>
          <a:cs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CC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aeldung.com/cs/port-vs-sock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customXml" Target="../ink/ink4.xml"/><Relationship Id="rId1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customXml" Target="../ink/ink13.xml"/><Relationship Id="rId18" Type="http://schemas.openxmlformats.org/officeDocument/2006/relationships/image" Target="../media/image29.png"/><Relationship Id="rId3" Type="http://schemas.openxmlformats.org/officeDocument/2006/relationships/customXml" Target="../ink/ink8.xml"/><Relationship Id="rId21" Type="http://schemas.openxmlformats.org/officeDocument/2006/relationships/customXml" Target="../ink/ink17.xml"/><Relationship Id="rId7" Type="http://schemas.openxmlformats.org/officeDocument/2006/relationships/customXml" Target="../ink/ink10.xml"/><Relationship Id="rId12" Type="http://schemas.openxmlformats.org/officeDocument/2006/relationships/image" Target="../media/image26.png"/><Relationship Id="rId17" Type="http://schemas.openxmlformats.org/officeDocument/2006/relationships/customXml" Target="../ink/ink15.xml"/><Relationship Id="rId2" Type="http://schemas.openxmlformats.org/officeDocument/2006/relationships/image" Target="../media/image21.png"/><Relationship Id="rId16" Type="http://schemas.openxmlformats.org/officeDocument/2006/relationships/image" Target="../media/image28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customXml" Target="../ink/ink12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10" Type="http://schemas.openxmlformats.org/officeDocument/2006/relationships/image" Target="../media/image25.png"/><Relationship Id="rId19" Type="http://schemas.openxmlformats.org/officeDocument/2006/relationships/customXml" Target="../ink/ink16.xml"/><Relationship Id="rId4" Type="http://schemas.openxmlformats.org/officeDocument/2006/relationships/image" Target="../media/image22.png"/><Relationship Id="rId9" Type="http://schemas.openxmlformats.org/officeDocument/2006/relationships/customXml" Target="../ink/ink11.xml"/><Relationship Id="rId14" Type="http://schemas.openxmlformats.org/officeDocument/2006/relationships/image" Target="../media/image27.png"/><Relationship Id="rId22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D5308E01-D815-9113-A798-C7880E211A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/>
              <a:t>Transport Layer</a:t>
            </a:r>
          </a:p>
        </p:txBody>
      </p:sp>
      <p:sp>
        <p:nvSpPr>
          <p:cNvPr id="7171" name="TextBox 2">
            <a:extLst>
              <a:ext uri="{FF2B5EF4-FFF2-40B4-BE49-F238E27FC236}">
                <a16:creationId xmlns:a16="http://schemas.microsoft.com/office/drawing/2014/main" id="{14874BA2-23E6-F30B-543B-866D33985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838" y="958850"/>
            <a:ext cx="1196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BD"/>
              <a:t>Chapter 6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8BE2BC56-521A-58E6-EF16-BCEED1F5F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5888038"/>
            <a:ext cx="79565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BD"/>
              <a:t>In the OSI layer model, the  Lower layer provides services to the upper layer</a:t>
            </a:r>
          </a:p>
        </p:txBody>
      </p:sp>
      <p:pic>
        <p:nvPicPr>
          <p:cNvPr id="7173" name="Picture 2" descr="OSI Model: Transport Layer vs. Networking Layer | Baeldung on Computer ...">
            <a:extLst>
              <a:ext uri="{FF2B5EF4-FFF2-40B4-BE49-F238E27FC236}">
                <a16:creationId xmlns:a16="http://schemas.microsoft.com/office/drawing/2014/main" id="{3BA35B58-3DC5-EE01-BE11-A2ADA2404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1503363"/>
            <a:ext cx="6065838" cy="412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58FCC57E-486B-93A3-CAD5-008BD343A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/>
              <a:t>Transport 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13892B-3F9E-6A96-2BF4-DE0615BE6EFC}"/>
              </a:ext>
            </a:extLst>
          </p:cNvPr>
          <p:cNvSpPr txBox="1"/>
          <p:nvPr/>
        </p:nvSpPr>
        <p:spPr>
          <a:xfrm>
            <a:off x="998738" y="1606832"/>
            <a:ext cx="6893512" cy="313932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  <a:defRPr/>
            </a:pPr>
            <a:r>
              <a:rPr lang="en-US" sz="2000" dirty="0">
                <a:solidFill>
                  <a:srgbClr val="000000"/>
                </a:solidFill>
              </a:rPr>
              <a:t>Transport layer is a </a:t>
            </a:r>
            <a:r>
              <a:rPr lang="en-US" sz="2000" dirty="0">
                <a:solidFill>
                  <a:srgbClr val="000000"/>
                </a:solidFill>
                <a:highlight>
                  <a:srgbClr val="FFFF00"/>
                </a:highlight>
              </a:rPr>
              <a:t>process-to-process</a:t>
            </a:r>
            <a:r>
              <a:rPr lang="en-US" sz="2000" dirty="0">
                <a:solidFill>
                  <a:srgbClr val="000000"/>
                </a:solidFill>
              </a:rPr>
              <a:t> communication layer that is responsible for delivering the entire message.</a:t>
            </a:r>
          </a:p>
          <a:p>
            <a:pPr marL="285750" indent="-285750" algn="just">
              <a:buFont typeface="Wingdings" panose="05000000000000000000" pitchFamily="2" charset="2"/>
              <a:buChar char="q"/>
              <a:defRPr/>
            </a:pPr>
            <a:endParaRPr lang="en-US" sz="2000" dirty="0">
              <a:solidFill>
                <a:srgbClr val="000000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q"/>
              <a:defRPr/>
            </a:pPr>
            <a:r>
              <a:rPr lang="en-US" sz="2000" dirty="0"/>
              <a:t>A process is an application running on the host system. For process-to-process communication, the transport layer uses a </a:t>
            </a:r>
            <a:r>
              <a:rPr lang="en-US" sz="2000" dirty="0">
                <a:hlinkClick r:id="rId2"/>
              </a:rPr>
              <a:t>port number</a:t>
            </a:r>
            <a:r>
              <a:rPr lang="en-US" sz="2000" dirty="0"/>
              <a:t> assigned to each process uniquely.</a:t>
            </a:r>
          </a:p>
          <a:p>
            <a:pPr marL="285750" indent="-285750" algn="just">
              <a:buFont typeface="Wingdings" panose="05000000000000000000" pitchFamily="2" charset="2"/>
              <a:buChar char="q"/>
              <a:defRPr/>
            </a:pPr>
            <a:endParaRPr lang="en-US" sz="2000" dirty="0"/>
          </a:p>
          <a:p>
            <a:pPr algn="just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D4327A9-BFCB-BDFE-6BB5-0B445F5A4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BD"/>
              <a:t>Data Link vs Transport Layer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24AEAFD4-27DF-5D35-88BF-5FBBA9B36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613" y="2209800"/>
            <a:ext cx="7724775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Box 4">
            <a:extLst>
              <a:ext uri="{FF2B5EF4-FFF2-40B4-BE49-F238E27FC236}">
                <a16:creationId xmlns:a16="http://schemas.microsoft.com/office/drawing/2014/main" id="{271FA2FA-76BE-C899-DBEA-E6E4E099C6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7988" y="2832100"/>
            <a:ext cx="1530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BD">
                <a:solidFill>
                  <a:srgbClr val="FF0000"/>
                </a:solidFill>
              </a:rPr>
              <a:t>Point to point</a:t>
            </a:r>
          </a:p>
        </p:txBody>
      </p:sp>
      <p:sp>
        <p:nvSpPr>
          <p:cNvPr id="9221" name="TextBox 5">
            <a:extLst>
              <a:ext uri="{FF2B5EF4-FFF2-40B4-BE49-F238E27FC236}">
                <a16:creationId xmlns:a16="http://schemas.microsoft.com/office/drawing/2014/main" id="{18908179-A7BC-5C03-6E8C-28BD02F88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550" y="1839913"/>
            <a:ext cx="21463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BD">
                <a:solidFill>
                  <a:srgbClr val="FF0000"/>
                </a:solidFill>
              </a:rPr>
              <a:t>Process to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F9EEA48-6C89-1B64-E02D-3F4F3C59D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Establishment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C6602A8-EA3D-2CF6-887D-5076EAE26B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5334000"/>
            <a:ext cx="8856662" cy="83820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US" dirty="0"/>
              <a:t>Three protocol scenarios for establishing a connection using a</a:t>
            </a:r>
          </a:p>
          <a:p>
            <a:pPr algn="ctr">
              <a:buFontTx/>
              <a:buNone/>
              <a:defRPr/>
            </a:pPr>
            <a:r>
              <a:rPr lang="en-US" dirty="0"/>
              <a:t>three-way handshake. CR denotes CONNECTION REQUEST. Normal operation.</a:t>
            </a: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10244" name="Picture 2">
            <a:extLst>
              <a:ext uri="{FF2B5EF4-FFF2-40B4-BE49-F238E27FC236}">
                <a16:creationId xmlns:a16="http://schemas.microsoft.com/office/drawing/2014/main" id="{956604C5-9C9A-8007-CD88-AE6659BFB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143000"/>
            <a:ext cx="4191000" cy="396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0359759-01EF-6983-6B30-3A6167575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Establishment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A4138DA-034E-74D5-BBED-5BA326043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3250" y="1019175"/>
            <a:ext cx="7927975" cy="2124075"/>
          </a:xfrm>
        </p:spPr>
        <p:txBody>
          <a:bodyPr/>
          <a:lstStyle/>
          <a:p>
            <a:pPr marL="0" indent="0" algn="just">
              <a:buFontTx/>
              <a:buNone/>
            </a:pPr>
            <a:r>
              <a:rPr lang="en-US" altLang="en-US">
                <a:latin typeface="Times-Roman"/>
              </a:rPr>
              <a:t>Establishing a connection sounds easy, but it is actually surprisingly tricky.</a:t>
            </a:r>
          </a:p>
          <a:p>
            <a:pPr marL="0" indent="0" algn="just">
              <a:buFontTx/>
              <a:buChar char="•"/>
            </a:pPr>
            <a:r>
              <a:rPr lang="en-US" altLang="en-US">
                <a:latin typeface="Times-Roman"/>
              </a:rPr>
              <a:t>The problem occurs when the network can lose, delay, corrupt, and duplicate packets.</a:t>
            </a:r>
          </a:p>
          <a:p>
            <a:pPr marL="0" indent="0" algn="just">
              <a:buFontTx/>
              <a:buChar char="•"/>
            </a:pPr>
            <a:r>
              <a:rPr lang="en-US" altLang="en-US">
                <a:latin typeface="Times-Roman"/>
              </a:rPr>
              <a:t>Only the </a:t>
            </a:r>
            <a:r>
              <a:rPr lang="en-US" altLang="en-US" b="1">
                <a:latin typeface="Times-Roman"/>
              </a:rPr>
              <a:t>common cases need be implemented efficiently </a:t>
            </a:r>
            <a:r>
              <a:rPr lang="en-US" altLang="en-US">
                <a:latin typeface="Times-Roman"/>
              </a:rPr>
              <a:t>to obtain good network performance, but the protocol must be able to cope with the uncommon cases without breaking.</a:t>
            </a:r>
          </a:p>
          <a:p>
            <a:pPr marL="0" indent="0" algn="just">
              <a:buFontTx/>
              <a:buNone/>
            </a:pPr>
            <a:endParaRPr lang="en-US" altLang="en-US"/>
          </a:p>
        </p:txBody>
      </p:sp>
      <p:sp>
        <p:nvSpPr>
          <p:cNvPr id="4" name="Double Wave 3">
            <a:extLst>
              <a:ext uri="{FF2B5EF4-FFF2-40B4-BE49-F238E27FC236}">
                <a16:creationId xmlns:a16="http://schemas.microsoft.com/office/drawing/2014/main" id="{4B058EB0-B805-777E-8803-E13E513B4E56}"/>
              </a:ext>
            </a:extLst>
          </p:cNvPr>
          <p:cNvSpPr/>
          <p:nvPr/>
        </p:nvSpPr>
        <p:spPr bwMode="auto">
          <a:xfrm>
            <a:off x="882650" y="4305300"/>
            <a:ext cx="7369175" cy="2124075"/>
          </a:xfrm>
          <a:prstGeom prst="doubleWav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en-US" sz="2400" dirty="0"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It’s </a:t>
            </a:r>
            <a:r>
              <a:rPr lang="en-US" sz="2400" b="1" dirty="0">
                <a:latin typeface="+mj-lt"/>
              </a:rPr>
              <a:t>not necessary to perform well </a:t>
            </a:r>
            <a:r>
              <a:rPr lang="en-US" sz="2400" dirty="0">
                <a:latin typeface="+mj-lt"/>
              </a:rPr>
              <a:t>for uncommon cases.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It’s enough, if the protocol is able to cope with it without breaking.</a:t>
            </a:r>
          </a:p>
          <a:p>
            <a:pPr algn="ctr">
              <a:defRPr/>
            </a:pPr>
            <a:endParaRPr lang="en-US" sz="2400" dirty="0">
              <a:latin typeface="+mj-lt"/>
            </a:endParaRPr>
          </a:p>
          <a:p>
            <a:pPr algn="ctr">
              <a:defRPr/>
            </a:pPr>
            <a:endParaRPr lang="en-US" sz="24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E2AFC71-39B1-0ED9-B21B-A6784946BB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Establishment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FA7AED8-C2CD-67D3-8E95-36A99DED27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3682" y="1383436"/>
            <a:ext cx="7927759" cy="2123243"/>
          </a:xfrm>
        </p:spPr>
        <p:txBody>
          <a:bodyPr/>
          <a:lstStyle/>
          <a:p>
            <a:pPr marL="0" indent="0" algn="just">
              <a:buFontTx/>
              <a:buNone/>
              <a:defRPr/>
            </a:pPr>
            <a:r>
              <a:rPr lang="en-US" dirty="0">
                <a:latin typeface="Times-Roman"/>
              </a:rPr>
              <a:t>The crux of the problem is that the delayed duplicates are thought to be new packets. </a:t>
            </a:r>
          </a:p>
          <a:p>
            <a:pPr marL="0" indent="0" algn="just">
              <a:buFontTx/>
              <a:buNone/>
              <a:defRPr/>
            </a:pPr>
            <a:r>
              <a:rPr lang="en-US" dirty="0">
                <a:latin typeface="Times-Roman"/>
              </a:rPr>
              <a:t>We cannot prevent packets from being duplicated and delayed. But if and when this happens, </a:t>
            </a:r>
            <a:r>
              <a:rPr lang="en-US" dirty="0">
                <a:highlight>
                  <a:srgbClr val="FFFF00"/>
                </a:highlight>
                <a:latin typeface="Times-Roman"/>
              </a:rPr>
              <a:t>the packets must be rejected </a:t>
            </a:r>
            <a:r>
              <a:rPr lang="en-US" dirty="0">
                <a:latin typeface="Times-Roman"/>
              </a:rPr>
              <a:t>as </a:t>
            </a:r>
            <a:r>
              <a:rPr lang="en-US" dirty="0">
                <a:highlight>
                  <a:srgbClr val="FFFF00"/>
                </a:highlight>
                <a:latin typeface="Times-Roman"/>
              </a:rPr>
              <a:t>duplicates </a:t>
            </a:r>
            <a:r>
              <a:rPr lang="en-US" dirty="0">
                <a:latin typeface="Times-Roman"/>
              </a:rPr>
              <a:t>and not processed as fresh packets.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4" name="Double Wave 3">
            <a:extLst>
              <a:ext uri="{FF2B5EF4-FFF2-40B4-BE49-F238E27FC236}">
                <a16:creationId xmlns:a16="http://schemas.microsoft.com/office/drawing/2014/main" id="{6A29BCD4-04B9-C576-C1AB-ED81308FAD5C}"/>
              </a:ext>
            </a:extLst>
          </p:cNvPr>
          <p:cNvSpPr/>
          <p:nvPr/>
        </p:nvSpPr>
        <p:spPr bwMode="auto">
          <a:xfrm>
            <a:off x="781050" y="3675063"/>
            <a:ext cx="7750175" cy="2124075"/>
          </a:xfrm>
          <a:prstGeom prst="doubleWav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The problem can be addressed in various ways, none of them very satisfactory. </a:t>
            </a:r>
          </a:p>
          <a:p>
            <a:pPr algn="ctr">
              <a:defRPr/>
            </a:pPr>
            <a:r>
              <a:rPr lang="en-US" sz="2200" dirty="0">
                <a:latin typeface="+mj-lt"/>
              </a:rPr>
              <a:t>Finally to solve this specific problem, Tomlinson (1975) introduced </a:t>
            </a:r>
            <a:r>
              <a:rPr lang="en-US" sz="2200" b="1" dirty="0">
                <a:latin typeface="+mj-lt"/>
              </a:rPr>
              <a:t>the three-way handshake.</a:t>
            </a:r>
          </a:p>
          <a:p>
            <a:pPr algn="ctr">
              <a:defRPr/>
            </a:pPr>
            <a:endParaRPr lang="en-US" sz="2200" dirty="0">
              <a:latin typeface="+mj-lt"/>
            </a:endParaRPr>
          </a:p>
          <a:p>
            <a:pPr algn="ctr">
              <a:defRPr/>
            </a:pPr>
            <a:endParaRPr lang="en-US" sz="22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127B544-1765-E65A-CA19-DCF598A71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Establishment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3349CA5-233E-EAEB-3E64-71C680714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5029200"/>
            <a:ext cx="9144000" cy="1327150"/>
          </a:xfrm>
        </p:spPr>
        <p:txBody>
          <a:bodyPr/>
          <a:lstStyle/>
          <a:p>
            <a:pPr marL="0" indent="0" algn="ctr">
              <a:buFontTx/>
              <a:buNone/>
            </a:pPr>
            <a:r>
              <a:rPr lang="en-US" altLang="en-US" sz="2200"/>
              <a:t>Three protocol scenarios for establishing a connection using a</a:t>
            </a:r>
          </a:p>
          <a:p>
            <a:pPr marL="0" indent="0" algn="ctr">
              <a:buFontTx/>
              <a:buNone/>
            </a:pPr>
            <a:r>
              <a:rPr lang="en-US" altLang="en-US" sz="2200"/>
              <a:t>three-way handshake. CR denotes CONNECTION REQUEST. </a:t>
            </a:r>
          </a:p>
          <a:p>
            <a:pPr marL="0" indent="0" algn="ctr">
              <a:buFontTx/>
              <a:buNone/>
            </a:pPr>
            <a:r>
              <a:rPr lang="en-US" altLang="en-US" sz="2200"/>
              <a:t>Old duplicate CONNECTION REQUEST appearing out of nowhere.</a:t>
            </a:r>
          </a:p>
        </p:txBody>
      </p:sp>
      <p:pic>
        <p:nvPicPr>
          <p:cNvPr id="13316" name="Picture 2">
            <a:extLst>
              <a:ext uri="{FF2B5EF4-FFF2-40B4-BE49-F238E27FC236}">
                <a16:creationId xmlns:a16="http://schemas.microsoft.com/office/drawing/2014/main" id="{8FCC84A8-6F22-E98C-9611-BBCE6542B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295400"/>
            <a:ext cx="3438525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9C2E26A-7D91-98FA-71B3-F7732D4FA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Establishment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D5A43B7-C165-1EFC-0F29-587AB79E35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2775" y="5133975"/>
            <a:ext cx="8150225" cy="1285875"/>
          </a:xfrm>
          <a:solidFill>
            <a:srgbClr val="CCFF66"/>
          </a:solidFill>
          <a:ln>
            <a:solidFill>
              <a:srgbClr val="FFFF00"/>
            </a:solidFill>
            <a:miter lim="800000"/>
            <a:headEnd/>
            <a:tailEnd/>
          </a:ln>
        </p:spPr>
        <p:txBody>
          <a:bodyPr/>
          <a:lstStyle/>
          <a:p>
            <a:pPr marL="0" indent="0" algn="just">
              <a:buFontTx/>
              <a:buNone/>
            </a:pPr>
            <a:r>
              <a:rPr lang="en-US" altLang="en-US">
                <a:latin typeface="Times-Roman"/>
              </a:rPr>
              <a:t>The important thing to realize here is that there is </a:t>
            </a:r>
            <a:r>
              <a:rPr lang="en-US" altLang="en-US" b="1">
                <a:latin typeface="Times-Roman"/>
              </a:rPr>
              <a:t>no combination of old segments </a:t>
            </a:r>
            <a:r>
              <a:rPr lang="en-US" altLang="en-US">
                <a:latin typeface="Times-Roman"/>
              </a:rPr>
              <a:t>that can cause the </a:t>
            </a:r>
            <a:r>
              <a:rPr lang="en-US" altLang="en-US" b="1">
                <a:latin typeface="Times-Roman"/>
              </a:rPr>
              <a:t>protocol to fail </a:t>
            </a:r>
            <a:r>
              <a:rPr lang="en-US" altLang="en-US">
                <a:latin typeface="Times-Roman"/>
              </a:rPr>
              <a:t>and have a connection set up by accident when no one wants it.</a:t>
            </a:r>
            <a:endParaRPr lang="en-US" altLang="en-US" sz="3200"/>
          </a:p>
        </p:txBody>
      </p:sp>
      <p:pic>
        <p:nvPicPr>
          <p:cNvPr id="14340" name="Graphic 5" descr="Arrow Slight curve">
            <a:extLst>
              <a:ext uri="{FF2B5EF4-FFF2-40B4-BE49-F238E27FC236}">
                <a16:creationId xmlns:a16="http://schemas.microsoft.com/office/drawing/2014/main" id="{4466B134-A070-E779-E581-B4935D36F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66928">
            <a:off x="3328988" y="3263900"/>
            <a:ext cx="105886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1C256B-1FDC-1C43-31BA-E255F4262934}"/>
              </a:ext>
            </a:extLst>
          </p:cNvPr>
          <p:cNvSpPr txBox="1"/>
          <p:nvPr/>
        </p:nvSpPr>
        <p:spPr>
          <a:xfrm>
            <a:off x="4438650" y="1824038"/>
            <a:ext cx="4030663" cy="267652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-Roman"/>
              </a:rPr>
              <a:t>Expected ACK=y.</a:t>
            </a:r>
          </a:p>
          <a:p>
            <a:pPr algn="just">
              <a:defRPr/>
            </a:pPr>
            <a:r>
              <a:rPr lang="en-US" sz="2400" dirty="0">
                <a:latin typeface="Times-Roman"/>
              </a:rPr>
              <a:t>When the second delayed segment arrives at host 2, the fact that </a:t>
            </a:r>
            <a:r>
              <a:rPr lang="en-US" sz="2400" b="1" i="1" dirty="0">
                <a:latin typeface="Times-Italic"/>
              </a:rPr>
              <a:t>z </a:t>
            </a:r>
            <a:r>
              <a:rPr lang="en-US" sz="2400" b="1" dirty="0">
                <a:latin typeface="Times-Roman"/>
              </a:rPr>
              <a:t>has been acknowledged </a:t>
            </a:r>
            <a:r>
              <a:rPr lang="en-US" sz="2400" dirty="0">
                <a:latin typeface="Times-Roman"/>
              </a:rPr>
              <a:t>rather than </a:t>
            </a:r>
            <a:r>
              <a:rPr lang="en-US" sz="2400" i="1" dirty="0">
                <a:latin typeface="Times-Italic"/>
              </a:rPr>
              <a:t>y </a:t>
            </a:r>
            <a:r>
              <a:rPr lang="en-US" sz="2400" dirty="0">
                <a:latin typeface="Times-Roman"/>
              </a:rPr>
              <a:t>tells host 2 that this is an old duplicate.</a:t>
            </a:r>
            <a:endParaRPr lang="en-US" sz="2400" dirty="0"/>
          </a:p>
        </p:txBody>
      </p:sp>
      <p:grpSp>
        <p:nvGrpSpPr>
          <p:cNvPr id="14342" name="Group 1">
            <a:extLst>
              <a:ext uri="{FF2B5EF4-FFF2-40B4-BE49-F238E27FC236}">
                <a16:creationId xmlns:a16="http://schemas.microsoft.com/office/drawing/2014/main" id="{A4AB4118-EFBC-43D4-47D6-E58D92C183EF}"/>
              </a:ext>
            </a:extLst>
          </p:cNvPr>
          <p:cNvGrpSpPr>
            <a:grpSpLocks/>
          </p:cNvGrpSpPr>
          <p:nvPr/>
        </p:nvGrpSpPr>
        <p:grpSpPr bwMode="auto">
          <a:xfrm>
            <a:off x="493713" y="1143000"/>
            <a:ext cx="3776662" cy="3806825"/>
            <a:chOff x="493668" y="1143000"/>
            <a:chExt cx="3776384" cy="3806301"/>
          </a:xfrm>
        </p:grpSpPr>
        <p:grpSp>
          <p:nvGrpSpPr>
            <p:cNvPr id="14343" name="Group 3">
              <a:extLst>
                <a:ext uri="{FF2B5EF4-FFF2-40B4-BE49-F238E27FC236}">
                  <a16:creationId xmlns:a16="http://schemas.microsoft.com/office/drawing/2014/main" id="{4A0A53F2-10AF-5EEA-E3CF-BE03C27180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3668" y="1143000"/>
              <a:ext cx="3776384" cy="3806301"/>
              <a:chOff x="2797192" y="1191827"/>
              <a:chExt cx="3371850" cy="3562350"/>
            </a:xfrm>
          </p:grpSpPr>
          <p:pic>
            <p:nvPicPr>
              <p:cNvPr id="14345" name="Picture 2">
                <a:extLst>
                  <a:ext uri="{FF2B5EF4-FFF2-40B4-BE49-F238E27FC236}">
                    <a16:creationId xmlns:a16="http://schemas.microsoft.com/office/drawing/2014/main" id="{107902CD-A18B-E618-D04C-AA5B8EA690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97192" y="1191827"/>
                <a:ext cx="3371850" cy="356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46" name="Rectangle: Rounded Corners 2">
                <a:extLst>
                  <a:ext uri="{FF2B5EF4-FFF2-40B4-BE49-F238E27FC236}">
                    <a16:creationId xmlns:a16="http://schemas.microsoft.com/office/drawing/2014/main" id="{C200CF4A-6F92-CAFF-0C31-7FDACD4CDD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119324">
                <a:off x="4434303" y="3213717"/>
                <a:ext cx="830155" cy="275207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/>
              </a:p>
            </p:txBody>
          </p:sp>
        </p:grpSp>
        <p:sp>
          <p:nvSpPr>
            <p:cNvPr id="14344" name="Flowchart: Alternate Process 8">
              <a:extLst>
                <a:ext uri="{FF2B5EF4-FFF2-40B4-BE49-F238E27FC236}">
                  <a16:creationId xmlns:a16="http://schemas.microsoft.com/office/drawing/2014/main" id="{466333B6-5944-B6C9-1B04-0CC2669996E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34999">
              <a:off x="1715867" y="2430477"/>
              <a:ext cx="788607" cy="358170"/>
            </a:xfrm>
            <a:prstGeom prst="flowChartAlternateProcess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9D2FF46-6C03-4CCD-A7C0-19B6455AF5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Establishment</a:t>
            </a:r>
          </a:p>
        </p:txBody>
      </p:sp>
      <p:grpSp>
        <p:nvGrpSpPr>
          <p:cNvPr id="15363" name="Group 13">
            <a:extLst>
              <a:ext uri="{FF2B5EF4-FFF2-40B4-BE49-F238E27FC236}">
                <a16:creationId xmlns:a16="http://schemas.microsoft.com/office/drawing/2014/main" id="{9D6EC2A8-2E37-2E7D-0059-4F2F3D106A01}"/>
              </a:ext>
            </a:extLst>
          </p:cNvPr>
          <p:cNvGrpSpPr>
            <a:grpSpLocks/>
          </p:cNvGrpSpPr>
          <p:nvPr/>
        </p:nvGrpSpPr>
        <p:grpSpPr bwMode="auto">
          <a:xfrm>
            <a:off x="6257925" y="1649413"/>
            <a:ext cx="2530475" cy="2708275"/>
            <a:chOff x="493668" y="1143000"/>
            <a:chExt cx="3776384" cy="3806301"/>
          </a:xfrm>
        </p:grpSpPr>
        <p:grpSp>
          <p:nvGrpSpPr>
            <p:cNvPr id="15379" name="Group 14">
              <a:extLst>
                <a:ext uri="{FF2B5EF4-FFF2-40B4-BE49-F238E27FC236}">
                  <a16:creationId xmlns:a16="http://schemas.microsoft.com/office/drawing/2014/main" id="{BEBF8012-00F0-DD3F-8EEB-49451B9FD1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3668" y="1143000"/>
              <a:ext cx="3776384" cy="3806301"/>
              <a:chOff x="2797192" y="1191827"/>
              <a:chExt cx="3371850" cy="3562350"/>
            </a:xfrm>
          </p:grpSpPr>
          <p:pic>
            <p:nvPicPr>
              <p:cNvPr id="15381" name="Picture 2">
                <a:extLst>
                  <a:ext uri="{FF2B5EF4-FFF2-40B4-BE49-F238E27FC236}">
                    <a16:creationId xmlns:a16="http://schemas.microsoft.com/office/drawing/2014/main" id="{1FD3A161-DD40-51F2-8088-A678B58D80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97192" y="1191827"/>
                <a:ext cx="3371850" cy="3562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382" name="Rectangle: Rounded Corners 17">
                <a:extLst>
                  <a:ext uri="{FF2B5EF4-FFF2-40B4-BE49-F238E27FC236}">
                    <a16:creationId xmlns:a16="http://schemas.microsoft.com/office/drawing/2014/main" id="{D7A3ABD3-3E01-1AE6-C225-B04C09495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119324">
                <a:off x="4434303" y="3213717"/>
                <a:ext cx="830155" cy="275207"/>
              </a:xfrm>
              <a:prstGeom prst="roundRect">
                <a:avLst>
                  <a:gd name="adj" fmla="val 16667"/>
                </a:avLst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en-US"/>
              </a:p>
            </p:txBody>
          </p:sp>
        </p:grpSp>
        <p:sp>
          <p:nvSpPr>
            <p:cNvPr id="15380" name="Flowchart: Alternate Process 15">
              <a:extLst>
                <a:ext uri="{FF2B5EF4-FFF2-40B4-BE49-F238E27FC236}">
                  <a16:creationId xmlns:a16="http://schemas.microsoft.com/office/drawing/2014/main" id="{46635438-BD46-9291-526C-4C92CB51A3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34999">
              <a:off x="1715867" y="2430477"/>
              <a:ext cx="788607" cy="358170"/>
            </a:xfrm>
            <a:prstGeom prst="flowChartAlternateProcess">
              <a:avLst/>
            </a:prstGeom>
            <a:noFill/>
            <a:ln w="285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</p:grpSp>
      <p:grpSp>
        <p:nvGrpSpPr>
          <p:cNvPr id="15364" name="Group 26">
            <a:extLst>
              <a:ext uri="{FF2B5EF4-FFF2-40B4-BE49-F238E27FC236}">
                <a16:creationId xmlns:a16="http://schemas.microsoft.com/office/drawing/2014/main" id="{51908A81-6EBD-89E3-3B8B-49BD306E04EB}"/>
              </a:ext>
            </a:extLst>
          </p:cNvPr>
          <p:cNvGrpSpPr>
            <a:grpSpLocks/>
          </p:cNvGrpSpPr>
          <p:nvPr/>
        </p:nvGrpSpPr>
        <p:grpSpPr bwMode="auto">
          <a:xfrm>
            <a:off x="3286125" y="1533525"/>
            <a:ext cx="2593975" cy="2708275"/>
            <a:chOff x="3286619" y="1532962"/>
            <a:chExt cx="2593483" cy="2708429"/>
          </a:xfrm>
        </p:grpSpPr>
        <p:pic>
          <p:nvPicPr>
            <p:cNvPr id="15375" name="Picture 2">
              <a:extLst>
                <a:ext uri="{FF2B5EF4-FFF2-40B4-BE49-F238E27FC236}">
                  <a16:creationId xmlns:a16="http://schemas.microsoft.com/office/drawing/2014/main" id="{4015B3A9-C10F-2D9A-20D8-B06F73E6B6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619" y="1532962"/>
              <a:ext cx="2593483" cy="2708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6" name="Rectangle: Rounded Corners 18">
              <a:extLst>
                <a:ext uri="{FF2B5EF4-FFF2-40B4-BE49-F238E27FC236}">
                  <a16:creationId xmlns:a16="http://schemas.microsoft.com/office/drawing/2014/main" id="{87A526D8-8FD7-C25E-1116-4ECD122B34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74292">
              <a:off x="4236458" y="2791549"/>
              <a:ext cx="489310" cy="26510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5377" name="Flowchart: Alternate Process 21">
              <a:extLst>
                <a:ext uri="{FF2B5EF4-FFF2-40B4-BE49-F238E27FC236}">
                  <a16:creationId xmlns:a16="http://schemas.microsoft.com/office/drawing/2014/main" id="{F60E1B88-E91A-EE68-75A3-0F300719D3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87806">
              <a:off x="4799367" y="2103483"/>
              <a:ext cx="524960" cy="245518"/>
            </a:xfrm>
            <a:prstGeom prst="flowChartAlternateProcess">
              <a:avLst/>
            </a:prstGeom>
            <a:noFill/>
            <a:ln w="19050" algn="ctr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5378" name="Flowchart: Alternate Process 23">
              <a:extLst>
                <a:ext uri="{FF2B5EF4-FFF2-40B4-BE49-F238E27FC236}">
                  <a16:creationId xmlns:a16="http://schemas.microsoft.com/office/drawing/2014/main" id="{5C342528-37CA-08A5-EF7F-47018AB2FA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07462">
              <a:off x="4727697" y="2612018"/>
              <a:ext cx="524960" cy="245518"/>
            </a:xfrm>
            <a:prstGeom prst="flowChartAlternateProcess">
              <a:avLst/>
            </a:prstGeom>
            <a:noFill/>
            <a:ln w="19050" algn="ctr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</p:grpSp>
      <p:sp>
        <p:nvSpPr>
          <p:cNvPr id="15365" name="Flowchart: Alternate Process 24">
            <a:extLst>
              <a:ext uri="{FF2B5EF4-FFF2-40B4-BE49-F238E27FC236}">
                <a16:creationId xmlns:a16="http://schemas.microsoft.com/office/drawing/2014/main" id="{532319BE-B084-599F-96C3-AEF523B0B8AC}"/>
              </a:ext>
            </a:extLst>
          </p:cNvPr>
          <p:cNvSpPr>
            <a:spLocks noChangeArrowheads="1"/>
          </p:cNvSpPr>
          <p:nvPr/>
        </p:nvSpPr>
        <p:spPr bwMode="auto">
          <a:xfrm rot="-1207462">
            <a:off x="7575550" y="2346325"/>
            <a:ext cx="525463" cy="246063"/>
          </a:xfrm>
          <a:prstGeom prst="flowChartAlternateProcess">
            <a:avLst/>
          </a:prstGeom>
          <a:noFill/>
          <a:ln w="19050" algn="ctr">
            <a:solidFill>
              <a:srgbClr val="92D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15366" name="Flowchart: Alternate Process 25">
            <a:extLst>
              <a:ext uri="{FF2B5EF4-FFF2-40B4-BE49-F238E27FC236}">
                <a16:creationId xmlns:a16="http://schemas.microsoft.com/office/drawing/2014/main" id="{C3F06799-0378-3000-BE7E-45E06C883BEC}"/>
              </a:ext>
            </a:extLst>
          </p:cNvPr>
          <p:cNvSpPr>
            <a:spLocks noChangeArrowheads="1"/>
          </p:cNvSpPr>
          <p:nvPr/>
        </p:nvSpPr>
        <p:spPr bwMode="auto">
          <a:xfrm rot="-9815922">
            <a:off x="7824788" y="1935163"/>
            <a:ext cx="523875" cy="246062"/>
          </a:xfrm>
          <a:prstGeom prst="flowChartAlternateProcess">
            <a:avLst/>
          </a:prstGeom>
          <a:noFill/>
          <a:ln w="19050" algn="ctr">
            <a:solidFill>
              <a:srgbClr val="92D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grpSp>
        <p:nvGrpSpPr>
          <p:cNvPr id="15367" name="Group 29">
            <a:extLst>
              <a:ext uri="{FF2B5EF4-FFF2-40B4-BE49-F238E27FC236}">
                <a16:creationId xmlns:a16="http://schemas.microsoft.com/office/drawing/2014/main" id="{3B390C93-8AC2-982D-BF45-CFA706E2E89D}"/>
              </a:ext>
            </a:extLst>
          </p:cNvPr>
          <p:cNvGrpSpPr>
            <a:grpSpLocks/>
          </p:cNvGrpSpPr>
          <p:nvPr/>
        </p:nvGrpSpPr>
        <p:grpSpPr bwMode="auto">
          <a:xfrm>
            <a:off x="111125" y="1517650"/>
            <a:ext cx="2797175" cy="2646363"/>
            <a:chOff x="110556" y="1518224"/>
            <a:chExt cx="2797834" cy="2646285"/>
          </a:xfrm>
        </p:grpSpPr>
        <p:pic>
          <p:nvPicPr>
            <p:cNvPr id="15370" name="Picture 2">
              <a:extLst>
                <a:ext uri="{FF2B5EF4-FFF2-40B4-BE49-F238E27FC236}">
                  <a16:creationId xmlns:a16="http://schemas.microsoft.com/office/drawing/2014/main" id="{9161E4B0-467F-E7AE-D8F6-DF3D77D456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556" y="1518224"/>
              <a:ext cx="2797834" cy="2646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1" name="Rectangle: Rounded Corners 19">
              <a:extLst>
                <a:ext uri="{FF2B5EF4-FFF2-40B4-BE49-F238E27FC236}">
                  <a16:creationId xmlns:a16="http://schemas.microsoft.com/office/drawing/2014/main" id="{10C9322B-2AEC-F2E3-D20E-62249D64720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74292">
              <a:off x="1216224" y="2768969"/>
              <a:ext cx="441960" cy="26510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5372" name="Flowchart: Alternate Process 20">
              <a:extLst>
                <a:ext uri="{FF2B5EF4-FFF2-40B4-BE49-F238E27FC236}">
                  <a16:creationId xmlns:a16="http://schemas.microsoft.com/office/drawing/2014/main" id="{5612A23E-EAD1-532B-F749-85CFFFACDA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97193">
              <a:off x="1197586" y="2020351"/>
              <a:ext cx="524960" cy="245518"/>
            </a:xfrm>
            <a:prstGeom prst="flowChartAlternateProcess">
              <a:avLst/>
            </a:prstGeom>
            <a:noFill/>
            <a:ln w="19050" algn="ctr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5373" name="Flowchart: Alternate Process 22">
              <a:extLst>
                <a:ext uri="{FF2B5EF4-FFF2-40B4-BE49-F238E27FC236}">
                  <a16:creationId xmlns:a16="http://schemas.microsoft.com/office/drawing/2014/main" id="{83C88CD0-83AA-FC35-E38B-BC048322D7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13857">
              <a:off x="1678869" y="2594491"/>
              <a:ext cx="524960" cy="245518"/>
            </a:xfrm>
            <a:prstGeom prst="flowChartAlternateProcess">
              <a:avLst/>
            </a:prstGeom>
            <a:noFill/>
            <a:ln w="19050" algn="ctr">
              <a:solidFill>
                <a:srgbClr val="92D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  <p:sp>
          <p:nvSpPr>
            <p:cNvPr id="15374" name="Rectangle: Rounded Corners 27">
              <a:extLst>
                <a:ext uri="{FF2B5EF4-FFF2-40B4-BE49-F238E27FC236}">
                  <a16:creationId xmlns:a16="http://schemas.microsoft.com/office/drawing/2014/main" id="{6A078BCE-DC73-5189-FD25-222B0D669D6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02725">
              <a:off x="1716127" y="3698977"/>
              <a:ext cx="559146" cy="26510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C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/>
            </a:p>
          </p:txBody>
        </p:sp>
      </p:grpSp>
      <p:sp>
        <p:nvSpPr>
          <p:cNvPr id="15368" name="Rectangle: Rounded Corners 28">
            <a:extLst>
              <a:ext uri="{FF2B5EF4-FFF2-40B4-BE49-F238E27FC236}">
                <a16:creationId xmlns:a16="http://schemas.microsoft.com/office/drawing/2014/main" id="{9712A0FB-EA9C-6EFD-3B08-48B227FCDFF9}"/>
              </a:ext>
            </a:extLst>
          </p:cNvPr>
          <p:cNvSpPr>
            <a:spLocks noChangeArrowheads="1"/>
          </p:cNvSpPr>
          <p:nvPr/>
        </p:nvSpPr>
        <p:spPr bwMode="auto">
          <a:xfrm rot="822086">
            <a:off x="4806950" y="3698875"/>
            <a:ext cx="558800" cy="265113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pic>
        <p:nvPicPr>
          <p:cNvPr id="15369" name="Graphic 33" descr="Line arrow Counter clockwise curve">
            <a:extLst>
              <a:ext uri="{FF2B5EF4-FFF2-40B4-BE49-F238E27FC236}">
                <a16:creationId xmlns:a16="http://schemas.microsoft.com/office/drawing/2014/main" id="{49C7AE98-FCC9-5482-8FAA-25849A567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862359" flipH="1">
            <a:off x="1408906" y="1794669"/>
            <a:ext cx="1165225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5A3A162-1547-2B9E-9DE8-BCC5B79B3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Release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B5EE3A-0A99-0394-01C0-B41516B0378F}"/>
              </a:ext>
            </a:extLst>
          </p:cNvPr>
          <p:cNvSpPr txBox="1"/>
          <p:nvPr/>
        </p:nvSpPr>
        <p:spPr>
          <a:xfrm>
            <a:off x="677333" y="1252835"/>
            <a:ext cx="7789333" cy="470898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400" dirty="0">
                <a:latin typeface="Times-Roman"/>
              </a:rPr>
              <a:t>There are two styles of terminating a connection: 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latin typeface="Times-Roman"/>
              </a:rPr>
              <a:t>Asymmetric release and 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r>
              <a:rPr lang="en-US" sz="2400" dirty="0">
                <a:latin typeface="Times-Roman"/>
              </a:rPr>
              <a:t>symmetric release.</a:t>
            </a:r>
          </a:p>
          <a:p>
            <a:pPr marL="742950" lvl="1" indent="-285750" algn="just">
              <a:buFont typeface="Wingdings" panose="05000000000000000000" pitchFamily="2" charset="2"/>
              <a:buChar char="q"/>
              <a:defRPr/>
            </a:pPr>
            <a:endParaRPr lang="en-US" sz="2000" dirty="0">
              <a:latin typeface="Times-Roman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latin typeface="Times-Roman"/>
              </a:rPr>
              <a:t>Asymmetric release </a:t>
            </a:r>
            <a:r>
              <a:rPr lang="en-US" sz="2000" dirty="0">
                <a:latin typeface="Times-Roman"/>
              </a:rPr>
              <a:t>is the way the telephone system works: when one party hangs up, the connection is broken.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-Roman"/>
              </a:rPr>
              <a:t>Asymmetric release is abrupt and may result in data loss.</a:t>
            </a:r>
          </a:p>
          <a:p>
            <a:pPr marL="285750" indent="-285750" algn="just">
              <a:buFont typeface="Wingdings" panose="05000000000000000000" pitchFamily="2" charset="2"/>
              <a:buChar char="Ø"/>
              <a:defRPr/>
            </a:pPr>
            <a:r>
              <a:rPr lang="en-US" sz="2400" b="1" dirty="0">
                <a:highlight>
                  <a:srgbClr val="FFFF00"/>
                </a:highlight>
                <a:latin typeface="Times-Roman"/>
              </a:rPr>
              <a:t>Symmetric release </a:t>
            </a:r>
            <a:r>
              <a:rPr lang="en-US" sz="2000" dirty="0">
                <a:latin typeface="Times-Roman"/>
              </a:rPr>
              <a:t>treats the connection as two separate unidirectional connections and </a:t>
            </a:r>
            <a:r>
              <a:rPr lang="en-US" sz="2000" dirty="0">
                <a:highlight>
                  <a:srgbClr val="FFFF00"/>
                </a:highlight>
                <a:latin typeface="Times-Roman"/>
              </a:rPr>
              <a:t>requires each one to be released separately</a:t>
            </a:r>
            <a:r>
              <a:rPr lang="en-US" sz="2000" dirty="0">
                <a:latin typeface="Times-Roman"/>
              </a:rPr>
              <a:t>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-Roman"/>
              </a:rPr>
              <a:t>Each direction is released independently of the other one.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highlight>
                  <a:srgbClr val="00FFFF"/>
                </a:highlight>
                <a:latin typeface="Times-Roman"/>
              </a:rPr>
              <a:t>Here, a host can continue to receive data even after it has sent a DISCONNECT segment.</a:t>
            </a:r>
          </a:p>
          <a:p>
            <a:pPr>
              <a:defRPr/>
            </a:pPr>
            <a:endParaRPr lang="en-US" sz="2000" dirty="0">
              <a:latin typeface="Times-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B50D7EC-5F2F-B8D6-3B00-E7FBF6F612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Release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24EF176-65F8-78A1-ED56-308C698805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5715000"/>
            <a:ext cx="8856662" cy="838200"/>
          </a:xfrm>
        </p:spPr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lang="en-US" altLang="en-US" dirty="0">
                <a:latin typeface="+mn-lt"/>
              </a:rPr>
              <a:t>Abrupt disconnection with loss of data</a:t>
            </a:r>
          </a:p>
        </p:txBody>
      </p:sp>
      <p:pic>
        <p:nvPicPr>
          <p:cNvPr id="17412" name="Picture 2">
            <a:extLst>
              <a:ext uri="{FF2B5EF4-FFF2-40B4-BE49-F238E27FC236}">
                <a16:creationId xmlns:a16="http://schemas.microsoft.com/office/drawing/2014/main" id="{087B2164-7282-0AF8-61A9-47B14F715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1693863"/>
            <a:ext cx="3838575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TextBox 2">
            <a:extLst>
              <a:ext uri="{FF2B5EF4-FFF2-40B4-BE49-F238E27FC236}">
                <a16:creationId xmlns:a16="http://schemas.microsoft.com/office/drawing/2014/main" id="{AB7B1707-3647-EEAF-8649-BCF2DB566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5313" y="1073150"/>
            <a:ext cx="3355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800">
                <a:solidFill>
                  <a:srgbClr val="FF0000"/>
                </a:solidFill>
                <a:latin typeface="Times-Roman"/>
              </a:rPr>
              <a:t>Asymmetric release </a:t>
            </a:r>
            <a:endParaRPr lang="en-US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B233295-7F9B-9CD9-5A69-C83FCE292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28663"/>
          </a:xfrm>
        </p:spPr>
        <p:txBody>
          <a:bodyPr/>
          <a:lstStyle/>
          <a:p>
            <a:r>
              <a:rPr lang="en-US" altLang="en-US"/>
              <a:t>Connection Release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E4C0522A-968C-C47F-45E5-92207F105F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027738"/>
            <a:ext cx="9144000" cy="56832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/>
              <a:t>The two-army problem</a:t>
            </a:r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E65E4541-D143-E48D-13CE-FE0CD6920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3079750"/>
            <a:ext cx="7529512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Box 2">
            <a:extLst>
              <a:ext uri="{FF2B5EF4-FFF2-40B4-BE49-F238E27FC236}">
                <a16:creationId xmlns:a16="http://schemas.microsoft.com/office/drawing/2014/main" id="{A973CD88-2E25-2FBF-DEF1-F73873BBDB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609600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-Roman"/>
              </a:rPr>
              <a:t>Symmetric release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71728-26EB-FDB9-24B9-11339D83C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1171575"/>
            <a:ext cx="7743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>
                <a:latin typeface="Times-Roman"/>
              </a:rPr>
              <a:t>Two blue armies want to synchronize their attacks to defeat White army.</a:t>
            </a:r>
          </a:p>
          <a:p>
            <a:pPr algn="ctr"/>
            <a:r>
              <a:rPr lang="en-US" altLang="en-US" sz="2000" b="1">
                <a:latin typeface="Times-Roman"/>
              </a:rPr>
              <a:t>The question is: </a:t>
            </a:r>
            <a:r>
              <a:rPr lang="en-US" altLang="en-US" sz="2000">
                <a:latin typeface="Times-Roman"/>
              </a:rPr>
              <a:t>does a protocol exist that allows the blue armies to win?</a:t>
            </a:r>
            <a:endParaRPr lang="en-US" altLang="en-US" sz="2000"/>
          </a:p>
        </p:txBody>
      </p:sp>
      <p:pic>
        <p:nvPicPr>
          <p:cNvPr id="7" name="Graphic 6" descr="Crawl">
            <a:extLst>
              <a:ext uri="{FF2B5EF4-FFF2-40B4-BE49-F238E27FC236}">
                <a16:creationId xmlns:a16="http://schemas.microsoft.com/office/drawing/2014/main" id="{958CC680-AC72-9DAB-0309-38A65B529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17715">
            <a:off x="2055813" y="4256088"/>
            <a:ext cx="847725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1E6C66E7-12C2-849C-3287-BE142061016F}"/>
              </a:ext>
            </a:extLst>
          </p:cNvPr>
          <p:cNvSpPr>
            <a:spLocks noChangeArrowheads="1"/>
          </p:cNvSpPr>
          <p:nvPr/>
        </p:nvSpPr>
        <p:spPr bwMode="auto">
          <a:xfrm rot="488850">
            <a:off x="2101850" y="3475038"/>
            <a:ext cx="2074863" cy="1131887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-Roman"/>
              </a:rPr>
              <a:t>‘‘I propose we attack at dawn on March 29. How about it?’’</a:t>
            </a:r>
            <a:endParaRPr lang="en-US" altLang="en-US"/>
          </a:p>
          <a:p>
            <a:pPr algn="ctr" eaLnBrk="1" hangingPunct="1"/>
            <a:endParaRPr lang="en-US" altLang="en-US"/>
          </a:p>
        </p:txBody>
      </p:sp>
      <p:pic>
        <p:nvPicPr>
          <p:cNvPr id="13" name="Graphic 12" descr="Crawl">
            <a:extLst>
              <a:ext uri="{FF2B5EF4-FFF2-40B4-BE49-F238E27FC236}">
                <a16:creationId xmlns:a16="http://schemas.microsoft.com/office/drawing/2014/main" id="{7F426F4A-6EF4-6703-188D-C9ABBD25C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186875" flipH="1">
            <a:off x="6010275" y="4449763"/>
            <a:ext cx="785813" cy="84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6C45531E-CD99-D807-E742-949D311721DF}"/>
              </a:ext>
            </a:extLst>
          </p:cNvPr>
          <p:cNvSpPr>
            <a:spLocks noChangeArrowheads="1"/>
          </p:cNvSpPr>
          <p:nvPr/>
        </p:nvSpPr>
        <p:spPr bwMode="auto">
          <a:xfrm rot="-1286961">
            <a:off x="5499100" y="3884613"/>
            <a:ext cx="1457325" cy="752475"/>
          </a:xfrm>
          <a:prstGeom prst="wedgeRect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>
                <a:latin typeface="Times-Roman"/>
              </a:rPr>
              <a:t>‘‘I Agree”</a:t>
            </a:r>
          </a:p>
          <a:p>
            <a:pPr algn="ctr" eaLnBrk="1" hangingPunct="1"/>
            <a:r>
              <a:rPr lang="en-US" altLang="en-US">
                <a:latin typeface="Times-Roman"/>
              </a:rPr>
              <a:t>-Blue Army 2</a:t>
            </a:r>
            <a:endParaRPr lang="en-US" altLang="en-US"/>
          </a:p>
          <a:p>
            <a:pPr algn="ctr" eaLnBrk="1" hangingPunct="1"/>
            <a:endParaRPr lang="en-US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86E852-85E1-1CD1-4948-7D692C6D326B}"/>
              </a:ext>
            </a:extLst>
          </p:cNvPr>
          <p:cNvSpPr txBox="1"/>
          <p:nvPr/>
        </p:nvSpPr>
        <p:spPr>
          <a:xfrm>
            <a:off x="2905125" y="2097088"/>
            <a:ext cx="4011613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-Roman"/>
              </a:rPr>
              <a:t>Will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-Roman"/>
              </a:rPr>
              <a:t> the attack happen?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4" grpId="0" animBg="1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4F93A7E-EB7F-9C6F-8424-5F402DE82D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28663"/>
          </a:xfrm>
        </p:spPr>
        <p:txBody>
          <a:bodyPr/>
          <a:lstStyle/>
          <a:p>
            <a:r>
              <a:rPr lang="en-US" altLang="en-US"/>
              <a:t>Connection Release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78176A70-343C-FF49-7D00-162AA9728C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6027738"/>
            <a:ext cx="9144000" cy="56832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/>
              <a:t>The two-army problem</a:t>
            </a:r>
          </a:p>
        </p:txBody>
      </p:sp>
      <p:pic>
        <p:nvPicPr>
          <p:cNvPr id="19460" name="Picture 2">
            <a:extLst>
              <a:ext uri="{FF2B5EF4-FFF2-40B4-BE49-F238E27FC236}">
                <a16:creationId xmlns:a16="http://schemas.microsoft.com/office/drawing/2014/main" id="{58232DBC-3336-3D4E-E1E5-6C9F6EC7E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959225"/>
            <a:ext cx="737235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2">
            <a:extLst>
              <a:ext uri="{FF2B5EF4-FFF2-40B4-BE49-F238E27FC236}">
                <a16:creationId xmlns:a16="http://schemas.microsoft.com/office/drawing/2014/main" id="{8E2EF16E-711D-49BC-C55A-F00976B1A5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609600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-Roman"/>
              </a:rPr>
              <a:t>Symmetric release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656A2-D57D-3ABC-A2D5-A0FAB906A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7738" y="1069975"/>
            <a:ext cx="7743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 b="1">
                <a:latin typeface="Times-Roman"/>
              </a:rPr>
              <a:t>The question is: </a:t>
            </a:r>
            <a:r>
              <a:rPr lang="en-US" altLang="en-US" sz="2000">
                <a:latin typeface="Times-Roman"/>
              </a:rPr>
              <a:t>does a protocol exist that allows the blue armies to win?</a:t>
            </a:r>
            <a:endParaRPr lang="en-US" alt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8AE3D1-CAC5-B763-5CC2-D2954B1D578C}"/>
              </a:ext>
            </a:extLst>
          </p:cNvPr>
          <p:cNvSpPr txBox="1"/>
          <p:nvPr/>
        </p:nvSpPr>
        <p:spPr>
          <a:xfrm>
            <a:off x="2565400" y="1389063"/>
            <a:ext cx="401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-Roman"/>
              </a:rPr>
              <a:t>Will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-Roman"/>
              </a:rPr>
              <a:t> the attack happen?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680AF5-F684-F0D3-C48C-FFE08E3208DF}"/>
              </a:ext>
            </a:extLst>
          </p:cNvPr>
          <p:cNvSpPr txBox="1"/>
          <p:nvPr/>
        </p:nvSpPr>
        <p:spPr>
          <a:xfrm>
            <a:off x="616743" y="1913929"/>
            <a:ext cx="7910513" cy="156966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000" dirty="0">
                <a:latin typeface="Times-Roman"/>
              </a:rPr>
              <a:t>let us improve the protocol by making it a three-way handshake. Assuming no messages are lost</a:t>
            </a:r>
            <a:r>
              <a:rPr lang="en-US" sz="2000" b="1" dirty="0">
                <a:latin typeface="Times-Roman"/>
              </a:rPr>
              <a:t>, blue army #2 will get the acknowledgement</a:t>
            </a:r>
            <a:r>
              <a:rPr lang="en-US" sz="2000" dirty="0">
                <a:latin typeface="Times-Roman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highlight>
                  <a:srgbClr val="00FFFF"/>
                </a:highlight>
                <a:latin typeface="Times-Roman"/>
              </a:rPr>
              <a:t>But the commander of blue army #1 will now hesitate. </a:t>
            </a:r>
          </a:p>
          <a:p>
            <a:pPr marL="342900" indent="-342900" algn="just">
              <a:buFont typeface="Wingdings" panose="05000000000000000000" pitchFamily="2" charset="2"/>
              <a:buChar char="Ø"/>
              <a:defRPr/>
            </a:pPr>
            <a:r>
              <a:rPr lang="en-US" dirty="0">
                <a:latin typeface="Times-Roman"/>
              </a:rPr>
              <a:t>After all, he does not know if his acknowledgement got through, and if it did not, he knows that blue army #2 will not attack.</a:t>
            </a:r>
            <a:endParaRPr lang="en-US" sz="2000" dirty="0">
              <a:highlight>
                <a:srgbClr val="00FFFF"/>
              </a:highlight>
            </a:endParaRPr>
          </a:p>
        </p:txBody>
      </p:sp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530F1CF3-DAC8-4A1D-E4EE-A6405C219665}"/>
              </a:ext>
            </a:extLst>
          </p:cNvPr>
          <p:cNvSpPr/>
          <p:nvPr/>
        </p:nvSpPr>
        <p:spPr bwMode="auto">
          <a:xfrm>
            <a:off x="2035541" y="4517927"/>
            <a:ext cx="1346892" cy="567268"/>
          </a:xfrm>
          <a:prstGeom prst="wedgeRectCallout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1400" dirty="0">
                <a:latin typeface="Times-Roman"/>
              </a:rPr>
              <a:t>ACK(‘‘I A</a:t>
            </a:r>
            <a:r>
              <a:rPr lang="en-US" sz="1400" dirty="0">
                <a:highlight>
                  <a:srgbClr val="00FFFF"/>
                </a:highlight>
                <a:latin typeface="Times-Roman"/>
              </a:rPr>
              <a:t>g</a:t>
            </a:r>
            <a:r>
              <a:rPr lang="en-US" sz="1400" dirty="0">
                <a:latin typeface="Times-Roman"/>
              </a:rPr>
              <a:t>ree”</a:t>
            </a:r>
          </a:p>
          <a:p>
            <a:pPr algn="ctr" eaLnBrk="1" hangingPunct="1">
              <a:defRPr/>
            </a:pPr>
            <a:r>
              <a:rPr lang="en-US" sz="1400" dirty="0">
                <a:latin typeface="Times-Roman"/>
              </a:rPr>
              <a:t>-Blue Army 2)</a:t>
            </a:r>
            <a:endParaRPr lang="en-US" sz="1400" dirty="0"/>
          </a:p>
          <a:p>
            <a:pPr algn="ctr" eaLnBrk="1" hangingPunct="1">
              <a:defRPr/>
            </a:pPr>
            <a:endParaRPr lang="en-US" sz="1400" dirty="0">
              <a:latin typeface="Arial" charset="0"/>
            </a:endParaRP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C659AC3F-58B4-CBAE-6B5E-7F446AC34AE6}"/>
              </a:ext>
            </a:extLst>
          </p:cNvPr>
          <p:cNvSpPr/>
          <p:nvPr/>
        </p:nvSpPr>
        <p:spPr bwMode="auto">
          <a:xfrm>
            <a:off x="1590675" y="3429000"/>
            <a:ext cx="1685925" cy="857250"/>
          </a:xfrm>
          <a:prstGeom prst="cloudCallout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1400" dirty="0">
                <a:latin typeface="+mn-lt"/>
              </a:rPr>
              <a:t>Did my ack get through?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65 0.03472 L 0.09392 0.11181 C 0.12396 0.12917 0.16945 0.13889 0.21649 0.13889 C 0.27031 0.13889 0.31337 0.12917 0.34306 0.11181 L 0.4882 0.03472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92" y="5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6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9584A0A-9FFE-EBBE-8C9B-C9B4D6BC3A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28663"/>
          </a:xfrm>
        </p:spPr>
        <p:txBody>
          <a:bodyPr/>
          <a:lstStyle/>
          <a:p>
            <a:r>
              <a:rPr lang="en-US" altLang="en-US"/>
              <a:t>Connection Release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DA73ACFF-7E84-A244-5166-2FF59E62E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738" y="3927475"/>
            <a:ext cx="7372350" cy="213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4" name="TextBox 2">
            <a:extLst>
              <a:ext uri="{FF2B5EF4-FFF2-40B4-BE49-F238E27FC236}">
                <a16:creationId xmlns:a16="http://schemas.microsoft.com/office/drawing/2014/main" id="{41038FAC-378E-8DF1-136E-21B3215D5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609600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-Roman"/>
              </a:rPr>
              <a:t>Symmetric release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20485" name="TextBox 4">
            <a:extLst>
              <a:ext uri="{FF2B5EF4-FFF2-40B4-BE49-F238E27FC236}">
                <a16:creationId xmlns:a16="http://schemas.microsoft.com/office/drawing/2014/main" id="{F46355F2-0A07-5167-BB52-205C9EB74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8" y="1006475"/>
            <a:ext cx="7743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000" b="1">
                <a:latin typeface="Times-Roman"/>
              </a:rPr>
              <a:t>The question is: </a:t>
            </a:r>
            <a:r>
              <a:rPr lang="en-US" altLang="en-US" sz="2000">
                <a:latin typeface="Times-Roman"/>
              </a:rPr>
              <a:t>does a protocol exist that allows the blue armies to win?</a:t>
            </a:r>
            <a:endParaRPr lang="en-US" alt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4E9C24-3C2C-5A49-9C64-EFEA8B23270E}"/>
              </a:ext>
            </a:extLst>
          </p:cNvPr>
          <p:cNvSpPr txBox="1"/>
          <p:nvPr/>
        </p:nvSpPr>
        <p:spPr>
          <a:xfrm>
            <a:off x="2565400" y="1389063"/>
            <a:ext cx="401320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Times-Roman"/>
              </a:rPr>
              <a:t>Will</a:t>
            </a: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latin typeface="Times-Roman"/>
              </a:rPr>
              <a:t> the attack happen?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FC51E7-D279-FEE7-89BB-ABF0897723D2}"/>
              </a:ext>
            </a:extLst>
          </p:cNvPr>
          <p:cNvSpPr txBox="1"/>
          <p:nvPr/>
        </p:nvSpPr>
        <p:spPr>
          <a:xfrm>
            <a:off x="947738" y="1960563"/>
            <a:ext cx="7910512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We could now make a four-way handshake protocol, but that does not help either.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F867195A-79CB-B8E5-1071-3F3285D8BA04}"/>
              </a:ext>
            </a:extLst>
          </p:cNvPr>
          <p:cNvSpPr/>
          <p:nvPr/>
        </p:nvSpPr>
        <p:spPr bwMode="auto">
          <a:xfrm>
            <a:off x="6734175" y="3311525"/>
            <a:ext cx="1685925" cy="857250"/>
          </a:xfrm>
          <a:prstGeom prst="cloudCallout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1400" dirty="0">
                <a:latin typeface="+mn-lt"/>
              </a:rPr>
              <a:t>Did my ack get through?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9B5791C4-0EE7-BC5B-5325-C0B4A8D42608}"/>
              </a:ext>
            </a:extLst>
          </p:cNvPr>
          <p:cNvSpPr/>
          <p:nvPr/>
        </p:nvSpPr>
        <p:spPr bwMode="auto">
          <a:xfrm>
            <a:off x="6511233" y="4612328"/>
            <a:ext cx="1346892" cy="707234"/>
          </a:xfrm>
          <a:prstGeom prst="wedgeRectCallout">
            <a:avLst/>
          </a:prstGeom>
          <a:solidFill>
            <a:srgbClr val="00FF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1400" dirty="0">
                <a:latin typeface="Times-Roman"/>
              </a:rPr>
              <a:t>ACK(ACK(‘‘I A</a:t>
            </a:r>
            <a:r>
              <a:rPr lang="en-US" sz="1400" dirty="0">
                <a:highlight>
                  <a:srgbClr val="00FFFF"/>
                </a:highlight>
                <a:latin typeface="Times-Roman"/>
              </a:rPr>
              <a:t>g</a:t>
            </a:r>
            <a:r>
              <a:rPr lang="en-US" sz="1400" dirty="0">
                <a:latin typeface="Times-Roman"/>
              </a:rPr>
              <a:t>ree”</a:t>
            </a:r>
          </a:p>
          <a:p>
            <a:pPr algn="ctr" eaLnBrk="1" hangingPunct="1">
              <a:defRPr/>
            </a:pPr>
            <a:r>
              <a:rPr lang="en-US" sz="1400" dirty="0">
                <a:latin typeface="Times-Roman"/>
              </a:rPr>
              <a:t>-Blue Army 2))</a:t>
            </a:r>
            <a:endParaRPr lang="en-US" sz="1400" dirty="0"/>
          </a:p>
          <a:p>
            <a:pPr algn="ctr" eaLnBrk="1" hangingPunct="1">
              <a:defRPr/>
            </a:pPr>
            <a:endParaRPr lang="en-US" sz="1400" dirty="0">
              <a:latin typeface="Arial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FAA5BF-872F-6F80-5277-9F063C66E5BC}"/>
              </a:ext>
            </a:extLst>
          </p:cNvPr>
          <p:cNvSpPr txBox="1"/>
          <p:nvPr/>
        </p:nvSpPr>
        <p:spPr>
          <a:xfrm>
            <a:off x="2162175" y="2867006"/>
            <a:ext cx="4572000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n-lt"/>
              </a:rPr>
              <a:t>In fact, it can be proven that no protocol exists that works.</a:t>
            </a:r>
            <a:endParaRPr lang="en-US" sz="2400" dirty="0">
              <a:highlight>
                <a:srgbClr val="00FFFF"/>
              </a:highlight>
              <a:latin typeface="+mn-lt"/>
            </a:endParaRP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D6959F6-E347-B73D-3D48-16D19D86EC3E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04044" y="1661319"/>
            <a:ext cx="1768475" cy="1195387"/>
          </a:xfrm>
          <a:prstGeom prst="bentConnector3">
            <a:avLst>
              <a:gd name="adj1" fmla="val 100645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BDD31A2-1025-1AE3-31FD-8F9C8AF4806B}"/>
              </a:ext>
            </a:extLst>
          </p:cNvPr>
          <p:cNvSpPr txBox="1"/>
          <p:nvPr/>
        </p:nvSpPr>
        <p:spPr>
          <a:xfrm>
            <a:off x="123825" y="6267450"/>
            <a:ext cx="9020175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>
                <a:latin typeface="Times-Roman"/>
              </a:rPr>
              <a:t>Since </a:t>
            </a:r>
            <a:r>
              <a:rPr lang="en-US" b="1" dirty="0">
                <a:latin typeface="Times-Roman"/>
              </a:rPr>
              <a:t>the sender </a:t>
            </a:r>
            <a:r>
              <a:rPr lang="en-US" dirty="0">
                <a:latin typeface="Times-Roman"/>
              </a:rPr>
              <a:t>of the </a:t>
            </a:r>
            <a:r>
              <a:rPr lang="en-US" b="1" dirty="0">
                <a:latin typeface="Times-Roman"/>
              </a:rPr>
              <a:t>final message </a:t>
            </a:r>
            <a:r>
              <a:rPr lang="en-US" dirty="0">
                <a:latin typeface="Times-Roman"/>
              </a:rPr>
              <a:t>can never be sure of its arrival, he will not risk attacking.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-1.48148E-6 L -0.13576 0.12222 C -0.16388 0.14977 -0.20642 0.16505 -0.25069 0.16505 C -0.30138 0.16505 -0.34166 0.14977 -0.36979 0.12222 L -0.5052 -1.48148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260" y="82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502D5B7-0F9D-3878-911F-3CBB178C6C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28663"/>
          </a:xfrm>
        </p:spPr>
        <p:txBody>
          <a:bodyPr/>
          <a:lstStyle/>
          <a:p>
            <a:r>
              <a:rPr lang="en-US" altLang="en-US"/>
              <a:t>Connection Release</a:t>
            </a: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54C45184-82A8-3085-15B9-5C0A8C690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825" y="5024438"/>
            <a:ext cx="49847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TextBox 2">
            <a:extLst>
              <a:ext uri="{FF2B5EF4-FFF2-40B4-BE49-F238E27FC236}">
                <a16:creationId xmlns:a16="http://schemas.microsoft.com/office/drawing/2014/main" id="{D0411753-5C9F-7C0A-C407-AF03FA4FB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609600"/>
            <a:ext cx="2873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>
                <a:solidFill>
                  <a:srgbClr val="FF0000"/>
                </a:solidFill>
                <a:latin typeface="Times-Roman"/>
              </a:rPr>
              <a:t>Symmetric release</a:t>
            </a:r>
            <a:endParaRPr lang="en-US" altLang="en-US" sz="240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8761C-534A-9819-9D08-C00B12450B77}"/>
              </a:ext>
            </a:extLst>
          </p:cNvPr>
          <p:cNvSpPr txBox="1"/>
          <p:nvPr/>
        </p:nvSpPr>
        <p:spPr>
          <a:xfrm>
            <a:off x="676275" y="1219200"/>
            <a:ext cx="7720011" cy="252376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-Roman"/>
              </a:rPr>
              <a:t>To see the relevance of the two-army problem to releasing connections, rather than to military affairs, </a:t>
            </a:r>
            <a:r>
              <a:rPr lang="en-US" sz="2000" b="1" dirty="0">
                <a:latin typeface="Times-Roman"/>
              </a:rPr>
              <a:t>just substitute ‘‘disconnect’’ for ‘‘attack.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-Roman"/>
              </a:rPr>
              <a:t>If neither side is prepared to disconnect until it is convinced that the other side is prepared to disconnect too</a:t>
            </a:r>
            <a:r>
              <a:rPr lang="en-US" sz="2000" b="1" dirty="0">
                <a:latin typeface="Times-Roman"/>
              </a:rPr>
              <a:t>, the disconnection will never happen. </a:t>
            </a:r>
          </a:p>
          <a:p>
            <a:pPr algn="ctr">
              <a:defRPr/>
            </a:pPr>
            <a:r>
              <a:rPr lang="en-US" sz="2000" b="1" dirty="0">
                <a:highlight>
                  <a:srgbClr val="00FFFF"/>
                </a:highlight>
                <a:latin typeface="Times-Roman"/>
              </a:rPr>
              <a:t>So if there is dependency disconnection will never happen. </a:t>
            </a:r>
          </a:p>
          <a:p>
            <a:pPr>
              <a:defRPr/>
            </a:pP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896D76-31FE-F4DD-7391-CDEAC933029E}"/>
              </a:ext>
            </a:extLst>
          </p:cNvPr>
          <p:cNvSpPr txBox="1"/>
          <p:nvPr/>
        </p:nvSpPr>
        <p:spPr>
          <a:xfrm>
            <a:off x="897732" y="3572315"/>
            <a:ext cx="7843836" cy="13234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Times-Roman"/>
              </a:rPr>
              <a:t>We can avoid this quandary by 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-Roman"/>
              </a:rPr>
              <a:t>Foregoing the need for agreement and </a:t>
            </a:r>
          </a:p>
          <a:p>
            <a:pPr marL="285750" indent="-285750">
              <a:buFont typeface="Wingdings" panose="05000000000000000000" pitchFamily="2" charset="2"/>
              <a:buChar char="Ø"/>
              <a:defRPr/>
            </a:pPr>
            <a:r>
              <a:rPr lang="en-US" sz="2000" dirty="0">
                <a:latin typeface="Times-Roman"/>
              </a:rPr>
              <a:t>Pushing the problem up to the transport user, letting each side </a:t>
            </a:r>
            <a:r>
              <a:rPr lang="en-US" sz="2000" dirty="0">
                <a:highlight>
                  <a:srgbClr val="00FFFF"/>
                </a:highlight>
                <a:latin typeface="Times-Roman"/>
              </a:rPr>
              <a:t>independently decide </a:t>
            </a:r>
            <a:r>
              <a:rPr lang="en-US" sz="2000" dirty="0">
                <a:latin typeface="Times-Roman"/>
              </a:rPr>
              <a:t>when it is done.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8BC7CF9-33BB-6A5A-29B0-A7E0D0DDA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Release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5879629-B03A-0936-B4EC-E4253CE024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588" y="5686425"/>
            <a:ext cx="8856662" cy="8382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dirty="0"/>
              <a:t>Scenarios for releasing a connection. </a:t>
            </a:r>
          </a:p>
          <a:p>
            <a:pPr algn="ctr">
              <a:buFontTx/>
              <a:buNone/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(a) </a:t>
            </a:r>
            <a:r>
              <a:rPr lang="en-US" dirty="0"/>
              <a:t>Normal case of three-way handshake</a:t>
            </a: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22532" name="Picture 2">
            <a:extLst>
              <a:ext uri="{FF2B5EF4-FFF2-40B4-BE49-F238E27FC236}">
                <a16:creationId xmlns:a16="http://schemas.microsoft.com/office/drawing/2014/main" id="{E01BB464-1FD1-FA8B-4B9D-A8618F908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362075"/>
            <a:ext cx="408622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229C2CB-4286-0DCA-F189-692DC1CEF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Release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99EF3FC-7C04-7E20-DE3D-ECE83067B6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5715000"/>
            <a:ext cx="8856662" cy="83820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US" dirty="0"/>
              <a:t>Scenarios for releasing a connection. </a:t>
            </a:r>
            <a:br>
              <a:rPr lang="en-US" dirty="0"/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(b) </a:t>
            </a:r>
            <a:r>
              <a:rPr lang="en-US" b="1" dirty="0"/>
              <a:t>Final ACK lost.</a:t>
            </a:r>
            <a:endParaRPr lang="en-US" b="1" dirty="0">
              <a:latin typeface="Arial" charset="0"/>
              <a:cs typeface="Arial" charset="0"/>
            </a:endParaRPr>
          </a:p>
        </p:txBody>
      </p:sp>
      <p:pic>
        <p:nvPicPr>
          <p:cNvPr id="23556" name="Picture 2">
            <a:extLst>
              <a:ext uri="{FF2B5EF4-FFF2-40B4-BE49-F238E27FC236}">
                <a16:creationId xmlns:a16="http://schemas.microsoft.com/office/drawing/2014/main" id="{526BBEC3-9121-5C72-140B-5A3E519A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75" y="1322388"/>
            <a:ext cx="39909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6AEE00-1973-4656-C4FC-8D7018117495}"/>
              </a:ext>
            </a:extLst>
          </p:cNvPr>
          <p:cNvSpPr txBox="1"/>
          <p:nvPr/>
        </p:nvSpPr>
        <p:spPr>
          <a:xfrm>
            <a:off x="5132388" y="2206625"/>
            <a:ext cx="3416300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800" b="1" dirty="0">
                <a:latin typeface="+mn-lt"/>
              </a:rPr>
              <a:t>Final ACK lost:</a:t>
            </a:r>
            <a:endParaRPr lang="en-US" sz="2000" dirty="0">
              <a:latin typeface="+mn-lt"/>
            </a:endParaRPr>
          </a:p>
          <a:p>
            <a:pPr algn="just">
              <a:defRPr/>
            </a:pPr>
            <a:r>
              <a:rPr lang="en-US" sz="2000" dirty="0">
                <a:latin typeface="+mn-lt"/>
              </a:rPr>
              <a:t>The situation is saved by the timer. </a:t>
            </a:r>
          </a:p>
          <a:p>
            <a:pPr algn="just">
              <a:defRPr/>
            </a:pPr>
            <a:r>
              <a:rPr lang="en-US" sz="2000" dirty="0">
                <a:latin typeface="+mn-lt"/>
              </a:rPr>
              <a:t>When the timer expires, the connection is released anyway.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16FD248-7326-E276-2F79-74F24FF99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Release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194F9CFB-53DD-0DA4-1098-C6F1B11A2A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98625" y="5794375"/>
            <a:ext cx="5873750" cy="83820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US" dirty="0"/>
              <a:t>Scenarios for releasing a connection. 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(c) </a:t>
            </a:r>
            <a:r>
              <a:rPr lang="en-US" dirty="0"/>
              <a:t>Response lost</a:t>
            </a: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24580" name="Picture 2">
            <a:extLst>
              <a:ext uri="{FF2B5EF4-FFF2-40B4-BE49-F238E27FC236}">
                <a16:creationId xmlns:a16="http://schemas.microsoft.com/office/drawing/2014/main" id="{28971515-EA02-D64C-F4F1-D0EDE9456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75" y="1357313"/>
            <a:ext cx="392430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Box 2">
            <a:extLst>
              <a:ext uri="{FF2B5EF4-FFF2-40B4-BE49-F238E27FC236}">
                <a16:creationId xmlns:a16="http://schemas.microsoft.com/office/drawing/2014/main" id="{985CC2CE-7A14-D7FE-2AB3-0C724893C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3" y="1776413"/>
            <a:ext cx="39243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sz="2400" b="1">
                <a:latin typeface="Times-Roman"/>
              </a:rPr>
              <a:t>Second </a:t>
            </a:r>
            <a:r>
              <a:rPr lang="en-US" altLang="en-US" b="1">
                <a:latin typeface="Times-Roman"/>
              </a:rPr>
              <a:t>DR </a:t>
            </a:r>
            <a:r>
              <a:rPr lang="en-US" altLang="en-US" sz="2400" b="1">
                <a:latin typeface="Times-Roman"/>
              </a:rPr>
              <a:t>being lost:</a:t>
            </a:r>
          </a:p>
          <a:p>
            <a:pPr algn="just"/>
            <a:r>
              <a:rPr lang="en-US" altLang="en-US" sz="2000">
                <a:latin typeface="Times-Roman"/>
              </a:rPr>
              <a:t>The user initiating the disconnection will not receive the </a:t>
            </a:r>
            <a:r>
              <a:rPr lang="en-US" altLang="en-US" sz="2000" b="1">
                <a:latin typeface="Times-Roman"/>
              </a:rPr>
              <a:t>expected response, </a:t>
            </a:r>
            <a:r>
              <a:rPr lang="en-US" altLang="en-US" sz="2000">
                <a:latin typeface="Times-Roman"/>
              </a:rPr>
              <a:t>will time out, and will start all over again.</a:t>
            </a:r>
            <a:endParaRPr lang="en-US" alt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BAD43E-2AAB-D07A-D307-D7014C9A8911}"/>
                  </a:ext>
                </a:extLst>
              </p14:cNvPr>
              <p14:cNvContentPartPr/>
              <p14:nvPr/>
            </p14:nvContentPartPr>
            <p14:xfrm>
              <a:off x="2716266" y="2245103"/>
              <a:ext cx="344160" cy="98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BAD43E-2AAB-D07A-D307-D7014C9A89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2266" y="2137496"/>
                <a:ext cx="451800" cy="3134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CB32F0-3921-8E08-47A3-B21F29973198}"/>
                  </a:ext>
                </a:extLst>
              </p14:cNvPr>
              <p14:cNvContentPartPr/>
              <p14:nvPr/>
            </p14:nvContentPartPr>
            <p14:xfrm>
              <a:off x="2307666" y="2902463"/>
              <a:ext cx="329040" cy="540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CB32F0-3921-8E08-47A3-B21F2997319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253666" y="2794463"/>
                <a:ext cx="436680" cy="26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605B4BC-2F2F-4B2A-2353-807D01B4C328}"/>
                  </a:ext>
                </a:extLst>
              </p14:cNvPr>
              <p14:cNvContentPartPr/>
              <p14:nvPr/>
            </p14:nvContentPartPr>
            <p14:xfrm>
              <a:off x="2015346" y="2556143"/>
              <a:ext cx="261720" cy="18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605B4BC-2F2F-4B2A-2353-807D01B4C32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61346" y="2446025"/>
                <a:ext cx="369360" cy="238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7F4003F-10A8-0E79-0C34-5950BCB6A5BC}"/>
                  </a:ext>
                </a:extLst>
              </p14:cNvPr>
              <p14:cNvContentPartPr/>
              <p14:nvPr/>
            </p14:nvContentPartPr>
            <p14:xfrm>
              <a:off x="5558826" y="2627423"/>
              <a:ext cx="1168560" cy="25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7F4003F-10A8-0E79-0C34-5950BCB6A5B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504843" y="2520944"/>
                <a:ext cx="1276167" cy="2378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F0277C-01C6-5C18-93F8-40BA9649F05F}"/>
                  </a:ext>
                </a:extLst>
              </p14:cNvPr>
              <p14:cNvContentPartPr/>
              <p14:nvPr/>
            </p14:nvContentPartPr>
            <p14:xfrm>
              <a:off x="7670226" y="2689343"/>
              <a:ext cx="8661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F0277C-01C6-5C18-93F8-40BA9649F0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616226" y="2581343"/>
                <a:ext cx="9738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3F7DA49-F225-82FE-7532-62168D9D301B}"/>
                  </a:ext>
                </a:extLst>
              </p14:cNvPr>
              <p14:cNvContentPartPr/>
              <p14:nvPr/>
            </p14:nvContentPartPr>
            <p14:xfrm>
              <a:off x="4838106" y="2973023"/>
              <a:ext cx="924120" cy="27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3F7DA49-F225-82FE-7532-62168D9D301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784106" y="2865023"/>
                <a:ext cx="103176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B7CCBC5-0CBA-9747-2422-7D44D72EEC1A}"/>
                  </a:ext>
                </a:extLst>
              </p14:cNvPr>
              <p14:cNvContentPartPr/>
              <p14:nvPr/>
            </p14:nvContentPartPr>
            <p14:xfrm>
              <a:off x="4838106" y="3319703"/>
              <a:ext cx="178200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B7CCBC5-0CBA-9747-2422-7D44D72EEC1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84106" y="3211703"/>
                <a:ext cx="188964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9ECB3AC-2C68-721D-2FE7-929FDEE18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Release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98AB2577-5E4D-C2FA-2A77-0B7E142168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5715000"/>
            <a:ext cx="8856662" cy="83820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r>
              <a:rPr lang="en-US" dirty="0"/>
              <a:t>Scenarios for releasing a connection. 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(d) </a:t>
            </a:r>
            <a:r>
              <a:rPr lang="en-US" dirty="0"/>
              <a:t>Response lost and subsequent DRs lost.</a:t>
            </a:r>
            <a:endParaRPr lang="en-US" dirty="0">
              <a:latin typeface="Arial" charset="0"/>
              <a:cs typeface="Arial" charset="0"/>
            </a:endParaRPr>
          </a:p>
        </p:txBody>
      </p:sp>
      <p:pic>
        <p:nvPicPr>
          <p:cNvPr id="25604" name="Picture 2">
            <a:extLst>
              <a:ext uri="{FF2B5EF4-FFF2-40B4-BE49-F238E27FC236}">
                <a16:creationId xmlns:a16="http://schemas.microsoft.com/office/drawing/2014/main" id="{BC22922C-EECE-51ED-0597-395501D51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285875"/>
            <a:ext cx="4233863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D426F2-5BD5-78CF-8242-C830934945C2}"/>
              </a:ext>
            </a:extLst>
          </p:cNvPr>
          <p:cNvSpPr txBox="1"/>
          <p:nvPr/>
        </p:nvSpPr>
        <p:spPr>
          <a:xfrm>
            <a:off x="5237826" y="1549984"/>
            <a:ext cx="3240350" cy="3416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b="1" dirty="0">
                <a:latin typeface="+mn-lt"/>
              </a:rPr>
              <a:t>Response lost and subsequent DRs lost:</a:t>
            </a:r>
          </a:p>
          <a:p>
            <a:pPr algn="just">
              <a:defRPr/>
            </a:pPr>
            <a:r>
              <a:rPr lang="en-US" dirty="0">
                <a:latin typeface="+mn-lt"/>
              </a:rPr>
              <a:t>This is the same as Fig (c) except that now we assume all the repeated attempts to retransmit the </a:t>
            </a:r>
            <a:r>
              <a:rPr lang="en-US" sz="1400" dirty="0">
                <a:latin typeface="+mn-lt"/>
              </a:rPr>
              <a:t>DR </a:t>
            </a:r>
            <a:r>
              <a:rPr lang="en-US" dirty="0">
                <a:latin typeface="+mn-lt"/>
              </a:rPr>
              <a:t>also fail due to lost segments.</a:t>
            </a:r>
          </a:p>
          <a:p>
            <a:pPr algn="just">
              <a:defRPr/>
            </a:pPr>
            <a:r>
              <a:rPr lang="en-US" dirty="0">
                <a:latin typeface="+mn-lt"/>
              </a:rPr>
              <a:t>After </a:t>
            </a:r>
            <a:r>
              <a:rPr lang="en-US" i="1" dirty="0">
                <a:highlight>
                  <a:srgbClr val="FFFF00"/>
                </a:highlight>
                <a:latin typeface="+mn-lt"/>
              </a:rPr>
              <a:t>N </a:t>
            </a:r>
            <a:r>
              <a:rPr lang="en-US" dirty="0">
                <a:highlight>
                  <a:srgbClr val="FFFF00"/>
                </a:highlight>
                <a:latin typeface="+mn-lt"/>
              </a:rPr>
              <a:t>retries</a:t>
            </a:r>
            <a:r>
              <a:rPr lang="en-US" dirty="0">
                <a:latin typeface="+mn-lt"/>
              </a:rPr>
              <a:t>, the sender just gives up and releases the connection.</a:t>
            </a:r>
          </a:p>
          <a:p>
            <a:pPr algn="just">
              <a:defRPr/>
            </a:pPr>
            <a:r>
              <a:rPr lang="en-US" dirty="0">
                <a:latin typeface="+mn-lt"/>
              </a:rPr>
              <a:t>Meanwhile, the receiver times out and also exits.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892D6FB-C207-DED5-6F1D-9F908059850D}"/>
                  </a:ext>
                </a:extLst>
              </p14:cNvPr>
              <p14:cNvContentPartPr/>
              <p14:nvPr/>
            </p14:nvContentPartPr>
            <p14:xfrm>
              <a:off x="537186" y="4509143"/>
              <a:ext cx="892080" cy="45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892D6FB-C207-DED5-6F1D-9F90805985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186" y="4401987"/>
                <a:ext cx="999720" cy="259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B6CE100-2CEE-225A-1820-C00E40FDB1F8}"/>
                  </a:ext>
                </a:extLst>
              </p14:cNvPr>
              <p14:cNvContentPartPr/>
              <p14:nvPr/>
            </p14:nvContentPartPr>
            <p14:xfrm>
              <a:off x="7155066" y="3941423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B6CE100-2CEE-225A-1820-C00E40FDB1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01066" y="383342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B9CB71B-DD65-5FDA-6FAB-C8D71696F4DE}"/>
                  </a:ext>
                </a:extLst>
              </p14:cNvPr>
              <p14:cNvContentPartPr/>
              <p14:nvPr/>
            </p14:nvContentPartPr>
            <p14:xfrm>
              <a:off x="7190706" y="3984983"/>
              <a:ext cx="624600" cy="27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B9CB71B-DD65-5FDA-6FAB-C8D71696F4D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54706" y="3912983"/>
                <a:ext cx="6962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A2D30F-36B3-DB2E-75C8-00C971A148AF}"/>
                  </a:ext>
                </a:extLst>
              </p14:cNvPr>
              <p14:cNvContentPartPr/>
              <p14:nvPr/>
            </p14:nvContentPartPr>
            <p14:xfrm>
              <a:off x="7163706" y="3914423"/>
              <a:ext cx="644040" cy="19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A2D30F-36B3-DB2E-75C8-00C971A148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27706" y="3842423"/>
                <a:ext cx="7156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67B2A1E-C13F-82D0-206A-2FAC075A30CC}"/>
                  </a:ext>
                </a:extLst>
              </p14:cNvPr>
              <p14:cNvContentPartPr/>
              <p14:nvPr/>
            </p14:nvContentPartPr>
            <p14:xfrm>
              <a:off x="5281986" y="4216463"/>
              <a:ext cx="1047600" cy="9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67B2A1E-C13F-82D0-206A-2FAC075A30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245986" y="4144463"/>
                <a:ext cx="11192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EBC23F8-F35C-B37F-5AC2-26157D899CD4}"/>
                  </a:ext>
                </a:extLst>
              </p14:cNvPr>
              <p14:cNvContentPartPr/>
              <p14:nvPr/>
            </p14:nvContentPartPr>
            <p14:xfrm>
              <a:off x="700986" y="4713623"/>
              <a:ext cx="602640" cy="277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EBC23F8-F35C-B37F-5AC2-26157D899CD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64964" y="4641623"/>
                <a:ext cx="674323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6490946-171D-BA64-AE50-8F8808EA3B5E}"/>
                  </a:ext>
                </a:extLst>
              </p14:cNvPr>
              <p14:cNvContentPartPr/>
              <p14:nvPr/>
            </p14:nvContentPartPr>
            <p14:xfrm>
              <a:off x="558786" y="4935023"/>
              <a:ext cx="824400" cy="54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6490946-171D-BA64-AE50-8F8808EA3B5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22786" y="4863023"/>
                <a:ext cx="89604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DE38980-2AA3-4B95-7648-4D5663A7782A}"/>
                  </a:ext>
                </a:extLst>
              </p14:cNvPr>
              <p14:cNvContentPartPr/>
              <p14:nvPr/>
            </p14:nvContentPartPr>
            <p14:xfrm>
              <a:off x="7448106" y="2840183"/>
              <a:ext cx="905040" cy="10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DE38980-2AA3-4B95-7648-4D5663A7782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12106" y="2768183"/>
                <a:ext cx="97668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9AC8A4E-AD21-639D-FCA7-A3350534D58F}"/>
                  </a:ext>
                </a:extLst>
              </p14:cNvPr>
              <p14:cNvContentPartPr/>
              <p14:nvPr/>
            </p14:nvContentPartPr>
            <p14:xfrm>
              <a:off x="5370906" y="3097943"/>
              <a:ext cx="1641960" cy="3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9AC8A4E-AD21-639D-FCA7-A3350534D58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334906" y="3025943"/>
                <a:ext cx="17136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FB735E0-44FD-8D59-628A-C2EDC2323C02}"/>
                  </a:ext>
                </a:extLst>
              </p14:cNvPr>
              <p14:cNvContentPartPr/>
              <p14:nvPr/>
            </p14:nvContentPartPr>
            <p14:xfrm>
              <a:off x="2503146" y="3319343"/>
              <a:ext cx="474840" cy="126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FB735E0-44FD-8D59-628A-C2EDC2323C0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467146" y="3247343"/>
                <a:ext cx="546480" cy="270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884B605-AF88-2007-7D78-E45F68A7B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Introduction to UDP (1)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3549C17F-4066-8EB4-FAD6-9B41BF6B10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5715000"/>
            <a:ext cx="8856662" cy="838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/>
              <a:t>The UDP header.</a:t>
            </a:r>
          </a:p>
        </p:txBody>
      </p:sp>
      <p:pic>
        <p:nvPicPr>
          <p:cNvPr id="26628" name="Picture 2">
            <a:extLst>
              <a:ext uri="{FF2B5EF4-FFF2-40B4-BE49-F238E27FC236}">
                <a16:creationId xmlns:a16="http://schemas.microsoft.com/office/drawing/2014/main" id="{4A971765-8E1A-7C78-AD67-3A32EB418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8" y="2552700"/>
            <a:ext cx="8915400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649C947-7A0F-9856-18F9-667BBC70C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TCP Service Model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ED34610-8FB0-4742-3FF0-6961AA9B03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5715000"/>
            <a:ext cx="8856662" cy="838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/>
              <a:t>Some assigned ports</a:t>
            </a:r>
          </a:p>
        </p:txBody>
      </p:sp>
      <p:pic>
        <p:nvPicPr>
          <p:cNvPr id="27652" name="Picture 2">
            <a:extLst>
              <a:ext uri="{FF2B5EF4-FFF2-40B4-BE49-F238E27FC236}">
                <a16:creationId xmlns:a16="http://schemas.microsoft.com/office/drawing/2014/main" id="{B87E8D2F-4C53-F6FB-A476-270D97118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988" y="1304925"/>
            <a:ext cx="6934200" cy="402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A2A408E-F48C-85EF-1E26-DB63A4940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TCP Segment Header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5B6CA089-B33D-A4AE-9850-7F13C9A335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7338" y="5715000"/>
            <a:ext cx="8856662" cy="838200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altLang="en-US"/>
              <a:t>The TCP header.</a:t>
            </a:r>
          </a:p>
        </p:txBody>
      </p:sp>
      <p:pic>
        <p:nvPicPr>
          <p:cNvPr id="28676" name="Picture 2">
            <a:extLst>
              <a:ext uri="{FF2B5EF4-FFF2-40B4-BE49-F238E27FC236}">
                <a16:creationId xmlns:a16="http://schemas.microsoft.com/office/drawing/2014/main" id="{588205DC-9F25-4463-B2F1-74BF7E6DA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50" y="996950"/>
            <a:ext cx="7361238" cy="470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BC23C9C-96E2-AD58-365E-CEE01F8CC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TCP Connection Establishment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96049707-17E0-6803-3EA3-936152C5CA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0200" y="5715000"/>
            <a:ext cx="8813800" cy="838200"/>
          </a:xfrm>
        </p:spPr>
        <p:txBody>
          <a:bodyPr/>
          <a:lstStyle/>
          <a:p>
            <a:pPr>
              <a:buFontTx/>
              <a:buAutoNum type="alphaLcParenBoth"/>
            </a:pPr>
            <a:r>
              <a:rPr lang="en-US" altLang="en-US"/>
              <a:t>TCP connection establishment in the normal case.</a:t>
            </a:r>
          </a:p>
          <a:p>
            <a:pPr>
              <a:buFontTx/>
              <a:buAutoNum type="alphaLcParenBoth"/>
            </a:pPr>
            <a:r>
              <a:rPr lang="en-US" altLang="en-US"/>
              <a:t> Simultaneous connection establishment on both sides.</a:t>
            </a:r>
          </a:p>
        </p:txBody>
      </p:sp>
      <p:pic>
        <p:nvPicPr>
          <p:cNvPr id="29700" name="Picture 2">
            <a:extLst>
              <a:ext uri="{FF2B5EF4-FFF2-40B4-BE49-F238E27FC236}">
                <a16:creationId xmlns:a16="http://schemas.microsoft.com/office/drawing/2014/main" id="{DDCD70DA-9162-2EBE-0998-F5E892E00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1023938"/>
            <a:ext cx="7991475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annenbaum">
  <a:themeElements>
    <a:clrScheme name="Tannenbau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annenbaum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annenbaum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annenbaum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annenbau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ppt72BC.tmp</Template>
  <TotalTime>1144</TotalTime>
  <Words>1066</Words>
  <Application>Microsoft Macintosh PowerPoint</Application>
  <PresentationFormat>On-screen Show (4:3)</PresentationFormat>
  <Paragraphs>112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Times New Roman</vt:lpstr>
      <vt:lpstr>Calibri</vt:lpstr>
      <vt:lpstr>Times-Roman</vt:lpstr>
      <vt:lpstr>Times-Italic</vt:lpstr>
      <vt:lpstr>Tannenbaum</vt:lpstr>
      <vt:lpstr>Custom Design</vt:lpstr>
      <vt:lpstr>Transport Layer</vt:lpstr>
      <vt:lpstr>Transport Layer</vt:lpstr>
      <vt:lpstr>Data Link vs Transport Layer</vt:lpstr>
      <vt:lpstr>Connection Establishment</vt:lpstr>
      <vt:lpstr>Connection Establishment</vt:lpstr>
      <vt:lpstr>Connection Establishment</vt:lpstr>
      <vt:lpstr>Connection Establishment</vt:lpstr>
      <vt:lpstr>Connection Establishment</vt:lpstr>
      <vt:lpstr>Connection Establishment</vt:lpstr>
      <vt:lpstr>Connection Release</vt:lpstr>
      <vt:lpstr>Connection Release</vt:lpstr>
      <vt:lpstr>Connection Release</vt:lpstr>
      <vt:lpstr>Connection Release</vt:lpstr>
      <vt:lpstr>Connection Release</vt:lpstr>
      <vt:lpstr>Connection Release</vt:lpstr>
      <vt:lpstr>Connection Release</vt:lpstr>
      <vt:lpstr>Connection Release</vt:lpstr>
      <vt:lpstr>Connection Release</vt:lpstr>
      <vt:lpstr>Connection Release</vt:lpstr>
      <vt:lpstr>Introduction to UDP (1)</vt:lpstr>
      <vt:lpstr>The TCP Service Model</vt:lpstr>
      <vt:lpstr>The TCP Segment Header</vt:lpstr>
      <vt:lpstr>TCP Connection Establishment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Steve_2</dc:creator>
  <cp:lastModifiedBy>Shafiullah Shafin</cp:lastModifiedBy>
  <cp:revision>66</cp:revision>
  <dcterms:created xsi:type="dcterms:W3CDTF">2010-05-03T15:18:06Z</dcterms:created>
  <dcterms:modified xsi:type="dcterms:W3CDTF">2025-12-08T18:55:28Z</dcterms:modified>
</cp:coreProperties>
</file>