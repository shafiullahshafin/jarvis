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6"/>
  </p:notesMasterIdLst>
  <p:sldIdLst>
    <p:sldId id="256" r:id="rId2"/>
    <p:sldId id="257" r:id="rId3"/>
    <p:sldId id="258" r:id="rId4"/>
    <p:sldId id="260" r:id="rId5"/>
    <p:sldId id="261" r:id="rId6"/>
    <p:sldId id="264" r:id="rId7"/>
    <p:sldId id="263" r:id="rId8"/>
    <p:sldId id="262" r:id="rId9"/>
    <p:sldId id="265" r:id="rId10"/>
    <p:sldId id="280" r:id="rId11"/>
    <p:sldId id="266" r:id="rId12"/>
    <p:sldId id="267" r:id="rId13"/>
    <p:sldId id="281" r:id="rId14"/>
    <p:sldId id="268" r:id="rId15"/>
    <p:sldId id="271" r:id="rId16"/>
    <p:sldId id="269" r:id="rId17"/>
    <p:sldId id="272" r:id="rId18"/>
    <p:sldId id="273" r:id="rId19"/>
    <p:sldId id="275" r:id="rId20"/>
    <p:sldId id="276" r:id="rId21"/>
    <p:sldId id="277" r:id="rId22"/>
    <p:sldId id="279" r:id="rId23"/>
    <p:sldId id="282" r:id="rId24"/>
    <p:sldId id="27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E74719-AFFA-4CCA-B96C-0333E10455FE}" type="datetimeFigureOut">
              <a:rPr lang="en-US" smtClean="0"/>
              <a:t>9/23/2023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0847BC-B914-4C6F-975A-F7DE821E6CF2}" type="slidenum">
              <a:rPr lang="en-US" smtClean="0"/>
              <a:t>‹#›</a:t>
            </a:fld>
            <a:endParaRPr lang="en-US"/>
          </a:p>
        </p:txBody>
      </p:sp>
    </p:spTree>
    <p:extLst>
      <p:ext uri="{BB962C8B-B14F-4D97-AF65-F5344CB8AC3E}">
        <p14:creationId xmlns:p14="http://schemas.microsoft.com/office/powerpoint/2010/main" val="2691474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AC1ECCC0-9A60-43B5-AD0F-583BE6D22B8E}" type="datetimeFigureOut">
              <a:rPr lang="en-US" smtClean="0"/>
              <a:t>9/23/2023</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9193F979-B00C-4708-B183-99A29D441D13}"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4559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1ECCC0-9A60-43B5-AD0F-583BE6D22B8E}"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93F979-B00C-4708-B183-99A29D441D13}" type="slidenum">
              <a:rPr lang="en-US" smtClean="0"/>
              <a:t>‹#›</a:t>
            </a:fld>
            <a:endParaRPr lang="en-US"/>
          </a:p>
        </p:txBody>
      </p:sp>
    </p:spTree>
    <p:extLst>
      <p:ext uri="{BB962C8B-B14F-4D97-AF65-F5344CB8AC3E}">
        <p14:creationId xmlns:p14="http://schemas.microsoft.com/office/powerpoint/2010/main" val="4275818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1ECCC0-9A60-43B5-AD0F-583BE6D22B8E}"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93F979-B00C-4708-B183-99A29D441D13}"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9460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1ECCC0-9A60-43B5-AD0F-583BE6D22B8E}" type="datetimeFigureOut">
              <a:rPr lang="en-US" smtClean="0"/>
              <a:t>9/23/2023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93F979-B00C-4708-B183-99A29D441D13}" type="slidenum">
              <a:rPr lang="en-US" smtClean="0"/>
              <a:t>‹#›</a:t>
            </a:fld>
            <a:endParaRPr lang="en-US"/>
          </a:p>
        </p:txBody>
      </p:sp>
    </p:spTree>
    <p:extLst>
      <p:ext uri="{BB962C8B-B14F-4D97-AF65-F5344CB8AC3E}">
        <p14:creationId xmlns:p14="http://schemas.microsoft.com/office/powerpoint/2010/main" val="3886380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1ECCC0-9A60-43B5-AD0F-583BE6D22B8E}" type="datetimeFigureOut">
              <a:rPr lang="en-US" smtClean="0"/>
              <a:t>9/23/2023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93F979-B00C-4708-B183-99A29D441D13}" type="slidenum">
              <a:rPr lang="en-US" smtClean="0"/>
              <a:t>‹#›</a:t>
            </a:fld>
            <a:endParaRPr lang="en-US"/>
          </a:p>
        </p:txBody>
      </p:sp>
    </p:spTree>
    <p:extLst>
      <p:ext uri="{BB962C8B-B14F-4D97-AF65-F5344CB8AC3E}">
        <p14:creationId xmlns:p14="http://schemas.microsoft.com/office/powerpoint/2010/main" val="441432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1ECCC0-9A60-43B5-AD0F-583BE6D22B8E}" type="datetimeFigureOut">
              <a:rPr lang="en-US" smtClean="0"/>
              <a:t>9/23/2023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93F979-B00C-4708-B183-99A29D441D13}" type="slidenum">
              <a:rPr lang="en-US" smtClean="0"/>
              <a:t>‹#›</a:t>
            </a:fld>
            <a:endParaRPr lang="en-US"/>
          </a:p>
        </p:txBody>
      </p:sp>
    </p:spTree>
    <p:extLst>
      <p:ext uri="{BB962C8B-B14F-4D97-AF65-F5344CB8AC3E}">
        <p14:creationId xmlns:p14="http://schemas.microsoft.com/office/powerpoint/2010/main" val="3132429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1ECCC0-9A60-43B5-AD0F-583BE6D22B8E}" type="datetimeFigureOut">
              <a:rPr lang="en-US" smtClean="0"/>
              <a:t>9/23/2023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93F979-B00C-4708-B183-99A29D441D13}" type="slidenum">
              <a:rPr lang="en-US" smtClean="0"/>
              <a:t>‹#›</a:t>
            </a:fld>
            <a:endParaRPr lang="en-US"/>
          </a:p>
        </p:txBody>
      </p:sp>
    </p:spTree>
    <p:extLst>
      <p:ext uri="{BB962C8B-B14F-4D97-AF65-F5344CB8AC3E}">
        <p14:creationId xmlns:p14="http://schemas.microsoft.com/office/powerpoint/2010/main" val="106681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1ECCC0-9A60-43B5-AD0F-583BE6D22B8E}" type="datetimeFigureOut">
              <a:rPr lang="en-US" smtClean="0"/>
              <a:t>9/23/2023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93F979-B00C-4708-B183-99A29D441D13}" type="slidenum">
              <a:rPr lang="en-US" smtClean="0"/>
              <a:t>‹#›</a:t>
            </a:fld>
            <a:endParaRPr lang="en-US"/>
          </a:p>
        </p:txBody>
      </p:sp>
    </p:spTree>
    <p:extLst>
      <p:ext uri="{BB962C8B-B14F-4D97-AF65-F5344CB8AC3E}">
        <p14:creationId xmlns:p14="http://schemas.microsoft.com/office/powerpoint/2010/main" val="1978847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1ECCC0-9A60-43B5-AD0F-583BE6D22B8E}" type="datetimeFigureOut">
              <a:rPr lang="en-US" smtClean="0"/>
              <a:t>9/23/2023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93F979-B00C-4708-B183-99A29D441D13}" type="slidenum">
              <a:rPr lang="en-US" smtClean="0"/>
              <a:t>‹#›</a:t>
            </a:fld>
            <a:endParaRPr lang="en-US"/>
          </a:p>
        </p:txBody>
      </p:sp>
    </p:spTree>
    <p:extLst>
      <p:ext uri="{BB962C8B-B14F-4D97-AF65-F5344CB8AC3E}">
        <p14:creationId xmlns:p14="http://schemas.microsoft.com/office/powerpoint/2010/main" val="389341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1ECCC0-9A60-43B5-AD0F-583BE6D22B8E}"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93F979-B00C-4708-B183-99A29D441D13}" type="slidenum">
              <a:rPr lang="en-US" smtClean="0"/>
              <a:t>‹#›</a:t>
            </a:fld>
            <a:endParaRPr lang="en-US"/>
          </a:p>
        </p:txBody>
      </p:sp>
    </p:spTree>
    <p:extLst>
      <p:ext uri="{BB962C8B-B14F-4D97-AF65-F5344CB8AC3E}">
        <p14:creationId xmlns:p14="http://schemas.microsoft.com/office/powerpoint/2010/main" val="2759642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1ECCC0-9A60-43B5-AD0F-583BE6D22B8E}" type="datetimeFigureOut">
              <a:rPr lang="en-US" smtClean="0"/>
              <a:t>9/23/2023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93F979-B00C-4708-B183-99A29D441D13}" type="slidenum">
              <a:rPr lang="en-US" smtClean="0"/>
              <a:t>‹#›</a:t>
            </a:fld>
            <a:endParaRPr lang="en-US"/>
          </a:p>
        </p:txBody>
      </p:sp>
    </p:spTree>
    <p:extLst>
      <p:ext uri="{BB962C8B-B14F-4D97-AF65-F5344CB8AC3E}">
        <p14:creationId xmlns:p14="http://schemas.microsoft.com/office/powerpoint/2010/main" val="1415162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tx1"/>
                </a:solidFill>
              </a:defRPr>
            </a:lvl1pPr>
          </a:lstStyle>
          <a:p>
            <a:fld id="{AC1ECCC0-9A60-43B5-AD0F-583BE6D22B8E}" type="datetimeFigureOut">
              <a:rPr lang="en-US" smtClean="0"/>
              <a:t>9/23/2023</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tx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tx1"/>
                </a:solidFill>
              </a:defRPr>
            </a:lvl1pPr>
          </a:lstStyle>
          <a:p>
            <a:fld id="{9193F979-B00C-4708-B183-99A29D441D13}" type="slidenum">
              <a:rPr lang="en-US" smtClean="0"/>
              <a:t>‹#›</a:t>
            </a:fld>
            <a:endParaRPr lang="en-US"/>
          </a:p>
        </p:txBody>
      </p:sp>
    </p:spTree>
    <p:extLst>
      <p:ext uri="{BB962C8B-B14F-4D97-AF65-F5344CB8AC3E}">
        <p14:creationId xmlns:p14="http://schemas.microsoft.com/office/powerpoint/2010/main" val="25869393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8.png"/><Relationship Id="rId7" Type="http://schemas.openxmlformats.org/officeDocument/2006/relationships/image" Target="../media/image51.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10" Type="http://schemas.openxmlformats.org/officeDocument/2006/relationships/image" Target="../media/image54.png"/><Relationship Id="rId4" Type="http://schemas.microsoft.com/office/2007/relationships/hdphoto" Target="../media/hdphoto3.wdp"/><Relationship Id="rId9" Type="http://schemas.openxmlformats.org/officeDocument/2006/relationships/image" Target="../media/image5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5.web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222F3-8CD4-85ED-3A6A-1AC714FE7C24}"/>
              </a:ext>
            </a:extLst>
          </p:cNvPr>
          <p:cNvSpPr>
            <a:spLocks noGrp="1"/>
          </p:cNvSpPr>
          <p:nvPr>
            <p:ph type="ctrTitle"/>
          </p:nvPr>
        </p:nvSpPr>
        <p:spPr/>
        <p:txBody>
          <a:bodyPr/>
          <a:lstStyle/>
          <a:p>
            <a:r>
              <a:rPr lang="en-US" dirty="0"/>
              <a:t>OSI Model Layers</a:t>
            </a:r>
          </a:p>
        </p:txBody>
      </p:sp>
      <p:sp>
        <p:nvSpPr>
          <p:cNvPr id="3" name="Subtitle 2">
            <a:extLst>
              <a:ext uri="{FF2B5EF4-FFF2-40B4-BE49-F238E27FC236}">
                <a16:creationId xmlns:a16="http://schemas.microsoft.com/office/drawing/2014/main" id="{1E3E9814-0B02-58C5-8CDD-FF3428740346}"/>
              </a:ext>
            </a:extLst>
          </p:cNvPr>
          <p:cNvSpPr>
            <a:spLocks noGrp="1"/>
          </p:cNvSpPr>
          <p:nvPr>
            <p:ph type="subTitle" idx="1"/>
          </p:nvPr>
        </p:nvSpPr>
        <p:spPr/>
        <p:txBody>
          <a:bodyPr/>
          <a:lstStyle/>
          <a:p>
            <a:r>
              <a:rPr lang="en-US" dirty="0"/>
              <a:t>Tasmia Jannat</a:t>
            </a:r>
          </a:p>
          <a:p>
            <a:r>
              <a:rPr lang="en-US" dirty="0"/>
              <a:t>Lecturer, Dept of CSE, RUET</a:t>
            </a:r>
          </a:p>
        </p:txBody>
      </p:sp>
    </p:spTree>
    <p:extLst>
      <p:ext uri="{BB962C8B-B14F-4D97-AF65-F5344CB8AC3E}">
        <p14:creationId xmlns:p14="http://schemas.microsoft.com/office/powerpoint/2010/main" val="2552833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BF359-8531-97D8-2E5B-AD58F09FAC99}"/>
              </a:ext>
            </a:extLst>
          </p:cNvPr>
          <p:cNvSpPr>
            <a:spLocks noGrp="1"/>
          </p:cNvSpPr>
          <p:nvPr>
            <p:ph type="title"/>
          </p:nvPr>
        </p:nvSpPr>
        <p:spPr>
          <a:xfrm>
            <a:off x="816745" y="343270"/>
            <a:ext cx="10830757" cy="908481"/>
          </a:xfrm>
        </p:spPr>
        <p:txBody>
          <a:bodyPr/>
          <a:lstStyle/>
          <a:p>
            <a:r>
              <a:rPr lang="en-US" b="1" dirty="0"/>
              <a:t>OSI Model Introduction</a:t>
            </a:r>
            <a:endParaRPr lang="en-US" dirty="0"/>
          </a:p>
        </p:txBody>
      </p:sp>
      <p:sp>
        <p:nvSpPr>
          <p:cNvPr id="3" name="Content Placeholder 2">
            <a:extLst>
              <a:ext uri="{FF2B5EF4-FFF2-40B4-BE49-F238E27FC236}">
                <a16:creationId xmlns:a16="http://schemas.microsoft.com/office/drawing/2014/main" id="{156A74BA-C9D7-9031-A55E-F9CD719C1362}"/>
              </a:ext>
            </a:extLst>
          </p:cNvPr>
          <p:cNvSpPr>
            <a:spLocks noGrp="1"/>
          </p:cNvSpPr>
          <p:nvPr>
            <p:ph idx="1"/>
          </p:nvPr>
        </p:nvSpPr>
        <p:spPr>
          <a:xfrm>
            <a:off x="692458" y="1320553"/>
            <a:ext cx="10955045" cy="1635712"/>
          </a:xfrm>
        </p:spPr>
        <p:txBody>
          <a:bodyPr>
            <a:normAutofit/>
          </a:bodyPr>
          <a:lstStyle/>
          <a:p>
            <a:pPr algn="just"/>
            <a:r>
              <a:rPr lang="en-US" sz="2100" dirty="0"/>
              <a:t>The </a:t>
            </a:r>
            <a:r>
              <a:rPr lang="en-US" sz="2100" b="1" dirty="0"/>
              <a:t>Open Systems Interconnection </a:t>
            </a:r>
            <a:r>
              <a:rPr lang="en-US" sz="2100" dirty="0"/>
              <a:t>(OSI) model describes </a:t>
            </a:r>
            <a:r>
              <a:rPr lang="en-US" sz="2100" b="1" dirty="0"/>
              <a:t>seven layers </a:t>
            </a:r>
            <a:r>
              <a:rPr lang="en-US" sz="2100" dirty="0"/>
              <a:t>that computer systems use to communicate over a network. </a:t>
            </a:r>
          </a:p>
          <a:p>
            <a:pPr algn="just"/>
            <a:r>
              <a:rPr lang="en-US" sz="2100" dirty="0"/>
              <a:t>It describes how information from a software application in one computer </a:t>
            </a:r>
            <a:r>
              <a:rPr lang="en-US" sz="2100" b="1" dirty="0"/>
              <a:t>(client) </a:t>
            </a:r>
            <a:r>
              <a:rPr lang="en-US" sz="2100" dirty="0"/>
              <a:t>moves </a:t>
            </a:r>
            <a:r>
              <a:rPr lang="en-US" sz="2100" b="1" dirty="0"/>
              <a:t>through a physical medium </a:t>
            </a:r>
            <a:r>
              <a:rPr lang="en-US" sz="2100" dirty="0"/>
              <a:t>to the software application in another computer </a:t>
            </a:r>
            <a:r>
              <a:rPr lang="en-US" sz="2100" b="1" dirty="0"/>
              <a:t>(Server).</a:t>
            </a:r>
          </a:p>
        </p:txBody>
      </p:sp>
      <p:pic>
        <p:nvPicPr>
          <p:cNvPr id="5" name="Picture 4">
            <a:extLst>
              <a:ext uri="{FF2B5EF4-FFF2-40B4-BE49-F238E27FC236}">
                <a16:creationId xmlns:a16="http://schemas.microsoft.com/office/drawing/2014/main" id="{B81C4C1C-FB41-9104-A4C0-F10F1EA508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5706" y="2837821"/>
            <a:ext cx="4838330" cy="3574158"/>
          </a:xfrm>
          <a:prstGeom prst="rect">
            <a:avLst/>
          </a:prstGeom>
        </p:spPr>
      </p:pic>
      <p:sp>
        <p:nvSpPr>
          <p:cNvPr id="7" name="TextBox 6">
            <a:extLst>
              <a:ext uri="{FF2B5EF4-FFF2-40B4-BE49-F238E27FC236}">
                <a16:creationId xmlns:a16="http://schemas.microsoft.com/office/drawing/2014/main" id="{5D0C3313-4583-67C7-0F74-C652BB6BA7CB}"/>
              </a:ext>
            </a:extLst>
          </p:cNvPr>
          <p:cNvSpPr txBox="1"/>
          <p:nvPr/>
        </p:nvSpPr>
        <p:spPr>
          <a:xfrm>
            <a:off x="692457" y="3025067"/>
            <a:ext cx="5690587" cy="1646605"/>
          </a:xfrm>
          <a:prstGeom prst="rect">
            <a:avLst/>
          </a:prstGeom>
          <a:noFill/>
        </p:spPr>
        <p:txBody>
          <a:bodyPr wrap="square">
            <a:spAutoFit/>
          </a:bodyPr>
          <a:lstStyle/>
          <a:p>
            <a:pPr marL="342900" indent="-342900" algn="just">
              <a:buFont typeface="Arial" panose="020B0604020202020204" pitchFamily="34" charset="0"/>
              <a:buChar char="•"/>
            </a:pPr>
            <a:r>
              <a:rPr lang="en-US" sz="2000" b="1" dirty="0"/>
              <a:t>Open System? </a:t>
            </a:r>
            <a:r>
              <a:rPr lang="en-US" sz="2000" dirty="0"/>
              <a:t>OSI means that there's no fix host and server. It is </a:t>
            </a:r>
            <a:r>
              <a:rPr lang="en-US" sz="2000" b="1" dirty="0"/>
              <a:t>open to all </a:t>
            </a:r>
            <a:r>
              <a:rPr lang="en-US" sz="2000" dirty="0"/>
              <a:t>networking devices, which means any one could use the internet.</a:t>
            </a:r>
          </a:p>
          <a:p>
            <a:pPr algn="just"/>
            <a:endParaRPr lang="en-US" sz="2100" dirty="0"/>
          </a:p>
        </p:txBody>
      </p:sp>
    </p:spTree>
    <p:extLst>
      <p:ext uri="{BB962C8B-B14F-4D97-AF65-F5344CB8AC3E}">
        <p14:creationId xmlns:p14="http://schemas.microsoft.com/office/powerpoint/2010/main" val="928347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270C3-0F29-FC8B-7AA8-4FDCBF530AA9}"/>
              </a:ext>
            </a:extLst>
          </p:cNvPr>
          <p:cNvSpPr>
            <a:spLocks noGrp="1"/>
          </p:cNvSpPr>
          <p:nvPr>
            <p:ph type="title"/>
          </p:nvPr>
        </p:nvSpPr>
        <p:spPr>
          <a:xfrm>
            <a:off x="4247669" y="535628"/>
            <a:ext cx="4052952" cy="642151"/>
          </a:xfrm>
        </p:spPr>
        <p:txBody>
          <a:bodyPr>
            <a:normAutofit fontScale="90000"/>
          </a:bodyPr>
          <a:lstStyle/>
          <a:p>
            <a:r>
              <a:rPr lang="en-US" b="1" dirty="0"/>
              <a:t>OSI Model Layers</a:t>
            </a:r>
            <a:endParaRPr lang="en-US" dirty="0"/>
          </a:p>
        </p:txBody>
      </p:sp>
      <p:sp>
        <p:nvSpPr>
          <p:cNvPr id="3" name="Content Placeholder 2">
            <a:extLst>
              <a:ext uri="{FF2B5EF4-FFF2-40B4-BE49-F238E27FC236}">
                <a16:creationId xmlns:a16="http://schemas.microsoft.com/office/drawing/2014/main" id="{42F514DC-0BC7-41D4-93AC-E36B784716CB}"/>
              </a:ext>
            </a:extLst>
          </p:cNvPr>
          <p:cNvSpPr>
            <a:spLocks noGrp="1"/>
          </p:cNvSpPr>
          <p:nvPr>
            <p:ph idx="1"/>
          </p:nvPr>
        </p:nvSpPr>
        <p:spPr>
          <a:xfrm>
            <a:off x="3740251" y="1664120"/>
            <a:ext cx="7532007" cy="3697993"/>
          </a:xfrm>
        </p:spPr>
        <p:txBody>
          <a:bodyPr/>
          <a:lstStyle/>
          <a:p>
            <a:r>
              <a:rPr lang="en-US" b="1" dirty="0"/>
              <a:t>Application Layer: </a:t>
            </a:r>
          </a:p>
          <a:p>
            <a:pPr lvl="1"/>
            <a:r>
              <a:rPr lang="en-US" i="1" dirty="0"/>
              <a:t>Non-tech term: </a:t>
            </a:r>
            <a:r>
              <a:rPr lang="en-US" dirty="0"/>
              <a:t>is about user’s application</a:t>
            </a:r>
          </a:p>
          <a:p>
            <a:pPr lvl="1"/>
            <a:r>
              <a:rPr lang="en-US" i="1" dirty="0"/>
              <a:t>Tech Term: </a:t>
            </a:r>
            <a:r>
              <a:rPr lang="en-US" dirty="0"/>
              <a:t>Application layer </a:t>
            </a:r>
            <a:r>
              <a:rPr lang="en-US" b="1" dirty="0"/>
              <a:t>protocols:</a:t>
            </a:r>
          </a:p>
          <a:p>
            <a:pPr marL="548640" lvl="2" indent="0">
              <a:buNone/>
            </a:pPr>
            <a:endParaRPr lang="en-US" dirty="0"/>
          </a:p>
          <a:p>
            <a:pPr marL="548640" lvl="2" indent="0">
              <a:buNone/>
            </a:pPr>
            <a:endParaRPr lang="en-US" dirty="0"/>
          </a:p>
          <a:p>
            <a:pPr marL="548640" lvl="2" indent="0">
              <a:buNone/>
            </a:pPr>
            <a:endParaRPr lang="en-US" dirty="0"/>
          </a:p>
          <a:p>
            <a:pPr marL="548640" lvl="2" indent="0">
              <a:buNone/>
            </a:pPr>
            <a:endParaRPr lang="en-US" dirty="0"/>
          </a:p>
          <a:p>
            <a:pPr marL="548640" lvl="2" indent="0">
              <a:buNone/>
            </a:pPr>
            <a:endParaRPr lang="en-US" dirty="0"/>
          </a:p>
          <a:p>
            <a:pPr marL="548640" lvl="2" indent="0">
              <a:buNone/>
            </a:pPr>
            <a:endParaRPr lang="en-US" dirty="0"/>
          </a:p>
        </p:txBody>
      </p:sp>
      <p:sp>
        <p:nvSpPr>
          <p:cNvPr id="4" name="Rectangle 3">
            <a:extLst>
              <a:ext uri="{FF2B5EF4-FFF2-40B4-BE49-F238E27FC236}">
                <a16:creationId xmlns:a16="http://schemas.microsoft.com/office/drawing/2014/main" id="{469820BE-3F63-E971-2BFD-945C20A6E57A}"/>
              </a:ext>
            </a:extLst>
          </p:cNvPr>
          <p:cNvSpPr/>
          <p:nvPr/>
        </p:nvSpPr>
        <p:spPr>
          <a:xfrm>
            <a:off x="608828" y="1601225"/>
            <a:ext cx="2392700" cy="435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A</a:t>
            </a:r>
            <a:r>
              <a:rPr lang="en-US" sz="2400" b="1" dirty="0"/>
              <a:t>pplication</a:t>
            </a:r>
          </a:p>
        </p:txBody>
      </p:sp>
      <p:sp>
        <p:nvSpPr>
          <p:cNvPr id="5" name="Rectangle 4">
            <a:extLst>
              <a:ext uri="{FF2B5EF4-FFF2-40B4-BE49-F238E27FC236}">
                <a16:creationId xmlns:a16="http://schemas.microsoft.com/office/drawing/2014/main" id="{5AD53A24-45F5-B9D6-7016-FD5B43E8BF8F}"/>
              </a:ext>
            </a:extLst>
          </p:cNvPr>
          <p:cNvSpPr/>
          <p:nvPr/>
        </p:nvSpPr>
        <p:spPr>
          <a:xfrm>
            <a:off x="608828" y="2024395"/>
            <a:ext cx="2392700" cy="435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P</a:t>
            </a:r>
            <a:r>
              <a:rPr lang="en-US" sz="2400" b="1" dirty="0"/>
              <a:t>resentation</a:t>
            </a:r>
          </a:p>
        </p:txBody>
      </p:sp>
      <p:sp>
        <p:nvSpPr>
          <p:cNvPr id="6" name="Rectangle 5">
            <a:extLst>
              <a:ext uri="{FF2B5EF4-FFF2-40B4-BE49-F238E27FC236}">
                <a16:creationId xmlns:a16="http://schemas.microsoft.com/office/drawing/2014/main" id="{811338E4-F5DA-5F54-3A29-A1BA9E32736F}"/>
              </a:ext>
            </a:extLst>
          </p:cNvPr>
          <p:cNvSpPr/>
          <p:nvPr/>
        </p:nvSpPr>
        <p:spPr>
          <a:xfrm>
            <a:off x="608828" y="2447565"/>
            <a:ext cx="2392700" cy="435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S</a:t>
            </a:r>
            <a:r>
              <a:rPr lang="en-US" sz="2400" b="1" dirty="0"/>
              <a:t>ession</a:t>
            </a:r>
          </a:p>
        </p:txBody>
      </p:sp>
      <p:sp>
        <p:nvSpPr>
          <p:cNvPr id="7" name="Rectangle 6">
            <a:extLst>
              <a:ext uri="{FF2B5EF4-FFF2-40B4-BE49-F238E27FC236}">
                <a16:creationId xmlns:a16="http://schemas.microsoft.com/office/drawing/2014/main" id="{6910F9CA-1A70-53CE-5CE5-FD1F33B254FB}"/>
              </a:ext>
            </a:extLst>
          </p:cNvPr>
          <p:cNvSpPr/>
          <p:nvPr/>
        </p:nvSpPr>
        <p:spPr>
          <a:xfrm>
            <a:off x="608828" y="2882571"/>
            <a:ext cx="2392700" cy="435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T</a:t>
            </a:r>
            <a:r>
              <a:rPr lang="en-US" sz="2400" b="1" dirty="0"/>
              <a:t>ransport</a:t>
            </a:r>
          </a:p>
        </p:txBody>
      </p:sp>
      <p:sp>
        <p:nvSpPr>
          <p:cNvPr id="8" name="Rectangle 7">
            <a:extLst>
              <a:ext uri="{FF2B5EF4-FFF2-40B4-BE49-F238E27FC236}">
                <a16:creationId xmlns:a16="http://schemas.microsoft.com/office/drawing/2014/main" id="{6ECCBD95-C25B-B17C-5C4B-D4DEA007A3DA}"/>
              </a:ext>
            </a:extLst>
          </p:cNvPr>
          <p:cNvSpPr/>
          <p:nvPr/>
        </p:nvSpPr>
        <p:spPr>
          <a:xfrm>
            <a:off x="608828" y="3317577"/>
            <a:ext cx="2392700" cy="43500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N</a:t>
            </a:r>
            <a:r>
              <a:rPr lang="en-US" sz="2400" b="1" dirty="0"/>
              <a:t>etwork</a:t>
            </a:r>
          </a:p>
        </p:txBody>
      </p:sp>
      <p:sp>
        <p:nvSpPr>
          <p:cNvPr id="9" name="Rectangle 8">
            <a:extLst>
              <a:ext uri="{FF2B5EF4-FFF2-40B4-BE49-F238E27FC236}">
                <a16:creationId xmlns:a16="http://schemas.microsoft.com/office/drawing/2014/main" id="{BEBFE19B-D424-B104-638E-D4C3E98D0807}"/>
              </a:ext>
            </a:extLst>
          </p:cNvPr>
          <p:cNvSpPr/>
          <p:nvPr/>
        </p:nvSpPr>
        <p:spPr>
          <a:xfrm>
            <a:off x="608828" y="3752583"/>
            <a:ext cx="2392700" cy="43500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D</a:t>
            </a:r>
            <a:r>
              <a:rPr lang="en-US" sz="2400" b="1" dirty="0"/>
              <a:t>ata Link</a:t>
            </a:r>
          </a:p>
        </p:txBody>
      </p:sp>
      <p:sp>
        <p:nvSpPr>
          <p:cNvPr id="10" name="Rectangle 9">
            <a:extLst>
              <a:ext uri="{FF2B5EF4-FFF2-40B4-BE49-F238E27FC236}">
                <a16:creationId xmlns:a16="http://schemas.microsoft.com/office/drawing/2014/main" id="{5AAC15EA-27B1-5AC1-9C94-1F0535DD5C9E}"/>
              </a:ext>
            </a:extLst>
          </p:cNvPr>
          <p:cNvSpPr/>
          <p:nvPr/>
        </p:nvSpPr>
        <p:spPr>
          <a:xfrm>
            <a:off x="608828" y="4187589"/>
            <a:ext cx="2392700" cy="43500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P</a:t>
            </a:r>
            <a:r>
              <a:rPr lang="en-US" sz="2400" b="1" dirty="0"/>
              <a:t>hysical Layer</a:t>
            </a:r>
          </a:p>
        </p:txBody>
      </p:sp>
      <p:pic>
        <p:nvPicPr>
          <p:cNvPr id="12" name="Picture 11">
            <a:extLst>
              <a:ext uri="{FF2B5EF4-FFF2-40B4-BE49-F238E27FC236}">
                <a16:creationId xmlns:a16="http://schemas.microsoft.com/office/drawing/2014/main" id="{189FFD90-7B31-141F-4D5D-BEADFB24F6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83299" y="1664120"/>
            <a:ext cx="2288959" cy="858360"/>
          </a:xfrm>
          <a:prstGeom prst="rect">
            <a:avLst/>
          </a:prstGeom>
        </p:spPr>
      </p:pic>
      <p:sp>
        <p:nvSpPr>
          <p:cNvPr id="13" name="TextBox 12">
            <a:extLst>
              <a:ext uri="{FF2B5EF4-FFF2-40B4-BE49-F238E27FC236}">
                <a16:creationId xmlns:a16="http://schemas.microsoft.com/office/drawing/2014/main" id="{BDA6D823-CB0C-C99C-9825-3F08B41F95A2}"/>
              </a:ext>
            </a:extLst>
          </p:cNvPr>
          <p:cNvSpPr txBox="1"/>
          <p:nvPr/>
        </p:nvSpPr>
        <p:spPr>
          <a:xfrm>
            <a:off x="608828" y="4977571"/>
            <a:ext cx="2392700" cy="646331"/>
          </a:xfrm>
          <a:prstGeom prst="rect">
            <a:avLst/>
          </a:prstGeom>
          <a:noFill/>
        </p:spPr>
        <p:txBody>
          <a:bodyPr wrap="square" rtlCol="0">
            <a:spAutoFit/>
          </a:bodyPr>
          <a:lstStyle/>
          <a:p>
            <a:pPr algn="ctr"/>
            <a:r>
              <a:rPr lang="en-US" b="1" dirty="0">
                <a:solidFill>
                  <a:srgbClr val="FF0000"/>
                </a:solidFill>
              </a:rPr>
              <a:t>A</a:t>
            </a:r>
            <a:r>
              <a:rPr lang="en-US" dirty="0"/>
              <a:t>ll </a:t>
            </a:r>
            <a:r>
              <a:rPr lang="en-US" b="1" dirty="0">
                <a:solidFill>
                  <a:srgbClr val="FF0000"/>
                </a:solidFill>
              </a:rPr>
              <a:t>P</a:t>
            </a:r>
            <a:r>
              <a:rPr lang="en-US" dirty="0"/>
              <a:t>eople </a:t>
            </a:r>
            <a:r>
              <a:rPr lang="en-US" b="1" dirty="0">
                <a:solidFill>
                  <a:srgbClr val="FF0000"/>
                </a:solidFill>
              </a:rPr>
              <a:t>S</a:t>
            </a:r>
            <a:r>
              <a:rPr lang="en-US" dirty="0"/>
              <a:t>hould </a:t>
            </a:r>
            <a:r>
              <a:rPr lang="en-US" b="1" dirty="0">
                <a:solidFill>
                  <a:srgbClr val="FF0000"/>
                </a:solidFill>
              </a:rPr>
              <a:t>T</a:t>
            </a:r>
            <a:r>
              <a:rPr lang="en-US" dirty="0"/>
              <a:t>ry </a:t>
            </a:r>
            <a:r>
              <a:rPr lang="en-US" b="1" dirty="0">
                <a:solidFill>
                  <a:srgbClr val="FF0000"/>
                </a:solidFill>
              </a:rPr>
              <a:t>N</a:t>
            </a:r>
            <a:r>
              <a:rPr lang="en-US" dirty="0"/>
              <a:t>ew </a:t>
            </a:r>
            <a:r>
              <a:rPr lang="en-US" b="1" dirty="0">
                <a:solidFill>
                  <a:srgbClr val="FF0000"/>
                </a:solidFill>
              </a:rPr>
              <a:t>D</a:t>
            </a:r>
            <a:r>
              <a:rPr lang="en-US" dirty="0"/>
              <a:t>ata </a:t>
            </a:r>
            <a:r>
              <a:rPr lang="en-US" b="1" dirty="0">
                <a:solidFill>
                  <a:srgbClr val="FF0000"/>
                </a:solidFill>
              </a:rPr>
              <a:t>P</a:t>
            </a:r>
            <a:r>
              <a:rPr lang="en-US" dirty="0"/>
              <a:t>ath</a:t>
            </a:r>
          </a:p>
        </p:txBody>
      </p:sp>
      <p:pic>
        <p:nvPicPr>
          <p:cNvPr id="17" name="Picture 16">
            <a:extLst>
              <a:ext uri="{FF2B5EF4-FFF2-40B4-BE49-F238E27FC236}">
                <a16:creationId xmlns:a16="http://schemas.microsoft.com/office/drawing/2014/main" id="{200CCBCB-A38E-E0F5-18FB-D8F3560CDD6F}"/>
              </a:ext>
            </a:extLst>
          </p:cNvPr>
          <p:cNvPicPr>
            <a:picLocks noChangeAspect="1"/>
          </p:cNvPicPr>
          <p:nvPr/>
        </p:nvPicPr>
        <p:blipFill rotWithShape="1">
          <a:blip r:embed="rId3">
            <a:extLst>
              <a:ext uri="{28A0092B-C50C-407E-A947-70E740481C1C}">
                <a14:useLocalDpi xmlns:a14="http://schemas.microsoft.com/office/drawing/2010/main" val="0"/>
              </a:ext>
            </a:extLst>
          </a:blip>
          <a:srcRect b="73123"/>
          <a:stretch/>
        </p:blipFill>
        <p:spPr>
          <a:xfrm>
            <a:off x="5898174" y="2768687"/>
            <a:ext cx="4399924" cy="516051"/>
          </a:xfrm>
          <a:prstGeom prst="rect">
            <a:avLst/>
          </a:prstGeom>
        </p:spPr>
      </p:pic>
      <p:pic>
        <p:nvPicPr>
          <p:cNvPr id="19" name="Picture 18">
            <a:extLst>
              <a:ext uri="{FF2B5EF4-FFF2-40B4-BE49-F238E27FC236}">
                <a16:creationId xmlns:a16="http://schemas.microsoft.com/office/drawing/2014/main" id="{6ECC6EE2-7FD8-B229-9E6E-84A5CCF2F115}"/>
              </a:ext>
            </a:extLst>
          </p:cNvPr>
          <p:cNvPicPr>
            <a:picLocks noChangeAspect="1"/>
          </p:cNvPicPr>
          <p:nvPr/>
        </p:nvPicPr>
        <p:blipFill>
          <a:blip r:embed="rId4"/>
          <a:stretch>
            <a:fillRect/>
          </a:stretch>
        </p:blipFill>
        <p:spPr>
          <a:xfrm>
            <a:off x="9410330" y="3456949"/>
            <a:ext cx="1065320" cy="1133849"/>
          </a:xfrm>
          <a:prstGeom prst="rect">
            <a:avLst/>
          </a:prstGeom>
        </p:spPr>
      </p:pic>
      <p:pic>
        <p:nvPicPr>
          <p:cNvPr id="21" name="Picture 20">
            <a:extLst>
              <a:ext uri="{FF2B5EF4-FFF2-40B4-BE49-F238E27FC236}">
                <a16:creationId xmlns:a16="http://schemas.microsoft.com/office/drawing/2014/main" id="{3819CCD7-2D3F-50AE-0894-8950DDD4005C}"/>
              </a:ext>
            </a:extLst>
          </p:cNvPr>
          <p:cNvPicPr>
            <a:picLocks noChangeAspect="1"/>
          </p:cNvPicPr>
          <p:nvPr/>
        </p:nvPicPr>
        <p:blipFill>
          <a:blip r:embed="rId5"/>
          <a:stretch>
            <a:fillRect/>
          </a:stretch>
        </p:blipFill>
        <p:spPr>
          <a:xfrm>
            <a:off x="5873628" y="3278953"/>
            <a:ext cx="1221257" cy="1311845"/>
          </a:xfrm>
          <a:prstGeom prst="rect">
            <a:avLst/>
          </a:prstGeom>
        </p:spPr>
      </p:pic>
      <p:pic>
        <p:nvPicPr>
          <p:cNvPr id="23" name="Picture 22">
            <a:extLst>
              <a:ext uri="{FF2B5EF4-FFF2-40B4-BE49-F238E27FC236}">
                <a16:creationId xmlns:a16="http://schemas.microsoft.com/office/drawing/2014/main" id="{D64E018C-4491-DD5E-0CDC-98FC9E3CE6A2}"/>
              </a:ext>
            </a:extLst>
          </p:cNvPr>
          <p:cNvPicPr>
            <a:picLocks noChangeAspect="1"/>
          </p:cNvPicPr>
          <p:nvPr/>
        </p:nvPicPr>
        <p:blipFill>
          <a:blip r:embed="rId6"/>
          <a:stretch>
            <a:fillRect/>
          </a:stretch>
        </p:blipFill>
        <p:spPr>
          <a:xfrm>
            <a:off x="7144099" y="3377650"/>
            <a:ext cx="1034928" cy="1213148"/>
          </a:xfrm>
          <a:prstGeom prst="rect">
            <a:avLst/>
          </a:prstGeom>
        </p:spPr>
      </p:pic>
      <p:pic>
        <p:nvPicPr>
          <p:cNvPr id="25" name="Picture 24">
            <a:extLst>
              <a:ext uri="{FF2B5EF4-FFF2-40B4-BE49-F238E27FC236}">
                <a16:creationId xmlns:a16="http://schemas.microsoft.com/office/drawing/2014/main" id="{8D918D86-A9B2-C84B-28FD-2DD730E802C9}"/>
              </a:ext>
            </a:extLst>
          </p:cNvPr>
          <p:cNvPicPr>
            <a:picLocks noChangeAspect="1"/>
          </p:cNvPicPr>
          <p:nvPr/>
        </p:nvPicPr>
        <p:blipFill>
          <a:blip r:embed="rId7"/>
          <a:stretch>
            <a:fillRect/>
          </a:stretch>
        </p:blipFill>
        <p:spPr>
          <a:xfrm>
            <a:off x="8395030" y="3456949"/>
            <a:ext cx="833232" cy="1133849"/>
          </a:xfrm>
          <a:prstGeom prst="rect">
            <a:avLst/>
          </a:prstGeom>
        </p:spPr>
      </p:pic>
    </p:spTree>
    <p:extLst>
      <p:ext uri="{BB962C8B-B14F-4D97-AF65-F5344CB8AC3E}">
        <p14:creationId xmlns:p14="http://schemas.microsoft.com/office/powerpoint/2010/main" val="2440364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1F258FAB-348C-3861-AE78-5A72DAB55CBD}"/>
              </a:ext>
            </a:extLst>
          </p:cNvPr>
          <p:cNvPicPr>
            <a:picLocks noChangeAspect="1"/>
          </p:cNvPicPr>
          <p:nvPr/>
        </p:nvPicPr>
        <p:blipFill>
          <a:blip r:embed="rId2"/>
          <a:stretch>
            <a:fillRect/>
          </a:stretch>
        </p:blipFill>
        <p:spPr>
          <a:xfrm>
            <a:off x="8495529" y="4171906"/>
            <a:ext cx="1070018" cy="529317"/>
          </a:xfrm>
          <a:prstGeom prst="rect">
            <a:avLst/>
          </a:prstGeom>
        </p:spPr>
      </p:pic>
      <p:pic>
        <p:nvPicPr>
          <p:cNvPr id="33" name="Picture 32">
            <a:extLst>
              <a:ext uri="{FF2B5EF4-FFF2-40B4-BE49-F238E27FC236}">
                <a16:creationId xmlns:a16="http://schemas.microsoft.com/office/drawing/2014/main" id="{C55A304D-DEC1-9B21-CC45-28759859D089}"/>
              </a:ext>
            </a:extLst>
          </p:cNvPr>
          <p:cNvPicPr>
            <a:picLocks noChangeAspect="1"/>
          </p:cNvPicPr>
          <p:nvPr/>
        </p:nvPicPr>
        <p:blipFill>
          <a:blip r:embed="rId3"/>
          <a:stretch>
            <a:fillRect/>
          </a:stretch>
        </p:blipFill>
        <p:spPr>
          <a:xfrm>
            <a:off x="6963350" y="4250421"/>
            <a:ext cx="1139347" cy="501313"/>
          </a:xfrm>
          <a:prstGeom prst="rect">
            <a:avLst/>
          </a:prstGeom>
        </p:spPr>
      </p:pic>
      <p:sp>
        <p:nvSpPr>
          <p:cNvPr id="2" name="Title 1">
            <a:extLst>
              <a:ext uri="{FF2B5EF4-FFF2-40B4-BE49-F238E27FC236}">
                <a16:creationId xmlns:a16="http://schemas.microsoft.com/office/drawing/2014/main" id="{AA8270C3-0F29-FC8B-7AA8-4FDCBF530AA9}"/>
              </a:ext>
            </a:extLst>
          </p:cNvPr>
          <p:cNvSpPr>
            <a:spLocks noGrp="1"/>
          </p:cNvSpPr>
          <p:nvPr>
            <p:ph type="title"/>
          </p:nvPr>
        </p:nvSpPr>
        <p:spPr>
          <a:xfrm>
            <a:off x="4247669" y="183473"/>
            <a:ext cx="4052952" cy="642151"/>
          </a:xfrm>
        </p:spPr>
        <p:txBody>
          <a:bodyPr>
            <a:normAutofit fontScale="90000"/>
          </a:bodyPr>
          <a:lstStyle/>
          <a:p>
            <a:r>
              <a:rPr lang="en-US" b="1" dirty="0"/>
              <a:t>OSI Model Layers</a:t>
            </a:r>
            <a:endParaRPr lang="en-US" dirty="0"/>
          </a:p>
        </p:txBody>
      </p:sp>
      <p:sp>
        <p:nvSpPr>
          <p:cNvPr id="3" name="Content Placeholder 2">
            <a:extLst>
              <a:ext uri="{FF2B5EF4-FFF2-40B4-BE49-F238E27FC236}">
                <a16:creationId xmlns:a16="http://schemas.microsoft.com/office/drawing/2014/main" id="{42F514DC-0BC7-41D4-93AC-E36B784716CB}"/>
              </a:ext>
            </a:extLst>
          </p:cNvPr>
          <p:cNvSpPr>
            <a:spLocks noGrp="1"/>
          </p:cNvSpPr>
          <p:nvPr>
            <p:ph idx="1"/>
          </p:nvPr>
        </p:nvSpPr>
        <p:spPr>
          <a:xfrm>
            <a:off x="3310440" y="956719"/>
            <a:ext cx="8656971" cy="5717808"/>
          </a:xfrm>
        </p:spPr>
        <p:txBody>
          <a:bodyPr>
            <a:normAutofit/>
          </a:bodyPr>
          <a:lstStyle/>
          <a:p>
            <a:pPr algn="just"/>
            <a:r>
              <a:rPr lang="en-US" b="1" dirty="0"/>
              <a:t>Presentation Layer: </a:t>
            </a:r>
            <a:r>
              <a:rPr lang="en-US" sz="1800" dirty="0"/>
              <a:t>The presentation layer provides a variety of coding and </a:t>
            </a:r>
            <a:r>
              <a:rPr lang="en-US" sz="1800" b="1" dirty="0"/>
              <a:t>conversion functions </a:t>
            </a:r>
            <a:r>
              <a:rPr lang="en-US" sz="1800" dirty="0"/>
              <a:t>on application data. These functions </a:t>
            </a:r>
            <a:r>
              <a:rPr lang="en-US" sz="1800" b="1" dirty="0"/>
              <a:t>ensure</a:t>
            </a:r>
            <a:r>
              <a:rPr lang="en-US" sz="1800" dirty="0"/>
              <a:t> that information sent from the application layer of the client would be </a:t>
            </a:r>
            <a:r>
              <a:rPr lang="en-US" sz="1800" b="1" dirty="0"/>
              <a:t>understood</a:t>
            </a:r>
            <a:r>
              <a:rPr lang="en-US" sz="1800" dirty="0"/>
              <a:t> by the application layer of the server.</a:t>
            </a:r>
          </a:p>
          <a:p>
            <a:pPr algn="just"/>
            <a:endParaRPr lang="en-US" sz="1800" dirty="0"/>
          </a:p>
          <a:p>
            <a:pPr algn="just"/>
            <a:endParaRPr lang="en-US" sz="1800" dirty="0"/>
          </a:p>
          <a:p>
            <a:pPr algn="just"/>
            <a:endParaRPr lang="en-US" sz="1800" dirty="0"/>
          </a:p>
          <a:p>
            <a:pPr algn="just"/>
            <a:endParaRPr lang="en-US" sz="1800" dirty="0"/>
          </a:p>
          <a:p>
            <a:pPr algn="just"/>
            <a:endParaRPr lang="en-US" sz="1800" dirty="0"/>
          </a:p>
          <a:p>
            <a:pPr algn="just"/>
            <a:endParaRPr lang="en-US" sz="1800" dirty="0"/>
          </a:p>
          <a:p>
            <a:pPr algn="just"/>
            <a:endParaRPr lang="en-US" sz="1800" dirty="0"/>
          </a:p>
          <a:p>
            <a:pPr algn="just"/>
            <a:endParaRPr lang="en-US" sz="1800" dirty="0"/>
          </a:p>
          <a:p>
            <a:pPr marL="45720" indent="0" algn="just">
              <a:buNone/>
            </a:pPr>
            <a:endParaRPr lang="en-US" sz="1800" dirty="0"/>
          </a:p>
          <a:p>
            <a:pPr marL="45720" indent="0" algn="just">
              <a:buNone/>
            </a:pPr>
            <a:endParaRPr lang="en-US" sz="1800" dirty="0"/>
          </a:p>
          <a:p>
            <a:pPr marL="45720" indent="0" algn="just">
              <a:buNone/>
            </a:pPr>
            <a:endParaRPr lang="en-US" sz="1800" dirty="0"/>
          </a:p>
          <a:p>
            <a:pPr marL="548640" lvl="2" indent="0">
              <a:buNone/>
            </a:pPr>
            <a:endParaRPr lang="en-US" dirty="0"/>
          </a:p>
          <a:p>
            <a:pPr marL="548640" lvl="2" indent="0">
              <a:buNone/>
            </a:pPr>
            <a:endParaRPr lang="en-US" dirty="0"/>
          </a:p>
          <a:p>
            <a:pPr marL="548640" lvl="2" indent="0">
              <a:buNone/>
            </a:pPr>
            <a:endParaRPr lang="en-US" dirty="0"/>
          </a:p>
          <a:p>
            <a:pPr marL="548640" lvl="2" indent="0">
              <a:buNone/>
            </a:pPr>
            <a:endParaRPr lang="en-US" dirty="0"/>
          </a:p>
        </p:txBody>
      </p:sp>
      <p:sp>
        <p:nvSpPr>
          <p:cNvPr id="4" name="Rectangle 3">
            <a:extLst>
              <a:ext uri="{FF2B5EF4-FFF2-40B4-BE49-F238E27FC236}">
                <a16:creationId xmlns:a16="http://schemas.microsoft.com/office/drawing/2014/main" id="{469820BE-3F63-E971-2BFD-945C20A6E57A}"/>
              </a:ext>
            </a:extLst>
          </p:cNvPr>
          <p:cNvSpPr/>
          <p:nvPr/>
        </p:nvSpPr>
        <p:spPr>
          <a:xfrm>
            <a:off x="608828" y="1601225"/>
            <a:ext cx="2120564" cy="3666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rPr>
              <a:t>A</a:t>
            </a:r>
            <a:r>
              <a:rPr lang="en-US" sz="1600" b="1" dirty="0"/>
              <a:t>pplication</a:t>
            </a:r>
          </a:p>
        </p:txBody>
      </p:sp>
      <p:sp>
        <p:nvSpPr>
          <p:cNvPr id="5" name="Rectangle 4">
            <a:extLst>
              <a:ext uri="{FF2B5EF4-FFF2-40B4-BE49-F238E27FC236}">
                <a16:creationId xmlns:a16="http://schemas.microsoft.com/office/drawing/2014/main" id="{5AD53A24-45F5-B9D6-7016-FD5B43E8BF8F}"/>
              </a:ext>
            </a:extLst>
          </p:cNvPr>
          <p:cNvSpPr/>
          <p:nvPr/>
        </p:nvSpPr>
        <p:spPr>
          <a:xfrm>
            <a:off x="608828" y="2024395"/>
            <a:ext cx="2120564" cy="3666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rPr>
              <a:t>P</a:t>
            </a:r>
            <a:r>
              <a:rPr lang="en-US" sz="1600" b="1" dirty="0"/>
              <a:t>resentation</a:t>
            </a:r>
          </a:p>
        </p:txBody>
      </p:sp>
      <p:sp>
        <p:nvSpPr>
          <p:cNvPr id="6" name="Rectangle 5">
            <a:extLst>
              <a:ext uri="{FF2B5EF4-FFF2-40B4-BE49-F238E27FC236}">
                <a16:creationId xmlns:a16="http://schemas.microsoft.com/office/drawing/2014/main" id="{811338E4-F5DA-5F54-3A29-A1BA9E32736F}"/>
              </a:ext>
            </a:extLst>
          </p:cNvPr>
          <p:cNvSpPr/>
          <p:nvPr/>
        </p:nvSpPr>
        <p:spPr>
          <a:xfrm>
            <a:off x="608828" y="2447565"/>
            <a:ext cx="2120564" cy="3666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rPr>
              <a:t>S</a:t>
            </a:r>
            <a:r>
              <a:rPr lang="en-US" sz="1600" b="1" dirty="0"/>
              <a:t>ession</a:t>
            </a:r>
          </a:p>
        </p:txBody>
      </p:sp>
      <p:sp>
        <p:nvSpPr>
          <p:cNvPr id="7" name="Rectangle 6">
            <a:extLst>
              <a:ext uri="{FF2B5EF4-FFF2-40B4-BE49-F238E27FC236}">
                <a16:creationId xmlns:a16="http://schemas.microsoft.com/office/drawing/2014/main" id="{6910F9CA-1A70-53CE-5CE5-FD1F33B254FB}"/>
              </a:ext>
            </a:extLst>
          </p:cNvPr>
          <p:cNvSpPr/>
          <p:nvPr/>
        </p:nvSpPr>
        <p:spPr>
          <a:xfrm>
            <a:off x="608828" y="2882571"/>
            <a:ext cx="2120564" cy="3666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rPr>
              <a:t>T</a:t>
            </a:r>
            <a:r>
              <a:rPr lang="en-US" sz="1600" b="1" dirty="0"/>
              <a:t>ransport</a:t>
            </a:r>
          </a:p>
        </p:txBody>
      </p:sp>
      <p:sp>
        <p:nvSpPr>
          <p:cNvPr id="8" name="Rectangle 7">
            <a:extLst>
              <a:ext uri="{FF2B5EF4-FFF2-40B4-BE49-F238E27FC236}">
                <a16:creationId xmlns:a16="http://schemas.microsoft.com/office/drawing/2014/main" id="{6ECCBD95-C25B-B17C-5C4B-D4DEA007A3DA}"/>
              </a:ext>
            </a:extLst>
          </p:cNvPr>
          <p:cNvSpPr/>
          <p:nvPr/>
        </p:nvSpPr>
        <p:spPr>
          <a:xfrm>
            <a:off x="608828" y="3317577"/>
            <a:ext cx="2120564" cy="36665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rPr>
              <a:t>N</a:t>
            </a:r>
            <a:r>
              <a:rPr lang="en-US" sz="1600" b="1" dirty="0"/>
              <a:t>etwork</a:t>
            </a:r>
          </a:p>
        </p:txBody>
      </p:sp>
      <p:sp>
        <p:nvSpPr>
          <p:cNvPr id="9" name="Rectangle 8">
            <a:extLst>
              <a:ext uri="{FF2B5EF4-FFF2-40B4-BE49-F238E27FC236}">
                <a16:creationId xmlns:a16="http://schemas.microsoft.com/office/drawing/2014/main" id="{BEBFE19B-D424-B104-638E-D4C3E98D0807}"/>
              </a:ext>
            </a:extLst>
          </p:cNvPr>
          <p:cNvSpPr/>
          <p:nvPr/>
        </p:nvSpPr>
        <p:spPr>
          <a:xfrm>
            <a:off x="608828" y="3752583"/>
            <a:ext cx="2120564" cy="36665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rPr>
              <a:t>D</a:t>
            </a:r>
            <a:r>
              <a:rPr lang="en-US" sz="1600" b="1" dirty="0"/>
              <a:t>ata Link</a:t>
            </a:r>
          </a:p>
        </p:txBody>
      </p:sp>
      <p:sp>
        <p:nvSpPr>
          <p:cNvPr id="10" name="Rectangle 9">
            <a:extLst>
              <a:ext uri="{FF2B5EF4-FFF2-40B4-BE49-F238E27FC236}">
                <a16:creationId xmlns:a16="http://schemas.microsoft.com/office/drawing/2014/main" id="{5AAC15EA-27B1-5AC1-9C94-1F0535DD5C9E}"/>
              </a:ext>
            </a:extLst>
          </p:cNvPr>
          <p:cNvSpPr/>
          <p:nvPr/>
        </p:nvSpPr>
        <p:spPr>
          <a:xfrm>
            <a:off x="608828" y="4187589"/>
            <a:ext cx="2120564" cy="36665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rPr>
              <a:t>P</a:t>
            </a:r>
            <a:r>
              <a:rPr lang="en-US" sz="1600" b="1" dirty="0"/>
              <a:t>hysical Layer</a:t>
            </a:r>
          </a:p>
        </p:txBody>
      </p:sp>
      <p:sp>
        <p:nvSpPr>
          <p:cNvPr id="11" name="Arrow: Curved Left 10">
            <a:extLst>
              <a:ext uri="{FF2B5EF4-FFF2-40B4-BE49-F238E27FC236}">
                <a16:creationId xmlns:a16="http://schemas.microsoft.com/office/drawing/2014/main" id="{79D8A7FA-0DCC-66D1-0007-DFE78200974C}"/>
              </a:ext>
            </a:extLst>
          </p:cNvPr>
          <p:cNvSpPr/>
          <p:nvPr/>
        </p:nvSpPr>
        <p:spPr>
          <a:xfrm>
            <a:off x="2780581" y="1765466"/>
            <a:ext cx="371987" cy="435006"/>
          </a:xfrm>
          <a:prstGeom prst="curved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tx1"/>
              </a:solidFill>
            </a:endParaRPr>
          </a:p>
        </p:txBody>
      </p:sp>
      <p:pic>
        <p:nvPicPr>
          <p:cNvPr id="15" name="Picture 14">
            <a:extLst>
              <a:ext uri="{FF2B5EF4-FFF2-40B4-BE49-F238E27FC236}">
                <a16:creationId xmlns:a16="http://schemas.microsoft.com/office/drawing/2014/main" id="{D07339E1-A0C0-93BF-4FDC-3AC94B136F14}"/>
              </a:ext>
            </a:extLst>
          </p:cNvPr>
          <p:cNvPicPr>
            <a:picLocks noChangeAspect="1"/>
          </p:cNvPicPr>
          <p:nvPr/>
        </p:nvPicPr>
        <p:blipFill>
          <a:blip r:embed="rId4"/>
          <a:stretch>
            <a:fillRect/>
          </a:stretch>
        </p:blipFill>
        <p:spPr>
          <a:xfrm>
            <a:off x="7038213" y="1955193"/>
            <a:ext cx="2222417" cy="1486454"/>
          </a:xfrm>
          <a:prstGeom prst="rect">
            <a:avLst/>
          </a:prstGeom>
        </p:spPr>
      </p:pic>
      <p:pic>
        <p:nvPicPr>
          <p:cNvPr id="18" name="Picture 17">
            <a:extLst>
              <a:ext uri="{FF2B5EF4-FFF2-40B4-BE49-F238E27FC236}">
                <a16:creationId xmlns:a16="http://schemas.microsoft.com/office/drawing/2014/main" id="{0EC48987-DCCA-02BB-4B44-019C4C65F356}"/>
              </a:ext>
            </a:extLst>
          </p:cNvPr>
          <p:cNvPicPr>
            <a:picLocks noChangeAspect="1"/>
          </p:cNvPicPr>
          <p:nvPr/>
        </p:nvPicPr>
        <p:blipFill>
          <a:blip r:embed="rId5"/>
          <a:stretch>
            <a:fillRect/>
          </a:stretch>
        </p:blipFill>
        <p:spPr>
          <a:xfrm>
            <a:off x="9346507" y="2815430"/>
            <a:ext cx="1495940" cy="763488"/>
          </a:xfrm>
          <a:prstGeom prst="rect">
            <a:avLst/>
          </a:prstGeom>
        </p:spPr>
      </p:pic>
      <p:pic>
        <p:nvPicPr>
          <p:cNvPr id="20" name="Picture 19">
            <a:extLst>
              <a:ext uri="{FF2B5EF4-FFF2-40B4-BE49-F238E27FC236}">
                <a16:creationId xmlns:a16="http://schemas.microsoft.com/office/drawing/2014/main" id="{6EFAEE63-E95C-0CEA-AEF0-1C9C824A6E52}"/>
              </a:ext>
            </a:extLst>
          </p:cNvPr>
          <p:cNvPicPr>
            <a:picLocks noChangeAspect="1"/>
          </p:cNvPicPr>
          <p:nvPr/>
        </p:nvPicPr>
        <p:blipFill>
          <a:blip r:embed="rId5"/>
          <a:stretch>
            <a:fillRect/>
          </a:stretch>
        </p:blipFill>
        <p:spPr>
          <a:xfrm>
            <a:off x="3870464" y="4250422"/>
            <a:ext cx="1183739" cy="604149"/>
          </a:xfrm>
          <a:prstGeom prst="rect">
            <a:avLst/>
          </a:prstGeom>
        </p:spPr>
      </p:pic>
      <p:pic>
        <p:nvPicPr>
          <p:cNvPr id="24" name="Picture 23">
            <a:extLst>
              <a:ext uri="{FF2B5EF4-FFF2-40B4-BE49-F238E27FC236}">
                <a16:creationId xmlns:a16="http://schemas.microsoft.com/office/drawing/2014/main" id="{DBB0B62F-4917-52E5-FECF-E34ACB525102}"/>
              </a:ext>
            </a:extLst>
          </p:cNvPr>
          <p:cNvPicPr>
            <a:picLocks noChangeAspect="1"/>
          </p:cNvPicPr>
          <p:nvPr/>
        </p:nvPicPr>
        <p:blipFill>
          <a:blip r:embed="rId6"/>
          <a:stretch>
            <a:fillRect/>
          </a:stretch>
        </p:blipFill>
        <p:spPr>
          <a:xfrm>
            <a:off x="5307120" y="4251907"/>
            <a:ext cx="1536033" cy="378277"/>
          </a:xfrm>
          <a:prstGeom prst="rect">
            <a:avLst/>
          </a:prstGeom>
        </p:spPr>
      </p:pic>
      <p:pic>
        <p:nvPicPr>
          <p:cNvPr id="27" name="Picture 26">
            <a:extLst>
              <a:ext uri="{FF2B5EF4-FFF2-40B4-BE49-F238E27FC236}">
                <a16:creationId xmlns:a16="http://schemas.microsoft.com/office/drawing/2014/main" id="{9FA6FBF6-3651-D3F0-9A71-3259D8FF942D}"/>
              </a:ext>
            </a:extLst>
          </p:cNvPr>
          <p:cNvPicPr>
            <a:picLocks noChangeAspect="1"/>
          </p:cNvPicPr>
          <p:nvPr/>
        </p:nvPicPr>
        <p:blipFill>
          <a:blip r:embed="rId7"/>
          <a:stretch>
            <a:fillRect/>
          </a:stretch>
        </p:blipFill>
        <p:spPr>
          <a:xfrm>
            <a:off x="4516808" y="3678338"/>
            <a:ext cx="1334644" cy="535737"/>
          </a:xfrm>
          <a:prstGeom prst="rect">
            <a:avLst/>
          </a:prstGeom>
        </p:spPr>
      </p:pic>
      <p:pic>
        <p:nvPicPr>
          <p:cNvPr id="29" name="Picture 28">
            <a:extLst>
              <a:ext uri="{FF2B5EF4-FFF2-40B4-BE49-F238E27FC236}">
                <a16:creationId xmlns:a16="http://schemas.microsoft.com/office/drawing/2014/main" id="{A75AD89B-758C-98DE-9CB4-75D2249F0EA7}"/>
              </a:ext>
            </a:extLst>
          </p:cNvPr>
          <p:cNvPicPr>
            <a:picLocks noChangeAspect="1"/>
          </p:cNvPicPr>
          <p:nvPr/>
        </p:nvPicPr>
        <p:blipFill>
          <a:blip r:embed="rId8"/>
          <a:stretch>
            <a:fillRect/>
          </a:stretch>
        </p:blipFill>
        <p:spPr>
          <a:xfrm>
            <a:off x="4112478" y="4939578"/>
            <a:ext cx="2389283" cy="489425"/>
          </a:xfrm>
          <a:prstGeom prst="rect">
            <a:avLst/>
          </a:prstGeom>
        </p:spPr>
      </p:pic>
      <p:pic>
        <p:nvPicPr>
          <p:cNvPr id="31" name="Picture 30">
            <a:extLst>
              <a:ext uri="{FF2B5EF4-FFF2-40B4-BE49-F238E27FC236}">
                <a16:creationId xmlns:a16="http://schemas.microsoft.com/office/drawing/2014/main" id="{82A2B2A5-8766-9663-0CDC-5BC3D5CA5E4D}"/>
              </a:ext>
            </a:extLst>
          </p:cNvPr>
          <p:cNvPicPr>
            <a:picLocks noChangeAspect="1"/>
          </p:cNvPicPr>
          <p:nvPr/>
        </p:nvPicPr>
        <p:blipFill>
          <a:blip r:embed="rId9"/>
          <a:stretch>
            <a:fillRect/>
          </a:stretch>
        </p:blipFill>
        <p:spPr>
          <a:xfrm>
            <a:off x="6313748" y="3459787"/>
            <a:ext cx="1236695" cy="807914"/>
          </a:xfrm>
          <a:prstGeom prst="rect">
            <a:avLst/>
          </a:prstGeom>
        </p:spPr>
      </p:pic>
      <p:pic>
        <p:nvPicPr>
          <p:cNvPr id="35" name="Picture 34">
            <a:extLst>
              <a:ext uri="{FF2B5EF4-FFF2-40B4-BE49-F238E27FC236}">
                <a16:creationId xmlns:a16="http://schemas.microsoft.com/office/drawing/2014/main" id="{FBF3180C-97DE-57C0-4291-82D5B38E3E38}"/>
              </a:ext>
            </a:extLst>
          </p:cNvPr>
          <p:cNvPicPr>
            <a:picLocks noChangeAspect="1"/>
          </p:cNvPicPr>
          <p:nvPr/>
        </p:nvPicPr>
        <p:blipFill>
          <a:blip r:embed="rId10"/>
          <a:stretch>
            <a:fillRect/>
          </a:stretch>
        </p:blipFill>
        <p:spPr>
          <a:xfrm>
            <a:off x="7050078" y="4799329"/>
            <a:ext cx="1183739" cy="549053"/>
          </a:xfrm>
          <a:prstGeom prst="rect">
            <a:avLst/>
          </a:prstGeom>
        </p:spPr>
      </p:pic>
      <p:pic>
        <p:nvPicPr>
          <p:cNvPr id="37" name="Picture 36">
            <a:extLst>
              <a:ext uri="{FF2B5EF4-FFF2-40B4-BE49-F238E27FC236}">
                <a16:creationId xmlns:a16="http://schemas.microsoft.com/office/drawing/2014/main" id="{3085A419-EA69-AAAD-7711-F5DFE1482CA5}"/>
              </a:ext>
            </a:extLst>
          </p:cNvPr>
          <p:cNvPicPr>
            <a:picLocks noChangeAspect="1"/>
          </p:cNvPicPr>
          <p:nvPr/>
        </p:nvPicPr>
        <p:blipFill>
          <a:blip r:embed="rId11"/>
          <a:stretch>
            <a:fillRect/>
          </a:stretch>
        </p:blipFill>
        <p:spPr>
          <a:xfrm>
            <a:off x="7562329" y="3453157"/>
            <a:ext cx="2445148" cy="852232"/>
          </a:xfrm>
          <a:prstGeom prst="rect">
            <a:avLst/>
          </a:prstGeom>
        </p:spPr>
      </p:pic>
      <p:pic>
        <p:nvPicPr>
          <p:cNvPr id="41" name="Picture 40">
            <a:extLst>
              <a:ext uri="{FF2B5EF4-FFF2-40B4-BE49-F238E27FC236}">
                <a16:creationId xmlns:a16="http://schemas.microsoft.com/office/drawing/2014/main" id="{783524E9-5110-F4AE-F20B-46F5E3306ED3}"/>
              </a:ext>
            </a:extLst>
          </p:cNvPr>
          <p:cNvPicPr>
            <a:picLocks noChangeAspect="1"/>
          </p:cNvPicPr>
          <p:nvPr/>
        </p:nvPicPr>
        <p:blipFill>
          <a:blip r:embed="rId12"/>
          <a:stretch>
            <a:fillRect/>
          </a:stretch>
        </p:blipFill>
        <p:spPr>
          <a:xfrm>
            <a:off x="9117737" y="4616172"/>
            <a:ext cx="980836" cy="1244907"/>
          </a:xfrm>
          <a:prstGeom prst="rect">
            <a:avLst/>
          </a:prstGeom>
        </p:spPr>
      </p:pic>
      <p:pic>
        <p:nvPicPr>
          <p:cNvPr id="43" name="Picture 42">
            <a:extLst>
              <a:ext uri="{FF2B5EF4-FFF2-40B4-BE49-F238E27FC236}">
                <a16:creationId xmlns:a16="http://schemas.microsoft.com/office/drawing/2014/main" id="{8CBB0861-DD1F-8A1E-B2A0-59388C285E33}"/>
              </a:ext>
            </a:extLst>
          </p:cNvPr>
          <p:cNvPicPr>
            <a:picLocks noChangeAspect="1"/>
          </p:cNvPicPr>
          <p:nvPr/>
        </p:nvPicPr>
        <p:blipFill>
          <a:blip r:embed="rId13"/>
          <a:stretch>
            <a:fillRect/>
          </a:stretch>
        </p:blipFill>
        <p:spPr>
          <a:xfrm>
            <a:off x="7937429" y="4547466"/>
            <a:ext cx="658965" cy="299069"/>
          </a:xfrm>
          <a:prstGeom prst="rect">
            <a:avLst/>
          </a:prstGeom>
        </p:spPr>
      </p:pic>
      <p:sp>
        <p:nvSpPr>
          <p:cNvPr id="44" name="TextBox 43">
            <a:extLst>
              <a:ext uri="{FF2B5EF4-FFF2-40B4-BE49-F238E27FC236}">
                <a16:creationId xmlns:a16="http://schemas.microsoft.com/office/drawing/2014/main" id="{0D76D4F4-57EC-414E-D2D2-2DB02AA58E50}"/>
              </a:ext>
            </a:extLst>
          </p:cNvPr>
          <p:cNvSpPr txBox="1"/>
          <p:nvPr/>
        </p:nvSpPr>
        <p:spPr>
          <a:xfrm>
            <a:off x="668388" y="6039706"/>
            <a:ext cx="10891571" cy="646331"/>
          </a:xfrm>
          <a:prstGeom prst="rect">
            <a:avLst/>
          </a:prstGeom>
          <a:noFill/>
        </p:spPr>
        <p:txBody>
          <a:bodyPr wrap="none" rtlCol="0">
            <a:spAutoFit/>
          </a:bodyPr>
          <a:lstStyle/>
          <a:p>
            <a:r>
              <a:rPr lang="en-US" sz="1800" dirty="0"/>
              <a:t>This layer tries to </a:t>
            </a:r>
            <a:r>
              <a:rPr lang="en-US" sz="1800" b="1" dirty="0"/>
              <a:t>translate </a:t>
            </a:r>
            <a:r>
              <a:rPr lang="en-US" sz="1800" dirty="0"/>
              <a:t>application data into a certain format that every different system </a:t>
            </a:r>
            <a:r>
              <a:rPr lang="en-US" sz="1800" b="1" dirty="0"/>
              <a:t>could understand</a:t>
            </a:r>
            <a:r>
              <a:rPr lang="en-US" sz="1800" dirty="0"/>
              <a:t>.  </a:t>
            </a:r>
            <a:endParaRPr lang="en-US" dirty="0"/>
          </a:p>
          <a:p>
            <a:endParaRPr lang="en-US" b="1" dirty="0"/>
          </a:p>
        </p:txBody>
      </p:sp>
    </p:spTree>
    <p:extLst>
      <p:ext uri="{BB962C8B-B14F-4D97-AF65-F5344CB8AC3E}">
        <p14:creationId xmlns:p14="http://schemas.microsoft.com/office/powerpoint/2010/main" val="3041436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mph" presetSubtype="0" fill="hold" grpId="0" nodeType="clickEffect">
                                  <p:stCondLst>
                                    <p:cond delay="0"/>
                                  </p:stCondLst>
                                  <p:childTnLst>
                                    <p:animEffect transition="out" filter="fade">
                                      <p:cBhvr>
                                        <p:cTn id="10" dur="500" tmFilter="0, 0; .2, .5; .8, .5; 1, 0"/>
                                        <p:tgtEl>
                                          <p:spTgt spid="5"/>
                                        </p:tgtEl>
                                      </p:cBhvr>
                                    </p:animEffect>
                                    <p:animScale>
                                      <p:cBhvr>
                                        <p:cTn id="11" dur="250" autoRev="1" fill="hold"/>
                                        <p:tgtEl>
                                          <p:spTgt spid="5"/>
                                        </p:tgtEl>
                                      </p:cBhvr>
                                      <p:by x="105000" y="105000"/>
                                    </p:animScale>
                                  </p:childTnLst>
                                </p:cTn>
                              </p:par>
                              <p:par>
                                <p:cTn id="12" presetID="1" presetClass="entr" presetSubtype="0" fill="hold" nodeType="with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down)">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down)">
                                      <p:cBhvr>
                                        <p:cTn id="27" dur="500"/>
                                        <p:tgtEl>
                                          <p:spTgt spid="27"/>
                                        </p:tgtEl>
                                      </p:cBhvr>
                                    </p:animEffect>
                                  </p:childTnLst>
                                </p:cTn>
                              </p:par>
                              <p:par>
                                <p:cTn id="28" presetID="22" presetClass="entr" presetSubtype="4" fill="hold"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down)">
                                      <p:cBhvr>
                                        <p:cTn id="30" dur="500"/>
                                        <p:tgtEl>
                                          <p:spTgt spid="24"/>
                                        </p:tgtEl>
                                      </p:cBhvr>
                                    </p:animEffect>
                                  </p:childTnLst>
                                </p:cTn>
                              </p:par>
                              <p:par>
                                <p:cTn id="31" presetID="1" presetClass="entr" presetSubtype="0"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4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270C3-0F29-FC8B-7AA8-4FDCBF530AA9}"/>
              </a:ext>
            </a:extLst>
          </p:cNvPr>
          <p:cNvSpPr>
            <a:spLocks noGrp="1"/>
          </p:cNvSpPr>
          <p:nvPr>
            <p:ph type="title"/>
          </p:nvPr>
        </p:nvSpPr>
        <p:spPr>
          <a:xfrm>
            <a:off x="4247669" y="183473"/>
            <a:ext cx="4052952" cy="642151"/>
          </a:xfrm>
        </p:spPr>
        <p:txBody>
          <a:bodyPr>
            <a:normAutofit fontScale="90000"/>
          </a:bodyPr>
          <a:lstStyle/>
          <a:p>
            <a:r>
              <a:rPr lang="en-US" b="1" dirty="0"/>
              <a:t>OSI Model Layers</a:t>
            </a:r>
            <a:endParaRPr lang="en-US" dirty="0"/>
          </a:p>
        </p:txBody>
      </p:sp>
      <p:sp>
        <p:nvSpPr>
          <p:cNvPr id="3" name="Content Placeholder 2">
            <a:extLst>
              <a:ext uri="{FF2B5EF4-FFF2-40B4-BE49-F238E27FC236}">
                <a16:creationId xmlns:a16="http://schemas.microsoft.com/office/drawing/2014/main" id="{42F514DC-0BC7-41D4-93AC-E36B784716CB}"/>
              </a:ext>
            </a:extLst>
          </p:cNvPr>
          <p:cNvSpPr>
            <a:spLocks noGrp="1"/>
          </p:cNvSpPr>
          <p:nvPr>
            <p:ph idx="1"/>
          </p:nvPr>
        </p:nvSpPr>
        <p:spPr>
          <a:xfrm>
            <a:off x="2938510" y="956719"/>
            <a:ext cx="9028902" cy="5470714"/>
          </a:xfrm>
        </p:spPr>
        <p:txBody>
          <a:bodyPr>
            <a:normAutofit/>
          </a:bodyPr>
          <a:lstStyle/>
          <a:p>
            <a:pPr algn="just"/>
            <a:r>
              <a:rPr lang="en-US" sz="2600" b="1" dirty="0"/>
              <a:t>Session Layer: </a:t>
            </a:r>
          </a:p>
          <a:p>
            <a:pPr algn="just"/>
            <a:r>
              <a:rPr lang="en-US" sz="2000" i="1" dirty="0"/>
              <a:t>Main Function: </a:t>
            </a:r>
          </a:p>
          <a:p>
            <a:pPr lvl="1" algn="just"/>
            <a:r>
              <a:rPr lang="en-US" sz="1800" dirty="0"/>
              <a:t>To establish</a:t>
            </a:r>
          </a:p>
          <a:p>
            <a:pPr lvl="1" algn="just"/>
            <a:r>
              <a:rPr lang="en-US" sz="1800" dirty="0"/>
              <a:t>Manage</a:t>
            </a:r>
          </a:p>
          <a:p>
            <a:pPr lvl="1" algn="just"/>
            <a:r>
              <a:rPr lang="en-US" sz="1800" dirty="0"/>
              <a:t>And terminate</a:t>
            </a:r>
          </a:p>
          <a:p>
            <a:pPr lvl="1" algn="just"/>
            <a:r>
              <a:rPr lang="en-US" sz="1800" dirty="0"/>
              <a:t>Connections between the sender and the receiver</a:t>
            </a:r>
          </a:p>
          <a:p>
            <a:pPr marL="274320" lvl="1" indent="0" algn="just">
              <a:buNone/>
            </a:pPr>
            <a:r>
              <a:rPr lang="en-US" sz="1800" dirty="0"/>
              <a:t>The session layer can also set checkpoints during a data transfer—if the session is interrupted, devices can resume data transfer from the last checkpoint.</a:t>
            </a:r>
          </a:p>
          <a:p>
            <a:pPr algn="just"/>
            <a:r>
              <a:rPr lang="en-US" sz="2400" b="1" dirty="0">
                <a:highlight>
                  <a:srgbClr val="FFFF00"/>
                </a:highlight>
              </a:rPr>
              <a:t>Transport Layer</a:t>
            </a:r>
          </a:p>
          <a:p>
            <a:pPr algn="just"/>
            <a:r>
              <a:rPr lang="en-US" sz="2000" dirty="0"/>
              <a:t>The transport layer takes data transferred in the session layer and breaks it into “</a:t>
            </a:r>
            <a:r>
              <a:rPr lang="en-US" sz="2000" b="1" dirty="0"/>
              <a:t>segments</a:t>
            </a:r>
            <a:r>
              <a:rPr lang="en-US" sz="2000" dirty="0"/>
              <a:t>” on the transmitting end. </a:t>
            </a:r>
          </a:p>
          <a:p>
            <a:pPr algn="just"/>
            <a:r>
              <a:rPr lang="en-US" sz="2000" dirty="0"/>
              <a:t>This layer can be termed as an end-to-end layer as it provides a </a:t>
            </a:r>
            <a:r>
              <a:rPr lang="en-US" sz="2000" b="1" dirty="0"/>
              <a:t>point-to-point</a:t>
            </a:r>
            <a:r>
              <a:rPr lang="en-US" sz="2000" dirty="0"/>
              <a:t> connection between source and destination to deliver </a:t>
            </a:r>
            <a:r>
              <a:rPr lang="en-US" sz="2000" b="1" dirty="0"/>
              <a:t>the data reliably.</a:t>
            </a:r>
          </a:p>
          <a:p>
            <a:pPr algn="just"/>
            <a:r>
              <a:rPr lang="en-US" sz="2000" dirty="0"/>
              <a:t>Controls the </a:t>
            </a:r>
            <a:r>
              <a:rPr lang="en-US" sz="2000" b="1" dirty="0"/>
              <a:t>reliability</a:t>
            </a:r>
            <a:r>
              <a:rPr lang="en-US" sz="2000" dirty="0"/>
              <a:t> of communication through</a:t>
            </a:r>
            <a:r>
              <a:rPr lang="en-US" sz="2000" b="1" dirty="0"/>
              <a:t> segmentation, Flow control and Error control. </a:t>
            </a:r>
          </a:p>
          <a:p>
            <a:pPr algn="just"/>
            <a:endParaRPr lang="en-US" sz="1800" dirty="0"/>
          </a:p>
          <a:p>
            <a:pPr algn="just"/>
            <a:endParaRPr lang="en-US" sz="1800" dirty="0"/>
          </a:p>
          <a:p>
            <a:pPr algn="just"/>
            <a:endParaRPr lang="en-US" sz="1800" dirty="0"/>
          </a:p>
          <a:p>
            <a:pPr algn="just"/>
            <a:endParaRPr lang="en-US" sz="1800" dirty="0"/>
          </a:p>
          <a:p>
            <a:pPr algn="just"/>
            <a:endParaRPr lang="en-US" sz="1800" dirty="0"/>
          </a:p>
          <a:p>
            <a:pPr algn="just"/>
            <a:endParaRPr lang="en-US" sz="1800" dirty="0"/>
          </a:p>
          <a:p>
            <a:pPr marL="45720" indent="0" algn="just">
              <a:buNone/>
            </a:pPr>
            <a:endParaRPr lang="en-US" sz="1800" dirty="0"/>
          </a:p>
          <a:p>
            <a:pPr marL="45720" indent="0" algn="just">
              <a:buNone/>
            </a:pPr>
            <a:endParaRPr lang="en-US" sz="1800" dirty="0"/>
          </a:p>
          <a:p>
            <a:pPr marL="45720" indent="0" algn="just">
              <a:buNone/>
            </a:pPr>
            <a:endParaRPr lang="en-US" sz="1800" dirty="0"/>
          </a:p>
          <a:p>
            <a:pPr marL="548640" lvl="2" indent="0">
              <a:buNone/>
            </a:pPr>
            <a:endParaRPr lang="en-US" dirty="0"/>
          </a:p>
          <a:p>
            <a:pPr marL="548640" lvl="2" indent="0">
              <a:buNone/>
            </a:pPr>
            <a:endParaRPr lang="en-US" dirty="0"/>
          </a:p>
          <a:p>
            <a:pPr marL="548640" lvl="2" indent="0">
              <a:buNone/>
            </a:pPr>
            <a:endParaRPr lang="en-US" dirty="0"/>
          </a:p>
          <a:p>
            <a:pPr marL="548640" lvl="2" indent="0">
              <a:buNone/>
            </a:pPr>
            <a:endParaRPr lang="en-US" dirty="0"/>
          </a:p>
        </p:txBody>
      </p:sp>
      <p:sp>
        <p:nvSpPr>
          <p:cNvPr id="4" name="Rectangle 3">
            <a:extLst>
              <a:ext uri="{FF2B5EF4-FFF2-40B4-BE49-F238E27FC236}">
                <a16:creationId xmlns:a16="http://schemas.microsoft.com/office/drawing/2014/main" id="{469820BE-3F63-E971-2BFD-945C20A6E57A}"/>
              </a:ext>
            </a:extLst>
          </p:cNvPr>
          <p:cNvSpPr/>
          <p:nvPr/>
        </p:nvSpPr>
        <p:spPr>
          <a:xfrm>
            <a:off x="608828" y="1601225"/>
            <a:ext cx="2120564" cy="3666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rPr>
              <a:t>A</a:t>
            </a:r>
            <a:r>
              <a:rPr lang="en-US" sz="1600" b="1" dirty="0"/>
              <a:t>pplication</a:t>
            </a:r>
          </a:p>
        </p:txBody>
      </p:sp>
      <p:sp>
        <p:nvSpPr>
          <p:cNvPr id="5" name="Rectangle 4">
            <a:extLst>
              <a:ext uri="{FF2B5EF4-FFF2-40B4-BE49-F238E27FC236}">
                <a16:creationId xmlns:a16="http://schemas.microsoft.com/office/drawing/2014/main" id="{5AD53A24-45F5-B9D6-7016-FD5B43E8BF8F}"/>
              </a:ext>
            </a:extLst>
          </p:cNvPr>
          <p:cNvSpPr/>
          <p:nvPr/>
        </p:nvSpPr>
        <p:spPr>
          <a:xfrm>
            <a:off x="608828" y="2024395"/>
            <a:ext cx="2120564" cy="3666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rPr>
              <a:t>P</a:t>
            </a:r>
            <a:r>
              <a:rPr lang="en-US" sz="1600" b="1" dirty="0"/>
              <a:t>resentation</a:t>
            </a:r>
          </a:p>
        </p:txBody>
      </p:sp>
      <p:sp>
        <p:nvSpPr>
          <p:cNvPr id="6" name="Rectangle 5">
            <a:extLst>
              <a:ext uri="{FF2B5EF4-FFF2-40B4-BE49-F238E27FC236}">
                <a16:creationId xmlns:a16="http://schemas.microsoft.com/office/drawing/2014/main" id="{811338E4-F5DA-5F54-3A29-A1BA9E32736F}"/>
              </a:ext>
            </a:extLst>
          </p:cNvPr>
          <p:cNvSpPr/>
          <p:nvPr/>
        </p:nvSpPr>
        <p:spPr>
          <a:xfrm>
            <a:off x="608828" y="2447565"/>
            <a:ext cx="2120564" cy="3666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rPr>
              <a:t>S</a:t>
            </a:r>
            <a:r>
              <a:rPr lang="en-US" sz="1600" b="1" dirty="0"/>
              <a:t>ession</a:t>
            </a:r>
          </a:p>
        </p:txBody>
      </p:sp>
      <p:sp>
        <p:nvSpPr>
          <p:cNvPr id="7" name="Rectangle 6">
            <a:extLst>
              <a:ext uri="{FF2B5EF4-FFF2-40B4-BE49-F238E27FC236}">
                <a16:creationId xmlns:a16="http://schemas.microsoft.com/office/drawing/2014/main" id="{6910F9CA-1A70-53CE-5CE5-FD1F33B254FB}"/>
              </a:ext>
            </a:extLst>
          </p:cNvPr>
          <p:cNvSpPr/>
          <p:nvPr/>
        </p:nvSpPr>
        <p:spPr>
          <a:xfrm>
            <a:off x="608828" y="2882571"/>
            <a:ext cx="2120564" cy="3666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rPr>
              <a:t>T</a:t>
            </a:r>
            <a:r>
              <a:rPr lang="en-US" sz="1600" b="1" dirty="0"/>
              <a:t>ransport</a:t>
            </a:r>
          </a:p>
        </p:txBody>
      </p:sp>
      <p:sp>
        <p:nvSpPr>
          <p:cNvPr id="8" name="Rectangle 7">
            <a:extLst>
              <a:ext uri="{FF2B5EF4-FFF2-40B4-BE49-F238E27FC236}">
                <a16:creationId xmlns:a16="http://schemas.microsoft.com/office/drawing/2014/main" id="{6ECCBD95-C25B-B17C-5C4B-D4DEA007A3DA}"/>
              </a:ext>
            </a:extLst>
          </p:cNvPr>
          <p:cNvSpPr/>
          <p:nvPr/>
        </p:nvSpPr>
        <p:spPr>
          <a:xfrm>
            <a:off x="608828" y="3317577"/>
            <a:ext cx="2120564" cy="36665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rPr>
              <a:t>N</a:t>
            </a:r>
            <a:r>
              <a:rPr lang="en-US" sz="1600" b="1" dirty="0"/>
              <a:t>etwork</a:t>
            </a:r>
          </a:p>
        </p:txBody>
      </p:sp>
      <p:sp>
        <p:nvSpPr>
          <p:cNvPr id="9" name="Rectangle 8">
            <a:extLst>
              <a:ext uri="{FF2B5EF4-FFF2-40B4-BE49-F238E27FC236}">
                <a16:creationId xmlns:a16="http://schemas.microsoft.com/office/drawing/2014/main" id="{BEBFE19B-D424-B104-638E-D4C3E98D0807}"/>
              </a:ext>
            </a:extLst>
          </p:cNvPr>
          <p:cNvSpPr/>
          <p:nvPr/>
        </p:nvSpPr>
        <p:spPr>
          <a:xfrm>
            <a:off x="608828" y="3752583"/>
            <a:ext cx="2120564" cy="36665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rPr>
              <a:t>D</a:t>
            </a:r>
            <a:r>
              <a:rPr lang="en-US" sz="1600" b="1" dirty="0"/>
              <a:t>ata Link</a:t>
            </a:r>
          </a:p>
        </p:txBody>
      </p:sp>
      <p:sp>
        <p:nvSpPr>
          <p:cNvPr id="10" name="Rectangle 9">
            <a:extLst>
              <a:ext uri="{FF2B5EF4-FFF2-40B4-BE49-F238E27FC236}">
                <a16:creationId xmlns:a16="http://schemas.microsoft.com/office/drawing/2014/main" id="{5AAC15EA-27B1-5AC1-9C94-1F0535DD5C9E}"/>
              </a:ext>
            </a:extLst>
          </p:cNvPr>
          <p:cNvSpPr/>
          <p:nvPr/>
        </p:nvSpPr>
        <p:spPr>
          <a:xfrm>
            <a:off x="608828" y="4187589"/>
            <a:ext cx="2120564" cy="36665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F0000"/>
                </a:solidFill>
              </a:rPr>
              <a:t>P</a:t>
            </a:r>
            <a:r>
              <a:rPr lang="en-US" sz="1600" b="1" dirty="0"/>
              <a:t>hysical Layer</a:t>
            </a:r>
          </a:p>
        </p:txBody>
      </p:sp>
      <p:sp>
        <p:nvSpPr>
          <p:cNvPr id="11" name="Arrow: Curved Left 10">
            <a:extLst>
              <a:ext uri="{FF2B5EF4-FFF2-40B4-BE49-F238E27FC236}">
                <a16:creationId xmlns:a16="http://schemas.microsoft.com/office/drawing/2014/main" id="{79D8A7FA-0DCC-66D1-0007-DFE78200974C}"/>
              </a:ext>
            </a:extLst>
          </p:cNvPr>
          <p:cNvSpPr/>
          <p:nvPr/>
        </p:nvSpPr>
        <p:spPr>
          <a:xfrm>
            <a:off x="2729392" y="2230062"/>
            <a:ext cx="371987" cy="435006"/>
          </a:xfrm>
          <a:prstGeom prst="curved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tx1"/>
              </a:solidFill>
            </a:endParaRPr>
          </a:p>
        </p:txBody>
      </p:sp>
      <p:pic>
        <p:nvPicPr>
          <p:cNvPr id="13" name="Picture 12">
            <a:extLst>
              <a:ext uri="{FF2B5EF4-FFF2-40B4-BE49-F238E27FC236}">
                <a16:creationId xmlns:a16="http://schemas.microsoft.com/office/drawing/2014/main" id="{8E2B50A4-5290-BD50-B48A-E9267E426B56}"/>
              </a:ext>
            </a:extLst>
          </p:cNvPr>
          <p:cNvPicPr>
            <a:picLocks noChangeAspect="1"/>
          </p:cNvPicPr>
          <p:nvPr/>
        </p:nvPicPr>
        <p:blipFill>
          <a:blip r:embed="rId2"/>
          <a:stretch>
            <a:fillRect/>
          </a:stretch>
        </p:blipFill>
        <p:spPr>
          <a:xfrm>
            <a:off x="7075331" y="902652"/>
            <a:ext cx="3196134" cy="1603521"/>
          </a:xfrm>
          <a:prstGeom prst="rect">
            <a:avLst/>
          </a:prstGeom>
        </p:spPr>
      </p:pic>
    </p:spTree>
    <p:extLst>
      <p:ext uri="{BB962C8B-B14F-4D97-AF65-F5344CB8AC3E}">
        <p14:creationId xmlns:p14="http://schemas.microsoft.com/office/powerpoint/2010/main" val="764808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6" presetClass="emph" presetSubtype="0" fill="hold" grpId="0" nodeType="clickEffect">
                                  <p:stCondLst>
                                    <p:cond delay="0"/>
                                  </p:stCondLst>
                                  <p:childTnLst>
                                    <p:animEffect transition="out" filter="fade">
                                      <p:cBhvr>
                                        <p:cTn id="28" dur="500" tmFilter="0, 0; .2, .5; .8, .5; 1, 0"/>
                                        <p:tgtEl>
                                          <p:spTgt spid="6"/>
                                        </p:tgtEl>
                                      </p:cBhvr>
                                    </p:animEffect>
                                    <p:animScale>
                                      <p:cBhvr>
                                        <p:cTn id="29" dur="250" autoRev="1" fill="hold"/>
                                        <p:tgtEl>
                                          <p:spTgt spid="6"/>
                                        </p:tgtEl>
                                      </p:cBhvr>
                                      <p:by x="105000" y="105000"/>
                                    </p:animScale>
                                  </p:childTnLst>
                                </p:cTn>
                              </p:par>
                              <p:par>
                                <p:cTn id="30" presetID="1" presetClass="entr" presetSubtype="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270C3-0F29-FC8B-7AA8-4FDCBF530AA9}"/>
              </a:ext>
            </a:extLst>
          </p:cNvPr>
          <p:cNvSpPr>
            <a:spLocks noGrp="1"/>
          </p:cNvSpPr>
          <p:nvPr>
            <p:ph type="title"/>
          </p:nvPr>
        </p:nvSpPr>
        <p:spPr>
          <a:xfrm>
            <a:off x="4247669" y="183473"/>
            <a:ext cx="4052952" cy="642151"/>
          </a:xfrm>
        </p:spPr>
        <p:txBody>
          <a:bodyPr>
            <a:normAutofit fontScale="90000"/>
          </a:bodyPr>
          <a:lstStyle/>
          <a:p>
            <a:r>
              <a:rPr lang="en-US" b="1" dirty="0"/>
              <a:t>OSI Model Layers</a:t>
            </a:r>
            <a:endParaRPr lang="en-US" dirty="0"/>
          </a:p>
        </p:txBody>
      </p:sp>
      <p:sp>
        <p:nvSpPr>
          <p:cNvPr id="3" name="Content Placeholder 2">
            <a:extLst>
              <a:ext uri="{FF2B5EF4-FFF2-40B4-BE49-F238E27FC236}">
                <a16:creationId xmlns:a16="http://schemas.microsoft.com/office/drawing/2014/main" id="{42F514DC-0BC7-41D4-93AC-E36B784716CB}"/>
              </a:ext>
            </a:extLst>
          </p:cNvPr>
          <p:cNvSpPr>
            <a:spLocks noGrp="1"/>
          </p:cNvSpPr>
          <p:nvPr>
            <p:ph idx="1"/>
          </p:nvPr>
        </p:nvSpPr>
        <p:spPr>
          <a:xfrm>
            <a:off x="2586361" y="956719"/>
            <a:ext cx="9381051" cy="5470714"/>
          </a:xfrm>
        </p:spPr>
        <p:txBody>
          <a:bodyPr>
            <a:normAutofit/>
          </a:bodyPr>
          <a:lstStyle/>
          <a:p>
            <a:pPr algn="just"/>
            <a:r>
              <a:rPr lang="en-US" sz="2400" b="1" dirty="0"/>
              <a:t>Transport Layer</a:t>
            </a:r>
          </a:p>
          <a:p>
            <a:pPr algn="just"/>
            <a:r>
              <a:rPr lang="en-US" sz="2000" dirty="0"/>
              <a:t>Controls the reliability of communication through </a:t>
            </a:r>
            <a:r>
              <a:rPr lang="en-US" sz="2000" b="1" dirty="0"/>
              <a:t>segmentation</a:t>
            </a:r>
            <a:r>
              <a:rPr lang="en-US" sz="2000" dirty="0"/>
              <a:t>, </a:t>
            </a:r>
            <a:r>
              <a:rPr lang="en-US" sz="2000" b="1" dirty="0"/>
              <a:t>Flow control, </a:t>
            </a:r>
            <a:r>
              <a:rPr lang="en-US" sz="2000" dirty="0"/>
              <a:t>and </a:t>
            </a:r>
            <a:r>
              <a:rPr lang="en-US" sz="2000" b="1" dirty="0"/>
              <a:t>Error control</a:t>
            </a:r>
            <a:r>
              <a:rPr lang="en-US" sz="2000" dirty="0"/>
              <a:t>. </a:t>
            </a:r>
          </a:p>
          <a:p>
            <a:pPr algn="just"/>
            <a:r>
              <a:rPr lang="en-US" sz="1800" b="1" dirty="0"/>
              <a:t>Segmentation: </a:t>
            </a:r>
          </a:p>
          <a:p>
            <a:pPr algn="just"/>
            <a:endParaRPr lang="en-US" sz="1800" dirty="0"/>
          </a:p>
          <a:p>
            <a:pPr algn="just"/>
            <a:endParaRPr lang="en-US" sz="1800" dirty="0"/>
          </a:p>
          <a:p>
            <a:pPr algn="just"/>
            <a:endParaRPr lang="en-US" sz="1800" dirty="0"/>
          </a:p>
          <a:p>
            <a:pPr algn="just"/>
            <a:endParaRPr lang="en-US" sz="1800" dirty="0"/>
          </a:p>
          <a:p>
            <a:pPr algn="just"/>
            <a:endParaRPr lang="en-US" sz="1800" dirty="0"/>
          </a:p>
          <a:p>
            <a:pPr marL="45720" indent="0" algn="just">
              <a:buNone/>
            </a:pPr>
            <a:endParaRPr lang="en-US" sz="1800" dirty="0"/>
          </a:p>
          <a:p>
            <a:pPr marL="548640" lvl="2" indent="0">
              <a:buNone/>
            </a:pPr>
            <a:endParaRPr lang="en-US" dirty="0"/>
          </a:p>
          <a:p>
            <a:pPr marL="548640" lvl="2" indent="0">
              <a:buNone/>
            </a:pPr>
            <a:endParaRPr lang="en-US" dirty="0"/>
          </a:p>
          <a:p>
            <a:pPr marL="548640" lvl="2" indent="0">
              <a:buNone/>
            </a:pPr>
            <a:endParaRPr lang="en-US" dirty="0"/>
          </a:p>
          <a:p>
            <a:pPr marL="548640" lvl="2" indent="0">
              <a:buNone/>
            </a:pPr>
            <a:endParaRPr lang="en-US" dirty="0"/>
          </a:p>
        </p:txBody>
      </p:sp>
      <p:sp>
        <p:nvSpPr>
          <p:cNvPr id="4" name="Rectangle 3">
            <a:extLst>
              <a:ext uri="{FF2B5EF4-FFF2-40B4-BE49-F238E27FC236}">
                <a16:creationId xmlns:a16="http://schemas.microsoft.com/office/drawing/2014/main" id="{469820BE-3F63-E971-2BFD-945C20A6E57A}"/>
              </a:ext>
            </a:extLst>
          </p:cNvPr>
          <p:cNvSpPr/>
          <p:nvPr/>
        </p:nvSpPr>
        <p:spPr>
          <a:xfrm>
            <a:off x="608828" y="160122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A</a:t>
            </a:r>
            <a:r>
              <a:rPr lang="en-US" sz="1400" b="1" dirty="0"/>
              <a:t>pplication</a:t>
            </a:r>
          </a:p>
        </p:txBody>
      </p:sp>
      <p:sp>
        <p:nvSpPr>
          <p:cNvPr id="5" name="Rectangle 4">
            <a:extLst>
              <a:ext uri="{FF2B5EF4-FFF2-40B4-BE49-F238E27FC236}">
                <a16:creationId xmlns:a16="http://schemas.microsoft.com/office/drawing/2014/main" id="{5AD53A24-45F5-B9D6-7016-FD5B43E8BF8F}"/>
              </a:ext>
            </a:extLst>
          </p:cNvPr>
          <p:cNvSpPr/>
          <p:nvPr/>
        </p:nvSpPr>
        <p:spPr>
          <a:xfrm>
            <a:off x="608828" y="202439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resentation</a:t>
            </a:r>
          </a:p>
        </p:txBody>
      </p:sp>
      <p:sp>
        <p:nvSpPr>
          <p:cNvPr id="6" name="Rectangle 5">
            <a:extLst>
              <a:ext uri="{FF2B5EF4-FFF2-40B4-BE49-F238E27FC236}">
                <a16:creationId xmlns:a16="http://schemas.microsoft.com/office/drawing/2014/main" id="{811338E4-F5DA-5F54-3A29-A1BA9E32736F}"/>
              </a:ext>
            </a:extLst>
          </p:cNvPr>
          <p:cNvSpPr/>
          <p:nvPr/>
        </p:nvSpPr>
        <p:spPr>
          <a:xfrm>
            <a:off x="608828" y="244756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S</a:t>
            </a:r>
            <a:r>
              <a:rPr lang="en-US" sz="1400" b="1" dirty="0"/>
              <a:t>ession</a:t>
            </a:r>
          </a:p>
        </p:txBody>
      </p:sp>
      <p:sp>
        <p:nvSpPr>
          <p:cNvPr id="7" name="Rectangle 6">
            <a:extLst>
              <a:ext uri="{FF2B5EF4-FFF2-40B4-BE49-F238E27FC236}">
                <a16:creationId xmlns:a16="http://schemas.microsoft.com/office/drawing/2014/main" id="{6910F9CA-1A70-53CE-5CE5-FD1F33B254FB}"/>
              </a:ext>
            </a:extLst>
          </p:cNvPr>
          <p:cNvSpPr/>
          <p:nvPr/>
        </p:nvSpPr>
        <p:spPr>
          <a:xfrm>
            <a:off x="608828" y="2882571"/>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T</a:t>
            </a:r>
            <a:r>
              <a:rPr lang="en-US" sz="1400" b="1" dirty="0"/>
              <a:t>ransport</a:t>
            </a:r>
          </a:p>
        </p:txBody>
      </p:sp>
      <p:sp>
        <p:nvSpPr>
          <p:cNvPr id="8" name="Rectangle 7">
            <a:extLst>
              <a:ext uri="{FF2B5EF4-FFF2-40B4-BE49-F238E27FC236}">
                <a16:creationId xmlns:a16="http://schemas.microsoft.com/office/drawing/2014/main" id="{6ECCBD95-C25B-B17C-5C4B-D4DEA007A3DA}"/>
              </a:ext>
            </a:extLst>
          </p:cNvPr>
          <p:cNvSpPr/>
          <p:nvPr/>
        </p:nvSpPr>
        <p:spPr>
          <a:xfrm>
            <a:off x="608828" y="3317577"/>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N</a:t>
            </a:r>
            <a:r>
              <a:rPr lang="en-US" sz="1400" b="1" dirty="0"/>
              <a:t>etwork</a:t>
            </a:r>
          </a:p>
        </p:txBody>
      </p:sp>
      <p:sp>
        <p:nvSpPr>
          <p:cNvPr id="9" name="Rectangle 8">
            <a:extLst>
              <a:ext uri="{FF2B5EF4-FFF2-40B4-BE49-F238E27FC236}">
                <a16:creationId xmlns:a16="http://schemas.microsoft.com/office/drawing/2014/main" id="{BEBFE19B-D424-B104-638E-D4C3E98D0807}"/>
              </a:ext>
            </a:extLst>
          </p:cNvPr>
          <p:cNvSpPr/>
          <p:nvPr/>
        </p:nvSpPr>
        <p:spPr>
          <a:xfrm>
            <a:off x="608828" y="3752583"/>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D</a:t>
            </a:r>
            <a:r>
              <a:rPr lang="en-US" sz="1400" b="1" dirty="0"/>
              <a:t>ata Link</a:t>
            </a:r>
          </a:p>
        </p:txBody>
      </p:sp>
      <p:sp>
        <p:nvSpPr>
          <p:cNvPr id="10" name="Rectangle 9">
            <a:extLst>
              <a:ext uri="{FF2B5EF4-FFF2-40B4-BE49-F238E27FC236}">
                <a16:creationId xmlns:a16="http://schemas.microsoft.com/office/drawing/2014/main" id="{5AAC15EA-27B1-5AC1-9C94-1F0535DD5C9E}"/>
              </a:ext>
            </a:extLst>
          </p:cNvPr>
          <p:cNvSpPr/>
          <p:nvPr/>
        </p:nvSpPr>
        <p:spPr>
          <a:xfrm>
            <a:off x="608828" y="4187589"/>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hysical Layer</a:t>
            </a:r>
          </a:p>
        </p:txBody>
      </p:sp>
      <p:sp>
        <p:nvSpPr>
          <p:cNvPr id="11" name="Arrow: Curved Left 10">
            <a:extLst>
              <a:ext uri="{FF2B5EF4-FFF2-40B4-BE49-F238E27FC236}">
                <a16:creationId xmlns:a16="http://schemas.microsoft.com/office/drawing/2014/main" id="{79D8A7FA-0DCC-66D1-0007-DFE78200974C}"/>
              </a:ext>
            </a:extLst>
          </p:cNvPr>
          <p:cNvSpPr/>
          <p:nvPr/>
        </p:nvSpPr>
        <p:spPr>
          <a:xfrm>
            <a:off x="2184782" y="2665068"/>
            <a:ext cx="371987" cy="435006"/>
          </a:xfrm>
          <a:prstGeom prst="curved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tx1"/>
              </a:solidFill>
            </a:endParaRPr>
          </a:p>
        </p:txBody>
      </p:sp>
      <p:pic>
        <p:nvPicPr>
          <p:cNvPr id="14" name="Picture 13">
            <a:extLst>
              <a:ext uri="{FF2B5EF4-FFF2-40B4-BE49-F238E27FC236}">
                <a16:creationId xmlns:a16="http://schemas.microsoft.com/office/drawing/2014/main" id="{A1A306AB-E3AA-90AD-D6FE-E29224EB071F}"/>
              </a:ext>
            </a:extLst>
          </p:cNvPr>
          <p:cNvPicPr>
            <a:picLocks noChangeAspect="1"/>
          </p:cNvPicPr>
          <p:nvPr/>
        </p:nvPicPr>
        <p:blipFill>
          <a:blip r:embed="rId2"/>
          <a:stretch>
            <a:fillRect/>
          </a:stretch>
        </p:blipFill>
        <p:spPr>
          <a:xfrm>
            <a:off x="5170587" y="2214286"/>
            <a:ext cx="4435052" cy="1917236"/>
          </a:xfrm>
          <a:prstGeom prst="rect">
            <a:avLst/>
          </a:prstGeom>
        </p:spPr>
      </p:pic>
      <p:pic>
        <p:nvPicPr>
          <p:cNvPr id="13" name="Picture 12">
            <a:extLst>
              <a:ext uri="{FF2B5EF4-FFF2-40B4-BE49-F238E27FC236}">
                <a16:creationId xmlns:a16="http://schemas.microsoft.com/office/drawing/2014/main" id="{0476CDD8-CBF5-84FB-118C-C51E4EA008B5}"/>
              </a:ext>
            </a:extLst>
          </p:cNvPr>
          <p:cNvPicPr>
            <a:picLocks noChangeAspect="1"/>
          </p:cNvPicPr>
          <p:nvPr/>
        </p:nvPicPr>
        <p:blipFill>
          <a:blip r:embed="rId3"/>
          <a:stretch>
            <a:fillRect/>
          </a:stretch>
        </p:blipFill>
        <p:spPr>
          <a:xfrm>
            <a:off x="5607193" y="3054945"/>
            <a:ext cx="932503" cy="665448"/>
          </a:xfrm>
          <a:prstGeom prst="rect">
            <a:avLst/>
          </a:prstGeom>
        </p:spPr>
      </p:pic>
      <p:pic>
        <p:nvPicPr>
          <p:cNvPr id="15" name="Picture 14">
            <a:extLst>
              <a:ext uri="{FF2B5EF4-FFF2-40B4-BE49-F238E27FC236}">
                <a16:creationId xmlns:a16="http://schemas.microsoft.com/office/drawing/2014/main" id="{C865724A-FF12-BB51-9E0C-FA083F6C3A6D}"/>
              </a:ext>
            </a:extLst>
          </p:cNvPr>
          <p:cNvPicPr>
            <a:picLocks noChangeAspect="1"/>
          </p:cNvPicPr>
          <p:nvPr/>
        </p:nvPicPr>
        <p:blipFill>
          <a:blip r:embed="rId3"/>
          <a:stretch>
            <a:fillRect/>
          </a:stretch>
        </p:blipFill>
        <p:spPr>
          <a:xfrm>
            <a:off x="6810634" y="3087135"/>
            <a:ext cx="932503" cy="665448"/>
          </a:xfrm>
          <a:prstGeom prst="rect">
            <a:avLst/>
          </a:prstGeom>
        </p:spPr>
      </p:pic>
      <p:pic>
        <p:nvPicPr>
          <p:cNvPr id="16" name="Picture 15">
            <a:extLst>
              <a:ext uri="{FF2B5EF4-FFF2-40B4-BE49-F238E27FC236}">
                <a16:creationId xmlns:a16="http://schemas.microsoft.com/office/drawing/2014/main" id="{7D6B2351-9154-5617-397D-36CD556AF6A5}"/>
              </a:ext>
            </a:extLst>
          </p:cNvPr>
          <p:cNvPicPr>
            <a:picLocks noChangeAspect="1"/>
          </p:cNvPicPr>
          <p:nvPr/>
        </p:nvPicPr>
        <p:blipFill>
          <a:blip r:embed="rId3"/>
          <a:stretch>
            <a:fillRect/>
          </a:stretch>
        </p:blipFill>
        <p:spPr>
          <a:xfrm>
            <a:off x="8057421" y="3062816"/>
            <a:ext cx="932503" cy="665448"/>
          </a:xfrm>
          <a:prstGeom prst="rect">
            <a:avLst/>
          </a:prstGeom>
        </p:spPr>
      </p:pic>
      <p:pic>
        <p:nvPicPr>
          <p:cNvPr id="18" name="Picture 17">
            <a:extLst>
              <a:ext uri="{FF2B5EF4-FFF2-40B4-BE49-F238E27FC236}">
                <a16:creationId xmlns:a16="http://schemas.microsoft.com/office/drawing/2014/main" id="{D492B3D8-B98C-A99D-8744-3A33EAA14A1A}"/>
              </a:ext>
            </a:extLst>
          </p:cNvPr>
          <p:cNvPicPr>
            <a:picLocks noChangeAspect="1"/>
          </p:cNvPicPr>
          <p:nvPr/>
        </p:nvPicPr>
        <p:blipFill>
          <a:blip r:embed="rId4"/>
          <a:stretch>
            <a:fillRect/>
          </a:stretch>
        </p:blipFill>
        <p:spPr>
          <a:xfrm>
            <a:off x="5485851" y="3832143"/>
            <a:ext cx="3504073" cy="1408692"/>
          </a:xfrm>
          <a:prstGeom prst="rect">
            <a:avLst/>
          </a:prstGeom>
        </p:spPr>
      </p:pic>
      <p:sp>
        <p:nvSpPr>
          <p:cNvPr id="19" name="Oval 18">
            <a:extLst>
              <a:ext uri="{FF2B5EF4-FFF2-40B4-BE49-F238E27FC236}">
                <a16:creationId xmlns:a16="http://schemas.microsoft.com/office/drawing/2014/main" id="{FA132A3C-38D2-BC32-0D57-9E9C19124E51}"/>
              </a:ext>
            </a:extLst>
          </p:cNvPr>
          <p:cNvSpPr/>
          <p:nvPr/>
        </p:nvSpPr>
        <p:spPr>
          <a:xfrm>
            <a:off x="8386732" y="2882571"/>
            <a:ext cx="737190" cy="665448"/>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2F440FF-65D2-21CB-022E-B16D6CF9EFF9}"/>
              </a:ext>
            </a:extLst>
          </p:cNvPr>
          <p:cNvSpPr/>
          <p:nvPr/>
        </p:nvSpPr>
        <p:spPr>
          <a:xfrm>
            <a:off x="7207109" y="2898747"/>
            <a:ext cx="737190" cy="665448"/>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6F47428-EB0C-5C0B-6F77-A44E34229F12}"/>
              </a:ext>
            </a:extLst>
          </p:cNvPr>
          <p:cNvSpPr/>
          <p:nvPr/>
        </p:nvSpPr>
        <p:spPr>
          <a:xfrm>
            <a:off x="5936669" y="2870636"/>
            <a:ext cx="737190" cy="665448"/>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5181B1D-8B39-D848-28DF-AF497A75FC5E}"/>
              </a:ext>
            </a:extLst>
          </p:cNvPr>
          <p:cNvSpPr txBox="1"/>
          <p:nvPr/>
        </p:nvSpPr>
        <p:spPr>
          <a:xfrm>
            <a:off x="3868868" y="5439616"/>
            <a:ext cx="7413672" cy="923330"/>
          </a:xfrm>
          <a:prstGeom prst="rect">
            <a:avLst/>
          </a:prstGeom>
          <a:noFill/>
        </p:spPr>
        <p:txBody>
          <a:bodyPr wrap="square" rtlCol="0">
            <a:spAutoFit/>
          </a:bodyPr>
          <a:lstStyle/>
          <a:p>
            <a:pPr algn="ctr"/>
            <a:r>
              <a:rPr lang="en-US" b="1" dirty="0"/>
              <a:t>Port Number </a:t>
            </a:r>
            <a:r>
              <a:rPr lang="en-US" dirty="0"/>
              <a:t>helps to direct each segment into the correct application. </a:t>
            </a:r>
          </a:p>
          <a:p>
            <a:pPr algn="ctr"/>
            <a:r>
              <a:rPr lang="en-US" b="1" dirty="0"/>
              <a:t>Sequence Numbers </a:t>
            </a:r>
            <a:r>
              <a:rPr lang="en-US" dirty="0"/>
              <a:t>help to reassemble segments into the correct sequence. </a:t>
            </a:r>
          </a:p>
          <a:p>
            <a:pPr algn="ctr"/>
            <a:endParaRPr lang="en-US" dirty="0"/>
          </a:p>
        </p:txBody>
      </p:sp>
    </p:spTree>
    <p:extLst>
      <p:ext uri="{BB962C8B-B14F-4D97-AF65-F5344CB8AC3E}">
        <p14:creationId xmlns:p14="http://schemas.microsoft.com/office/powerpoint/2010/main" val="1847380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mph" presetSubtype="0" fill="hold" grpId="0" nodeType="clickEffect">
                                  <p:stCondLst>
                                    <p:cond delay="0"/>
                                  </p:stCondLst>
                                  <p:childTnLst>
                                    <p:animEffect transition="out" filter="fade">
                                      <p:cBhvr>
                                        <p:cTn id="10" dur="500" tmFilter="0, 0; .2, .5; .8, .5; 1, 0"/>
                                        <p:tgtEl>
                                          <p:spTgt spid="7"/>
                                        </p:tgtEl>
                                      </p:cBhvr>
                                    </p:animEffect>
                                    <p:animScale>
                                      <p:cBhvr>
                                        <p:cTn id="11" dur="250" autoRev="1" fill="hold"/>
                                        <p:tgtEl>
                                          <p:spTgt spid="7"/>
                                        </p:tgtEl>
                                      </p:cBhvr>
                                      <p:by x="105000" y="105000"/>
                                    </p:animScale>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9" grpId="0" animBg="1"/>
      <p:bldP spid="20" grpId="0" animBg="1"/>
      <p:bldP spid="21" grpId="0" animBg="1"/>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0F54B90-1481-341F-F226-10B8515C3E3D}"/>
              </a:ext>
            </a:extLst>
          </p:cNvPr>
          <p:cNvPicPr>
            <a:picLocks noChangeAspect="1"/>
          </p:cNvPicPr>
          <p:nvPr/>
        </p:nvPicPr>
        <p:blipFill rotWithShape="1">
          <a:blip r:embed="rId2"/>
          <a:srcRect b="12342"/>
          <a:stretch/>
        </p:blipFill>
        <p:spPr>
          <a:xfrm>
            <a:off x="4211686" y="4672510"/>
            <a:ext cx="6354074" cy="1754923"/>
          </a:xfrm>
          <a:prstGeom prst="rect">
            <a:avLst/>
          </a:prstGeom>
        </p:spPr>
      </p:pic>
      <p:sp>
        <p:nvSpPr>
          <p:cNvPr id="2" name="Title 1">
            <a:extLst>
              <a:ext uri="{FF2B5EF4-FFF2-40B4-BE49-F238E27FC236}">
                <a16:creationId xmlns:a16="http://schemas.microsoft.com/office/drawing/2014/main" id="{AA8270C3-0F29-FC8B-7AA8-4FDCBF530AA9}"/>
              </a:ext>
            </a:extLst>
          </p:cNvPr>
          <p:cNvSpPr>
            <a:spLocks noGrp="1"/>
          </p:cNvSpPr>
          <p:nvPr>
            <p:ph type="title"/>
          </p:nvPr>
        </p:nvSpPr>
        <p:spPr>
          <a:xfrm>
            <a:off x="4247669" y="183473"/>
            <a:ext cx="4052952" cy="642151"/>
          </a:xfrm>
        </p:spPr>
        <p:txBody>
          <a:bodyPr>
            <a:normAutofit fontScale="90000"/>
          </a:bodyPr>
          <a:lstStyle/>
          <a:p>
            <a:r>
              <a:rPr lang="en-US" b="1" dirty="0"/>
              <a:t>OSI Model Layers</a:t>
            </a:r>
            <a:endParaRPr lang="en-US" dirty="0"/>
          </a:p>
        </p:txBody>
      </p:sp>
      <p:sp>
        <p:nvSpPr>
          <p:cNvPr id="3" name="Content Placeholder 2">
            <a:extLst>
              <a:ext uri="{FF2B5EF4-FFF2-40B4-BE49-F238E27FC236}">
                <a16:creationId xmlns:a16="http://schemas.microsoft.com/office/drawing/2014/main" id="{42F514DC-0BC7-41D4-93AC-E36B784716CB}"/>
              </a:ext>
            </a:extLst>
          </p:cNvPr>
          <p:cNvSpPr>
            <a:spLocks noGrp="1"/>
          </p:cNvSpPr>
          <p:nvPr>
            <p:ph idx="1"/>
          </p:nvPr>
        </p:nvSpPr>
        <p:spPr>
          <a:xfrm>
            <a:off x="2586361" y="956719"/>
            <a:ext cx="9381051" cy="3809834"/>
          </a:xfrm>
        </p:spPr>
        <p:txBody>
          <a:bodyPr>
            <a:normAutofit/>
          </a:bodyPr>
          <a:lstStyle/>
          <a:p>
            <a:pPr algn="just"/>
            <a:r>
              <a:rPr lang="en-US" sz="2400" b="1" dirty="0"/>
              <a:t>Transport Layer</a:t>
            </a:r>
          </a:p>
          <a:p>
            <a:pPr algn="just"/>
            <a:r>
              <a:rPr lang="en-US" sz="2000" dirty="0"/>
              <a:t>Controls the reliability of communication through </a:t>
            </a:r>
            <a:r>
              <a:rPr lang="en-US" sz="2000" b="1" dirty="0"/>
              <a:t>segmentation</a:t>
            </a:r>
            <a:r>
              <a:rPr lang="en-US" sz="2000" dirty="0"/>
              <a:t>, </a:t>
            </a:r>
            <a:r>
              <a:rPr lang="en-US" sz="2000" b="1" dirty="0"/>
              <a:t>Flow control, </a:t>
            </a:r>
            <a:r>
              <a:rPr lang="en-US" sz="2000" dirty="0"/>
              <a:t>and </a:t>
            </a:r>
            <a:r>
              <a:rPr lang="en-US" sz="2000" b="1" dirty="0"/>
              <a:t>Error control</a:t>
            </a:r>
            <a:r>
              <a:rPr lang="en-US" sz="2000" dirty="0"/>
              <a:t>. </a:t>
            </a:r>
          </a:p>
          <a:p>
            <a:pPr algn="just"/>
            <a:r>
              <a:rPr lang="en-US" sz="1800" b="1" dirty="0"/>
              <a:t>Flow Control: </a:t>
            </a:r>
          </a:p>
          <a:p>
            <a:pPr algn="just"/>
            <a:endParaRPr lang="en-US" sz="1800" b="1" dirty="0"/>
          </a:p>
          <a:p>
            <a:pPr algn="just"/>
            <a:endParaRPr lang="en-US" sz="1800" b="1" dirty="0"/>
          </a:p>
          <a:p>
            <a:pPr algn="just"/>
            <a:endParaRPr lang="en-US" sz="1800" b="1" dirty="0"/>
          </a:p>
          <a:p>
            <a:pPr algn="just"/>
            <a:endParaRPr lang="en-US" sz="1800" b="1" dirty="0"/>
          </a:p>
          <a:p>
            <a:pPr algn="just"/>
            <a:r>
              <a:rPr lang="en-US" sz="1800" b="1" dirty="0"/>
              <a:t>Error Control: </a:t>
            </a:r>
          </a:p>
          <a:p>
            <a:pPr marL="548640" lvl="2" indent="0">
              <a:buNone/>
            </a:pPr>
            <a:endParaRPr lang="en-US" dirty="0"/>
          </a:p>
          <a:p>
            <a:pPr marL="548640" lvl="2" indent="0">
              <a:buNone/>
            </a:pPr>
            <a:endParaRPr lang="en-US" dirty="0"/>
          </a:p>
          <a:p>
            <a:pPr marL="548640" lvl="2" indent="0">
              <a:buNone/>
            </a:pPr>
            <a:endParaRPr lang="en-US" dirty="0"/>
          </a:p>
          <a:p>
            <a:pPr marL="548640" lvl="2" indent="0">
              <a:buNone/>
            </a:pPr>
            <a:endParaRPr lang="en-US" dirty="0"/>
          </a:p>
        </p:txBody>
      </p:sp>
      <p:sp>
        <p:nvSpPr>
          <p:cNvPr id="4" name="Rectangle 3">
            <a:extLst>
              <a:ext uri="{FF2B5EF4-FFF2-40B4-BE49-F238E27FC236}">
                <a16:creationId xmlns:a16="http://schemas.microsoft.com/office/drawing/2014/main" id="{469820BE-3F63-E971-2BFD-945C20A6E57A}"/>
              </a:ext>
            </a:extLst>
          </p:cNvPr>
          <p:cNvSpPr/>
          <p:nvPr/>
        </p:nvSpPr>
        <p:spPr>
          <a:xfrm>
            <a:off x="608828" y="160122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A</a:t>
            </a:r>
            <a:r>
              <a:rPr lang="en-US" sz="1400" b="1" dirty="0"/>
              <a:t>pplication</a:t>
            </a:r>
          </a:p>
        </p:txBody>
      </p:sp>
      <p:sp>
        <p:nvSpPr>
          <p:cNvPr id="5" name="Rectangle 4">
            <a:extLst>
              <a:ext uri="{FF2B5EF4-FFF2-40B4-BE49-F238E27FC236}">
                <a16:creationId xmlns:a16="http://schemas.microsoft.com/office/drawing/2014/main" id="{5AD53A24-45F5-B9D6-7016-FD5B43E8BF8F}"/>
              </a:ext>
            </a:extLst>
          </p:cNvPr>
          <p:cNvSpPr/>
          <p:nvPr/>
        </p:nvSpPr>
        <p:spPr>
          <a:xfrm>
            <a:off x="608828" y="202439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resentation</a:t>
            </a:r>
          </a:p>
        </p:txBody>
      </p:sp>
      <p:sp>
        <p:nvSpPr>
          <p:cNvPr id="6" name="Rectangle 5">
            <a:extLst>
              <a:ext uri="{FF2B5EF4-FFF2-40B4-BE49-F238E27FC236}">
                <a16:creationId xmlns:a16="http://schemas.microsoft.com/office/drawing/2014/main" id="{811338E4-F5DA-5F54-3A29-A1BA9E32736F}"/>
              </a:ext>
            </a:extLst>
          </p:cNvPr>
          <p:cNvSpPr/>
          <p:nvPr/>
        </p:nvSpPr>
        <p:spPr>
          <a:xfrm>
            <a:off x="608828" y="244756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S</a:t>
            </a:r>
            <a:r>
              <a:rPr lang="en-US" sz="1400" b="1" dirty="0"/>
              <a:t>ession</a:t>
            </a:r>
          </a:p>
        </p:txBody>
      </p:sp>
      <p:sp>
        <p:nvSpPr>
          <p:cNvPr id="7" name="Rectangle 6">
            <a:extLst>
              <a:ext uri="{FF2B5EF4-FFF2-40B4-BE49-F238E27FC236}">
                <a16:creationId xmlns:a16="http://schemas.microsoft.com/office/drawing/2014/main" id="{6910F9CA-1A70-53CE-5CE5-FD1F33B254FB}"/>
              </a:ext>
            </a:extLst>
          </p:cNvPr>
          <p:cNvSpPr/>
          <p:nvPr/>
        </p:nvSpPr>
        <p:spPr>
          <a:xfrm>
            <a:off x="608828" y="2882571"/>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T</a:t>
            </a:r>
            <a:r>
              <a:rPr lang="en-US" sz="1400" b="1" dirty="0"/>
              <a:t>ransport</a:t>
            </a:r>
          </a:p>
        </p:txBody>
      </p:sp>
      <p:sp>
        <p:nvSpPr>
          <p:cNvPr id="8" name="Rectangle 7">
            <a:extLst>
              <a:ext uri="{FF2B5EF4-FFF2-40B4-BE49-F238E27FC236}">
                <a16:creationId xmlns:a16="http://schemas.microsoft.com/office/drawing/2014/main" id="{6ECCBD95-C25B-B17C-5C4B-D4DEA007A3DA}"/>
              </a:ext>
            </a:extLst>
          </p:cNvPr>
          <p:cNvSpPr/>
          <p:nvPr/>
        </p:nvSpPr>
        <p:spPr>
          <a:xfrm>
            <a:off x="608828" y="3317577"/>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N</a:t>
            </a:r>
            <a:r>
              <a:rPr lang="en-US" sz="1400" b="1" dirty="0"/>
              <a:t>etwork</a:t>
            </a:r>
          </a:p>
        </p:txBody>
      </p:sp>
      <p:sp>
        <p:nvSpPr>
          <p:cNvPr id="9" name="Rectangle 8">
            <a:extLst>
              <a:ext uri="{FF2B5EF4-FFF2-40B4-BE49-F238E27FC236}">
                <a16:creationId xmlns:a16="http://schemas.microsoft.com/office/drawing/2014/main" id="{BEBFE19B-D424-B104-638E-D4C3E98D0807}"/>
              </a:ext>
            </a:extLst>
          </p:cNvPr>
          <p:cNvSpPr/>
          <p:nvPr/>
        </p:nvSpPr>
        <p:spPr>
          <a:xfrm>
            <a:off x="608828" y="3752583"/>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D</a:t>
            </a:r>
            <a:r>
              <a:rPr lang="en-US" sz="1400" b="1" dirty="0"/>
              <a:t>ata Link</a:t>
            </a:r>
          </a:p>
        </p:txBody>
      </p:sp>
      <p:sp>
        <p:nvSpPr>
          <p:cNvPr id="10" name="Rectangle 9">
            <a:extLst>
              <a:ext uri="{FF2B5EF4-FFF2-40B4-BE49-F238E27FC236}">
                <a16:creationId xmlns:a16="http://schemas.microsoft.com/office/drawing/2014/main" id="{5AAC15EA-27B1-5AC1-9C94-1F0535DD5C9E}"/>
              </a:ext>
            </a:extLst>
          </p:cNvPr>
          <p:cNvSpPr/>
          <p:nvPr/>
        </p:nvSpPr>
        <p:spPr>
          <a:xfrm>
            <a:off x="608828" y="4187589"/>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hysical Layer</a:t>
            </a:r>
          </a:p>
        </p:txBody>
      </p:sp>
      <p:sp>
        <p:nvSpPr>
          <p:cNvPr id="11" name="Arrow: Curved Left 10">
            <a:extLst>
              <a:ext uri="{FF2B5EF4-FFF2-40B4-BE49-F238E27FC236}">
                <a16:creationId xmlns:a16="http://schemas.microsoft.com/office/drawing/2014/main" id="{79D8A7FA-0DCC-66D1-0007-DFE78200974C}"/>
              </a:ext>
            </a:extLst>
          </p:cNvPr>
          <p:cNvSpPr/>
          <p:nvPr/>
        </p:nvSpPr>
        <p:spPr>
          <a:xfrm>
            <a:off x="2184782" y="2665068"/>
            <a:ext cx="371987" cy="435006"/>
          </a:xfrm>
          <a:prstGeom prst="curved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tx1"/>
              </a:solidFill>
            </a:endParaRPr>
          </a:p>
        </p:txBody>
      </p:sp>
      <p:pic>
        <p:nvPicPr>
          <p:cNvPr id="24" name="Picture 23">
            <a:extLst>
              <a:ext uri="{FF2B5EF4-FFF2-40B4-BE49-F238E27FC236}">
                <a16:creationId xmlns:a16="http://schemas.microsoft.com/office/drawing/2014/main" id="{01D15486-CC91-8544-0521-7FA7F215F99D}"/>
              </a:ext>
            </a:extLst>
          </p:cNvPr>
          <p:cNvPicPr>
            <a:picLocks noChangeAspect="1"/>
          </p:cNvPicPr>
          <p:nvPr/>
        </p:nvPicPr>
        <p:blipFill>
          <a:blip r:embed="rId3"/>
          <a:stretch>
            <a:fillRect/>
          </a:stretch>
        </p:blipFill>
        <p:spPr>
          <a:xfrm>
            <a:off x="4892818" y="2062506"/>
            <a:ext cx="5488507" cy="2299533"/>
          </a:xfrm>
          <a:prstGeom prst="rect">
            <a:avLst/>
          </a:prstGeom>
        </p:spPr>
      </p:pic>
      <p:pic>
        <p:nvPicPr>
          <p:cNvPr id="28" name="Picture 27">
            <a:extLst>
              <a:ext uri="{FF2B5EF4-FFF2-40B4-BE49-F238E27FC236}">
                <a16:creationId xmlns:a16="http://schemas.microsoft.com/office/drawing/2014/main" id="{478A89F9-A65F-40B6-DF5A-546A493EE36F}"/>
              </a:ext>
            </a:extLst>
          </p:cNvPr>
          <p:cNvPicPr>
            <a:picLocks noChangeAspect="1"/>
          </p:cNvPicPr>
          <p:nvPr/>
        </p:nvPicPr>
        <p:blipFill>
          <a:blip r:embed="rId4"/>
          <a:stretch>
            <a:fillRect/>
          </a:stretch>
        </p:blipFill>
        <p:spPr>
          <a:xfrm>
            <a:off x="6722982" y="5369861"/>
            <a:ext cx="1183046" cy="612649"/>
          </a:xfrm>
          <a:prstGeom prst="rect">
            <a:avLst/>
          </a:prstGeom>
        </p:spPr>
      </p:pic>
      <p:pic>
        <p:nvPicPr>
          <p:cNvPr id="30" name="Picture 29">
            <a:extLst>
              <a:ext uri="{FF2B5EF4-FFF2-40B4-BE49-F238E27FC236}">
                <a16:creationId xmlns:a16="http://schemas.microsoft.com/office/drawing/2014/main" id="{81ABA17E-255B-FCA5-E7B4-7C32F2A39EA0}"/>
              </a:ext>
            </a:extLst>
          </p:cNvPr>
          <p:cNvPicPr>
            <a:picLocks noChangeAspect="1"/>
          </p:cNvPicPr>
          <p:nvPr/>
        </p:nvPicPr>
        <p:blipFill>
          <a:blip r:embed="rId5"/>
          <a:stretch>
            <a:fillRect/>
          </a:stretch>
        </p:blipFill>
        <p:spPr>
          <a:xfrm>
            <a:off x="6722982" y="6085935"/>
            <a:ext cx="1328568" cy="341498"/>
          </a:xfrm>
          <a:prstGeom prst="rect">
            <a:avLst/>
          </a:prstGeom>
        </p:spPr>
      </p:pic>
      <p:pic>
        <p:nvPicPr>
          <p:cNvPr id="32" name="Picture 31">
            <a:extLst>
              <a:ext uri="{FF2B5EF4-FFF2-40B4-BE49-F238E27FC236}">
                <a16:creationId xmlns:a16="http://schemas.microsoft.com/office/drawing/2014/main" id="{E2A8176F-C588-3774-8CCA-D2CFE11EC5F5}"/>
              </a:ext>
            </a:extLst>
          </p:cNvPr>
          <p:cNvPicPr>
            <a:picLocks noChangeAspect="1"/>
          </p:cNvPicPr>
          <p:nvPr/>
        </p:nvPicPr>
        <p:blipFill>
          <a:blip r:embed="rId6"/>
          <a:stretch>
            <a:fillRect/>
          </a:stretch>
        </p:blipFill>
        <p:spPr>
          <a:xfrm>
            <a:off x="8077781" y="5369861"/>
            <a:ext cx="784117" cy="585162"/>
          </a:xfrm>
          <a:prstGeom prst="rect">
            <a:avLst/>
          </a:prstGeom>
        </p:spPr>
      </p:pic>
    </p:spTree>
    <p:extLst>
      <p:ext uri="{BB962C8B-B14F-4D97-AF65-F5344CB8AC3E}">
        <p14:creationId xmlns:p14="http://schemas.microsoft.com/office/powerpoint/2010/main" val="2230322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mph" presetSubtype="0" fill="hold" grpId="0" nodeType="clickEffect">
                                  <p:stCondLst>
                                    <p:cond delay="0"/>
                                  </p:stCondLst>
                                  <p:childTnLst>
                                    <p:animEffect transition="out" filter="fade">
                                      <p:cBhvr>
                                        <p:cTn id="10" dur="500" tmFilter="0, 0; .2, .5; .8, .5; 1, 0"/>
                                        <p:tgtEl>
                                          <p:spTgt spid="7"/>
                                        </p:tgtEl>
                                      </p:cBhvr>
                                    </p:animEffect>
                                    <p:animScale>
                                      <p:cBhvr>
                                        <p:cTn id="11" dur="250" autoRev="1" fill="hold"/>
                                        <p:tgtEl>
                                          <p:spTgt spid="7"/>
                                        </p:tgtEl>
                                      </p:cBhvr>
                                      <p:by x="105000" y="105000"/>
                                    </p:animScale>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30"/>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270C3-0F29-FC8B-7AA8-4FDCBF530AA9}"/>
              </a:ext>
            </a:extLst>
          </p:cNvPr>
          <p:cNvSpPr>
            <a:spLocks noGrp="1"/>
          </p:cNvSpPr>
          <p:nvPr>
            <p:ph type="title"/>
          </p:nvPr>
        </p:nvSpPr>
        <p:spPr>
          <a:xfrm>
            <a:off x="4247669" y="183473"/>
            <a:ext cx="4052952" cy="642151"/>
          </a:xfrm>
        </p:spPr>
        <p:txBody>
          <a:bodyPr>
            <a:normAutofit fontScale="90000"/>
          </a:bodyPr>
          <a:lstStyle/>
          <a:p>
            <a:r>
              <a:rPr lang="en-US" b="1" dirty="0"/>
              <a:t>OSI Model Layers</a:t>
            </a:r>
            <a:endParaRPr lang="en-US" dirty="0"/>
          </a:p>
        </p:txBody>
      </p:sp>
      <p:sp>
        <p:nvSpPr>
          <p:cNvPr id="3" name="Content Placeholder 2">
            <a:extLst>
              <a:ext uri="{FF2B5EF4-FFF2-40B4-BE49-F238E27FC236}">
                <a16:creationId xmlns:a16="http://schemas.microsoft.com/office/drawing/2014/main" id="{42F514DC-0BC7-41D4-93AC-E36B784716CB}"/>
              </a:ext>
            </a:extLst>
          </p:cNvPr>
          <p:cNvSpPr>
            <a:spLocks noGrp="1"/>
          </p:cNvSpPr>
          <p:nvPr>
            <p:ph idx="1"/>
          </p:nvPr>
        </p:nvSpPr>
        <p:spPr>
          <a:xfrm>
            <a:off x="2586361" y="956719"/>
            <a:ext cx="9381051" cy="5470714"/>
          </a:xfrm>
        </p:spPr>
        <p:txBody>
          <a:bodyPr>
            <a:normAutofit/>
          </a:bodyPr>
          <a:lstStyle/>
          <a:p>
            <a:pPr algn="just"/>
            <a:r>
              <a:rPr lang="en-US" sz="2400" b="1" dirty="0"/>
              <a:t>Transport Layer</a:t>
            </a:r>
            <a:endParaRPr lang="en-US" sz="1800" dirty="0"/>
          </a:p>
          <a:p>
            <a:r>
              <a:rPr lang="en-US" b="1" dirty="0"/>
              <a:t>The two protocols used in this layer are:</a:t>
            </a:r>
            <a:endParaRPr lang="en-US" dirty="0"/>
          </a:p>
          <a:p>
            <a:pPr lvl="1"/>
            <a:r>
              <a:rPr lang="en-US" dirty="0"/>
              <a:t>Transmission Control Protocol (TCP)</a:t>
            </a:r>
          </a:p>
          <a:p>
            <a:pPr lvl="1"/>
            <a:r>
              <a:rPr lang="en-US" dirty="0"/>
              <a:t>User Datagram Protocol (UDP)</a:t>
            </a:r>
          </a:p>
          <a:p>
            <a:pPr algn="just"/>
            <a:endParaRPr lang="en-US" sz="1800" dirty="0"/>
          </a:p>
          <a:p>
            <a:pPr algn="just"/>
            <a:endParaRPr lang="en-US" sz="1800" dirty="0"/>
          </a:p>
          <a:p>
            <a:pPr algn="just"/>
            <a:endParaRPr lang="en-US" sz="1800" dirty="0"/>
          </a:p>
          <a:p>
            <a:pPr algn="just"/>
            <a:endParaRPr lang="en-US" sz="1800" dirty="0"/>
          </a:p>
          <a:p>
            <a:pPr marL="45720" indent="0" algn="just">
              <a:buNone/>
            </a:pPr>
            <a:endParaRPr lang="en-US" sz="1800" dirty="0"/>
          </a:p>
          <a:p>
            <a:pPr marL="45720" indent="0" algn="just">
              <a:buNone/>
            </a:pPr>
            <a:endParaRPr lang="en-US" sz="1800" dirty="0"/>
          </a:p>
          <a:p>
            <a:pPr marL="45720" indent="0" algn="just">
              <a:buNone/>
            </a:pPr>
            <a:endParaRPr lang="en-US" sz="1800" dirty="0"/>
          </a:p>
          <a:p>
            <a:pPr marL="548640" lvl="2" indent="0">
              <a:buNone/>
            </a:pPr>
            <a:endParaRPr lang="en-US" dirty="0"/>
          </a:p>
          <a:p>
            <a:pPr marL="548640" lvl="2" indent="0">
              <a:buNone/>
            </a:pPr>
            <a:endParaRPr lang="en-US" dirty="0"/>
          </a:p>
          <a:p>
            <a:pPr marL="548640" lvl="2" indent="0">
              <a:buNone/>
            </a:pPr>
            <a:endParaRPr lang="en-US" dirty="0"/>
          </a:p>
          <a:p>
            <a:pPr marL="548640" lvl="2" indent="0">
              <a:buNone/>
            </a:pPr>
            <a:endParaRPr lang="en-US" dirty="0"/>
          </a:p>
        </p:txBody>
      </p:sp>
      <p:sp>
        <p:nvSpPr>
          <p:cNvPr id="4" name="Rectangle 3">
            <a:extLst>
              <a:ext uri="{FF2B5EF4-FFF2-40B4-BE49-F238E27FC236}">
                <a16:creationId xmlns:a16="http://schemas.microsoft.com/office/drawing/2014/main" id="{469820BE-3F63-E971-2BFD-945C20A6E57A}"/>
              </a:ext>
            </a:extLst>
          </p:cNvPr>
          <p:cNvSpPr/>
          <p:nvPr/>
        </p:nvSpPr>
        <p:spPr>
          <a:xfrm>
            <a:off x="608828" y="160122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A</a:t>
            </a:r>
            <a:r>
              <a:rPr lang="en-US" sz="1400" b="1" dirty="0"/>
              <a:t>pplication</a:t>
            </a:r>
          </a:p>
        </p:txBody>
      </p:sp>
      <p:sp>
        <p:nvSpPr>
          <p:cNvPr id="5" name="Rectangle 4">
            <a:extLst>
              <a:ext uri="{FF2B5EF4-FFF2-40B4-BE49-F238E27FC236}">
                <a16:creationId xmlns:a16="http://schemas.microsoft.com/office/drawing/2014/main" id="{5AD53A24-45F5-B9D6-7016-FD5B43E8BF8F}"/>
              </a:ext>
            </a:extLst>
          </p:cNvPr>
          <p:cNvSpPr/>
          <p:nvPr/>
        </p:nvSpPr>
        <p:spPr>
          <a:xfrm>
            <a:off x="608828" y="202439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resentation</a:t>
            </a:r>
          </a:p>
        </p:txBody>
      </p:sp>
      <p:sp>
        <p:nvSpPr>
          <p:cNvPr id="6" name="Rectangle 5">
            <a:extLst>
              <a:ext uri="{FF2B5EF4-FFF2-40B4-BE49-F238E27FC236}">
                <a16:creationId xmlns:a16="http://schemas.microsoft.com/office/drawing/2014/main" id="{811338E4-F5DA-5F54-3A29-A1BA9E32736F}"/>
              </a:ext>
            </a:extLst>
          </p:cNvPr>
          <p:cNvSpPr/>
          <p:nvPr/>
        </p:nvSpPr>
        <p:spPr>
          <a:xfrm>
            <a:off x="608828" y="244756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S</a:t>
            </a:r>
            <a:r>
              <a:rPr lang="en-US" sz="1400" b="1" dirty="0"/>
              <a:t>ession</a:t>
            </a:r>
          </a:p>
        </p:txBody>
      </p:sp>
      <p:sp>
        <p:nvSpPr>
          <p:cNvPr id="7" name="Rectangle 6">
            <a:extLst>
              <a:ext uri="{FF2B5EF4-FFF2-40B4-BE49-F238E27FC236}">
                <a16:creationId xmlns:a16="http://schemas.microsoft.com/office/drawing/2014/main" id="{6910F9CA-1A70-53CE-5CE5-FD1F33B254FB}"/>
              </a:ext>
            </a:extLst>
          </p:cNvPr>
          <p:cNvSpPr/>
          <p:nvPr/>
        </p:nvSpPr>
        <p:spPr>
          <a:xfrm>
            <a:off x="608828" y="2882571"/>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T</a:t>
            </a:r>
            <a:r>
              <a:rPr lang="en-US" sz="1400" b="1" dirty="0"/>
              <a:t>ransport</a:t>
            </a:r>
          </a:p>
        </p:txBody>
      </p:sp>
      <p:sp>
        <p:nvSpPr>
          <p:cNvPr id="8" name="Rectangle 7">
            <a:extLst>
              <a:ext uri="{FF2B5EF4-FFF2-40B4-BE49-F238E27FC236}">
                <a16:creationId xmlns:a16="http://schemas.microsoft.com/office/drawing/2014/main" id="{6ECCBD95-C25B-B17C-5C4B-D4DEA007A3DA}"/>
              </a:ext>
            </a:extLst>
          </p:cNvPr>
          <p:cNvSpPr/>
          <p:nvPr/>
        </p:nvSpPr>
        <p:spPr>
          <a:xfrm>
            <a:off x="608828" y="3317577"/>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N</a:t>
            </a:r>
            <a:r>
              <a:rPr lang="en-US" sz="1400" b="1" dirty="0"/>
              <a:t>etwork</a:t>
            </a:r>
          </a:p>
        </p:txBody>
      </p:sp>
      <p:sp>
        <p:nvSpPr>
          <p:cNvPr id="9" name="Rectangle 8">
            <a:extLst>
              <a:ext uri="{FF2B5EF4-FFF2-40B4-BE49-F238E27FC236}">
                <a16:creationId xmlns:a16="http://schemas.microsoft.com/office/drawing/2014/main" id="{BEBFE19B-D424-B104-638E-D4C3E98D0807}"/>
              </a:ext>
            </a:extLst>
          </p:cNvPr>
          <p:cNvSpPr/>
          <p:nvPr/>
        </p:nvSpPr>
        <p:spPr>
          <a:xfrm>
            <a:off x="608828" y="3752583"/>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D</a:t>
            </a:r>
            <a:r>
              <a:rPr lang="en-US" sz="1400" b="1" dirty="0"/>
              <a:t>ata Link</a:t>
            </a:r>
          </a:p>
        </p:txBody>
      </p:sp>
      <p:sp>
        <p:nvSpPr>
          <p:cNvPr id="10" name="Rectangle 9">
            <a:extLst>
              <a:ext uri="{FF2B5EF4-FFF2-40B4-BE49-F238E27FC236}">
                <a16:creationId xmlns:a16="http://schemas.microsoft.com/office/drawing/2014/main" id="{5AAC15EA-27B1-5AC1-9C94-1F0535DD5C9E}"/>
              </a:ext>
            </a:extLst>
          </p:cNvPr>
          <p:cNvSpPr/>
          <p:nvPr/>
        </p:nvSpPr>
        <p:spPr>
          <a:xfrm>
            <a:off x="608828" y="4187589"/>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hysical Layer</a:t>
            </a:r>
          </a:p>
        </p:txBody>
      </p:sp>
      <p:sp>
        <p:nvSpPr>
          <p:cNvPr id="11" name="Arrow: Curved Left 10">
            <a:extLst>
              <a:ext uri="{FF2B5EF4-FFF2-40B4-BE49-F238E27FC236}">
                <a16:creationId xmlns:a16="http://schemas.microsoft.com/office/drawing/2014/main" id="{79D8A7FA-0DCC-66D1-0007-DFE78200974C}"/>
              </a:ext>
            </a:extLst>
          </p:cNvPr>
          <p:cNvSpPr/>
          <p:nvPr/>
        </p:nvSpPr>
        <p:spPr>
          <a:xfrm>
            <a:off x="2184782" y="2665068"/>
            <a:ext cx="371987" cy="435006"/>
          </a:xfrm>
          <a:prstGeom prst="curved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tx1"/>
              </a:solidFill>
            </a:endParaRPr>
          </a:p>
        </p:txBody>
      </p:sp>
      <p:pic>
        <p:nvPicPr>
          <p:cNvPr id="16" name="Picture 15">
            <a:extLst>
              <a:ext uri="{FF2B5EF4-FFF2-40B4-BE49-F238E27FC236}">
                <a16:creationId xmlns:a16="http://schemas.microsoft.com/office/drawing/2014/main" id="{2BF8FE9C-1B9D-BDF6-1C38-19DF0CA46B87}"/>
              </a:ext>
            </a:extLst>
          </p:cNvPr>
          <p:cNvPicPr>
            <a:picLocks noChangeAspect="1"/>
          </p:cNvPicPr>
          <p:nvPr/>
        </p:nvPicPr>
        <p:blipFill rotWithShape="1">
          <a:blip r:embed="rId2">
            <a:extLst>
              <a:ext uri="{28A0092B-C50C-407E-A947-70E740481C1C}">
                <a14:useLocalDpi xmlns:a14="http://schemas.microsoft.com/office/drawing/2010/main" val="0"/>
              </a:ext>
            </a:extLst>
          </a:blip>
          <a:srcRect b="20234"/>
          <a:stretch/>
        </p:blipFill>
        <p:spPr>
          <a:xfrm>
            <a:off x="2968101" y="2882571"/>
            <a:ext cx="7849345" cy="3525989"/>
          </a:xfrm>
          <a:prstGeom prst="rect">
            <a:avLst/>
          </a:prstGeom>
        </p:spPr>
      </p:pic>
    </p:spTree>
    <p:extLst>
      <p:ext uri="{BB962C8B-B14F-4D97-AF65-F5344CB8AC3E}">
        <p14:creationId xmlns:p14="http://schemas.microsoft.com/office/powerpoint/2010/main" val="3877010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6" presetClass="emph" presetSubtype="0" fill="hold" grpId="0" nodeType="clickEffect">
                                  <p:stCondLst>
                                    <p:cond delay="0"/>
                                  </p:stCondLst>
                                  <p:childTnLst>
                                    <p:animEffect transition="out" filter="fade">
                                      <p:cBhvr>
                                        <p:cTn id="18" dur="500" tmFilter="0, 0; .2, .5; .8, .5; 1, 0"/>
                                        <p:tgtEl>
                                          <p:spTgt spid="7"/>
                                        </p:tgtEl>
                                      </p:cBhvr>
                                    </p:animEffect>
                                    <p:animScale>
                                      <p:cBhvr>
                                        <p:cTn id="19"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270C3-0F29-FC8B-7AA8-4FDCBF530AA9}"/>
              </a:ext>
            </a:extLst>
          </p:cNvPr>
          <p:cNvSpPr>
            <a:spLocks noGrp="1"/>
          </p:cNvSpPr>
          <p:nvPr>
            <p:ph type="title"/>
          </p:nvPr>
        </p:nvSpPr>
        <p:spPr>
          <a:xfrm>
            <a:off x="4247669" y="183473"/>
            <a:ext cx="4052952" cy="642151"/>
          </a:xfrm>
        </p:spPr>
        <p:txBody>
          <a:bodyPr>
            <a:normAutofit fontScale="90000"/>
          </a:bodyPr>
          <a:lstStyle/>
          <a:p>
            <a:r>
              <a:rPr lang="en-US" b="1" dirty="0"/>
              <a:t>OSI Model Layers</a:t>
            </a:r>
            <a:endParaRPr lang="en-US" dirty="0"/>
          </a:p>
        </p:txBody>
      </p:sp>
      <p:sp>
        <p:nvSpPr>
          <p:cNvPr id="3" name="Content Placeholder 2">
            <a:extLst>
              <a:ext uri="{FF2B5EF4-FFF2-40B4-BE49-F238E27FC236}">
                <a16:creationId xmlns:a16="http://schemas.microsoft.com/office/drawing/2014/main" id="{42F514DC-0BC7-41D4-93AC-E36B784716CB}"/>
              </a:ext>
            </a:extLst>
          </p:cNvPr>
          <p:cNvSpPr>
            <a:spLocks noGrp="1"/>
          </p:cNvSpPr>
          <p:nvPr>
            <p:ph idx="1"/>
          </p:nvPr>
        </p:nvSpPr>
        <p:spPr>
          <a:xfrm>
            <a:off x="2586361" y="956719"/>
            <a:ext cx="9381051" cy="5470714"/>
          </a:xfrm>
        </p:spPr>
        <p:txBody>
          <a:bodyPr>
            <a:normAutofit/>
          </a:bodyPr>
          <a:lstStyle/>
          <a:p>
            <a:pPr algn="just"/>
            <a:r>
              <a:rPr lang="en-US" sz="2400" b="1" dirty="0"/>
              <a:t>Transport Layer</a:t>
            </a:r>
            <a:endParaRPr lang="en-US" sz="1800" dirty="0"/>
          </a:p>
          <a:p>
            <a:r>
              <a:rPr lang="en-US" b="1" dirty="0"/>
              <a:t>The two protocols used in this layer are:</a:t>
            </a:r>
            <a:endParaRPr lang="en-US" dirty="0"/>
          </a:p>
          <a:p>
            <a:r>
              <a:rPr lang="en-US" b="1" dirty="0"/>
              <a:t>Transmission Control Protocol</a:t>
            </a:r>
            <a:r>
              <a:rPr lang="en-US" dirty="0"/>
              <a:t> (TCP)</a:t>
            </a:r>
          </a:p>
          <a:p>
            <a:pPr lvl="1"/>
            <a:r>
              <a:rPr lang="en-US" dirty="0"/>
              <a:t>It is a standard protocol that allows the systems to communicate over the internet. </a:t>
            </a:r>
          </a:p>
          <a:p>
            <a:pPr lvl="1"/>
            <a:r>
              <a:rPr lang="en-US" dirty="0"/>
              <a:t>It establishes and </a:t>
            </a:r>
            <a:r>
              <a:rPr lang="en-US" b="1" dirty="0"/>
              <a:t>maintains a connection </a:t>
            </a:r>
            <a:r>
              <a:rPr lang="en-US" dirty="0"/>
              <a:t>between hosts.</a:t>
            </a:r>
          </a:p>
          <a:p>
            <a:pPr lvl="1"/>
            <a:r>
              <a:rPr lang="en-US" dirty="0"/>
              <a:t>When data is sent over the TCP connection, then the TCP protocol divides the data into smaller units known as segments. Each segment travels over the internet using multiple routes, and they arrive in different orders at the destination. </a:t>
            </a:r>
          </a:p>
          <a:p>
            <a:pPr lvl="1"/>
            <a:r>
              <a:rPr lang="en-US" dirty="0"/>
              <a:t>The transmission control protocol </a:t>
            </a:r>
            <a:r>
              <a:rPr lang="en-US" dirty="0">
                <a:highlight>
                  <a:srgbClr val="00FFFF"/>
                </a:highlight>
              </a:rPr>
              <a:t>reorders</a:t>
            </a:r>
            <a:r>
              <a:rPr lang="en-US" dirty="0"/>
              <a:t> the packets in the correct order at the receiving end.</a:t>
            </a:r>
          </a:p>
          <a:p>
            <a:r>
              <a:rPr lang="en-US" b="1" dirty="0"/>
              <a:t>User Datagram Protocol</a:t>
            </a:r>
            <a:r>
              <a:rPr lang="en-US" dirty="0"/>
              <a:t> (UDP)</a:t>
            </a:r>
          </a:p>
          <a:p>
            <a:pPr lvl="1"/>
            <a:r>
              <a:rPr lang="en-US" dirty="0"/>
              <a:t>User Datagram Protocol is a transport layer protocol.</a:t>
            </a:r>
          </a:p>
          <a:p>
            <a:pPr lvl="1"/>
            <a:r>
              <a:rPr lang="en-US" dirty="0"/>
              <a:t>It is an </a:t>
            </a:r>
            <a:r>
              <a:rPr lang="en-US" b="1" dirty="0"/>
              <a:t>unreliable </a:t>
            </a:r>
            <a:r>
              <a:rPr lang="en-US" dirty="0"/>
              <a:t>transport protocol as in this case receiver does not send any acknowledgment when the packet is received</a:t>
            </a:r>
            <a:r>
              <a:rPr lang="en-US" b="1" dirty="0"/>
              <a:t>, the sender does not wait for any acknowledgment</a:t>
            </a:r>
            <a:r>
              <a:rPr lang="en-US" dirty="0"/>
              <a:t>. Therefore, this makes a protocol unreliable.</a:t>
            </a:r>
          </a:p>
          <a:p>
            <a:pPr algn="just"/>
            <a:endParaRPr lang="en-US" sz="1800" dirty="0"/>
          </a:p>
          <a:p>
            <a:pPr algn="just"/>
            <a:endParaRPr lang="en-US" sz="1800" dirty="0"/>
          </a:p>
          <a:p>
            <a:pPr algn="just"/>
            <a:endParaRPr lang="en-US" sz="1800" dirty="0"/>
          </a:p>
          <a:p>
            <a:pPr algn="just"/>
            <a:endParaRPr lang="en-US" sz="1800" dirty="0"/>
          </a:p>
          <a:p>
            <a:pPr marL="45720" indent="0" algn="just">
              <a:buNone/>
            </a:pPr>
            <a:endParaRPr lang="en-US" sz="1800" dirty="0"/>
          </a:p>
          <a:p>
            <a:pPr marL="45720" indent="0" algn="just">
              <a:buNone/>
            </a:pPr>
            <a:endParaRPr lang="en-US" sz="1800" dirty="0"/>
          </a:p>
          <a:p>
            <a:pPr marL="45720" indent="0" algn="just">
              <a:buNone/>
            </a:pPr>
            <a:endParaRPr lang="en-US" sz="1800" dirty="0"/>
          </a:p>
          <a:p>
            <a:pPr marL="548640" lvl="2" indent="0">
              <a:buNone/>
            </a:pPr>
            <a:endParaRPr lang="en-US" dirty="0"/>
          </a:p>
          <a:p>
            <a:pPr marL="548640" lvl="2" indent="0">
              <a:buNone/>
            </a:pPr>
            <a:endParaRPr lang="en-US" dirty="0"/>
          </a:p>
          <a:p>
            <a:pPr marL="548640" lvl="2" indent="0">
              <a:buNone/>
            </a:pPr>
            <a:endParaRPr lang="en-US" dirty="0"/>
          </a:p>
          <a:p>
            <a:pPr marL="548640" lvl="2" indent="0">
              <a:buNone/>
            </a:pPr>
            <a:endParaRPr lang="en-US" dirty="0"/>
          </a:p>
        </p:txBody>
      </p:sp>
      <p:sp>
        <p:nvSpPr>
          <p:cNvPr id="4" name="Rectangle 3">
            <a:extLst>
              <a:ext uri="{FF2B5EF4-FFF2-40B4-BE49-F238E27FC236}">
                <a16:creationId xmlns:a16="http://schemas.microsoft.com/office/drawing/2014/main" id="{469820BE-3F63-E971-2BFD-945C20A6E57A}"/>
              </a:ext>
            </a:extLst>
          </p:cNvPr>
          <p:cNvSpPr/>
          <p:nvPr/>
        </p:nvSpPr>
        <p:spPr>
          <a:xfrm>
            <a:off x="608828" y="160122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A</a:t>
            </a:r>
            <a:r>
              <a:rPr lang="en-US" sz="1400" b="1" dirty="0"/>
              <a:t>pplication</a:t>
            </a:r>
          </a:p>
        </p:txBody>
      </p:sp>
      <p:sp>
        <p:nvSpPr>
          <p:cNvPr id="5" name="Rectangle 4">
            <a:extLst>
              <a:ext uri="{FF2B5EF4-FFF2-40B4-BE49-F238E27FC236}">
                <a16:creationId xmlns:a16="http://schemas.microsoft.com/office/drawing/2014/main" id="{5AD53A24-45F5-B9D6-7016-FD5B43E8BF8F}"/>
              </a:ext>
            </a:extLst>
          </p:cNvPr>
          <p:cNvSpPr/>
          <p:nvPr/>
        </p:nvSpPr>
        <p:spPr>
          <a:xfrm>
            <a:off x="608828" y="202439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resentation</a:t>
            </a:r>
          </a:p>
        </p:txBody>
      </p:sp>
      <p:sp>
        <p:nvSpPr>
          <p:cNvPr id="6" name="Rectangle 5">
            <a:extLst>
              <a:ext uri="{FF2B5EF4-FFF2-40B4-BE49-F238E27FC236}">
                <a16:creationId xmlns:a16="http://schemas.microsoft.com/office/drawing/2014/main" id="{811338E4-F5DA-5F54-3A29-A1BA9E32736F}"/>
              </a:ext>
            </a:extLst>
          </p:cNvPr>
          <p:cNvSpPr/>
          <p:nvPr/>
        </p:nvSpPr>
        <p:spPr>
          <a:xfrm>
            <a:off x="608828" y="244756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S</a:t>
            </a:r>
            <a:r>
              <a:rPr lang="en-US" sz="1400" b="1" dirty="0"/>
              <a:t>ession</a:t>
            </a:r>
          </a:p>
        </p:txBody>
      </p:sp>
      <p:sp>
        <p:nvSpPr>
          <p:cNvPr id="7" name="Rectangle 6">
            <a:extLst>
              <a:ext uri="{FF2B5EF4-FFF2-40B4-BE49-F238E27FC236}">
                <a16:creationId xmlns:a16="http://schemas.microsoft.com/office/drawing/2014/main" id="{6910F9CA-1A70-53CE-5CE5-FD1F33B254FB}"/>
              </a:ext>
            </a:extLst>
          </p:cNvPr>
          <p:cNvSpPr/>
          <p:nvPr/>
        </p:nvSpPr>
        <p:spPr>
          <a:xfrm>
            <a:off x="608828" y="2882571"/>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T</a:t>
            </a:r>
            <a:r>
              <a:rPr lang="en-US" sz="1400" b="1" dirty="0"/>
              <a:t>ransport</a:t>
            </a:r>
          </a:p>
        </p:txBody>
      </p:sp>
      <p:sp>
        <p:nvSpPr>
          <p:cNvPr id="8" name="Rectangle 7">
            <a:extLst>
              <a:ext uri="{FF2B5EF4-FFF2-40B4-BE49-F238E27FC236}">
                <a16:creationId xmlns:a16="http://schemas.microsoft.com/office/drawing/2014/main" id="{6ECCBD95-C25B-B17C-5C4B-D4DEA007A3DA}"/>
              </a:ext>
            </a:extLst>
          </p:cNvPr>
          <p:cNvSpPr/>
          <p:nvPr/>
        </p:nvSpPr>
        <p:spPr>
          <a:xfrm>
            <a:off x="608828" y="3317577"/>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N</a:t>
            </a:r>
            <a:r>
              <a:rPr lang="en-US" sz="1400" b="1" dirty="0"/>
              <a:t>etwork</a:t>
            </a:r>
          </a:p>
        </p:txBody>
      </p:sp>
      <p:sp>
        <p:nvSpPr>
          <p:cNvPr id="9" name="Rectangle 8">
            <a:extLst>
              <a:ext uri="{FF2B5EF4-FFF2-40B4-BE49-F238E27FC236}">
                <a16:creationId xmlns:a16="http://schemas.microsoft.com/office/drawing/2014/main" id="{BEBFE19B-D424-B104-638E-D4C3E98D0807}"/>
              </a:ext>
            </a:extLst>
          </p:cNvPr>
          <p:cNvSpPr/>
          <p:nvPr/>
        </p:nvSpPr>
        <p:spPr>
          <a:xfrm>
            <a:off x="608828" y="3752583"/>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D</a:t>
            </a:r>
            <a:r>
              <a:rPr lang="en-US" sz="1400" b="1" dirty="0"/>
              <a:t>ata Link</a:t>
            </a:r>
          </a:p>
        </p:txBody>
      </p:sp>
      <p:sp>
        <p:nvSpPr>
          <p:cNvPr id="10" name="Rectangle 9">
            <a:extLst>
              <a:ext uri="{FF2B5EF4-FFF2-40B4-BE49-F238E27FC236}">
                <a16:creationId xmlns:a16="http://schemas.microsoft.com/office/drawing/2014/main" id="{5AAC15EA-27B1-5AC1-9C94-1F0535DD5C9E}"/>
              </a:ext>
            </a:extLst>
          </p:cNvPr>
          <p:cNvSpPr/>
          <p:nvPr/>
        </p:nvSpPr>
        <p:spPr>
          <a:xfrm>
            <a:off x="608828" y="4187589"/>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hysical Layer</a:t>
            </a:r>
          </a:p>
        </p:txBody>
      </p:sp>
      <p:sp>
        <p:nvSpPr>
          <p:cNvPr id="11" name="Arrow: Curved Left 10">
            <a:extLst>
              <a:ext uri="{FF2B5EF4-FFF2-40B4-BE49-F238E27FC236}">
                <a16:creationId xmlns:a16="http://schemas.microsoft.com/office/drawing/2014/main" id="{79D8A7FA-0DCC-66D1-0007-DFE78200974C}"/>
              </a:ext>
            </a:extLst>
          </p:cNvPr>
          <p:cNvSpPr/>
          <p:nvPr/>
        </p:nvSpPr>
        <p:spPr>
          <a:xfrm>
            <a:off x="2184782" y="2665068"/>
            <a:ext cx="371987" cy="435006"/>
          </a:xfrm>
          <a:prstGeom prst="curved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96378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6" presetClass="emph" presetSubtype="0" fill="hold" grpId="0" nodeType="clickEffect">
                                  <p:stCondLst>
                                    <p:cond delay="0"/>
                                  </p:stCondLst>
                                  <p:childTnLst>
                                    <p:animEffect transition="out" filter="fade">
                                      <p:cBhvr>
                                        <p:cTn id="30" dur="500" tmFilter="0, 0; .2, .5; .8, .5; 1, 0"/>
                                        <p:tgtEl>
                                          <p:spTgt spid="7"/>
                                        </p:tgtEl>
                                      </p:cBhvr>
                                    </p:animEffect>
                                    <p:animScale>
                                      <p:cBhvr>
                                        <p:cTn id="31"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63D6BBC-CC1F-ECDF-9A70-CC7AD9648DA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9768"/>
          <a:stretch/>
        </p:blipFill>
        <p:spPr>
          <a:xfrm>
            <a:off x="521476" y="490877"/>
            <a:ext cx="4910646" cy="4430970"/>
          </a:xfrm>
        </p:spPr>
      </p:pic>
      <p:sp>
        <p:nvSpPr>
          <p:cNvPr id="9" name="TextBox 8">
            <a:extLst>
              <a:ext uri="{FF2B5EF4-FFF2-40B4-BE49-F238E27FC236}">
                <a16:creationId xmlns:a16="http://schemas.microsoft.com/office/drawing/2014/main" id="{713949EC-2A64-385C-992F-DF4EF38399D6}"/>
              </a:ext>
            </a:extLst>
          </p:cNvPr>
          <p:cNvSpPr txBox="1"/>
          <p:nvPr/>
        </p:nvSpPr>
        <p:spPr>
          <a:xfrm>
            <a:off x="905069" y="5262467"/>
            <a:ext cx="3713584" cy="1200329"/>
          </a:xfrm>
          <a:prstGeom prst="rect">
            <a:avLst/>
          </a:prstGeom>
          <a:noFill/>
        </p:spPr>
        <p:txBody>
          <a:bodyPr wrap="square">
            <a:spAutoFit/>
          </a:bodyPr>
          <a:lstStyle/>
          <a:p>
            <a:pPr algn="just"/>
            <a:r>
              <a:rPr lang="en-US" b="1" dirty="0"/>
              <a:t>TCP relies on a three-way handshake (synchronization, synchronization acknowledgment, and final acknowledgment)</a:t>
            </a:r>
            <a:endParaRPr lang="en-US" dirty="0"/>
          </a:p>
        </p:txBody>
      </p:sp>
      <p:pic>
        <p:nvPicPr>
          <p:cNvPr id="4" name="Picture 3">
            <a:extLst>
              <a:ext uri="{FF2B5EF4-FFF2-40B4-BE49-F238E27FC236}">
                <a16:creationId xmlns:a16="http://schemas.microsoft.com/office/drawing/2014/main" id="{70BE36E5-EEE3-FFA0-6378-BECE18AD289F}"/>
              </a:ext>
            </a:extLst>
          </p:cNvPr>
          <p:cNvPicPr>
            <a:picLocks noChangeAspect="1"/>
          </p:cNvPicPr>
          <p:nvPr/>
        </p:nvPicPr>
        <p:blipFill rotWithShape="1">
          <a:blip r:embed="rId3">
            <a:extLst>
              <a:ext uri="{28A0092B-C50C-407E-A947-70E740481C1C}">
                <a14:useLocalDpi xmlns:a14="http://schemas.microsoft.com/office/drawing/2010/main" val="0"/>
              </a:ext>
            </a:extLst>
          </a:blip>
          <a:srcRect l="6937" t="10680" r="3754"/>
          <a:stretch/>
        </p:blipFill>
        <p:spPr>
          <a:xfrm>
            <a:off x="6492034" y="561117"/>
            <a:ext cx="5178490" cy="4430970"/>
          </a:xfrm>
          <a:prstGeom prst="rect">
            <a:avLst/>
          </a:prstGeom>
        </p:spPr>
      </p:pic>
    </p:spTree>
    <p:extLst>
      <p:ext uri="{BB962C8B-B14F-4D97-AF65-F5344CB8AC3E}">
        <p14:creationId xmlns:p14="http://schemas.microsoft.com/office/powerpoint/2010/main" val="2150823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CC1C926B-2F59-A948-1BF6-B17B774F8AC0}"/>
              </a:ext>
            </a:extLst>
          </p:cNvPr>
          <p:cNvPicPr>
            <a:picLocks noChangeAspect="1"/>
          </p:cNvPicPr>
          <p:nvPr/>
        </p:nvPicPr>
        <p:blipFill>
          <a:blip r:embed="rId2"/>
          <a:stretch>
            <a:fillRect/>
          </a:stretch>
        </p:blipFill>
        <p:spPr>
          <a:xfrm>
            <a:off x="4110957" y="1164645"/>
            <a:ext cx="6846232" cy="5303587"/>
          </a:xfrm>
          <a:prstGeom prst="rect">
            <a:avLst/>
          </a:prstGeom>
        </p:spPr>
      </p:pic>
      <p:sp>
        <p:nvSpPr>
          <p:cNvPr id="2" name="Title 1">
            <a:extLst>
              <a:ext uri="{FF2B5EF4-FFF2-40B4-BE49-F238E27FC236}">
                <a16:creationId xmlns:a16="http://schemas.microsoft.com/office/drawing/2014/main" id="{AA8270C3-0F29-FC8B-7AA8-4FDCBF530AA9}"/>
              </a:ext>
            </a:extLst>
          </p:cNvPr>
          <p:cNvSpPr>
            <a:spLocks noGrp="1"/>
          </p:cNvSpPr>
          <p:nvPr>
            <p:ph type="title"/>
          </p:nvPr>
        </p:nvSpPr>
        <p:spPr>
          <a:xfrm>
            <a:off x="4247669" y="183473"/>
            <a:ext cx="4052952" cy="642151"/>
          </a:xfrm>
        </p:spPr>
        <p:txBody>
          <a:bodyPr>
            <a:normAutofit fontScale="90000"/>
          </a:bodyPr>
          <a:lstStyle/>
          <a:p>
            <a:r>
              <a:rPr lang="en-US" b="1" dirty="0"/>
              <a:t>OSI Model Layers</a:t>
            </a:r>
            <a:endParaRPr lang="en-US" dirty="0"/>
          </a:p>
        </p:txBody>
      </p:sp>
      <p:sp>
        <p:nvSpPr>
          <p:cNvPr id="3" name="Content Placeholder 2">
            <a:extLst>
              <a:ext uri="{FF2B5EF4-FFF2-40B4-BE49-F238E27FC236}">
                <a16:creationId xmlns:a16="http://schemas.microsoft.com/office/drawing/2014/main" id="{42F514DC-0BC7-41D4-93AC-E36B784716CB}"/>
              </a:ext>
            </a:extLst>
          </p:cNvPr>
          <p:cNvSpPr>
            <a:spLocks noGrp="1"/>
          </p:cNvSpPr>
          <p:nvPr>
            <p:ph idx="1"/>
          </p:nvPr>
        </p:nvSpPr>
        <p:spPr>
          <a:xfrm>
            <a:off x="2586361" y="956719"/>
            <a:ext cx="9381051" cy="5470714"/>
          </a:xfrm>
        </p:spPr>
        <p:txBody>
          <a:bodyPr>
            <a:normAutofit/>
          </a:bodyPr>
          <a:lstStyle/>
          <a:p>
            <a:pPr algn="just"/>
            <a:r>
              <a:rPr lang="en-US" sz="2400" b="1" dirty="0"/>
              <a:t>Transport Layer</a:t>
            </a:r>
            <a:endParaRPr lang="en-US" sz="1800" dirty="0"/>
          </a:p>
          <a:p>
            <a:pPr algn="just"/>
            <a:endParaRPr lang="en-US" sz="1800" dirty="0"/>
          </a:p>
          <a:p>
            <a:pPr algn="just"/>
            <a:endParaRPr lang="en-US" sz="1800" dirty="0"/>
          </a:p>
          <a:p>
            <a:pPr algn="just"/>
            <a:endParaRPr lang="en-US" sz="1800" dirty="0"/>
          </a:p>
          <a:p>
            <a:pPr algn="just"/>
            <a:endParaRPr lang="en-US" sz="1800" dirty="0"/>
          </a:p>
          <a:p>
            <a:pPr marL="45720" indent="0" algn="just">
              <a:buNone/>
            </a:pPr>
            <a:endParaRPr lang="en-US" sz="1800" dirty="0"/>
          </a:p>
          <a:p>
            <a:pPr marL="45720" indent="0" algn="just">
              <a:buNone/>
            </a:pPr>
            <a:endParaRPr lang="en-US" sz="1800" dirty="0"/>
          </a:p>
          <a:p>
            <a:pPr marL="45720" indent="0" algn="just">
              <a:buNone/>
            </a:pPr>
            <a:endParaRPr lang="en-US" sz="1800" dirty="0"/>
          </a:p>
          <a:p>
            <a:pPr marL="548640" lvl="2" indent="0">
              <a:buNone/>
            </a:pPr>
            <a:endParaRPr lang="en-US" dirty="0"/>
          </a:p>
          <a:p>
            <a:pPr marL="548640" lvl="2" indent="0">
              <a:buNone/>
            </a:pPr>
            <a:endParaRPr lang="en-US" dirty="0"/>
          </a:p>
          <a:p>
            <a:pPr marL="548640" lvl="2" indent="0">
              <a:buNone/>
            </a:pPr>
            <a:endParaRPr lang="en-US" dirty="0"/>
          </a:p>
          <a:p>
            <a:pPr marL="548640" lvl="2" indent="0">
              <a:buNone/>
            </a:pPr>
            <a:endParaRPr lang="en-US" dirty="0"/>
          </a:p>
        </p:txBody>
      </p:sp>
      <p:sp>
        <p:nvSpPr>
          <p:cNvPr id="4" name="Rectangle 3">
            <a:extLst>
              <a:ext uri="{FF2B5EF4-FFF2-40B4-BE49-F238E27FC236}">
                <a16:creationId xmlns:a16="http://schemas.microsoft.com/office/drawing/2014/main" id="{469820BE-3F63-E971-2BFD-945C20A6E57A}"/>
              </a:ext>
            </a:extLst>
          </p:cNvPr>
          <p:cNvSpPr/>
          <p:nvPr/>
        </p:nvSpPr>
        <p:spPr>
          <a:xfrm>
            <a:off x="608828" y="160122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A</a:t>
            </a:r>
            <a:r>
              <a:rPr lang="en-US" sz="1400" b="1" dirty="0"/>
              <a:t>pplication</a:t>
            </a:r>
          </a:p>
        </p:txBody>
      </p:sp>
      <p:sp>
        <p:nvSpPr>
          <p:cNvPr id="5" name="Rectangle 4">
            <a:extLst>
              <a:ext uri="{FF2B5EF4-FFF2-40B4-BE49-F238E27FC236}">
                <a16:creationId xmlns:a16="http://schemas.microsoft.com/office/drawing/2014/main" id="{5AD53A24-45F5-B9D6-7016-FD5B43E8BF8F}"/>
              </a:ext>
            </a:extLst>
          </p:cNvPr>
          <p:cNvSpPr/>
          <p:nvPr/>
        </p:nvSpPr>
        <p:spPr>
          <a:xfrm>
            <a:off x="608828" y="202439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resentation</a:t>
            </a:r>
          </a:p>
        </p:txBody>
      </p:sp>
      <p:sp>
        <p:nvSpPr>
          <p:cNvPr id="6" name="Rectangle 5">
            <a:extLst>
              <a:ext uri="{FF2B5EF4-FFF2-40B4-BE49-F238E27FC236}">
                <a16:creationId xmlns:a16="http://schemas.microsoft.com/office/drawing/2014/main" id="{811338E4-F5DA-5F54-3A29-A1BA9E32736F}"/>
              </a:ext>
            </a:extLst>
          </p:cNvPr>
          <p:cNvSpPr/>
          <p:nvPr/>
        </p:nvSpPr>
        <p:spPr>
          <a:xfrm>
            <a:off x="608828" y="244756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S</a:t>
            </a:r>
            <a:r>
              <a:rPr lang="en-US" sz="1400" b="1" dirty="0"/>
              <a:t>ession</a:t>
            </a:r>
          </a:p>
        </p:txBody>
      </p:sp>
      <p:sp>
        <p:nvSpPr>
          <p:cNvPr id="7" name="Rectangle 6">
            <a:extLst>
              <a:ext uri="{FF2B5EF4-FFF2-40B4-BE49-F238E27FC236}">
                <a16:creationId xmlns:a16="http://schemas.microsoft.com/office/drawing/2014/main" id="{6910F9CA-1A70-53CE-5CE5-FD1F33B254FB}"/>
              </a:ext>
            </a:extLst>
          </p:cNvPr>
          <p:cNvSpPr/>
          <p:nvPr/>
        </p:nvSpPr>
        <p:spPr>
          <a:xfrm>
            <a:off x="608828" y="2882571"/>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T</a:t>
            </a:r>
            <a:r>
              <a:rPr lang="en-US" sz="1400" b="1" dirty="0"/>
              <a:t>ransport</a:t>
            </a:r>
          </a:p>
        </p:txBody>
      </p:sp>
      <p:sp>
        <p:nvSpPr>
          <p:cNvPr id="8" name="Rectangle 7">
            <a:extLst>
              <a:ext uri="{FF2B5EF4-FFF2-40B4-BE49-F238E27FC236}">
                <a16:creationId xmlns:a16="http://schemas.microsoft.com/office/drawing/2014/main" id="{6ECCBD95-C25B-B17C-5C4B-D4DEA007A3DA}"/>
              </a:ext>
            </a:extLst>
          </p:cNvPr>
          <p:cNvSpPr/>
          <p:nvPr/>
        </p:nvSpPr>
        <p:spPr>
          <a:xfrm>
            <a:off x="608828" y="3317577"/>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N</a:t>
            </a:r>
            <a:r>
              <a:rPr lang="en-US" sz="1400" b="1" dirty="0"/>
              <a:t>etwork</a:t>
            </a:r>
          </a:p>
        </p:txBody>
      </p:sp>
      <p:sp>
        <p:nvSpPr>
          <p:cNvPr id="9" name="Rectangle 8">
            <a:extLst>
              <a:ext uri="{FF2B5EF4-FFF2-40B4-BE49-F238E27FC236}">
                <a16:creationId xmlns:a16="http://schemas.microsoft.com/office/drawing/2014/main" id="{BEBFE19B-D424-B104-638E-D4C3E98D0807}"/>
              </a:ext>
            </a:extLst>
          </p:cNvPr>
          <p:cNvSpPr/>
          <p:nvPr/>
        </p:nvSpPr>
        <p:spPr>
          <a:xfrm>
            <a:off x="608828" y="3752583"/>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D</a:t>
            </a:r>
            <a:r>
              <a:rPr lang="en-US" sz="1400" b="1" dirty="0"/>
              <a:t>ata Link</a:t>
            </a:r>
          </a:p>
        </p:txBody>
      </p:sp>
      <p:sp>
        <p:nvSpPr>
          <p:cNvPr id="10" name="Rectangle 9">
            <a:extLst>
              <a:ext uri="{FF2B5EF4-FFF2-40B4-BE49-F238E27FC236}">
                <a16:creationId xmlns:a16="http://schemas.microsoft.com/office/drawing/2014/main" id="{5AAC15EA-27B1-5AC1-9C94-1F0535DD5C9E}"/>
              </a:ext>
            </a:extLst>
          </p:cNvPr>
          <p:cNvSpPr/>
          <p:nvPr/>
        </p:nvSpPr>
        <p:spPr>
          <a:xfrm>
            <a:off x="608828" y="4187589"/>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hysical Layer</a:t>
            </a:r>
          </a:p>
        </p:txBody>
      </p:sp>
      <p:sp>
        <p:nvSpPr>
          <p:cNvPr id="11" name="Arrow: Curved Left 10">
            <a:extLst>
              <a:ext uri="{FF2B5EF4-FFF2-40B4-BE49-F238E27FC236}">
                <a16:creationId xmlns:a16="http://schemas.microsoft.com/office/drawing/2014/main" id="{79D8A7FA-0DCC-66D1-0007-DFE78200974C}"/>
              </a:ext>
            </a:extLst>
          </p:cNvPr>
          <p:cNvSpPr/>
          <p:nvPr/>
        </p:nvSpPr>
        <p:spPr>
          <a:xfrm>
            <a:off x="2184782" y="2665068"/>
            <a:ext cx="371987" cy="435006"/>
          </a:xfrm>
          <a:prstGeom prst="curved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tx1"/>
              </a:solidFill>
            </a:endParaRPr>
          </a:p>
        </p:txBody>
      </p:sp>
      <p:sp>
        <p:nvSpPr>
          <p:cNvPr id="16" name="Oval 15">
            <a:extLst>
              <a:ext uri="{FF2B5EF4-FFF2-40B4-BE49-F238E27FC236}">
                <a16:creationId xmlns:a16="http://schemas.microsoft.com/office/drawing/2014/main" id="{DC6A29D2-36CE-AC60-282B-E535DDC827B6}"/>
              </a:ext>
            </a:extLst>
          </p:cNvPr>
          <p:cNvSpPr/>
          <p:nvPr/>
        </p:nvSpPr>
        <p:spPr>
          <a:xfrm>
            <a:off x="6566171" y="2946425"/>
            <a:ext cx="1935804" cy="870013"/>
          </a:xfrm>
          <a:prstGeom prst="ellipse">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1877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6" presetClass="emph" presetSubtype="0" fill="hold" grpId="0" nodeType="clickEffect">
                                  <p:stCondLst>
                                    <p:cond delay="0"/>
                                  </p:stCondLst>
                                  <p:childTnLst>
                                    <p:animEffect transition="out" filter="fade">
                                      <p:cBhvr>
                                        <p:cTn id="12" dur="500" tmFilter="0, 0; .2, .5; .8, .5; 1, 0"/>
                                        <p:tgtEl>
                                          <p:spTgt spid="7"/>
                                        </p:tgtEl>
                                      </p:cBhvr>
                                    </p:animEffect>
                                    <p:animScale>
                                      <p:cBhvr>
                                        <p:cTn id="13"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270C3-0F29-FC8B-7AA8-4FDCBF530AA9}"/>
              </a:ext>
            </a:extLst>
          </p:cNvPr>
          <p:cNvSpPr>
            <a:spLocks noGrp="1"/>
          </p:cNvSpPr>
          <p:nvPr>
            <p:ph type="title"/>
          </p:nvPr>
        </p:nvSpPr>
        <p:spPr>
          <a:xfrm>
            <a:off x="4247669" y="183473"/>
            <a:ext cx="4052952" cy="642151"/>
          </a:xfrm>
        </p:spPr>
        <p:txBody>
          <a:bodyPr>
            <a:normAutofit fontScale="90000"/>
          </a:bodyPr>
          <a:lstStyle/>
          <a:p>
            <a:r>
              <a:rPr lang="en-US" b="1" dirty="0"/>
              <a:t>OSI Model Layers</a:t>
            </a:r>
            <a:endParaRPr lang="en-US" dirty="0"/>
          </a:p>
        </p:txBody>
      </p:sp>
      <p:sp>
        <p:nvSpPr>
          <p:cNvPr id="3" name="Content Placeholder 2">
            <a:extLst>
              <a:ext uri="{FF2B5EF4-FFF2-40B4-BE49-F238E27FC236}">
                <a16:creationId xmlns:a16="http://schemas.microsoft.com/office/drawing/2014/main" id="{42F514DC-0BC7-41D4-93AC-E36B784716CB}"/>
              </a:ext>
            </a:extLst>
          </p:cNvPr>
          <p:cNvSpPr>
            <a:spLocks noGrp="1"/>
          </p:cNvSpPr>
          <p:nvPr>
            <p:ph idx="1"/>
          </p:nvPr>
        </p:nvSpPr>
        <p:spPr>
          <a:xfrm>
            <a:off x="2586361" y="956719"/>
            <a:ext cx="9381051" cy="5470714"/>
          </a:xfrm>
        </p:spPr>
        <p:txBody>
          <a:bodyPr>
            <a:normAutofit/>
          </a:bodyPr>
          <a:lstStyle/>
          <a:p>
            <a:pPr algn="just"/>
            <a:r>
              <a:rPr lang="en-US" sz="2400" b="1" dirty="0"/>
              <a:t>Transport Layer</a:t>
            </a:r>
            <a:endParaRPr lang="en-US" sz="1800" dirty="0"/>
          </a:p>
          <a:p>
            <a:pPr algn="just"/>
            <a:endParaRPr lang="en-US" sz="1800" dirty="0"/>
          </a:p>
          <a:p>
            <a:pPr algn="just"/>
            <a:endParaRPr lang="en-US" sz="1800" dirty="0"/>
          </a:p>
          <a:p>
            <a:pPr algn="just"/>
            <a:endParaRPr lang="en-US" sz="1800" dirty="0"/>
          </a:p>
          <a:p>
            <a:pPr algn="just"/>
            <a:endParaRPr lang="en-US" sz="1800" dirty="0"/>
          </a:p>
          <a:p>
            <a:pPr marL="45720" indent="0" algn="just">
              <a:buNone/>
            </a:pPr>
            <a:endParaRPr lang="en-US" sz="1800" dirty="0"/>
          </a:p>
          <a:p>
            <a:pPr marL="45720" indent="0" algn="just">
              <a:buNone/>
            </a:pPr>
            <a:endParaRPr lang="en-US" sz="1800" dirty="0"/>
          </a:p>
          <a:p>
            <a:pPr marL="45720" indent="0" algn="just">
              <a:buNone/>
            </a:pPr>
            <a:endParaRPr lang="en-US" sz="1800" dirty="0"/>
          </a:p>
          <a:p>
            <a:pPr marL="548640" lvl="2" indent="0">
              <a:buNone/>
            </a:pPr>
            <a:endParaRPr lang="en-US" dirty="0"/>
          </a:p>
          <a:p>
            <a:pPr marL="548640" lvl="2" indent="0">
              <a:buNone/>
            </a:pPr>
            <a:endParaRPr lang="en-US" dirty="0"/>
          </a:p>
          <a:p>
            <a:pPr marL="548640" lvl="2" indent="0">
              <a:buNone/>
            </a:pPr>
            <a:endParaRPr lang="en-US" dirty="0"/>
          </a:p>
          <a:p>
            <a:pPr marL="548640" lvl="2" indent="0">
              <a:buNone/>
            </a:pPr>
            <a:endParaRPr lang="en-US" dirty="0"/>
          </a:p>
        </p:txBody>
      </p:sp>
      <p:sp>
        <p:nvSpPr>
          <p:cNvPr id="4" name="Rectangle 3">
            <a:extLst>
              <a:ext uri="{FF2B5EF4-FFF2-40B4-BE49-F238E27FC236}">
                <a16:creationId xmlns:a16="http://schemas.microsoft.com/office/drawing/2014/main" id="{469820BE-3F63-E971-2BFD-945C20A6E57A}"/>
              </a:ext>
            </a:extLst>
          </p:cNvPr>
          <p:cNvSpPr/>
          <p:nvPr/>
        </p:nvSpPr>
        <p:spPr>
          <a:xfrm>
            <a:off x="608828" y="160122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A</a:t>
            </a:r>
            <a:r>
              <a:rPr lang="en-US" sz="1400" b="1" dirty="0"/>
              <a:t>pplication</a:t>
            </a:r>
          </a:p>
        </p:txBody>
      </p:sp>
      <p:sp>
        <p:nvSpPr>
          <p:cNvPr id="5" name="Rectangle 4">
            <a:extLst>
              <a:ext uri="{FF2B5EF4-FFF2-40B4-BE49-F238E27FC236}">
                <a16:creationId xmlns:a16="http://schemas.microsoft.com/office/drawing/2014/main" id="{5AD53A24-45F5-B9D6-7016-FD5B43E8BF8F}"/>
              </a:ext>
            </a:extLst>
          </p:cNvPr>
          <p:cNvSpPr/>
          <p:nvPr/>
        </p:nvSpPr>
        <p:spPr>
          <a:xfrm>
            <a:off x="608828" y="202439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resentation</a:t>
            </a:r>
          </a:p>
        </p:txBody>
      </p:sp>
      <p:sp>
        <p:nvSpPr>
          <p:cNvPr id="6" name="Rectangle 5">
            <a:extLst>
              <a:ext uri="{FF2B5EF4-FFF2-40B4-BE49-F238E27FC236}">
                <a16:creationId xmlns:a16="http://schemas.microsoft.com/office/drawing/2014/main" id="{811338E4-F5DA-5F54-3A29-A1BA9E32736F}"/>
              </a:ext>
            </a:extLst>
          </p:cNvPr>
          <p:cNvSpPr/>
          <p:nvPr/>
        </p:nvSpPr>
        <p:spPr>
          <a:xfrm>
            <a:off x="608828" y="244756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S</a:t>
            </a:r>
            <a:r>
              <a:rPr lang="en-US" sz="1400" b="1" dirty="0"/>
              <a:t>ession</a:t>
            </a:r>
          </a:p>
        </p:txBody>
      </p:sp>
      <p:sp>
        <p:nvSpPr>
          <p:cNvPr id="7" name="Rectangle 6">
            <a:extLst>
              <a:ext uri="{FF2B5EF4-FFF2-40B4-BE49-F238E27FC236}">
                <a16:creationId xmlns:a16="http://schemas.microsoft.com/office/drawing/2014/main" id="{6910F9CA-1A70-53CE-5CE5-FD1F33B254FB}"/>
              </a:ext>
            </a:extLst>
          </p:cNvPr>
          <p:cNvSpPr/>
          <p:nvPr/>
        </p:nvSpPr>
        <p:spPr>
          <a:xfrm>
            <a:off x="608828" y="2882571"/>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T</a:t>
            </a:r>
            <a:r>
              <a:rPr lang="en-US" sz="1400" b="1" dirty="0"/>
              <a:t>ransport</a:t>
            </a:r>
          </a:p>
        </p:txBody>
      </p:sp>
      <p:sp>
        <p:nvSpPr>
          <p:cNvPr id="8" name="Rectangle 7">
            <a:extLst>
              <a:ext uri="{FF2B5EF4-FFF2-40B4-BE49-F238E27FC236}">
                <a16:creationId xmlns:a16="http://schemas.microsoft.com/office/drawing/2014/main" id="{6ECCBD95-C25B-B17C-5C4B-D4DEA007A3DA}"/>
              </a:ext>
            </a:extLst>
          </p:cNvPr>
          <p:cNvSpPr/>
          <p:nvPr/>
        </p:nvSpPr>
        <p:spPr>
          <a:xfrm>
            <a:off x="608828" y="3317577"/>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N</a:t>
            </a:r>
            <a:r>
              <a:rPr lang="en-US" sz="1400" b="1" dirty="0"/>
              <a:t>etwork</a:t>
            </a:r>
          </a:p>
        </p:txBody>
      </p:sp>
      <p:sp>
        <p:nvSpPr>
          <p:cNvPr id="9" name="Rectangle 8">
            <a:extLst>
              <a:ext uri="{FF2B5EF4-FFF2-40B4-BE49-F238E27FC236}">
                <a16:creationId xmlns:a16="http://schemas.microsoft.com/office/drawing/2014/main" id="{BEBFE19B-D424-B104-638E-D4C3E98D0807}"/>
              </a:ext>
            </a:extLst>
          </p:cNvPr>
          <p:cNvSpPr/>
          <p:nvPr/>
        </p:nvSpPr>
        <p:spPr>
          <a:xfrm>
            <a:off x="608828" y="3752583"/>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D</a:t>
            </a:r>
            <a:r>
              <a:rPr lang="en-US" sz="1400" b="1" dirty="0"/>
              <a:t>ata Link</a:t>
            </a:r>
          </a:p>
        </p:txBody>
      </p:sp>
      <p:sp>
        <p:nvSpPr>
          <p:cNvPr id="10" name="Rectangle 9">
            <a:extLst>
              <a:ext uri="{FF2B5EF4-FFF2-40B4-BE49-F238E27FC236}">
                <a16:creationId xmlns:a16="http://schemas.microsoft.com/office/drawing/2014/main" id="{5AAC15EA-27B1-5AC1-9C94-1F0535DD5C9E}"/>
              </a:ext>
            </a:extLst>
          </p:cNvPr>
          <p:cNvSpPr/>
          <p:nvPr/>
        </p:nvSpPr>
        <p:spPr>
          <a:xfrm>
            <a:off x="608828" y="4187589"/>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hysical Layer</a:t>
            </a:r>
          </a:p>
        </p:txBody>
      </p:sp>
      <p:sp>
        <p:nvSpPr>
          <p:cNvPr id="11" name="Arrow: Curved Left 10">
            <a:extLst>
              <a:ext uri="{FF2B5EF4-FFF2-40B4-BE49-F238E27FC236}">
                <a16:creationId xmlns:a16="http://schemas.microsoft.com/office/drawing/2014/main" id="{79D8A7FA-0DCC-66D1-0007-DFE78200974C}"/>
              </a:ext>
            </a:extLst>
          </p:cNvPr>
          <p:cNvSpPr/>
          <p:nvPr/>
        </p:nvSpPr>
        <p:spPr>
          <a:xfrm>
            <a:off x="2184782" y="2665068"/>
            <a:ext cx="371987" cy="435006"/>
          </a:xfrm>
          <a:prstGeom prst="curved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tx1"/>
              </a:solidFill>
            </a:endParaRPr>
          </a:p>
        </p:txBody>
      </p:sp>
      <p:pic>
        <p:nvPicPr>
          <p:cNvPr id="14" name="Picture 13">
            <a:extLst>
              <a:ext uri="{FF2B5EF4-FFF2-40B4-BE49-F238E27FC236}">
                <a16:creationId xmlns:a16="http://schemas.microsoft.com/office/drawing/2014/main" id="{A4261443-FE2B-FA66-1855-6AE9935891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8966" y="1056808"/>
            <a:ext cx="6831473" cy="4870438"/>
          </a:xfrm>
          <a:prstGeom prst="rect">
            <a:avLst/>
          </a:prstGeom>
        </p:spPr>
      </p:pic>
      <p:sp>
        <p:nvSpPr>
          <p:cNvPr id="17" name="Rectangle 16">
            <a:extLst>
              <a:ext uri="{FF2B5EF4-FFF2-40B4-BE49-F238E27FC236}">
                <a16:creationId xmlns:a16="http://schemas.microsoft.com/office/drawing/2014/main" id="{8C7AC73D-0A08-5547-C548-AAD778F6357E}"/>
              </a:ext>
            </a:extLst>
          </p:cNvPr>
          <p:cNvSpPr/>
          <p:nvPr/>
        </p:nvSpPr>
        <p:spPr>
          <a:xfrm>
            <a:off x="7459770" y="2003955"/>
            <a:ext cx="1909864" cy="369340"/>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A247863-7B14-FDA9-1140-FAF1A72664C2}"/>
              </a:ext>
            </a:extLst>
          </p:cNvPr>
          <p:cNvSpPr txBox="1"/>
          <p:nvPr/>
        </p:nvSpPr>
        <p:spPr>
          <a:xfrm>
            <a:off x="445537" y="4987240"/>
            <a:ext cx="5031533" cy="1477328"/>
          </a:xfrm>
          <a:prstGeom prst="rect">
            <a:avLst/>
          </a:prstGeom>
          <a:noFill/>
        </p:spPr>
        <p:txBody>
          <a:bodyPr wrap="square">
            <a:spAutoFit/>
          </a:bodyPr>
          <a:lstStyle/>
          <a:p>
            <a:pPr marL="285750" indent="-285750" algn="just">
              <a:buFont typeface="Arial" panose="020B0604020202020204" pitchFamily="34" charset="0"/>
              <a:buChar char="•"/>
            </a:pPr>
            <a:r>
              <a:rPr lang="en-US" b="0" dirty="0">
                <a:effectLst/>
              </a:rPr>
              <a:t>In Datagram, Data packets include a 16-bit value in the header, known as the checksum field. </a:t>
            </a:r>
          </a:p>
          <a:p>
            <a:pPr marL="285750" indent="-285750" algn="just">
              <a:buFont typeface="Arial" panose="020B0604020202020204" pitchFamily="34" charset="0"/>
              <a:buChar char="•"/>
            </a:pPr>
            <a:r>
              <a:rPr lang="en-US" b="0" dirty="0">
                <a:effectLst/>
              </a:rPr>
              <a:t>TCP includes a checksum field for every data segment, which it evaluates for integrity during transmission. </a:t>
            </a:r>
            <a:endParaRPr lang="en-US" dirty="0"/>
          </a:p>
        </p:txBody>
      </p:sp>
    </p:spTree>
    <p:extLst>
      <p:ext uri="{BB962C8B-B14F-4D97-AF65-F5344CB8AC3E}">
        <p14:creationId xmlns:p14="http://schemas.microsoft.com/office/powerpoint/2010/main" val="281324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6" presetClass="emph" presetSubtype="0" fill="hold" grpId="0" nodeType="clickEffect">
                                  <p:stCondLst>
                                    <p:cond delay="0"/>
                                  </p:stCondLst>
                                  <p:childTnLst>
                                    <p:animEffect transition="out" filter="fade">
                                      <p:cBhvr>
                                        <p:cTn id="12" dur="500" tmFilter="0, 0; .2, .5; .8, .5; 1, 0"/>
                                        <p:tgtEl>
                                          <p:spTgt spid="7"/>
                                        </p:tgtEl>
                                      </p:cBhvr>
                                    </p:animEffect>
                                    <p:animScale>
                                      <p:cBhvr>
                                        <p:cTn id="13" dur="250" autoRev="1" fill="hold"/>
                                        <p:tgtEl>
                                          <p:spTgt spid="7"/>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7" grpId="0" animBg="1"/>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55555F6-98A6-5BAA-B4BC-871525010F01}"/>
              </a:ext>
            </a:extLst>
          </p:cNvPr>
          <p:cNvGraphicFramePr>
            <a:graphicFrameLocks noGrp="1"/>
          </p:cNvGraphicFramePr>
          <p:nvPr>
            <p:ph idx="1"/>
            <p:extLst>
              <p:ext uri="{D42A27DB-BD31-4B8C-83A1-F6EECF244321}">
                <p14:modId xmlns:p14="http://schemas.microsoft.com/office/powerpoint/2010/main" val="2273174395"/>
              </p:ext>
            </p:extLst>
          </p:nvPr>
        </p:nvGraphicFramePr>
        <p:xfrm>
          <a:off x="513184" y="346371"/>
          <a:ext cx="11028783" cy="6165257"/>
        </p:xfrm>
        <a:graphic>
          <a:graphicData uri="http://schemas.openxmlformats.org/drawingml/2006/table">
            <a:tbl>
              <a:tblPr/>
              <a:tblGrid>
                <a:gridCol w="1848276">
                  <a:extLst>
                    <a:ext uri="{9D8B030D-6E8A-4147-A177-3AD203B41FA5}">
                      <a16:colId xmlns:a16="http://schemas.microsoft.com/office/drawing/2014/main" val="3001465379"/>
                    </a:ext>
                  </a:extLst>
                </a:gridCol>
                <a:gridCol w="4724228">
                  <a:extLst>
                    <a:ext uri="{9D8B030D-6E8A-4147-A177-3AD203B41FA5}">
                      <a16:colId xmlns:a16="http://schemas.microsoft.com/office/drawing/2014/main" val="569039474"/>
                    </a:ext>
                  </a:extLst>
                </a:gridCol>
                <a:gridCol w="4456279">
                  <a:extLst>
                    <a:ext uri="{9D8B030D-6E8A-4147-A177-3AD203B41FA5}">
                      <a16:colId xmlns:a16="http://schemas.microsoft.com/office/drawing/2014/main" val="1382692372"/>
                    </a:ext>
                  </a:extLst>
                </a:gridCol>
              </a:tblGrid>
              <a:tr h="341939">
                <a:tc>
                  <a:txBody>
                    <a:bodyPr/>
                    <a:lstStyle/>
                    <a:p>
                      <a:pPr algn="ctr"/>
                      <a:endParaRPr lang="en-US" sz="20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Transmission Control Protocol (TCP)</a:t>
                      </a:r>
                      <a:endParaRPr lang="en-US" sz="20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User Datagram Protocol (UDP)</a:t>
                      </a:r>
                      <a:endParaRPr lang="en-US" sz="20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9319760"/>
                  </a:ext>
                </a:extLst>
              </a:tr>
              <a:tr h="355948">
                <a:tc>
                  <a:txBody>
                    <a:bodyPr/>
                    <a:lstStyle/>
                    <a:p>
                      <a:pPr algn="ctr"/>
                      <a:r>
                        <a:rPr lang="en-US" sz="1800" b="1" dirty="0"/>
                        <a:t>Nature of connectivity</a:t>
                      </a:r>
                      <a:endParaRPr lang="en-US" sz="18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effectLst/>
                        </a:rPr>
                        <a:t>TCP is connection-oriented.</a:t>
                      </a:r>
                      <a:endParaRPr lang="en-US" sz="18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effectLst/>
                        </a:rPr>
                        <a:t>UDP is a message-oriented and connectionless protocol.</a:t>
                      </a:r>
                      <a:endParaRPr lang="en-US" sz="18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2999514"/>
                  </a:ext>
                </a:extLst>
              </a:tr>
              <a:tr h="635027">
                <a:tc>
                  <a:txBody>
                    <a:bodyPr/>
                    <a:lstStyle/>
                    <a:p>
                      <a:pPr algn="ctr"/>
                      <a:r>
                        <a:rPr lang="en-US" sz="1800" b="1" dirty="0"/>
                        <a:t>Order of data transmission</a:t>
                      </a:r>
                      <a:endParaRPr lang="en-US" sz="18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effectLst/>
                        </a:rPr>
                        <a:t>TCP data packets have a sequencing number in the header to maintain the order of transmission.</a:t>
                      </a:r>
                      <a:endParaRPr lang="en-US" sz="18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effectLst/>
                        </a:rPr>
                        <a:t>UDP data packets arrive in no fixed order, and incorrect sequencing cannot be detected or corrected.</a:t>
                      </a:r>
                      <a:endParaRPr lang="en-US" sz="18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0989317"/>
                  </a:ext>
                </a:extLst>
              </a:tr>
              <a:tr h="373672">
                <a:tc>
                  <a:txBody>
                    <a:bodyPr/>
                    <a:lstStyle/>
                    <a:p>
                      <a:pPr algn="ctr"/>
                      <a:r>
                        <a:rPr lang="en-US" sz="1800" b="1" dirty="0"/>
                        <a:t>Speed</a:t>
                      </a:r>
                      <a:endParaRPr lang="en-US" sz="18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Slower</a:t>
                      </a:r>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Faster</a:t>
                      </a:r>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0550504"/>
                  </a:ext>
                </a:extLst>
              </a:tr>
              <a:tr h="635027">
                <a:tc>
                  <a:txBody>
                    <a:bodyPr/>
                    <a:lstStyle/>
                    <a:p>
                      <a:pPr algn="ctr"/>
                      <a:r>
                        <a:rPr lang="en-US" sz="1800" b="1" dirty="0"/>
                        <a:t>Multicast and broadcast</a:t>
                      </a:r>
                      <a:endParaRPr lang="en-US" sz="18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effectLst/>
                        </a:rPr>
                        <a:t>It is ideal for point-to-point transmission only, with confirmation of receipt.</a:t>
                      </a:r>
                      <a:endParaRPr lang="en-US" sz="18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effectLst/>
                        </a:rPr>
                        <a:t>It is suitable for broadcasting data packets to an entire group of endpoints, regardless of whether they listen.</a:t>
                      </a:r>
                      <a:endParaRPr lang="en-US" sz="18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2340936"/>
                  </a:ext>
                </a:extLst>
              </a:tr>
              <a:tr h="635027">
                <a:tc>
                  <a:txBody>
                    <a:bodyPr/>
                    <a:lstStyle/>
                    <a:p>
                      <a:pPr algn="ctr"/>
                      <a:r>
                        <a:rPr lang="en-US" sz="1800" b="1"/>
                        <a:t>Flow control</a:t>
                      </a:r>
                      <a:endParaRPr lang="en-US" sz="180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effectLst/>
                        </a:rPr>
                        <a:t>It utilizes flow control information to calibrate the pace of data transmission, to avoid overwhelming </a:t>
                      </a:r>
                      <a:r>
                        <a:rPr lang="en-US" sz="1800" b="1" dirty="0">
                          <a:effectLst/>
                        </a:rPr>
                        <a:t>the recipient.</a:t>
                      </a:r>
                      <a:endParaRPr lang="en-US" sz="1800" b="1"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effectLst/>
                        </a:rPr>
                        <a:t>It does not use flow control and sends data at a rate suitable for the </a:t>
                      </a:r>
                      <a:r>
                        <a:rPr lang="en-US" sz="1800" b="1" dirty="0">
                          <a:effectLst/>
                        </a:rPr>
                        <a:t>originating server.</a:t>
                      </a:r>
                      <a:endParaRPr lang="en-US" sz="1800" b="1"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5036473"/>
                  </a:ext>
                </a:extLst>
              </a:tr>
              <a:tr h="635027">
                <a:tc>
                  <a:txBody>
                    <a:bodyPr/>
                    <a:lstStyle/>
                    <a:p>
                      <a:pPr algn="ctr"/>
                      <a:r>
                        <a:rPr lang="en-US" sz="1800" b="1"/>
                        <a:t>Congestion control</a:t>
                      </a:r>
                      <a:endParaRPr lang="en-US" sz="180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effectLst/>
                        </a:rPr>
                        <a:t>It implements congestion avoidance algorithms </a:t>
                      </a:r>
                      <a:r>
                        <a:rPr lang="en-US" sz="1800" b="1" dirty="0">
                          <a:effectLst/>
                        </a:rPr>
                        <a:t>to prevent data packets from getting lost </a:t>
                      </a:r>
                      <a:r>
                        <a:rPr lang="en-US" sz="1800" b="0" dirty="0">
                          <a:effectLst/>
                        </a:rPr>
                        <a:t>in a congested network.</a:t>
                      </a:r>
                      <a:endParaRPr lang="en-US" sz="18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effectLst/>
                        </a:rPr>
                        <a:t>It cannot control network congestion and </a:t>
                      </a:r>
                      <a:r>
                        <a:rPr lang="en-US" sz="1800" b="1" dirty="0">
                          <a:effectLst/>
                        </a:rPr>
                        <a:t>drops packets if too much traffic </a:t>
                      </a:r>
                      <a:r>
                        <a:rPr lang="en-US" sz="1800" b="0" dirty="0">
                          <a:effectLst/>
                        </a:rPr>
                        <a:t>is on the pathway.</a:t>
                      </a:r>
                      <a:endParaRPr lang="en-US" sz="18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476692"/>
                  </a:ext>
                </a:extLst>
              </a:tr>
              <a:tr h="488482">
                <a:tc>
                  <a:txBody>
                    <a:bodyPr/>
                    <a:lstStyle/>
                    <a:p>
                      <a:pPr algn="ctr"/>
                      <a:r>
                        <a:rPr lang="en-US" sz="1800" b="1"/>
                        <a:t>Reliability</a:t>
                      </a:r>
                      <a:endParaRPr lang="en-US" sz="180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effectLst/>
                        </a:rPr>
                        <a:t>TCP’s most significant advantage is that it is highly reliable.</a:t>
                      </a:r>
                      <a:endParaRPr lang="en-US" sz="18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a:effectLst/>
                        </a:rPr>
                        <a:t>Its architecture is designed in a manner that makes it inherently unreliable.</a:t>
                      </a:r>
                      <a:endParaRPr lang="en-US" sz="180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2841912"/>
                  </a:ext>
                </a:extLst>
              </a:tr>
              <a:tr h="781572">
                <a:tc>
                  <a:txBody>
                    <a:bodyPr/>
                    <a:lstStyle/>
                    <a:p>
                      <a:pPr algn="ctr"/>
                      <a:r>
                        <a:rPr lang="en-US" sz="1800" b="1"/>
                        <a:t>Application</a:t>
                      </a:r>
                      <a:endParaRPr lang="en-US" sz="180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effectLst/>
                        </a:rPr>
                        <a:t>It is suitable for use cases where </a:t>
                      </a:r>
                      <a:r>
                        <a:rPr lang="en-US" sz="1800" b="0" dirty="0">
                          <a:effectLst/>
                          <a:highlight>
                            <a:srgbClr val="00FFFF"/>
                          </a:highlight>
                        </a:rPr>
                        <a:t>data integrity</a:t>
                      </a:r>
                      <a:r>
                        <a:rPr lang="en-US" sz="1800" b="0" dirty="0">
                          <a:effectLst/>
                        </a:rPr>
                        <a:t>, including images, web pages, data files, etc. matters more than transmission speed.</a:t>
                      </a:r>
                      <a:endParaRPr lang="en-US" sz="18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0" dirty="0">
                          <a:effectLst/>
                        </a:rPr>
                        <a:t>It is ideal for </a:t>
                      </a:r>
                      <a:r>
                        <a:rPr lang="en-US" sz="1800" b="0" dirty="0">
                          <a:effectLst/>
                          <a:highlight>
                            <a:srgbClr val="00FFFF"/>
                          </a:highlight>
                        </a:rPr>
                        <a:t>live data transmission </a:t>
                      </a:r>
                      <a:r>
                        <a:rPr lang="en-US" sz="1800" b="0" dirty="0">
                          <a:effectLst/>
                        </a:rPr>
                        <a:t>(e.g., media), where transmission is so fast that a few dropped packets do not matter.</a:t>
                      </a:r>
                      <a:endParaRPr lang="en-US" sz="1800" dirty="0"/>
                    </a:p>
                  </a:txBody>
                  <a:tcPr marL="33938" marR="33938" marT="16969" marB="16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4857719"/>
                  </a:ext>
                </a:extLst>
              </a:tr>
            </a:tbl>
          </a:graphicData>
        </a:graphic>
      </p:graphicFrame>
    </p:spTree>
    <p:extLst>
      <p:ext uri="{BB962C8B-B14F-4D97-AF65-F5344CB8AC3E}">
        <p14:creationId xmlns:p14="http://schemas.microsoft.com/office/powerpoint/2010/main" val="3388465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270C3-0F29-FC8B-7AA8-4FDCBF530AA9}"/>
              </a:ext>
            </a:extLst>
          </p:cNvPr>
          <p:cNvSpPr>
            <a:spLocks noGrp="1"/>
          </p:cNvSpPr>
          <p:nvPr>
            <p:ph type="title"/>
          </p:nvPr>
        </p:nvSpPr>
        <p:spPr>
          <a:xfrm>
            <a:off x="4247669" y="183473"/>
            <a:ext cx="4052952" cy="642151"/>
          </a:xfrm>
        </p:spPr>
        <p:txBody>
          <a:bodyPr>
            <a:normAutofit fontScale="90000"/>
          </a:bodyPr>
          <a:lstStyle/>
          <a:p>
            <a:r>
              <a:rPr lang="en-US" b="1" dirty="0"/>
              <a:t>OSI Model Layers</a:t>
            </a:r>
            <a:endParaRPr lang="en-US" dirty="0"/>
          </a:p>
        </p:txBody>
      </p:sp>
      <p:sp>
        <p:nvSpPr>
          <p:cNvPr id="3" name="Content Placeholder 2">
            <a:extLst>
              <a:ext uri="{FF2B5EF4-FFF2-40B4-BE49-F238E27FC236}">
                <a16:creationId xmlns:a16="http://schemas.microsoft.com/office/drawing/2014/main" id="{42F514DC-0BC7-41D4-93AC-E36B784716CB}"/>
              </a:ext>
            </a:extLst>
          </p:cNvPr>
          <p:cNvSpPr>
            <a:spLocks noGrp="1"/>
          </p:cNvSpPr>
          <p:nvPr>
            <p:ph idx="1"/>
          </p:nvPr>
        </p:nvSpPr>
        <p:spPr>
          <a:xfrm>
            <a:off x="2586361" y="956719"/>
            <a:ext cx="9381051" cy="5470714"/>
          </a:xfrm>
        </p:spPr>
        <p:txBody>
          <a:bodyPr>
            <a:normAutofit/>
          </a:bodyPr>
          <a:lstStyle/>
          <a:p>
            <a:pPr algn="just"/>
            <a:r>
              <a:rPr lang="en-US" sz="2400" b="1" dirty="0"/>
              <a:t>Network Layer: </a:t>
            </a:r>
            <a:r>
              <a:rPr lang="en-US" sz="2400" dirty="0"/>
              <a:t>The network layer has two main functions. </a:t>
            </a:r>
          </a:p>
          <a:p>
            <a:pPr lvl="1" algn="just"/>
            <a:r>
              <a:rPr lang="en-US" sz="2200" dirty="0"/>
              <a:t>The segments received from the Transport layer are further processed to form the Packets.</a:t>
            </a:r>
          </a:p>
          <a:p>
            <a:pPr lvl="1" algn="just"/>
            <a:endParaRPr lang="en-US" sz="2200" dirty="0"/>
          </a:p>
          <a:p>
            <a:pPr lvl="1" algn="just"/>
            <a:endParaRPr lang="en-US" sz="2200" dirty="0"/>
          </a:p>
          <a:p>
            <a:pPr lvl="1" algn="just"/>
            <a:endParaRPr lang="en-US" sz="2200" dirty="0"/>
          </a:p>
          <a:p>
            <a:pPr marL="274320" lvl="1" indent="0" algn="just">
              <a:buNone/>
            </a:pPr>
            <a:endParaRPr lang="en-US" sz="2200" dirty="0"/>
          </a:p>
          <a:p>
            <a:pPr lvl="1" algn="just"/>
            <a:endParaRPr lang="en-US" sz="2200" dirty="0"/>
          </a:p>
          <a:p>
            <a:pPr lvl="1" algn="just"/>
            <a:r>
              <a:rPr lang="en-US" sz="2200" dirty="0"/>
              <a:t>The other is routing packets by discovering the best path across a physical network. The network layer uses network addresses (typically </a:t>
            </a:r>
            <a:r>
              <a:rPr lang="en-US" sz="2200" b="1" dirty="0"/>
              <a:t>Internet Protocol</a:t>
            </a:r>
            <a:r>
              <a:rPr lang="en-US" sz="2200" dirty="0"/>
              <a:t>, </a:t>
            </a:r>
            <a:r>
              <a:rPr lang="en-US" sz="2200" b="1" dirty="0"/>
              <a:t>IP</a:t>
            </a:r>
            <a:r>
              <a:rPr lang="en-US" sz="2200" dirty="0"/>
              <a:t> addresses) to </a:t>
            </a:r>
            <a:r>
              <a:rPr lang="en-US" sz="2200" b="1" dirty="0"/>
              <a:t>route</a:t>
            </a:r>
            <a:r>
              <a:rPr lang="en-US" sz="2200" dirty="0"/>
              <a:t> packets to a destination node. </a:t>
            </a:r>
            <a:endParaRPr lang="en-US" sz="1600" dirty="0"/>
          </a:p>
          <a:p>
            <a:pPr algn="just"/>
            <a:endParaRPr lang="en-US" sz="1800" dirty="0"/>
          </a:p>
          <a:p>
            <a:pPr algn="just"/>
            <a:endParaRPr lang="en-US" sz="1800" dirty="0"/>
          </a:p>
          <a:p>
            <a:pPr algn="just"/>
            <a:endParaRPr lang="en-US" sz="1800" dirty="0"/>
          </a:p>
          <a:p>
            <a:pPr algn="just"/>
            <a:endParaRPr lang="en-US" sz="1800" dirty="0"/>
          </a:p>
          <a:p>
            <a:pPr marL="45720" indent="0" algn="just">
              <a:buNone/>
            </a:pPr>
            <a:endParaRPr lang="en-US" sz="1800" dirty="0"/>
          </a:p>
          <a:p>
            <a:pPr marL="45720" indent="0" algn="just">
              <a:buNone/>
            </a:pPr>
            <a:endParaRPr lang="en-US" sz="1800" dirty="0"/>
          </a:p>
          <a:p>
            <a:pPr marL="45720" indent="0" algn="just">
              <a:buNone/>
            </a:pPr>
            <a:endParaRPr lang="en-US" sz="1800" dirty="0"/>
          </a:p>
          <a:p>
            <a:pPr marL="548640" lvl="2" indent="0">
              <a:buNone/>
            </a:pPr>
            <a:endParaRPr lang="en-US" dirty="0"/>
          </a:p>
          <a:p>
            <a:pPr marL="548640" lvl="2" indent="0">
              <a:buNone/>
            </a:pPr>
            <a:endParaRPr lang="en-US" dirty="0"/>
          </a:p>
          <a:p>
            <a:pPr marL="548640" lvl="2" indent="0">
              <a:buNone/>
            </a:pPr>
            <a:endParaRPr lang="en-US" dirty="0"/>
          </a:p>
          <a:p>
            <a:pPr marL="548640" lvl="2" indent="0">
              <a:buNone/>
            </a:pPr>
            <a:endParaRPr lang="en-US" dirty="0"/>
          </a:p>
        </p:txBody>
      </p:sp>
      <p:sp>
        <p:nvSpPr>
          <p:cNvPr id="4" name="Rectangle 3">
            <a:extLst>
              <a:ext uri="{FF2B5EF4-FFF2-40B4-BE49-F238E27FC236}">
                <a16:creationId xmlns:a16="http://schemas.microsoft.com/office/drawing/2014/main" id="{469820BE-3F63-E971-2BFD-945C20A6E57A}"/>
              </a:ext>
            </a:extLst>
          </p:cNvPr>
          <p:cNvSpPr/>
          <p:nvPr/>
        </p:nvSpPr>
        <p:spPr>
          <a:xfrm>
            <a:off x="608828" y="160122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A</a:t>
            </a:r>
            <a:r>
              <a:rPr lang="en-US" sz="1400" b="1" dirty="0"/>
              <a:t>pplication</a:t>
            </a:r>
          </a:p>
        </p:txBody>
      </p:sp>
      <p:sp>
        <p:nvSpPr>
          <p:cNvPr id="5" name="Rectangle 4">
            <a:extLst>
              <a:ext uri="{FF2B5EF4-FFF2-40B4-BE49-F238E27FC236}">
                <a16:creationId xmlns:a16="http://schemas.microsoft.com/office/drawing/2014/main" id="{5AD53A24-45F5-B9D6-7016-FD5B43E8BF8F}"/>
              </a:ext>
            </a:extLst>
          </p:cNvPr>
          <p:cNvSpPr/>
          <p:nvPr/>
        </p:nvSpPr>
        <p:spPr>
          <a:xfrm>
            <a:off x="608828" y="202439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resentation</a:t>
            </a:r>
          </a:p>
        </p:txBody>
      </p:sp>
      <p:sp>
        <p:nvSpPr>
          <p:cNvPr id="6" name="Rectangle 5">
            <a:extLst>
              <a:ext uri="{FF2B5EF4-FFF2-40B4-BE49-F238E27FC236}">
                <a16:creationId xmlns:a16="http://schemas.microsoft.com/office/drawing/2014/main" id="{811338E4-F5DA-5F54-3A29-A1BA9E32736F}"/>
              </a:ext>
            </a:extLst>
          </p:cNvPr>
          <p:cNvSpPr/>
          <p:nvPr/>
        </p:nvSpPr>
        <p:spPr>
          <a:xfrm>
            <a:off x="608828" y="244756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S</a:t>
            </a:r>
            <a:r>
              <a:rPr lang="en-US" sz="1400" b="1" dirty="0"/>
              <a:t>ession</a:t>
            </a:r>
          </a:p>
        </p:txBody>
      </p:sp>
      <p:sp>
        <p:nvSpPr>
          <p:cNvPr id="7" name="Rectangle 6">
            <a:extLst>
              <a:ext uri="{FF2B5EF4-FFF2-40B4-BE49-F238E27FC236}">
                <a16:creationId xmlns:a16="http://schemas.microsoft.com/office/drawing/2014/main" id="{6910F9CA-1A70-53CE-5CE5-FD1F33B254FB}"/>
              </a:ext>
            </a:extLst>
          </p:cNvPr>
          <p:cNvSpPr/>
          <p:nvPr/>
        </p:nvSpPr>
        <p:spPr>
          <a:xfrm>
            <a:off x="608828" y="2882571"/>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T</a:t>
            </a:r>
            <a:r>
              <a:rPr lang="en-US" sz="1400" b="1" dirty="0"/>
              <a:t>ransport</a:t>
            </a:r>
          </a:p>
        </p:txBody>
      </p:sp>
      <p:sp>
        <p:nvSpPr>
          <p:cNvPr id="8" name="Rectangle 7">
            <a:extLst>
              <a:ext uri="{FF2B5EF4-FFF2-40B4-BE49-F238E27FC236}">
                <a16:creationId xmlns:a16="http://schemas.microsoft.com/office/drawing/2014/main" id="{6ECCBD95-C25B-B17C-5C4B-D4DEA007A3DA}"/>
              </a:ext>
            </a:extLst>
          </p:cNvPr>
          <p:cNvSpPr/>
          <p:nvPr/>
        </p:nvSpPr>
        <p:spPr>
          <a:xfrm>
            <a:off x="608828" y="3317577"/>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N</a:t>
            </a:r>
            <a:r>
              <a:rPr lang="en-US" sz="1400" b="1" dirty="0"/>
              <a:t>etwork</a:t>
            </a:r>
          </a:p>
        </p:txBody>
      </p:sp>
      <p:sp>
        <p:nvSpPr>
          <p:cNvPr id="9" name="Rectangle 8">
            <a:extLst>
              <a:ext uri="{FF2B5EF4-FFF2-40B4-BE49-F238E27FC236}">
                <a16:creationId xmlns:a16="http://schemas.microsoft.com/office/drawing/2014/main" id="{BEBFE19B-D424-B104-638E-D4C3E98D0807}"/>
              </a:ext>
            </a:extLst>
          </p:cNvPr>
          <p:cNvSpPr/>
          <p:nvPr/>
        </p:nvSpPr>
        <p:spPr>
          <a:xfrm>
            <a:off x="608828" y="3752583"/>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D</a:t>
            </a:r>
            <a:r>
              <a:rPr lang="en-US" sz="1400" b="1" dirty="0"/>
              <a:t>ata Link</a:t>
            </a:r>
          </a:p>
        </p:txBody>
      </p:sp>
      <p:sp>
        <p:nvSpPr>
          <p:cNvPr id="10" name="Rectangle 9">
            <a:extLst>
              <a:ext uri="{FF2B5EF4-FFF2-40B4-BE49-F238E27FC236}">
                <a16:creationId xmlns:a16="http://schemas.microsoft.com/office/drawing/2014/main" id="{5AAC15EA-27B1-5AC1-9C94-1F0535DD5C9E}"/>
              </a:ext>
            </a:extLst>
          </p:cNvPr>
          <p:cNvSpPr/>
          <p:nvPr/>
        </p:nvSpPr>
        <p:spPr>
          <a:xfrm>
            <a:off x="608828" y="4187589"/>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hysical Layer</a:t>
            </a:r>
          </a:p>
        </p:txBody>
      </p:sp>
      <p:sp>
        <p:nvSpPr>
          <p:cNvPr id="11" name="Arrow: Curved Left 10">
            <a:extLst>
              <a:ext uri="{FF2B5EF4-FFF2-40B4-BE49-F238E27FC236}">
                <a16:creationId xmlns:a16="http://schemas.microsoft.com/office/drawing/2014/main" id="{79D8A7FA-0DCC-66D1-0007-DFE78200974C}"/>
              </a:ext>
            </a:extLst>
          </p:cNvPr>
          <p:cNvSpPr/>
          <p:nvPr/>
        </p:nvSpPr>
        <p:spPr>
          <a:xfrm>
            <a:off x="2214374" y="3100074"/>
            <a:ext cx="371987" cy="435006"/>
          </a:xfrm>
          <a:prstGeom prst="curved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tx1"/>
              </a:solidFill>
            </a:endParaRPr>
          </a:p>
        </p:txBody>
      </p:sp>
      <p:pic>
        <p:nvPicPr>
          <p:cNvPr id="13" name="Picture 12">
            <a:extLst>
              <a:ext uri="{FF2B5EF4-FFF2-40B4-BE49-F238E27FC236}">
                <a16:creationId xmlns:a16="http://schemas.microsoft.com/office/drawing/2014/main" id="{8A3F0DF9-D56A-DF0A-ED5A-882B6EF55010}"/>
              </a:ext>
            </a:extLst>
          </p:cNvPr>
          <p:cNvPicPr>
            <a:picLocks noChangeAspect="1"/>
          </p:cNvPicPr>
          <p:nvPr/>
        </p:nvPicPr>
        <p:blipFill>
          <a:blip r:embed="rId2"/>
          <a:stretch>
            <a:fillRect/>
          </a:stretch>
        </p:blipFill>
        <p:spPr>
          <a:xfrm>
            <a:off x="3936656" y="1958638"/>
            <a:ext cx="2827917" cy="1707839"/>
          </a:xfrm>
          <a:prstGeom prst="rect">
            <a:avLst/>
          </a:prstGeom>
        </p:spPr>
      </p:pic>
      <p:pic>
        <p:nvPicPr>
          <p:cNvPr id="16" name="Picture 15">
            <a:extLst>
              <a:ext uri="{FF2B5EF4-FFF2-40B4-BE49-F238E27FC236}">
                <a16:creationId xmlns:a16="http://schemas.microsoft.com/office/drawing/2014/main" id="{2E26D454-2446-F116-BCF6-3D234B428691}"/>
              </a:ext>
            </a:extLst>
          </p:cNvPr>
          <p:cNvPicPr>
            <a:picLocks noChangeAspect="1"/>
          </p:cNvPicPr>
          <p:nvPr/>
        </p:nvPicPr>
        <p:blipFill>
          <a:blip r:embed="rId3"/>
          <a:stretch>
            <a:fillRect/>
          </a:stretch>
        </p:blipFill>
        <p:spPr>
          <a:xfrm>
            <a:off x="7678842" y="1964592"/>
            <a:ext cx="3853594" cy="1663745"/>
          </a:xfrm>
          <a:prstGeom prst="rect">
            <a:avLst/>
          </a:prstGeom>
        </p:spPr>
      </p:pic>
      <p:pic>
        <p:nvPicPr>
          <p:cNvPr id="19" name="Picture 18">
            <a:extLst>
              <a:ext uri="{FF2B5EF4-FFF2-40B4-BE49-F238E27FC236}">
                <a16:creationId xmlns:a16="http://schemas.microsoft.com/office/drawing/2014/main" id="{4E7C0C45-DA1A-A3CA-A231-3D3AE2723D54}"/>
              </a:ext>
            </a:extLst>
          </p:cNvPr>
          <p:cNvPicPr>
            <a:picLocks noChangeAspect="1"/>
          </p:cNvPicPr>
          <p:nvPr/>
        </p:nvPicPr>
        <p:blipFill>
          <a:blip r:embed="rId4"/>
          <a:stretch>
            <a:fillRect/>
          </a:stretch>
        </p:blipFill>
        <p:spPr>
          <a:xfrm>
            <a:off x="6096000" y="4861611"/>
            <a:ext cx="2827917" cy="1693490"/>
          </a:xfrm>
          <a:prstGeom prst="rect">
            <a:avLst/>
          </a:prstGeom>
        </p:spPr>
      </p:pic>
    </p:spTree>
    <p:extLst>
      <p:ext uri="{BB962C8B-B14F-4D97-AF65-F5344CB8AC3E}">
        <p14:creationId xmlns:p14="http://schemas.microsoft.com/office/powerpoint/2010/main" val="1694495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3">
                                            <p:txEl>
                                              <p:pRg st="7" end="7"/>
                                            </p:txEl>
                                          </p:spTgt>
                                        </p:tgtEl>
                                        <p:attrNameLst>
                                          <p:attrName>style.visibility</p:attrName>
                                        </p:attrNameLst>
                                      </p:cBhvr>
                                      <p:to>
                                        <p:strVal val="visible"/>
                                      </p:to>
                                    </p:set>
                                  </p:childTnLst>
                                </p:cTn>
                              </p:par>
                              <p:par>
                                <p:cTn id="14" presetID="26" presetClass="emph" presetSubtype="0" fill="hold" grpId="0" nodeType="withEffect">
                                  <p:stCondLst>
                                    <p:cond delay="0"/>
                                  </p:stCondLst>
                                  <p:childTnLst>
                                    <p:animEffect transition="out" filter="fade">
                                      <p:cBhvr>
                                        <p:cTn id="15" dur="500" tmFilter="0, 0; .2, .5; .8, .5; 1, 0"/>
                                        <p:tgtEl>
                                          <p:spTgt spid="8"/>
                                        </p:tgtEl>
                                      </p:cBhvr>
                                    </p:animEffect>
                                    <p:animScale>
                                      <p:cBhvr>
                                        <p:cTn id="16" dur="250" autoRev="1" fill="hold"/>
                                        <p:tgtEl>
                                          <p:spTgt spid="8"/>
                                        </p:tgtEl>
                                      </p:cBhvr>
                                      <p:by x="105000" y="105000"/>
                                    </p:animScale>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270C3-0F29-FC8B-7AA8-4FDCBF530AA9}"/>
              </a:ext>
            </a:extLst>
          </p:cNvPr>
          <p:cNvSpPr>
            <a:spLocks noGrp="1"/>
          </p:cNvSpPr>
          <p:nvPr>
            <p:ph type="title"/>
          </p:nvPr>
        </p:nvSpPr>
        <p:spPr>
          <a:xfrm>
            <a:off x="4247669" y="183473"/>
            <a:ext cx="4052952" cy="642151"/>
          </a:xfrm>
        </p:spPr>
        <p:txBody>
          <a:bodyPr>
            <a:normAutofit fontScale="90000"/>
          </a:bodyPr>
          <a:lstStyle/>
          <a:p>
            <a:r>
              <a:rPr lang="en-US" b="1" dirty="0"/>
              <a:t>OSI Model Layers</a:t>
            </a:r>
            <a:endParaRPr lang="en-US" dirty="0"/>
          </a:p>
        </p:txBody>
      </p:sp>
      <p:sp>
        <p:nvSpPr>
          <p:cNvPr id="3" name="Content Placeholder 2">
            <a:extLst>
              <a:ext uri="{FF2B5EF4-FFF2-40B4-BE49-F238E27FC236}">
                <a16:creationId xmlns:a16="http://schemas.microsoft.com/office/drawing/2014/main" id="{42F514DC-0BC7-41D4-93AC-E36B784716CB}"/>
              </a:ext>
            </a:extLst>
          </p:cNvPr>
          <p:cNvSpPr>
            <a:spLocks noGrp="1"/>
          </p:cNvSpPr>
          <p:nvPr>
            <p:ph idx="1"/>
          </p:nvPr>
        </p:nvSpPr>
        <p:spPr>
          <a:xfrm>
            <a:off x="2586361" y="956719"/>
            <a:ext cx="9381051" cy="1490846"/>
          </a:xfrm>
        </p:spPr>
        <p:txBody>
          <a:bodyPr>
            <a:normAutofit/>
          </a:bodyPr>
          <a:lstStyle/>
          <a:p>
            <a:pPr algn="just"/>
            <a:r>
              <a:rPr lang="en-US" sz="2400" b="1" dirty="0"/>
              <a:t>Network Layer:</a:t>
            </a:r>
            <a:endParaRPr lang="en-US" sz="2200" dirty="0"/>
          </a:p>
          <a:p>
            <a:pPr lvl="1" algn="just"/>
            <a:r>
              <a:rPr lang="en-US" sz="2200" dirty="0"/>
              <a:t>The network layer uses network addresses (typically </a:t>
            </a:r>
            <a:r>
              <a:rPr lang="en-US" sz="2200" b="1" dirty="0"/>
              <a:t>Internet Protocol</a:t>
            </a:r>
            <a:r>
              <a:rPr lang="en-US" sz="2200" dirty="0"/>
              <a:t>, </a:t>
            </a:r>
            <a:r>
              <a:rPr lang="en-US" sz="2200" b="1" dirty="0"/>
              <a:t>IP</a:t>
            </a:r>
            <a:r>
              <a:rPr lang="en-US" sz="2200" dirty="0"/>
              <a:t> addresses) to </a:t>
            </a:r>
            <a:r>
              <a:rPr lang="en-US" sz="2200" b="1" dirty="0"/>
              <a:t>route</a:t>
            </a:r>
            <a:r>
              <a:rPr lang="en-US" sz="2200" dirty="0"/>
              <a:t> packets to a </a:t>
            </a:r>
            <a:r>
              <a:rPr lang="en-US" sz="2200" b="1" dirty="0"/>
              <a:t>destination</a:t>
            </a:r>
            <a:r>
              <a:rPr lang="en-US" sz="2200" dirty="0"/>
              <a:t> node. </a:t>
            </a:r>
            <a:endParaRPr lang="en-US" sz="1600" dirty="0"/>
          </a:p>
          <a:p>
            <a:pPr algn="just"/>
            <a:endParaRPr lang="en-US" sz="1800" dirty="0"/>
          </a:p>
          <a:p>
            <a:pPr algn="just"/>
            <a:endParaRPr lang="en-US" sz="1800" dirty="0"/>
          </a:p>
          <a:p>
            <a:pPr marL="548640" lvl="2" indent="0">
              <a:buNone/>
            </a:pPr>
            <a:endParaRPr lang="en-US" dirty="0"/>
          </a:p>
        </p:txBody>
      </p:sp>
      <p:sp>
        <p:nvSpPr>
          <p:cNvPr id="4" name="Rectangle 3">
            <a:extLst>
              <a:ext uri="{FF2B5EF4-FFF2-40B4-BE49-F238E27FC236}">
                <a16:creationId xmlns:a16="http://schemas.microsoft.com/office/drawing/2014/main" id="{469820BE-3F63-E971-2BFD-945C20A6E57A}"/>
              </a:ext>
            </a:extLst>
          </p:cNvPr>
          <p:cNvSpPr/>
          <p:nvPr/>
        </p:nvSpPr>
        <p:spPr>
          <a:xfrm>
            <a:off x="608828" y="160122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A</a:t>
            </a:r>
            <a:r>
              <a:rPr lang="en-US" sz="1400" b="1" dirty="0"/>
              <a:t>pplication</a:t>
            </a:r>
          </a:p>
        </p:txBody>
      </p:sp>
      <p:sp>
        <p:nvSpPr>
          <p:cNvPr id="5" name="Rectangle 4">
            <a:extLst>
              <a:ext uri="{FF2B5EF4-FFF2-40B4-BE49-F238E27FC236}">
                <a16:creationId xmlns:a16="http://schemas.microsoft.com/office/drawing/2014/main" id="{5AD53A24-45F5-B9D6-7016-FD5B43E8BF8F}"/>
              </a:ext>
            </a:extLst>
          </p:cNvPr>
          <p:cNvSpPr/>
          <p:nvPr/>
        </p:nvSpPr>
        <p:spPr>
          <a:xfrm>
            <a:off x="608828" y="202439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resentation</a:t>
            </a:r>
          </a:p>
        </p:txBody>
      </p:sp>
      <p:sp>
        <p:nvSpPr>
          <p:cNvPr id="6" name="Rectangle 5">
            <a:extLst>
              <a:ext uri="{FF2B5EF4-FFF2-40B4-BE49-F238E27FC236}">
                <a16:creationId xmlns:a16="http://schemas.microsoft.com/office/drawing/2014/main" id="{811338E4-F5DA-5F54-3A29-A1BA9E32736F}"/>
              </a:ext>
            </a:extLst>
          </p:cNvPr>
          <p:cNvSpPr/>
          <p:nvPr/>
        </p:nvSpPr>
        <p:spPr>
          <a:xfrm>
            <a:off x="608828" y="244756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S</a:t>
            </a:r>
            <a:r>
              <a:rPr lang="en-US" sz="1400" b="1" dirty="0"/>
              <a:t>ession</a:t>
            </a:r>
          </a:p>
        </p:txBody>
      </p:sp>
      <p:sp>
        <p:nvSpPr>
          <p:cNvPr id="7" name="Rectangle 6">
            <a:extLst>
              <a:ext uri="{FF2B5EF4-FFF2-40B4-BE49-F238E27FC236}">
                <a16:creationId xmlns:a16="http://schemas.microsoft.com/office/drawing/2014/main" id="{6910F9CA-1A70-53CE-5CE5-FD1F33B254FB}"/>
              </a:ext>
            </a:extLst>
          </p:cNvPr>
          <p:cNvSpPr/>
          <p:nvPr/>
        </p:nvSpPr>
        <p:spPr>
          <a:xfrm>
            <a:off x="608828" y="2882571"/>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T</a:t>
            </a:r>
            <a:r>
              <a:rPr lang="en-US" sz="1400" b="1" dirty="0"/>
              <a:t>ransport</a:t>
            </a:r>
          </a:p>
        </p:txBody>
      </p:sp>
      <p:sp>
        <p:nvSpPr>
          <p:cNvPr id="8" name="Rectangle 7">
            <a:extLst>
              <a:ext uri="{FF2B5EF4-FFF2-40B4-BE49-F238E27FC236}">
                <a16:creationId xmlns:a16="http://schemas.microsoft.com/office/drawing/2014/main" id="{6ECCBD95-C25B-B17C-5C4B-D4DEA007A3DA}"/>
              </a:ext>
            </a:extLst>
          </p:cNvPr>
          <p:cNvSpPr/>
          <p:nvPr/>
        </p:nvSpPr>
        <p:spPr>
          <a:xfrm>
            <a:off x="608828" y="3317577"/>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N</a:t>
            </a:r>
            <a:r>
              <a:rPr lang="en-US" sz="1400" b="1" dirty="0"/>
              <a:t>etwork</a:t>
            </a:r>
          </a:p>
        </p:txBody>
      </p:sp>
      <p:sp>
        <p:nvSpPr>
          <p:cNvPr id="9" name="Rectangle 8">
            <a:extLst>
              <a:ext uri="{FF2B5EF4-FFF2-40B4-BE49-F238E27FC236}">
                <a16:creationId xmlns:a16="http://schemas.microsoft.com/office/drawing/2014/main" id="{BEBFE19B-D424-B104-638E-D4C3E98D0807}"/>
              </a:ext>
            </a:extLst>
          </p:cNvPr>
          <p:cNvSpPr/>
          <p:nvPr/>
        </p:nvSpPr>
        <p:spPr>
          <a:xfrm>
            <a:off x="608828" y="3752583"/>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D</a:t>
            </a:r>
            <a:r>
              <a:rPr lang="en-US" sz="1400" b="1" dirty="0"/>
              <a:t>ata Link</a:t>
            </a:r>
          </a:p>
        </p:txBody>
      </p:sp>
      <p:sp>
        <p:nvSpPr>
          <p:cNvPr id="10" name="Rectangle 9">
            <a:extLst>
              <a:ext uri="{FF2B5EF4-FFF2-40B4-BE49-F238E27FC236}">
                <a16:creationId xmlns:a16="http://schemas.microsoft.com/office/drawing/2014/main" id="{5AAC15EA-27B1-5AC1-9C94-1F0535DD5C9E}"/>
              </a:ext>
            </a:extLst>
          </p:cNvPr>
          <p:cNvSpPr/>
          <p:nvPr/>
        </p:nvSpPr>
        <p:spPr>
          <a:xfrm>
            <a:off x="608828" y="4187589"/>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hysical Layer</a:t>
            </a:r>
          </a:p>
        </p:txBody>
      </p:sp>
      <p:sp>
        <p:nvSpPr>
          <p:cNvPr id="11" name="Arrow: Curved Left 10">
            <a:extLst>
              <a:ext uri="{FF2B5EF4-FFF2-40B4-BE49-F238E27FC236}">
                <a16:creationId xmlns:a16="http://schemas.microsoft.com/office/drawing/2014/main" id="{79D8A7FA-0DCC-66D1-0007-DFE78200974C}"/>
              </a:ext>
            </a:extLst>
          </p:cNvPr>
          <p:cNvSpPr/>
          <p:nvPr/>
        </p:nvSpPr>
        <p:spPr>
          <a:xfrm>
            <a:off x="2214374" y="3100074"/>
            <a:ext cx="371987" cy="435006"/>
          </a:xfrm>
          <a:prstGeom prst="curved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solidFill>
                <a:schemeClr val="tx1"/>
              </a:solidFill>
            </a:endParaRPr>
          </a:p>
        </p:txBody>
      </p:sp>
      <p:pic>
        <p:nvPicPr>
          <p:cNvPr id="17" name="Picture 16">
            <a:extLst>
              <a:ext uri="{FF2B5EF4-FFF2-40B4-BE49-F238E27FC236}">
                <a16:creationId xmlns:a16="http://schemas.microsoft.com/office/drawing/2014/main" id="{60F3EBA8-11AE-AE48-0B3C-40882E57A30A}"/>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28000"/>
                    </a14:imgEffect>
                  </a14:imgLayer>
                </a14:imgProps>
              </a:ext>
              <a:ext uri="{28A0092B-C50C-407E-A947-70E740481C1C}">
                <a14:useLocalDpi xmlns:a14="http://schemas.microsoft.com/office/drawing/2010/main" val="0"/>
              </a:ext>
            </a:extLst>
          </a:blip>
          <a:srcRect l="13047" t="16945" r="11652" b="21483"/>
          <a:stretch/>
        </p:blipFill>
        <p:spPr>
          <a:xfrm>
            <a:off x="2930359" y="2035690"/>
            <a:ext cx="8864726" cy="4075178"/>
          </a:xfrm>
          <a:prstGeom prst="rect">
            <a:avLst/>
          </a:prstGeom>
        </p:spPr>
      </p:pic>
      <p:sp>
        <p:nvSpPr>
          <p:cNvPr id="20" name="Rectangle: Rounded Corners 19">
            <a:extLst>
              <a:ext uri="{FF2B5EF4-FFF2-40B4-BE49-F238E27FC236}">
                <a16:creationId xmlns:a16="http://schemas.microsoft.com/office/drawing/2014/main" id="{5CE51029-D7A8-4676-617F-F437F4E9D4F6}"/>
              </a:ext>
            </a:extLst>
          </p:cNvPr>
          <p:cNvSpPr/>
          <p:nvPr/>
        </p:nvSpPr>
        <p:spPr>
          <a:xfrm>
            <a:off x="5274527" y="2447565"/>
            <a:ext cx="1628078" cy="783906"/>
          </a:xfrm>
          <a:prstGeom prst="round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08C3421B-7F6C-5191-5C7C-90D0D579FA02}"/>
              </a:ext>
            </a:extLst>
          </p:cNvPr>
          <p:cNvCxnSpPr/>
          <p:nvPr/>
        </p:nvCxnSpPr>
        <p:spPr>
          <a:xfrm flipH="1">
            <a:off x="6211229" y="2152185"/>
            <a:ext cx="144966" cy="49065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3" name="Oval 22">
            <a:extLst>
              <a:ext uri="{FF2B5EF4-FFF2-40B4-BE49-F238E27FC236}">
                <a16:creationId xmlns:a16="http://schemas.microsoft.com/office/drawing/2014/main" id="{C4F77A12-1CF4-9E5B-F9AF-B7B2481F5B9F}"/>
              </a:ext>
            </a:extLst>
          </p:cNvPr>
          <p:cNvSpPr/>
          <p:nvPr/>
        </p:nvSpPr>
        <p:spPr>
          <a:xfrm>
            <a:off x="2930359" y="4304371"/>
            <a:ext cx="1875816" cy="1596910"/>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16F7A3F9-996F-7702-F6E4-1A17CF0EC9DA}"/>
              </a:ext>
            </a:extLst>
          </p:cNvPr>
          <p:cNvSpPr txBox="1"/>
          <p:nvPr/>
        </p:nvSpPr>
        <p:spPr>
          <a:xfrm>
            <a:off x="3093257" y="5926202"/>
            <a:ext cx="1550019" cy="369332"/>
          </a:xfrm>
          <a:prstGeom prst="rect">
            <a:avLst/>
          </a:prstGeom>
          <a:noFill/>
        </p:spPr>
        <p:txBody>
          <a:bodyPr wrap="square" rtlCol="0">
            <a:spAutoFit/>
          </a:bodyPr>
          <a:lstStyle/>
          <a:p>
            <a:r>
              <a:rPr lang="en-US" b="1" dirty="0">
                <a:solidFill>
                  <a:srgbClr val="FF0000"/>
                </a:solidFill>
              </a:rPr>
              <a:t>Destination</a:t>
            </a:r>
          </a:p>
        </p:txBody>
      </p:sp>
      <p:pic>
        <p:nvPicPr>
          <p:cNvPr id="27" name="Picture 26">
            <a:extLst>
              <a:ext uri="{FF2B5EF4-FFF2-40B4-BE49-F238E27FC236}">
                <a16:creationId xmlns:a16="http://schemas.microsoft.com/office/drawing/2014/main" id="{A0708A02-8CE6-45FC-F68B-A7074D6D48A4}"/>
              </a:ext>
            </a:extLst>
          </p:cNvPr>
          <p:cNvPicPr>
            <a:picLocks noChangeAspect="1"/>
          </p:cNvPicPr>
          <p:nvPr/>
        </p:nvPicPr>
        <p:blipFill>
          <a:blip r:embed="rId4"/>
          <a:stretch>
            <a:fillRect/>
          </a:stretch>
        </p:blipFill>
        <p:spPr>
          <a:xfrm>
            <a:off x="9089427" y="1719087"/>
            <a:ext cx="2028339" cy="866195"/>
          </a:xfrm>
          <a:prstGeom prst="rect">
            <a:avLst/>
          </a:prstGeom>
        </p:spPr>
      </p:pic>
      <p:sp>
        <p:nvSpPr>
          <p:cNvPr id="28" name="Rectangle: Rounded Corners 27">
            <a:extLst>
              <a:ext uri="{FF2B5EF4-FFF2-40B4-BE49-F238E27FC236}">
                <a16:creationId xmlns:a16="http://schemas.microsoft.com/office/drawing/2014/main" id="{7F2460EE-0264-76B0-A086-88E0B595FF77}"/>
              </a:ext>
            </a:extLst>
          </p:cNvPr>
          <p:cNvSpPr/>
          <p:nvPr/>
        </p:nvSpPr>
        <p:spPr>
          <a:xfrm>
            <a:off x="2586361" y="3429000"/>
            <a:ext cx="4316244" cy="2971800"/>
          </a:xfrm>
          <a:prstGeom prst="roundRect">
            <a:avLst/>
          </a:prstGeom>
          <a:noFill/>
          <a:ln w="38100">
            <a:solidFill>
              <a:srgbClr val="7030A0"/>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47E06A62-04D9-59DD-EAB7-C74C3B7268DC}"/>
              </a:ext>
            </a:extLst>
          </p:cNvPr>
          <p:cNvSpPr/>
          <p:nvPr/>
        </p:nvSpPr>
        <p:spPr>
          <a:xfrm>
            <a:off x="7586589" y="3429000"/>
            <a:ext cx="4316244" cy="2971800"/>
          </a:xfrm>
          <a:prstGeom prst="roundRect">
            <a:avLst/>
          </a:prstGeom>
          <a:noFill/>
          <a:ln w="38100">
            <a:solidFill>
              <a:srgbClr val="7030A0"/>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876960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26" presetClass="emph" presetSubtype="0" fill="hold" grpId="0" nodeType="withEffect">
                                  <p:stCondLst>
                                    <p:cond delay="0"/>
                                  </p:stCondLst>
                                  <p:childTnLst>
                                    <p:animEffect transition="out" filter="fade">
                                      <p:cBhvr>
                                        <p:cTn id="8" dur="500" tmFilter="0, 0; .2, .5; .8, .5; 1, 0"/>
                                        <p:tgtEl>
                                          <p:spTgt spid="8"/>
                                        </p:tgtEl>
                                      </p:cBhvr>
                                    </p:animEffect>
                                    <p:animScale>
                                      <p:cBhvr>
                                        <p:cTn id="9" dur="250" autoRev="1" fill="hold"/>
                                        <p:tgtEl>
                                          <p:spTgt spid="8"/>
                                        </p:tgtEl>
                                      </p:cBhvr>
                                      <p:by x="105000" y="105000"/>
                                    </p:animScale>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23" grpId="0" animBg="1"/>
      <p:bldP spid="2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1DC2691-A059-5E08-B1A8-740F11FC8466}"/>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28000"/>
                    </a14:imgEffect>
                  </a14:imgLayer>
                </a14:imgProps>
              </a:ext>
              <a:ext uri="{28A0092B-C50C-407E-A947-70E740481C1C}">
                <a14:useLocalDpi xmlns:a14="http://schemas.microsoft.com/office/drawing/2010/main" val="0"/>
              </a:ext>
            </a:extLst>
          </a:blip>
          <a:srcRect l="13047" t="16945" r="11652" b="21483"/>
          <a:stretch/>
        </p:blipFill>
        <p:spPr>
          <a:xfrm>
            <a:off x="3520455" y="2219093"/>
            <a:ext cx="7512861" cy="3453716"/>
          </a:xfrm>
          <a:prstGeom prst="rect">
            <a:avLst/>
          </a:prstGeom>
        </p:spPr>
      </p:pic>
      <p:sp>
        <p:nvSpPr>
          <p:cNvPr id="2" name="Title 1">
            <a:extLst>
              <a:ext uri="{FF2B5EF4-FFF2-40B4-BE49-F238E27FC236}">
                <a16:creationId xmlns:a16="http://schemas.microsoft.com/office/drawing/2014/main" id="{AA8270C3-0F29-FC8B-7AA8-4FDCBF530AA9}"/>
              </a:ext>
            </a:extLst>
          </p:cNvPr>
          <p:cNvSpPr>
            <a:spLocks noGrp="1"/>
          </p:cNvSpPr>
          <p:nvPr>
            <p:ph type="title"/>
          </p:nvPr>
        </p:nvSpPr>
        <p:spPr>
          <a:xfrm>
            <a:off x="4247669" y="183473"/>
            <a:ext cx="4052952" cy="642151"/>
          </a:xfrm>
        </p:spPr>
        <p:txBody>
          <a:bodyPr>
            <a:normAutofit fontScale="90000"/>
          </a:bodyPr>
          <a:lstStyle/>
          <a:p>
            <a:r>
              <a:rPr lang="en-US" b="1" dirty="0"/>
              <a:t>OSI Model Layers</a:t>
            </a:r>
            <a:endParaRPr lang="en-US" dirty="0"/>
          </a:p>
        </p:txBody>
      </p:sp>
      <p:sp>
        <p:nvSpPr>
          <p:cNvPr id="3" name="Content Placeholder 2">
            <a:extLst>
              <a:ext uri="{FF2B5EF4-FFF2-40B4-BE49-F238E27FC236}">
                <a16:creationId xmlns:a16="http://schemas.microsoft.com/office/drawing/2014/main" id="{42F514DC-0BC7-41D4-93AC-E36B784716CB}"/>
              </a:ext>
            </a:extLst>
          </p:cNvPr>
          <p:cNvSpPr>
            <a:spLocks noGrp="1"/>
          </p:cNvSpPr>
          <p:nvPr>
            <p:ph idx="1"/>
          </p:nvPr>
        </p:nvSpPr>
        <p:spPr>
          <a:xfrm>
            <a:off x="2586361" y="956719"/>
            <a:ext cx="9381051" cy="1262374"/>
          </a:xfrm>
        </p:spPr>
        <p:txBody>
          <a:bodyPr>
            <a:normAutofit/>
          </a:bodyPr>
          <a:lstStyle/>
          <a:p>
            <a:pPr algn="just"/>
            <a:r>
              <a:rPr lang="en-US" sz="2400" b="1" dirty="0"/>
              <a:t>Data Link Layer:</a:t>
            </a:r>
          </a:p>
          <a:p>
            <a:pPr algn="just"/>
            <a:r>
              <a:rPr lang="en-US" sz="1800" dirty="0"/>
              <a:t>The data link layer is very similar to the network layer, except the data link layer facilitates data transfer between </a:t>
            </a:r>
            <a:r>
              <a:rPr lang="en-US" sz="1800" b="1" dirty="0"/>
              <a:t>two devices on the SAME network</a:t>
            </a:r>
            <a:r>
              <a:rPr lang="en-US" sz="1800" dirty="0"/>
              <a:t>. </a:t>
            </a:r>
          </a:p>
          <a:p>
            <a:pPr algn="just"/>
            <a:endParaRPr lang="en-US" sz="1800" dirty="0"/>
          </a:p>
          <a:p>
            <a:pPr algn="just"/>
            <a:endParaRPr lang="en-US" sz="1800" dirty="0"/>
          </a:p>
          <a:p>
            <a:pPr marL="548640" lvl="2" indent="0">
              <a:buNone/>
            </a:pPr>
            <a:endParaRPr lang="en-US" dirty="0"/>
          </a:p>
        </p:txBody>
      </p:sp>
      <p:sp>
        <p:nvSpPr>
          <p:cNvPr id="4" name="Rectangle 3">
            <a:extLst>
              <a:ext uri="{FF2B5EF4-FFF2-40B4-BE49-F238E27FC236}">
                <a16:creationId xmlns:a16="http://schemas.microsoft.com/office/drawing/2014/main" id="{469820BE-3F63-E971-2BFD-945C20A6E57A}"/>
              </a:ext>
            </a:extLst>
          </p:cNvPr>
          <p:cNvSpPr/>
          <p:nvPr/>
        </p:nvSpPr>
        <p:spPr>
          <a:xfrm>
            <a:off x="608828" y="160122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A</a:t>
            </a:r>
            <a:r>
              <a:rPr lang="en-US" sz="1400" b="1" dirty="0"/>
              <a:t>pplication</a:t>
            </a:r>
          </a:p>
        </p:txBody>
      </p:sp>
      <p:sp>
        <p:nvSpPr>
          <p:cNvPr id="5" name="Rectangle 4">
            <a:extLst>
              <a:ext uri="{FF2B5EF4-FFF2-40B4-BE49-F238E27FC236}">
                <a16:creationId xmlns:a16="http://schemas.microsoft.com/office/drawing/2014/main" id="{5AD53A24-45F5-B9D6-7016-FD5B43E8BF8F}"/>
              </a:ext>
            </a:extLst>
          </p:cNvPr>
          <p:cNvSpPr/>
          <p:nvPr/>
        </p:nvSpPr>
        <p:spPr>
          <a:xfrm>
            <a:off x="608828" y="202439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resentation</a:t>
            </a:r>
          </a:p>
        </p:txBody>
      </p:sp>
      <p:sp>
        <p:nvSpPr>
          <p:cNvPr id="6" name="Rectangle 5">
            <a:extLst>
              <a:ext uri="{FF2B5EF4-FFF2-40B4-BE49-F238E27FC236}">
                <a16:creationId xmlns:a16="http://schemas.microsoft.com/office/drawing/2014/main" id="{811338E4-F5DA-5F54-3A29-A1BA9E32736F}"/>
              </a:ext>
            </a:extLst>
          </p:cNvPr>
          <p:cNvSpPr/>
          <p:nvPr/>
        </p:nvSpPr>
        <p:spPr>
          <a:xfrm>
            <a:off x="608828" y="244756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S</a:t>
            </a:r>
            <a:r>
              <a:rPr lang="en-US" sz="1400" b="1" dirty="0"/>
              <a:t>ession</a:t>
            </a:r>
          </a:p>
        </p:txBody>
      </p:sp>
      <p:sp>
        <p:nvSpPr>
          <p:cNvPr id="7" name="Rectangle 6">
            <a:extLst>
              <a:ext uri="{FF2B5EF4-FFF2-40B4-BE49-F238E27FC236}">
                <a16:creationId xmlns:a16="http://schemas.microsoft.com/office/drawing/2014/main" id="{6910F9CA-1A70-53CE-5CE5-FD1F33B254FB}"/>
              </a:ext>
            </a:extLst>
          </p:cNvPr>
          <p:cNvSpPr/>
          <p:nvPr/>
        </p:nvSpPr>
        <p:spPr>
          <a:xfrm>
            <a:off x="608828" y="2882571"/>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T</a:t>
            </a:r>
            <a:r>
              <a:rPr lang="en-US" sz="1400" b="1" dirty="0"/>
              <a:t>ransport</a:t>
            </a:r>
          </a:p>
        </p:txBody>
      </p:sp>
      <p:sp>
        <p:nvSpPr>
          <p:cNvPr id="8" name="Rectangle 7">
            <a:extLst>
              <a:ext uri="{FF2B5EF4-FFF2-40B4-BE49-F238E27FC236}">
                <a16:creationId xmlns:a16="http://schemas.microsoft.com/office/drawing/2014/main" id="{6ECCBD95-C25B-B17C-5C4B-D4DEA007A3DA}"/>
              </a:ext>
            </a:extLst>
          </p:cNvPr>
          <p:cNvSpPr/>
          <p:nvPr/>
        </p:nvSpPr>
        <p:spPr>
          <a:xfrm>
            <a:off x="608828" y="3317577"/>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N</a:t>
            </a:r>
            <a:r>
              <a:rPr lang="en-US" sz="1400" b="1" dirty="0"/>
              <a:t>etwork</a:t>
            </a:r>
          </a:p>
        </p:txBody>
      </p:sp>
      <p:sp>
        <p:nvSpPr>
          <p:cNvPr id="9" name="Rectangle 8">
            <a:extLst>
              <a:ext uri="{FF2B5EF4-FFF2-40B4-BE49-F238E27FC236}">
                <a16:creationId xmlns:a16="http://schemas.microsoft.com/office/drawing/2014/main" id="{BEBFE19B-D424-B104-638E-D4C3E98D0807}"/>
              </a:ext>
            </a:extLst>
          </p:cNvPr>
          <p:cNvSpPr/>
          <p:nvPr/>
        </p:nvSpPr>
        <p:spPr>
          <a:xfrm>
            <a:off x="608828" y="3752583"/>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D</a:t>
            </a:r>
            <a:r>
              <a:rPr lang="en-US" sz="1400" b="1" dirty="0"/>
              <a:t>ata Link</a:t>
            </a:r>
          </a:p>
        </p:txBody>
      </p:sp>
      <p:sp>
        <p:nvSpPr>
          <p:cNvPr id="10" name="Rectangle 9">
            <a:extLst>
              <a:ext uri="{FF2B5EF4-FFF2-40B4-BE49-F238E27FC236}">
                <a16:creationId xmlns:a16="http://schemas.microsoft.com/office/drawing/2014/main" id="{5AAC15EA-27B1-5AC1-9C94-1F0535DD5C9E}"/>
              </a:ext>
            </a:extLst>
          </p:cNvPr>
          <p:cNvSpPr/>
          <p:nvPr/>
        </p:nvSpPr>
        <p:spPr>
          <a:xfrm>
            <a:off x="608828" y="4187589"/>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hysical Layer</a:t>
            </a:r>
          </a:p>
        </p:txBody>
      </p:sp>
      <p:sp>
        <p:nvSpPr>
          <p:cNvPr id="11" name="Arrow: Curved Left 10">
            <a:extLst>
              <a:ext uri="{FF2B5EF4-FFF2-40B4-BE49-F238E27FC236}">
                <a16:creationId xmlns:a16="http://schemas.microsoft.com/office/drawing/2014/main" id="{79D8A7FA-0DCC-66D1-0007-DFE78200974C}"/>
              </a:ext>
            </a:extLst>
          </p:cNvPr>
          <p:cNvSpPr/>
          <p:nvPr/>
        </p:nvSpPr>
        <p:spPr>
          <a:xfrm>
            <a:off x="2214374" y="3535080"/>
            <a:ext cx="371987" cy="435006"/>
          </a:xfrm>
          <a:prstGeom prst="curved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tx1"/>
              </a:solidFill>
            </a:endParaRPr>
          </a:p>
        </p:txBody>
      </p:sp>
      <p:sp>
        <p:nvSpPr>
          <p:cNvPr id="13" name="Rectangle: Rounded Corners 12">
            <a:extLst>
              <a:ext uri="{FF2B5EF4-FFF2-40B4-BE49-F238E27FC236}">
                <a16:creationId xmlns:a16="http://schemas.microsoft.com/office/drawing/2014/main" id="{FCFD46BA-93FB-9A5B-7BA3-2565462A21C3}"/>
              </a:ext>
            </a:extLst>
          </p:cNvPr>
          <p:cNvSpPr/>
          <p:nvPr/>
        </p:nvSpPr>
        <p:spPr>
          <a:xfrm>
            <a:off x="3528534" y="3341304"/>
            <a:ext cx="3452129" cy="2559977"/>
          </a:xfrm>
          <a:prstGeom prst="roundRect">
            <a:avLst/>
          </a:prstGeom>
          <a:noFill/>
          <a:ln w="38100">
            <a:solidFill>
              <a:srgbClr val="7030A0"/>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50405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6" presetClass="emph" presetSubtype="0" fill="hold" grpId="0" nodeType="clickEffect">
                                  <p:stCondLst>
                                    <p:cond delay="0"/>
                                  </p:stCondLst>
                                  <p:childTnLst>
                                    <p:animEffect transition="out" filter="fade">
                                      <p:cBhvr>
                                        <p:cTn id="14" dur="500" tmFilter="0, 0; .2, .5; .8, .5; 1, 0"/>
                                        <p:tgtEl>
                                          <p:spTgt spid="7"/>
                                        </p:tgtEl>
                                      </p:cBhvr>
                                    </p:animEffect>
                                    <p:animScale>
                                      <p:cBhvr>
                                        <p:cTn id="15" dur="250" autoRev="1" fill="hold"/>
                                        <p:tgtEl>
                                          <p:spTgt spid="7"/>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26" presetClass="emph" presetSubtype="0" fill="hold" grpId="0" nodeType="clickEffect">
                                  <p:stCondLst>
                                    <p:cond delay="0"/>
                                  </p:stCondLst>
                                  <p:childTnLst>
                                    <p:animEffect transition="out" filter="fade">
                                      <p:cBhvr>
                                        <p:cTn id="19" dur="500" tmFilter="0, 0; .2, .5; .8, .5; 1, 0"/>
                                        <p:tgtEl>
                                          <p:spTgt spid="9"/>
                                        </p:tgtEl>
                                      </p:cBhvr>
                                    </p:animEffect>
                                    <p:animScale>
                                      <p:cBhvr>
                                        <p:cTn id="20" dur="25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270C3-0F29-FC8B-7AA8-4FDCBF530AA9}"/>
              </a:ext>
            </a:extLst>
          </p:cNvPr>
          <p:cNvSpPr>
            <a:spLocks noGrp="1"/>
          </p:cNvSpPr>
          <p:nvPr>
            <p:ph type="title"/>
          </p:nvPr>
        </p:nvSpPr>
        <p:spPr>
          <a:xfrm>
            <a:off x="4247669" y="183473"/>
            <a:ext cx="4052952" cy="642151"/>
          </a:xfrm>
        </p:spPr>
        <p:txBody>
          <a:bodyPr>
            <a:normAutofit fontScale="90000"/>
          </a:bodyPr>
          <a:lstStyle/>
          <a:p>
            <a:r>
              <a:rPr lang="en-US" b="1" dirty="0"/>
              <a:t>OSI Model Layers</a:t>
            </a:r>
            <a:endParaRPr lang="en-US" dirty="0"/>
          </a:p>
        </p:txBody>
      </p:sp>
      <p:sp>
        <p:nvSpPr>
          <p:cNvPr id="3" name="Content Placeholder 2">
            <a:extLst>
              <a:ext uri="{FF2B5EF4-FFF2-40B4-BE49-F238E27FC236}">
                <a16:creationId xmlns:a16="http://schemas.microsoft.com/office/drawing/2014/main" id="{42F514DC-0BC7-41D4-93AC-E36B784716CB}"/>
              </a:ext>
            </a:extLst>
          </p:cNvPr>
          <p:cNvSpPr>
            <a:spLocks noGrp="1"/>
          </p:cNvSpPr>
          <p:nvPr>
            <p:ph idx="1"/>
          </p:nvPr>
        </p:nvSpPr>
        <p:spPr>
          <a:xfrm>
            <a:off x="2586361" y="956719"/>
            <a:ext cx="9381051" cy="1674969"/>
          </a:xfrm>
        </p:spPr>
        <p:txBody>
          <a:bodyPr>
            <a:normAutofit/>
          </a:bodyPr>
          <a:lstStyle/>
          <a:p>
            <a:pPr algn="just"/>
            <a:r>
              <a:rPr lang="en-US" sz="2400" b="1" dirty="0"/>
              <a:t>Data Link Layer:</a:t>
            </a:r>
          </a:p>
          <a:p>
            <a:pPr algn="just"/>
            <a:r>
              <a:rPr lang="en-US" sz="1800" dirty="0"/>
              <a:t>The data link layer takes packets from the network layer and breaks them into smaller pieces called </a:t>
            </a:r>
            <a:r>
              <a:rPr lang="en-US" sz="1800" b="1" dirty="0"/>
              <a:t>frames</a:t>
            </a:r>
            <a:r>
              <a:rPr lang="en-US" sz="1800" dirty="0"/>
              <a:t>. The data link layer is also responsible for flow control and error control in </a:t>
            </a:r>
            <a:r>
              <a:rPr lang="en-US" sz="1800" b="1" dirty="0"/>
              <a:t>intra-network communication </a:t>
            </a:r>
            <a:r>
              <a:rPr lang="en-US" sz="1800" dirty="0"/>
              <a:t>(</a:t>
            </a:r>
            <a:r>
              <a:rPr lang="en-US" sz="1800" i="1" dirty="0"/>
              <a:t>The transport layer only does flow control and error control for inter-network communications</a:t>
            </a:r>
            <a:r>
              <a:rPr lang="en-US" sz="1800" dirty="0"/>
              <a:t>).</a:t>
            </a:r>
          </a:p>
          <a:p>
            <a:pPr marL="45720" indent="0" algn="just">
              <a:buNone/>
            </a:pPr>
            <a:endParaRPr lang="en-US" sz="1800" dirty="0"/>
          </a:p>
        </p:txBody>
      </p:sp>
      <p:sp>
        <p:nvSpPr>
          <p:cNvPr id="4" name="Rectangle 3">
            <a:extLst>
              <a:ext uri="{FF2B5EF4-FFF2-40B4-BE49-F238E27FC236}">
                <a16:creationId xmlns:a16="http://schemas.microsoft.com/office/drawing/2014/main" id="{469820BE-3F63-E971-2BFD-945C20A6E57A}"/>
              </a:ext>
            </a:extLst>
          </p:cNvPr>
          <p:cNvSpPr/>
          <p:nvPr/>
        </p:nvSpPr>
        <p:spPr>
          <a:xfrm>
            <a:off x="608828" y="160122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A</a:t>
            </a:r>
            <a:r>
              <a:rPr lang="en-US" sz="1400" b="1" dirty="0"/>
              <a:t>pplication</a:t>
            </a:r>
          </a:p>
        </p:txBody>
      </p:sp>
      <p:sp>
        <p:nvSpPr>
          <p:cNvPr id="5" name="Rectangle 4">
            <a:extLst>
              <a:ext uri="{FF2B5EF4-FFF2-40B4-BE49-F238E27FC236}">
                <a16:creationId xmlns:a16="http://schemas.microsoft.com/office/drawing/2014/main" id="{5AD53A24-45F5-B9D6-7016-FD5B43E8BF8F}"/>
              </a:ext>
            </a:extLst>
          </p:cNvPr>
          <p:cNvSpPr/>
          <p:nvPr/>
        </p:nvSpPr>
        <p:spPr>
          <a:xfrm>
            <a:off x="608828" y="202439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resentation</a:t>
            </a:r>
          </a:p>
        </p:txBody>
      </p:sp>
      <p:sp>
        <p:nvSpPr>
          <p:cNvPr id="6" name="Rectangle 5">
            <a:extLst>
              <a:ext uri="{FF2B5EF4-FFF2-40B4-BE49-F238E27FC236}">
                <a16:creationId xmlns:a16="http://schemas.microsoft.com/office/drawing/2014/main" id="{811338E4-F5DA-5F54-3A29-A1BA9E32736F}"/>
              </a:ext>
            </a:extLst>
          </p:cNvPr>
          <p:cNvSpPr/>
          <p:nvPr/>
        </p:nvSpPr>
        <p:spPr>
          <a:xfrm>
            <a:off x="608828" y="244756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S</a:t>
            </a:r>
            <a:r>
              <a:rPr lang="en-US" sz="1400" b="1" dirty="0"/>
              <a:t>ession</a:t>
            </a:r>
          </a:p>
        </p:txBody>
      </p:sp>
      <p:sp>
        <p:nvSpPr>
          <p:cNvPr id="7" name="Rectangle 6">
            <a:extLst>
              <a:ext uri="{FF2B5EF4-FFF2-40B4-BE49-F238E27FC236}">
                <a16:creationId xmlns:a16="http://schemas.microsoft.com/office/drawing/2014/main" id="{6910F9CA-1A70-53CE-5CE5-FD1F33B254FB}"/>
              </a:ext>
            </a:extLst>
          </p:cNvPr>
          <p:cNvSpPr/>
          <p:nvPr/>
        </p:nvSpPr>
        <p:spPr>
          <a:xfrm>
            <a:off x="608828" y="2882571"/>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T</a:t>
            </a:r>
            <a:r>
              <a:rPr lang="en-US" sz="1400" b="1" dirty="0"/>
              <a:t>ransport</a:t>
            </a:r>
          </a:p>
        </p:txBody>
      </p:sp>
      <p:sp>
        <p:nvSpPr>
          <p:cNvPr id="8" name="Rectangle 7">
            <a:extLst>
              <a:ext uri="{FF2B5EF4-FFF2-40B4-BE49-F238E27FC236}">
                <a16:creationId xmlns:a16="http://schemas.microsoft.com/office/drawing/2014/main" id="{6ECCBD95-C25B-B17C-5C4B-D4DEA007A3DA}"/>
              </a:ext>
            </a:extLst>
          </p:cNvPr>
          <p:cNvSpPr/>
          <p:nvPr/>
        </p:nvSpPr>
        <p:spPr>
          <a:xfrm>
            <a:off x="608828" y="3317577"/>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N</a:t>
            </a:r>
            <a:r>
              <a:rPr lang="en-US" sz="1400" b="1" dirty="0"/>
              <a:t>etwork</a:t>
            </a:r>
          </a:p>
        </p:txBody>
      </p:sp>
      <p:sp>
        <p:nvSpPr>
          <p:cNvPr id="9" name="Rectangle 8">
            <a:extLst>
              <a:ext uri="{FF2B5EF4-FFF2-40B4-BE49-F238E27FC236}">
                <a16:creationId xmlns:a16="http://schemas.microsoft.com/office/drawing/2014/main" id="{BEBFE19B-D424-B104-638E-D4C3E98D0807}"/>
              </a:ext>
            </a:extLst>
          </p:cNvPr>
          <p:cNvSpPr/>
          <p:nvPr/>
        </p:nvSpPr>
        <p:spPr>
          <a:xfrm>
            <a:off x="608828" y="3752583"/>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D</a:t>
            </a:r>
            <a:r>
              <a:rPr lang="en-US" sz="1400" b="1" dirty="0"/>
              <a:t>ata Link</a:t>
            </a:r>
          </a:p>
        </p:txBody>
      </p:sp>
      <p:sp>
        <p:nvSpPr>
          <p:cNvPr id="10" name="Rectangle 9">
            <a:extLst>
              <a:ext uri="{FF2B5EF4-FFF2-40B4-BE49-F238E27FC236}">
                <a16:creationId xmlns:a16="http://schemas.microsoft.com/office/drawing/2014/main" id="{5AAC15EA-27B1-5AC1-9C94-1F0535DD5C9E}"/>
              </a:ext>
            </a:extLst>
          </p:cNvPr>
          <p:cNvSpPr/>
          <p:nvPr/>
        </p:nvSpPr>
        <p:spPr>
          <a:xfrm>
            <a:off x="608828" y="4187589"/>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hysical Layer</a:t>
            </a:r>
          </a:p>
        </p:txBody>
      </p:sp>
      <p:sp>
        <p:nvSpPr>
          <p:cNvPr id="11" name="Arrow: Curved Left 10">
            <a:extLst>
              <a:ext uri="{FF2B5EF4-FFF2-40B4-BE49-F238E27FC236}">
                <a16:creationId xmlns:a16="http://schemas.microsoft.com/office/drawing/2014/main" id="{79D8A7FA-0DCC-66D1-0007-DFE78200974C}"/>
              </a:ext>
            </a:extLst>
          </p:cNvPr>
          <p:cNvSpPr/>
          <p:nvPr/>
        </p:nvSpPr>
        <p:spPr>
          <a:xfrm>
            <a:off x="2214374" y="3535080"/>
            <a:ext cx="371987" cy="435006"/>
          </a:xfrm>
          <a:prstGeom prst="curved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tx1"/>
              </a:solidFill>
            </a:endParaRPr>
          </a:p>
        </p:txBody>
      </p:sp>
      <p:pic>
        <p:nvPicPr>
          <p:cNvPr id="15" name="Picture 14">
            <a:extLst>
              <a:ext uri="{FF2B5EF4-FFF2-40B4-BE49-F238E27FC236}">
                <a16:creationId xmlns:a16="http://schemas.microsoft.com/office/drawing/2014/main" id="{6D90B89A-E882-ED77-29F4-A43EFE6321FB}"/>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37000"/>
                    </a14:imgEffect>
                  </a14:imgLayer>
                </a14:imgProps>
              </a:ext>
              <a:ext uri="{28A0092B-C50C-407E-A947-70E740481C1C}">
                <a14:useLocalDpi xmlns:a14="http://schemas.microsoft.com/office/drawing/2010/main" val="0"/>
              </a:ext>
            </a:extLst>
          </a:blip>
          <a:srcRect l="2216" t="7504" r="6762" b="9646"/>
          <a:stretch/>
        </p:blipFill>
        <p:spPr>
          <a:xfrm>
            <a:off x="4948425" y="2853492"/>
            <a:ext cx="4941278" cy="2533047"/>
          </a:xfrm>
          <a:prstGeom prst="rect">
            <a:avLst/>
          </a:prstGeom>
        </p:spPr>
      </p:pic>
      <p:pic>
        <p:nvPicPr>
          <p:cNvPr id="17" name="Picture 16">
            <a:extLst>
              <a:ext uri="{FF2B5EF4-FFF2-40B4-BE49-F238E27FC236}">
                <a16:creationId xmlns:a16="http://schemas.microsoft.com/office/drawing/2014/main" id="{F1AF43F0-F4B7-690D-D985-3628C5FE674C}"/>
              </a:ext>
            </a:extLst>
          </p:cNvPr>
          <p:cNvPicPr>
            <a:picLocks noChangeAspect="1"/>
          </p:cNvPicPr>
          <p:nvPr/>
        </p:nvPicPr>
        <p:blipFill>
          <a:blip r:embed="rId4"/>
          <a:stretch>
            <a:fillRect/>
          </a:stretch>
        </p:blipFill>
        <p:spPr>
          <a:xfrm>
            <a:off x="2883214" y="2804351"/>
            <a:ext cx="8787343" cy="2843923"/>
          </a:xfrm>
          <a:prstGeom prst="rect">
            <a:avLst/>
          </a:prstGeom>
        </p:spPr>
      </p:pic>
    </p:spTree>
    <p:extLst>
      <p:ext uri="{BB962C8B-B14F-4D97-AF65-F5344CB8AC3E}">
        <p14:creationId xmlns:p14="http://schemas.microsoft.com/office/powerpoint/2010/main" val="3675226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mph" presetSubtype="0" fill="hold" grpId="0" nodeType="clickEffect">
                                  <p:stCondLst>
                                    <p:cond delay="0"/>
                                  </p:stCondLst>
                                  <p:childTnLst>
                                    <p:animEffect transition="out" filter="fade">
                                      <p:cBhvr>
                                        <p:cTn id="10" dur="500" tmFilter="0, 0; .2, .5; .8, .5; 1, 0"/>
                                        <p:tgtEl>
                                          <p:spTgt spid="9"/>
                                        </p:tgtEl>
                                      </p:cBhvr>
                                    </p:animEffect>
                                    <p:animScale>
                                      <p:cBhvr>
                                        <p:cTn id="11" dur="250" autoRev="1" fill="hold"/>
                                        <p:tgtEl>
                                          <p:spTgt spid="9"/>
                                        </p:tgtEl>
                                      </p:cBhvr>
                                      <p:by x="105000" y="105000"/>
                                    </p:animScale>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270C3-0F29-FC8B-7AA8-4FDCBF530AA9}"/>
              </a:ext>
            </a:extLst>
          </p:cNvPr>
          <p:cNvSpPr>
            <a:spLocks noGrp="1"/>
          </p:cNvSpPr>
          <p:nvPr>
            <p:ph type="title"/>
          </p:nvPr>
        </p:nvSpPr>
        <p:spPr>
          <a:xfrm>
            <a:off x="4247669" y="183473"/>
            <a:ext cx="4052952" cy="642151"/>
          </a:xfrm>
        </p:spPr>
        <p:txBody>
          <a:bodyPr>
            <a:normAutofit fontScale="90000"/>
          </a:bodyPr>
          <a:lstStyle/>
          <a:p>
            <a:r>
              <a:rPr lang="en-US" b="1" dirty="0"/>
              <a:t>OSI Model Layers</a:t>
            </a:r>
            <a:endParaRPr lang="en-US" dirty="0"/>
          </a:p>
        </p:txBody>
      </p:sp>
      <p:sp>
        <p:nvSpPr>
          <p:cNvPr id="3" name="Content Placeholder 2">
            <a:extLst>
              <a:ext uri="{FF2B5EF4-FFF2-40B4-BE49-F238E27FC236}">
                <a16:creationId xmlns:a16="http://schemas.microsoft.com/office/drawing/2014/main" id="{42F514DC-0BC7-41D4-93AC-E36B784716CB}"/>
              </a:ext>
            </a:extLst>
          </p:cNvPr>
          <p:cNvSpPr>
            <a:spLocks noGrp="1"/>
          </p:cNvSpPr>
          <p:nvPr>
            <p:ph idx="1"/>
          </p:nvPr>
        </p:nvSpPr>
        <p:spPr>
          <a:xfrm>
            <a:off x="2586361" y="956719"/>
            <a:ext cx="9381051" cy="1674969"/>
          </a:xfrm>
        </p:spPr>
        <p:txBody>
          <a:bodyPr>
            <a:normAutofit lnSpcReduction="10000"/>
          </a:bodyPr>
          <a:lstStyle/>
          <a:p>
            <a:pPr algn="just"/>
            <a:r>
              <a:rPr lang="en-US" sz="2400" b="1" dirty="0"/>
              <a:t>Physical Layer:</a:t>
            </a:r>
          </a:p>
          <a:p>
            <a:pPr algn="just"/>
            <a:r>
              <a:rPr lang="en-US" sz="1800" dirty="0"/>
              <a:t>This level establishes the relationship between a device and a </a:t>
            </a:r>
            <a:r>
              <a:rPr lang="en-US" sz="1800" b="1" dirty="0"/>
              <a:t>physical transmission medium</a:t>
            </a:r>
            <a:r>
              <a:rPr lang="en-US" sz="1800" dirty="0"/>
              <a:t>.</a:t>
            </a:r>
          </a:p>
          <a:p>
            <a:pPr algn="just"/>
            <a:r>
              <a:rPr lang="en-US" sz="1800" dirty="0"/>
              <a:t>It defines the connector, the electrical cable, or wireless technology connecting the devices, and is responsible for the transmission of the raw data, which is simply a series of 0s and 1s while taking care of bit rate control.</a:t>
            </a:r>
          </a:p>
        </p:txBody>
      </p:sp>
      <p:sp>
        <p:nvSpPr>
          <p:cNvPr id="4" name="Rectangle 3">
            <a:extLst>
              <a:ext uri="{FF2B5EF4-FFF2-40B4-BE49-F238E27FC236}">
                <a16:creationId xmlns:a16="http://schemas.microsoft.com/office/drawing/2014/main" id="{469820BE-3F63-E971-2BFD-945C20A6E57A}"/>
              </a:ext>
            </a:extLst>
          </p:cNvPr>
          <p:cNvSpPr/>
          <p:nvPr/>
        </p:nvSpPr>
        <p:spPr>
          <a:xfrm>
            <a:off x="608828" y="160122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A</a:t>
            </a:r>
            <a:r>
              <a:rPr lang="en-US" sz="1400" b="1" dirty="0"/>
              <a:t>pplication</a:t>
            </a:r>
          </a:p>
        </p:txBody>
      </p:sp>
      <p:sp>
        <p:nvSpPr>
          <p:cNvPr id="5" name="Rectangle 4">
            <a:extLst>
              <a:ext uri="{FF2B5EF4-FFF2-40B4-BE49-F238E27FC236}">
                <a16:creationId xmlns:a16="http://schemas.microsoft.com/office/drawing/2014/main" id="{5AD53A24-45F5-B9D6-7016-FD5B43E8BF8F}"/>
              </a:ext>
            </a:extLst>
          </p:cNvPr>
          <p:cNvSpPr/>
          <p:nvPr/>
        </p:nvSpPr>
        <p:spPr>
          <a:xfrm>
            <a:off x="608828" y="202439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resentation</a:t>
            </a:r>
          </a:p>
        </p:txBody>
      </p:sp>
      <p:sp>
        <p:nvSpPr>
          <p:cNvPr id="6" name="Rectangle 5">
            <a:extLst>
              <a:ext uri="{FF2B5EF4-FFF2-40B4-BE49-F238E27FC236}">
                <a16:creationId xmlns:a16="http://schemas.microsoft.com/office/drawing/2014/main" id="{811338E4-F5DA-5F54-3A29-A1BA9E32736F}"/>
              </a:ext>
            </a:extLst>
          </p:cNvPr>
          <p:cNvSpPr/>
          <p:nvPr/>
        </p:nvSpPr>
        <p:spPr>
          <a:xfrm>
            <a:off x="608828" y="244756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S</a:t>
            </a:r>
            <a:r>
              <a:rPr lang="en-US" sz="1400" b="1" dirty="0"/>
              <a:t>ession</a:t>
            </a:r>
          </a:p>
        </p:txBody>
      </p:sp>
      <p:sp>
        <p:nvSpPr>
          <p:cNvPr id="7" name="Rectangle 6">
            <a:extLst>
              <a:ext uri="{FF2B5EF4-FFF2-40B4-BE49-F238E27FC236}">
                <a16:creationId xmlns:a16="http://schemas.microsoft.com/office/drawing/2014/main" id="{6910F9CA-1A70-53CE-5CE5-FD1F33B254FB}"/>
              </a:ext>
            </a:extLst>
          </p:cNvPr>
          <p:cNvSpPr/>
          <p:nvPr/>
        </p:nvSpPr>
        <p:spPr>
          <a:xfrm>
            <a:off x="608828" y="2882571"/>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T</a:t>
            </a:r>
            <a:r>
              <a:rPr lang="en-US" sz="1400" b="1" dirty="0"/>
              <a:t>ransport</a:t>
            </a:r>
          </a:p>
        </p:txBody>
      </p:sp>
      <p:sp>
        <p:nvSpPr>
          <p:cNvPr id="8" name="Rectangle 7">
            <a:extLst>
              <a:ext uri="{FF2B5EF4-FFF2-40B4-BE49-F238E27FC236}">
                <a16:creationId xmlns:a16="http://schemas.microsoft.com/office/drawing/2014/main" id="{6ECCBD95-C25B-B17C-5C4B-D4DEA007A3DA}"/>
              </a:ext>
            </a:extLst>
          </p:cNvPr>
          <p:cNvSpPr/>
          <p:nvPr/>
        </p:nvSpPr>
        <p:spPr>
          <a:xfrm>
            <a:off x="608828" y="3317577"/>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N</a:t>
            </a:r>
            <a:r>
              <a:rPr lang="en-US" sz="1400" b="1" dirty="0"/>
              <a:t>etwork</a:t>
            </a:r>
          </a:p>
        </p:txBody>
      </p:sp>
      <p:sp>
        <p:nvSpPr>
          <p:cNvPr id="9" name="Rectangle 8">
            <a:extLst>
              <a:ext uri="{FF2B5EF4-FFF2-40B4-BE49-F238E27FC236}">
                <a16:creationId xmlns:a16="http://schemas.microsoft.com/office/drawing/2014/main" id="{BEBFE19B-D424-B104-638E-D4C3E98D0807}"/>
              </a:ext>
            </a:extLst>
          </p:cNvPr>
          <p:cNvSpPr/>
          <p:nvPr/>
        </p:nvSpPr>
        <p:spPr>
          <a:xfrm>
            <a:off x="608828" y="3752583"/>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D</a:t>
            </a:r>
            <a:r>
              <a:rPr lang="en-US" sz="1400" b="1" dirty="0"/>
              <a:t>ata Link</a:t>
            </a:r>
          </a:p>
        </p:txBody>
      </p:sp>
      <p:sp>
        <p:nvSpPr>
          <p:cNvPr id="10" name="Rectangle 9">
            <a:extLst>
              <a:ext uri="{FF2B5EF4-FFF2-40B4-BE49-F238E27FC236}">
                <a16:creationId xmlns:a16="http://schemas.microsoft.com/office/drawing/2014/main" id="{5AAC15EA-27B1-5AC1-9C94-1F0535DD5C9E}"/>
              </a:ext>
            </a:extLst>
          </p:cNvPr>
          <p:cNvSpPr/>
          <p:nvPr/>
        </p:nvSpPr>
        <p:spPr>
          <a:xfrm>
            <a:off x="608828" y="4187589"/>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hysical Layer</a:t>
            </a:r>
          </a:p>
        </p:txBody>
      </p:sp>
      <p:sp>
        <p:nvSpPr>
          <p:cNvPr id="11" name="Arrow: Curved Left 10">
            <a:extLst>
              <a:ext uri="{FF2B5EF4-FFF2-40B4-BE49-F238E27FC236}">
                <a16:creationId xmlns:a16="http://schemas.microsoft.com/office/drawing/2014/main" id="{79D8A7FA-0DCC-66D1-0007-DFE78200974C}"/>
              </a:ext>
            </a:extLst>
          </p:cNvPr>
          <p:cNvSpPr/>
          <p:nvPr/>
        </p:nvSpPr>
        <p:spPr>
          <a:xfrm>
            <a:off x="2215797" y="3883980"/>
            <a:ext cx="371987" cy="435006"/>
          </a:xfrm>
          <a:prstGeom prst="curved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tx1"/>
              </a:solidFill>
            </a:endParaRPr>
          </a:p>
        </p:txBody>
      </p:sp>
      <p:pic>
        <p:nvPicPr>
          <p:cNvPr id="13" name="Picture 12">
            <a:extLst>
              <a:ext uri="{FF2B5EF4-FFF2-40B4-BE49-F238E27FC236}">
                <a16:creationId xmlns:a16="http://schemas.microsoft.com/office/drawing/2014/main" id="{D3942842-18C5-0840-B2E7-41F852A7C1A1}"/>
              </a:ext>
            </a:extLst>
          </p:cNvPr>
          <p:cNvPicPr>
            <a:picLocks noChangeAspect="1"/>
          </p:cNvPicPr>
          <p:nvPr/>
        </p:nvPicPr>
        <p:blipFill>
          <a:blip r:embed="rId2"/>
          <a:stretch>
            <a:fillRect/>
          </a:stretch>
        </p:blipFill>
        <p:spPr>
          <a:xfrm>
            <a:off x="4000632" y="2704136"/>
            <a:ext cx="6556292" cy="3197145"/>
          </a:xfrm>
          <a:prstGeom prst="rect">
            <a:avLst/>
          </a:prstGeom>
        </p:spPr>
      </p:pic>
    </p:spTree>
    <p:extLst>
      <p:ext uri="{BB962C8B-B14F-4D97-AF65-F5344CB8AC3E}">
        <p14:creationId xmlns:p14="http://schemas.microsoft.com/office/powerpoint/2010/main" val="882357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mph" presetSubtype="0" fill="hold" grpId="0" nodeType="clickEffect">
                                  <p:stCondLst>
                                    <p:cond delay="0"/>
                                  </p:stCondLst>
                                  <p:childTnLst>
                                    <p:animEffect transition="out" filter="fade">
                                      <p:cBhvr>
                                        <p:cTn id="10" dur="500" tmFilter="0, 0; .2, .5; .8, .5; 1, 0"/>
                                        <p:tgtEl>
                                          <p:spTgt spid="10"/>
                                        </p:tgtEl>
                                      </p:cBhvr>
                                    </p:animEffect>
                                    <p:animScale>
                                      <p:cBhvr>
                                        <p:cTn id="11"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270C3-0F29-FC8B-7AA8-4FDCBF530AA9}"/>
              </a:ext>
            </a:extLst>
          </p:cNvPr>
          <p:cNvSpPr>
            <a:spLocks noGrp="1"/>
          </p:cNvSpPr>
          <p:nvPr>
            <p:ph type="title"/>
          </p:nvPr>
        </p:nvSpPr>
        <p:spPr>
          <a:xfrm>
            <a:off x="4247669" y="183473"/>
            <a:ext cx="4052952" cy="642151"/>
          </a:xfrm>
        </p:spPr>
        <p:txBody>
          <a:bodyPr>
            <a:normAutofit fontScale="90000"/>
          </a:bodyPr>
          <a:lstStyle/>
          <a:p>
            <a:r>
              <a:rPr lang="en-US" b="1" dirty="0"/>
              <a:t>OSI Model Layers</a:t>
            </a:r>
            <a:endParaRPr lang="en-US" dirty="0"/>
          </a:p>
        </p:txBody>
      </p:sp>
      <p:sp>
        <p:nvSpPr>
          <p:cNvPr id="3" name="Content Placeholder 2">
            <a:extLst>
              <a:ext uri="{FF2B5EF4-FFF2-40B4-BE49-F238E27FC236}">
                <a16:creationId xmlns:a16="http://schemas.microsoft.com/office/drawing/2014/main" id="{42F514DC-0BC7-41D4-93AC-E36B784716CB}"/>
              </a:ext>
            </a:extLst>
          </p:cNvPr>
          <p:cNvSpPr>
            <a:spLocks noGrp="1"/>
          </p:cNvSpPr>
          <p:nvPr>
            <p:ph idx="1"/>
          </p:nvPr>
        </p:nvSpPr>
        <p:spPr>
          <a:xfrm>
            <a:off x="2586361" y="956719"/>
            <a:ext cx="9381051" cy="1674969"/>
          </a:xfrm>
        </p:spPr>
        <p:txBody>
          <a:bodyPr>
            <a:normAutofit/>
          </a:bodyPr>
          <a:lstStyle/>
          <a:p>
            <a:pPr algn="just"/>
            <a:r>
              <a:rPr lang="en-US" sz="2400" b="1" dirty="0"/>
              <a:t>Physical Layer:</a:t>
            </a:r>
          </a:p>
          <a:p>
            <a:pPr algn="just"/>
            <a:r>
              <a:rPr lang="en-US" sz="1800" dirty="0"/>
              <a:t>It defines the connector, the electrical cable, or wireless technology connecting the devices, and is responsible for the transmission of the raw data, which is simply a series of 0s and 1s while taking care of bit rate control.</a:t>
            </a:r>
          </a:p>
        </p:txBody>
      </p:sp>
      <p:sp>
        <p:nvSpPr>
          <p:cNvPr id="4" name="Rectangle 3">
            <a:extLst>
              <a:ext uri="{FF2B5EF4-FFF2-40B4-BE49-F238E27FC236}">
                <a16:creationId xmlns:a16="http://schemas.microsoft.com/office/drawing/2014/main" id="{469820BE-3F63-E971-2BFD-945C20A6E57A}"/>
              </a:ext>
            </a:extLst>
          </p:cNvPr>
          <p:cNvSpPr/>
          <p:nvPr/>
        </p:nvSpPr>
        <p:spPr>
          <a:xfrm>
            <a:off x="608828" y="160122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A</a:t>
            </a:r>
            <a:r>
              <a:rPr lang="en-US" sz="1400" b="1" dirty="0"/>
              <a:t>pplication</a:t>
            </a:r>
          </a:p>
        </p:txBody>
      </p:sp>
      <p:sp>
        <p:nvSpPr>
          <p:cNvPr id="5" name="Rectangle 4">
            <a:extLst>
              <a:ext uri="{FF2B5EF4-FFF2-40B4-BE49-F238E27FC236}">
                <a16:creationId xmlns:a16="http://schemas.microsoft.com/office/drawing/2014/main" id="{5AD53A24-45F5-B9D6-7016-FD5B43E8BF8F}"/>
              </a:ext>
            </a:extLst>
          </p:cNvPr>
          <p:cNvSpPr/>
          <p:nvPr/>
        </p:nvSpPr>
        <p:spPr>
          <a:xfrm>
            <a:off x="608828" y="202439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resentation</a:t>
            </a:r>
          </a:p>
        </p:txBody>
      </p:sp>
      <p:sp>
        <p:nvSpPr>
          <p:cNvPr id="6" name="Rectangle 5">
            <a:extLst>
              <a:ext uri="{FF2B5EF4-FFF2-40B4-BE49-F238E27FC236}">
                <a16:creationId xmlns:a16="http://schemas.microsoft.com/office/drawing/2014/main" id="{811338E4-F5DA-5F54-3A29-A1BA9E32736F}"/>
              </a:ext>
            </a:extLst>
          </p:cNvPr>
          <p:cNvSpPr/>
          <p:nvPr/>
        </p:nvSpPr>
        <p:spPr>
          <a:xfrm>
            <a:off x="608828" y="2447565"/>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S</a:t>
            </a:r>
            <a:r>
              <a:rPr lang="en-US" sz="1400" b="1" dirty="0"/>
              <a:t>ession</a:t>
            </a:r>
          </a:p>
        </p:txBody>
      </p:sp>
      <p:sp>
        <p:nvSpPr>
          <p:cNvPr id="7" name="Rectangle 6">
            <a:extLst>
              <a:ext uri="{FF2B5EF4-FFF2-40B4-BE49-F238E27FC236}">
                <a16:creationId xmlns:a16="http://schemas.microsoft.com/office/drawing/2014/main" id="{6910F9CA-1A70-53CE-5CE5-FD1F33B254FB}"/>
              </a:ext>
            </a:extLst>
          </p:cNvPr>
          <p:cNvSpPr/>
          <p:nvPr/>
        </p:nvSpPr>
        <p:spPr>
          <a:xfrm>
            <a:off x="608828" y="2882571"/>
            <a:ext cx="1566201" cy="3489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T</a:t>
            </a:r>
            <a:r>
              <a:rPr lang="en-US" sz="1400" b="1" dirty="0"/>
              <a:t>ransport</a:t>
            </a:r>
          </a:p>
        </p:txBody>
      </p:sp>
      <p:sp>
        <p:nvSpPr>
          <p:cNvPr id="8" name="Rectangle 7">
            <a:extLst>
              <a:ext uri="{FF2B5EF4-FFF2-40B4-BE49-F238E27FC236}">
                <a16:creationId xmlns:a16="http://schemas.microsoft.com/office/drawing/2014/main" id="{6ECCBD95-C25B-B17C-5C4B-D4DEA007A3DA}"/>
              </a:ext>
            </a:extLst>
          </p:cNvPr>
          <p:cNvSpPr/>
          <p:nvPr/>
        </p:nvSpPr>
        <p:spPr>
          <a:xfrm>
            <a:off x="608828" y="3317577"/>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N</a:t>
            </a:r>
            <a:r>
              <a:rPr lang="en-US" sz="1400" b="1" dirty="0"/>
              <a:t>etwork</a:t>
            </a:r>
          </a:p>
        </p:txBody>
      </p:sp>
      <p:sp>
        <p:nvSpPr>
          <p:cNvPr id="9" name="Rectangle 8">
            <a:extLst>
              <a:ext uri="{FF2B5EF4-FFF2-40B4-BE49-F238E27FC236}">
                <a16:creationId xmlns:a16="http://schemas.microsoft.com/office/drawing/2014/main" id="{BEBFE19B-D424-B104-638E-D4C3E98D0807}"/>
              </a:ext>
            </a:extLst>
          </p:cNvPr>
          <p:cNvSpPr/>
          <p:nvPr/>
        </p:nvSpPr>
        <p:spPr>
          <a:xfrm>
            <a:off x="608828" y="3752583"/>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D</a:t>
            </a:r>
            <a:r>
              <a:rPr lang="en-US" sz="1400" b="1" dirty="0"/>
              <a:t>ata Link</a:t>
            </a:r>
          </a:p>
        </p:txBody>
      </p:sp>
      <p:sp>
        <p:nvSpPr>
          <p:cNvPr id="10" name="Rectangle 9">
            <a:extLst>
              <a:ext uri="{FF2B5EF4-FFF2-40B4-BE49-F238E27FC236}">
                <a16:creationId xmlns:a16="http://schemas.microsoft.com/office/drawing/2014/main" id="{5AAC15EA-27B1-5AC1-9C94-1F0535DD5C9E}"/>
              </a:ext>
            </a:extLst>
          </p:cNvPr>
          <p:cNvSpPr/>
          <p:nvPr/>
        </p:nvSpPr>
        <p:spPr>
          <a:xfrm>
            <a:off x="608828" y="4187589"/>
            <a:ext cx="1566201" cy="3489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hysical Layer</a:t>
            </a:r>
          </a:p>
        </p:txBody>
      </p:sp>
      <p:sp>
        <p:nvSpPr>
          <p:cNvPr id="11" name="Arrow: Curved Left 10">
            <a:extLst>
              <a:ext uri="{FF2B5EF4-FFF2-40B4-BE49-F238E27FC236}">
                <a16:creationId xmlns:a16="http://schemas.microsoft.com/office/drawing/2014/main" id="{79D8A7FA-0DCC-66D1-0007-DFE78200974C}"/>
              </a:ext>
            </a:extLst>
          </p:cNvPr>
          <p:cNvSpPr/>
          <p:nvPr/>
        </p:nvSpPr>
        <p:spPr>
          <a:xfrm>
            <a:off x="2215797" y="3883980"/>
            <a:ext cx="371987" cy="435006"/>
          </a:xfrm>
          <a:prstGeom prst="curvedLef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schemeClr val="tx1"/>
              </a:solidFill>
            </a:endParaRPr>
          </a:p>
        </p:txBody>
      </p:sp>
      <p:pic>
        <p:nvPicPr>
          <p:cNvPr id="14" name="Picture 13">
            <a:extLst>
              <a:ext uri="{FF2B5EF4-FFF2-40B4-BE49-F238E27FC236}">
                <a16:creationId xmlns:a16="http://schemas.microsoft.com/office/drawing/2014/main" id="{DFD98AAE-7523-C81E-6D2B-B9EC0387376C}"/>
              </a:ext>
            </a:extLst>
          </p:cNvPr>
          <p:cNvPicPr>
            <a:picLocks noChangeAspect="1"/>
          </p:cNvPicPr>
          <p:nvPr/>
        </p:nvPicPr>
        <p:blipFill>
          <a:blip r:embed="rId2"/>
          <a:stretch>
            <a:fillRect/>
          </a:stretch>
        </p:blipFill>
        <p:spPr>
          <a:xfrm>
            <a:off x="3939894" y="2326295"/>
            <a:ext cx="5872322" cy="1440079"/>
          </a:xfrm>
          <a:prstGeom prst="rect">
            <a:avLst/>
          </a:prstGeom>
        </p:spPr>
      </p:pic>
      <p:pic>
        <p:nvPicPr>
          <p:cNvPr id="16" name="Picture 15">
            <a:extLst>
              <a:ext uri="{FF2B5EF4-FFF2-40B4-BE49-F238E27FC236}">
                <a16:creationId xmlns:a16="http://schemas.microsoft.com/office/drawing/2014/main" id="{6176945A-CAB4-A6F5-6AAB-C85CE53CC81D}"/>
              </a:ext>
            </a:extLst>
          </p:cNvPr>
          <p:cNvPicPr>
            <a:picLocks noChangeAspect="1"/>
          </p:cNvPicPr>
          <p:nvPr/>
        </p:nvPicPr>
        <p:blipFill>
          <a:blip r:embed="rId3"/>
          <a:stretch>
            <a:fillRect/>
          </a:stretch>
        </p:blipFill>
        <p:spPr>
          <a:xfrm>
            <a:off x="7769942" y="4052930"/>
            <a:ext cx="1061358" cy="1440080"/>
          </a:xfrm>
          <a:prstGeom prst="rect">
            <a:avLst/>
          </a:prstGeom>
        </p:spPr>
      </p:pic>
      <p:pic>
        <p:nvPicPr>
          <p:cNvPr id="18" name="Picture 17">
            <a:extLst>
              <a:ext uri="{FF2B5EF4-FFF2-40B4-BE49-F238E27FC236}">
                <a16:creationId xmlns:a16="http://schemas.microsoft.com/office/drawing/2014/main" id="{84DFA958-4FF7-8AF1-DFD1-51002712451A}"/>
              </a:ext>
            </a:extLst>
          </p:cNvPr>
          <p:cNvPicPr>
            <a:picLocks noChangeAspect="1"/>
          </p:cNvPicPr>
          <p:nvPr/>
        </p:nvPicPr>
        <p:blipFill>
          <a:blip r:embed="rId4"/>
          <a:stretch>
            <a:fillRect/>
          </a:stretch>
        </p:blipFill>
        <p:spPr>
          <a:xfrm>
            <a:off x="4187088" y="3927033"/>
            <a:ext cx="1240546" cy="1604381"/>
          </a:xfrm>
          <a:prstGeom prst="rect">
            <a:avLst/>
          </a:prstGeom>
        </p:spPr>
      </p:pic>
      <p:pic>
        <p:nvPicPr>
          <p:cNvPr id="20" name="Picture 19">
            <a:extLst>
              <a:ext uri="{FF2B5EF4-FFF2-40B4-BE49-F238E27FC236}">
                <a16:creationId xmlns:a16="http://schemas.microsoft.com/office/drawing/2014/main" id="{F6F97246-CCC5-6DCE-CDA0-08004F3301F0}"/>
              </a:ext>
            </a:extLst>
          </p:cNvPr>
          <p:cNvPicPr>
            <a:picLocks noChangeAspect="1"/>
          </p:cNvPicPr>
          <p:nvPr/>
        </p:nvPicPr>
        <p:blipFill>
          <a:blip r:embed="rId5"/>
          <a:stretch>
            <a:fillRect/>
          </a:stretch>
        </p:blipFill>
        <p:spPr>
          <a:xfrm>
            <a:off x="5608461" y="3927033"/>
            <a:ext cx="728894" cy="1604381"/>
          </a:xfrm>
          <a:prstGeom prst="rect">
            <a:avLst/>
          </a:prstGeom>
        </p:spPr>
      </p:pic>
      <p:pic>
        <p:nvPicPr>
          <p:cNvPr id="22" name="Picture 21">
            <a:extLst>
              <a:ext uri="{FF2B5EF4-FFF2-40B4-BE49-F238E27FC236}">
                <a16:creationId xmlns:a16="http://schemas.microsoft.com/office/drawing/2014/main" id="{27410BEA-B171-537F-E549-1D0B7E1B752A}"/>
              </a:ext>
            </a:extLst>
          </p:cNvPr>
          <p:cNvPicPr>
            <a:picLocks noChangeAspect="1"/>
          </p:cNvPicPr>
          <p:nvPr/>
        </p:nvPicPr>
        <p:blipFill>
          <a:blip r:embed="rId6"/>
          <a:stretch>
            <a:fillRect/>
          </a:stretch>
        </p:blipFill>
        <p:spPr>
          <a:xfrm>
            <a:off x="6775204" y="4119732"/>
            <a:ext cx="664489" cy="1373278"/>
          </a:xfrm>
          <a:prstGeom prst="rect">
            <a:avLst/>
          </a:prstGeom>
        </p:spPr>
      </p:pic>
    </p:spTree>
    <p:extLst>
      <p:ext uri="{BB962C8B-B14F-4D97-AF65-F5344CB8AC3E}">
        <p14:creationId xmlns:p14="http://schemas.microsoft.com/office/powerpoint/2010/main" val="2710321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mph" presetSubtype="0" fill="hold" grpId="0" nodeType="clickEffect">
                                  <p:stCondLst>
                                    <p:cond delay="0"/>
                                  </p:stCondLst>
                                  <p:childTnLst>
                                    <p:animEffect transition="out" filter="fade">
                                      <p:cBhvr>
                                        <p:cTn id="10" dur="500" tmFilter="0, 0; .2, .5; .8, .5; 1, 0"/>
                                        <p:tgtEl>
                                          <p:spTgt spid="10"/>
                                        </p:tgtEl>
                                      </p:cBhvr>
                                    </p:animEffect>
                                    <p:animScale>
                                      <p:cBhvr>
                                        <p:cTn id="11" dur="250" autoRev="1" fill="hold"/>
                                        <p:tgtEl>
                                          <p:spTgt spid="10"/>
                                        </p:tgtEl>
                                      </p:cBhvr>
                                      <p:by x="105000" y="105000"/>
                                    </p:animScale>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3781BF48-ACC2-0218-4611-F96CD0ECE32C}"/>
              </a:ext>
            </a:extLst>
          </p:cNvPr>
          <p:cNvPicPr>
            <a:picLocks noChangeAspect="1"/>
          </p:cNvPicPr>
          <p:nvPr/>
        </p:nvPicPr>
        <p:blipFill>
          <a:blip r:embed="rId2"/>
          <a:stretch>
            <a:fillRect/>
          </a:stretch>
        </p:blipFill>
        <p:spPr>
          <a:xfrm>
            <a:off x="6751211" y="5213410"/>
            <a:ext cx="1435717" cy="509765"/>
          </a:xfrm>
          <a:prstGeom prst="rect">
            <a:avLst/>
          </a:prstGeom>
          <a:ln>
            <a:noFill/>
          </a:ln>
          <a:effectLst>
            <a:softEdge rad="112500"/>
          </a:effectLst>
        </p:spPr>
      </p:pic>
      <p:sp>
        <p:nvSpPr>
          <p:cNvPr id="4" name="Rectangle 3">
            <a:extLst>
              <a:ext uri="{FF2B5EF4-FFF2-40B4-BE49-F238E27FC236}">
                <a16:creationId xmlns:a16="http://schemas.microsoft.com/office/drawing/2014/main" id="{469820BE-3F63-E971-2BFD-945C20A6E57A}"/>
              </a:ext>
            </a:extLst>
          </p:cNvPr>
          <p:cNvSpPr/>
          <p:nvPr/>
        </p:nvSpPr>
        <p:spPr>
          <a:xfrm>
            <a:off x="345058" y="853878"/>
            <a:ext cx="1290311" cy="3756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A</a:t>
            </a:r>
            <a:r>
              <a:rPr lang="en-US" sz="1400" b="1" dirty="0"/>
              <a:t>pplication</a:t>
            </a:r>
          </a:p>
        </p:txBody>
      </p:sp>
      <p:sp>
        <p:nvSpPr>
          <p:cNvPr id="5" name="Rectangle 4">
            <a:extLst>
              <a:ext uri="{FF2B5EF4-FFF2-40B4-BE49-F238E27FC236}">
                <a16:creationId xmlns:a16="http://schemas.microsoft.com/office/drawing/2014/main" id="{5AD53A24-45F5-B9D6-7016-FD5B43E8BF8F}"/>
              </a:ext>
            </a:extLst>
          </p:cNvPr>
          <p:cNvSpPr/>
          <p:nvPr/>
        </p:nvSpPr>
        <p:spPr>
          <a:xfrm>
            <a:off x="345058" y="1277048"/>
            <a:ext cx="1290311" cy="3756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resentation</a:t>
            </a:r>
          </a:p>
        </p:txBody>
      </p:sp>
      <p:sp>
        <p:nvSpPr>
          <p:cNvPr id="6" name="Rectangle 5">
            <a:extLst>
              <a:ext uri="{FF2B5EF4-FFF2-40B4-BE49-F238E27FC236}">
                <a16:creationId xmlns:a16="http://schemas.microsoft.com/office/drawing/2014/main" id="{811338E4-F5DA-5F54-3A29-A1BA9E32736F}"/>
              </a:ext>
            </a:extLst>
          </p:cNvPr>
          <p:cNvSpPr/>
          <p:nvPr/>
        </p:nvSpPr>
        <p:spPr>
          <a:xfrm>
            <a:off x="345058" y="1700218"/>
            <a:ext cx="1290311" cy="3756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S</a:t>
            </a:r>
            <a:r>
              <a:rPr lang="en-US" sz="1400" b="1" dirty="0"/>
              <a:t>ession</a:t>
            </a:r>
          </a:p>
        </p:txBody>
      </p:sp>
      <p:sp>
        <p:nvSpPr>
          <p:cNvPr id="7" name="Rectangle 6">
            <a:extLst>
              <a:ext uri="{FF2B5EF4-FFF2-40B4-BE49-F238E27FC236}">
                <a16:creationId xmlns:a16="http://schemas.microsoft.com/office/drawing/2014/main" id="{6910F9CA-1A70-53CE-5CE5-FD1F33B254FB}"/>
              </a:ext>
            </a:extLst>
          </p:cNvPr>
          <p:cNvSpPr/>
          <p:nvPr/>
        </p:nvSpPr>
        <p:spPr>
          <a:xfrm>
            <a:off x="345058" y="2135224"/>
            <a:ext cx="1290311" cy="3756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T</a:t>
            </a:r>
            <a:r>
              <a:rPr lang="en-US" sz="1400" b="1" dirty="0"/>
              <a:t>ransport</a:t>
            </a:r>
          </a:p>
        </p:txBody>
      </p:sp>
      <p:sp>
        <p:nvSpPr>
          <p:cNvPr id="8" name="Rectangle 7">
            <a:extLst>
              <a:ext uri="{FF2B5EF4-FFF2-40B4-BE49-F238E27FC236}">
                <a16:creationId xmlns:a16="http://schemas.microsoft.com/office/drawing/2014/main" id="{6ECCBD95-C25B-B17C-5C4B-D4DEA007A3DA}"/>
              </a:ext>
            </a:extLst>
          </p:cNvPr>
          <p:cNvSpPr/>
          <p:nvPr/>
        </p:nvSpPr>
        <p:spPr>
          <a:xfrm>
            <a:off x="345058" y="2570230"/>
            <a:ext cx="1290311" cy="375619"/>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N</a:t>
            </a:r>
            <a:r>
              <a:rPr lang="en-US" sz="1400" b="1" dirty="0"/>
              <a:t>etwork</a:t>
            </a:r>
          </a:p>
        </p:txBody>
      </p:sp>
      <p:sp>
        <p:nvSpPr>
          <p:cNvPr id="9" name="Rectangle 8">
            <a:extLst>
              <a:ext uri="{FF2B5EF4-FFF2-40B4-BE49-F238E27FC236}">
                <a16:creationId xmlns:a16="http://schemas.microsoft.com/office/drawing/2014/main" id="{BEBFE19B-D424-B104-638E-D4C3E98D0807}"/>
              </a:ext>
            </a:extLst>
          </p:cNvPr>
          <p:cNvSpPr/>
          <p:nvPr/>
        </p:nvSpPr>
        <p:spPr>
          <a:xfrm>
            <a:off x="345058" y="3005236"/>
            <a:ext cx="1290311" cy="375619"/>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D</a:t>
            </a:r>
            <a:r>
              <a:rPr lang="en-US" sz="1400" b="1" dirty="0"/>
              <a:t>ata Link</a:t>
            </a:r>
          </a:p>
        </p:txBody>
      </p:sp>
      <p:sp>
        <p:nvSpPr>
          <p:cNvPr id="10" name="Rectangle 9">
            <a:extLst>
              <a:ext uri="{FF2B5EF4-FFF2-40B4-BE49-F238E27FC236}">
                <a16:creationId xmlns:a16="http://schemas.microsoft.com/office/drawing/2014/main" id="{5AAC15EA-27B1-5AC1-9C94-1F0535DD5C9E}"/>
              </a:ext>
            </a:extLst>
          </p:cNvPr>
          <p:cNvSpPr/>
          <p:nvPr/>
        </p:nvSpPr>
        <p:spPr>
          <a:xfrm>
            <a:off x="345058" y="3440242"/>
            <a:ext cx="1290311" cy="375619"/>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FF0000"/>
                </a:solidFill>
              </a:rPr>
              <a:t>P</a:t>
            </a:r>
            <a:r>
              <a:rPr lang="en-US" sz="1400" b="1" dirty="0"/>
              <a:t>hysical Layer</a:t>
            </a:r>
          </a:p>
        </p:txBody>
      </p:sp>
      <p:pic>
        <p:nvPicPr>
          <p:cNvPr id="17" name="Picture 16">
            <a:extLst>
              <a:ext uri="{FF2B5EF4-FFF2-40B4-BE49-F238E27FC236}">
                <a16:creationId xmlns:a16="http://schemas.microsoft.com/office/drawing/2014/main" id="{CA427633-4DBA-F996-F7E6-56B6148E454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39000"/>
                    </a14:imgEffect>
                  </a14:imgLayer>
                </a14:imgProps>
              </a:ext>
            </a:extLst>
          </a:blip>
          <a:stretch>
            <a:fillRect/>
          </a:stretch>
        </p:blipFill>
        <p:spPr>
          <a:xfrm>
            <a:off x="1814503" y="1406602"/>
            <a:ext cx="5237390" cy="2208481"/>
          </a:xfrm>
          <a:prstGeom prst="rect">
            <a:avLst/>
          </a:prstGeom>
        </p:spPr>
      </p:pic>
      <p:sp>
        <p:nvSpPr>
          <p:cNvPr id="19" name="TextBox 18">
            <a:extLst>
              <a:ext uri="{FF2B5EF4-FFF2-40B4-BE49-F238E27FC236}">
                <a16:creationId xmlns:a16="http://schemas.microsoft.com/office/drawing/2014/main" id="{A6C80518-0A48-8C1E-550D-161F95D8208C}"/>
              </a:ext>
            </a:extLst>
          </p:cNvPr>
          <p:cNvSpPr txBox="1"/>
          <p:nvPr/>
        </p:nvSpPr>
        <p:spPr>
          <a:xfrm>
            <a:off x="2348101" y="922652"/>
            <a:ext cx="3587262" cy="400110"/>
          </a:xfrm>
          <a:prstGeom prst="rect">
            <a:avLst/>
          </a:prstGeom>
          <a:noFill/>
        </p:spPr>
        <p:txBody>
          <a:bodyPr wrap="square" rtlCol="0">
            <a:spAutoFit/>
          </a:bodyPr>
          <a:lstStyle/>
          <a:p>
            <a:r>
              <a:rPr lang="en-US" sz="2000" dirty="0">
                <a:latin typeface="Arabic Typesetting" panose="03020402040406030203" pitchFamily="66" charset="-78"/>
                <a:cs typeface="Arabic Typesetting" panose="03020402040406030203" pitchFamily="66" charset="-78"/>
              </a:rPr>
              <a:t>APPLICATION, PRESENTATION, SESSION</a:t>
            </a:r>
          </a:p>
        </p:txBody>
      </p:sp>
      <p:pic>
        <p:nvPicPr>
          <p:cNvPr id="25" name="Picture 24">
            <a:extLst>
              <a:ext uri="{FF2B5EF4-FFF2-40B4-BE49-F238E27FC236}">
                <a16:creationId xmlns:a16="http://schemas.microsoft.com/office/drawing/2014/main" id="{7E05C6C3-3FCA-5F58-FE2F-513E53811797}"/>
              </a:ext>
            </a:extLst>
          </p:cNvPr>
          <p:cNvPicPr>
            <a:picLocks noChangeAspect="1"/>
          </p:cNvPicPr>
          <p:nvPr/>
        </p:nvPicPr>
        <p:blipFill rotWithShape="1">
          <a:blip r:embed="rId5"/>
          <a:srcRect b="51773"/>
          <a:stretch/>
        </p:blipFill>
        <p:spPr>
          <a:xfrm>
            <a:off x="2278430" y="4006120"/>
            <a:ext cx="4309536" cy="917572"/>
          </a:xfrm>
          <a:prstGeom prst="rect">
            <a:avLst/>
          </a:prstGeom>
        </p:spPr>
      </p:pic>
      <p:sp>
        <p:nvSpPr>
          <p:cNvPr id="26" name="Rectangle: Rounded Corners 25">
            <a:extLst>
              <a:ext uri="{FF2B5EF4-FFF2-40B4-BE49-F238E27FC236}">
                <a16:creationId xmlns:a16="http://schemas.microsoft.com/office/drawing/2014/main" id="{0E16BF45-04D1-38B0-D31E-C10F415F35A5}"/>
              </a:ext>
            </a:extLst>
          </p:cNvPr>
          <p:cNvSpPr/>
          <p:nvPr/>
        </p:nvSpPr>
        <p:spPr>
          <a:xfrm>
            <a:off x="1871612" y="244556"/>
            <a:ext cx="5180282" cy="6323298"/>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64D09C8D-40CE-9AD4-3DD8-DDAD64C071CF}"/>
              </a:ext>
            </a:extLst>
          </p:cNvPr>
          <p:cNvPicPr>
            <a:picLocks noChangeAspect="1"/>
          </p:cNvPicPr>
          <p:nvPr/>
        </p:nvPicPr>
        <p:blipFill>
          <a:blip r:embed="rId6"/>
          <a:stretch>
            <a:fillRect/>
          </a:stretch>
        </p:blipFill>
        <p:spPr>
          <a:xfrm>
            <a:off x="9906499" y="264302"/>
            <a:ext cx="1636021" cy="1316701"/>
          </a:xfrm>
          <a:prstGeom prst="rect">
            <a:avLst/>
          </a:prstGeom>
        </p:spPr>
      </p:pic>
      <p:pic>
        <p:nvPicPr>
          <p:cNvPr id="30" name="Picture 29">
            <a:extLst>
              <a:ext uri="{FF2B5EF4-FFF2-40B4-BE49-F238E27FC236}">
                <a16:creationId xmlns:a16="http://schemas.microsoft.com/office/drawing/2014/main" id="{19CDCA2C-A199-B42F-0144-8EE3BA2D2069}"/>
              </a:ext>
            </a:extLst>
          </p:cNvPr>
          <p:cNvPicPr>
            <a:picLocks noChangeAspect="1"/>
          </p:cNvPicPr>
          <p:nvPr/>
        </p:nvPicPr>
        <p:blipFill rotWithShape="1">
          <a:blip r:embed="rId7"/>
          <a:srcRect b="34041"/>
          <a:stretch/>
        </p:blipFill>
        <p:spPr>
          <a:xfrm>
            <a:off x="8239504" y="1737418"/>
            <a:ext cx="1484655" cy="2078443"/>
          </a:xfrm>
          <a:prstGeom prst="rect">
            <a:avLst/>
          </a:prstGeom>
        </p:spPr>
      </p:pic>
      <p:pic>
        <p:nvPicPr>
          <p:cNvPr id="32" name="Picture 31">
            <a:extLst>
              <a:ext uri="{FF2B5EF4-FFF2-40B4-BE49-F238E27FC236}">
                <a16:creationId xmlns:a16="http://schemas.microsoft.com/office/drawing/2014/main" id="{6AA21E44-A3F6-C0A8-1565-EECD8207F120}"/>
              </a:ext>
            </a:extLst>
          </p:cNvPr>
          <p:cNvPicPr>
            <a:picLocks noChangeAspect="1"/>
          </p:cNvPicPr>
          <p:nvPr/>
        </p:nvPicPr>
        <p:blipFill>
          <a:blip r:embed="rId8"/>
          <a:stretch>
            <a:fillRect/>
          </a:stretch>
        </p:blipFill>
        <p:spPr>
          <a:xfrm>
            <a:off x="8646782" y="3909405"/>
            <a:ext cx="881111" cy="1662742"/>
          </a:xfrm>
          <a:prstGeom prst="rect">
            <a:avLst/>
          </a:prstGeom>
        </p:spPr>
      </p:pic>
      <p:pic>
        <p:nvPicPr>
          <p:cNvPr id="36" name="Picture 35">
            <a:extLst>
              <a:ext uri="{FF2B5EF4-FFF2-40B4-BE49-F238E27FC236}">
                <a16:creationId xmlns:a16="http://schemas.microsoft.com/office/drawing/2014/main" id="{3DDA3BF1-979A-84C0-36BD-1311C90B70DF}"/>
              </a:ext>
            </a:extLst>
          </p:cNvPr>
          <p:cNvPicPr>
            <a:picLocks noChangeAspect="1"/>
          </p:cNvPicPr>
          <p:nvPr/>
        </p:nvPicPr>
        <p:blipFill>
          <a:blip r:embed="rId9"/>
          <a:stretch>
            <a:fillRect/>
          </a:stretch>
        </p:blipFill>
        <p:spPr>
          <a:xfrm>
            <a:off x="5520692" y="5285883"/>
            <a:ext cx="935410" cy="423686"/>
          </a:xfrm>
          <a:prstGeom prst="rect">
            <a:avLst/>
          </a:prstGeom>
        </p:spPr>
      </p:pic>
      <p:sp>
        <p:nvSpPr>
          <p:cNvPr id="37" name="Arrow: Down 36">
            <a:extLst>
              <a:ext uri="{FF2B5EF4-FFF2-40B4-BE49-F238E27FC236}">
                <a16:creationId xmlns:a16="http://schemas.microsoft.com/office/drawing/2014/main" id="{DB9AF3CF-D662-B6F3-5057-26DA60DFEC29}"/>
              </a:ext>
            </a:extLst>
          </p:cNvPr>
          <p:cNvSpPr/>
          <p:nvPr/>
        </p:nvSpPr>
        <p:spPr>
          <a:xfrm>
            <a:off x="6216414" y="2100995"/>
            <a:ext cx="210726" cy="3483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row: Down 37">
            <a:extLst>
              <a:ext uri="{FF2B5EF4-FFF2-40B4-BE49-F238E27FC236}">
                <a16:creationId xmlns:a16="http://schemas.microsoft.com/office/drawing/2014/main" id="{E19531CE-DC63-9633-2FFA-F68F5322C56A}"/>
              </a:ext>
            </a:extLst>
          </p:cNvPr>
          <p:cNvSpPr/>
          <p:nvPr/>
        </p:nvSpPr>
        <p:spPr>
          <a:xfrm>
            <a:off x="6216414" y="2831070"/>
            <a:ext cx="210726" cy="3483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Arrow: Down 38">
            <a:extLst>
              <a:ext uri="{FF2B5EF4-FFF2-40B4-BE49-F238E27FC236}">
                <a16:creationId xmlns:a16="http://schemas.microsoft.com/office/drawing/2014/main" id="{F4550D59-F765-852D-3CB0-6867EBACAE37}"/>
              </a:ext>
            </a:extLst>
          </p:cNvPr>
          <p:cNvSpPr/>
          <p:nvPr/>
        </p:nvSpPr>
        <p:spPr>
          <a:xfrm rot="1222600">
            <a:off x="6092900" y="3572359"/>
            <a:ext cx="210726" cy="3483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Arrow: Down 39">
            <a:extLst>
              <a:ext uri="{FF2B5EF4-FFF2-40B4-BE49-F238E27FC236}">
                <a16:creationId xmlns:a16="http://schemas.microsoft.com/office/drawing/2014/main" id="{17BE32EE-B968-D46E-51A8-8FA1A2F0BD5A}"/>
              </a:ext>
            </a:extLst>
          </p:cNvPr>
          <p:cNvSpPr/>
          <p:nvPr/>
        </p:nvSpPr>
        <p:spPr>
          <a:xfrm rot="20365878">
            <a:off x="6007184" y="4298988"/>
            <a:ext cx="163769" cy="348332"/>
          </a:xfrm>
          <a:prstGeom prst="downArrow">
            <a:avLst>
              <a:gd name="adj1" fmla="val 37879"/>
              <a:gd name="adj2" fmla="val 4225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Arrow: Down 40">
            <a:extLst>
              <a:ext uri="{FF2B5EF4-FFF2-40B4-BE49-F238E27FC236}">
                <a16:creationId xmlns:a16="http://schemas.microsoft.com/office/drawing/2014/main" id="{EE7B9707-E795-77F4-6D53-30E9B268551E}"/>
              </a:ext>
            </a:extLst>
          </p:cNvPr>
          <p:cNvSpPr/>
          <p:nvPr/>
        </p:nvSpPr>
        <p:spPr>
          <a:xfrm>
            <a:off x="6052645" y="4917302"/>
            <a:ext cx="163769" cy="348332"/>
          </a:xfrm>
          <a:prstGeom prst="downArrow">
            <a:avLst>
              <a:gd name="adj1" fmla="val 37879"/>
              <a:gd name="adj2" fmla="val 4225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Arrow: Right 41">
            <a:extLst>
              <a:ext uri="{FF2B5EF4-FFF2-40B4-BE49-F238E27FC236}">
                <a16:creationId xmlns:a16="http://schemas.microsoft.com/office/drawing/2014/main" id="{E5C9BC92-AF09-1D0B-90EB-609ABC693CB6}"/>
              </a:ext>
            </a:extLst>
          </p:cNvPr>
          <p:cNvSpPr/>
          <p:nvPr/>
        </p:nvSpPr>
        <p:spPr>
          <a:xfrm>
            <a:off x="6562388" y="4923692"/>
            <a:ext cx="2084394" cy="1111348"/>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Arrow: Up 42">
            <a:extLst>
              <a:ext uri="{FF2B5EF4-FFF2-40B4-BE49-F238E27FC236}">
                <a16:creationId xmlns:a16="http://schemas.microsoft.com/office/drawing/2014/main" id="{5BCAAF6E-2282-45CD-F948-30721A56CFED}"/>
              </a:ext>
            </a:extLst>
          </p:cNvPr>
          <p:cNvSpPr/>
          <p:nvPr/>
        </p:nvSpPr>
        <p:spPr>
          <a:xfrm>
            <a:off x="8992756" y="4852416"/>
            <a:ext cx="47612" cy="3609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Arrow: Up 43">
            <a:extLst>
              <a:ext uri="{FF2B5EF4-FFF2-40B4-BE49-F238E27FC236}">
                <a16:creationId xmlns:a16="http://schemas.microsoft.com/office/drawing/2014/main" id="{2E1C66E3-09FA-F31C-C7C9-FFC205A4AC98}"/>
              </a:ext>
            </a:extLst>
          </p:cNvPr>
          <p:cNvSpPr/>
          <p:nvPr/>
        </p:nvSpPr>
        <p:spPr>
          <a:xfrm>
            <a:off x="8924544" y="4195955"/>
            <a:ext cx="57287" cy="26895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Up 44">
            <a:extLst>
              <a:ext uri="{FF2B5EF4-FFF2-40B4-BE49-F238E27FC236}">
                <a16:creationId xmlns:a16="http://schemas.microsoft.com/office/drawing/2014/main" id="{27D90DC8-24CF-D42A-8F1E-047A9602446F}"/>
              </a:ext>
            </a:extLst>
          </p:cNvPr>
          <p:cNvSpPr/>
          <p:nvPr/>
        </p:nvSpPr>
        <p:spPr>
          <a:xfrm>
            <a:off x="8905575" y="3566028"/>
            <a:ext cx="47612" cy="3609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Arrow: Up 45">
            <a:extLst>
              <a:ext uri="{FF2B5EF4-FFF2-40B4-BE49-F238E27FC236}">
                <a16:creationId xmlns:a16="http://schemas.microsoft.com/office/drawing/2014/main" id="{16EB57A5-C57F-AF34-32C7-7E62374A492C}"/>
              </a:ext>
            </a:extLst>
          </p:cNvPr>
          <p:cNvSpPr/>
          <p:nvPr/>
        </p:nvSpPr>
        <p:spPr>
          <a:xfrm>
            <a:off x="8900738" y="2881262"/>
            <a:ext cx="47612" cy="3609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Arrow: Up 46">
            <a:extLst>
              <a:ext uri="{FF2B5EF4-FFF2-40B4-BE49-F238E27FC236}">
                <a16:creationId xmlns:a16="http://schemas.microsoft.com/office/drawing/2014/main" id="{0211E9A8-00D2-2837-A8AC-B3B80E7E1B94}"/>
              </a:ext>
            </a:extLst>
          </p:cNvPr>
          <p:cNvSpPr/>
          <p:nvPr/>
        </p:nvSpPr>
        <p:spPr>
          <a:xfrm>
            <a:off x="8853126" y="2088333"/>
            <a:ext cx="47612" cy="3609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a:extLst>
              <a:ext uri="{FF2B5EF4-FFF2-40B4-BE49-F238E27FC236}">
                <a16:creationId xmlns:a16="http://schemas.microsoft.com/office/drawing/2014/main" id="{F756BEDB-B1CF-B050-1DAD-550794B36398}"/>
              </a:ext>
            </a:extLst>
          </p:cNvPr>
          <p:cNvPicPr>
            <a:picLocks noChangeAspect="1"/>
          </p:cNvPicPr>
          <p:nvPr/>
        </p:nvPicPr>
        <p:blipFill>
          <a:blip r:embed="rId10"/>
          <a:stretch>
            <a:fillRect/>
          </a:stretch>
        </p:blipFill>
        <p:spPr>
          <a:xfrm>
            <a:off x="8757015" y="443208"/>
            <a:ext cx="1222138" cy="513946"/>
          </a:xfrm>
          <a:prstGeom prst="rect">
            <a:avLst/>
          </a:prstGeom>
        </p:spPr>
      </p:pic>
      <p:sp>
        <p:nvSpPr>
          <p:cNvPr id="50" name="Arrow: Curved Down 49">
            <a:extLst>
              <a:ext uri="{FF2B5EF4-FFF2-40B4-BE49-F238E27FC236}">
                <a16:creationId xmlns:a16="http://schemas.microsoft.com/office/drawing/2014/main" id="{60C30636-CA0A-FF27-BF43-AC5F9F7C751B}"/>
              </a:ext>
            </a:extLst>
          </p:cNvPr>
          <p:cNvSpPr/>
          <p:nvPr/>
        </p:nvSpPr>
        <p:spPr>
          <a:xfrm rot="17496960">
            <a:off x="8426087" y="1225932"/>
            <a:ext cx="1009104" cy="175443"/>
          </a:xfrm>
          <a:prstGeom prst="curvedDownArrow">
            <a:avLst>
              <a:gd name="adj1" fmla="val 0"/>
              <a:gd name="adj2" fmla="val 59870"/>
              <a:gd name="adj3" fmla="val 2906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Rectangle: Rounded Corners 50">
            <a:extLst>
              <a:ext uri="{FF2B5EF4-FFF2-40B4-BE49-F238E27FC236}">
                <a16:creationId xmlns:a16="http://schemas.microsoft.com/office/drawing/2014/main" id="{EF14DB24-99DB-E364-74BF-1AE5474E16EE}"/>
              </a:ext>
            </a:extLst>
          </p:cNvPr>
          <p:cNvSpPr/>
          <p:nvPr/>
        </p:nvSpPr>
        <p:spPr>
          <a:xfrm>
            <a:off x="7927758" y="244555"/>
            <a:ext cx="3919183" cy="6176575"/>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0962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3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9"/>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4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1"/>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36"/>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3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4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6"/>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3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3"/>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44"/>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5"/>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30"/>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46"/>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7"/>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50"/>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49"/>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50" grpId="0" animBg="1"/>
      <p:bldP spid="5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D49DA0-AF0C-492A-EF41-5D23FF2C8AEF}"/>
              </a:ext>
            </a:extLst>
          </p:cNvPr>
          <p:cNvSpPr>
            <a:spLocks noGrp="1"/>
          </p:cNvSpPr>
          <p:nvPr>
            <p:ph idx="1"/>
          </p:nvPr>
        </p:nvSpPr>
        <p:spPr>
          <a:xfrm>
            <a:off x="884807" y="1409700"/>
            <a:ext cx="10422385" cy="4038600"/>
          </a:xfrm>
        </p:spPr>
        <p:txBody>
          <a:bodyPr/>
          <a:lstStyle/>
          <a:p>
            <a:pPr marL="342900" indent="-342900" algn="just">
              <a:buFont typeface="Arial" panose="020B0604020202020204" pitchFamily="34" charset="0"/>
              <a:buChar char="•"/>
            </a:pPr>
            <a:r>
              <a:rPr lang="en-US" sz="3200" dirty="0"/>
              <a:t>The </a:t>
            </a:r>
            <a:r>
              <a:rPr lang="en-US" sz="3200" b="1" dirty="0"/>
              <a:t>modern Internet </a:t>
            </a:r>
            <a:r>
              <a:rPr lang="en-US" sz="3200" dirty="0"/>
              <a:t>is not based on OSI, but on the </a:t>
            </a:r>
            <a:r>
              <a:rPr lang="en-US" sz="3200" b="1" dirty="0"/>
              <a:t>simpler TCP/IP model</a:t>
            </a:r>
            <a:r>
              <a:rPr lang="en-US" sz="3200" dirty="0"/>
              <a:t>. </a:t>
            </a:r>
          </a:p>
          <a:p>
            <a:pPr marL="342900" indent="-342900" algn="just">
              <a:buFont typeface="Arial" panose="020B0604020202020204" pitchFamily="34" charset="0"/>
              <a:buChar char="•"/>
            </a:pPr>
            <a:r>
              <a:rPr lang="en-US" sz="3200" dirty="0"/>
              <a:t>However, the </a:t>
            </a:r>
            <a:r>
              <a:rPr lang="en-US" sz="3200" b="1" dirty="0"/>
              <a:t>OSI 7-layer model </a:t>
            </a:r>
            <a:r>
              <a:rPr lang="en-US" sz="3200" dirty="0"/>
              <a:t>is still widely used, as it </a:t>
            </a:r>
            <a:r>
              <a:rPr lang="en-US" sz="3200" b="1" dirty="0"/>
              <a:t>helps visualize</a:t>
            </a:r>
            <a:r>
              <a:rPr lang="en-US" sz="3200" dirty="0"/>
              <a:t> and communicate how networks operate and helps isolate and troubleshoot networking problems.</a:t>
            </a:r>
          </a:p>
          <a:p>
            <a:endParaRPr lang="en-US" dirty="0"/>
          </a:p>
        </p:txBody>
      </p:sp>
    </p:spTree>
    <p:extLst>
      <p:ext uri="{BB962C8B-B14F-4D97-AF65-F5344CB8AC3E}">
        <p14:creationId xmlns:p14="http://schemas.microsoft.com/office/powerpoint/2010/main" val="2955386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83A38BE-F6B4-2CBB-8CBD-3762E153FF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47119" y="640295"/>
            <a:ext cx="6910064" cy="5577409"/>
          </a:xfrm>
        </p:spPr>
      </p:pic>
    </p:spTree>
    <p:extLst>
      <p:ext uri="{BB962C8B-B14F-4D97-AF65-F5344CB8AC3E}">
        <p14:creationId xmlns:p14="http://schemas.microsoft.com/office/powerpoint/2010/main" val="588625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C527B56-E3AC-059E-749B-34846AD1D003}"/>
              </a:ext>
            </a:extLst>
          </p:cNvPr>
          <p:cNvGraphicFramePr>
            <a:graphicFrameLocks noGrp="1"/>
          </p:cNvGraphicFramePr>
          <p:nvPr>
            <p:ph idx="1"/>
            <p:extLst>
              <p:ext uri="{D42A27DB-BD31-4B8C-83A1-F6EECF244321}">
                <p14:modId xmlns:p14="http://schemas.microsoft.com/office/powerpoint/2010/main" val="2901804242"/>
              </p:ext>
            </p:extLst>
          </p:nvPr>
        </p:nvGraphicFramePr>
        <p:xfrm>
          <a:off x="956054" y="308499"/>
          <a:ext cx="10620428" cy="5793500"/>
        </p:xfrm>
        <a:graphic>
          <a:graphicData uri="http://schemas.openxmlformats.org/drawingml/2006/table">
            <a:tbl>
              <a:tblPr/>
              <a:tblGrid>
                <a:gridCol w="5310214">
                  <a:extLst>
                    <a:ext uri="{9D8B030D-6E8A-4147-A177-3AD203B41FA5}">
                      <a16:colId xmlns:a16="http://schemas.microsoft.com/office/drawing/2014/main" val="691835984"/>
                    </a:ext>
                  </a:extLst>
                </a:gridCol>
                <a:gridCol w="5310214">
                  <a:extLst>
                    <a:ext uri="{9D8B030D-6E8A-4147-A177-3AD203B41FA5}">
                      <a16:colId xmlns:a16="http://schemas.microsoft.com/office/drawing/2014/main" val="27659022"/>
                    </a:ext>
                  </a:extLst>
                </a:gridCol>
              </a:tblGrid>
              <a:tr h="244764">
                <a:tc>
                  <a:txBody>
                    <a:bodyPr/>
                    <a:lstStyle/>
                    <a:p>
                      <a:pPr algn="ctr"/>
                      <a:r>
                        <a:rPr lang="en-US" sz="2000" b="1"/>
                        <a:t>OSI Model</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TCP/IP Model</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562595"/>
                  </a:ext>
                </a:extLst>
              </a:tr>
              <a:tr h="428336">
                <a:tc>
                  <a:txBody>
                    <a:bodyPr/>
                    <a:lstStyle/>
                    <a:p>
                      <a:r>
                        <a:rPr lang="en-US" sz="2000"/>
                        <a:t>It is developed by ISO (International Standard Organization)</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t>It is developed by ARPANET (Advanced Research Project Agency Network).</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5242928"/>
                  </a:ext>
                </a:extLst>
              </a:tr>
              <a:tr h="428336">
                <a:tc>
                  <a:txBody>
                    <a:bodyPr/>
                    <a:lstStyle/>
                    <a:p>
                      <a:r>
                        <a:rPr lang="en-US" sz="2000" dirty="0"/>
                        <a:t>OSI model provides a clear distinction between interfaces, services, and protocols.</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t>TCP/IP doesn’t have any clear distinguishing points between services, interfaces, and protocols.</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7642483"/>
                  </a:ext>
                </a:extLst>
              </a:tr>
              <a:tr h="244764">
                <a:tc>
                  <a:txBody>
                    <a:bodyPr/>
                    <a:lstStyle/>
                    <a:p>
                      <a:r>
                        <a:rPr lang="en-US" sz="2000"/>
                        <a:t>OSI refers to Open Systems Interconnection.</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TCP refers to Transmission Control Protocol.</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6649357"/>
                  </a:ext>
                </a:extLst>
              </a:tr>
              <a:tr h="428336">
                <a:tc>
                  <a:txBody>
                    <a:bodyPr/>
                    <a:lstStyle/>
                    <a:p>
                      <a:r>
                        <a:rPr lang="en-US" sz="2000" dirty="0"/>
                        <a:t>OSI uses the network layer to define routing standards and protocols.</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TCP/IP uses only the Internet layer.</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8193232"/>
                  </a:ext>
                </a:extLst>
              </a:tr>
              <a:tr h="244764">
                <a:tc>
                  <a:txBody>
                    <a:bodyPr/>
                    <a:lstStyle/>
                    <a:p>
                      <a:r>
                        <a:rPr lang="en-US" sz="2000" b="1"/>
                        <a:t>OSI layers have seven layers.</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t>TCP/IP has four layers.</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504544"/>
                  </a:ext>
                </a:extLst>
              </a:tr>
              <a:tr h="428336">
                <a:tc>
                  <a:txBody>
                    <a:bodyPr/>
                    <a:lstStyle/>
                    <a:p>
                      <a:r>
                        <a:rPr lang="en-US" sz="2000" dirty="0"/>
                        <a:t>In the OSI model, the transport layer is only connection-oriented.</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t>A layer of the TCP/IP model is both connection-oriented and connectionless.</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6918570"/>
                  </a:ext>
                </a:extLst>
              </a:tr>
              <a:tr h="428336">
                <a:tc>
                  <a:txBody>
                    <a:bodyPr/>
                    <a:lstStyle/>
                    <a:p>
                      <a:r>
                        <a:rPr lang="en-US" sz="2000" dirty="0"/>
                        <a:t>In the OSI model, the data link layer and physical are separate layers.</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In TCP, physical and data link are both combined as a single host-to-network layer.</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1636040"/>
                  </a:ext>
                </a:extLst>
              </a:tr>
              <a:tr h="428336">
                <a:tc>
                  <a:txBody>
                    <a:bodyPr/>
                    <a:lstStyle/>
                    <a:p>
                      <a:r>
                        <a:rPr lang="en-US" sz="2000" dirty="0"/>
                        <a:t>Session and presentation layers are a part of the OSI model.</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There is no session and presentation layer in the TCP model.</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6113109"/>
                  </a:ext>
                </a:extLst>
              </a:tr>
              <a:tr h="244764">
                <a:tc>
                  <a:txBody>
                    <a:bodyPr/>
                    <a:lstStyle/>
                    <a:p>
                      <a:r>
                        <a:rPr lang="en-US" sz="2000" dirty="0"/>
                        <a:t>It is defined after the advent of the Internet.</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t>It is defined before the advent of the internet.</a:t>
                      </a:r>
                    </a:p>
                  </a:txBody>
                  <a:tcPr marL="61191" marR="61191" marT="30595" marB="305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2486263"/>
                  </a:ext>
                </a:extLst>
              </a:tr>
            </a:tbl>
          </a:graphicData>
        </a:graphic>
      </p:graphicFrame>
    </p:spTree>
    <p:extLst>
      <p:ext uri="{BB962C8B-B14F-4D97-AF65-F5344CB8AC3E}">
        <p14:creationId xmlns:p14="http://schemas.microsoft.com/office/powerpoint/2010/main" val="3679776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D49DA0-AF0C-492A-EF41-5D23FF2C8AEF}"/>
              </a:ext>
            </a:extLst>
          </p:cNvPr>
          <p:cNvSpPr>
            <a:spLocks noGrp="1"/>
          </p:cNvSpPr>
          <p:nvPr>
            <p:ph idx="1"/>
          </p:nvPr>
        </p:nvSpPr>
        <p:spPr>
          <a:xfrm>
            <a:off x="884807" y="887185"/>
            <a:ext cx="10422385" cy="4038600"/>
          </a:xfrm>
        </p:spPr>
        <p:txBody>
          <a:bodyPr/>
          <a:lstStyle/>
          <a:p>
            <a:pPr marL="342900" indent="-342900" algn="just">
              <a:buFont typeface="Arial" panose="020B0604020202020204" pitchFamily="34" charset="0"/>
              <a:buChar char="•"/>
            </a:pPr>
            <a:r>
              <a:rPr lang="en-US" sz="3200" b="1" dirty="0"/>
              <a:t>TCP/IP model</a:t>
            </a:r>
            <a:r>
              <a:rPr lang="en-US" sz="3200" dirty="0"/>
              <a:t>. </a:t>
            </a:r>
          </a:p>
          <a:p>
            <a:endParaRPr lang="en-US" dirty="0"/>
          </a:p>
        </p:txBody>
      </p:sp>
      <p:graphicFrame>
        <p:nvGraphicFramePr>
          <p:cNvPr id="4" name="Table 4">
            <a:extLst>
              <a:ext uri="{FF2B5EF4-FFF2-40B4-BE49-F238E27FC236}">
                <a16:creationId xmlns:a16="http://schemas.microsoft.com/office/drawing/2014/main" id="{B4A7AB0D-A774-911E-8FAA-90D61646285C}"/>
              </a:ext>
            </a:extLst>
          </p:cNvPr>
          <p:cNvGraphicFramePr>
            <a:graphicFrameLocks noGrp="1"/>
          </p:cNvGraphicFramePr>
          <p:nvPr>
            <p:extLst>
              <p:ext uri="{D42A27DB-BD31-4B8C-83A1-F6EECF244321}">
                <p14:modId xmlns:p14="http://schemas.microsoft.com/office/powerpoint/2010/main" val="2595651626"/>
              </p:ext>
            </p:extLst>
          </p:nvPr>
        </p:nvGraphicFramePr>
        <p:xfrm>
          <a:off x="1308912" y="2061424"/>
          <a:ext cx="9713168" cy="2735151"/>
        </p:xfrm>
        <a:graphic>
          <a:graphicData uri="http://schemas.openxmlformats.org/drawingml/2006/table">
            <a:tbl>
              <a:tblPr firstRow="1" bandRow="1">
                <a:tableStyleId>{5940675A-B579-460E-94D1-54222C63F5DA}</a:tableStyleId>
              </a:tblPr>
              <a:tblGrid>
                <a:gridCol w="2287898">
                  <a:extLst>
                    <a:ext uri="{9D8B030D-6E8A-4147-A177-3AD203B41FA5}">
                      <a16:colId xmlns:a16="http://schemas.microsoft.com/office/drawing/2014/main" val="82455260"/>
                    </a:ext>
                  </a:extLst>
                </a:gridCol>
                <a:gridCol w="3217163">
                  <a:extLst>
                    <a:ext uri="{9D8B030D-6E8A-4147-A177-3AD203B41FA5}">
                      <a16:colId xmlns:a16="http://schemas.microsoft.com/office/drawing/2014/main" val="1110680734"/>
                    </a:ext>
                  </a:extLst>
                </a:gridCol>
                <a:gridCol w="4208107">
                  <a:extLst>
                    <a:ext uri="{9D8B030D-6E8A-4147-A177-3AD203B41FA5}">
                      <a16:colId xmlns:a16="http://schemas.microsoft.com/office/drawing/2014/main" val="3327487743"/>
                    </a:ext>
                  </a:extLst>
                </a:gridCol>
              </a:tblGrid>
              <a:tr h="582903">
                <a:tc>
                  <a:txBody>
                    <a:bodyPr/>
                    <a:lstStyle/>
                    <a:p>
                      <a:pPr algn="ctr"/>
                      <a:r>
                        <a:rPr lang="en-US" sz="2400" dirty="0"/>
                        <a:t>Application</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HTTP   FTP   DNS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t>Application message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5393435"/>
                  </a:ext>
                </a:extLst>
              </a:tr>
              <a:tr h="555432">
                <a:tc>
                  <a:txBody>
                    <a:bodyPr/>
                    <a:lstStyle/>
                    <a:p>
                      <a:pPr algn="ctr"/>
                      <a:r>
                        <a:rPr lang="en-US" sz="2400" dirty="0"/>
                        <a:t>Transport</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TCP   UDP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t>TCP Segment/ UDP data frame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30802070"/>
                  </a:ext>
                </a:extLst>
              </a:tr>
              <a:tr h="528077">
                <a:tc>
                  <a:txBody>
                    <a:bodyPr/>
                    <a:lstStyle/>
                    <a:p>
                      <a:pPr algn="ctr"/>
                      <a:r>
                        <a:rPr lang="en-US" sz="2400" dirty="0"/>
                        <a:t>Network</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IP   ICM   ARP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t>IP Packets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18607561"/>
                  </a:ext>
                </a:extLst>
              </a:tr>
              <a:tr h="584633">
                <a:tc>
                  <a:txBody>
                    <a:bodyPr/>
                    <a:lstStyle/>
                    <a:p>
                      <a:pPr algn="ctr"/>
                      <a:r>
                        <a:rPr lang="en-US" sz="2400" dirty="0"/>
                        <a:t>Data Link</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Ethernet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t>Ethernet Frame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7226493"/>
                  </a:ext>
                </a:extLst>
              </a:tr>
              <a:tr h="484106">
                <a:tc>
                  <a:txBody>
                    <a:bodyPr/>
                    <a:lstStyle/>
                    <a:p>
                      <a:pPr algn="ctr"/>
                      <a:r>
                        <a:rPr lang="en-US" sz="2400" dirty="0"/>
                        <a:t>Physical</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2400" dirty="0"/>
                        <a:t>Ethernet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44201627"/>
                  </a:ext>
                </a:extLst>
              </a:tr>
            </a:tbl>
          </a:graphicData>
        </a:graphic>
      </p:graphicFrame>
    </p:spTree>
    <p:extLst>
      <p:ext uri="{BB962C8B-B14F-4D97-AF65-F5344CB8AC3E}">
        <p14:creationId xmlns:p14="http://schemas.microsoft.com/office/powerpoint/2010/main" val="2556945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TM03457444[[fn=Basis]]</Template>
  <TotalTime>607</TotalTime>
  <Words>1612</Words>
  <Application>Microsoft Office PowerPoint</Application>
  <PresentationFormat>Widescreen</PresentationFormat>
  <Paragraphs>352</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Arabic Typesetting</vt:lpstr>
      <vt:lpstr>Arial</vt:lpstr>
      <vt:lpstr>Calibri</vt:lpstr>
      <vt:lpstr>Corbel</vt:lpstr>
      <vt:lpstr>Basis</vt:lpstr>
      <vt:lpstr>OSI Model Layers</vt:lpstr>
      <vt:lpstr>OSI Model Introduction</vt:lpstr>
      <vt:lpstr>OSI Model Layers</vt:lpstr>
      <vt:lpstr>OSI Model Layers</vt:lpstr>
      <vt:lpstr>OSI Model Layers</vt:lpstr>
      <vt:lpstr>OSI Model Layers</vt:lpstr>
      <vt:lpstr>OSI Model Layers</vt:lpstr>
      <vt:lpstr>OSI Model Layers</vt:lpstr>
      <vt:lpstr>OSI Model Layers</vt:lpstr>
      <vt:lpstr>PowerPoint Presentation</vt:lpstr>
      <vt:lpstr>OSI Model Layers</vt:lpstr>
      <vt:lpstr>OSI Model Layers</vt:lpstr>
      <vt:lpstr>PowerPoint Presentation</vt:lpstr>
      <vt:lpstr>OSI Model Layers</vt:lpstr>
      <vt:lpstr>OSI Model Layers</vt:lpstr>
      <vt:lpstr>OSI Model Layers</vt:lpstr>
      <vt:lpstr>OSI Model Layers</vt:lpstr>
      <vt:lpstr>OSI Model Layers</vt:lpstr>
      <vt:lpstr>OSI Model Layers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OSI Model Layers</dc:title>
  <dc:creator>Tasmia Jannat</dc:creator>
  <cp:lastModifiedBy>ASUS</cp:lastModifiedBy>
  <cp:revision>38</cp:revision>
  <dcterms:created xsi:type="dcterms:W3CDTF">2022-09-23T06:51:07Z</dcterms:created>
  <dcterms:modified xsi:type="dcterms:W3CDTF">2023-09-23T08:44:04Z</dcterms:modified>
</cp:coreProperties>
</file>