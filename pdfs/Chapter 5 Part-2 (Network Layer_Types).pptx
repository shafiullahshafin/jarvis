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9" r:id="rId1"/>
  </p:sldMasterIdLst>
  <p:notesMasterIdLst>
    <p:notesMasterId r:id="rId35"/>
  </p:notesMasterIdLst>
  <p:sldIdLst>
    <p:sldId id="256" r:id="rId2"/>
    <p:sldId id="405" r:id="rId3"/>
    <p:sldId id="406" r:id="rId4"/>
    <p:sldId id="407" r:id="rId5"/>
    <p:sldId id="362" r:id="rId6"/>
    <p:sldId id="408" r:id="rId7"/>
    <p:sldId id="409" r:id="rId8"/>
    <p:sldId id="411" r:id="rId9"/>
    <p:sldId id="386" r:id="rId10"/>
    <p:sldId id="432" r:id="rId11"/>
    <p:sldId id="430" r:id="rId12"/>
    <p:sldId id="412" r:id="rId13"/>
    <p:sldId id="434" r:id="rId14"/>
    <p:sldId id="433" r:id="rId15"/>
    <p:sldId id="437" r:id="rId16"/>
    <p:sldId id="438" r:id="rId17"/>
    <p:sldId id="363" r:id="rId18"/>
    <p:sldId id="436" r:id="rId19"/>
    <p:sldId id="435" r:id="rId20"/>
    <p:sldId id="413" r:id="rId21"/>
    <p:sldId id="415" r:id="rId22"/>
    <p:sldId id="414" r:id="rId23"/>
    <p:sldId id="416" r:id="rId24"/>
    <p:sldId id="417" r:id="rId25"/>
    <p:sldId id="419" r:id="rId26"/>
    <p:sldId id="420" r:id="rId27"/>
    <p:sldId id="421" r:id="rId28"/>
    <p:sldId id="422" r:id="rId29"/>
    <p:sldId id="423" r:id="rId30"/>
    <p:sldId id="424" r:id="rId31"/>
    <p:sldId id="425" r:id="rId32"/>
    <p:sldId id="426" r:id="rId33"/>
    <p:sldId id="429" r:id="rId3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snapToGrid="0">
      <p:cViewPr varScale="1">
        <p:scale>
          <a:sx n="121" d="100"/>
          <a:sy n="121" d="100"/>
        </p:scale>
        <p:origin x="1384" y="16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5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5AC9D1-3D76-E955-AA2B-B513C98278C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42892CFF-EE82-E6FD-4890-D8C121CD5C16}"/>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6EC5E09B-46A7-C045-9876-746AFC6BCE34}" type="datetimeFigureOut">
              <a:rPr lang="en-US"/>
              <a:pPr>
                <a:defRPr/>
              </a:pPr>
              <a:t>12/9/25</a:t>
            </a:fld>
            <a:endParaRPr lang="en-US"/>
          </a:p>
        </p:txBody>
      </p:sp>
      <p:sp>
        <p:nvSpPr>
          <p:cNvPr id="4" name="Slide Image Placeholder 3">
            <a:extLst>
              <a:ext uri="{FF2B5EF4-FFF2-40B4-BE49-F238E27FC236}">
                <a16:creationId xmlns:a16="http://schemas.microsoft.com/office/drawing/2014/main" id="{C7FCBFB8-DAC5-8FA3-61B8-091F6B7132F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25A8332C-F29D-23BE-7DEB-B54A743377DE}"/>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32D2DAE-6BC6-DBF7-A6E7-BDC980090D56}"/>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59511C1E-727A-F84F-18E2-63B134CA58BF}"/>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50247E-589B-AD44-B3C4-FFC1AE9249F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F7D66AA8-CA94-47C4-55EB-38BFB4ED468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F2A2224E-890D-9CF0-ADC0-A0B63061F94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0483" name="Slide Number Placeholder 3">
            <a:extLst>
              <a:ext uri="{FF2B5EF4-FFF2-40B4-BE49-F238E27FC236}">
                <a16:creationId xmlns:a16="http://schemas.microsoft.com/office/drawing/2014/main" id="{C9E5B949-8CB6-65FA-B4F7-4EF5D30223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835967-7F51-504F-A4A0-3A5035695962}" type="slidenum">
              <a:rPr lang="en-US" altLang="en-US" smtClean="0"/>
              <a:pPr/>
              <a:t>6</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E99BA9CB-2C76-E90F-04F6-BA87B30C6F9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Notes Placeholder 2">
            <a:extLst>
              <a:ext uri="{FF2B5EF4-FFF2-40B4-BE49-F238E27FC236}">
                <a16:creationId xmlns:a16="http://schemas.microsoft.com/office/drawing/2014/main" id="{5EA5B912-3350-A515-4A55-E655C4A8E96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Times New Roman" panose="02020603050405020304" pitchFamily="18" charset="0"/>
                <a:cs typeface="Times New Roman" panose="02020603050405020304" pitchFamily="18" charset="0"/>
              </a:rPr>
              <a:t>Good news: Distance of a path is known</a:t>
            </a:r>
          </a:p>
          <a:p>
            <a:r>
              <a:rPr lang="en-US" altLang="en-US">
                <a:latin typeface="Times New Roman" panose="02020603050405020304" pitchFamily="18" charset="0"/>
                <a:cs typeface="Times New Roman" panose="02020603050405020304" pitchFamily="18" charset="0"/>
              </a:rPr>
              <a:t>Bad news: Distance of a path is unknown</a:t>
            </a:r>
            <a:endParaRPr lang="en-US" altLang="en-US"/>
          </a:p>
        </p:txBody>
      </p:sp>
      <p:sp>
        <p:nvSpPr>
          <p:cNvPr id="32771" name="Slide Number Placeholder 3">
            <a:extLst>
              <a:ext uri="{FF2B5EF4-FFF2-40B4-BE49-F238E27FC236}">
                <a16:creationId xmlns:a16="http://schemas.microsoft.com/office/drawing/2014/main" id="{CC4881EF-3A4A-E21B-E9EC-B6264EE148A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66971DE-9A52-B145-A954-8BECD0BC973F}" type="slidenum">
              <a:rPr lang="en-US" altLang="en-US" smtClean="0"/>
              <a:pPr/>
              <a:t>17</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7B857B8A-6FD8-744C-7D62-CABA86EA0B8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Notes Placeholder 2">
            <a:extLst>
              <a:ext uri="{FF2B5EF4-FFF2-40B4-BE49-F238E27FC236}">
                <a16:creationId xmlns:a16="http://schemas.microsoft.com/office/drawing/2014/main" id="{450956B8-CDF9-F612-3B78-7E01BBE3B77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Times New Roman" panose="02020603050405020304" pitchFamily="18" charset="0"/>
                <a:cs typeface="Times New Roman" panose="02020603050405020304" pitchFamily="18" charset="0"/>
              </a:rPr>
              <a:t>Good news: Distance of a path is known</a:t>
            </a:r>
          </a:p>
          <a:p>
            <a:r>
              <a:rPr lang="en-US" altLang="en-US">
                <a:latin typeface="Times New Roman" panose="02020603050405020304" pitchFamily="18" charset="0"/>
                <a:cs typeface="Times New Roman" panose="02020603050405020304" pitchFamily="18" charset="0"/>
              </a:rPr>
              <a:t>Bad news: Distance of a path is unknown</a:t>
            </a:r>
            <a:endParaRPr lang="en-US" altLang="en-US"/>
          </a:p>
        </p:txBody>
      </p:sp>
      <p:sp>
        <p:nvSpPr>
          <p:cNvPr id="34819" name="Slide Number Placeholder 3">
            <a:extLst>
              <a:ext uri="{FF2B5EF4-FFF2-40B4-BE49-F238E27FC236}">
                <a16:creationId xmlns:a16="http://schemas.microsoft.com/office/drawing/2014/main" id="{BD6E85B1-A49E-4944-F533-4A1A31BCC4A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34656F-FCDF-624B-8D45-6B408DE73E75}" type="slidenum">
              <a:rPr lang="en-US" altLang="en-US" smtClean="0"/>
              <a:pPr/>
              <a:t>18</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AA8E40BF-ADE6-0EF6-FFA9-6FC3B1D83E8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a:extLst>
              <a:ext uri="{FF2B5EF4-FFF2-40B4-BE49-F238E27FC236}">
                <a16:creationId xmlns:a16="http://schemas.microsoft.com/office/drawing/2014/main" id="{71FB7EFC-12C4-F05E-0247-0028206F946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6867" name="Slide Number Placeholder 3">
            <a:extLst>
              <a:ext uri="{FF2B5EF4-FFF2-40B4-BE49-F238E27FC236}">
                <a16:creationId xmlns:a16="http://schemas.microsoft.com/office/drawing/2014/main" id="{7A379CE9-8D1B-2162-2225-2E8E3EC215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7778A12-B7DB-4C43-88D9-2B3F8265F234}" type="slidenum">
              <a:rPr lang="en-US" altLang="en-US" smtClean="0"/>
              <a:pPr/>
              <a:t>19</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F8D142FF-8C67-92CC-A015-5CD9CFC270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Notes Placeholder 2">
            <a:extLst>
              <a:ext uri="{FF2B5EF4-FFF2-40B4-BE49-F238E27FC236}">
                <a16:creationId xmlns:a16="http://schemas.microsoft.com/office/drawing/2014/main" id="{C73224B2-C1FF-8120-27EC-30F65A0F75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5059" name="Slide Number Placeholder 3">
            <a:extLst>
              <a:ext uri="{FF2B5EF4-FFF2-40B4-BE49-F238E27FC236}">
                <a16:creationId xmlns:a16="http://schemas.microsoft.com/office/drawing/2014/main" id="{8488BAB0-B863-6F35-51E0-7CCAD6CEE0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F11DB2-DAF5-AA4F-A999-B8FD2A82E977}" type="slidenum">
              <a:rPr lang="en-US" altLang="en-US" smtClean="0">
                <a:latin typeface="Arial" panose="020B0604020202020204" pitchFamily="34" charset="0"/>
              </a:rPr>
              <a:pPr>
                <a:spcBef>
                  <a:spcPct val="0"/>
                </a:spcBef>
              </a:pPr>
              <a:t>26</a:t>
            </a:fld>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9C15B761-9574-FCD6-40CC-0254E5FFCF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a:extLst>
              <a:ext uri="{FF2B5EF4-FFF2-40B4-BE49-F238E27FC236}">
                <a16:creationId xmlns:a16="http://schemas.microsoft.com/office/drawing/2014/main" id="{83080803-C7D8-5184-1EAA-37129A9511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7107" name="Slide Number Placeholder 3">
            <a:extLst>
              <a:ext uri="{FF2B5EF4-FFF2-40B4-BE49-F238E27FC236}">
                <a16:creationId xmlns:a16="http://schemas.microsoft.com/office/drawing/2014/main" id="{5EFC5F7B-EC54-1642-764A-64425ECA29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FE91247-6D5F-9B41-A786-C21F6249191B}" type="slidenum">
              <a:rPr lang="en-US" altLang="en-US" smtClean="0">
                <a:latin typeface="Arial" panose="020B0604020202020204" pitchFamily="34" charset="0"/>
              </a:rPr>
              <a:pPr>
                <a:spcBef>
                  <a:spcPct val="0"/>
                </a:spcBef>
              </a:pPr>
              <a:t>27</a:t>
            </a:fld>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3F4A7F5D-E69D-44CE-51BE-BC7E2612AD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Notes Placeholder 2">
            <a:extLst>
              <a:ext uri="{FF2B5EF4-FFF2-40B4-BE49-F238E27FC236}">
                <a16:creationId xmlns:a16="http://schemas.microsoft.com/office/drawing/2014/main" id="{25912E26-9AAD-936F-3418-F6F92C62CC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9155" name="Slide Number Placeholder 3">
            <a:extLst>
              <a:ext uri="{FF2B5EF4-FFF2-40B4-BE49-F238E27FC236}">
                <a16:creationId xmlns:a16="http://schemas.microsoft.com/office/drawing/2014/main" id="{3A6EF60A-276C-852E-16FB-347DDDAE97C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6D7BC25-F36A-1546-957B-4A62E8C94A3D}" type="slidenum">
              <a:rPr lang="en-US" altLang="en-US" smtClean="0">
                <a:latin typeface="Arial" panose="020B0604020202020204" pitchFamily="34" charset="0"/>
              </a:rPr>
              <a:pPr>
                <a:spcBef>
                  <a:spcPct val="0"/>
                </a:spcBef>
              </a:pPr>
              <a:t>28</a:t>
            </a:fld>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4F2C5C32-F3AE-0007-C31F-503FB45797A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31FDAD0B-4DE9-E1BF-38FB-29196234B9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03" name="Slide Number Placeholder 3">
            <a:extLst>
              <a:ext uri="{FF2B5EF4-FFF2-40B4-BE49-F238E27FC236}">
                <a16:creationId xmlns:a16="http://schemas.microsoft.com/office/drawing/2014/main" id="{C8D2ED39-CBEE-9676-6D65-EEA1FEEF95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4C62AEA-9B28-FF4C-BB29-A3484628289B}" type="slidenum">
              <a:rPr lang="en-US" altLang="en-US" smtClean="0">
                <a:latin typeface="Arial" panose="020B0604020202020204" pitchFamily="34" charset="0"/>
              </a:rPr>
              <a:pPr>
                <a:spcBef>
                  <a:spcPct val="0"/>
                </a:spcBef>
              </a:pPr>
              <a:t>29</a:t>
            </a:fld>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a:extLst>
              <a:ext uri="{FF2B5EF4-FFF2-40B4-BE49-F238E27FC236}">
                <a16:creationId xmlns:a16="http://schemas.microsoft.com/office/drawing/2014/main" id="{D001724F-4609-3208-E758-832D01DEA8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Notes Placeholder 2">
            <a:extLst>
              <a:ext uri="{FF2B5EF4-FFF2-40B4-BE49-F238E27FC236}">
                <a16:creationId xmlns:a16="http://schemas.microsoft.com/office/drawing/2014/main" id="{582AC998-536B-E96D-9022-3881C7A57C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3251" name="Slide Number Placeholder 3">
            <a:extLst>
              <a:ext uri="{FF2B5EF4-FFF2-40B4-BE49-F238E27FC236}">
                <a16:creationId xmlns:a16="http://schemas.microsoft.com/office/drawing/2014/main" id="{9639D9F4-570D-16C8-8437-F0BCB9B9147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1739ABD-33B5-CC48-9CA7-1D0E85651557}" type="slidenum">
              <a:rPr lang="en-US" altLang="en-US" smtClean="0">
                <a:latin typeface="Arial" panose="020B0604020202020204" pitchFamily="34" charset="0"/>
              </a:rPr>
              <a:pPr>
                <a:spcBef>
                  <a:spcPct val="0"/>
                </a:spcBef>
              </a:pPr>
              <a:t>30</a:t>
            </a:fld>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3B59D911-CCB5-AFFD-4383-C2E41FDB382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Notes Placeholder 2">
            <a:extLst>
              <a:ext uri="{FF2B5EF4-FFF2-40B4-BE49-F238E27FC236}">
                <a16:creationId xmlns:a16="http://schemas.microsoft.com/office/drawing/2014/main" id="{A47D4A5C-6030-DA3E-E9E5-6CF76D6A3B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5299" name="Slide Number Placeholder 3">
            <a:extLst>
              <a:ext uri="{FF2B5EF4-FFF2-40B4-BE49-F238E27FC236}">
                <a16:creationId xmlns:a16="http://schemas.microsoft.com/office/drawing/2014/main" id="{0A36DE1B-89E8-74C2-A14F-7D3B7CDBC12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244136F-DADA-334A-8EE5-D9FB8DBBE352}" type="slidenum">
              <a:rPr lang="en-US" altLang="en-US" smtClean="0">
                <a:latin typeface="Arial" panose="020B0604020202020204" pitchFamily="34" charset="0"/>
              </a:rPr>
              <a:pPr>
                <a:spcBef>
                  <a:spcPct val="0"/>
                </a:spcBef>
              </a:pPr>
              <a:t>31</a:t>
            </a:fld>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7DF2C7BF-EA52-59AF-336F-9E2870B288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Notes Placeholder 2">
            <a:extLst>
              <a:ext uri="{FF2B5EF4-FFF2-40B4-BE49-F238E27FC236}">
                <a16:creationId xmlns:a16="http://schemas.microsoft.com/office/drawing/2014/main" id="{7A1B443A-D458-7F28-A218-D46CE68D04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7347" name="Slide Number Placeholder 3">
            <a:extLst>
              <a:ext uri="{FF2B5EF4-FFF2-40B4-BE49-F238E27FC236}">
                <a16:creationId xmlns:a16="http://schemas.microsoft.com/office/drawing/2014/main" id="{C2119E5B-D7D1-E9B8-C536-F4E52EBE152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F214450-0FA8-6148-B36F-7F5F30BBE4D9}" type="slidenum">
              <a:rPr lang="en-US" altLang="en-US" smtClean="0">
                <a:latin typeface="Arial" panose="020B0604020202020204" pitchFamily="34" charset="0"/>
              </a:rPr>
              <a:pPr>
                <a:spcBef>
                  <a:spcPct val="0"/>
                </a:spcBef>
              </a:pPr>
              <a:t>32</a:t>
            </a:fld>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EADD1812-B0A3-3505-9418-6A7CF3EA14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Notes Placeholder 2">
            <a:extLst>
              <a:ext uri="{FF2B5EF4-FFF2-40B4-BE49-F238E27FC236}">
                <a16:creationId xmlns:a16="http://schemas.microsoft.com/office/drawing/2014/main" id="{D0294F9C-1A25-86D6-E43B-9F601FB73F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9395" name="Slide Number Placeholder 3">
            <a:extLst>
              <a:ext uri="{FF2B5EF4-FFF2-40B4-BE49-F238E27FC236}">
                <a16:creationId xmlns:a16="http://schemas.microsoft.com/office/drawing/2014/main" id="{D08D5014-FE1D-712B-0F1F-5E36C3420E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AA2A75B-18D7-C148-A414-1C07F6639707}" type="slidenum">
              <a:rPr lang="en-US" altLang="en-US" smtClean="0">
                <a:latin typeface="Arial" panose="020B0604020202020204" pitchFamily="34" charset="0"/>
              </a:rPr>
              <a:pPr>
                <a:spcBef>
                  <a:spcPct val="0"/>
                </a:spcBef>
              </a:pPr>
              <a:t>33</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793D1E12-0E37-F3A0-4A58-A600E111AB3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862C879-50AB-0F0E-4F0D-8411DF5EC57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C649C39-AAB9-823C-3C23-CDA54B704F99}"/>
              </a:ext>
            </a:extLst>
          </p:cNvPr>
          <p:cNvSpPr>
            <a:spLocks noGrp="1" noChangeArrowheads="1"/>
          </p:cNvSpPr>
          <p:nvPr>
            <p:ph type="sldNum" sz="quarter" idx="12"/>
          </p:nvPr>
        </p:nvSpPr>
        <p:spPr>
          <a:ln/>
        </p:spPr>
        <p:txBody>
          <a:bodyPr/>
          <a:lstStyle>
            <a:lvl1pPr>
              <a:defRPr/>
            </a:lvl1pPr>
          </a:lstStyle>
          <a:p>
            <a:pPr>
              <a:defRPr/>
            </a:pPr>
            <a:fld id="{9C55CEE1-48F4-1549-9C09-8A1F4D08AA31}" type="slidenum">
              <a:rPr lang="en-US" altLang="en-US"/>
              <a:pPr>
                <a:defRPr/>
              </a:pPr>
              <a:t>‹#›</a:t>
            </a:fld>
            <a:endParaRPr lang="en-US" altLang="en-US"/>
          </a:p>
        </p:txBody>
      </p:sp>
    </p:spTree>
    <p:extLst>
      <p:ext uri="{BB962C8B-B14F-4D97-AF65-F5344CB8AC3E}">
        <p14:creationId xmlns:p14="http://schemas.microsoft.com/office/powerpoint/2010/main" val="1756047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7705E23-F62A-8945-1677-B198A9A0547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9293A59-FA96-1491-55EE-C5CA27750C5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724F164-D035-5091-2E2D-1EE31093FD99}"/>
              </a:ext>
            </a:extLst>
          </p:cNvPr>
          <p:cNvSpPr>
            <a:spLocks noGrp="1" noChangeArrowheads="1"/>
          </p:cNvSpPr>
          <p:nvPr>
            <p:ph type="sldNum" sz="quarter" idx="12"/>
          </p:nvPr>
        </p:nvSpPr>
        <p:spPr>
          <a:ln/>
        </p:spPr>
        <p:txBody>
          <a:bodyPr/>
          <a:lstStyle>
            <a:lvl1pPr>
              <a:defRPr/>
            </a:lvl1pPr>
          </a:lstStyle>
          <a:p>
            <a:pPr>
              <a:defRPr/>
            </a:pPr>
            <a:fld id="{8955BFD9-8F3D-594D-ADFC-9E1A8980DDEA}" type="slidenum">
              <a:rPr lang="en-US" altLang="en-US"/>
              <a:pPr>
                <a:defRPr/>
              </a:pPr>
              <a:t>‹#›</a:t>
            </a:fld>
            <a:endParaRPr lang="en-US" altLang="en-US"/>
          </a:p>
        </p:txBody>
      </p:sp>
    </p:spTree>
    <p:extLst>
      <p:ext uri="{BB962C8B-B14F-4D97-AF65-F5344CB8AC3E}">
        <p14:creationId xmlns:p14="http://schemas.microsoft.com/office/powerpoint/2010/main" val="401106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DF14E92-9D37-80CF-272A-95D91F660B8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704978F-4999-6105-A1B2-BDB08107D16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1C3308E-B423-4082-4F3F-8892D4441B66}"/>
              </a:ext>
            </a:extLst>
          </p:cNvPr>
          <p:cNvSpPr>
            <a:spLocks noGrp="1" noChangeArrowheads="1"/>
          </p:cNvSpPr>
          <p:nvPr>
            <p:ph type="sldNum" sz="quarter" idx="12"/>
          </p:nvPr>
        </p:nvSpPr>
        <p:spPr>
          <a:ln/>
        </p:spPr>
        <p:txBody>
          <a:bodyPr/>
          <a:lstStyle>
            <a:lvl1pPr>
              <a:defRPr/>
            </a:lvl1pPr>
          </a:lstStyle>
          <a:p>
            <a:pPr>
              <a:defRPr/>
            </a:pPr>
            <a:fld id="{D7DDAB87-4C8A-FA49-A8B6-D4A23837AED8}" type="slidenum">
              <a:rPr lang="en-US" altLang="en-US"/>
              <a:pPr>
                <a:defRPr/>
              </a:pPr>
              <a:t>‹#›</a:t>
            </a:fld>
            <a:endParaRPr lang="en-US" altLang="en-US"/>
          </a:p>
        </p:txBody>
      </p:sp>
    </p:spTree>
    <p:extLst>
      <p:ext uri="{BB962C8B-B14F-4D97-AF65-F5344CB8AC3E}">
        <p14:creationId xmlns:p14="http://schemas.microsoft.com/office/powerpoint/2010/main" val="387475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91A289A-A041-0531-E68D-4671739A20A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06B8F5F-22B8-3DE4-146D-AE576873102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3934291-9485-6BB9-9254-9B6BF8FC0624}"/>
              </a:ext>
            </a:extLst>
          </p:cNvPr>
          <p:cNvSpPr>
            <a:spLocks noGrp="1" noChangeArrowheads="1"/>
          </p:cNvSpPr>
          <p:nvPr>
            <p:ph type="sldNum" sz="quarter" idx="12"/>
          </p:nvPr>
        </p:nvSpPr>
        <p:spPr>
          <a:ln/>
        </p:spPr>
        <p:txBody>
          <a:bodyPr/>
          <a:lstStyle>
            <a:lvl1pPr>
              <a:defRPr/>
            </a:lvl1pPr>
          </a:lstStyle>
          <a:p>
            <a:pPr>
              <a:defRPr/>
            </a:pPr>
            <a:fld id="{B1AB5F51-6909-484B-9A7D-920E35DFCB5D}" type="slidenum">
              <a:rPr lang="en-US" altLang="en-US"/>
              <a:pPr>
                <a:defRPr/>
              </a:pPr>
              <a:t>‹#›</a:t>
            </a:fld>
            <a:endParaRPr lang="en-US" altLang="en-US"/>
          </a:p>
        </p:txBody>
      </p:sp>
    </p:spTree>
    <p:extLst>
      <p:ext uri="{BB962C8B-B14F-4D97-AF65-F5344CB8AC3E}">
        <p14:creationId xmlns:p14="http://schemas.microsoft.com/office/powerpoint/2010/main" val="4044716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B9C6775-9F57-1352-A370-A02FC7DB584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F7CD3ABB-1693-4A68-872E-2FDB4D5B427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7BD383E-CBC4-72B9-9015-E5566BCC021C}"/>
              </a:ext>
            </a:extLst>
          </p:cNvPr>
          <p:cNvSpPr>
            <a:spLocks noGrp="1" noChangeArrowheads="1"/>
          </p:cNvSpPr>
          <p:nvPr>
            <p:ph type="sldNum" sz="quarter" idx="12"/>
          </p:nvPr>
        </p:nvSpPr>
        <p:spPr>
          <a:ln/>
        </p:spPr>
        <p:txBody>
          <a:bodyPr/>
          <a:lstStyle>
            <a:lvl1pPr>
              <a:defRPr/>
            </a:lvl1pPr>
          </a:lstStyle>
          <a:p>
            <a:pPr>
              <a:defRPr/>
            </a:pPr>
            <a:fld id="{EDFD49D6-F858-8C4C-B6F9-69982E755E15}" type="slidenum">
              <a:rPr lang="en-US" altLang="en-US"/>
              <a:pPr>
                <a:defRPr/>
              </a:pPr>
              <a:t>‹#›</a:t>
            </a:fld>
            <a:endParaRPr lang="en-US" altLang="en-US"/>
          </a:p>
        </p:txBody>
      </p:sp>
    </p:spTree>
    <p:extLst>
      <p:ext uri="{BB962C8B-B14F-4D97-AF65-F5344CB8AC3E}">
        <p14:creationId xmlns:p14="http://schemas.microsoft.com/office/powerpoint/2010/main" val="1235305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398046C-D94F-15F0-3F68-95CEAE71EC0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2B0F324-4746-B9E9-3D5E-2B53864FEC8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E802E73-A465-1D7B-F650-B8843ABD6E49}"/>
              </a:ext>
            </a:extLst>
          </p:cNvPr>
          <p:cNvSpPr>
            <a:spLocks noGrp="1" noChangeArrowheads="1"/>
          </p:cNvSpPr>
          <p:nvPr>
            <p:ph type="sldNum" sz="quarter" idx="12"/>
          </p:nvPr>
        </p:nvSpPr>
        <p:spPr>
          <a:ln/>
        </p:spPr>
        <p:txBody>
          <a:bodyPr/>
          <a:lstStyle>
            <a:lvl1pPr>
              <a:defRPr/>
            </a:lvl1pPr>
          </a:lstStyle>
          <a:p>
            <a:pPr>
              <a:defRPr/>
            </a:pPr>
            <a:fld id="{808827F9-17FD-FA4C-BB74-ADDADD742A6C}" type="slidenum">
              <a:rPr lang="en-US" altLang="en-US"/>
              <a:pPr>
                <a:defRPr/>
              </a:pPr>
              <a:t>‹#›</a:t>
            </a:fld>
            <a:endParaRPr lang="en-US" altLang="en-US"/>
          </a:p>
        </p:txBody>
      </p:sp>
    </p:spTree>
    <p:extLst>
      <p:ext uri="{BB962C8B-B14F-4D97-AF65-F5344CB8AC3E}">
        <p14:creationId xmlns:p14="http://schemas.microsoft.com/office/powerpoint/2010/main" val="1407763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56FC6F1-F7D7-EC48-E6B6-EB3A122021A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B7581C15-BBA7-BB20-FF1D-8060055701C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652BA86-8977-FF42-AA27-E3ACE86B2ED5}"/>
              </a:ext>
            </a:extLst>
          </p:cNvPr>
          <p:cNvSpPr>
            <a:spLocks noGrp="1" noChangeArrowheads="1"/>
          </p:cNvSpPr>
          <p:nvPr>
            <p:ph type="sldNum" sz="quarter" idx="12"/>
          </p:nvPr>
        </p:nvSpPr>
        <p:spPr>
          <a:ln/>
        </p:spPr>
        <p:txBody>
          <a:bodyPr/>
          <a:lstStyle>
            <a:lvl1pPr>
              <a:defRPr/>
            </a:lvl1pPr>
          </a:lstStyle>
          <a:p>
            <a:pPr>
              <a:defRPr/>
            </a:pPr>
            <a:fld id="{8D27F02A-23C2-1B43-893D-86A869803110}" type="slidenum">
              <a:rPr lang="en-US" altLang="en-US"/>
              <a:pPr>
                <a:defRPr/>
              </a:pPr>
              <a:t>‹#›</a:t>
            </a:fld>
            <a:endParaRPr lang="en-US" altLang="en-US"/>
          </a:p>
        </p:txBody>
      </p:sp>
    </p:spTree>
    <p:extLst>
      <p:ext uri="{BB962C8B-B14F-4D97-AF65-F5344CB8AC3E}">
        <p14:creationId xmlns:p14="http://schemas.microsoft.com/office/powerpoint/2010/main" val="2865431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F32178B-3CF7-5377-03AE-E0777E8A0D2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152538F-F7EA-080A-4059-AED0CB353D7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733294C-30E3-BEA4-8DA1-39D58DC5A148}"/>
              </a:ext>
            </a:extLst>
          </p:cNvPr>
          <p:cNvSpPr>
            <a:spLocks noGrp="1" noChangeArrowheads="1"/>
          </p:cNvSpPr>
          <p:nvPr>
            <p:ph type="sldNum" sz="quarter" idx="12"/>
          </p:nvPr>
        </p:nvSpPr>
        <p:spPr>
          <a:ln/>
        </p:spPr>
        <p:txBody>
          <a:bodyPr/>
          <a:lstStyle>
            <a:lvl1pPr>
              <a:defRPr/>
            </a:lvl1pPr>
          </a:lstStyle>
          <a:p>
            <a:pPr>
              <a:defRPr/>
            </a:pPr>
            <a:fld id="{234D971A-385F-744C-962A-177A6C08CB24}" type="slidenum">
              <a:rPr lang="en-US" altLang="en-US"/>
              <a:pPr>
                <a:defRPr/>
              </a:pPr>
              <a:t>‹#›</a:t>
            </a:fld>
            <a:endParaRPr lang="en-US" altLang="en-US"/>
          </a:p>
        </p:txBody>
      </p:sp>
    </p:spTree>
    <p:extLst>
      <p:ext uri="{BB962C8B-B14F-4D97-AF65-F5344CB8AC3E}">
        <p14:creationId xmlns:p14="http://schemas.microsoft.com/office/powerpoint/2010/main" val="1162374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B7DEFED-694C-DBD9-E463-6D4CACD86F9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7480B59-CCFC-B266-A2E0-BF2E6E7381E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5BA2411-9CA6-D80B-3582-9F678EC50FCE}"/>
              </a:ext>
            </a:extLst>
          </p:cNvPr>
          <p:cNvSpPr>
            <a:spLocks noGrp="1" noChangeArrowheads="1"/>
          </p:cNvSpPr>
          <p:nvPr>
            <p:ph type="sldNum" sz="quarter" idx="12"/>
          </p:nvPr>
        </p:nvSpPr>
        <p:spPr>
          <a:ln/>
        </p:spPr>
        <p:txBody>
          <a:bodyPr/>
          <a:lstStyle>
            <a:lvl1pPr>
              <a:defRPr/>
            </a:lvl1pPr>
          </a:lstStyle>
          <a:p>
            <a:pPr>
              <a:defRPr/>
            </a:pPr>
            <a:fld id="{1D4BDAEA-F4A6-354E-AC2E-BAF9C3E983E0}" type="slidenum">
              <a:rPr lang="en-US" altLang="en-US"/>
              <a:pPr>
                <a:defRPr/>
              </a:pPr>
              <a:t>‹#›</a:t>
            </a:fld>
            <a:endParaRPr lang="en-US" altLang="en-US"/>
          </a:p>
        </p:txBody>
      </p:sp>
    </p:spTree>
    <p:extLst>
      <p:ext uri="{BB962C8B-B14F-4D97-AF65-F5344CB8AC3E}">
        <p14:creationId xmlns:p14="http://schemas.microsoft.com/office/powerpoint/2010/main" val="1021858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288F678-B2C2-1725-5B33-745F635ED43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85832FE-A969-70CF-17DE-8909776FB68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89105F7-A372-3A5B-6A20-2811356F9070}"/>
              </a:ext>
            </a:extLst>
          </p:cNvPr>
          <p:cNvSpPr>
            <a:spLocks noGrp="1" noChangeArrowheads="1"/>
          </p:cNvSpPr>
          <p:nvPr>
            <p:ph type="sldNum" sz="quarter" idx="12"/>
          </p:nvPr>
        </p:nvSpPr>
        <p:spPr>
          <a:ln/>
        </p:spPr>
        <p:txBody>
          <a:bodyPr/>
          <a:lstStyle>
            <a:lvl1pPr>
              <a:defRPr/>
            </a:lvl1pPr>
          </a:lstStyle>
          <a:p>
            <a:pPr>
              <a:defRPr/>
            </a:pPr>
            <a:fld id="{E8CFD979-F84B-D84C-AEB0-812614D70EB3}" type="slidenum">
              <a:rPr lang="en-US" altLang="en-US"/>
              <a:pPr>
                <a:defRPr/>
              </a:pPr>
              <a:t>‹#›</a:t>
            </a:fld>
            <a:endParaRPr lang="en-US" altLang="en-US"/>
          </a:p>
        </p:txBody>
      </p:sp>
    </p:spTree>
    <p:extLst>
      <p:ext uri="{BB962C8B-B14F-4D97-AF65-F5344CB8AC3E}">
        <p14:creationId xmlns:p14="http://schemas.microsoft.com/office/powerpoint/2010/main" val="3213980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35DD4A3-BB78-DE0A-D478-BB4022466D1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9CD4B47-7499-3A04-0F74-527EE35A004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D4EA00B-581A-E9D2-63E9-21D607F9413D}"/>
              </a:ext>
            </a:extLst>
          </p:cNvPr>
          <p:cNvSpPr>
            <a:spLocks noGrp="1" noChangeArrowheads="1"/>
          </p:cNvSpPr>
          <p:nvPr>
            <p:ph type="sldNum" sz="quarter" idx="12"/>
          </p:nvPr>
        </p:nvSpPr>
        <p:spPr>
          <a:ln/>
        </p:spPr>
        <p:txBody>
          <a:bodyPr/>
          <a:lstStyle>
            <a:lvl1pPr>
              <a:defRPr/>
            </a:lvl1pPr>
          </a:lstStyle>
          <a:p>
            <a:pPr>
              <a:defRPr/>
            </a:pPr>
            <a:fld id="{4224C535-F54E-614E-BCE9-005CC2905B9B}" type="slidenum">
              <a:rPr lang="en-US" altLang="en-US"/>
              <a:pPr>
                <a:defRPr/>
              </a:pPr>
              <a:t>‹#›</a:t>
            </a:fld>
            <a:endParaRPr lang="en-US" altLang="en-US"/>
          </a:p>
        </p:txBody>
      </p:sp>
    </p:spTree>
    <p:extLst>
      <p:ext uri="{BB962C8B-B14F-4D97-AF65-F5344CB8AC3E}">
        <p14:creationId xmlns:p14="http://schemas.microsoft.com/office/powerpoint/2010/main" val="3139613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9CB8690-C407-60C3-7965-B50A17F37504}"/>
              </a:ext>
            </a:extLst>
          </p:cNvPr>
          <p:cNvSpPr>
            <a:spLocks noGrp="1" noChangeArrowheads="1"/>
          </p:cNvSpPr>
          <p:nvPr>
            <p:ph type="title"/>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004530A-9E7B-870D-B4F6-2C54D50A4150}"/>
              </a:ext>
            </a:extLst>
          </p:cNvPr>
          <p:cNvSpPr>
            <a:spLocks noGrp="1" noChangeArrowheads="1"/>
          </p:cNvSpPr>
          <p:nvPr>
            <p:ph type="body" idx="1"/>
          </p:nvPr>
        </p:nvSpPr>
        <p:spPr bwMode="auto">
          <a:xfrm>
            <a:off x="0" y="5715000"/>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a:extLst>
              <a:ext uri="{FF2B5EF4-FFF2-40B4-BE49-F238E27FC236}">
                <a16:creationId xmlns:a16="http://schemas.microsoft.com/office/drawing/2014/main" id="{C6D3E57B-36AF-3E2B-1FC7-E154FAE67768}"/>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400">
                <a:latin typeface="+mn-lt"/>
              </a:defRPr>
            </a:lvl1pPr>
          </a:lstStyle>
          <a:p>
            <a:pPr>
              <a:defRPr/>
            </a:pPr>
            <a:endParaRPr lang="en-US"/>
          </a:p>
        </p:txBody>
      </p:sp>
      <p:sp>
        <p:nvSpPr>
          <p:cNvPr id="4101" name="Rectangle 5">
            <a:extLst>
              <a:ext uri="{FF2B5EF4-FFF2-40B4-BE49-F238E27FC236}">
                <a16:creationId xmlns:a16="http://schemas.microsoft.com/office/drawing/2014/main" id="{01B48D02-C3A2-C22F-F2C4-F5C3F1BB284D}"/>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p>
        </p:txBody>
      </p:sp>
      <p:sp>
        <p:nvSpPr>
          <p:cNvPr id="4102" name="Rectangle 6">
            <a:extLst>
              <a:ext uri="{FF2B5EF4-FFF2-40B4-BE49-F238E27FC236}">
                <a16:creationId xmlns:a16="http://schemas.microsoft.com/office/drawing/2014/main" id="{E5397675-1609-0C63-9855-99974FD5C599}"/>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atin typeface="Trebuchet MS" panose="020B0603020202020204" pitchFamily="34" charset="0"/>
              </a:defRPr>
            </a:lvl1pPr>
          </a:lstStyle>
          <a:p>
            <a:pPr>
              <a:defRPr/>
            </a:pPr>
            <a:fld id="{8A389EE2-F668-8848-8C64-A076812C452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rebuchet MS" pitchFamily="34" charset="0"/>
        </a:defRPr>
      </a:lvl2pPr>
      <a:lvl3pPr algn="ctr" rtl="0" eaLnBrk="0" fontAlgn="base" hangingPunct="0">
        <a:spcBef>
          <a:spcPct val="0"/>
        </a:spcBef>
        <a:spcAft>
          <a:spcPct val="0"/>
        </a:spcAft>
        <a:defRPr sz="4400">
          <a:solidFill>
            <a:srgbClr val="FF0000"/>
          </a:solidFill>
          <a:latin typeface="Trebuchet MS" pitchFamily="34" charset="0"/>
        </a:defRPr>
      </a:lvl3pPr>
      <a:lvl4pPr algn="ctr" rtl="0" eaLnBrk="0" fontAlgn="base" hangingPunct="0">
        <a:spcBef>
          <a:spcPct val="0"/>
        </a:spcBef>
        <a:spcAft>
          <a:spcPct val="0"/>
        </a:spcAft>
        <a:defRPr sz="4400">
          <a:solidFill>
            <a:srgbClr val="FF0000"/>
          </a:solidFill>
          <a:latin typeface="Trebuchet MS" pitchFamily="34" charset="0"/>
        </a:defRPr>
      </a:lvl4pPr>
      <a:lvl5pPr algn="ctr" rtl="0" eaLnBrk="0" fontAlgn="base" hangingPunct="0">
        <a:spcBef>
          <a:spcPct val="0"/>
        </a:spcBef>
        <a:spcAft>
          <a:spcPct val="0"/>
        </a:spcAft>
        <a:defRPr sz="4400">
          <a:solidFill>
            <a:srgbClr val="FF0000"/>
          </a:solidFill>
          <a:latin typeface="Trebuchet MS" pitchFamily="34" charset="0"/>
        </a:defRPr>
      </a:lvl5pPr>
      <a:lvl6pPr marL="457200" algn="ctr" rtl="0" fontAlgn="base">
        <a:spcBef>
          <a:spcPct val="0"/>
        </a:spcBef>
        <a:spcAft>
          <a:spcPct val="0"/>
        </a:spcAft>
        <a:defRPr sz="4400">
          <a:solidFill>
            <a:srgbClr val="FF0000"/>
          </a:solidFill>
          <a:latin typeface="Times New Roman" pitchFamily="18" charset="0"/>
        </a:defRPr>
      </a:lvl6pPr>
      <a:lvl7pPr marL="914400" algn="ctr" rtl="0" fontAlgn="base">
        <a:spcBef>
          <a:spcPct val="0"/>
        </a:spcBef>
        <a:spcAft>
          <a:spcPct val="0"/>
        </a:spcAft>
        <a:defRPr sz="4400">
          <a:solidFill>
            <a:srgbClr val="FF0000"/>
          </a:solidFill>
          <a:latin typeface="Times New Roman" pitchFamily="18" charset="0"/>
        </a:defRPr>
      </a:lvl7pPr>
      <a:lvl8pPr marL="1371600" algn="ctr" rtl="0" fontAlgn="base">
        <a:spcBef>
          <a:spcPct val="0"/>
        </a:spcBef>
        <a:spcAft>
          <a:spcPct val="0"/>
        </a:spcAft>
        <a:defRPr sz="4400">
          <a:solidFill>
            <a:srgbClr val="FF0000"/>
          </a:solidFill>
          <a:latin typeface="Times New Roman" pitchFamily="18" charset="0"/>
        </a:defRPr>
      </a:lvl8pPr>
      <a:lvl9pPr marL="1828800" algn="ctr" rtl="0" fontAlgn="base">
        <a:spcBef>
          <a:spcPct val="0"/>
        </a:spcBef>
        <a:spcAft>
          <a:spcPct val="0"/>
        </a:spcAft>
        <a:defRPr sz="4400">
          <a:solidFill>
            <a:srgbClr val="FF0000"/>
          </a:solidFill>
          <a:latin typeface="Times New Roman" pitchFamily="18" charset="0"/>
        </a:defRPr>
      </a:lvl9pPr>
    </p:titleStyle>
    <p:body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5FDC97E-3729-5BBF-E0F1-81D5C3A7511E}"/>
              </a:ext>
            </a:extLst>
          </p:cNvPr>
          <p:cNvSpPr txBox="1">
            <a:spLocks noChangeArrowheads="1"/>
          </p:cNvSpPr>
          <p:nvPr/>
        </p:nvSpPr>
        <p:spPr bwMode="auto">
          <a:xfrm>
            <a:off x="484135" y="484907"/>
            <a:ext cx="7772400" cy="2009278"/>
          </a:xfrm>
          <a:prstGeom prst="rect">
            <a:avLst/>
          </a:prstGeom>
          <a:noFill/>
          <a:ln>
            <a:noFill/>
          </a:ln>
          <a:effec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a:defRPr/>
            </a:pPr>
            <a:r>
              <a:rPr lang="en-US" sz="4800" dirty="0">
                <a:gradFill flip="none" rotWithShape="1">
                  <a:gsLst>
                    <a:gs pos="16000">
                      <a:srgbClr val="6B308E"/>
                    </a:gs>
                    <a:gs pos="100000">
                      <a:srgbClr val="28A7DF"/>
                    </a:gs>
                  </a:gsLst>
                  <a:lin ang="1800000" scaled="0"/>
                  <a:tileRect/>
                </a:gradFill>
                <a:latin typeface="Arial"/>
                <a:cs typeface="Arial" pitchFamily="34" charset="0"/>
              </a:rPr>
              <a:t>Chapter 5</a:t>
            </a:r>
          </a:p>
          <a:p>
            <a:pPr algn="ctr">
              <a:defRPr/>
            </a:pPr>
            <a:r>
              <a:rPr lang="en-US" sz="4800" dirty="0">
                <a:gradFill flip="none" rotWithShape="1">
                  <a:gsLst>
                    <a:gs pos="16000">
                      <a:srgbClr val="6B308E"/>
                    </a:gs>
                    <a:gs pos="100000">
                      <a:srgbClr val="28A7DF"/>
                    </a:gs>
                  </a:gsLst>
                  <a:lin ang="1800000" scaled="0"/>
                  <a:tileRect/>
                </a:gradFill>
                <a:latin typeface="Arial"/>
                <a:cs typeface="Arial" pitchFamily="34" charset="0"/>
              </a:rPr>
              <a:t>Network Layer</a:t>
            </a:r>
            <a:endParaRPr lang="en-US" sz="4400" dirty="0">
              <a:solidFill>
                <a:srgbClr val="FF0000"/>
              </a:solidFill>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34A1F30-1D3B-0163-644D-30A13FB6BE5E}"/>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Types of Routing Algorithms</a:t>
            </a:r>
            <a:endParaRPr lang="en-US" sz="4000" dirty="0"/>
          </a:p>
        </p:txBody>
      </p:sp>
      <p:sp>
        <p:nvSpPr>
          <p:cNvPr id="15362" name="Rectangle 3">
            <a:extLst>
              <a:ext uri="{FF2B5EF4-FFF2-40B4-BE49-F238E27FC236}">
                <a16:creationId xmlns:a16="http://schemas.microsoft.com/office/drawing/2014/main" id="{F724A4E2-3D05-6016-1B14-6950F14E3DF1}"/>
              </a:ext>
            </a:extLst>
          </p:cNvPr>
          <p:cNvSpPr txBox="1">
            <a:spLocks noChangeArrowheads="1"/>
          </p:cNvSpPr>
          <p:nvPr/>
        </p:nvSpPr>
        <p:spPr bwMode="auto">
          <a:xfrm>
            <a:off x="314325" y="854075"/>
            <a:ext cx="8320088" cy="584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752600" indent="-3810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buFont typeface="Wingdings" pitchFamily="2" charset="2"/>
              <a:buChar char="q"/>
            </a:pPr>
            <a:r>
              <a:rPr lang="en-US" altLang="en-US" sz="3200" b="1">
                <a:latin typeface="Times New Roman" panose="02020603050405020304" pitchFamily="18" charset="0"/>
                <a:cs typeface="Times New Roman" panose="02020603050405020304" pitchFamily="18" charset="0"/>
              </a:rPr>
              <a:t>Nonadaptive</a:t>
            </a:r>
            <a:r>
              <a:rPr lang="en-US" altLang="en-US" sz="3200">
                <a:latin typeface="Times New Roman" panose="02020603050405020304" pitchFamily="18" charset="0"/>
                <a:cs typeface="Times New Roman" panose="02020603050405020304" pitchFamily="18" charset="0"/>
              </a:rPr>
              <a:t> (static)</a:t>
            </a:r>
          </a:p>
          <a:p>
            <a:pPr lvl="1">
              <a:buFont typeface="Wingdings" pitchFamily="2" charset="2"/>
              <a:buChar char="ü"/>
            </a:pPr>
            <a:r>
              <a:rPr lang="en-US" altLang="en-US" sz="2800">
                <a:latin typeface="Times New Roman" panose="02020603050405020304" pitchFamily="18" charset="0"/>
                <a:cs typeface="Times New Roman" panose="02020603050405020304" pitchFamily="18" charset="0"/>
              </a:rPr>
              <a:t>Do not use measurements of current conditions.</a:t>
            </a:r>
          </a:p>
          <a:p>
            <a:pPr lvl="1">
              <a:buFont typeface="Wingdings" pitchFamily="2" charset="2"/>
              <a:buChar char="ü"/>
            </a:pPr>
            <a:r>
              <a:rPr lang="en-US" altLang="en-US" sz="2800">
                <a:latin typeface="Times New Roman" panose="02020603050405020304" pitchFamily="18" charset="0"/>
                <a:cs typeface="Times New Roman" panose="02020603050405020304" pitchFamily="18" charset="0"/>
              </a:rPr>
              <a:t>Static routes are downloaded at boot time.</a:t>
            </a:r>
          </a:p>
          <a:p>
            <a:pPr>
              <a:buFont typeface="Wingdings" pitchFamily="2" charset="2"/>
              <a:buChar char="q"/>
            </a:pPr>
            <a:r>
              <a:rPr lang="en-US" altLang="en-US" sz="3200" b="1">
                <a:latin typeface="Times New Roman" panose="02020603050405020304" pitchFamily="18" charset="0"/>
                <a:cs typeface="Times New Roman" panose="02020603050405020304" pitchFamily="18" charset="0"/>
              </a:rPr>
              <a:t>Adaptive Algorithms</a:t>
            </a:r>
          </a:p>
          <a:p>
            <a:pPr lvl="1">
              <a:buFont typeface="Wingdings" pitchFamily="2" charset="2"/>
              <a:buChar char="ü"/>
            </a:pPr>
            <a:r>
              <a:rPr lang="en-US" altLang="en-US" sz="2800">
                <a:latin typeface="Times New Roman" panose="02020603050405020304" pitchFamily="18" charset="0"/>
                <a:cs typeface="Times New Roman" panose="02020603050405020304" pitchFamily="18" charset="0"/>
              </a:rPr>
              <a:t>Change routes dynamically</a:t>
            </a:r>
          </a:p>
          <a:p>
            <a:pPr lvl="2"/>
            <a:r>
              <a:rPr lang="en-US" altLang="en-US" sz="2800">
                <a:latin typeface="Times New Roman" panose="02020603050405020304" pitchFamily="18" charset="0"/>
                <a:cs typeface="Times New Roman" panose="02020603050405020304" pitchFamily="18" charset="0"/>
              </a:rPr>
              <a:t>Gather information at runtime</a:t>
            </a:r>
          </a:p>
          <a:p>
            <a:pPr lvl="3"/>
            <a:r>
              <a:rPr lang="en-US" altLang="en-US">
                <a:latin typeface="Times New Roman" panose="02020603050405020304" pitchFamily="18" charset="0"/>
                <a:cs typeface="Times New Roman" panose="02020603050405020304" pitchFamily="18" charset="0"/>
              </a:rPr>
              <a:t>locally</a:t>
            </a:r>
          </a:p>
          <a:p>
            <a:pPr lvl="3"/>
            <a:r>
              <a:rPr lang="en-US" altLang="en-US">
                <a:latin typeface="Times New Roman" panose="02020603050405020304" pitchFamily="18" charset="0"/>
                <a:cs typeface="Times New Roman" panose="02020603050405020304" pitchFamily="18" charset="0"/>
              </a:rPr>
              <a:t>from adjacent routers</a:t>
            </a:r>
          </a:p>
          <a:p>
            <a:pPr lvl="3"/>
            <a:r>
              <a:rPr lang="en-US" altLang="en-US">
                <a:latin typeface="Times New Roman" panose="02020603050405020304" pitchFamily="18" charset="0"/>
                <a:cs typeface="Times New Roman" panose="02020603050405020304" pitchFamily="18" charset="0"/>
              </a:rPr>
              <a:t>from all other routers</a:t>
            </a:r>
          </a:p>
          <a:p>
            <a:pPr lvl="2"/>
            <a:r>
              <a:rPr lang="en-US" altLang="en-US" sz="2800">
                <a:latin typeface="Times New Roman" panose="02020603050405020304" pitchFamily="18" charset="0"/>
                <a:cs typeface="Times New Roman" panose="02020603050405020304" pitchFamily="18" charset="0"/>
              </a:rPr>
              <a:t>Change routes</a:t>
            </a:r>
          </a:p>
          <a:p>
            <a:pPr lvl="3"/>
            <a:r>
              <a:rPr lang="en-US" altLang="en-US">
                <a:latin typeface="Times New Roman" panose="02020603050405020304" pitchFamily="18" charset="0"/>
                <a:cs typeface="Times New Roman" panose="02020603050405020304" pitchFamily="18" charset="0"/>
              </a:rPr>
              <a:t>Every delta T seconds</a:t>
            </a:r>
          </a:p>
          <a:p>
            <a:pPr lvl="3"/>
            <a:r>
              <a:rPr lang="en-US" altLang="en-US">
                <a:latin typeface="Times New Roman" panose="02020603050405020304" pitchFamily="18" charset="0"/>
                <a:cs typeface="Times New Roman" panose="02020603050405020304" pitchFamily="18" charset="0"/>
              </a:rPr>
              <a:t>When load changes</a:t>
            </a:r>
          </a:p>
          <a:p>
            <a:pPr lvl="3"/>
            <a:r>
              <a:rPr lang="en-US" altLang="en-US">
                <a:latin typeface="Times New Roman" panose="02020603050405020304" pitchFamily="18" charset="0"/>
                <a:cs typeface="Times New Roman" panose="02020603050405020304" pitchFamily="18" charset="0"/>
              </a:rPr>
              <a:t>When topology changes</a:t>
            </a:r>
          </a:p>
          <a:p>
            <a:pPr lvl="1"/>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9AA4525-EA49-D5C7-088C-3EF7AB27D7BF}"/>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Optimality principle</a:t>
            </a:r>
            <a:endParaRPr lang="en-US" sz="4000" dirty="0"/>
          </a:p>
        </p:txBody>
      </p:sp>
      <p:sp>
        <p:nvSpPr>
          <p:cNvPr id="16386" name="Rectangle 3">
            <a:extLst>
              <a:ext uri="{FF2B5EF4-FFF2-40B4-BE49-F238E27FC236}">
                <a16:creationId xmlns:a16="http://schemas.microsoft.com/office/drawing/2014/main" id="{341DA6F3-6E8C-059F-11FC-AE2B53ADE23B}"/>
              </a:ext>
            </a:extLst>
          </p:cNvPr>
          <p:cNvSpPr txBox="1">
            <a:spLocks noChangeArrowheads="1"/>
          </p:cNvSpPr>
          <p:nvPr/>
        </p:nvSpPr>
        <p:spPr bwMode="auto">
          <a:xfrm>
            <a:off x="336550" y="854075"/>
            <a:ext cx="8318500" cy="584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buFont typeface="Wingdings" pitchFamily="2" charset="2"/>
              <a:buChar char="q"/>
            </a:pPr>
            <a:r>
              <a:rPr lang="en-US" altLang="en-US" sz="3200">
                <a:latin typeface="Times New Roman" panose="02020603050405020304" pitchFamily="18" charset="0"/>
                <a:cs typeface="Times New Roman" panose="02020603050405020304" pitchFamily="18" charset="0"/>
              </a:rPr>
              <a:t>If router </a:t>
            </a:r>
            <a:r>
              <a:rPr lang="en-US" altLang="en-US" sz="3200" i="1">
                <a:latin typeface="Times New Roman" panose="02020603050405020304" pitchFamily="18" charset="0"/>
                <a:cs typeface="Times New Roman" panose="02020603050405020304" pitchFamily="18" charset="0"/>
              </a:rPr>
              <a:t>j</a:t>
            </a:r>
            <a:r>
              <a:rPr lang="en-US" altLang="en-US" sz="3200">
                <a:latin typeface="Times New Roman" panose="02020603050405020304" pitchFamily="18" charset="0"/>
                <a:cs typeface="Times New Roman" panose="02020603050405020304" pitchFamily="18" charset="0"/>
              </a:rPr>
              <a:t> is on the optimal path from </a:t>
            </a:r>
            <a:r>
              <a:rPr lang="en-US" altLang="en-US" sz="3200" i="1">
                <a:latin typeface="Times New Roman" panose="02020603050405020304" pitchFamily="18" charset="0"/>
                <a:cs typeface="Times New Roman" panose="02020603050405020304" pitchFamily="18" charset="0"/>
              </a:rPr>
              <a:t>i</a:t>
            </a:r>
            <a:r>
              <a:rPr lang="en-US" altLang="en-US" sz="3200">
                <a:latin typeface="Times New Roman" panose="02020603050405020304" pitchFamily="18" charset="0"/>
                <a:cs typeface="Times New Roman" panose="02020603050405020304" pitchFamily="18" charset="0"/>
              </a:rPr>
              <a:t> to </a:t>
            </a:r>
            <a:r>
              <a:rPr lang="en-US" altLang="en-US" sz="3200" i="1">
                <a:latin typeface="Times New Roman" panose="02020603050405020304" pitchFamily="18" charset="0"/>
                <a:cs typeface="Times New Roman" panose="02020603050405020304" pitchFamily="18" charset="0"/>
              </a:rPr>
              <a:t>k</a:t>
            </a:r>
            <a:r>
              <a:rPr lang="en-US" altLang="en-US" sz="3200">
                <a:latin typeface="Times New Roman" panose="02020603050405020304" pitchFamily="18" charset="0"/>
                <a:cs typeface="Times New Roman" panose="02020603050405020304" pitchFamily="18" charset="0"/>
              </a:rPr>
              <a:t>, then the optimal path from </a:t>
            </a:r>
            <a:r>
              <a:rPr lang="en-US" altLang="en-US" sz="3200" i="1">
                <a:latin typeface="Times New Roman" panose="02020603050405020304" pitchFamily="18" charset="0"/>
                <a:cs typeface="Times New Roman" panose="02020603050405020304" pitchFamily="18" charset="0"/>
              </a:rPr>
              <a:t>j</a:t>
            </a:r>
            <a:r>
              <a:rPr lang="en-US" altLang="en-US" sz="3200">
                <a:latin typeface="Times New Roman" panose="02020603050405020304" pitchFamily="18" charset="0"/>
                <a:cs typeface="Times New Roman" panose="02020603050405020304" pitchFamily="18" charset="0"/>
              </a:rPr>
              <a:t> to </a:t>
            </a:r>
            <a:r>
              <a:rPr lang="en-US" altLang="en-US" sz="3200" i="1">
                <a:latin typeface="Times New Roman" panose="02020603050405020304" pitchFamily="18" charset="0"/>
                <a:cs typeface="Times New Roman" panose="02020603050405020304" pitchFamily="18" charset="0"/>
              </a:rPr>
              <a:t>k</a:t>
            </a:r>
            <a:r>
              <a:rPr lang="en-US" altLang="en-US" sz="3200">
                <a:latin typeface="Times New Roman" panose="02020603050405020304" pitchFamily="18" charset="0"/>
                <a:cs typeface="Times New Roman" panose="02020603050405020304" pitchFamily="18" charset="0"/>
              </a:rPr>
              <a:t> also falls along the same route.</a:t>
            </a:r>
          </a:p>
          <a:p>
            <a:pPr lvl="1"/>
            <a:endParaRPr lang="en-US" altLang="en-US">
              <a:latin typeface="Times New Roman" panose="02020603050405020304" pitchFamily="18" charset="0"/>
              <a:cs typeface="Times New Roman" panose="02020603050405020304" pitchFamily="18" charset="0"/>
            </a:endParaRPr>
          </a:p>
        </p:txBody>
      </p:sp>
      <p:sp>
        <p:nvSpPr>
          <p:cNvPr id="16387" name="Text Box 9">
            <a:extLst>
              <a:ext uri="{FF2B5EF4-FFF2-40B4-BE49-F238E27FC236}">
                <a16:creationId xmlns:a16="http://schemas.microsoft.com/office/drawing/2014/main" id="{1CA692AA-2126-C38B-2EDF-1C6DD6EB1A15}"/>
              </a:ext>
            </a:extLst>
          </p:cNvPr>
          <p:cNvSpPr txBox="1">
            <a:spLocks noChangeArrowheads="1"/>
          </p:cNvSpPr>
          <p:nvPr/>
        </p:nvSpPr>
        <p:spPr bwMode="auto">
          <a:xfrm>
            <a:off x="1508125" y="4156075"/>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i="1">
                <a:latin typeface="Times New Roman" panose="02020603050405020304" pitchFamily="18" charset="0"/>
              </a:rPr>
              <a:t>i</a:t>
            </a:r>
            <a:endParaRPr lang="en-US" altLang="en-US">
              <a:latin typeface="Times New Roman" panose="02020603050405020304" pitchFamily="18" charset="0"/>
            </a:endParaRPr>
          </a:p>
        </p:txBody>
      </p:sp>
      <p:sp>
        <p:nvSpPr>
          <p:cNvPr id="16388" name="Text Box 10">
            <a:extLst>
              <a:ext uri="{FF2B5EF4-FFF2-40B4-BE49-F238E27FC236}">
                <a16:creationId xmlns:a16="http://schemas.microsoft.com/office/drawing/2014/main" id="{6D6C1D38-DC40-D7ED-3977-A4245B97D2CC}"/>
              </a:ext>
            </a:extLst>
          </p:cNvPr>
          <p:cNvSpPr txBox="1">
            <a:spLocks noChangeArrowheads="1"/>
          </p:cNvSpPr>
          <p:nvPr/>
        </p:nvSpPr>
        <p:spPr bwMode="auto">
          <a:xfrm>
            <a:off x="5622925" y="3546475"/>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i="1">
                <a:latin typeface="Times New Roman" panose="02020603050405020304" pitchFamily="18" charset="0"/>
              </a:rPr>
              <a:t>k</a:t>
            </a:r>
            <a:endParaRPr lang="en-US" altLang="en-US">
              <a:latin typeface="Times New Roman" panose="02020603050405020304" pitchFamily="18" charset="0"/>
            </a:endParaRPr>
          </a:p>
        </p:txBody>
      </p:sp>
      <p:sp>
        <p:nvSpPr>
          <p:cNvPr id="16389" name="Line 11">
            <a:extLst>
              <a:ext uri="{FF2B5EF4-FFF2-40B4-BE49-F238E27FC236}">
                <a16:creationId xmlns:a16="http://schemas.microsoft.com/office/drawing/2014/main" id="{B185857B-A354-C744-14E4-99938234FE8A}"/>
              </a:ext>
            </a:extLst>
          </p:cNvPr>
          <p:cNvSpPr>
            <a:spLocks noChangeShapeType="1"/>
          </p:cNvSpPr>
          <p:nvPr/>
        </p:nvSpPr>
        <p:spPr bwMode="auto">
          <a:xfrm flipV="1">
            <a:off x="2743200" y="3733800"/>
            <a:ext cx="533400" cy="1447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390" name="Line 12">
            <a:extLst>
              <a:ext uri="{FF2B5EF4-FFF2-40B4-BE49-F238E27FC236}">
                <a16:creationId xmlns:a16="http://schemas.microsoft.com/office/drawing/2014/main" id="{37A015B1-C19F-88C9-7D23-6709C3D525D7}"/>
              </a:ext>
            </a:extLst>
          </p:cNvPr>
          <p:cNvSpPr>
            <a:spLocks noChangeShapeType="1"/>
          </p:cNvSpPr>
          <p:nvPr/>
        </p:nvSpPr>
        <p:spPr bwMode="auto">
          <a:xfrm>
            <a:off x="3581400" y="3886200"/>
            <a:ext cx="9906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391" name="Line 13">
            <a:extLst>
              <a:ext uri="{FF2B5EF4-FFF2-40B4-BE49-F238E27FC236}">
                <a16:creationId xmlns:a16="http://schemas.microsoft.com/office/drawing/2014/main" id="{DB85BCB8-505C-24ED-00F2-89F1887B3B50}"/>
              </a:ext>
            </a:extLst>
          </p:cNvPr>
          <p:cNvSpPr>
            <a:spLocks noChangeShapeType="1"/>
          </p:cNvSpPr>
          <p:nvPr/>
        </p:nvSpPr>
        <p:spPr bwMode="auto">
          <a:xfrm flipV="1">
            <a:off x="4876800" y="3733800"/>
            <a:ext cx="4572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392" name="Line 14">
            <a:extLst>
              <a:ext uri="{FF2B5EF4-FFF2-40B4-BE49-F238E27FC236}">
                <a16:creationId xmlns:a16="http://schemas.microsoft.com/office/drawing/2014/main" id="{1A316A30-8238-8A4B-D3C1-FFC6B4922596}"/>
              </a:ext>
            </a:extLst>
          </p:cNvPr>
          <p:cNvSpPr>
            <a:spLocks noChangeShapeType="1"/>
          </p:cNvSpPr>
          <p:nvPr/>
        </p:nvSpPr>
        <p:spPr bwMode="auto">
          <a:xfrm>
            <a:off x="1981200" y="4191000"/>
            <a:ext cx="609600" cy="99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393" name="Text Box 15">
            <a:extLst>
              <a:ext uri="{FF2B5EF4-FFF2-40B4-BE49-F238E27FC236}">
                <a16:creationId xmlns:a16="http://schemas.microsoft.com/office/drawing/2014/main" id="{A98855F4-38E5-D15D-7F99-862710E02917}"/>
              </a:ext>
            </a:extLst>
          </p:cNvPr>
          <p:cNvSpPr txBox="1">
            <a:spLocks noChangeArrowheads="1"/>
          </p:cNvSpPr>
          <p:nvPr/>
        </p:nvSpPr>
        <p:spPr bwMode="auto">
          <a:xfrm>
            <a:off x="2879725" y="5146675"/>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i="1">
                <a:latin typeface="Times New Roman" panose="02020603050405020304" pitchFamily="18" charset="0"/>
              </a:rPr>
              <a:t>(j)</a:t>
            </a:r>
            <a:endParaRPr lang="en-US" altLang="en-US">
              <a:latin typeface="Times New Roman" panose="02020603050405020304" pitchFamily="18" charset="0"/>
            </a:endParaRPr>
          </a:p>
        </p:txBody>
      </p:sp>
      <p:sp>
        <p:nvSpPr>
          <p:cNvPr id="16394" name="Text Box 16">
            <a:extLst>
              <a:ext uri="{FF2B5EF4-FFF2-40B4-BE49-F238E27FC236}">
                <a16:creationId xmlns:a16="http://schemas.microsoft.com/office/drawing/2014/main" id="{F9C096F3-FDA2-F607-6B90-A1DEE67D57A3}"/>
              </a:ext>
            </a:extLst>
          </p:cNvPr>
          <p:cNvSpPr txBox="1">
            <a:spLocks noChangeArrowheads="1"/>
          </p:cNvSpPr>
          <p:nvPr/>
        </p:nvSpPr>
        <p:spPr bwMode="auto">
          <a:xfrm>
            <a:off x="3657600" y="3200400"/>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i="1">
                <a:latin typeface="Times New Roman" panose="02020603050405020304" pitchFamily="18" charset="0"/>
              </a:rPr>
              <a:t>(j)</a:t>
            </a:r>
            <a:endParaRPr lang="en-US" altLang="en-US">
              <a:latin typeface="Times New Roman" panose="02020603050405020304" pitchFamily="18" charset="0"/>
            </a:endParaRPr>
          </a:p>
        </p:txBody>
      </p:sp>
      <p:sp>
        <p:nvSpPr>
          <p:cNvPr id="16395" name="Text Box 17">
            <a:extLst>
              <a:ext uri="{FF2B5EF4-FFF2-40B4-BE49-F238E27FC236}">
                <a16:creationId xmlns:a16="http://schemas.microsoft.com/office/drawing/2014/main" id="{29B8C6B0-40C7-401E-59E7-4064787B9329}"/>
              </a:ext>
            </a:extLst>
          </p:cNvPr>
          <p:cNvSpPr txBox="1">
            <a:spLocks noChangeArrowheads="1"/>
          </p:cNvSpPr>
          <p:nvPr/>
        </p:nvSpPr>
        <p:spPr bwMode="auto">
          <a:xfrm>
            <a:off x="4191000" y="4876800"/>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i="1">
                <a:latin typeface="Times New Roman" panose="02020603050405020304" pitchFamily="18" charset="0"/>
              </a:rPr>
              <a:t>(j)</a:t>
            </a:r>
            <a:endParaRPr lang="en-US" altLang="en-US">
              <a:latin typeface="Times New Roman" panose="02020603050405020304" pitchFamily="18" charset="0"/>
            </a:endParaRPr>
          </a:p>
        </p:txBody>
      </p:sp>
      <p:sp>
        <p:nvSpPr>
          <p:cNvPr id="16396" name="Oval 4">
            <a:extLst>
              <a:ext uri="{FF2B5EF4-FFF2-40B4-BE49-F238E27FC236}">
                <a16:creationId xmlns:a16="http://schemas.microsoft.com/office/drawing/2014/main" id="{54B8EF30-6A64-6938-FF3D-FEF5CB77EF3B}"/>
              </a:ext>
            </a:extLst>
          </p:cNvPr>
          <p:cNvSpPr>
            <a:spLocks noChangeArrowheads="1"/>
          </p:cNvSpPr>
          <p:nvPr/>
        </p:nvSpPr>
        <p:spPr bwMode="auto">
          <a:xfrm>
            <a:off x="1676400" y="3810000"/>
            <a:ext cx="457200" cy="457200"/>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397" name="Oval 5">
            <a:extLst>
              <a:ext uri="{FF2B5EF4-FFF2-40B4-BE49-F238E27FC236}">
                <a16:creationId xmlns:a16="http://schemas.microsoft.com/office/drawing/2014/main" id="{A4D41F52-25D1-5C21-5D96-2E4D2088D175}"/>
              </a:ext>
            </a:extLst>
          </p:cNvPr>
          <p:cNvSpPr>
            <a:spLocks noChangeArrowheads="1"/>
          </p:cNvSpPr>
          <p:nvPr/>
        </p:nvSpPr>
        <p:spPr bwMode="auto">
          <a:xfrm>
            <a:off x="2438400" y="5105400"/>
            <a:ext cx="457200" cy="457200"/>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398" name="Oval 6">
            <a:extLst>
              <a:ext uri="{FF2B5EF4-FFF2-40B4-BE49-F238E27FC236}">
                <a16:creationId xmlns:a16="http://schemas.microsoft.com/office/drawing/2014/main" id="{0F6EC91D-44F3-FA9E-D97B-038653D81375}"/>
              </a:ext>
            </a:extLst>
          </p:cNvPr>
          <p:cNvSpPr>
            <a:spLocks noChangeArrowheads="1"/>
          </p:cNvSpPr>
          <p:nvPr/>
        </p:nvSpPr>
        <p:spPr bwMode="auto">
          <a:xfrm>
            <a:off x="3200400" y="3505200"/>
            <a:ext cx="457200" cy="457200"/>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399" name="Oval 8">
            <a:extLst>
              <a:ext uri="{FF2B5EF4-FFF2-40B4-BE49-F238E27FC236}">
                <a16:creationId xmlns:a16="http://schemas.microsoft.com/office/drawing/2014/main" id="{ABE8B0BE-526B-FB1C-A162-4FA886422C1C}"/>
              </a:ext>
            </a:extLst>
          </p:cNvPr>
          <p:cNvSpPr>
            <a:spLocks noChangeArrowheads="1"/>
          </p:cNvSpPr>
          <p:nvPr/>
        </p:nvSpPr>
        <p:spPr bwMode="auto">
          <a:xfrm>
            <a:off x="5181600" y="3352800"/>
            <a:ext cx="457200" cy="457200"/>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400" name="Oval 19">
            <a:extLst>
              <a:ext uri="{FF2B5EF4-FFF2-40B4-BE49-F238E27FC236}">
                <a16:creationId xmlns:a16="http://schemas.microsoft.com/office/drawing/2014/main" id="{7FD36AD9-F2AA-0091-3664-7834E2BEADF7}"/>
              </a:ext>
            </a:extLst>
          </p:cNvPr>
          <p:cNvSpPr>
            <a:spLocks noChangeArrowheads="1"/>
          </p:cNvSpPr>
          <p:nvPr/>
        </p:nvSpPr>
        <p:spPr bwMode="auto">
          <a:xfrm>
            <a:off x="1752600" y="5867400"/>
            <a:ext cx="457200" cy="457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401" name="Oval 20">
            <a:extLst>
              <a:ext uri="{FF2B5EF4-FFF2-40B4-BE49-F238E27FC236}">
                <a16:creationId xmlns:a16="http://schemas.microsoft.com/office/drawing/2014/main" id="{ECCDFC1D-172B-F2C6-7FCC-9A82C110CCD7}"/>
              </a:ext>
            </a:extLst>
          </p:cNvPr>
          <p:cNvSpPr>
            <a:spLocks noChangeArrowheads="1"/>
          </p:cNvSpPr>
          <p:nvPr/>
        </p:nvSpPr>
        <p:spPr bwMode="auto">
          <a:xfrm>
            <a:off x="3810000" y="5943600"/>
            <a:ext cx="457200" cy="457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402" name="Oval 21">
            <a:extLst>
              <a:ext uri="{FF2B5EF4-FFF2-40B4-BE49-F238E27FC236}">
                <a16:creationId xmlns:a16="http://schemas.microsoft.com/office/drawing/2014/main" id="{1C5A15C8-395A-D277-3A69-83BA5E392A1E}"/>
              </a:ext>
            </a:extLst>
          </p:cNvPr>
          <p:cNvSpPr>
            <a:spLocks noChangeArrowheads="1"/>
          </p:cNvSpPr>
          <p:nvPr/>
        </p:nvSpPr>
        <p:spPr bwMode="auto">
          <a:xfrm>
            <a:off x="4648200" y="5867400"/>
            <a:ext cx="457200" cy="457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403" name="Oval 22">
            <a:extLst>
              <a:ext uri="{FF2B5EF4-FFF2-40B4-BE49-F238E27FC236}">
                <a16:creationId xmlns:a16="http://schemas.microsoft.com/office/drawing/2014/main" id="{5396FCFD-E70C-6316-B9B7-384AA0F61853}"/>
              </a:ext>
            </a:extLst>
          </p:cNvPr>
          <p:cNvSpPr>
            <a:spLocks noChangeArrowheads="1"/>
          </p:cNvSpPr>
          <p:nvPr/>
        </p:nvSpPr>
        <p:spPr bwMode="auto">
          <a:xfrm>
            <a:off x="5257800" y="5486400"/>
            <a:ext cx="457200" cy="457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404" name="Line 23">
            <a:extLst>
              <a:ext uri="{FF2B5EF4-FFF2-40B4-BE49-F238E27FC236}">
                <a16:creationId xmlns:a16="http://schemas.microsoft.com/office/drawing/2014/main" id="{ABD19066-8656-BC7B-A59F-D0E01AFDDB69}"/>
              </a:ext>
            </a:extLst>
          </p:cNvPr>
          <p:cNvSpPr>
            <a:spLocks noChangeShapeType="1"/>
          </p:cNvSpPr>
          <p:nvPr/>
        </p:nvSpPr>
        <p:spPr bwMode="auto">
          <a:xfrm flipH="1">
            <a:off x="1981200" y="5410200"/>
            <a:ext cx="5334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05" name="Line 24">
            <a:extLst>
              <a:ext uri="{FF2B5EF4-FFF2-40B4-BE49-F238E27FC236}">
                <a16:creationId xmlns:a16="http://schemas.microsoft.com/office/drawing/2014/main" id="{06FD7EFF-A145-9F19-5ECF-A574B33A15F1}"/>
              </a:ext>
            </a:extLst>
          </p:cNvPr>
          <p:cNvSpPr>
            <a:spLocks noChangeShapeType="1"/>
          </p:cNvSpPr>
          <p:nvPr/>
        </p:nvSpPr>
        <p:spPr bwMode="auto">
          <a:xfrm>
            <a:off x="2057400" y="6096000"/>
            <a:ext cx="19050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06" name="Line 25">
            <a:extLst>
              <a:ext uri="{FF2B5EF4-FFF2-40B4-BE49-F238E27FC236}">
                <a16:creationId xmlns:a16="http://schemas.microsoft.com/office/drawing/2014/main" id="{97B420C0-82CA-D032-D3CF-71ADE3287EEF}"/>
              </a:ext>
            </a:extLst>
          </p:cNvPr>
          <p:cNvSpPr>
            <a:spLocks noChangeShapeType="1"/>
          </p:cNvSpPr>
          <p:nvPr/>
        </p:nvSpPr>
        <p:spPr bwMode="auto">
          <a:xfrm>
            <a:off x="2743200" y="5486400"/>
            <a:ext cx="1143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07" name="Oval 26">
            <a:extLst>
              <a:ext uri="{FF2B5EF4-FFF2-40B4-BE49-F238E27FC236}">
                <a16:creationId xmlns:a16="http://schemas.microsoft.com/office/drawing/2014/main" id="{E3F0F30B-E2D8-DDC8-1D24-0831BCBA99A8}"/>
              </a:ext>
            </a:extLst>
          </p:cNvPr>
          <p:cNvSpPr>
            <a:spLocks noChangeArrowheads="1"/>
          </p:cNvSpPr>
          <p:nvPr/>
        </p:nvSpPr>
        <p:spPr bwMode="auto">
          <a:xfrm>
            <a:off x="3581400" y="4724400"/>
            <a:ext cx="457200" cy="457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
        <p:nvSpPr>
          <p:cNvPr id="16408" name="Line 27">
            <a:extLst>
              <a:ext uri="{FF2B5EF4-FFF2-40B4-BE49-F238E27FC236}">
                <a16:creationId xmlns:a16="http://schemas.microsoft.com/office/drawing/2014/main" id="{AD9061E5-93CB-D463-DECD-3B4133420F7B}"/>
              </a:ext>
            </a:extLst>
          </p:cNvPr>
          <p:cNvSpPr>
            <a:spLocks noChangeShapeType="1"/>
          </p:cNvSpPr>
          <p:nvPr/>
        </p:nvSpPr>
        <p:spPr bwMode="auto">
          <a:xfrm>
            <a:off x="3810000" y="5105400"/>
            <a:ext cx="1524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09" name="Line 28">
            <a:extLst>
              <a:ext uri="{FF2B5EF4-FFF2-40B4-BE49-F238E27FC236}">
                <a16:creationId xmlns:a16="http://schemas.microsoft.com/office/drawing/2014/main" id="{14808169-47CC-D010-CA04-B8410896D281}"/>
              </a:ext>
            </a:extLst>
          </p:cNvPr>
          <p:cNvSpPr>
            <a:spLocks noChangeShapeType="1"/>
          </p:cNvSpPr>
          <p:nvPr/>
        </p:nvSpPr>
        <p:spPr bwMode="auto">
          <a:xfrm flipV="1">
            <a:off x="4114800" y="6096000"/>
            <a:ext cx="7620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10" name="Line 29">
            <a:extLst>
              <a:ext uri="{FF2B5EF4-FFF2-40B4-BE49-F238E27FC236}">
                <a16:creationId xmlns:a16="http://schemas.microsoft.com/office/drawing/2014/main" id="{156E6233-6A89-B9B7-53D0-D3970929147F}"/>
              </a:ext>
            </a:extLst>
          </p:cNvPr>
          <p:cNvSpPr>
            <a:spLocks noChangeShapeType="1"/>
          </p:cNvSpPr>
          <p:nvPr/>
        </p:nvSpPr>
        <p:spPr bwMode="auto">
          <a:xfrm flipH="1">
            <a:off x="5029200" y="5715000"/>
            <a:ext cx="3810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11" name="Line 30">
            <a:extLst>
              <a:ext uri="{FF2B5EF4-FFF2-40B4-BE49-F238E27FC236}">
                <a16:creationId xmlns:a16="http://schemas.microsoft.com/office/drawing/2014/main" id="{C2418DBA-8FB6-4584-7092-E05151EFA817}"/>
              </a:ext>
            </a:extLst>
          </p:cNvPr>
          <p:cNvSpPr>
            <a:spLocks noChangeShapeType="1"/>
          </p:cNvSpPr>
          <p:nvPr/>
        </p:nvSpPr>
        <p:spPr bwMode="auto">
          <a:xfrm flipH="1" flipV="1">
            <a:off x="4800600" y="4724400"/>
            <a:ext cx="6096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12" name="Line 31">
            <a:extLst>
              <a:ext uri="{FF2B5EF4-FFF2-40B4-BE49-F238E27FC236}">
                <a16:creationId xmlns:a16="http://schemas.microsoft.com/office/drawing/2014/main" id="{3E31DD27-338D-FB92-5FEF-9282D1B1B324}"/>
              </a:ext>
            </a:extLst>
          </p:cNvPr>
          <p:cNvSpPr>
            <a:spLocks noChangeShapeType="1"/>
          </p:cNvSpPr>
          <p:nvPr/>
        </p:nvSpPr>
        <p:spPr bwMode="auto">
          <a:xfrm>
            <a:off x="3962400" y="5029200"/>
            <a:ext cx="8382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13" name="Line 32">
            <a:extLst>
              <a:ext uri="{FF2B5EF4-FFF2-40B4-BE49-F238E27FC236}">
                <a16:creationId xmlns:a16="http://schemas.microsoft.com/office/drawing/2014/main" id="{F9179AAF-D9E2-BE96-145B-84FB4316A326}"/>
              </a:ext>
            </a:extLst>
          </p:cNvPr>
          <p:cNvSpPr>
            <a:spLocks noChangeShapeType="1"/>
          </p:cNvSpPr>
          <p:nvPr/>
        </p:nvSpPr>
        <p:spPr bwMode="auto">
          <a:xfrm flipH="1" flipV="1">
            <a:off x="4724400" y="4724400"/>
            <a:ext cx="15240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14" name="Line 33">
            <a:extLst>
              <a:ext uri="{FF2B5EF4-FFF2-40B4-BE49-F238E27FC236}">
                <a16:creationId xmlns:a16="http://schemas.microsoft.com/office/drawing/2014/main" id="{BAEE5380-818D-3F93-DD52-24DA67AABDE7}"/>
              </a:ext>
            </a:extLst>
          </p:cNvPr>
          <p:cNvSpPr>
            <a:spLocks noChangeShapeType="1"/>
          </p:cNvSpPr>
          <p:nvPr/>
        </p:nvSpPr>
        <p:spPr bwMode="auto">
          <a:xfrm flipH="1">
            <a:off x="1066800" y="6172200"/>
            <a:ext cx="762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15" name="Line 34">
            <a:extLst>
              <a:ext uri="{FF2B5EF4-FFF2-40B4-BE49-F238E27FC236}">
                <a16:creationId xmlns:a16="http://schemas.microsoft.com/office/drawing/2014/main" id="{D2755079-8AB9-68A9-8F04-34CD1D2BD425}"/>
              </a:ext>
            </a:extLst>
          </p:cNvPr>
          <p:cNvSpPr>
            <a:spLocks noChangeShapeType="1"/>
          </p:cNvSpPr>
          <p:nvPr/>
        </p:nvSpPr>
        <p:spPr bwMode="auto">
          <a:xfrm>
            <a:off x="4038600" y="6324600"/>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16" name="Line 35">
            <a:extLst>
              <a:ext uri="{FF2B5EF4-FFF2-40B4-BE49-F238E27FC236}">
                <a16:creationId xmlns:a16="http://schemas.microsoft.com/office/drawing/2014/main" id="{1FB48E3D-150A-A315-A470-051D692DF5ED}"/>
              </a:ext>
            </a:extLst>
          </p:cNvPr>
          <p:cNvSpPr>
            <a:spLocks noChangeShapeType="1"/>
          </p:cNvSpPr>
          <p:nvPr/>
        </p:nvSpPr>
        <p:spPr bwMode="auto">
          <a:xfrm>
            <a:off x="5562600" y="5867400"/>
            <a:ext cx="1600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16417" name="Oval 7">
            <a:extLst>
              <a:ext uri="{FF2B5EF4-FFF2-40B4-BE49-F238E27FC236}">
                <a16:creationId xmlns:a16="http://schemas.microsoft.com/office/drawing/2014/main" id="{84F25A19-B708-F813-9DC3-B089E3FDB610}"/>
              </a:ext>
            </a:extLst>
          </p:cNvPr>
          <p:cNvSpPr>
            <a:spLocks noChangeArrowheads="1"/>
          </p:cNvSpPr>
          <p:nvPr/>
        </p:nvSpPr>
        <p:spPr bwMode="auto">
          <a:xfrm>
            <a:off x="4495800" y="4343400"/>
            <a:ext cx="457200" cy="457200"/>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endParaRPr lang="en-US" altLang="en-US" sz="180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82A5F3F-0D53-3EA7-9548-88BDE2EEC2C5}"/>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Sink Trees </a:t>
            </a:r>
            <a:endParaRPr lang="en-US" sz="4000" dirty="0"/>
          </a:p>
        </p:txBody>
      </p:sp>
      <p:pic>
        <p:nvPicPr>
          <p:cNvPr id="17410" name="Picture 3">
            <a:extLst>
              <a:ext uri="{FF2B5EF4-FFF2-40B4-BE49-F238E27FC236}">
                <a16:creationId xmlns:a16="http://schemas.microsoft.com/office/drawing/2014/main" id="{83E2D452-4C08-2BE0-0116-F4AB9CE469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563" y="1660525"/>
            <a:ext cx="3730625" cy="402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1" name="Rectangle 4">
            <a:extLst>
              <a:ext uri="{FF2B5EF4-FFF2-40B4-BE49-F238E27FC236}">
                <a16:creationId xmlns:a16="http://schemas.microsoft.com/office/drawing/2014/main" id="{51949F68-E081-338D-1B38-4FED477730C5}"/>
              </a:ext>
            </a:extLst>
          </p:cNvPr>
          <p:cNvSpPr txBox="1">
            <a:spLocks noChangeArrowheads="1"/>
          </p:cNvSpPr>
          <p:nvPr/>
        </p:nvSpPr>
        <p:spPr bwMode="auto">
          <a:xfrm>
            <a:off x="4346575" y="1128713"/>
            <a:ext cx="45720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The set of optimal routes to a particular node forms a </a:t>
            </a:r>
            <a:r>
              <a:rPr lang="en-US" altLang="en-US" sz="2800">
                <a:solidFill>
                  <a:schemeClr val="accent1"/>
                </a:solidFill>
                <a:latin typeface="Times New Roman" panose="02020603050405020304" pitchFamily="18" charset="0"/>
                <a:cs typeface="Times New Roman" panose="02020603050405020304" pitchFamily="18" charset="0"/>
              </a:rPr>
              <a:t>sink tree.</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Calles as Directed Acyclic Graph (DAG). </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Sink trees are not necessarily unique.</a:t>
            </a:r>
            <a:endParaRPr lang="en-US" altLang="en-US" sz="2800">
              <a:solidFill>
                <a:schemeClr val="accent1"/>
              </a:solidFill>
              <a:latin typeface="Times New Roman" panose="02020603050405020304" pitchFamily="18" charset="0"/>
              <a:cs typeface="Times New Roman" panose="02020603050405020304" pitchFamily="18" charset="0"/>
            </a:endParaRP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Goal of all routing algorithms.</a:t>
            </a:r>
          </a:p>
          <a:p>
            <a:pPr lvl="1" algn="just">
              <a:buFont typeface="Wingdings" pitchFamily="2" charset="2"/>
              <a:buChar char="ü"/>
            </a:pPr>
            <a:r>
              <a:rPr lang="en-US" altLang="en-US" sz="2400">
                <a:latin typeface="Times New Roman" panose="02020603050405020304" pitchFamily="18" charset="0"/>
                <a:cs typeface="Times New Roman" panose="02020603050405020304" pitchFamily="18" charset="0"/>
              </a:rPr>
              <a:t>Discover sink trees for all destinations.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05D7F59-9068-2B48-E27E-90A8C4E9D755}"/>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Shortest Path Routing </a:t>
            </a:r>
            <a:endParaRPr lang="en-US" sz="4000" dirty="0"/>
          </a:p>
        </p:txBody>
      </p:sp>
      <p:sp>
        <p:nvSpPr>
          <p:cNvPr id="18434" name="Rectangle 3">
            <a:extLst>
              <a:ext uri="{FF2B5EF4-FFF2-40B4-BE49-F238E27FC236}">
                <a16:creationId xmlns:a16="http://schemas.microsoft.com/office/drawing/2014/main" id="{2DB4EA57-1BF0-A24A-9211-804A2A406031}"/>
              </a:ext>
            </a:extLst>
          </p:cNvPr>
          <p:cNvSpPr txBox="1">
            <a:spLocks noChangeArrowheads="1"/>
          </p:cNvSpPr>
          <p:nvPr/>
        </p:nvSpPr>
        <p:spPr bwMode="auto">
          <a:xfrm>
            <a:off x="446088" y="1001713"/>
            <a:ext cx="8442325" cy="547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Given a network topology and a set of weights describing the cost to send data across each link in the network. </a:t>
            </a:r>
          </a:p>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Find the shortest path from a specified source to all other destinations in the network.</a:t>
            </a:r>
          </a:p>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Shortest path algorithm first developed by E. W. Dijkstra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CCCBBDC1-C5C6-A430-5AA5-E5AA27742D3D}"/>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Shortest Path Routing(1)</a:t>
            </a:r>
            <a:endParaRPr lang="en-US" sz="4000" dirty="0"/>
          </a:p>
        </p:txBody>
      </p:sp>
      <p:sp>
        <p:nvSpPr>
          <p:cNvPr id="19458" name="Rectangle 3">
            <a:extLst>
              <a:ext uri="{FF2B5EF4-FFF2-40B4-BE49-F238E27FC236}">
                <a16:creationId xmlns:a16="http://schemas.microsoft.com/office/drawing/2014/main" id="{EB9C0778-8091-C5AF-C056-A61D9DE7B025}"/>
              </a:ext>
            </a:extLst>
          </p:cNvPr>
          <p:cNvSpPr txBox="1">
            <a:spLocks noChangeArrowheads="1"/>
          </p:cNvSpPr>
          <p:nvPr/>
        </p:nvSpPr>
        <p:spPr bwMode="auto">
          <a:xfrm>
            <a:off x="446088" y="1001713"/>
            <a:ext cx="8442325" cy="547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eaLnBrk="1" hangingPunct="1">
              <a:lnSpc>
                <a:spcPct val="90000"/>
              </a:lnSpc>
              <a:buFont typeface="Wingdings" pitchFamily="2" charset="2"/>
              <a:buChar char="q"/>
            </a:pPr>
            <a:r>
              <a:rPr lang="en-US" altLang="en-US" sz="3200">
                <a:latin typeface="Times New Roman" panose="02020603050405020304" pitchFamily="18" charset="0"/>
                <a:cs typeface="Times New Roman" panose="02020603050405020304" pitchFamily="18" charset="0"/>
              </a:rPr>
              <a:t>Optimization criterion:</a:t>
            </a:r>
          </a:p>
          <a:p>
            <a:pPr lvl="1" eaLnBrk="1" hangingPunct="1">
              <a:lnSpc>
                <a:spcPct val="90000"/>
              </a:lnSpc>
              <a:buFont typeface="Wingdings" pitchFamily="2" charset="2"/>
              <a:buChar char="ü"/>
            </a:pPr>
            <a:r>
              <a:rPr lang="en-US" altLang="en-US" sz="2800">
                <a:latin typeface="Times New Roman" panose="02020603050405020304" pitchFamily="18" charset="0"/>
                <a:cs typeface="Times New Roman" panose="02020603050405020304" pitchFamily="18" charset="0"/>
              </a:rPr>
              <a:t>Distance,</a:t>
            </a:r>
          </a:p>
          <a:p>
            <a:pPr lvl="1" eaLnBrk="1" hangingPunct="1">
              <a:lnSpc>
                <a:spcPct val="90000"/>
              </a:lnSpc>
              <a:buFont typeface="Wingdings" pitchFamily="2" charset="2"/>
              <a:buChar char="ü"/>
            </a:pPr>
            <a:r>
              <a:rPr lang="en-US" altLang="en-US" sz="2800">
                <a:latin typeface="Times New Roman" panose="02020603050405020304" pitchFamily="18" charset="0"/>
                <a:cs typeface="Times New Roman" panose="02020603050405020304" pitchFamily="18" charset="0"/>
              </a:rPr>
              <a:t>Bandwidth,</a:t>
            </a:r>
          </a:p>
          <a:p>
            <a:pPr lvl="1" eaLnBrk="1" hangingPunct="1">
              <a:lnSpc>
                <a:spcPct val="90000"/>
              </a:lnSpc>
              <a:buFont typeface="Wingdings" pitchFamily="2" charset="2"/>
              <a:buChar char="ü"/>
            </a:pPr>
            <a:r>
              <a:rPr lang="en-US" altLang="en-US" sz="2800">
                <a:latin typeface="Times New Roman" panose="02020603050405020304" pitchFamily="18" charset="0"/>
                <a:cs typeface="Times New Roman" panose="02020603050405020304" pitchFamily="18" charset="0"/>
              </a:rPr>
              <a:t>Average Traffic,</a:t>
            </a:r>
          </a:p>
          <a:p>
            <a:pPr lvl="1" eaLnBrk="1" hangingPunct="1">
              <a:lnSpc>
                <a:spcPct val="90000"/>
              </a:lnSpc>
              <a:buFont typeface="Wingdings" pitchFamily="2" charset="2"/>
              <a:buChar char="ü"/>
            </a:pPr>
            <a:r>
              <a:rPr lang="en-US" altLang="en-US" sz="2800">
                <a:latin typeface="Times New Roman" panose="02020603050405020304" pitchFamily="18" charset="0"/>
                <a:cs typeface="Times New Roman" panose="02020603050405020304" pitchFamily="18" charset="0"/>
              </a:rPr>
              <a:t>Communication cost,</a:t>
            </a:r>
          </a:p>
          <a:p>
            <a:pPr lvl="1" eaLnBrk="1" hangingPunct="1">
              <a:lnSpc>
                <a:spcPct val="90000"/>
              </a:lnSpc>
              <a:buFont typeface="Wingdings" pitchFamily="2" charset="2"/>
              <a:buChar char="ü"/>
            </a:pPr>
            <a:r>
              <a:rPr lang="en-US" altLang="en-US" sz="2800">
                <a:latin typeface="Times New Roman" panose="02020603050405020304" pitchFamily="18" charset="0"/>
                <a:cs typeface="Times New Roman" panose="02020603050405020304" pitchFamily="18" charset="0"/>
              </a:rPr>
              <a:t>Mean Queue Length,</a:t>
            </a:r>
          </a:p>
          <a:p>
            <a:pPr lvl="1" eaLnBrk="1" hangingPunct="1">
              <a:lnSpc>
                <a:spcPct val="90000"/>
              </a:lnSpc>
              <a:buFont typeface="Wingdings" pitchFamily="2" charset="2"/>
              <a:buChar char="ü"/>
            </a:pPr>
            <a:r>
              <a:rPr lang="en-US" altLang="en-US" sz="2800">
                <a:latin typeface="Times New Roman" panose="02020603050405020304" pitchFamily="18" charset="0"/>
                <a:cs typeface="Times New Roman" panose="02020603050405020304" pitchFamily="18" charset="0"/>
              </a:rPr>
              <a:t>Measured Delay. </a:t>
            </a:r>
          </a:p>
          <a:p>
            <a:pPr eaLnBrk="1" hangingPunct="1">
              <a:lnSpc>
                <a:spcPct val="90000"/>
              </a:lnSpc>
              <a:buFont typeface="Wingdings" pitchFamily="2" charset="2"/>
              <a:buChar char="q"/>
            </a:pPr>
            <a:r>
              <a:rPr lang="en-US" altLang="en-US" sz="3200">
                <a:latin typeface="Times New Roman" panose="02020603050405020304" pitchFamily="18" charset="0"/>
                <a:cs typeface="Times New Roman" panose="02020603050405020304" pitchFamily="18" charset="0"/>
              </a:rPr>
              <a:t>Algorithms:</a:t>
            </a:r>
          </a:p>
          <a:p>
            <a:pPr lvl="1" eaLnBrk="1" hangingPunct="1">
              <a:lnSpc>
                <a:spcPct val="90000"/>
              </a:lnSpc>
              <a:buFont typeface="Wingdings" pitchFamily="2" charset="2"/>
              <a:buChar char="ü"/>
            </a:pPr>
            <a:r>
              <a:rPr lang="en-US" altLang="en-US" sz="2800">
                <a:latin typeface="Times New Roman" panose="02020603050405020304" pitchFamily="18" charset="0"/>
                <a:cs typeface="Times New Roman" panose="02020603050405020304" pitchFamily="18" charset="0"/>
              </a:rPr>
              <a:t>Dijkstra</a:t>
            </a:r>
          </a:p>
          <a:p>
            <a:pPr lvl="1" eaLnBrk="1" hangingPunct="1">
              <a:lnSpc>
                <a:spcPct val="90000"/>
              </a:lnSpc>
              <a:buFont typeface="Wingdings" pitchFamily="2" charset="2"/>
              <a:buChar char="ü"/>
            </a:pPr>
            <a:r>
              <a:rPr lang="en-US" altLang="en-US" sz="2800">
                <a:latin typeface="Times New Roman" panose="02020603050405020304" pitchFamily="18" charset="0"/>
                <a:cs typeface="Times New Roman" panose="02020603050405020304" pitchFamily="18" charset="0"/>
              </a:rPr>
              <a:t>Flooding</a:t>
            </a:r>
          </a:p>
          <a:p>
            <a:pPr lvl="2" eaLnBrk="1" hangingPunct="1">
              <a:lnSpc>
                <a:spcPct val="90000"/>
              </a:lnSpc>
              <a:buFont typeface="Wingdings" pitchFamily="2" charset="2"/>
              <a:buChar char="§"/>
            </a:pPr>
            <a:r>
              <a:rPr lang="en-US" altLang="en-US" sz="2800">
                <a:latin typeface="Times New Roman" panose="02020603050405020304" pitchFamily="18" charset="0"/>
                <a:cs typeface="Times New Roman" panose="02020603050405020304" pitchFamily="18" charset="0"/>
              </a:rPr>
              <a:t>Selective Flooding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DAB4EFB-D192-F7B5-AF5A-4AE7F6CDF1D8}"/>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Shortest Path Routing(2)</a:t>
            </a:r>
            <a:endParaRPr lang="en-US" sz="4000" dirty="0"/>
          </a:p>
        </p:txBody>
      </p:sp>
      <p:sp>
        <p:nvSpPr>
          <p:cNvPr id="21506" name="Rectangle 3">
            <a:extLst>
              <a:ext uri="{FF2B5EF4-FFF2-40B4-BE49-F238E27FC236}">
                <a16:creationId xmlns:a16="http://schemas.microsoft.com/office/drawing/2014/main" id="{CC6CFEB7-491B-A494-BD0A-7881F85D0789}"/>
              </a:ext>
            </a:extLst>
          </p:cNvPr>
          <p:cNvSpPr txBox="1">
            <a:spLocks noChangeArrowheads="1"/>
          </p:cNvSpPr>
          <p:nvPr/>
        </p:nvSpPr>
        <p:spPr bwMode="auto">
          <a:xfrm>
            <a:off x="419100" y="900113"/>
            <a:ext cx="8455025" cy="5957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Mark the source node as </a:t>
            </a:r>
            <a:r>
              <a:rPr lang="en-US" altLang="en-US" sz="2800">
                <a:solidFill>
                  <a:schemeClr val="accent2"/>
                </a:solidFill>
                <a:latin typeface="Times New Roman" panose="02020603050405020304" pitchFamily="18" charset="0"/>
                <a:cs typeface="Times New Roman" panose="02020603050405020304" pitchFamily="18" charset="0"/>
              </a:rPr>
              <a:t>permanent</a:t>
            </a:r>
            <a:r>
              <a:rPr lang="en-US" altLang="en-US" sz="2800">
                <a:latin typeface="Times New Roman" panose="02020603050405020304" pitchFamily="18" charset="0"/>
                <a:cs typeface="Times New Roman" panose="02020603050405020304" pitchFamily="18" charset="0"/>
              </a:rPr>
              <a:t>.</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Designate the source node as the </a:t>
            </a:r>
            <a:r>
              <a:rPr lang="en-US" altLang="en-US" sz="2800">
                <a:solidFill>
                  <a:schemeClr val="accent2"/>
                </a:solidFill>
                <a:latin typeface="Times New Roman" panose="02020603050405020304" pitchFamily="18" charset="0"/>
                <a:cs typeface="Times New Roman" panose="02020603050405020304" pitchFamily="18" charset="0"/>
              </a:rPr>
              <a:t>working node</a:t>
            </a:r>
            <a:r>
              <a:rPr lang="en-US" altLang="en-US" sz="2800">
                <a:latin typeface="Times New Roman" panose="02020603050405020304" pitchFamily="18" charset="0"/>
                <a:cs typeface="Times New Roman" panose="02020603050405020304" pitchFamily="18" charset="0"/>
              </a:rPr>
              <a:t>.</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Set the </a:t>
            </a:r>
            <a:r>
              <a:rPr lang="en-US" altLang="en-US" sz="2800">
                <a:solidFill>
                  <a:schemeClr val="accent2"/>
                </a:solidFill>
                <a:latin typeface="Times New Roman" panose="02020603050405020304" pitchFamily="18" charset="0"/>
                <a:cs typeface="Times New Roman" panose="02020603050405020304" pitchFamily="18" charset="0"/>
              </a:rPr>
              <a:t>tentative</a:t>
            </a:r>
            <a:r>
              <a:rPr lang="en-US" altLang="en-US" sz="2800">
                <a:latin typeface="Times New Roman" panose="02020603050405020304" pitchFamily="18" charset="0"/>
                <a:cs typeface="Times New Roman" panose="02020603050405020304" pitchFamily="18" charset="0"/>
              </a:rPr>
              <a:t> distance to all other nodes to infinity.  </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While some nodes are </a:t>
            </a:r>
            <a:r>
              <a:rPr lang="en-US" altLang="en-US" sz="2800">
                <a:solidFill>
                  <a:schemeClr val="accent2"/>
                </a:solidFill>
                <a:latin typeface="Times New Roman" panose="02020603050405020304" pitchFamily="18" charset="0"/>
                <a:cs typeface="Times New Roman" panose="02020603050405020304" pitchFamily="18" charset="0"/>
              </a:rPr>
              <a:t>not </a:t>
            </a:r>
            <a:r>
              <a:rPr lang="en-US" altLang="en-US" sz="2800">
                <a:latin typeface="Times New Roman" panose="02020603050405020304" pitchFamily="18" charset="0"/>
                <a:cs typeface="Times New Roman" panose="02020603050405020304" pitchFamily="18" charset="0"/>
              </a:rPr>
              <a:t>marked permanent</a:t>
            </a:r>
          </a:p>
          <a:p>
            <a:pPr algn="just">
              <a:buFontTx/>
              <a:buNone/>
            </a:pPr>
            <a:r>
              <a:rPr lang="en-US" altLang="en-US">
                <a:latin typeface="Times New Roman" panose="02020603050405020304" pitchFamily="18" charset="0"/>
                <a:cs typeface="Times New Roman" panose="02020603050405020304" pitchFamily="18" charset="0"/>
              </a:rPr>
              <a:t>	Compute the tentative distance from the source to all nodes adjacent to the working node.  If this is shorter than the current tentative distance replace the tentative distance of the destination and record the label of the working node there.</a:t>
            </a:r>
          </a:p>
          <a:p>
            <a:pPr algn="just">
              <a:buFontTx/>
              <a:buNone/>
            </a:pPr>
            <a:r>
              <a:rPr lang="en-US" altLang="en-US">
                <a:latin typeface="Times New Roman" panose="02020603050405020304" pitchFamily="18" charset="0"/>
                <a:cs typeface="Times New Roman" panose="02020603050405020304" pitchFamily="18" charset="0"/>
              </a:rPr>
              <a:t>	</a:t>
            </a:r>
          </a:p>
          <a:p>
            <a:pPr algn="just">
              <a:buFontTx/>
              <a:buNone/>
            </a:pPr>
            <a:r>
              <a:rPr lang="en-US" altLang="en-US">
                <a:latin typeface="Times New Roman" panose="02020603050405020304" pitchFamily="18" charset="0"/>
                <a:cs typeface="Times New Roman" panose="02020603050405020304" pitchFamily="18" charset="0"/>
              </a:rPr>
              <a:t>	Examine ALL tentatively labeled nodes in the graph.  Select the node with the smallest value and make it the new working node.  Designate the node permanent.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B244D3B-C505-3FEF-C7DC-DCAF3D37F32D}"/>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Shortest Path Routing(3) [Example]</a:t>
            </a:r>
            <a:endParaRPr lang="en-US" sz="4000" dirty="0"/>
          </a:p>
        </p:txBody>
      </p:sp>
      <p:pic>
        <p:nvPicPr>
          <p:cNvPr id="22530" name="Picture 3">
            <a:extLst>
              <a:ext uri="{FF2B5EF4-FFF2-40B4-BE49-F238E27FC236}">
                <a16:creationId xmlns:a16="http://schemas.microsoft.com/office/drawing/2014/main" id="{D15AAB73-03C6-A2B4-29F4-437249355E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823913"/>
            <a:ext cx="7370763" cy="588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2A3A6BAD-D129-3EC2-46A6-D998F4CF04D5}"/>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Flooding </a:t>
            </a:r>
            <a:endParaRPr lang="en-US" sz="4000" dirty="0"/>
          </a:p>
        </p:txBody>
      </p:sp>
      <p:sp>
        <p:nvSpPr>
          <p:cNvPr id="23554" name="Rectangle 3">
            <a:extLst>
              <a:ext uri="{FF2B5EF4-FFF2-40B4-BE49-F238E27FC236}">
                <a16:creationId xmlns:a16="http://schemas.microsoft.com/office/drawing/2014/main" id="{4BC8AE87-4CCD-EFC1-C206-2AC97B7F1796}"/>
              </a:ext>
            </a:extLst>
          </p:cNvPr>
          <p:cNvSpPr txBox="1">
            <a:spLocks noChangeArrowheads="1"/>
          </p:cNvSpPr>
          <p:nvPr/>
        </p:nvSpPr>
        <p:spPr bwMode="auto">
          <a:xfrm>
            <a:off x="374650" y="974725"/>
            <a:ext cx="7929563"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752600" indent="-381000">
              <a:spcBef>
                <a:spcPct val="20000"/>
              </a:spcBef>
              <a:buClr>
                <a:schemeClr val="accent2"/>
              </a:buClr>
              <a:buChar char="–"/>
              <a:defRPr sz="2000">
                <a:solidFill>
                  <a:schemeClr val="tx1"/>
                </a:solidFill>
                <a:latin typeface="Trebuchet MS" panose="020B0703020202090204" pitchFamily="34" charset="0"/>
              </a:defRPr>
            </a:lvl4pPr>
            <a:lvl5pPr marL="2209800" indent="-381000">
              <a:spcBef>
                <a:spcPct val="20000"/>
              </a:spcBef>
              <a:buClr>
                <a:schemeClr val="accent2"/>
              </a:buClr>
              <a:buChar char="»"/>
              <a:defRPr sz="2000">
                <a:solidFill>
                  <a:schemeClr val="tx1"/>
                </a:solidFill>
                <a:latin typeface="Trebuchet MS" panose="020B0703020202090204" pitchFamily="34" charset="0"/>
              </a:defRPr>
            </a:lvl5pPr>
            <a:lvl6pPr marL="26670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31242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5814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40386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buFont typeface="Wingdings" pitchFamily="2" charset="2"/>
              <a:buChar char="q"/>
            </a:pPr>
            <a:r>
              <a:rPr lang="en-US" altLang="en-US" sz="3200">
                <a:latin typeface="Times New Roman" panose="02020603050405020304" pitchFamily="18" charset="0"/>
                <a:cs typeface="Times New Roman" panose="02020603050405020304" pitchFamily="18" charset="0"/>
              </a:rPr>
              <a:t>Brute force routing</a:t>
            </a:r>
          </a:p>
          <a:p>
            <a:pPr lvl="1" algn="just">
              <a:buFont typeface="Wingdings" pitchFamily="2" charset="2"/>
              <a:buChar char="§"/>
            </a:pPr>
            <a:r>
              <a:rPr lang="en-US" altLang="en-US" sz="2400">
                <a:latin typeface="Times New Roman" panose="02020603050405020304" pitchFamily="18" charset="0"/>
                <a:cs typeface="Times New Roman" panose="02020603050405020304" pitchFamily="18" charset="0"/>
              </a:rPr>
              <a:t>Every incoming packet is sent on every outgoing line.</a:t>
            </a:r>
          </a:p>
          <a:p>
            <a:pPr lvl="1" algn="just">
              <a:buFont typeface="Wingdings" pitchFamily="2" charset="2"/>
              <a:buChar char="§"/>
            </a:pPr>
            <a:r>
              <a:rPr lang="en-US" altLang="en-US" sz="2400">
                <a:latin typeface="Times New Roman" panose="02020603050405020304" pitchFamily="18" charset="0"/>
                <a:cs typeface="Times New Roman" panose="02020603050405020304" pitchFamily="18" charset="0"/>
              </a:rPr>
              <a:t>Flooding obviously generates vast numbers of </a:t>
            </a:r>
            <a:r>
              <a:rPr lang="en-US" altLang="en-US" sz="2400" b="1">
                <a:latin typeface="Times New Roman" panose="02020603050405020304" pitchFamily="18" charset="0"/>
                <a:cs typeface="Times New Roman" panose="02020603050405020304" pitchFamily="18" charset="0"/>
              </a:rPr>
              <a:t>duplicate packets</a:t>
            </a:r>
            <a:r>
              <a:rPr lang="en-US" altLang="en-US" sz="2400">
                <a:latin typeface="Times New Roman" panose="02020603050405020304" pitchFamily="18" charset="0"/>
                <a:cs typeface="Times New Roman" panose="02020603050405020304" pitchFamily="18" charset="0"/>
              </a:rPr>
              <a:t>, in fact, an infinite number unless some measures are taken to damp the process. </a:t>
            </a:r>
          </a:p>
          <a:p>
            <a:pPr lvl="1" algn="just">
              <a:buFont typeface="Wingdings" pitchFamily="2" charset="2"/>
              <a:buChar char="§"/>
            </a:pPr>
            <a:r>
              <a:rPr lang="en-US" altLang="en-US" sz="2400">
                <a:latin typeface="Times New Roman" panose="02020603050405020304" pitchFamily="18" charset="0"/>
                <a:cs typeface="Times New Roman" panose="02020603050405020304" pitchFamily="18" charset="0"/>
              </a:rPr>
              <a:t>One such measure is to have a hop counter that is decremented at each hop, with the packet being discarded when the counter reaches zero. </a:t>
            </a:r>
          </a:p>
          <a:p>
            <a:pPr lvl="1">
              <a:buFont typeface="Wingdings" pitchFamily="2" charset="2"/>
              <a:buChar char="§"/>
            </a:pP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2F01DD4-F8BA-FFDF-09CE-A72F59C17CCC}"/>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Flooding </a:t>
            </a:r>
            <a:endParaRPr lang="en-US" sz="4000" dirty="0"/>
          </a:p>
        </p:txBody>
      </p:sp>
      <p:sp>
        <p:nvSpPr>
          <p:cNvPr id="4" name="Rectangle 3">
            <a:extLst>
              <a:ext uri="{FF2B5EF4-FFF2-40B4-BE49-F238E27FC236}">
                <a16:creationId xmlns:a16="http://schemas.microsoft.com/office/drawing/2014/main" id="{D5D247CD-B653-C6CE-BDE8-545E16630176}"/>
              </a:ext>
            </a:extLst>
          </p:cNvPr>
          <p:cNvSpPr txBox="1">
            <a:spLocks noChangeArrowheads="1"/>
          </p:cNvSpPr>
          <p:nvPr/>
        </p:nvSpPr>
        <p:spPr bwMode="auto">
          <a:xfrm>
            <a:off x="374650" y="974725"/>
            <a:ext cx="8589963" cy="5883275"/>
          </a:xfrm>
          <a:prstGeom prst="rect">
            <a:avLst/>
          </a:prstGeom>
          <a:noFill/>
          <a:ln>
            <a:noFill/>
          </a:ln>
          <a:effectLst/>
        </p:spPr>
        <p:txBody>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marL="457200" indent="-457200">
              <a:buFont typeface="Wingdings" pitchFamily="2" charset="2"/>
              <a:buChar char="q"/>
              <a:defRPr/>
            </a:pPr>
            <a:r>
              <a:rPr lang="en-US" sz="3200" dirty="0">
                <a:latin typeface="Times New Roman" pitchFamily="18" charset="0"/>
                <a:cs typeface="Times New Roman" pitchFamily="18" charset="0"/>
              </a:rPr>
              <a:t>Brute force routing</a:t>
            </a:r>
          </a:p>
          <a:p>
            <a:pPr lvl="1">
              <a:buFont typeface="Wingdings" pitchFamily="2" charset="2"/>
              <a:buChar char="§"/>
              <a:defRPr/>
            </a:pPr>
            <a:r>
              <a:rPr lang="en-US" sz="2400" dirty="0">
                <a:latin typeface="Times New Roman" pitchFamily="18" charset="0"/>
                <a:cs typeface="Times New Roman" pitchFamily="18" charset="0"/>
              </a:rPr>
              <a:t>Every incoming packet is sent on every outgoing line.</a:t>
            </a:r>
          </a:p>
          <a:p>
            <a:pPr lvl="1">
              <a:buFont typeface="Wingdings" pitchFamily="2" charset="2"/>
              <a:buChar char="§"/>
              <a:defRPr/>
            </a:pPr>
            <a:r>
              <a:rPr lang="en-US" sz="2400" dirty="0">
                <a:latin typeface="Times New Roman" pitchFamily="18" charset="0"/>
                <a:cs typeface="Times New Roman" pitchFamily="18" charset="0"/>
              </a:rPr>
              <a:t>Always finds the shortest path quickly.</a:t>
            </a:r>
          </a:p>
          <a:p>
            <a:pPr lvl="1">
              <a:buFont typeface="Wingdings" pitchFamily="2" charset="2"/>
              <a:buChar char="§"/>
              <a:defRPr/>
            </a:pPr>
            <a:r>
              <a:rPr lang="en-US" sz="2400" dirty="0">
                <a:latin typeface="Times New Roman" pitchFamily="18" charset="0"/>
                <a:cs typeface="Times New Roman" pitchFamily="18" charset="0"/>
              </a:rPr>
              <a:t>Also finds many long paths.</a:t>
            </a:r>
          </a:p>
          <a:p>
            <a:pPr lvl="1">
              <a:buFont typeface="Wingdings" pitchFamily="2" charset="2"/>
              <a:buChar char="§"/>
              <a:defRPr/>
            </a:pPr>
            <a:r>
              <a:rPr lang="en-US" sz="2400" dirty="0">
                <a:latin typeface="Times New Roman" pitchFamily="18" charset="0"/>
                <a:cs typeface="Times New Roman" pitchFamily="18" charset="0"/>
              </a:rPr>
              <a:t>Time to live is set to size of subnet.</a:t>
            </a:r>
          </a:p>
          <a:p>
            <a:pPr>
              <a:buFont typeface="Wingdings" pitchFamily="2" charset="2"/>
              <a:buChar char="q"/>
              <a:defRPr/>
            </a:pPr>
            <a:r>
              <a:rPr lang="en-US" sz="3200" dirty="0">
                <a:latin typeface="Times New Roman" pitchFamily="18" charset="0"/>
                <a:cs typeface="Times New Roman" pitchFamily="18" charset="0"/>
              </a:rPr>
              <a:t>Selective Flooding</a:t>
            </a:r>
          </a:p>
          <a:p>
            <a:pPr lvl="1">
              <a:buFont typeface="Wingdings" pitchFamily="2" charset="2"/>
              <a:buChar char="§"/>
              <a:defRPr/>
            </a:pPr>
            <a:r>
              <a:rPr lang="en-US" sz="2400" dirty="0">
                <a:latin typeface="Times New Roman" pitchFamily="18" charset="0"/>
                <a:cs typeface="Times New Roman" pitchFamily="18" charset="0"/>
              </a:rPr>
              <a:t>Flood only in the direction of the destination.</a:t>
            </a:r>
          </a:p>
          <a:p>
            <a:pPr>
              <a:buFont typeface="Wingdings" pitchFamily="2" charset="2"/>
              <a:buChar char="q"/>
              <a:defRPr/>
            </a:pPr>
            <a:r>
              <a:rPr lang="en-US" sz="3200" dirty="0">
                <a:latin typeface="Times New Roman" pitchFamily="18" charset="0"/>
                <a:cs typeface="Times New Roman" pitchFamily="18" charset="0"/>
              </a:rPr>
              <a:t>Practical in a few settings</a:t>
            </a:r>
          </a:p>
          <a:p>
            <a:pPr lvl="1">
              <a:buFont typeface="Wingdings" pitchFamily="2" charset="2"/>
              <a:buChar char="§"/>
              <a:defRPr/>
            </a:pPr>
            <a:r>
              <a:rPr lang="en-US" sz="2400" dirty="0">
                <a:latin typeface="Times New Roman" pitchFamily="18" charset="0"/>
                <a:cs typeface="Times New Roman" pitchFamily="18" charset="0"/>
              </a:rPr>
              <a:t>Broadcast</a:t>
            </a:r>
          </a:p>
          <a:p>
            <a:pPr lvl="1">
              <a:buFont typeface="Wingdings" pitchFamily="2" charset="2"/>
              <a:buChar char="§"/>
              <a:defRPr/>
            </a:pPr>
            <a:r>
              <a:rPr lang="en-US" sz="2400" dirty="0">
                <a:latin typeface="Times New Roman" pitchFamily="18" charset="0"/>
                <a:cs typeface="Times New Roman" pitchFamily="18" charset="0"/>
              </a:rPr>
              <a:t>Military Applications.</a:t>
            </a:r>
          </a:p>
          <a:p>
            <a:pPr lvl="1">
              <a:buFont typeface="Wingdings" pitchFamily="2" charset="2"/>
              <a:buChar char="§"/>
              <a:defRPr/>
            </a:pPr>
            <a:r>
              <a:rPr lang="en-US" sz="2400" dirty="0">
                <a:latin typeface="Times New Roman" pitchFamily="18" charset="0"/>
                <a:cs typeface="Times New Roman" pitchFamily="18" charset="0"/>
              </a:rPr>
              <a:t>Distributed Databases.</a:t>
            </a:r>
          </a:p>
          <a:p>
            <a:pPr lvl="1">
              <a:buFont typeface="Wingdings" pitchFamily="2" charset="2"/>
              <a:buChar char="§"/>
              <a:defRPr/>
            </a:pPr>
            <a:r>
              <a:rPr lang="en-US" sz="2400" dirty="0">
                <a:latin typeface="Times New Roman" pitchFamily="18" charset="0"/>
                <a:cs typeface="Times New Roman" pitchFamily="18" charset="0"/>
              </a:rPr>
              <a:t>Metric for comparison.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Content Placeholder 2">
            <a:extLst>
              <a:ext uri="{FF2B5EF4-FFF2-40B4-BE49-F238E27FC236}">
                <a16:creationId xmlns:a16="http://schemas.microsoft.com/office/drawing/2014/main" id="{437846CF-A166-5B50-83A2-9DBB9597B3B9}"/>
              </a:ext>
            </a:extLst>
          </p:cNvPr>
          <p:cNvSpPr>
            <a:spLocks noGrp="1" noChangeArrowheads="1"/>
          </p:cNvSpPr>
          <p:nvPr>
            <p:ph idx="1"/>
          </p:nvPr>
        </p:nvSpPr>
        <p:spPr>
          <a:xfrm>
            <a:off x="731838" y="1450975"/>
            <a:ext cx="7680325" cy="2216150"/>
          </a:xfrm>
        </p:spPr>
        <p:txBody>
          <a:bodyPr/>
          <a:lstStyle/>
          <a:p>
            <a:r>
              <a:rPr lang="en-US" altLang="en-US" sz="4000"/>
              <a:t>Difference between Dijkstra and flooding algorithm</a:t>
            </a:r>
          </a:p>
          <a:p>
            <a:r>
              <a:rPr lang="en-US" altLang="en-US" sz="4000"/>
              <a:t>Which one is better?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965F66C-50F1-F17D-BFAA-9B596566BE3B}"/>
              </a:ext>
            </a:extLst>
          </p:cNvPr>
          <p:cNvSpPr>
            <a:spLocks noGrp="1" noChangeArrowheads="1"/>
          </p:cNvSpPr>
          <p:nvPr>
            <p:ph type="title"/>
          </p:nvPr>
        </p:nvSpPr>
        <p:spPr>
          <a:xfrm>
            <a:off x="0" y="382555"/>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Dynamic/Adaptive Routing</a:t>
            </a:r>
            <a:endParaRPr lang="en-US" sz="4000" b="1" dirty="0">
              <a:latin typeface="Times New Roman" panose="02020603050405020304" pitchFamily="18" charset="0"/>
              <a:cs typeface="Times New Roman" panose="02020603050405020304" pitchFamily="18" charset="0"/>
            </a:endParaRPr>
          </a:p>
        </p:txBody>
      </p:sp>
      <p:sp>
        <p:nvSpPr>
          <p:cNvPr id="15363" name="Rectangle 3">
            <a:extLst>
              <a:ext uri="{FF2B5EF4-FFF2-40B4-BE49-F238E27FC236}">
                <a16:creationId xmlns:a16="http://schemas.microsoft.com/office/drawing/2014/main" id="{FFFE7E92-4D7D-6909-0C4E-A5E978E493CD}"/>
              </a:ext>
            </a:extLst>
          </p:cNvPr>
          <p:cNvSpPr txBox="1">
            <a:spLocks noChangeArrowheads="1"/>
          </p:cNvSpPr>
          <p:nvPr/>
        </p:nvSpPr>
        <p:spPr bwMode="auto">
          <a:xfrm>
            <a:off x="606425" y="1173163"/>
            <a:ext cx="7753350"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2800">
                <a:latin typeface="Times-Roman"/>
              </a:rPr>
              <a:t>More complex </a:t>
            </a:r>
          </a:p>
          <a:p>
            <a:pPr algn="just">
              <a:buFont typeface="Wingdings" pitchFamily="2" charset="2"/>
              <a:buChar char="q"/>
            </a:pPr>
            <a:r>
              <a:rPr lang="en-US" altLang="en-US" sz="2800">
                <a:latin typeface="Times-Roman"/>
              </a:rPr>
              <a:t>More efficient (because they find shortest paths for the current topology)</a:t>
            </a:r>
          </a:p>
          <a:p>
            <a:pPr algn="just">
              <a:buFont typeface="Wingdings" pitchFamily="2" charset="2"/>
              <a:buChar char="q"/>
            </a:pPr>
            <a:r>
              <a:rPr lang="en-US" altLang="en-US" sz="2800">
                <a:latin typeface="Times-Roman"/>
              </a:rPr>
              <a:t>Computer networks generally use dynamic routing algorithms. </a:t>
            </a:r>
          </a:p>
          <a:p>
            <a:pPr algn="just">
              <a:buFont typeface="Wingdings" pitchFamily="2" charset="2"/>
              <a:buChar char="q"/>
            </a:pPr>
            <a:r>
              <a:rPr lang="en-US" altLang="en-US" sz="2800">
                <a:latin typeface="Times-Roman"/>
              </a:rPr>
              <a:t>Two most popular Dynamic Routing Algorithms are:</a:t>
            </a:r>
          </a:p>
          <a:p>
            <a:pPr lvl="3" algn="just">
              <a:buFont typeface="Wingdings" pitchFamily="2" charset="2"/>
              <a:buChar char="§"/>
            </a:pPr>
            <a:r>
              <a:rPr lang="en-US" altLang="en-US" sz="2800" b="1">
                <a:latin typeface="Times New Roman" panose="02020603050405020304" pitchFamily="18" charset="0"/>
                <a:cs typeface="Times New Roman" panose="02020603050405020304" pitchFamily="18" charset="0"/>
              </a:rPr>
              <a:t>Distance Vector Routing </a:t>
            </a:r>
            <a:endParaRPr lang="en-US" altLang="en-US" sz="2800">
              <a:latin typeface="Times New Roman" panose="02020603050405020304" pitchFamily="18" charset="0"/>
              <a:cs typeface="Times New Roman" panose="02020603050405020304" pitchFamily="18" charset="0"/>
            </a:endParaRPr>
          </a:p>
          <a:p>
            <a:pPr lvl="3" algn="just">
              <a:buFont typeface="Wingdings" pitchFamily="2" charset="2"/>
              <a:buChar char="§"/>
            </a:pPr>
            <a:r>
              <a:rPr lang="en-US" altLang="en-US" sz="2800" b="1">
                <a:latin typeface="Times New Roman" panose="02020603050405020304" pitchFamily="18" charset="0"/>
                <a:cs typeface="Times New Roman" panose="02020603050405020304" pitchFamily="18" charset="0"/>
              </a:rPr>
              <a:t>Link State Routing.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95DEC80-7F5C-5C38-E0CA-E72C2A3ED8F8}"/>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Dynamic/Adaptive Routing</a:t>
            </a:r>
            <a:endParaRPr lang="en-US" sz="4000" b="1" dirty="0">
              <a:latin typeface="Times New Roman" panose="02020603050405020304" pitchFamily="18" charset="0"/>
              <a:cs typeface="Times New Roman" panose="02020603050405020304" pitchFamily="18" charset="0"/>
            </a:endParaRPr>
          </a:p>
        </p:txBody>
      </p:sp>
      <p:sp>
        <p:nvSpPr>
          <p:cNvPr id="15363" name="Rectangle 3">
            <a:extLst>
              <a:ext uri="{FF2B5EF4-FFF2-40B4-BE49-F238E27FC236}">
                <a16:creationId xmlns:a16="http://schemas.microsoft.com/office/drawing/2014/main" id="{37B86296-BA12-6F7C-38C8-B2E971DE9FCF}"/>
              </a:ext>
            </a:extLst>
          </p:cNvPr>
          <p:cNvSpPr txBox="1">
            <a:spLocks noChangeArrowheads="1"/>
          </p:cNvSpPr>
          <p:nvPr/>
        </p:nvSpPr>
        <p:spPr bwMode="auto">
          <a:xfrm>
            <a:off x="478550" y="886171"/>
            <a:ext cx="8186899" cy="5849937"/>
          </a:xfrm>
          <a:prstGeom prst="rect">
            <a:avLst/>
          </a:prstGeom>
          <a:noFill/>
          <a:ln>
            <a:noFill/>
          </a:ln>
          <a:effectLst/>
        </p:spPr>
        <p:txBody>
          <a:bodyPr/>
          <a:lstStyle>
            <a:lvl1pPr marL="609600" indent="-609600">
              <a:spcBef>
                <a:spcPct val="20000"/>
              </a:spcBef>
              <a:buClr>
                <a:schemeClr val="accent2"/>
              </a:buClr>
              <a:buAutoNum type="alphaLcParenR"/>
              <a:defRPr sz="2400">
                <a:solidFill>
                  <a:schemeClr val="tx1"/>
                </a:solidFill>
                <a:latin typeface="Trebuchet MS" panose="020B0603020202020204" pitchFamily="34" charset="0"/>
              </a:defRPr>
            </a:lvl1pPr>
            <a:lvl2pPr marL="990600" indent="-533400">
              <a:spcBef>
                <a:spcPct val="20000"/>
              </a:spcBef>
              <a:buClr>
                <a:schemeClr val="accent2"/>
              </a:buClr>
              <a:buChar char="–"/>
              <a:defRPr sz="2000">
                <a:solidFill>
                  <a:schemeClr val="tx1"/>
                </a:solidFill>
                <a:latin typeface="Trebuchet MS" panose="020B0603020202020204" pitchFamily="34" charset="0"/>
              </a:defRPr>
            </a:lvl2pPr>
            <a:lvl3pPr marL="1371600" indent="-457200">
              <a:spcBef>
                <a:spcPct val="20000"/>
              </a:spcBef>
              <a:buClr>
                <a:schemeClr val="accent2"/>
              </a:buClr>
              <a:buChar char="•"/>
              <a:defRPr sz="2400">
                <a:solidFill>
                  <a:schemeClr val="tx1"/>
                </a:solidFill>
                <a:latin typeface="Trebuchet MS" panose="020B0603020202020204" pitchFamily="34" charset="0"/>
              </a:defRPr>
            </a:lvl3pPr>
            <a:lvl4pPr marL="1600200" indent="-228600">
              <a:spcBef>
                <a:spcPct val="20000"/>
              </a:spcBef>
              <a:buClr>
                <a:schemeClr val="accent2"/>
              </a:buClr>
              <a:buChar char="–"/>
              <a:defRPr sz="2000">
                <a:solidFill>
                  <a:schemeClr val="tx1"/>
                </a:solidFill>
                <a:latin typeface="Trebuchet MS" panose="020B0603020202020204" pitchFamily="34" charset="0"/>
              </a:defRPr>
            </a:lvl4pPr>
            <a:lvl5pPr marL="2057400" indent="-228600">
              <a:spcBef>
                <a:spcPct val="20000"/>
              </a:spcBef>
              <a:buClr>
                <a:schemeClr val="accent2"/>
              </a:buClr>
              <a:buChar char="»"/>
              <a:defRPr sz="2000">
                <a:solidFill>
                  <a:schemeClr val="tx1"/>
                </a:solidFill>
                <a:latin typeface="Trebuchet MS" panose="020B060302020202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9pPr>
          </a:lstStyle>
          <a:p>
            <a:pPr algn="just">
              <a:buFont typeface="Wingdings" panose="05000000000000000000" pitchFamily="2" charset="2"/>
              <a:buChar char="q"/>
              <a:defRPr/>
            </a:pPr>
            <a:r>
              <a:rPr lang="en-US" altLang="en-US" sz="3200" b="1" dirty="0">
                <a:latin typeface="Times New Roman" panose="02020603050405020304" pitchFamily="18" charset="0"/>
                <a:cs typeface="Times New Roman" panose="02020603050405020304" pitchFamily="18" charset="0"/>
              </a:rPr>
              <a:t>Distance </a:t>
            </a:r>
            <a:r>
              <a:rPr lang="en-US" altLang="en-US" sz="3200" b="1" u="sng" dirty="0">
                <a:latin typeface="Times New Roman" panose="02020603050405020304" pitchFamily="18" charset="0"/>
                <a:cs typeface="Times New Roman" panose="02020603050405020304" pitchFamily="18" charset="0"/>
              </a:rPr>
              <a:t>Vector</a:t>
            </a:r>
            <a:r>
              <a:rPr lang="en-US" altLang="en-US" sz="3200" b="1" dirty="0">
                <a:latin typeface="Times New Roman" panose="02020603050405020304" pitchFamily="18" charset="0"/>
                <a:cs typeface="Times New Roman" panose="02020603050405020304" pitchFamily="18" charset="0"/>
              </a:rPr>
              <a:t> Routing</a:t>
            </a:r>
          </a:p>
          <a:p>
            <a:pPr marL="0" indent="0" algn="just">
              <a:buFontTx/>
              <a:buNone/>
              <a:defRPr/>
            </a:pPr>
            <a:r>
              <a:rPr lang="en-US" altLang="en-US" dirty="0">
                <a:latin typeface="Times New Roman" panose="02020603050405020304" pitchFamily="18" charset="0"/>
                <a:cs typeface="Times New Roman" panose="02020603050405020304" pitchFamily="18" charset="0"/>
              </a:rPr>
              <a:t>It operates by having each router maintain a </a:t>
            </a:r>
            <a:r>
              <a:rPr lang="en-US" altLang="en-US" dirty="0">
                <a:highlight>
                  <a:srgbClr val="00FFFF"/>
                </a:highlight>
                <a:latin typeface="Times New Roman" panose="02020603050405020304" pitchFamily="18" charset="0"/>
                <a:cs typeface="Times New Roman" panose="02020603050405020304" pitchFamily="18" charset="0"/>
              </a:rPr>
              <a:t>table (i.e., a vector</a:t>
            </a:r>
            <a:r>
              <a:rPr lang="en-US" altLang="en-US" dirty="0">
                <a:latin typeface="Times New Roman" panose="02020603050405020304" pitchFamily="18" charset="0"/>
                <a:cs typeface="Times New Roman" panose="02020603050405020304" pitchFamily="18" charset="0"/>
              </a:rPr>
              <a:t>) giving the </a:t>
            </a:r>
            <a:r>
              <a:rPr lang="en-US" altLang="en-US" dirty="0">
                <a:highlight>
                  <a:srgbClr val="00FFFF"/>
                </a:highlight>
                <a:latin typeface="Times New Roman" panose="02020603050405020304" pitchFamily="18" charset="0"/>
                <a:cs typeface="Times New Roman" panose="02020603050405020304" pitchFamily="18" charset="0"/>
              </a:rPr>
              <a:t>best known distance </a:t>
            </a:r>
            <a:r>
              <a:rPr lang="en-US" altLang="en-US" dirty="0">
                <a:latin typeface="Times New Roman" panose="02020603050405020304" pitchFamily="18" charset="0"/>
                <a:cs typeface="Times New Roman" panose="02020603050405020304" pitchFamily="18" charset="0"/>
              </a:rPr>
              <a:t>to each destination and which link to use to get there.</a:t>
            </a:r>
          </a:p>
          <a:p>
            <a:pPr lvl="1" algn="just">
              <a:buFont typeface="Wingdings" panose="05000000000000000000" pitchFamily="2" charset="2"/>
              <a:buChar char="q"/>
              <a:defRPr/>
            </a:pPr>
            <a:r>
              <a:rPr lang="en-US" altLang="en-US" sz="2400" dirty="0">
                <a:latin typeface="Times New Roman" panose="02020603050405020304" pitchFamily="18" charset="0"/>
                <a:cs typeface="Times New Roman" panose="02020603050405020304" pitchFamily="18" charset="0"/>
              </a:rPr>
              <a:t>Neighboring routers periodically exchange information from their routing tables.</a:t>
            </a:r>
          </a:p>
          <a:p>
            <a:pPr lvl="1" algn="just">
              <a:buFont typeface="Wingdings" panose="05000000000000000000" pitchFamily="2" charset="2"/>
              <a:buChar char="q"/>
              <a:defRPr/>
            </a:pPr>
            <a:r>
              <a:rPr lang="en-US" altLang="en-US" sz="2400" dirty="0">
                <a:latin typeface="Times New Roman" panose="02020603050405020304" pitchFamily="18" charset="0"/>
                <a:cs typeface="Times New Roman" panose="02020603050405020304" pitchFamily="18" charset="0"/>
              </a:rPr>
              <a:t>Routers </a:t>
            </a:r>
            <a:r>
              <a:rPr lang="en-US" altLang="en-US" sz="2400" dirty="0">
                <a:highlight>
                  <a:srgbClr val="00FFFF"/>
                </a:highlight>
                <a:latin typeface="Times New Roman" panose="02020603050405020304" pitchFamily="18" charset="0"/>
                <a:cs typeface="Times New Roman" panose="02020603050405020304" pitchFamily="18" charset="0"/>
              </a:rPr>
              <a:t>replace routes </a:t>
            </a:r>
            <a:r>
              <a:rPr lang="en-US" altLang="en-US" sz="2400" dirty="0">
                <a:latin typeface="Times New Roman" panose="02020603050405020304" pitchFamily="18" charset="0"/>
                <a:cs typeface="Times New Roman" panose="02020603050405020304" pitchFamily="18" charset="0"/>
              </a:rPr>
              <a:t>in their own routing tables </a:t>
            </a:r>
            <a:r>
              <a:rPr lang="en-US" altLang="en-US" sz="2400" dirty="0">
                <a:highlight>
                  <a:srgbClr val="00FFFF"/>
                </a:highlight>
                <a:latin typeface="Times New Roman" panose="02020603050405020304" pitchFamily="18" charset="0"/>
                <a:cs typeface="Times New Roman" panose="02020603050405020304" pitchFamily="18" charset="0"/>
              </a:rPr>
              <a:t>anytime</a:t>
            </a:r>
            <a:r>
              <a:rPr lang="en-US" altLang="en-US" sz="2400" dirty="0">
                <a:latin typeface="Times New Roman" panose="02020603050405020304" pitchFamily="18" charset="0"/>
                <a:cs typeface="Times New Roman" panose="02020603050405020304" pitchFamily="18" charset="0"/>
              </a:rPr>
              <a:t> that neighbors have </a:t>
            </a:r>
            <a:r>
              <a:rPr lang="en-US" altLang="en-US" sz="2400" dirty="0">
                <a:highlight>
                  <a:srgbClr val="00FFFF"/>
                </a:highlight>
                <a:latin typeface="Times New Roman" panose="02020603050405020304" pitchFamily="18" charset="0"/>
                <a:cs typeface="Times New Roman" panose="02020603050405020304" pitchFamily="18" charset="0"/>
              </a:rPr>
              <a:t>found better routes.</a:t>
            </a:r>
          </a:p>
          <a:p>
            <a:pPr lvl="1" algn="just">
              <a:buFont typeface="Wingdings" panose="05000000000000000000" pitchFamily="2" charset="2"/>
              <a:buChar char="q"/>
              <a:defRPr/>
            </a:pPr>
            <a:r>
              <a:rPr lang="en-US" altLang="en-US" sz="2400" dirty="0">
                <a:latin typeface="Times New Roman" panose="02020603050405020304" pitchFamily="18" charset="0"/>
                <a:cs typeface="Times New Roman" panose="02020603050405020304" pitchFamily="18" charset="0"/>
              </a:rPr>
              <a:t>Information provided from neighbors</a:t>
            </a:r>
          </a:p>
          <a:p>
            <a:pPr lvl="2">
              <a:buFont typeface="Wingdings" panose="05000000000000000000" pitchFamily="2" charset="2"/>
              <a:buChar char="ü"/>
              <a:defRPr/>
            </a:pPr>
            <a:r>
              <a:rPr lang="en-US" altLang="en-US" dirty="0">
                <a:latin typeface="Times New Roman" panose="02020603050405020304" pitchFamily="18" charset="0"/>
                <a:cs typeface="Times New Roman" panose="02020603050405020304" pitchFamily="18" charset="0"/>
              </a:rPr>
              <a:t>Outgoing line used for destination.</a:t>
            </a:r>
          </a:p>
          <a:p>
            <a:pPr lvl="2">
              <a:buFont typeface="Wingdings" panose="05000000000000000000" pitchFamily="2" charset="2"/>
              <a:buChar char="ü"/>
              <a:defRPr/>
            </a:pPr>
            <a:r>
              <a:rPr lang="en-US" altLang="en-US" dirty="0">
                <a:latin typeface="Times New Roman" panose="02020603050405020304" pitchFamily="18" charset="0"/>
                <a:cs typeface="Times New Roman" panose="02020603050405020304" pitchFamily="18" charset="0"/>
              </a:rPr>
              <a:t>Estimate of time or distance.</a:t>
            </a:r>
          </a:p>
          <a:p>
            <a:pPr lvl="3">
              <a:defRPr/>
            </a:pPr>
            <a:r>
              <a:rPr lang="en-US" altLang="en-US" sz="2400" dirty="0">
                <a:latin typeface="Times New Roman" panose="02020603050405020304" pitchFamily="18" charset="0"/>
                <a:cs typeface="Times New Roman" panose="02020603050405020304" pitchFamily="18" charset="0"/>
              </a:rPr>
              <a:t>can be number of hops, time delay, packet queue length, etc.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EEF55124-90FA-A1BF-C8EE-F60F873746D3}"/>
              </a:ext>
            </a:extLst>
          </p:cNvPr>
          <p:cNvSpPr>
            <a:spLocks noGrp="1" noChangeArrowheads="1"/>
          </p:cNvSpPr>
          <p:nvPr>
            <p:ph type="title"/>
          </p:nvPr>
        </p:nvSpPr>
        <p:spPr>
          <a:xfrm>
            <a:off x="0" y="0"/>
            <a:ext cx="9144000" cy="890588"/>
          </a:xfrm>
        </p:spPr>
        <p:txBody>
          <a:bodyPr/>
          <a:lstStyle/>
          <a:p>
            <a:r>
              <a:rPr lang="en-US" altLang="en-US" sz="3600" b="1">
                <a:solidFill>
                  <a:schemeClr val="accent2"/>
                </a:solidFill>
                <a:latin typeface="Times New Roman" panose="02020603050405020304" pitchFamily="18" charset="0"/>
                <a:cs typeface="Times New Roman" panose="02020603050405020304" pitchFamily="18" charset="0"/>
              </a:rPr>
              <a:t>Distance Vector Routing</a:t>
            </a:r>
          </a:p>
        </p:txBody>
      </p:sp>
      <p:sp>
        <p:nvSpPr>
          <p:cNvPr id="28674" name="Rectangle 3">
            <a:extLst>
              <a:ext uri="{FF2B5EF4-FFF2-40B4-BE49-F238E27FC236}">
                <a16:creationId xmlns:a16="http://schemas.microsoft.com/office/drawing/2014/main" id="{684107D3-0F32-C7F9-365A-ED8EE15894B7}"/>
              </a:ext>
            </a:extLst>
          </p:cNvPr>
          <p:cNvSpPr txBox="1">
            <a:spLocks noChangeArrowheads="1"/>
          </p:cNvSpPr>
          <p:nvPr/>
        </p:nvSpPr>
        <p:spPr bwMode="auto">
          <a:xfrm>
            <a:off x="415925" y="865188"/>
            <a:ext cx="8562975" cy="584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endParaRPr lang="en-US" altLang="en-US" sz="3200" b="1">
              <a:latin typeface="Times New Roman" panose="02020603050405020304" pitchFamily="18" charset="0"/>
              <a:cs typeface="Times New Roman" panose="02020603050405020304" pitchFamily="18" charset="0"/>
            </a:endParaRPr>
          </a:p>
        </p:txBody>
      </p:sp>
      <p:pic>
        <p:nvPicPr>
          <p:cNvPr id="28675" name="Picture 2">
            <a:extLst>
              <a:ext uri="{FF2B5EF4-FFF2-40B4-BE49-F238E27FC236}">
                <a16:creationId xmlns:a16="http://schemas.microsoft.com/office/drawing/2014/main" id="{4FDEEA92-255F-1ACF-9EBE-CC4E4A795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313" y="865188"/>
            <a:ext cx="6683375"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77DD6D62-1801-3517-AF0C-A9AAF67614D7}"/>
              </a:ext>
            </a:extLst>
          </p:cNvPr>
          <p:cNvSpPr>
            <a:spLocks noGrp="1" noChangeArrowheads="1"/>
          </p:cNvSpPr>
          <p:nvPr>
            <p:ph type="title"/>
          </p:nvPr>
        </p:nvSpPr>
        <p:spPr>
          <a:xfrm>
            <a:off x="0" y="0"/>
            <a:ext cx="9144000" cy="890588"/>
          </a:xfrm>
        </p:spPr>
        <p:txBody>
          <a:bodyPr/>
          <a:lstStyle/>
          <a:p>
            <a:r>
              <a:rPr lang="en-US" altLang="en-US" sz="3600" b="1">
                <a:solidFill>
                  <a:schemeClr val="accent2"/>
                </a:solidFill>
                <a:latin typeface="Times New Roman" panose="02020603050405020304" pitchFamily="18" charset="0"/>
                <a:cs typeface="Times New Roman" panose="02020603050405020304" pitchFamily="18" charset="0"/>
              </a:rPr>
              <a:t>Distance Vector Routing</a:t>
            </a:r>
          </a:p>
        </p:txBody>
      </p:sp>
      <p:pic>
        <p:nvPicPr>
          <p:cNvPr id="29698" name="Picture 16">
            <a:extLst>
              <a:ext uri="{FF2B5EF4-FFF2-40B4-BE49-F238E27FC236}">
                <a16:creationId xmlns:a16="http://schemas.microsoft.com/office/drawing/2014/main" id="{31449F66-C330-02AD-FD09-BFC9C68C9B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1689100"/>
            <a:ext cx="3021013"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a:extLst>
              <a:ext uri="{FF2B5EF4-FFF2-40B4-BE49-F238E27FC236}">
                <a16:creationId xmlns:a16="http://schemas.microsoft.com/office/drawing/2014/main" id="{B3C2C8DE-3585-8A92-087B-D7AEF3F4CC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3" y="3949700"/>
            <a:ext cx="43878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Box 26">
            <a:extLst>
              <a:ext uri="{FF2B5EF4-FFF2-40B4-BE49-F238E27FC236}">
                <a16:creationId xmlns:a16="http://schemas.microsoft.com/office/drawing/2014/main" id="{895A1945-0D5F-5CE0-CD61-725F1F16899C}"/>
              </a:ext>
            </a:extLst>
          </p:cNvPr>
          <p:cNvSpPr txBox="1">
            <a:spLocks noChangeArrowheads="1"/>
          </p:cNvSpPr>
          <p:nvPr/>
        </p:nvSpPr>
        <p:spPr bwMode="auto">
          <a:xfrm>
            <a:off x="485775" y="854075"/>
            <a:ext cx="83137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en-BD">
                <a:latin typeface="Times New Roman" panose="02020603050405020304" pitchFamily="18" charset="0"/>
                <a:cs typeface="Times New Roman" panose="02020603050405020304" pitchFamily="18" charset="0"/>
              </a:rPr>
              <a:t>Consider the network below. Distance vector routing is used, and the following vectors have just come in to router C:</a:t>
            </a:r>
          </a:p>
        </p:txBody>
      </p:sp>
      <p:sp>
        <p:nvSpPr>
          <p:cNvPr id="28" name="Oval 27">
            <a:extLst>
              <a:ext uri="{FF2B5EF4-FFF2-40B4-BE49-F238E27FC236}">
                <a16:creationId xmlns:a16="http://schemas.microsoft.com/office/drawing/2014/main" id="{43F42087-FAA1-CD8F-5031-5CE54ADAFEC0}"/>
              </a:ext>
            </a:extLst>
          </p:cNvPr>
          <p:cNvSpPr/>
          <p:nvPr/>
        </p:nvSpPr>
        <p:spPr bwMode="auto">
          <a:xfrm>
            <a:off x="3228975" y="1689100"/>
            <a:ext cx="558800" cy="503238"/>
          </a:xfrm>
          <a:prstGeom prst="ellipse">
            <a:avLst/>
          </a:prstGeom>
          <a:noFill/>
          <a:ln w="19050" cap="flat" cmpd="sng" algn="ctr">
            <a:solidFill>
              <a:srgbClr val="FFC000"/>
            </a:solidFill>
            <a:prstDash val="solid"/>
            <a:round/>
            <a:headEnd type="none" w="med" len="med"/>
            <a:tailEnd type="none" w="med" len="med"/>
          </a:ln>
          <a:effectLst>
            <a:outerShdw blurRad="50800" dist="38100" dir="5400000" algn="t" rotWithShape="0">
              <a:prstClr val="black">
                <a:alpha val="40000"/>
              </a:prstClr>
            </a:outerShdw>
          </a:effectLst>
        </p:spPr>
        <p:txBody>
          <a:bodyPr/>
          <a:lstStyle/>
          <a:p>
            <a:pPr algn="ctr" eaLnBrk="1" hangingPunct="1">
              <a:defRPr/>
            </a:pPr>
            <a:endParaRPr lang="en-US">
              <a:latin typeface="Arial" charset="0"/>
            </a:endParaRPr>
          </a:p>
        </p:txBody>
      </p:sp>
      <p:sp>
        <p:nvSpPr>
          <p:cNvPr id="29702" name="TextBox 31">
            <a:extLst>
              <a:ext uri="{FF2B5EF4-FFF2-40B4-BE49-F238E27FC236}">
                <a16:creationId xmlns:a16="http://schemas.microsoft.com/office/drawing/2014/main" id="{D8BD0201-2CD4-1F95-B9FF-91B70F1F3915}"/>
              </a:ext>
            </a:extLst>
          </p:cNvPr>
          <p:cNvSpPr txBox="1">
            <a:spLocks noChangeArrowheads="1"/>
          </p:cNvSpPr>
          <p:nvPr/>
        </p:nvSpPr>
        <p:spPr bwMode="auto">
          <a:xfrm>
            <a:off x="1212850" y="6180138"/>
            <a:ext cx="3829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BD">
                <a:latin typeface="Times New Roman" panose="02020603050405020304" pitchFamily="18" charset="0"/>
                <a:ea typeface="Calibri" panose="020F0502020204030204" pitchFamily="34" charset="0"/>
                <a:cs typeface="Calibri" panose="020F0502020204030204" pitchFamily="34" charset="0"/>
              </a:rPr>
              <a:t>Vectors received from C's 3 neighbors</a:t>
            </a:r>
            <a:endParaRPr lang="en-US" altLang="en-BD"/>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79395403-D52C-9454-0366-16C1090F6027}"/>
              </a:ext>
            </a:extLst>
          </p:cNvPr>
          <p:cNvSpPr>
            <a:spLocks noGrp="1" noChangeArrowheads="1"/>
          </p:cNvSpPr>
          <p:nvPr>
            <p:ph type="title"/>
          </p:nvPr>
        </p:nvSpPr>
        <p:spPr>
          <a:xfrm>
            <a:off x="0" y="0"/>
            <a:ext cx="9144000" cy="890588"/>
          </a:xfrm>
        </p:spPr>
        <p:txBody>
          <a:bodyPr/>
          <a:lstStyle/>
          <a:p>
            <a:r>
              <a:rPr lang="en-US" altLang="en-US" sz="3600" b="1">
                <a:solidFill>
                  <a:schemeClr val="accent2"/>
                </a:solidFill>
                <a:latin typeface="Times New Roman" panose="02020603050405020304" pitchFamily="18" charset="0"/>
                <a:cs typeface="Times New Roman" panose="02020603050405020304" pitchFamily="18" charset="0"/>
              </a:rPr>
              <a:t>Distance Vector Routing</a:t>
            </a:r>
          </a:p>
        </p:txBody>
      </p:sp>
      <p:pic>
        <p:nvPicPr>
          <p:cNvPr id="30722" name="Picture 21">
            <a:extLst>
              <a:ext uri="{FF2B5EF4-FFF2-40B4-BE49-F238E27FC236}">
                <a16:creationId xmlns:a16="http://schemas.microsoft.com/office/drawing/2014/main" id="{A3E65062-1FE0-5084-7C9A-579EEE4B7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488" y="4011613"/>
            <a:ext cx="4227512"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extBox 26">
            <a:extLst>
              <a:ext uri="{FF2B5EF4-FFF2-40B4-BE49-F238E27FC236}">
                <a16:creationId xmlns:a16="http://schemas.microsoft.com/office/drawing/2014/main" id="{D2B6B67E-3CB2-74CB-B85F-9F41765618C2}"/>
              </a:ext>
            </a:extLst>
          </p:cNvPr>
          <p:cNvSpPr txBox="1">
            <a:spLocks noChangeArrowheads="1"/>
          </p:cNvSpPr>
          <p:nvPr/>
        </p:nvSpPr>
        <p:spPr bwMode="auto">
          <a:xfrm>
            <a:off x="485775" y="854075"/>
            <a:ext cx="83137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en-BD">
                <a:latin typeface="Times New Roman" panose="02020603050405020304" pitchFamily="18" charset="0"/>
                <a:cs typeface="Times New Roman" panose="02020603050405020304" pitchFamily="18" charset="0"/>
              </a:rPr>
              <a:t>Consider the network below. Distance vector routing is used, and the following vectors have just come in to router C:</a:t>
            </a:r>
          </a:p>
        </p:txBody>
      </p:sp>
      <p:pic>
        <p:nvPicPr>
          <p:cNvPr id="30" name="Picture 29">
            <a:extLst>
              <a:ext uri="{FF2B5EF4-FFF2-40B4-BE49-F238E27FC236}">
                <a16:creationId xmlns:a16="http://schemas.microsoft.com/office/drawing/2014/main" id="{A5AE9352-6FC8-09DE-D1F4-198EB3631F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938" y="1679575"/>
            <a:ext cx="2992437"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Box 2">
            <a:extLst>
              <a:ext uri="{FF2B5EF4-FFF2-40B4-BE49-F238E27FC236}">
                <a16:creationId xmlns:a16="http://schemas.microsoft.com/office/drawing/2014/main" id="{AE1CB4B2-41CE-B490-D63A-B8B8C2119AE2}"/>
              </a:ext>
            </a:extLst>
          </p:cNvPr>
          <p:cNvSpPr txBox="1">
            <a:spLocks noChangeArrowheads="1"/>
          </p:cNvSpPr>
          <p:nvPr/>
        </p:nvSpPr>
        <p:spPr bwMode="auto">
          <a:xfrm>
            <a:off x="5186363" y="1500188"/>
            <a:ext cx="36131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en-BD">
                <a:latin typeface="Times New Roman" panose="02020603050405020304" pitchFamily="18" charset="0"/>
                <a:ea typeface="Calibri" panose="020F0502020204030204" pitchFamily="34" charset="0"/>
                <a:cs typeface="Calibri" panose="020F0502020204030204" pitchFamily="34" charset="0"/>
              </a:rPr>
              <a:t>The cost of the links from C to B, D, and E, are 6, 3, and 5, respectively. What is C’s new routing table? </a:t>
            </a:r>
            <a:endParaRPr lang="en-US" altLang="en-BD"/>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061BF83-4A51-984A-81DC-92AC984A2E74}"/>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Count–to-Infinity Problem</a:t>
            </a:r>
            <a:endParaRPr lang="en-US" sz="4000" b="1" dirty="0">
              <a:latin typeface="Times New Roman" panose="02020603050405020304" pitchFamily="18" charset="0"/>
              <a:cs typeface="Times New Roman" panose="02020603050405020304" pitchFamily="18" charset="0"/>
            </a:endParaRPr>
          </a:p>
        </p:txBody>
      </p:sp>
      <p:sp>
        <p:nvSpPr>
          <p:cNvPr id="17411" name="Rectangle 3">
            <a:extLst>
              <a:ext uri="{FF2B5EF4-FFF2-40B4-BE49-F238E27FC236}">
                <a16:creationId xmlns:a16="http://schemas.microsoft.com/office/drawing/2014/main" id="{A67DB27B-E448-F559-39DA-B7866D09B988}"/>
              </a:ext>
            </a:extLst>
          </p:cNvPr>
          <p:cNvSpPr txBox="1">
            <a:spLocks noChangeArrowheads="1"/>
          </p:cNvSpPr>
          <p:nvPr/>
        </p:nvSpPr>
        <p:spPr bwMode="auto">
          <a:xfrm>
            <a:off x="716666" y="890955"/>
            <a:ext cx="7993225" cy="5425869"/>
          </a:xfrm>
          <a:prstGeom prst="rect">
            <a:avLst/>
          </a:prstGeom>
          <a:noFill/>
          <a:ln>
            <a:noFill/>
          </a:ln>
          <a:effectLst/>
        </p:spPr>
        <p:txBody>
          <a:bodyPr/>
          <a:lstStyle>
            <a:lvl1pPr marL="609600" indent="-609600">
              <a:spcBef>
                <a:spcPct val="20000"/>
              </a:spcBef>
              <a:buClr>
                <a:schemeClr val="accent2"/>
              </a:buClr>
              <a:buAutoNum type="alphaLcParenR"/>
              <a:defRPr sz="2400">
                <a:solidFill>
                  <a:schemeClr val="tx1"/>
                </a:solidFill>
                <a:latin typeface="Trebuchet MS" panose="020B0603020202020204" pitchFamily="34" charset="0"/>
              </a:defRPr>
            </a:lvl1pPr>
            <a:lvl2pPr marL="990600" indent="-533400">
              <a:spcBef>
                <a:spcPct val="20000"/>
              </a:spcBef>
              <a:buClr>
                <a:schemeClr val="accent2"/>
              </a:buClr>
              <a:buChar char="–"/>
              <a:defRPr sz="2000">
                <a:solidFill>
                  <a:schemeClr val="tx1"/>
                </a:solidFill>
                <a:latin typeface="Trebuchet MS" panose="020B0603020202020204" pitchFamily="34" charset="0"/>
              </a:defRPr>
            </a:lvl2pPr>
            <a:lvl3pPr marL="1143000" indent="-228600">
              <a:spcBef>
                <a:spcPct val="20000"/>
              </a:spcBef>
              <a:buClr>
                <a:schemeClr val="accent2"/>
              </a:buClr>
              <a:buChar char="•"/>
              <a:defRPr sz="2400">
                <a:solidFill>
                  <a:schemeClr val="tx1"/>
                </a:solidFill>
                <a:latin typeface="Trebuchet MS" panose="020B0603020202020204" pitchFamily="34" charset="0"/>
              </a:defRPr>
            </a:lvl3pPr>
            <a:lvl4pPr marL="1600200" indent="-228600">
              <a:spcBef>
                <a:spcPct val="20000"/>
              </a:spcBef>
              <a:buClr>
                <a:schemeClr val="accent2"/>
              </a:buClr>
              <a:buChar char="–"/>
              <a:defRPr sz="2000">
                <a:solidFill>
                  <a:schemeClr val="tx1"/>
                </a:solidFill>
                <a:latin typeface="Trebuchet MS" panose="020B0603020202020204" pitchFamily="34" charset="0"/>
              </a:defRPr>
            </a:lvl4pPr>
            <a:lvl5pPr marL="2057400" indent="-228600">
              <a:spcBef>
                <a:spcPct val="20000"/>
              </a:spcBef>
              <a:buClr>
                <a:schemeClr val="accent2"/>
              </a:buClr>
              <a:buChar char="»"/>
              <a:defRPr sz="2000">
                <a:solidFill>
                  <a:schemeClr val="tx1"/>
                </a:solidFill>
                <a:latin typeface="Trebuchet MS" panose="020B060302020202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9pPr>
          </a:lstStyle>
          <a:p>
            <a:pPr marL="0" indent="0" algn="just" eaLnBrk="1" hangingPunct="1">
              <a:buFontTx/>
              <a:buNone/>
              <a:defRPr/>
            </a:pPr>
            <a:r>
              <a:rPr lang="en-US" altLang="en-US" dirty="0">
                <a:latin typeface="Times New Roman" panose="02020603050405020304" pitchFamily="18" charset="0"/>
                <a:cs typeface="Times New Roman" panose="02020603050405020304" pitchFamily="18" charset="0"/>
              </a:rPr>
              <a:t>The </a:t>
            </a:r>
            <a:r>
              <a:rPr lang="en-US" altLang="en-US" dirty="0">
                <a:highlight>
                  <a:srgbClr val="00FFFF"/>
                </a:highlight>
                <a:latin typeface="Times New Roman" panose="02020603050405020304" pitchFamily="18" charset="0"/>
                <a:cs typeface="Times New Roman" panose="02020603050405020304" pitchFamily="18" charset="0"/>
              </a:rPr>
              <a:t>settling</a:t>
            </a:r>
            <a:r>
              <a:rPr lang="en-US" altLang="en-US" dirty="0">
                <a:latin typeface="Times New Roman" panose="02020603050405020304" pitchFamily="18" charset="0"/>
                <a:cs typeface="Times New Roman" panose="02020603050405020304" pitchFamily="18" charset="0"/>
              </a:rPr>
              <a:t> of routes to best paths across the network is called </a:t>
            </a:r>
            <a:r>
              <a:rPr lang="en-US" altLang="en-US" dirty="0">
                <a:highlight>
                  <a:srgbClr val="00FFFF"/>
                </a:highlight>
                <a:latin typeface="Times New Roman" panose="02020603050405020304" pitchFamily="18" charset="0"/>
                <a:cs typeface="Times New Roman" panose="02020603050405020304" pitchFamily="18" charset="0"/>
              </a:rPr>
              <a:t>convergence.</a:t>
            </a:r>
          </a:p>
          <a:p>
            <a:pPr eaLnBrk="1" hangingPunct="1">
              <a:buFont typeface="Wingdings" panose="05000000000000000000" pitchFamily="2" charset="2"/>
              <a:buChar char="q"/>
              <a:defRPr/>
            </a:pPr>
            <a:r>
              <a:rPr lang="en-US" altLang="en-US" dirty="0">
                <a:latin typeface="Times New Roman" panose="02020603050405020304" pitchFamily="18" charset="0"/>
                <a:cs typeface="Times New Roman" panose="02020603050405020304" pitchFamily="18" charset="0"/>
              </a:rPr>
              <a:t>Bad news” Propagate slowly.</a:t>
            </a:r>
          </a:p>
          <a:p>
            <a:pPr eaLnBrk="1" hangingPunct="1">
              <a:buFont typeface="Wingdings" panose="05000000000000000000" pitchFamily="2" charset="2"/>
              <a:buChar char="q"/>
              <a:defRPr/>
            </a:pPr>
            <a:r>
              <a:rPr lang="en-US" altLang="en-US" dirty="0">
                <a:latin typeface="Times New Roman" panose="02020603050405020304" pitchFamily="18" charset="0"/>
                <a:cs typeface="Times New Roman" panose="02020603050405020304" pitchFamily="18" charset="0"/>
              </a:rPr>
              <a:t>“Good news” Propagate fast:</a:t>
            </a:r>
            <a:r>
              <a:rPr lang="en-US" altLang="en-US" sz="2800" dirty="0">
                <a:latin typeface="Times New Roman" panose="02020603050405020304" pitchFamily="18" charset="0"/>
                <a:cs typeface="Times New Roman" panose="02020603050405020304" pitchFamily="18" charset="0"/>
              </a:rPr>
              <a:t> </a:t>
            </a:r>
          </a:p>
          <a:p>
            <a:pPr marL="838200" lvl="1" indent="-457200" algn="just" eaLnBrk="1" hangingPunct="1">
              <a:buFont typeface="Wingdings" panose="05000000000000000000" pitchFamily="2" charset="2"/>
              <a:buChar char="§"/>
              <a:defRPr/>
            </a:pPr>
            <a:r>
              <a:rPr lang="en-US" altLang="en-US" sz="2400"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“Good news” typically refers to an improvement in the network's connectivity or the discovery of a new, shorter path to a destination.</a:t>
            </a:r>
          </a:p>
          <a:p>
            <a:pPr marL="0" indent="0" eaLnBrk="1" hangingPunct="1">
              <a:buFontTx/>
              <a:buNone/>
              <a:defRPr/>
            </a:pPr>
            <a:r>
              <a:rPr lang="en-US" altLang="en-US" sz="2800" dirty="0">
                <a:latin typeface="Times New Roman" panose="02020603050405020304" pitchFamily="18" charset="0"/>
                <a:cs typeface="Times New Roman" panose="02020603050405020304" pitchFamily="18" charset="0"/>
              </a:rPr>
              <a:t> </a:t>
            </a:r>
          </a:p>
        </p:txBody>
      </p:sp>
      <p:pic>
        <p:nvPicPr>
          <p:cNvPr id="31747" name="Picture 3">
            <a:extLst>
              <a:ext uri="{FF2B5EF4-FFF2-40B4-BE49-F238E27FC236}">
                <a16:creationId xmlns:a16="http://schemas.microsoft.com/office/drawing/2014/main" id="{44E5AF46-798D-FA18-E2C0-90048F85D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138" y="3511550"/>
            <a:ext cx="539750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extBox 5">
            <a:extLst>
              <a:ext uri="{FF2B5EF4-FFF2-40B4-BE49-F238E27FC236}">
                <a16:creationId xmlns:a16="http://schemas.microsoft.com/office/drawing/2014/main" id="{1509F378-B8CB-32FB-A4EF-CC292621C3C7}"/>
              </a:ext>
            </a:extLst>
          </p:cNvPr>
          <p:cNvSpPr txBox="1">
            <a:spLocks noChangeArrowheads="1"/>
          </p:cNvSpPr>
          <p:nvPr/>
        </p:nvSpPr>
        <p:spPr bwMode="auto">
          <a:xfrm>
            <a:off x="1233488" y="5994400"/>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Only 4 exchange path converges.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79B75FC-A37B-4C34-C2EA-9FD85F7ED2FB}"/>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Count–to-Infinity Problem</a:t>
            </a:r>
            <a:endParaRPr lang="en-US" sz="4000" b="1" dirty="0">
              <a:latin typeface="Times New Roman" panose="02020603050405020304" pitchFamily="18" charset="0"/>
              <a:cs typeface="Times New Roman" panose="02020603050405020304" pitchFamily="18" charset="0"/>
            </a:endParaRPr>
          </a:p>
        </p:txBody>
      </p:sp>
      <p:sp>
        <p:nvSpPr>
          <p:cNvPr id="17411" name="Rectangle 3">
            <a:extLst>
              <a:ext uri="{FF2B5EF4-FFF2-40B4-BE49-F238E27FC236}">
                <a16:creationId xmlns:a16="http://schemas.microsoft.com/office/drawing/2014/main" id="{2067721F-FE23-1261-74E5-BD6EF10CA8AB}"/>
              </a:ext>
            </a:extLst>
          </p:cNvPr>
          <p:cNvSpPr txBox="1">
            <a:spLocks noChangeArrowheads="1"/>
          </p:cNvSpPr>
          <p:nvPr/>
        </p:nvSpPr>
        <p:spPr bwMode="auto">
          <a:xfrm>
            <a:off x="817563" y="890588"/>
            <a:ext cx="7994650" cy="5426075"/>
          </a:xfrm>
          <a:prstGeom prst="rect">
            <a:avLst/>
          </a:prstGeom>
          <a:noFill/>
          <a:ln>
            <a:noFill/>
          </a:ln>
          <a:effectLst/>
        </p:spPr>
        <p:txBody>
          <a:bodyPr/>
          <a:lstStyle>
            <a:lvl1pPr marL="609600" indent="-609600">
              <a:spcBef>
                <a:spcPct val="20000"/>
              </a:spcBef>
              <a:buClr>
                <a:schemeClr val="accent2"/>
              </a:buClr>
              <a:buAutoNum type="alphaLcParenR"/>
              <a:defRPr sz="2400">
                <a:solidFill>
                  <a:schemeClr val="tx1"/>
                </a:solidFill>
                <a:latin typeface="Trebuchet MS" panose="020B0603020202020204" pitchFamily="34" charset="0"/>
              </a:defRPr>
            </a:lvl1pPr>
            <a:lvl2pPr marL="990600" indent="-533400">
              <a:spcBef>
                <a:spcPct val="20000"/>
              </a:spcBef>
              <a:buClr>
                <a:schemeClr val="accent2"/>
              </a:buClr>
              <a:buChar char="–"/>
              <a:defRPr sz="2000">
                <a:solidFill>
                  <a:schemeClr val="tx1"/>
                </a:solidFill>
                <a:latin typeface="Trebuchet MS" panose="020B0603020202020204" pitchFamily="34" charset="0"/>
              </a:defRPr>
            </a:lvl2pPr>
            <a:lvl3pPr marL="1143000" indent="-228600">
              <a:spcBef>
                <a:spcPct val="20000"/>
              </a:spcBef>
              <a:buClr>
                <a:schemeClr val="accent2"/>
              </a:buClr>
              <a:buChar char="•"/>
              <a:defRPr sz="2400">
                <a:solidFill>
                  <a:schemeClr val="tx1"/>
                </a:solidFill>
                <a:latin typeface="Trebuchet MS" panose="020B0603020202020204" pitchFamily="34" charset="0"/>
              </a:defRPr>
            </a:lvl3pPr>
            <a:lvl4pPr marL="1600200" indent="-228600">
              <a:spcBef>
                <a:spcPct val="20000"/>
              </a:spcBef>
              <a:buClr>
                <a:schemeClr val="accent2"/>
              </a:buClr>
              <a:buChar char="–"/>
              <a:defRPr sz="2000">
                <a:solidFill>
                  <a:schemeClr val="tx1"/>
                </a:solidFill>
                <a:latin typeface="Trebuchet MS" panose="020B0603020202020204" pitchFamily="34" charset="0"/>
              </a:defRPr>
            </a:lvl4pPr>
            <a:lvl5pPr marL="2057400" indent="-228600">
              <a:spcBef>
                <a:spcPct val="20000"/>
              </a:spcBef>
              <a:buClr>
                <a:schemeClr val="accent2"/>
              </a:buClr>
              <a:buChar char="»"/>
              <a:defRPr sz="2000">
                <a:solidFill>
                  <a:schemeClr val="tx1"/>
                </a:solidFill>
                <a:latin typeface="Trebuchet MS" panose="020B060302020202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9pPr>
          </a:lstStyle>
          <a:p>
            <a:pPr eaLnBrk="1" hangingPunct="1">
              <a:buFont typeface="Wingdings" panose="05000000000000000000" pitchFamily="2" charset="2"/>
              <a:buChar char="q"/>
              <a:defRPr/>
            </a:pPr>
            <a:r>
              <a:rPr lang="en-US" altLang="en-US" dirty="0">
                <a:latin typeface="Times New Roman" panose="02020603050405020304" pitchFamily="18" charset="0"/>
                <a:cs typeface="Times New Roman" panose="02020603050405020304" pitchFamily="18" charset="0"/>
              </a:rPr>
              <a:t>“Bad news” Propagate slowly.</a:t>
            </a:r>
          </a:p>
          <a:p>
            <a:pPr marL="838200" lvl="1" indent="-457200" algn="just" eaLnBrk="1" hangingPunct="1">
              <a:buFont typeface="Wingdings" panose="05000000000000000000" pitchFamily="2" charset="2"/>
              <a:buChar char="§"/>
              <a:defRPr/>
            </a:pPr>
            <a:r>
              <a:rPr lang="en-US" altLang="en-US" dirty="0">
                <a:latin typeface="Times New Roman" panose="02020603050405020304" pitchFamily="18" charset="0"/>
                <a:cs typeface="Times New Roman" panose="02020603050405020304" pitchFamily="18" charset="0"/>
              </a:rPr>
              <a:t>“Bad news" typically refers to a degradation in the network's connectivity or the discovery of a longer path to a destination. </a:t>
            </a:r>
            <a:endParaRPr lang="en-US" altLang="en-US" sz="1800" dirty="0">
              <a:latin typeface="Times New Roman" panose="02020603050405020304" pitchFamily="18" charset="0"/>
              <a:cs typeface="Times New Roman" panose="02020603050405020304" pitchFamily="18" charset="0"/>
            </a:endParaRPr>
          </a:p>
          <a:p>
            <a:pPr marL="0" indent="0" eaLnBrk="1" hangingPunct="1">
              <a:buFontTx/>
              <a:buNone/>
              <a:defRPr/>
            </a:pPr>
            <a:r>
              <a:rPr lang="en-US" altLang="en-US" sz="2800" dirty="0">
                <a:latin typeface="Times New Roman" panose="02020603050405020304" pitchFamily="18" charset="0"/>
                <a:cs typeface="Times New Roman" panose="02020603050405020304" pitchFamily="18" charset="0"/>
              </a:rPr>
              <a:t> </a:t>
            </a:r>
          </a:p>
        </p:txBody>
      </p:sp>
      <p:pic>
        <p:nvPicPr>
          <p:cNvPr id="33795" name="Picture 2">
            <a:extLst>
              <a:ext uri="{FF2B5EF4-FFF2-40B4-BE49-F238E27FC236}">
                <a16:creationId xmlns:a16="http://schemas.microsoft.com/office/drawing/2014/main" id="{36FD5BC0-60B0-AEC0-D1FF-9A2288A8B7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143125"/>
            <a:ext cx="5021262"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extBox 6">
            <a:extLst>
              <a:ext uri="{FF2B5EF4-FFF2-40B4-BE49-F238E27FC236}">
                <a16:creationId xmlns:a16="http://schemas.microsoft.com/office/drawing/2014/main" id="{60651AE4-B26F-CD79-A4ED-235B07A72230}"/>
              </a:ext>
            </a:extLst>
          </p:cNvPr>
          <p:cNvSpPr txBox="1">
            <a:spLocks noChangeArrowheads="1"/>
          </p:cNvSpPr>
          <p:nvPr/>
        </p:nvSpPr>
        <p:spPr bwMode="auto">
          <a:xfrm>
            <a:off x="1230313" y="5781675"/>
            <a:ext cx="63896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Even after 6 exchange path doesn’t converges (Slow Converge) </a:t>
            </a:r>
          </a:p>
        </p:txBody>
      </p:sp>
      <p:pic>
        <p:nvPicPr>
          <p:cNvPr id="33797" name="Graphic 2" descr="Close">
            <a:extLst>
              <a:ext uri="{FF2B5EF4-FFF2-40B4-BE49-F238E27FC236}">
                <a16:creationId xmlns:a16="http://schemas.microsoft.com/office/drawing/2014/main" id="{C46EA906-6C95-291C-49B4-C03DD01BE7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9238" y="2317750"/>
            <a:ext cx="442912"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B7F41C8-EFA7-275D-A00B-0E7AF9905B26}"/>
              </a:ext>
            </a:extLst>
          </p:cNvPr>
          <p:cNvSpPr>
            <a:spLocks noGrp="1" noChangeArrowheads="1"/>
          </p:cNvSpPr>
          <p:nvPr>
            <p:ph type="title"/>
          </p:nvPr>
        </p:nvSpPr>
        <p:spPr>
          <a:xfrm>
            <a:off x="0" y="299678"/>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Count–to-Infinity Problem</a:t>
            </a:r>
            <a:endParaRPr lang="en-US" sz="4000" b="1" dirty="0">
              <a:latin typeface="Times New Roman" panose="02020603050405020304" pitchFamily="18" charset="0"/>
              <a:cs typeface="Times New Roman" panose="02020603050405020304" pitchFamily="18" charset="0"/>
            </a:endParaRPr>
          </a:p>
        </p:txBody>
      </p:sp>
      <p:sp>
        <p:nvSpPr>
          <p:cNvPr id="35842" name="Rectangle 3">
            <a:extLst>
              <a:ext uri="{FF2B5EF4-FFF2-40B4-BE49-F238E27FC236}">
                <a16:creationId xmlns:a16="http://schemas.microsoft.com/office/drawing/2014/main" id="{389DB187-7691-8B9E-6CED-F04EAC836D6A}"/>
              </a:ext>
            </a:extLst>
          </p:cNvPr>
          <p:cNvSpPr txBox="1">
            <a:spLocks noChangeArrowheads="1"/>
          </p:cNvSpPr>
          <p:nvPr/>
        </p:nvSpPr>
        <p:spPr bwMode="auto">
          <a:xfrm>
            <a:off x="541338" y="1335088"/>
            <a:ext cx="8061325" cy="542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eaLnBrk="1" hangingPunct="1">
              <a:buFont typeface="Wingdings" pitchFamily="2" charset="2"/>
              <a:buChar char="q"/>
            </a:pPr>
            <a:r>
              <a:rPr lang="en-US" altLang="en-US">
                <a:latin typeface="Times New Roman" panose="02020603050405020304" pitchFamily="18" charset="0"/>
                <a:cs typeface="Times New Roman" panose="02020603050405020304" pitchFamily="18" charset="0"/>
              </a:rPr>
              <a:t>“Bad news” Propagate slowly:</a:t>
            </a:r>
          </a:p>
          <a:p>
            <a:pPr lvl="1" algn="just" eaLnBrk="1" hangingPunct="1">
              <a:buFont typeface="Wingdings" pitchFamily="2" charset="2"/>
              <a:buChar char="ü"/>
            </a:pPr>
            <a:r>
              <a:rPr lang="en-US" altLang="en-US" sz="2400">
                <a:latin typeface="Times New Roman" panose="02020603050405020304" pitchFamily="18" charset="0"/>
                <a:cs typeface="Times New Roman" panose="02020603050405020304" pitchFamily="18" charset="0"/>
              </a:rPr>
              <a:t>The core of the problem is that when X tells Y that I has a path somewhere, Y has no way of knowing whether it itself is on the path.</a:t>
            </a:r>
          </a:p>
          <a:p>
            <a:pPr lvl="1" algn="just" eaLnBrk="1" hangingPunct="1">
              <a:buFont typeface="Wingdings" pitchFamily="2" charset="2"/>
              <a:buChar char="ü"/>
            </a:pPr>
            <a:endParaRPr lang="en-US" altLang="en-US" sz="2800">
              <a:latin typeface="Times New Roman" panose="02020603050405020304" pitchFamily="18" charset="0"/>
              <a:cs typeface="Times New Roman" panose="02020603050405020304" pitchFamily="18" charset="0"/>
            </a:endParaRPr>
          </a:p>
          <a:p>
            <a:pPr lvl="1" algn="just" eaLnBrk="1" hangingPunct="1">
              <a:buFont typeface="Wingdings" pitchFamily="2" charset="2"/>
              <a:buChar char="ü"/>
            </a:pPr>
            <a:endParaRPr lang="en-US" altLang="en-US" sz="2800">
              <a:latin typeface="Times New Roman" panose="02020603050405020304" pitchFamily="18" charset="0"/>
              <a:cs typeface="Times New Roman" panose="02020603050405020304" pitchFamily="18" charset="0"/>
            </a:endParaRPr>
          </a:p>
          <a:p>
            <a:pPr lvl="1" algn="just" eaLnBrk="1" hangingPunct="1">
              <a:buFont typeface="Wingdings" pitchFamily="2" charset="2"/>
              <a:buChar char="ü"/>
            </a:pPr>
            <a:endParaRPr lang="en-US" altLang="en-US">
              <a:latin typeface="Times New Roman" panose="02020603050405020304" pitchFamily="18" charset="0"/>
              <a:cs typeface="Times New Roman" panose="02020603050405020304" pitchFamily="18" charset="0"/>
            </a:endParaRPr>
          </a:p>
          <a:p>
            <a:pPr lvl="1" algn="just" eaLnBrk="1" hangingPunct="1">
              <a:buFont typeface="Wingdings" pitchFamily="2" charset="2"/>
              <a:buChar char="ü"/>
            </a:pPr>
            <a:r>
              <a:rPr lang="en-US" altLang="en-US">
                <a:latin typeface="Times New Roman" panose="02020603050405020304" pitchFamily="18" charset="0"/>
                <a:cs typeface="Times New Roman" panose="02020603050405020304" pitchFamily="18" charset="0"/>
              </a:rPr>
              <a:t>Suppose Link between A and B is down. </a:t>
            </a:r>
          </a:p>
          <a:p>
            <a:pPr lvl="3" algn="just" eaLnBrk="1" hangingPunct="1">
              <a:buFont typeface="Wingdings" pitchFamily="2" charset="2"/>
              <a:buChar char="ü"/>
            </a:pPr>
            <a:r>
              <a:rPr lang="en-US" altLang="en-US">
                <a:latin typeface="Times New Roman" panose="02020603050405020304" pitchFamily="18" charset="0"/>
                <a:cs typeface="Times New Roman" panose="02020603050405020304" pitchFamily="18" charset="0"/>
              </a:rPr>
              <a:t>C tells B that “I have path from A”.</a:t>
            </a:r>
          </a:p>
          <a:p>
            <a:pPr lvl="3" algn="just" eaLnBrk="1" hangingPunct="1">
              <a:buFont typeface="Wingdings" pitchFamily="2" charset="2"/>
              <a:buChar char="ü"/>
            </a:pPr>
            <a:r>
              <a:rPr lang="en-US" altLang="en-US">
                <a:latin typeface="Times New Roman" panose="02020603050405020304" pitchFamily="18" charset="0"/>
                <a:cs typeface="Times New Roman" panose="02020603050405020304" pitchFamily="18" charset="0"/>
              </a:rPr>
              <a:t>B has no way of knowing whether it itself is on the path.</a:t>
            </a:r>
          </a:p>
          <a:p>
            <a:pPr lvl="1" algn="just" eaLnBrk="1" hangingPunct="1">
              <a:buFont typeface="Wingdings" pitchFamily="2" charset="2"/>
              <a:buChar char="ü"/>
            </a:pPr>
            <a:endParaRPr lang="en-US" altLang="en-US" sz="2800">
              <a:latin typeface="Times New Roman" panose="02020603050405020304" pitchFamily="18" charset="0"/>
              <a:cs typeface="Times New Roman" panose="02020603050405020304" pitchFamily="18" charset="0"/>
            </a:endParaRPr>
          </a:p>
          <a:p>
            <a:pPr lvl="1" algn="just" eaLnBrk="1" hangingPunct="1">
              <a:buFont typeface="Wingdings" pitchFamily="2" charset="2"/>
              <a:buChar char="ü"/>
            </a:pPr>
            <a:r>
              <a:rPr lang="en-US" altLang="en-US" sz="2800">
                <a:latin typeface="Times New Roman" panose="02020603050405020304" pitchFamily="18" charset="0"/>
                <a:cs typeface="Times New Roman" panose="02020603050405020304" pitchFamily="18" charset="0"/>
              </a:rPr>
              <a:t>Solution: Split Horizon &amp; Link State</a:t>
            </a:r>
          </a:p>
        </p:txBody>
      </p:sp>
      <p:pic>
        <p:nvPicPr>
          <p:cNvPr id="35843" name="Picture 2">
            <a:extLst>
              <a:ext uri="{FF2B5EF4-FFF2-40B4-BE49-F238E27FC236}">
                <a16:creationId xmlns:a16="http://schemas.microsoft.com/office/drawing/2014/main" id="{C7D13EEF-7BE6-18CE-9A1F-AF7DA89AE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4938" y="3101975"/>
            <a:ext cx="47815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Graphic 2" descr="Close">
            <a:extLst>
              <a:ext uri="{FF2B5EF4-FFF2-40B4-BE49-F238E27FC236}">
                <a16:creationId xmlns:a16="http://schemas.microsoft.com/office/drawing/2014/main" id="{967132C1-B167-B9CD-1BF1-C92AED23A2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6950" y="3389313"/>
            <a:ext cx="5397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66462C3-DF22-51A8-D674-C3BA55EB80CA}"/>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The Split Horizon Hack</a:t>
            </a:r>
            <a:endParaRPr lang="en-US" sz="4000" b="1" dirty="0">
              <a:latin typeface="Times New Roman" panose="02020603050405020304" pitchFamily="18" charset="0"/>
              <a:cs typeface="Times New Roman" panose="02020603050405020304" pitchFamily="18" charset="0"/>
            </a:endParaRPr>
          </a:p>
        </p:txBody>
      </p:sp>
      <p:sp>
        <p:nvSpPr>
          <p:cNvPr id="37890" name="Rectangle 3">
            <a:extLst>
              <a:ext uri="{FF2B5EF4-FFF2-40B4-BE49-F238E27FC236}">
                <a16:creationId xmlns:a16="http://schemas.microsoft.com/office/drawing/2014/main" id="{AEA59FB6-5CD2-6E14-1B0F-081CD128474D}"/>
              </a:ext>
            </a:extLst>
          </p:cNvPr>
          <p:cNvSpPr txBox="1">
            <a:spLocks noChangeArrowheads="1"/>
          </p:cNvSpPr>
          <p:nvPr/>
        </p:nvSpPr>
        <p:spPr bwMode="auto">
          <a:xfrm>
            <a:off x="706438" y="1165225"/>
            <a:ext cx="7899400" cy="510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Actual distance to a destination is not reported on the line on which packets to that destination are sent.</a:t>
            </a:r>
          </a:p>
          <a:p>
            <a:pPr>
              <a:buFont typeface="Wingdings" pitchFamily="2" charset="2"/>
              <a:buChar char="q"/>
            </a:pPr>
            <a:r>
              <a:rPr lang="en-US" altLang="en-US" sz="3200">
                <a:latin typeface="Times New Roman" panose="02020603050405020304" pitchFamily="18" charset="0"/>
                <a:cs typeface="Times New Roman" panose="02020603050405020304" pitchFamily="18" charset="0"/>
              </a:rPr>
              <a:t>Instead these distances are reported as “infinity.”</a:t>
            </a:r>
          </a:p>
        </p:txBody>
      </p:sp>
      <p:grpSp>
        <p:nvGrpSpPr>
          <p:cNvPr id="37891" name="Group 13">
            <a:extLst>
              <a:ext uri="{FF2B5EF4-FFF2-40B4-BE49-F238E27FC236}">
                <a16:creationId xmlns:a16="http://schemas.microsoft.com/office/drawing/2014/main" id="{0D873FD5-D454-5993-8B75-415E116FFE51}"/>
              </a:ext>
            </a:extLst>
          </p:cNvPr>
          <p:cNvGrpSpPr>
            <a:grpSpLocks/>
          </p:cNvGrpSpPr>
          <p:nvPr/>
        </p:nvGrpSpPr>
        <p:grpSpPr bwMode="auto">
          <a:xfrm rot="-5400000">
            <a:off x="4632325" y="2536825"/>
            <a:ext cx="542925" cy="3444875"/>
            <a:chOff x="4056" y="1344"/>
            <a:chExt cx="384" cy="2448"/>
          </a:xfrm>
        </p:grpSpPr>
        <p:sp>
          <p:nvSpPr>
            <p:cNvPr id="37894" name="Line 10">
              <a:extLst>
                <a:ext uri="{FF2B5EF4-FFF2-40B4-BE49-F238E27FC236}">
                  <a16:creationId xmlns:a16="http://schemas.microsoft.com/office/drawing/2014/main" id="{1DEBD95C-DDAF-DF65-ACD1-25857FEC86B6}"/>
                </a:ext>
              </a:extLst>
            </p:cNvPr>
            <p:cNvSpPr>
              <a:spLocks noChangeShapeType="1"/>
            </p:cNvSpPr>
            <p:nvPr/>
          </p:nvSpPr>
          <p:spPr bwMode="auto">
            <a:xfrm>
              <a:off x="4272" y="1680"/>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37895" name="Line 11">
              <a:extLst>
                <a:ext uri="{FF2B5EF4-FFF2-40B4-BE49-F238E27FC236}">
                  <a16:creationId xmlns:a16="http://schemas.microsoft.com/office/drawing/2014/main" id="{1612726F-2AF2-32E4-0D50-CF75D68A6889}"/>
                </a:ext>
              </a:extLst>
            </p:cNvPr>
            <p:cNvSpPr>
              <a:spLocks noChangeShapeType="1"/>
            </p:cNvSpPr>
            <p:nvPr/>
          </p:nvSpPr>
          <p:spPr bwMode="auto">
            <a:xfrm>
              <a:off x="4272" y="2400"/>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37896" name="Line 12">
              <a:extLst>
                <a:ext uri="{FF2B5EF4-FFF2-40B4-BE49-F238E27FC236}">
                  <a16:creationId xmlns:a16="http://schemas.microsoft.com/office/drawing/2014/main" id="{1AC9897D-9FA1-F460-0BAD-823F426E8E31}"/>
                </a:ext>
              </a:extLst>
            </p:cNvPr>
            <p:cNvSpPr>
              <a:spLocks noChangeShapeType="1"/>
            </p:cNvSpPr>
            <p:nvPr/>
          </p:nvSpPr>
          <p:spPr bwMode="auto">
            <a:xfrm>
              <a:off x="4272" y="3072"/>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BD"/>
            </a:p>
          </p:txBody>
        </p:sp>
        <p:sp>
          <p:nvSpPr>
            <p:cNvPr id="37897" name="Oval 6">
              <a:extLst>
                <a:ext uri="{FF2B5EF4-FFF2-40B4-BE49-F238E27FC236}">
                  <a16:creationId xmlns:a16="http://schemas.microsoft.com/office/drawing/2014/main" id="{C3884178-9C6B-B4B7-1EBE-1EB3465FDC81}"/>
                </a:ext>
              </a:extLst>
            </p:cNvPr>
            <p:cNvSpPr>
              <a:spLocks noChangeArrowheads="1"/>
            </p:cNvSpPr>
            <p:nvPr/>
          </p:nvSpPr>
          <p:spPr bwMode="auto">
            <a:xfrm>
              <a:off x="4056" y="2032"/>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sz="1800">
                  <a:latin typeface="Arial" panose="020B0604020202020204" pitchFamily="34" charset="0"/>
                </a:rPr>
                <a:t>B</a:t>
              </a:r>
            </a:p>
          </p:txBody>
        </p:sp>
        <p:sp>
          <p:nvSpPr>
            <p:cNvPr id="37898" name="Oval 7">
              <a:extLst>
                <a:ext uri="{FF2B5EF4-FFF2-40B4-BE49-F238E27FC236}">
                  <a16:creationId xmlns:a16="http://schemas.microsoft.com/office/drawing/2014/main" id="{AACAB91A-FE49-D79B-CB5A-2DC447CA6A8E}"/>
                </a:ext>
              </a:extLst>
            </p:cNvPr>
            <p:cNvSpPr>
              <a:spLocks noChangeArrowheads="1"/>
            </p:cNvSpPr>
            <p:nvPr/>
          </p:nvSpPr>
          <p:spPr bwMode="auto">
            <a:xfrm>
              <a:off x="4056" y="3408"/>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sz="1800">
                  <a:latin typeface="Arial" panose="020B0604020202020204" pitchFamily="34" charset="0"/>
                </a:rPr>
                <a:t>D</a:t>
              </a:r>
            </a:p>
          </p:txBody>
        </p:sp>
        <p:sp>
          <p:nvSpPr>
            <p:cNvPr id="37899" name="Oval 8">
              <a:extLst>
                <a:ext uri="{FF2B5EF4-FFF2-40B4-BE49-F238E27FC236}">
                  <a16:creationId xmlns:a16="http://schemas.microsoft.com/office/drawing/2014/main" id="{6A793FAC-292E-03EC-2C44-D9F2F238F218}"/>
                </a:ext>
              </a:extLst>
            </p:cNvPr>
            <p:cNvSpPr>
              <a:spLocks noChangeArrowheads="1"/>
            </p:cNvSpPr>
            <p:nvPr/>
          </p:nvSpPr>
          <p:spPr bwMode="auto">
            <a:xfrm>
              <a:off x="4056" y="1344"/>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sz="1800">
                  <a:latin typeface="Arial" panose="020B0604020202020204" pitchFamily="34" charset="0"/>
                </a:rPr>
                <a:t>A</a:t>
              </a:r>
            </a:p>
          </p:txBody>
        </p:sp>
        <p:sp>
          <p:nvSpPr>
            <p:cNvPr id="37900" name="Oval 9">
              <a:extLst>
                <a:ext uri="{FF2B5EF4-FFF2-40B4-BE49-F238E27FC236}">
                  <a16:creationId xmlns:a16="http://schemas.microsoft.com/office/drawing/2014/main" id="{EBA5F150-5123-A99B-72A3-AC1DC689C0E1}"/>
                </a:ext>
              </a:extLst>
            </p:cNvPr>
            <p:cNvSpPr>
              <a:spLocks noChangeArrowheads="1"/>
            </p:cNvSpPr>
            <p:nvPr/>
          </p:nvSpPr>
          <p:spPr bwMode="auto">
            <a:xfrm>
              <a:off x="4056" y="2720"/>
              <a:ext cx="384" cy="384"/>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eaLnBrk="1" hangingPunct="1">
                <a:spcBef>
                  <a:spcPct val="0"/>
                </a:spcBef>
                <a:buClrTx/>
                <a:buFontTx/>
                <a:buNone/>
              </a:pPr>
              <a:r>
                <a:rPr lang="en-US" altLang="en-US" sz="1800">
                  <a:latin typeface="Arial" panose="020B0604020202020204" pitchFamily="34" charset="0"/>
                </a:rPr>
                <a:t>C</a:t>
              </a:r>
            </a:p>
          </p:txBody>
        </p:sp>
      </p:grpSp>
      <p:sp>
        <p:nvSpPr>
          <p:cNvPr id="37892" name="Text Box 15">
            <a:extLst>
              <a:ext uri="{FF2B5EF4-FFF2-40B4-BE49-F238E27FC236}">
                <a16:creationId xmlns:a16="http://schemas.microsoft.com/office/drawing/2014/main" id="{B0D1F256-6A9B-734A-8504-828621F63066}"/>
              </a:ext>
            </a:extLst>
          </p:cNvPr>
          <p:cNvSpPr txBox="1">
            <a:spLocks noChangeArrowheads="1"/>
          </p:cNvSpPr>
          <p:nvPr/>
        </p:nvSpPr>
        <p:spPr bwMode="auto">
          <a:xfrm>
            <a:off x="1200150" y="4992688"/>
            <a:ext cx="740568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eaLnBrk="1" hangingPunct="1">
              <a:spcBef>
                <a:spcPct val="0"/>
              </a:spcBef>
              <a:buClrTx/>
              <a:buFontTx/>
              <a:buNone/>
            </a:pPr>
            <a:r>
              <a:rPr lang="en-US" altLang="en-US" sz="2800">
                <a:latin typeface="Times New Roman" panose="02020603050405020304" pitchFamily="18" charset="0"/>
              </a:rPr>
              <a:t>C tells D the truth about its distance to A, but lies to B and says the distance is infinity.</a:t>
            </a:r>
          </a:p>
        </p:txBody>
      </p:sp>
      <p:pic>
        <p:nvPicPr>
          <p:cNvPr id="37893" name="Graphic 2" descr="Close">
            <a:extLst>
              <a:ext uri="{FF2B5EF4-FFF2-40B4-BE49-F238E27FC236}">
                <a16:creationId xmlns:a16="http://schemas.microsoft.com/office/drawing/2014/main" id="{86AF86FB-337E-D007-CBBB-AEC84EDDDB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3313" y="3952875"/>
            <a:ext cx="5397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Picture 4">
            <a:extLst>
              <a:ext uri="{FF2B5EF4-FFF2-40B4-BE49-F238E27FC236}">
                <a16:creationId xmlns:a16="http://schemas.microsoft.com/office/drawing/2014/main" id="{FDC934CD-A5FA-B267-8C51-E9613BD6CF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446088"/>
            <a:ext cx="4322763" cy="388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0" name="Rectangle 2">
            <a:extLst>
              <a:ext uri="{FF2B5EF4-FFF2-40B4-BE49-F238E27FC236}">
                <a16:creationId xmlns:a16="http://schemas.microsoft.com/office/drawing/2014/main" id="{3C226DD7-8206-0A68-760C-D0CCBB1191FD}"/>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A topology where split horizon fails</a:t>
            </a:r>
            <a:endParaRPr lang="en-US" sz="4000" b="1" dirty="0">
              <a:latin typeface="Times New Roman" panose="02020603050405020304" pitchFamily="18" charset="0"/>
              <a:cs typeface="Times New Roman" panose="02020603050405020304" pitchFamily="18" charset="0"/>
            </a:endParaRPr>
          </a:p>
        </p:txBody>
      </p:sp>
      <p:sp>
        <p:nvSpPr>
          <p:cNvPr id="38915" name="Text Box 5">
            <a:extLst>
              <a:ext uri="{FF2B5EF4-FFF2-40B4-BE49-F238E27FC236}">
                <a16:creationId xmlns:a16="http://schemas.microsoft.com/office/drawing/2014/main" id="{7115C872-D489-0E6E-2331-57F61AE22FBE}"/>
              </a:ext>
            </a:extLst>
          </p:cNvPr>
          <p:cNvSpPr txBox="1">
            <a:spLocks noChangeArrowheads="1"/>
          </p:cNvSpPr>
          <p:nvPr/>
        </p:nvSpPr>
        <p:spPr bwMode="auto">
          <a:xfrm>
            <a:off x="982663" y="4478338"/>
            <a:ext cx="732155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eaLnBrk="1" hangingPunct="1">
              <a:spcBef>
                <a:spcPct val="0"/>
              </a:spcBef>
              <a:buClrTx/>
              <a:buFontTx/>
              <a:buNone/>
            </a:pPr>
            <a:r>
              <a:rPr lang="en-US" altLang="en-US">
                <a:latin typeface="Times New Roman" panose="02020603050405020304" pitchFamily="18" charset="0"/>
              </a:rPr>
              <a:t>Suppose that D becomes unreachable from C. A and B are reporting infinite distances to C, but they are reporting distances of length 2 to each other. A and B will count to infinity.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27D3A5A-3941-7070-5F65-6CF3AF1810D5}"/>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Link State Routing</a:t>
            </a:r>
            <a:endParaRPr lang="en-US" sz="40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270E933-19BA-F291-7AB9-E730FA343B0E}"/>
              </a:ext>
            </a:extLst>
          </p:cNvPr>
          <p:cNvSpPr/>
          <p:nvPr/>
        </p:nvSpPr>
        <p:spPr>
          <a:xfrm>
            <a:off x="449263" y="1184275"/>
            <a:ext cx="8229600" cy="4967288"/>
          </a:xfrm>
          <a:prstGeom prst="rect">
            <a:avLst/>
          </a:prstGeom>
        </p:spPr>
        <p:txBody>
          <a:bodyPr>
            <a:spAutoFit/>
          </a:bodyPr>
          <a:lstStyle/>
          <a:p>
            <a:pPr marL="571500" indent="-571500" algn="just" eaLnBrk="1" hangingPunct="1">
              <a:lnSpc>
                <a:spcPct val="90000"/>
              </a:lnSpc>
              <a:defRPr/>
            </a:pPr>
            <a:r>
              <a:rPr lang="en-US" sz="3200" dirty="0">
                <a:latin typeface="Times New Roman" pitchFamily="18" charset="0"/>
                <a:cs typeface="Times New Roman" pitchFamily="18" charset="0"/>
              </a:rPr>
              <a:t>Each router must do the following: </a:t>
            </a:r>
            <a:r>
              <a:rPr lang="en-US" sz="3200" b="1" dirty="0">
                <a:solidFill>
                  <a:srgbClr val="7030A0"/>
                </a:solidFill>
                <a:latin typeface="Times New Roman" pitchFamily="18" charset="0"/>
                <a:cs typeface="Times New Roman" pitchFamily="18" charset="0"/>
              </a:rPr>
              <a:t>Five Steps</a:t>
            </a:r>
          </a:p>
          <a:p>
            <a:pPr marL="571500" indent="-571500" algn="just" eaLnBrk="1" hangingPunct="1">
              <a:lnSpc>
                <a:spcPct val="90000"/>
              </a:lnSpc>
              <a:buFont typeface="Wingdings" pitchFamily="2" charset="2"/>
              <a:buNone/>
              <a:defRPr/>
            </a:pPr>
            <a:endParaRPr lang="en-US" sz="3200" dirty="0">
              <a:latin typeface="Times New Roman" pitchFamily="18" charset="0"/>
              <a:cs typeface="Times New Roman" pitchFamily="18" charset="0"/>
            </a:endParaRPr>
          </a:p>
          <a:p>
            <a:pPr marL="985838" lvl="1" indent="-514350" algn="just" eaLnBrk="1" hangingPunct="1">
              <a:lnSpc>
                <a:spcPct val="90000"/>
              </a:lnSpc>
              <a:buFont typeface="+mj-lt"/>
              <a:buAutoNum type="arabicPeriod"/>
              <a:defRPr/>
            </a:pPr>
            <a:r>
              <a:rPr lang="en-US" sz="3200" dirty="0">
                <a:latin typeface="Times New Roman" pitchFamily="18" charset="0"/>
                <a:cs typeface="Times New Roman" pitchFamily="18" charset="0"/>
              </a:rPr>
              <a:t>Discover its neighbors and learn their network addresses.</a:t>
            </a:r>
          </a:p>
          <a:p>
            <a:pPr marL="966788" lvl="1" indent="-495300" algn="just" eaLnBrk="1" hangingPunct="1">
              <a:lnSpc>
                <a:spcPct val="90000"/>
              </a:lnSpc>
              <a:buFont typeface="Wingdings" pitchFamily="2" charset="2"/>
              <a:buAutoNum type="arabicPeriod"/>
              <a:defRPr/>
            </a:pPr>
            <a:r>
              <a:rPr lang="en-US" sz="3200" dirty="0">
                <a:latin typeface="Times New Roman" pitchFamily="18" charset="0"/>
                <a:cs typeface="Times New Roman" pitchFamily="18" charset="0"/>
              </a:rPr>
              <a:t>Measure the delay or cost to each of its neighbors.</a:t>
            </a:r>
          </a:p>
          <a:p>
            <a:pPr marL="966788" lvl="1" indent="-495300" algn="just" eaLnBrk="1" hangingPunct="1">
              <a:lnSpc>
                <a:spcPct val="90000"/>
              </a:lnSpc>
              <a:buFont typeface="Wingdings" pitchFamily="2" charset="2"/>
              <a:buAutoNum type="arabicPeriod"/>
              <a:defRPr/>
            </a:pPr>
            <a:r>
              <a:rPr lang="en-US" sz="3200" dirty="0">
                <a:latin typeface="Times New Roman" pitchFamily="18" charset="0"/>
                <a:cs typeface="Times New Roman" pitchFamily="18" charset="0"/>
              </a:rPr>
              <a:t>Construct a packet telling all it has just learned.</a:t>
            </a:r>
          </a:p>
          <a:p>
            <a:pPr marL="966788" lvl="1" indent="-495300" algn="just" eaLnBrk="1" hangingPunct="1">
              <a:lnSpc>
                <a:spcPct val="90000"/>
              </a:lnSpc>
              <a:buFont typeface="Wingdings" pitchFamily="2" charset="2"/>
              <a:buAutoNum type="arabicPeriod"/>
              <a:defRPr/>
            </a:pPr>
            <a:r>
              <a:rPr lang="en-US" sz="3200" dirty="0">
                <a:latin typeface="Times New Roman" pitchFamily="18" charset="0"/>
                <a:cs typeface="Times New Roman" pitchFamily="18" charset="0"/>
              </a:rPr>
              <a:t>Send this packet to all other routers.</a:t>
            </a:r>
          </a:p>
          <a:p>
            <a:pPr marL="966788" lvl="1" indent="-495300" algn="just" eaLnBrk="1" hangingPunct="1">
              <a:lnSpc>
                <a:spcPct val="90000"/>
              </a:lnSpc>
              <a:buFont typeface="Wingdings" pitchFamily="2" charset="2"/>
              <a:buAutoNum type="arabicPeriod"/>
              <a:defRPr/>
            </a:pPr>
            <a:r>
              <a:rPr lang="en-US" sz="3200" dirty="0">
                <a:latin typeface="Times New Roman" pitchFamily="18" charset="0"/>
                <a:cs typeface="Times New Roman" pitchFamily="18" charset="0"/>
              </a:rPr>
              <a:t>Compute the shortest path to every other router.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7CEB4BF-40BC-8C0A-8930-830EC6BAFC0D}"/>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1. Discovering Your Neighbors</a:t>
            </a:r>
            <a:endParaRPr lang="en-US" sz="4000" b="1" dirty="0">
              <a:latin typeface="Times New Roman" panose="02020603050405020304" pitchFamily="18" charset="0"/>
              <a:cs typeface="Times New Roman" panose="02020603050405020304" pitchFamily="18" charset="0"/>
            </a:endParaRPr>
          </a:p>
        </p:txBody>
      </p:sp>
      <p:sp>
        <p:nvSpPr>
          <p:cNvPr id="40962" name="Rectangle 3">
            <a:extLst>
              <a:ext uri="{FF2B5EF4-FFF2-40B4-BE49-F238E27FC236}">
                <a16:creationId xmlns:a16="http://schemas.microsoft.com/office/drawing/2014/main" id="{54A13E78-3DB5-C6D6-59ED-C1FE5EC41A60}"/>
              </a:ext>
            </a:extLst>
          </p:cNvPr>
          <p:cNvSpPr txBox="1">
            <a:spLocks noChangeArrowheads="1"/>
          </p:cNvSpPr>
          <p:nvPr/>
        </p:nvSpPr>
        <p:spPr bwMode="auto">
          <a:xfrm>
            <a:off x="314325" y="989013"/>
            <a:ext cx="8559800" cy="568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eaLnBrk="1" hangingPunct="1">
              <a:buFont typeface="Wingdings" pitchFamily="2" charset="2"/>
              <a:buChar char="q"/>
            </a:pPr>
            <a:r>
              <a:rPr lang="en-US" altLang="en-US" sz="3200">
                <a:latin typeface="Times New Roman" panose="02020603050405020304" pitchFamily="18" charset="0"/>
                <a:cs typeface="Times New Roman" panose="02020603050405020304" pitchFamily="18" charset="0"/>
              </a:rPr>
              <a:t>“HELLO” packed send on each point-to-point line from a booted router. </a:t>
            </a:r>
          </a:p>
          <a:p>
            <a:pPr algn="just" eaLnBrk="1" hangingPunct="1">
              <a:buFont typeface="Wingdings" pitchFamily="2" charset="2"/>
              <a:buChar char="q"/>
            </a:pPr>
            <a:r>
              <a:rPr lang="en-US" altLang="en-US" sz="3200">
                <a:latin typeface="Times New Roman" panose="02020603050405020304" pitchFamily="18" charset="0"/>
                <a:cs typeface="Times New Roman" panose="02020603050405020304" pitchFamily="18" charset="0"/>
              </a:rPr>
              <a:t>Router on the other end must reply by sending its globally unique “name”.</a:t>
            </a:r>
          </a:p>
          <a:p>
            <a:pPr algn="just" eaLnBrk="1" hangingPunct="1">
              <a:buFont typeface="Wingdings" pitchFamily="2" charset="2"/>
              <a:buChar char="q"/>
            </a:pPr>
            <a:r>
              <a:rPr lang="en-US" altLang="en-US" sz="3200">
                <a:latin typeface="Times New Roman" panose="02020603050405020304" pitchFamily="18" charset="0"/>
                <a:cs typeface="Times New Roman" panose="02020603050405020304" pitchFamily="18" charset="0"/>
              </a:rPr>
              <a:t>Example of routers connected by a LAN.</a:t>
            </a:r>
          </a:p>
        </p:txBody>
      </p:sp>
      <p:pic>
        <p:nvPicPr>
          <p:cNvPr id="40963" name="Picture 2">
            <a:extLst>
              <a:ext uri="{FF2B5EF4-FFF2-40B4-BE49-F238E27FC236}">
                <a16:creationId xmlns:a16="http://schemas.microsoft.com/office/drawing/2014/main" id="{C2A11276-131B-DB92-6180-027353A83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6520" t="43929" r="23732" b="33632"/>
          <a:stretch>
            <a:fillRect/>
          </a:stretch>
        </p:blipFill>
        <p:spPr bwMode="auto">
          <a:xfrm>
            <a:off x="449263" y="3810000"/>
            <a:ext cx="8320087" cy="264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492AD0D-E881-71A4-F3A7-428D8837CF02}"/>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2. Measuring Line Cost</a:t>
            </a:r>
            <a:endParaRPr lang="en-US" sz="4000" b="1" dirty="0">
              <a:latin typeface="Times New Roman" panose="02020603050405020304" pitchFamily="18" charset="0"/>
              <a:cs typeface="Times New Roman" panose="02020603050405020304" pitchFamily="18" charset="0"/>
            </a:endParaRPr>
          </a:p>
        </p:txBody>
      </p:sp>
      <p:sp>
        <p:nvSpPr>
          <p:cNvPr id="41986" name="Rectangle 3">
            <a:extLst>
              <a:ext uri="{FF2B5EF4-FFF2-40B4-BE49-F238E27FC236}">
                <a16:creationId xmlns:a16="http://schemas.microsoft.com/office/drawing/2014/main" id="{A6080358-216B-4F23-D834-66C7DE20E748}"/>
              </a:ext>
            </a:extLst>
          </p:cNvPr>
          <p:cNvSpPr txBox="1">
            <a:spLocks noChangeArrowheads="1"/>
          </p:cNvSpPr>
          <p:nvPr/>
        </p:nvSpPr>
        <p:spPr bwMode="auto">
          <a:xfrm>
            <a:off x="374650" y="839788"/>
            <a:ext cx="8469313" cy="575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eaLnBrk="1" hangingPunct="1">
              <a:lnSpc>
                <a:spcPct val="80000"/>
              </a:lnSpc>
              <a:buFont typeface="Wingdings" pitchFamily="2" charset="2"/>
              <a:buChar char="q"/>
            </a:pPr>
            <a:r>
              <a:rPr lang="en-US" altLang="en-US" sz="2800">
                <a:latin typeface="Times New Roman" panose="02020603050405020304" pitchFamily="18" charset="0"/>
                <a:cs typeface="Times New Roman" panose="02020603050405020304" pitchFamily="18" charset="0"/>
              </a:rPr>
              <a:t>It is required by the Link State Routing algorithm that each router to have a reasonable estimate of the delay/cost to each of its neighbors.</a:t>
            </a:r>
          </a:p>
          <a:p>
            <a:pPr lvl="1" algn="just" eaLnBrk="1" hangingPunct="1">
              <a:lnSpc>
                <a:spcPct val="80000"/>
              </a:lnSpc>
              <a:buFont typeface="Wingdings" pitchFamily="2" charset="2"/>
              <a:buChar char="ü"/>
            </a:pPr>
            <a:r>
              <a:rPr lang="en-US" altLang="en-US" sz="2400">
                <a:latin typeface="Times New Roman" panose="02020603050405020304" pitchFamily="18" charset="0"/>
                <a:cs typeface="Times New Roman" panose="02020603050405020304" pitchFamily="18" charset="0"/>
              </a:rPr>
              <a:t>Send “ECHO” packet (ping) that the other side is required to send back immediately.</a:t>
            </a:r>
          </a:p>
          <a:p>
            <a:pPr lvl="2" algn="just" eaLnBrk="1" hangingPunct="1">
              <a:lnSpc>
                <a:spcPct val="80000"/>
              </a:lnSpc>
            </a:pPr>
            <a:r>
              <a:rPr lang="en-US" altLang="en-US">
                <a:latin typeface="Times New Roman" panose="02020603050405020304" pitchFamily="18" charset="0"/>
                <a:cs typeface="Times New Roman" panose="02020603050405020304" pitchFamily="18" charset="0"/>
              </a:rPr>
              <a:t>Measure Round Trip time; Divide by 2 to get an estimate.</a:t>
            </a:r>
          </a:p>
          <a:p>
            <a:pPr lvl="2" algn="just" eaLnBrk="1" hangingPunct="1">
              <a:lnSpc>
                <a:spcPct val="80000"/>
              </a:lnSpc>
            </a:pPr>
            <a:r>
              <a:rPr lang="en-US" altLang="en-US">
                <a:latin typeface="Times New Roman" panose="02020603050405020304" pitchFamily="18" charset="0"/>
                <a:cs typeface="Times New Roman" panose="02020603050405020304" pitchFamily="18" charset="0"/>
              </a:rPr>
              <a:t>More accurate estimate by repeating the process several times and by averaging estimates.</a:t>
            </a:r>
          </a:p>
          <a:p>
            <a:pPr lvl="2" algn="just" eaLnBrk="1" hangingPunct="1">
              <a:lnSpc>
                <a:spcPct val="80000"/>
              </a:lnSpc>
            </a:pPr>
            <a:r>
              <a:rPr lang="en-US" altLang="en-US">
                <a:latin typeface="Times New Roman" panose="02020603050405020304" pitchFamily="18" charset="0"/>
                <a:cs typeface="Times New Roman" panose="02020603050405020304" pitchFamily="18" charset="0"/>
              </a:rPr>
              <a:t>Assumes symmetric delay. </a:t>
            </a:r>
          </a:p>
          <a:p>
            <a:pPr algn="just" eaLnBrk="1" hangingPunct="1">
              <a:lnSpc>
                <a:spcPct val="80000"/>
              </a:lnSpc>
              <a:buFont typeface="Wingdings" pitchFamily="2" charset="2"/>
              <a:buChar char="q"/>
            </a:pPr>
            <a:r>
              <a:rPr lang="en-US" altLang="en-US" sz="2800">
                <a:latin typeface="Times New Roman" panose="02020603050405020304" pitchFamily="18" charset="0"/>
                <a:cs typeface="Times New Roman" panose="02020603050405020304" pitchFamily="18" charset="0"/>
              </a:rPr>
              <a:t>Channel Load Issue when Measuring Delay</a:t>
            </a:r>
          </a:p>
          <a:p>
            <a:pPr lvl="1" algn="just" eaLnBrk="1" hangingPunct="1">
              <a:lnSpc>
                <a:spcPct val="80000"/>
              </a:lnSpc>
              <a:buFont typeface="Wingdings" pitchFamily="2" charset="2"/>
              <a:buChar char="ü"/>
            </a:pPr>
            <a:r>
              <a:rPr lang="en-US" altLang="en-US" sz="2400">
                <a:latin typeface="Times New Roman" panose="02020603050405020304" pitchFamily="18" charset="0"/>
                <a:cs typeface="Times New Roman" panose="02020603050405020304" pitchFamily="18" charset="0"/>
              </a:rPr>
              <a:t>To factor the load in: round trip timer must be started when the ECHO packed is queued.</a:t>
            </a:r>
          </a:p>
          <a:p>
            <a:pPr lvl="1" algn="just" eaLnBrk="1" hangingPunct="1">
              <a:lnSpc>
                <a:spcPct val="80000"/>
              </a:lnSpc>
              <a:buFont typeface="Wingdings" pitchFamily="2" charset="2"/>
              <a:buChar char="ü"/>
            </a:pPr>
            <a:r>
              <a:rPr lang="en-US" altLang="en-US" sz="2400">
                <a:latin typeface="Times New Roman" panose="02020603050405020304" pitchFamily="18" charset="0"/>
                <a:cs typeface="Times New Roman" panose="02020603050405020304" pitchFamily="18" charset="0"/>
              </a:rPr>
              <a:t>To ignore the load: round trip timer must be started when ECHO packed reaches front of the queue.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7A46A59-2657-A737-D153-689975E3BC95}"/>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3. Building Link State Packet</a:t>
            </a:r>
            <a:endParaRPr lang="en-US" sz="4000" b="1" dirty="0">
              <a:latin typeface="Times New Roman" panose="02020603050405020304" pitchFamily="18" charset="0"/>
              <a:cs typeface="Times New Roman" panose="02020603050405020304" pitchFamily="18" charset="0"/>
            </a:endParaRPr>
          </a:p>
        </p:txBody>
      </p:sp>
      <p:sp>
        <p:nvSpPr>
          <p:cNvPr id="43010" name="Rectangle 3">
            <a:extLst>
              <a:ext uri="{FF2B5EF4-FFF2-40B4-BE49-F238E27FC236}">
                <a16:creationId xmlns:a16="http://schemas.microsoft.com/office/drawing/2014/main" id="{0A0D4AAF-D9F4-A571-F6B7-50BA8519B937}"/>
              </a:ext>
            </a:extLst>
          </p:cNvPr>
          <p:cNvSpPr txBox="1">
            <a:spLocks noChangeArrowheads="1"/>
          </p:cNvSpPr>
          <p:nvPr/>
        </p:nvSpPr>
        <p:spPr bwMode="auto">
          <a:xfrm>
            <a:off x="57150" y="1752600"/>
            <a:ext cx="39243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eaLnBrk="1" hangingPunct="1">
              <a:buFont typeface="Wingdings" pitchFamily="2" charset="2"/>
              <a:buChar char="q"/>
            </a:pPr>
            <a:r>
              <a:rPr lang="en-US" altLang="en-US">
                <a:latin typeface="Times New Roman" panose="02020603050405020304" pitchFamily="18" charset="0"/>
                <a:cs typeface="Times New Roman" panose="02020603050405020304" pitchFamily="18" charset="0"/>
              </a:rPr>
              <a:t>Packet Format:</a:t>
            </a:r>
          </a:p>
          <a:p>
            <a:pPr lvl="1" algn="just" eaLnBrk="1" hangingPunct="1">
              <a:buFont typeface="Wingdings" pitchFamily="2" charset="2"/>
              <a:buChar char="ü"/>
            </a:pPr>
            <a:r>
              <a:rPr lang="en-US" altLang="en-US" sz="2400">
                <a:latin typeface="Times New Roman" panose="02020603050405020304" pitchFamily="18" charset="0"/>
                <a:cs typeface="Times New Roman" panose="02020603050405020304" pitchFamily="18" charset="0"/>
              </a:rPr>
              <a:t>Identity of Sender</a:t>
            </a:r>
          </a:p>
          <a:p>
            <a:pPr lvl="1" algn="just" eaLnBrk="1" hangingPunct="1">
              <a:buFont typeface="Wingdings" pitchFamily="2" charset="2"/>
              <a:buChar char="ü"/>
            </a:pPr>
            <a:r>
              <a:rPr lang="en-US" altLang="en-US" sz="2400">
                <a:latin typeface="Times New Roman" panose="02020603050405020304" pitchFamily="18" charset="0"/>
                <a:cs typeface="Times New Roman" panose="02020603050405020304" pitchFamily="18" charset="0"/>
              </a:rPr>
              <a:t>Sequence Number</a:t>
            </a:r>
          </a:p>
          <a:p>
            <a:pPr lvl="1" algn="just" eaLnBrk="1" hangingPunct="1">
              <a:buFont typeface="Wingdings" pitchFamily="2" charset="2"/>
              <a:buChar char="ü"/>
            </a:pPr>
            <a:r>
              <a:rPr lang="en-US" altLang="en-US" sz="2400">
                <a:latin typeface="Times New Roman" panose="02020603050405020304" pitchFamily="18" charset="0"/>
                <a:cs typeface="Times New Roman" panose="02020603050405020304" pitchFamily="18" charset="0"/>
              </a:rPr>
              <a:t>Age</a:t>
            </a:r>
          </a:p>
          <a:p>
            <a:pPr lvl="1" algn="just" eaLnBrk="1" hangingPunct="1">
              <a:buFont typeface="Wingdings" pitchFamily="2" charset="2"/>
              <a:buChar char="ü"/>
            </a:pPr>
            <a:r>
              <a:rPr lang="en-US" altLang="en-US" sz="2400">
                <a:latin typeface="Times New Roman" panose="02020603050405020304" pitchFamily="18" charset="0"/>
                <a:cs typeface="Times New Roman" panose="02020603050405020304" pitchFamily="18" charset="0"/>
              </a:rPr>
              <a:t>List of Neighbors</a:t>
            </a:r>
          </a:p>
          <a:p>
            <a:pPr lvl="1" algn="just" eaLnBrk="1" hangingPunct="1">
              <a:buFont typeface="Wingdings" pitchFamily="2" charset="2"/>
              <a:buChar char="ü"/>
            </a:pPr>
            <a:r>
              <a:rPr lang="en-US" altLang="en-US" sz="2400">
                <a:latin typeface="Times New Roman" panose="02020603050405020304" pitchFamily="18" charset="0"/>
                <a:cs typeface="Times New Roman" panose="02020603050405020304" pitchFamily="18" charset="0"/>
              </a:rPr>
              <a:t>Corresponding Delay</a:t>
            </a:r>
          </a:p>
          <a:p>
            <a:pPr algn="just" eaLnBrk="1" hangingPunct="1">
              <a:buFont typeface="Wingdings" pitchFamily="2" charset="2"/>
              <a:buChar char="q"/>
            </a:pPr>
            <a:r>
              <a:rPr lang="en-US" altLang="en-US">
                <a:latin typeface="Times New Roman" panose="02020603050405020304" pitchFamily="18" charset="0"/>
                <a:cs typeface="Times New Roman" panose="02020603050405020304" pitchFamily="18" charset="0"/>
              </a:rPr>
              <a:t>Packets easily built – problem with knowing when to built them.</a:t>
            </a:r>
          </a:p>
        </p:txBody>
      </p:sp>
      <p:graphicFrame>
        <p:nvGraphicFramePr>
          <p:cNvPr id="6" name="Group 62">
            <a:extLst>
              <a:ext uri="{FF2B5EF4-FFF2-40B4-BE49-F238E27FC236}">
                <a16:creationId xmlns:a16="http://schemas.microsoft.com/office/drawing/2014/main" id="{65258A19-5B03-218A-F635-F7B6FE79B5C5}"/>
              </a:ext>
            </a:extLst>
          </p:cNvPr>
          <p:cNvGraphicFramePr>
            <a:graphicFrameLocks noGrp="1"/>
          </p:cNvGraphicFramePr>
          <p:nvPr>
            <p:ph sz="quarter" idx="4294967295"/>
          </p:nvPr>
        </p:nvGraphicFramePr>
        <p:xfrm>
          <a:off x="4181475" y="1333500"/>
          <a:ext cx="1303338" cy="2203450"/>
        </p:xfrm>
        <a:graphic>
          <a:graphicData uri="http://schemas.openxmlformats.org/drawingml/2006/table">
            <a:tbl>
              <a:tblPr/>
              <a:tblGrid>
                <a:gridCol w="653018">
                  <a:extLst>
                    <a:ext uri="{9D8B030D-6E8A-4147-A177-3AD203B41FA5}">
                      <a16:colId xmlns:a16="http://schemas.microsoft.com/office/drawing/2014/main" val="20000"/>
                    </a:ext>
                  </a:extLst>
                </a:gridCol>
                <a:gridCol w="650320">
                  <a:extLst>
                    <a:ext uri="{9D8B030D-6E8A-4147-A177-3AD203B41FA5}">
                      <a16:colId xmlns:a16="http://schemas.microsoft.com/office/drawing/2014/main" val="20001"/>
                    </a:ext>
                  </a:extLst>
                </a:gridCol>
              </a:tblGrid>
              <a:tr h="441200">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A</a:t>
                      </a:r>
                    </a:p>
                  </a:txBody>
                  <a:tcPr marL="91471" marR="91471" marT="45718" marB="4571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41200">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Seq.</a:t>
                      </a:r>
                    </a:p>
                  </a:txBody>
                  <a:tcPr marL="91471" marR="91471" marT="45718" marB="4571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438651">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Age</a:t>
                      </a:r>
                    </a:p>
                  </a:txBody>
                  <a:tcPr marL="91471" marR="91471" marT="45718" marB="4571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4412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B</a:t>
                      </a:r>
                    </a:p>
                  </a:txBody>
                  <a:tcPr marL="91471" marR="91471"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4</a:t>
                      </a:r>
                    </a:p>
                  </a:txBody>
                  <a:tcPr marL="91471" marR="91471"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12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E</a:t>
                      </a:r>
                    </a:p>
                  </a:txBody>
                  <a:tcPr marL="91471" marR="91471"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5</a:t>
                      </a:r>
                    </a:p>
                  </a:txBody>
                  <a:tcPr marL="91471" marR="91471"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 name="Group 149">
            <a:extLst>
              <a:ext uri="{FF2B5EF4-FFF2-40B4-BE49-F238E27FC236}">
                <a16:creationId xmlns:a16="http://schemas.microsoft.com/office/drawing/2014/main" id="{4B71926D-D0DE-4407-FE89-042118FC1B3D}"/>
              </a:ext>
            </a:extLst>
          </p:cNvPr>
          <p:cNvGraphicFramePr>
            <a:graphicFrameLocks noGrp="1"/>
          </p:cNvGraphicFramePr>
          <p:nvPr>
            <p:ph sz="quarter" idx="4294967295"/>
          </p:nvPr>
        </p:nvGraphicFramePr>
        <p:xfrm>
          <a:off x="5800725" y="1289050"/>
          <a:ext cx="1154113" cy="2247900"/>
        </p:xfrm>
        <a:graphic>
          <a:graphicData uri="http://schemas.openxmlformats.org/drawingml/2006/table">
            <a:tbl>
              <a:tblPr/>
              <a:tblGrid>
                <a:gridCol w="577057">
                  <a:extLst>
                    <a:ext uri="{9D8B030D-6E8A-4147-A177-3AD203B41FA5}">
                      <a16:colId xmlns:a16="http://schemas.microsoft.com/office/drawing/2014/main" val="20000"/>
                    </a:ext>
                  </a:extLst>
                </a:gridCol>
                <a:gridCol w="577057">
                  <a:extLst>
                    <a:ext uri="{9D8B030D-6E8A-4147-A177-3AD203B41FA5}">
                      <a16:colId xmlns:a16="http://schemas.microsoft.com/office/drawing/2014/main" val="20001"/>
                    </a:ext>
                  </a:extLst>
                </a:gridCol>
              </a:tblGrid>
              <a:tr h="350594">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B</a:t>
                      </a:r>
                    </a:p>
                  </a:txBody>
                  <a:tcPr marL="91430" marR="91430" marT="45707" marB="4570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79900">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Seq.</a:t>
                      </a:r>
                    </a:p>
                  </a:txBody>
                  <a:tcPr marL="91430" marR="91430" marT="45707" marB="4570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377705">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Age</a:t>
                      </a:r>
                    </a:p>
                  </a:txBody>
                  <a:tcPr marL="91430" marR="91430" marT="45707" marB="4570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3799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A</a:t>
                      </a:r>
                    </a:p>
                  </a:txBody>
                  <a:tcPr marL="91430" marR="91430"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4</a:t>
                      </a:r>
                    </a:p>
                  </a:txBody>
                  <a:tcPr marL="91430" marR="91430"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99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C</a:t>
                      </a:r>
                    </a:p>
                  </a:txBody>
                  <a:tcPr marL="91430" marR="91430"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2</a:t>
                      </a:r>
                    </a:p>
                  </a:txBody>
                  <a:tcPr marL="91430" marR="91430"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99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F</a:t>
                      </a:r>
                    </a:p>
                  </a:txBody>
                  <a:tcPr marL="91430" marR="91430"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6</a:t>
                      </a:r>
                    </a:p>
                  </a:txBody>
                  <a:tcPr marL="91430" marR="91430"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8" name="Group 167">
            <a:extLst>
              <a:ext uri="{FF2B5EF4-FFF2-40B4-BE49-F238E27FC236}">
                <a16:creationId xmlns:a16="http://schemas.microsoft.com/office/drawing/2014/main" id="{233B1C39-EF64-3E01-ADC0-7515F6845E95}"/>
              </a:ext>
            </a:extLst>
          </p:cNvPr>
          <p:cNvGraphicFramePr>
            <a:graphicFrameLocks noGrp="1"/>
          </p:cNvGraphicFramePr>
          <p:nvPr/>
        </p:nvGraphicFramePr>
        <p:xfrm>
          <a:off x="7224713" y="1244600"/>
          <a:ext cx="1274762" cy="2338388"/>
        </p:xfrm>
        <a:graphic>
          <a:graphicData uri="http://schemas.openxmlformats.org/drawingml/2006/table">
            <a:tbl>
              <a:tblPr/>
              <a:tblGrid>
                <a:gridCol w="637381">
                  <a:extLst>
                    <a:ext uri="{9D8B030D-6E8A-4147-A177-3AD203B41FA5}">
                      <a16:colId xmlns:a16="http://schemas.microsoft.com/office/drawing/2014/main" val="20000"/>
                    </a:ext>
                  </a:extLst>
                </a:gridCol>
                <a:gridCol w="637381">
                  <a:extLst>
                    <a:ext uri="{9D8B030D-6E8A-4147-A177-3AD203B41FA5}">
                      <a16:colId xmlns:a16="http://schemas.microsoft.com/office/drawing/2014/main" val="20001"/>
                    </a:ext>
                  </a:extLst>
                </a:gridCol>
              </a:tblGrid>
              <a:tr h="390107">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C</a:t>
                      </a:r>
                    </a:p>
                  </a:txBody>
                  <a:tcPr marL="91483" marR="91483" marT="45719" marB="4571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90107">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Seq.</a:t>
                      </a:r>
                    </a:p>
                  </a:txBody>
                  <a:tcPr marL="91483" marR="91483" marT="45719" marB="4571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387851">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Age</a:t>
                      </a:r>
                    </a:p>
                  </a:txBody>
                  <a:tcPr marL="91483" marR="91483" marT="45719" marB="4571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39010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B</a:t>
                      </a:r>
                    </a:p>
                  </a:txBody>
                  <a:tcPr marL="91483" marR="91483"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2</a:t>
                      </a:r>
                    </a:p>
                  </a:txBody>
                  <a:tcPr marL="91483" marR="91483"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010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D</a:t>
                      </a:r>
                    </a:p>
                  </a:txBody>
                  <a:tcPr marL="91483" marR="91483"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3</a:t>
                      </a:r>
                    </a:p>
                  </a:txBody>
                  <a:tcPr marL="91483" marR="91483"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010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E</a:t>
                      </a:r>
                    </a:p>
                  </a:txBody>
                  <a:tcPr marL="91483" marR="91483"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1</a:t>
                      </a:r>
                    </a:p>
                  </a:txBody>
                  <a:tcPr marL="91483" marR="91483"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9" name="Group 187">
            <a:extLst>
              <a:ext uri="{FF2B5EF4-FFF2-40B4-BE49-F238E27FC236}">
                <a16:creationId xmlns:a16="http://schemas.microsoft.com/office/drawing/2014/main" id="{DC873217-73C6-852D-545F-E668604007F8}"/>
              </a:ext>
            </a:extLst>
          </p:cNvPr>
          <p:cNvGraphicFramePr>
            <a:graphicFrameLocks noGrp="1"/>
          </p:cNvGraphicFramePr>
          <p:nvPr/>
        </p:nvGraphicFramePr>
        <p:xfrm>
          <a:off x="5756275" y="3886200"/>
          <a:ext cx="1228725" cy="2133600"/>
        </p:xfrm>
        <a:graphic>
          <a:graphicData uri="http://schemas.openxmlformats.org/drawingml/2006/table">
            <a:tbl>
              <a:tblPr/>
              <a:tblGrid>
                <a:gridCol w="614363">
                  <a:extLst>
                    <a:ext uri="{9D8B030D-6E8A-4147-A177-3AD203B41FA5}">
                      <a16:colId xmlns:a16="http://schemas.microsoft.com/office/drawing/2014/main" val="20000"/>
                    </a:ext>
                  </a:extLst>
                </a:gridCol>
                <a:gridCol w="614363">
                  <a:extLst>
                    <a:ext uri="{9D8B030D-6E8A-4147-A177-3AD203B41FA5}">
                      <a16:colId xmlns:a16="http://schemas.microsoft.com/office/drawing/2014/main" val="20001"/>
                    </a:ext>
                  </a:extLst>
                </a:gridCol>
              </a:tblGrid>
              <a:tr h="355943">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E</a:t>
                      </a:r>
                    </a:p>
                  </a:txBody>
                  <a:tcPr marL="91405" marR="9140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55943">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Seq.</a:t>
                      </a:r>
                    </a:p>
                  </a:txBody>
                  <a:tcPr marL="91405" marR="9140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353884">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Age</a:t>
                      </a:r>
                    </a:p>
                  </a:txBody>
                  <a:tcPr marL="91405" marR="9140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35594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A</a:t>
                      </a:r>
                    </a:p>
                  </a:txBody>
                  <a:tcPr marL="91405" marR="914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5</a:t>
                      </a:r>
                    </a:p>
                  </a:txBody>
                  <a:tcPr marL="91405" marR="914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94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C</a:t>
                      </a:r>
                    </a:p>
                  </a:txBody>
                  <a:tcPr marL="91405" marR="914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1</a:t>
                      </a:r>
                    </a:p>
                  </a:txBody>
                  <a:tcPr marL="91405" marR="914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594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F</a:t>
                      </a:r>
                    </a:p>
                  </a:txBody>
                  <a:tcPr marL="91405" marR="914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8</a:t>
                      </a:r>
                    </a:p>
                  </a:txBody>
                  <a:tcPr marL="91405" marR="914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0" name="Group 207">
            <a:extLst>
              <a:ext uri="{FF2B5EF4-FFF2-40B4-BE49-F238E27FC236}">
                <a16:creationId xmlns:a16="http://schemas.microsoft.com/office/drawing/2014/main" id="{36FFB3EC-1BA8-C7EC-3B84-240149D47041}"/>
              </a:ext>
            </a:extLst>
          </p:cNvPr>
          <p:cNvGraphicFramePr>
            <a:graphicFrameLocks noGrp="1"/>
          </p:cNvGraphicFramePr>
          <p:nvPr/>
        </p:nvGraphicFramePr>
        <p:xfrm>
          <a:off x="7388225" y="3886200"/>
          <a:ext cx="1171575" cy="2133600"/>
        </p:xfrm>
        <a:graphic>
          <a:graphicData uri="http://schemas.openxmlformats.org/drawingml/2006/table">
            <a:tbl>
              <a:tblPr/>
              <a:tblGrid>
                <a:gridCol w="585788">
                  <a:extLst>
                    <a:ext uri="{9D8B030D-6E8A-4147-A177-3AD203B41FA5}">
                      <a16:colId xmlns:a16="http://schemas.microsoft.com/office/drawing/2014/main" val="20000"/>
                    </a:ext>
                  </a:extLst>
                </a:gridCol>
                <a:gridCol w="585788">
                  <a:extLst>
                    <a:ext uri="{9D8B030D-6E8A-4147-A177-3AD203B41FA5}">
                      <a16:colId xmlns:a16="http://schemas.microsoft.com/office/drawing/2014/main" val="20001"/>
                    </a:ext>
                  </a:extLst>
                </a:gridCol>
              </a:tblGrid>
              <a:tr h="322053">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F</a:t>
                      </a:r>
                    </a:p>
                  </a:txBody>
                  <a:tcPr marL="91525" marR="91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62729">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Seq.</a:t>
                      </a:r>
                    </a:p>
                  </a:txBody>
                  <a:tcPr marL="91525" marR="91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360632">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Age</a:t>
                      </a:r>
                    </a:p>
                  </a:txBody>
                  <a:tcPr marL="91525" marR="91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36272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B</a:t>
                      </a:r>
                    </a:p>
                  </a:txBody>
                  <a:tcPr marL="91525" marR="915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6</a:t>
                      </a:r>
                    </a:p>
                  </a:txBody>
                  <a:tcPr marL="91525" marR="915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272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D</a:t>
                      </a:r>
                    </a:p>
                  </a:txBody>
                  <a:tcPr marL="91525" marR="915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4</a:t>
                      </a:r>
                    </a:p>
                  </a:txBody>
                  <a:tcPr marL="91525" marR="915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272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E</a:t>
                      </a:r>
                    </a:p>
                  </a:txBody>
                  <a:tcPr marL="91525" marR="915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8</a:t>
                      </a:r>
                    </a:p>
                  </a:txBody>
                  <a:tcPr marL="91525" marR="915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1" name="Group 227">
            <a:extLst>
              <a:ext uri="{FF2B5EF4-FFF2-40B4-BE49-F238E27FC236}">
                <a16:creationId xmlns:a16="http://schemas.microsoft.com/office/drawing/2014/main" id="{0CCFAA89-2287-DDB1-EE6A-262062121437}"/>
              </a:ext>
            </a:extLst>
          </p:cNvPr>
          <p:cNvGraphicFramePr>
            <a:graphicFrameLocks noGrp="1"/>
          </p:cNvGraphicFramePr>
          <p:nvPr/>
        </p:nvGraphicFramePr>
        <p:xfrm>
          <a:off x="4100513" y="3886200"/>
          <a:ext cx="1400175" cy="2133600"/>
        </p:xfrm>
        <a:graphic>
          <a:graphicData uri="http://schemas.openxmlformats.org/drawingml/2006/table">
            <a:tbl>
              <a:tblPr/>
              <a:tblGrid>
                <a:gridCol w="701537">
                  <a:extLst>
                    <a:ext uri="{9D8B030D-6E8A-4147-A177-3AD203B41FA5}">
                      <a16:colId xmlns:a16="http://schemas.microsoft.com/office/drawing/2014/main" val="20000"/>
                    </a:ext>
                  </a:extLst>
                </a:gridCol>
                <a:gridCol w="698638">
                  <a:extLst>
                    <a:ext uri="{9D8B030D-6E8A-4147-A177-3AD203B41FA5}">
                      <a16:colId xmlns:a16="http://schemas.microsoft.com/office/drawing/2014/main" val="20001"/>
                    </a:ext>
                  </a:extLst>
                </a:gridCol>
              </a:tblGrid>
              <a:tr h="427214">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D</a:t>
                      </a:r>
                    </a:p>
                  </a:txBody>
                  <a:tcPr marL="91445" marR="9144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27214">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Seq.</a:t>
                      </a:r>
                    </a:p>
                  </a:txBody>
                  <a:tcPr marL="91445" marR="9144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424744">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Age</a:t>
                      </a:r>
                    </a:p>
                  </a:txBody>
                  <a:tcPr marL="91445" marR="9144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42721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C</a:t>
                      </a:r>
                    </a:p>
                  </a:txBody>
                  <a:tcPr marL="91445" marR="914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3</a:t>
                      </a:r>
                    </a:p>
                  </a:txBody>
                  <a:tcPr marL="91445" marR="914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721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a:ln>
                            <a:noFill/>
                          </a:ln>
                          <a:solidFill>
                            <a:schemeClr val="tx1"/>
                          </a:solidFill>
                          <a:effectLst/>
                          <a:latin typeface="Times New Roman" pitchFamily="18" charset="0"/>
                          <a:cs typeface="Times New Roman" pitchFamily="18" charset="0"/>
                        </a:rPr>
                        <a:t>F</a:t>
                      </a:r>
                    </a:p>
                  </a:txBody>
                  <a:tcPr marL="91445" marR="914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4</a:t>
                      </a:r>
                    </a:p>
                  </a:txBody>
                  <a:tcPr marL="91445" marR="914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43125" name="Picture 2">
            <a:extLst>
              <a:ext uri="{FF2B5EF4-FFF2-40B4-BE49-F238E27FC236}">
                <a16:creationId xmlns:a16="http://schemas.microsoft.com/office/drawing/2014/main" id="{0491D009-4EEE-CE7F-BBE3-B8F80447F3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320" t="34093" r="23042" b="21030"/>
          <a:stretch>
            <a:fillRect/>
          </a:stretch>
        </p:blipFill>
        <p:spPr bwMode="auto">
          <a:xfrm>
            <a:off x="3987800" y="946150"/>
            <a:ext cx="4857750" cy="541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ox(in)">
                                      <p:cBhvr>
                                        <p:cTn id="23" dur="500"/>
                                        <p:tgtEl>
                                          <p:spTgt spid="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8" presetClass="entr" presetSubtype="1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amond(in)">
                                      <p:cBhvr>
                                        <p:cTn id="28" dur="2000"/>
                                        <p:tgtEl>
                                          <p:spTgt spid="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7" presetClass="entr" presetSubtype="4"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1000" fill="hold"/>
                                        <p:tgtEl>
                                          <p:spTgt spid="10"/>
                                        </p:tgtEl>
                                        <p:attrNameLst>
                                          <p:attrName>ppt_x</p:attrName>
                                        </p:attrNameLst>
                                      </p:cBhvr>
                                      <p:tavLst>
                                        <p:tav tm="0">
                                          <p:val>
                                            <p:strVal val="#ppt_x"/>
                                          </p:val>
                                        </p:tav>
                                        <p:tav tm="100000">
                                          <p:val>
                                            <p:strVal val="#ppt_x"/>
                                          </p:val>
                                        </p:tav>
                                      </p:tavLst>
                                    </p:anim>
                                    <p:anim calcmode="lin" valueType="num">
                                      <p:cBhvr additive="base">
                                        <p:cTn id="34" dur="1000" fill="hold"/>
                                        <p:tgtEl>
                                          <p:spTgt spid="10"/>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breez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7641D29-9DD0-B52F-5C12-649B0ED2A713}"/>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4. Distributing the Link State Packets</a:t>
            </a:r>
            <a:endParaRPr lang="en-US" sz="4000" b="1" dirty="0">
              <a:latin typeface="Times New Roman" panose="02020603050405020304" pitchFamily="18" charset="0"/>
              <a:cs typeface="Times New Roman" panose="02020603050405020304" pitchFamily="18" charset="0"/>
            </a:endParaRPr>
          </a:p>
        </p:txBody>
      </p:sp>
      <p:sp>
        <p:nvSpPr>
          <p:cNvPr id="44034" name="Rectangle 3">
            <a:extLst>
              <a:ext uri="{FF2B5EF4-FFF2-40B4-BE49-F238E27FC236}">
                <a16:creationId xmlns:a16="http://schemas.microsoft.com/office/drawing/2014/main" id="{05766008-D273-DE63-B2A8-39DB5CFB96FC}"/>
              </a:ext>
            </a:extLst>
          </p:cNvPr>
          <p:cNvSpPr txBox="1">
            <a:spLocks noChangeArrowheads="1"/>
          </p:cNvSpPr>
          <p:nvPr/>
        </p:nvSpPr>
        <p:spPr bwMode="auto">
          <a:xfrm>
            <a:off x="566738" y="1093788"/>
            <a:ext cx="8293100" cy="542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eaLnBrk="1" hangingPunct="1">
              <a:lnSpc>
                <a:spcPct val="80000"/>
              </a:lnSpc>
              <a:buFont typeface="Wingdings" pitchFamily="2" charset="2"/>
              <a:buChar char="q"/>
            </a:pPr>
            <a:r>
              <a:rPr lang="en-US" altLang="en-US" sz="2800">
                <a:latin typeface="Times New Roman" panose="02020603050405020304" pitchFamily="18" charset="0"/>
                <a:cs typeface="Times New Roman" panose="02020603050405020304" pitchFamily="18" charset="0"/>
              </a:rPr>
              <a:t>Distributing Link State Packets </a:t>
            </a:r>
            <a:r>
              <a:rPr lang="en-US" altLang="en-US" sz="2800" b="1" i="1">
                <a:solidFill>
                  <a:schemeClr val="accent2"/>
                </a:solidFill>
                <a:latin typeface="Times New Roman" panose="02020603050405020304" pitchFamily="18" charset="0"/>
                <a:cs typeface="Times New Roman" panose="02020603050405020304" pitchFamily="18" charset="0"/>
              </a:rPr>
              <a:t>Reliably</a:t>
            </a:r>
            <a:r>
              <a:rPr lang="en-US" altLang="en-US" sz="2800">
                <a:latin typeface="Times New Roman" panose="02020603050405020304" pitchFamily="18" charset="0"/>
                <a:cs typeface="Times New Roman" panose="02020603050405020304" pitchFamily="18" charset="0"/>
              </a:rPr>
              <a:t> is tricky:</a:t>
            </a:r>
          </a:p>
          <a:p>
            <a:pPr lvl="1" algn="just" eaLnBrk="1" hangingPunct="1">
              <a:lnSpc>
                <a:spcPct val="80000"/>
              </a:lnSpc>
              <a:buFont typeface="Wingdings" pitchFamily="2" charset="2"/>
              <a:buChar char="ü"/>
            </a:pPr>
            <a:r>
              <a:rPr lang="en-US" altLang="en-US" sz="2400">
                <a:latin typeface="Times New Roman" panose="02020603050405020304" pitchFamily="18" charset="0"/>
                <a:cs typeface="Times New Roman" panose="02020603050405020304" pitchFamily="18" charset="0"/>
              </a:rPr>
              <a:t>As the packets are distributed and installed, the routers getting the first ones will change their routes before other routers in the network update their routing tables.</a:t>
            </a:r>
          </a:p>
          <a:p>
            <a:pPr lvl="1" algn="just" eaLnBrk="1" hangingPunct="1">
              <a:lnSpc>
                <a:spcPct val="80000"/>
              </a:lnSpc>
              <a:buFont typeface="Wingdings" pitchFamily="2" charset="2"/>
              <a:buChar char="ü"/>
            </a:pPr>
            <a:r>
              <a:rPr lang="en-US" altLang="en-US" sz="2400">
                <a:latin typeface="Times New Roman" panose="02020603050405020304" pitchFamily="18" charset="0"/>
                <a:cs typeface="Times New Roman" panose="02020603050405020304" pitchFamily="18" charset="0"/>
              </a:rPr>
              <a:t>Different Routers may be using different versions of the topology (inconsistencies, loops, etc.)</a:t>
            </a:r>
          </a:p>
          <a:p>
            <a:pPr algn="just" eaLnBrk="1" hangingPunct="1">
              <a:lnSpc>
                <a:spcPct val="80000"/>
              </a:lnSpc>
              <a:buFont typeface="Wingdings" pitchFamily="2" charset="2"/>
              <a:buChar char="q"/>
            </a:pPr>
            <a:r>
              <a:rPr lang="en-US" altLang="en-US" sz="2800">
                <a:latin typeface="Times New Roman" panose="02020603050405020304" pitchFamily="18" charset="0"/>
                <a:cs typeface="Times New Roman" panose="02020603050405020304" pitchFamily="18" charset="0"/>
              </a:rPr>
              <a:t>Basic Algorithm: </a:t>
            </a:r>
            <a:r>
              <a:rPr lang="en-US" altLang="en-US" sz="2800" b="1" i="1">
                <a:solidFill>
                  <a:schemeClr val="accent2"/>
                </a:solidFill>
                <a:latin typeface="Times New Roman" panose="02020603050405020304" pitchFamily="18" charset="0"/>
                <a:cs typeface="Times New Roman" panose="02020603050405020304" pitchFamily="18" charset="0"/>
              </a:rPr>
              <a:t>Flooding</a:t>
            </a:r>
          </a:p>
          <a:p>
            <a:pPr lvl="1" algn="just" eaLnBrk="1" hangingPunct="1">
              <a:lnSpc>
                <a:spcPct val="80000"/>
              </a:lnSpc>
              <a:buFont typeface="Wingdings" pitchFamily="2" charset="2"/>
              <a:buChar char="ü"/>
            </a:pPr>
            <a:r>
              <a:rPr lang="en-US" altLang="en-US" sz="2400">
                <a:latin typeface="Times New Roman" panose="02020603050405020304" pitchFamily="18" charset="0"/>
                <a:cs typeface="Times New Roman" panose="02020603050405020304" pitchFamily="18" charset="0"/>
              </a:rPr>
              <a:t>Sequence Number (incremented for each new packet sent) is used to keep the flood in check.</a:t>
            </a:r>
          </a:p>
          <a:p>
            <a:pPr lvl="1" algn="just" eaLnBrk="1" hangingPunct="1">
              <a:lnSpc>
                <a:spcPct val="80000"/>
              </a:lnSpc>
              <a:buFont typeface="Wingdings" pitchFamily="2" charset="2"/>
              <a:buChar char="ü"/>
            </a:pPr>
            <a:r>
              <a:rPr lang="en-US" altLang="en-US" sz="2400">
                <a:latin typeface="Times New Roman" panose="02020603050405020304" pitchFamily="18" charset="0"/>
                <a:cs typeface="Times New Roman" panose="02020603050405020304" pitchFamily="18" charset="0"/>
              </a:rPr>
              <a:t>Routers keep track of all the source router packets they have been sent to.</a:t>
            </a:r>
          </a:p>
          <a:p>
            <a:pPr lvl="1" algn="just" eaLnBrk="1" hangingPunct="1">
              <a:lnSpc>
                <a:spcPct val="80000"/>
              </a:lnSpc>
              <a:buFont typeface="Wingdings" pitchFamily="2" charset="2"/>
              <a:buChar char="ü"/>
            </a:pPr>
            <a:r>
              <a:rPr lang="en-US" altLang="en-US" sz="2400">
                <a:latin typeface="Times New Roman" panose="02020603050405020304" pitchFamily="18" charset="0"/>
                <a:cs typeface="Times New Roman" panose="02020603050405020304" pitchFamily="18" charset="0"/>
              </a:rPr>
              <a:t>New link state packets is checked against the track list:</a:t>
            </a:r>
          </a:p>
          <a:p>
            <a:pPr lvl="2" algn="just" eaLnBrk="1" hangingPunct="1">
              <a:lnSpc>
                <a:spcPct val="80000"/>
              </a:lnSpc>
            </a:pPr>
            <a:r>
              <a:rPr lang="en-US" altLang="en-US" sz="2000">
                <a:latin typeface="Times New Roman" panose="02020603050405020304" pitchFamily="18" charset="0"/>
                <a:cs typeface="Times New Roman" panose="02020603050405020304" pitchFamily="18" charset="0"/>
              </a:rPr>
              <a:t>If new/unseen (based on the sequence number) then it is broadcasted to all neighboring routers with exception of the sender. </a:t>
            </a:r>
          </a:p>
          <a:p>
            <a:pPr lvl="2" algn="just" eaLnBrk="1" hangingPunct="1">
              <a:lnSpc>
                <a:spcPct val="80000"/>
              </a:lnSpc>
            </a:pPr>
            <a:r>
              <a:rPr lang="en-US" altLang="en-US" sz="2000">
                <a:latin typeface="Times New Roman" panose="02020603050405020304" pitchFamily="18" charset="0"/>
                <a:cs typeface="Times New Roman" panose="02020603050405020304" pitchFamily="18" charset="0"/>
              </a:rPr>
              <a:t>If duplicate, it is disregarded.</a:t>
            </a:r>
          </a:p>
          <a:p>
            <a:pPr lvl="2" algn="just" eaLnBrk="1" hangingPunct="1">
              <a:lnSpc>
                <a:spcPct val="80000"/>
              </a:lnSpc>
            </a:pPr>
            <a:r>
              <a:rPr lang="en-US" altLang="en-US" sz="2000">
                <a:latin typeface="Times New Roman" panose="02020603050405020304" pitchFamily="18" charset="0"/>
                <a:cs typeface="Times New Roman" panose="02020603050405020304" pitchFamily="18" charset="0"/>
              </a:rPr>
              <a:t>If sequence number is lower than the highest one in the track list, it is rejected.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8BAA7E9-9A8F-5D66-2749-5B5D7F49DB34}"/>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4. Distributing the Link State Packets (2)</a:t>
            </a:r>
            <a:endParaRPr lang="en-US" sz="40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A278220C-8E71-FCB4-8B91-637CA2158DA7}"/>
              </a:ext>
            </a:extLst>
          </p:cNvPr>
          <p:cNvSpPr txBox="1">
            <a:spLocks noChangeArrowheads="1"/>
          </p:cNvSpPr>
          <p:nvPr/>
        </p:nvSpPr>
        <p:spPr bwMode="auto">
          <a:xfrm>
            <a:off x="566738" y="1093788"/>
            <a:ext cx="8293100" cy="5427662"/>
          </a:xfrm>
          <a:prstGeom prst="rect">
            <a:avLst/>
          </a:prstGeom>
          <a:noFill/>
          <a:ln>
            <a:noFill/>
          </a:ln>
          <a:effectLst/>
        </p:spPr>
        <p:txBody>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marL="571500" indent="-571500" algn="just" eaLnBrk="1" hangingPunct="1">
              <a:lnSpc>
                <a:spcPct val="90000"/>
              </a:lnSpc>
              <a:buFont typeface="Wingdings" pitchFamily="2" charset="2"/>
              <a:buChar char="q"/>
              <a:defRPr/>
            </a:pPr>
            <a:r>
              <a:rPr lang="en-US" sz="3200" dirty="0">
                <a:latin typeface="Times New Roman" pitchFamily="18" charset="0"/>
                <a:cs typeface="Times New Roman" pitchFamily="18" charset="0"/>
              </a:rPr>
              <a:t>Problems with basic algorithm:</a:t>
            </a:r>
          </a:p>
          <a:p>
            <a:pPr marL="966788" lvl="1" indent="-495300" algn="just" eaLnBrk="1" hangingPunct="1">
              <a:lnSpc>
                <a:spcPct val="90000"/>
              </a:lnSpc>
              <a:buFont typeface="Wingdings" pitchFamily="2" charset="2"/>
              <a:buAutoNum type="arabicPeriod"/>
              <a:defRPr/>
            </a:pPr>
            <a:r>
              <a:rPr lang="en-US" sz="2400" dirty="0">
                <a:latin typeface="Times New Roman" pitchFamily="18" charset="0"/>
                <a:cs typeface="Times New Roman" pitchFamily="18" charset="0"/>
              </a:rPr>
              <a:t>Sequence Number wrap around.</a:t>
            </a:r>
          </a:p>
          <a:p>
            <a:pPr marL="1347788" lvl="2" indent="-438150" algn="just" eaLnBrk="1" hangingPunct="1">
              <a:lnSpc>
                <a:spcPct val="90000"/>
              </a:lnSpc>
              <a:defRPr/>
            </a:pPr>
            <a:r>
              <a:rPr lang="en-US" dirty="0">
                <a:latin typeface="Times New Roman" pitchFamily="18" charset="0"/>
                <a:cs typeface="Times New Roman" pitchFamily="18" charset="0"/>
              </a:rPr>
              <a:t>Make a long precision number (e.g., 32-bit)</a:t>
            </a:r>
          </a:p>
          <a:p>
            <a:pPr marL="966788" lvl="1" indent="-495300" algn="just" eaLnBrk="1" hangingPunct="1">
              <a:lnSpc>
                <a:spcPct val="90000"/>
              </a:lnSpc>
              <a:buFont typeface="Wingdings" pitchFamily="2" charset="2"/>
              <a:buAutoNum type="arabicPeriod"/>
              <a:defRPr/>
            </a:pPr>
            <a:r>
              <a:rPr lang="en-US" sz="2400" dirty="0">
                <a:latin typeface="Times New Roman" pitchFamily="18" charset="0"/>
                <a:cs typeface="Times New Roman" pitchFamily="18" charset="0"/>
              </a:rPr>
              <a:t>Crash of a router: losing track of sequence number.</a:t>
            </a:r>
          </a:p>
          <a:p>
            <a:pPr marL="966788" lvl="1" indent="-495300" algn="just" eaLnBrk="1" hangingPunct="1">
              <a:lnSpc>
                <a:spcPct val="90000"/>
              </a:lnSpc>
              <a:buFont typeface="Wingdings" pitchFamily="2" charset="2"/>
              <a:buAutoNum type="arabicPeriod"/>
              <a:defRPr/>
            </a:pPr>
            <a:r>
              <a:rPr lang="en-US" sz="2400" dirty="0">
                <a:latin typeface="Times New Roman" pitchFamily="18" charset="0"/>
                <a:cs typeface="Times New Roman" pitchFamily="18" charset="0"/>
              </a:rPr>
              <a:t>Corruption of sequence number.</a:t>
            </a:r>
          </a:p>
          <a:p>
            <a:pPr marL="571500" indent="-571500" algn="just" eaLnBrk="1" hangingPunct="1">
              <a:lnSpc>
                <a:spcPct val="90000"/>
              </a:lnSpc>
              <a:buFont typeface="Wingdings" pitchFamily="2" charset="2"/>
              <a:buChar char="q"/>
              <a:defRPr/>
            </a:pPr>
            <a:r>
              <a:rPr lang="en-US" sz="3200" dirty="0">
                <a:latin typeface="Times New Roman" pitchFamily="18" charset="0"/>
                <a:cs typeface="Times New Roman" pitchFamily="18" charset="0"/>
              </a:rPr>
              <a:t>Solution: Include Age of each packet.</a:t>
            </a:r>
          </a:p>
          <a:p>
            <a:pPr marL="814388" lvl="1" indent="-342900" algn="just" eaLnBrk="1" hangingPunct="1">
              <a:lnSpc>
                <a:spcPct val="90000"/>
              </a:lnSpc>
              <a:buFont typeface="Wingdings" pitchFamily="2" charset="2"/>
              <a:buChar char="ü"/>
              <a:defRPr/>
            </a:pPr>
            <a:r>
              <a:rPr lang="en-US" sz="2400" dirty="0">
                <a:latin typeface="Times New Roman" pitchFamily="18" charset="0"/>
                <a:cs typeface="Times New Roman" pitchFamily="18" charset="0"/>
              </a:rPr>
              <a:t>Decrement this value once per second. </a:t>
            </a:r>
          </a:p>
          <a:p>
            <a:pPr marL="814388" lvl="1" indent="-342900" algn="just" eaLnBrk="1" hangingPunct="1">
              <a:lnSpc>
                <a:spcPct val="90000"/>
              </a:lnSpc>
              <a:buFont typeface="Wingdings" pitchFamily="2" charset="2"/>
              <a:buChar char="ü"/>
              <a:defRPr/>
            </a:pPr>
            <a:r>
              <a:rPr lang="en-US" sz="2400" dirty="0">
                <a:latin typeface="Times New Roman" pitchFamily="18" charset="0"/>
                <a:cs typeface="Times New Roman" pitchFamily="18" charset="0"/>
              </a:rPr>
              <a:t>When zero, this state information is disregarded.</a:t>
            </a:r>
          </a:p>
          <a:p>
            <a:pPr marL="814388" lvl="1" indent="-342900" algn="just" eaLnBrk="1" hangingPunct="1">
              <a:lnSpc>
                <a:spcPct val="90000"/>
              </a:lnSpc>
              <a:buFont typeface="Wingdings" pitchFamily="2" charset="2"/>
              <a:buChar char="ü"/>
              <a:defRPr/>
            </a:pPr>
            <a:r>
              <a:rPr lang="en-US" sz="2400" dirty="0">
                <a:latin typeface="Times New Roman" pitchFamily="18" charset="0"/>
                <a:cs typeface="Times New Roman" pitchFamily="18" charset="0"/>
              </a:rPr>
              <a:t>Normally a new packed is send every 10 sec.</a:t>
            </a:r>
          </a:p>
          <a:p>
            <a:pPr marL="1347788" lvl="2" indent="-438150" algn="just" eaLnBrk="1" hangingPunct="1">
              <a:lnSpc>
                <a:spcPct val="90000"/>
              </a:lnSpc>
              <a:buFont typeface="Wingdings" pitchFamily="2" charset="2"/>
              <a:buChar char="n"/>
              <a:defRPr/>
            </a:pPr>
            <a:r>
              <a:rPr lang="en-US" dirty="0">
                <a:latin typeface="Times New Roman" pitchFamily="18" charset="0"/>
                <a:cs typeface="Times New Roman" pitchFamily="18" charset="0"/>
              </a:rPr>
              <a:t>Router information times out when:</a:t>
            </a:r>
          </a:p>
          <a:p>
            <a:pPr lvl="3" algn="just" eaLnBrk="1" hangingPunct="1">
              <a:lnSpc>
                <a:spcPct val="90000"/>
              </a:lnSpc>
              <a:defRPr/>
            </a:pPr>
            <a:r>
              <a:rPr lang="en-US" sz="2400" dirty="0">
                <a:latin typeface="Times New Roman" pitchFamily="18" charset="0"/>
                <a:cs typeface="Times New Roman" pitchFamily="18" charset="0"/>
              </a:rPr>
              <a:t>Router is down, or</a:t>
            </a:r>
          </a:p>
          <a:p>
            <a:pPr lvl="3" algn="just" eaLnBrk="1" hangingPunct="1">
              <a:lnSpc>
                <a:spcPct val="90000"/>
              </a:lnSpc>
              <a:defRPr/>
            </a:pPr>
            <a:r>
              <a:rPr lang="en-US" sz="2400" dirty="0">
                <a:latin typeface="Times New Roman" pitchFamily="18" charset="0"/>
                <a:cs typeface="Times New Roman" pitchFamily="18" charset="0"/>
              </a:rPr>
              <a:t>A Number of (e.g., 6) consecutive packets have been lost.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163E090-D90A-A1CC-6261-619C00471E97}"/>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Hierarchical Routing</a:t>
            </a:r>
            <a:endParaRPr lang="en-US" sz="4000" b="1" dirty="0">
              <a:latin typeface="Times New Roman" panose="02020603050405020304" pitchFamily="18" charset="0"/>
              <a:cs typeface="Times New Roman" panose="02020603050405020304" pitchFamily="18" charset="0"/>
            </a:endParaRPr>
          </a:p>
        </p:txBody>
      </p:sp>
      <p:sp>
        <p:nvSpPr>
          <p:cNvPr id="48130" name="Rectangle 3">
            <a:extLst>
              <a:ext uri="{FF2B5EF4-FFF2-40B4-BE49-F238E27FC236}">
                <a16:creationId xmlns:a16="http://schemas.microsoft.com/office/drawing/2014/main" id="{A27F17A8-CEAE-CE30-8AF7-64DF710F0B3E}"/>
              </a:ext>
            </a:extLst>
          </p:cNvPr>
          <p:cNvSpPr txBox="1">
            <a:spLocks noChangeArrowheads="1"/>
          </p:cNvSpPr>
          <p:nvPr/>
        </p:nvSpPr>
        <p:spPr bwMode="auto">
          <a:xfrm>
            <a:off x="566738" y="928688"/>
            <a:ext cx="8001000"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eaLnBrk="1" hangingPunct="1">
              <a:buFont typeface="Wingdings" pitchFamily="2" charset="2"/>
              <a:buChar char="q"/>
            </a:pPr>
            <a:r>
              <a:rPr lang="en-US" altLang="en-US" sz="3200">
                <a:latin typeface="Times New Roman" panose="02020603050405020304" pitchFamily="18" charset="0"/>
                <a:cs typeface="Times New Roman" panose="02020603050405020304" pitchFamily="18" charset="0"/>
              </a:rPr>
              <a:t>Large Networks:</a:t>
            </a:r>
          </a:p>
          <a:p>
            <a:pPr lvl="1" algn="just" eaLnBrk="1" hangingPunct="1">
              <a:buFont typeface="Wingdings" pitchFamily="2" charset="2"/>
              <a:buChar char="ü"/>
            </a:pPr>
            <a:r>
              <a:rPr lang="en-US" altLang="en-US" sz="2800">
                <a:latin typeface="Times New Roman" panose="02020603050405020304" pitchFamily="18" charset="0"/>
                <a:cs typeface="Times New Roman" panose="02020603050405020304" pitchFamily="18" charset="0"/>
              </a:rPr>
              <a:t>Proportionally large routing tables are required for each router</a:t>
            </a:r>
          </a:p>
          <a:p>
            <a:pPr lvl="1" algn="just" eaLnBrk="1" hangingPunct="1">
              <a:buFont typeface="Wingdings" pitchFamily="2" charset="2"/>
              <a:buChar char="ü"/>
            </a:pPr>
            <a:r>
              <a:rPr lang="en-US" altLang="en-US" sz="2800">
                <a:latin typeface="Times New Roman" panose="02020603050405020304" pitchFamily="18" charset="0"/>
                <a:cs typeface="Times New Roman" panose="02020603050405020304" pitchFamily="18" charset="0"/>
              </a:rPr>
              <a:t>More CPU time is needed to scan them </a:t>
            </a:r>
          </a:p>
          <a:p>
            <a:pPr lvl="1" algn="just" eaLnBrk="1" hangingPunct="1">
              <a:buFont typeface="Wingdings" pitchFamily="2" charset="2"/>
              <a:buChar char="ü"/>
            </a:pPr>
            <a:r>
              <a:rPr lang="en-US" altLang="en-US" sz="2800">
                <a:latin typeface="Times New Roman" panose="02020603050405020304" pitchFamily="18" charset="0"/>
                <a:cs typeface="Times New Roman" panose="02020603050405020304" pitchFamily="18" charset="0"/>
              </a:rPr>
              <a:t>More bandwidth is needed to send status reports.</a:t>
            </a:r>
          </a:p>
          <a:p>
            <a:pPr lvl="1" algn="just" eaLnBrk="1" hangingPunct="1">
              <a:buFont typeface="Wingdings" pitchFamily="2" charset="2"/>
              <a:buChar char="ü"/>
            </a:pPr>
            <a:r>
              <a:rPr lang="en-US" altLang="en-US" sz="2800">
                <a:latin typeface="Times New Roman" panose="02020603050405020304" pitchFamily="18" charset="0"/>
                <a:cs typeface="Times New Roman" panose="02020603050405020304" pitchFamily="18" charset="0"/>
              </a:rPr>
              <a:t>At certain point network may grow so large where it is no longer feasible for every router to have an entry for every other router.</a:t>
            </a:r>
          </a:p>
          <a:p>
            <a:pPr lvl="1" algn="just" eaLnBrk="1" hangingPunct="1">
              <a:buFont typeface="Wingdings" pitchFamily="2" charset="2"/>
              <a:buChar char="ü"/>
            </a:pPr>
            <a:r>
              <a:rPr lang="en-US" altLang="en-US" sz="2800">
                <a:latin typeface="Times New Roman" panose="02020603050405020304" pitchFamily="18" charset="0"/>
                <a:cs typeface="Times New Roman" panose="02020603050405020304" pitchFamily="18" charset="0"/>
              </a:rPr>
              <a:t>Solution: Routing has to be done hierarchically.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B102305-C0E1-BEB4-0F02-CC9F83AF98B0}"/>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Hierarchical Routing(2)</a:t>
            </a:r>
            <a:endParaRPr lang="en-US" sz="4000" b="1" dirty="0">
              <a:latin typeface="Times New Roman" panose="02020603050405020304" pitchFamily="18" charset="0"/>
              <a:cs typeface="Times New Roman" panose="02020603050405020304" pitchFamily="18" charset="0"/>
            </a:endParaRPr>
          </a:p>
        </p:txBody>
      </p:sp>
      <p:sp>
        <p:nvSpPr>
          <p:cNvPr id="50178" name="Rectangle 3">
            <a:extLst>
              <a:ext uri="{FF2B5EF4-FFF2-40B4-BE49-F238E27FC236}">
                <a16:creationId xmlns:a16="http://schemas.microsoft.com/office/drawing/2014/main" id="{19BEF1AC-126F-3473-4971-F2DF336EDAA2}"/>
              </a:ext>
            </a:extLst>
          </p:cNvPr>
          <p:cNvSpPr txBox="1">
            <a:spLocks noChangeArrowheads="1"/>
          </p:cNvSpPr>
          <p:nvPr/>
        </p:nvSpPr>
        <p:spPr bwMode="auto">
          <a:xfrm>
            <a:off x="566738" y="928688"/>
            <a:ext cx="8001000"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eaLnBrk="1" hangingPunct="1">
              <a:buFont typeface="Wingdings" pitchFamily="2" charset="2"/>
              <a:buChar char="q"/>
            </a:pPr>
            <a:r>
              <a:rPr lang="en-US" altLang="en-US" sz="3200">
                <a:latin typeface="Times New Roman" panose="02020603050405020304" pitchFamily="18" charset="0"/>
                <a:cs typeface="Times New Roman" panose="02020603050405020304" pitchFamily="18" charset="0"/>
              </a:rPr>
              <a:t>Routers divided in Regions (as in telephone network):</a:t>
            </a:r>
          </a:p>
          <a:p>
            <a:pPr lvl="1" algn="just" eaLnBrk="1" hangingPunct="1">
              <a:buFont typeface="Wingdings" pitchFamily="2" charset="2"/>
              <a:buChar char="ü"/>
            </a:pPr>
            <a:r>
              <a:rPr lang="en-US" altLang="en-US" sz="2800">
                <a:latin typeface="Times New Roman" panose="02020603050405020304" pitchFamily="18" charset="0"/>
                <a:cs typeface="Times New Roman" panose="02020603050405020304" pitchFamily="18" charset="0"/>
              </a:rPr>
              <a:t>Each router knows how to route packets to destinations within its own region.</a:t>
            </a:r>
          </a:p>
          <a:p>
            <a:pPr lvl="1" algn="just" eaLnBrk="1" hangingPunct="1">
              <a:buFont typeface="Wingdings" pitchFamily="2" charset="2"/>
              <a:buChar char="ü"/>
            </a:pPr>
            <a:r>
              <a:rPr lang="en-US" altLang="en-US" sz="2800">
                <a:latin typeface="Times New Roman" panose="02020603050405020304" pitchFamily="18" charset="0"/>
                <a:cs typeface="Times New Roman" panose="02020603050405020304" pitchFamily="18" charset="0"/>
              </a:rPr>
              <a:t>However, router does not have any information regarding the topology of the network of other regions.</a:t>
            </a:r>
          </a:p>
          <a:p>
            <a:pPr algn="just" eaLnBrk="1" hangingPunct="1">
              <a:buFont typeface="Wingdings" pitchFamily="2" charset="2"/>
              <a:buChar char="q"/>
            </a:pPr>
            <a:r>
              <a:rPr lang="en-US" altLang="en-US" sz="2800">
                <a:latin typeface="Times New Roman" panose="02020603050405020304" pitchFamily="18" charset="0"/>
                <a:cs typeface="Times New Roman" panose="02020603050405020304" pitchFamily="18" charset="0"/>
              </a:rPr>
              <a:t>When different networks are interconnected they are regarded as a separate region in order to free the routers in one network form having to know the topological structure of the other ones.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490ED23-BC2A-6962-7870-4F362109D7A9}"/>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Hierarchical Routing(3)</a:t>
            </a:r>
            <a:endParaRPr lang="en-US" sz="4000" b="1" dirty="0">
              <a:latin typeface="Times New Roman" panose="02020603050405020304" pitchFamily="18" charset="0"/>
              <a:cs typeface="Times New Roman" panose="02020603050405020304" pitchFamily="18" charset="0"/>
            </a:endParaRPr>
          </a:p>
        </p:txBody>
      </p:sp>
      <p:sp>
        <p:nvSpPr>
          <p:cNvPr id="35843" name="Rectangle 3">
            <a:extLst>
              <a:ext uri="{FF2B5EF4-FFF2-40B4-BE49-F238E27FC236}">
                <a16:creationId xmlns:a16="http://schemas.microsoft.com/office/drawing/2014/main" id="{1226A363-E538-5BA4-0DCD-9969646C4AC6}"/>
              </a:ext>
            </a:extLst>
          </p:cNvPr>
          <p:cNvSpPr txBox="1">
            <a:spLocks noChangeArrowheads="1"/>
          </p:cNvSpPr>
          <p:nvPr/>
        </p:nvSpPr>
        <p:spPr bwMode="auto">
          <a:xfrm>
            <a:off x="314325" y="928688"/>
            <a:ext cx="8485188" cy="5091112"/>
          </a:xfrm>
          <a:prstGeom prst="rect">
            <a:avLst/>
          </a:prstGeom>
          <a:noFill/>
          <a:ln>
            <a:noFill/>
          </a:ln>
          <a:effectLst/>
        </p:spPr>
        <p:txBody>
          <a:bodyPr/>
          <a:lstStyle>
            <a:lvl1pPr marL="609600" indent="-609600" eaLnBrk="0" hangingPunct="0">
              <a:defRPr>
                <a:solidFill>
                  <a:schemeClr val="tx1"/>
                </a:solidFill>
                <a:latin typeface="Arial" pitchFamily="34" charset="0"/>
              </a:defRPr>
            </a:lvl1pPr>
            <a:lvl2pPr marL="990600" indent="-53340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algn="just" eaLnBrk="1" hangingPunct="1">
              <a:spcBef>
                <a:spcPct val="20000"/>
              </a:spcBef>
              <a:buClr>
                <a:schemeClr val="accent2"/>
              </a:buClr>
              <a:buFont typeface="Wingdings" pitchFamily="2" charset="2"/>
              <a:buChar char="q"/>
              <a:defRPr/>
            </a:pPr>
            <a:r>
              <a:rPr lang="en-US" sz="3200" dirty="0">
                <a:latin typeface="Times New Roman" pitchFamily="18" charset="0"/>
                <a:cs typeface="Times New Roman" pitchFamily="18" charset="0"/>
              </a:rPr>
              <a:t>Huge networks will require more than two-level hierarchy. </a:t>
            </a:r>
          </a:p>
          <a:p>
            <a:pPr algn="just" eaLnBrk="1" hangingPunct="1">
              <a:spcBef>
                <a:spcPct val="20000"/>
              </a:spcBef>
              <a:buClr>
                <a:schemeClr val="accent2"/>
              </a:buClr>
              <a:buFont typeface="Wingdings" pitchFamily="2" charset="2"/>
              <a:buChar char="q"/>
              <a:defRPr/>
            </a:pPr>
            <a:r>
              <a:rPr lang="en-US" sz="3200" dirty="0">
                <a:latin typeface="Times New Roman" pitchFamily="18" charset="0"/>
                <a:cs typeface="Times New Roman" pitchFamily="18" charset="0"/>
              </a:rPr>
              <a:t>How many hierarchical levels are optimal.</a:t>
            </a:r>
          </a:p>
          <a:p>
            <a:pPr lvl="1" algn="just" eaLnBrk="1" hangingPunct="1">
              <a:spcBef>
                <a:spcPct val="20000"/>
              </a:spcBef>
              <a:buClr>
                <a:schemeClr val="accent2"/>
              </a:buClr>
              <a:buFont typeface="Wingdings" pitchFamily="2" charset="2"/>
              <a:buChar char="ü"/>
              <a:defRPr/>
            </a:pPr>
            <a:r>
              <a:rPr lang="en-US" sz="2800" dirty="0" err="1">
                <a:latin typeface="Times New Roman" pitchFamily="18" charset="0"/>
                <a:cs typeface="Times New Roman" pitchFamily="18" charset="0"/>
              </a:rPr>
              <a:t>Kamoun</a:t>
            </a:r>
            <a:r>
              <a:rPr lang="en-US" sz="2800" dirty="0">
                <a:latin typeface="Times New Roman" pitchFamily="18" charset="0"/>
                <a:cs typeface="Times New Roman" pitchFamily="18" charset="0"/>
              </a:rPr>
              <a:t> and </a:t>
            </a:r>
            <a:r>
              <a:rPr lang="en-US" sz="2800" dirty="0" err="1">
                <a:latin typeface="Times New Roman" pitchFamily="18" charset="0"/>
                <a:cs typeface="Times New Roman" pitchFamily="18" charset="0"/>
              </a:rPr>
              <a:t>Kleinrock</a:t>
            </a:r>
            <a:r>
              <a:rPr lang="en-US" sz="2800" dirty="0">
                <a:latin typeface="Times New Roman" pitchFamily="18" charset="0"/>
                <a:cs typeface="Times New Roman" pitchFamily="18" charset="0"/>
              </a:rPr>
              <a:t> (1979): optimal number for an N router subnet is </a:t>
            </a:r>
            <a:r>
              <a:rPr lang="en-US" sz="2800" dirty="0" err="1">
                <a:latin typeface="Times New Roman" pitchFamily="18" charset="0"/>
                <a:cs typeface="Times New Roman" pitchFamily="18" charset="0"/>
              </a:rPr>
              <a:t>ln</a:t>
            </a:r>
            <a:r>
              <a:rPr lang="en-US" sz="2800" dirty="0">
                <a:latin typeface="Times New Roman" pitchFamily="18" charset="0"/>
                <a:cs typeface="Times New Roman" pitchFamily="18" charset="0"/>
              </a:rPr>
              <a:t>(N), requiring total of e*</a:t>
            </a:r>
            <a:r>
              <a:rPr lang="en-US" sz="2800" dirty="0" err="1">
                <a:latin typeface="Times New Roman" pitchFamily="18" charset="0"/>
                <a:cs typeface="Times New Roman" pitchFamily="18" charset="0"/>
              </a:rPr>
              <a:t>ln</a:t>
            </a:r>
            <a:r>
              <a:rPr lang="en-US" sz="2800" dirty="0">
                <a:latin typeface="Times New Roman" pitchFamily="18" charset="0"/>
                <a:cs typeface="Times New Roman" pitchFamily="18" charset="0"/>
              </a:rPr>
              <a:t>(N) entries per router. </a:t>
            </a:r>
          </a:p>
          <a:p>
            <a:pPr eaLnBrk="1" hangingPunct="1">
              <a:spcBef>
                <a:spcPct val="20000"/>
              </a:spcBef>
              <a:buClr>
                <a:schemeClr val="accent2"/>
              </a:buClr>
              <a:buFont typeface="Wingdings" pitchFamily="2" charset="2"/>
              <a:buChar char="q"/>
              <a:defRPr/>
            </a:pPr>
            <a:r>
              <a:rPr lang="en-US" sz="3200" dirty="0">
                <a:latin typeface="Times New Roman" pitchFamily="18" charset="0"/>
                <a:cs typeface="Times New Roman" pitchFamily="18" charset="0"/>
              </a:rPr>
              <a:t>Example: </a:t>
            </a:r>
            <a:br>
              <a:rPr lang="en-US" sz="3200" dirty="0">
                <a:latin typeface="Times New Roman" pitchFamily="18" charset="0"/>
                <a:cs typeface="Times New Roman" pitchFamily="18" charset="0"/>
              </a:rPr>
            </a:br>
            <a:r>
              <a:rPr lang="en-US" sz="2400" dirty="0">
                <a:latin typeface="Times New Roman" pitchFamily="18" charset="0"/>
                <a:cs typeface="Times New Roman" pitchFamily="18" charset="0"/>
              </a:rPr>
              <a:t>Berkley, California Router to Malindi, Kenya.</a:t>
            </a:r>
          </a:p>
          <a:p>
            <a:pPr algn="just" eaLnBrk="1" hangingPunct="1">
              <a:spcBef>
                <a:spcPct val="20000"/>
              </a:spcBef>
              <a:buClr>
                <a:schemeClr val="accent2"/>
              </a:buClr>
              <a:buFont typeface="Wingdings" pitchFamily="2" charset="2"/>
              <a:buChar char="q"/>
              <a:defRPr/>
            </a:pPr>
            <a:r>
              <a:rPr lang="en-US" sz="2400" dirty="0">
                <a:latin typeface="Times New Roman" pitchFamily="18" charset="0"/>
                <a:cs typeface="Times New Roman" pitchFamily="18" charset="0"/>
              </a:rPr>
              <a:t>Berkley to Los Angeles router (out-of-state traffic)</a:t>
            </a:r>
          </a:p>
          <a:p>
            <a:pPr algn="just" eaLnBrk="1" hangingPunct="1">
              <a:spcBef>
                <a:spcPct val="20000"/>
              </a:spcBef>
              <a:buClr>
                <a:schemeClr val="accent2"/>
              </a:buClr>
              <a:buFont typeface="Wingdings" pitchFamily="2" charset="2"/>
              <a:buChar char="q"/>
              <a:defRPr/>
            </a:pPr>
            <a:r>
              <a:rPr lang="en-US" sz="2400" dirty="0">
                <a:latin typeface="Times New Roman" pitchFamily="18" charset="0"/>
                <a:cs typeface="Times New Roman" pitchFamily="18" charset="0"/>
              </a:rPr>
              <a:t>Los Angeles to New York router (international traffic)</a:t>
            </a:r>
          </a:p>
          <a:p>
            <a:pPr algn="just" eaLnBrk="1" hangingPunct="1">
              <a:spcBef>
                <a:spcPct val="20000"/>
              </a:spcBef>
              <a:buClr>
                <a:schemeClr val="accent2"/>
              </a:buClr>
              <a:buFont typeface="Wingdings" pitchFamily="2" charset="2"/>
              <a:buChar char="q"/>
              <a:defRPr/>
            </a:pPr>
            <a:r>
              <a:rPr lang="en-US" sz="2400" dirty="0">
                <a:latin typeface="Times New Roman" pitchFamily="18" charset="0"/>
                <a:cs typeface="Times New Roman" pitchFamily="18" charset="0"/>
              </a:rPr>
              <a:t>New York to Nairobi </a:t>
            </a:r>
            <a:r>
              <a:rPr lang="en-US" sz="2800" dirty="0">
                <a:latin typeface="Times New Roman" pitchFamily="18" charset="0"/>
                <a:cs typeface="Times New Roman" pitchFamily="18" charset="0"/>
              </a:rPr>
              <a:t>…</a:t>
            </a:r>
          </a:p>
          <a:p>
            <a:pPr algn="just" eaLnBrk="1" hangingPunct="1">
              <a:spcBef>
                <a:spcPct val="20000"/>
              </a:spcBef>
              <a:buClr>
                <a:schemeClr val="accent2"/>
              </a:buClr>
              <a:buFont typeface="Wingdings" pitchFamily="2" charset="2"/>
              <a:buChar char="q"/>
              <a:defRPr/>
            </a:pPr>
            <a:endParaRPr lang="en-US" sz="3200" dirty="0">
              <a:latin typeface="Times New Roman" pitchFamily="18" charset="0"/>
              <a:cs typeface="Times New Roman" pitchFamily="18" charset="0"/>
            </a:endParaRPr>
          </a:p>
          <a:p>
            <a:pPr lvl="1" algn="just" eaLnBrk="1" hangingPunct="1">
              <a:spcBef>
                <a:spcPct val="20000"/>
              </a:spcBef>
              <a:buClr>
                <a:schemeClr val="accent2"/>
              </a:buClr>
              <a:buFont typeface="Wingdings" pitchFamily="2" charset="2"/>
              <a:buChar char="ü"/>
              <a:defRPr/>
            </a:pPr>
            <a:endParaRPr lang="en-US" sz="2800" dirty="0">
              <a:latin typeface="Times New Roman" pitchFamily="18" charset="0"/>
              <a:cs typeface="Times New Roman" pitchFamily="18" charset="0"/>
            </a:endParaRPr>
          </a:p>
          <a:p>
            <a:pPr marL="457200" lvl="1" indent="0" algn="just" eaLnBrk="1" hangingPunct="1">
              <a:spcBef>
                <a:spcPct val="20000"/>
              </a:spcBef>
              <a:buClr>
                <a:schemeClr val="accent2"/>
              </a:buClr>
              <a:defRPr/>
            </a:pPr>
            <a:endParaRPr lang="en-US" sz="28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61A98AC-60A8-487D-C7A7-3E1A99F5E005}"/>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Broadcast Routing</a:t>
            </a:r>
            <a:endParaRPr lang="en-US" sz="4000" b="1" dirty="0">
              <a:latin typeface="Times New Roman" panose="02020603050405020304" pitchFamily="18" charset="0"/>
              <a:cs typeface="Times New Roman" panose="02020603050405020304" pitchFamily="18" charset="0"/>
            </a:endParaRPr>
          </a:p>
        </p:txBody>
      </p:sp>
      <p:sp>
        <p:nvSpPr>
          <p:cNvPr id="35843" name="Rectangle 3">
            <a:extLst>
              <a:ext uri="{FF2B5EF4-FFF2-40B4-BE49-F238E27FC236}">
                <a16:creationId xmlns:a16="http://schemas.microsoft.com/office/drawing/2014/main" id="{AED0D90D-5BB2-7DF1-86FB-7F0497C555E7}"/>
              </a:ext>
            </a:extLst>
          </p:cNvPr>
          <p:cNvSpPr txBox="1">
            <a:spLocks noChangeArrowheads="1"/>
          </p:cNvSpPr>
          <p:nvPr/>
        </p:nvSpPr>
        <p:spPr bwMode="auto">
          <a:xfrm>
            <a:off x="314325" y="928688"/>
            <a:ext cx="8485188" cy="5929312"/>
          </a:xfrm>
          <a:prstGeom prst="rect">
            <a:avLst/>
          </a:prstGeom>
          <a:noFill/>
          <a:ln>
            <a:noFill/>
          </a:ln>
          <a:effectLst/>
        </p:spPr>
        <p:txBody>
          <a:bodyPr/>
          <a:lstStyle>
            <a:lvl1pPr marL="609600" indent="-609600" eaLnBrk="0" hangingPunct="0">
              <a:defRPr>
                <a:solidFill>
                  <a:schemeClr val="tx1"/>
                </a:solidFill>
                <a:latin typeface="Arial" pitchFamily="34" charset="0"/>
              </a:defRPr>
            </a:lvl1pPr>
            <a:lvl2pPr marL="990600" indent="-53340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marL="571500" indent="-571500" algn="just" eaLnBrk="1" hangingPunct="1">
              <a:lnSpc>
                <a:spcPct val="90000"/>
              </a:lnSpc>
              <a:spcBef>
                <a:spcPct val="20000"/>
              </a:spcBef>
              <a:buClr>
                <a:srgbClr val="CC0000"/>
              </a:buClr>
              <a:buFont typeface="Wingdings" pitchFamily="2" charset="2"/>
              <a:buChar char="o"/>
              <a:defRPr/>
            </a:pPr>
            <a:r>
              <a:rPr lang="en-US" sz="2800" kern="0" dirty="0">
                <a:solidFill>
                  <a:srgbClr val="000000"/>
                </a:solidFill>
                <a:latin typeface="Times New Roman" pitchFamily="18" charset="0"/>
                <a:cs typeface="Times New Roman" pitchFamily="18" charset="0"/>
              </a:rPr>
              <a:t>Sending a packet to all destinations simultaneously is called </a:t>
            </a:r>
            <a:r>
              <a:rPr lang="en-US" sz="2800" b="1" i="1" kern="0" dirty="0">
                <a:solidFill>
                  <a:srgbClr val="CC0000"/>
                </a:solidFill>
                <a:latin typeface="Times New Roman" pitchFamily="18" charset="0"/>
                <a:cs typeface="Times New Roman" pitchFamily="18" charset="0"/>
              </a:rPr>
              <a:t>Broadcasting</a:t>
            </a:r>
            <a:r>
              <a:rPr lang="en-US" sz="2800" kern="0" dirty="0">
                <a:solidFill>
                  <a:srgbClr val="000000"/>
                </a:solidFill>
                <a:latin typeface="Times New Roman" pitchFamily="18" charset="0"/>
                <a:cs typeface="Times New Roman" pitchFamily="18" charset="0"/>
              </a:rPr>
              <a:t>.</a:t>
            </a:r>
          </a:p>
          <a:p>
            <a:pPr marL="966788" lvl="1" indent="-495300" algn="just" eaLnBrk="1" hangingPunct="1">
              <a:lnSpc>
                <a:spcPct val="90000"/>
              </a:lnSpc>
              <a:spcBef>
                <a:spcPct val="20000"/>
              </a:spcBef>
              <a:buClr>
                <a:srgbClr val="CC0000"/>
              </a:buClr>
              <a:buFont typeface="Wingdings" pitchFamily="2" charset="2"/>
              <a:buChar char="n"/>
              <a:defRPr/>
            </a:pPr>
            <a:r>
              <a:rPr lang="en-US" sz="2800" kern="0" dirty="0">
                <a:solidFill>
                  <a:srgbClr val="000000"/>
                </a:solidFill>
                <a:latin typeface="Times New Roman" pitchFamily="18" charset="0"/>
                <a:cs typeface="Times New Roman" pitchFamily="18" charset="0"/>
              </a:rPr>
              <a:t>Direct Method: Source sends a distinct packet to each destination routers in the subnet:</a:t>
            </a:r>
            <a:endParaRPr lang="en-US" sz="2400" kern="0" dirty="0">
              <a:solidFill>
                <a:srgbClr val="000000"/>
              </a:solidFill>
              <a:latin typeface="Times New Roman" pitchFamily="18" charset="0"/>
              <a:cs typeface="Times New Roman" pitchFamily="18" charset="0"/>
            </a:endParaRPr>
          </a:p>
          <a:p>
            <a:pPr marL="1347788" lvl="2" indent="-438150" algn="just" eaLnBrk="1" hangingPunct="1">
              <a:lnSpc>
                <a:spcPct val="90000"/>
              </a:lnSpc>
              <a:spcBef>
                <a:spcPct val="20000"/>
              </a:spcBef>
              <a:buClr>
                <a:srgbClr val="CC0000"/>
              </a:buClr>
              <a:buFont typeface="Wingdings" pitchFamily="2" charset="2"/>
              <a:buAutoNum type="arabicPeriod"/>
              <a:defRPr/>
            </a:pPr>
            <a:r>
              <a:rPr lang="en-US" sz="2400" kern="0" dirty="0">
                <a:solidFill>
                  <a:srgbClr val="000000"/>
                </a:solidFill>
                <a:latin typeface="Times New Roman" pitchFamily="18" charset="0"/>
                <a:cs typeface="Times New Roman" pitchFamily="18" charset="0"/>
              </a:rPr>
              <a:t>Wasteful of the bandwidth.</a:t>
            </a:r>
          </a:p>
          <a:p>
            <a:pPr marL="1347788" lvl="2" indent="-438150" algn="just" eaLnBrk="1" hangingPunct="1">
              <a:lnSpc>
                <a:spcPct val="90000"/>
              </a:lnSpc>
              <a:spcBef>
                <a:spcPct val="20000"/>
              </a:spcBef>
              <a:buClr>
                <a:srgbClr val="CC0000"/>
              </a:buClr>
              <a:buFont typeface="Wingdings" pitchFamily="2" charset="2"/>
              <a:buAutoNum type="arabicPeriod"/>
              <a:defRPr/>
            </a:pPr>
            <a:r>
              <a:rPr lang="en-US" sz="2400" kern="0" dirty="0">
                <a:solidFill>
                  <a:srgbClr val="000000"/>
                </a:solidFill>
                <a:latin typeface="Times New Roman" pitchFamily="18" charset="0"/>
                <a:cs typeface="Times New Roman" pitchFamily="18" charset="0"/>
              </a:rPr>
              <a:t>It requires source to have a list of all destinations.</a:t>
            </a:r>
          </a:p>
          <a:p>
            <a:pPr marL="966788" lvl="1" indent="-495300" algn="just" eaLnBrk="1" hangingPunct="1">
              <a:lnSpc>
                <a:spcPct val="90000"/>
              </a:lnSpc>
              <a:spcBef>
                <a:spcPct val="20000"/>
              </a:spcBef>
              <a:buClr>
                <a:srgbClr val="CC0000"/>
              </a:buClr>
              <a:buFont typeface="Wingdings" pitchFamily="2" charset="2"/>
              <a:buChar char="n"/>
              <a:defRPr/>
            </a:pPr>
            <a:r>
              <a:rPr lang="en-US" sz="2800" kern="0" dirty="0">
                <a:solidFill>
                  <a:srgbClr val="000000"/>
                </a:solidFill>
                <a:latin typeface="Times New Roman" pitchFamily="18" charset="0"/>
                <a:cs typeface="Times New Roman" pitchFamily="18" charset="0"/>
              </a:rPr>
              <a:t>Use spanning tree routing</a:t>
            </a:r>
          </a:p>
          <a:p>
            <a:pPr marL="1119188" lvl="2" indent="-495300" algn="just" eaLnBrk="1" hangingPunct="1">
              <a:lnSpc>
                <a:spcPct val="90000"/>
              </a:lnSpc>
              <a:spcBef>
                <a:spcPct val="20000"/>
              </a:spcBef>
              <a:buClr>
                <a:srgbClr val="CC0000"/>
              </a:buClr>
              <a:buFont typeface="Wingdings" pitchFamily="2" charset="2"/>
              <a:buChar char="n"/>
              <a:defRPr/>
            </a:pPr>
            <a:r>
              <a:rPr lang="en-US" sz="2400" kern="0" dirty="0">
                <a:solidFill>
                  <a:srgbClr val="000000"/>
                </a:solidFill>
                <a:latin typeface="Times New Roman" pitchFamily="18" charset="0"/>
                <a:cs typeface="Times New Roman" pitchFamily="18" charset="0"/>
              </a:rPr>
              <a:t>a subset of the subnet that includes all routers but contains no loops.</a:t>
            </a:r>
          </a:p>
          <a:p>
            <a:pPr marL="966788" lvl="1" indent="-495300" algn="just" eaLnBrk="1" hangingPunct="1">
              <a:lnSpc>
                <a:spcPct val="90000"/>
              </a:lnSpc>
              <a:spcBef>
                <a:spcPct val="20000"/>
              </a:spcBef>
              <a:buClr>
                <a:srgbClr val="CC0000"/>
              </a:buClr>
              <a:buFont typeface="Wingdings" pitchFamily="2" charset="2"/>
              <a:buChar char="n"/>
              <a:defRPr/>
            </a:pPr>
            <a:r>
              <a:rPr lang="en-US" sz="2800" kern="0" dirty="0">
                <a:solidFill>
                  <a:srgbClr val="000000"/>
                </a:solidFill>
                <a:latin typeface="Times New Roman" pitchFamily="18" charset="0"/>
                <a:cs typeface="Times New Roman" pitchFamily="18" charset="0"/>
              </a:rPr>
              <a:t>Flooding:</a:t>
            </a:r>
          </a:p>
          <a:p>
            <a:pPr marL="1347788" lvl="2" indent="-438150" algn="just" eaLnBrk="1" hangingPunct="1">
              <a:lnSpc>
                <a:spcPct val="90000"/>
              </a:lnSpc>
              <a:spcBef>
                <a:spcPct val="20000"/>
              </a:spcBef>
              <a:buClr>
                <a:srgbClr val="CC0000"/>
              </a:buClr>
              <a:buFont typeface="Wingdings" pitchFamily="2" charset="2"/>
              <a:buChar char="o"/>
              <a:defRPr/>
            </a:pPr>
            <a:r>
              <a:rPr lang="en-US" sz="2600" kern="0" dirty="0">
                <a:solidFill>
                  <a:srgbClr val="000000"/>
                </a:solidFill>
                <a:latin typeface="Times New Roman" pitchFamily="18" charset="0"/>
                <a:cs typeface="Times New Roman" pitchFamily="18" charset="0"/>
              </a:rPr>
              <a:t>Ordinarily ill suited for point-to-point communication:</a:t>
            </a:r>
          </a:p>
          <a:p>
            <a:pPr marL="1693863" lvl="3" indent="-387350" algn="just" eaLnBrk="1" hangingPunct="1">
              <a:lnSpc>
                <a:spcPct val="90000"/>
              </a:lnSpc>
              <a:spcBef>
                <a:spcPct val="20000"/>
              </a:spcBef>
              <a:buClr>
                <a:srgbClr val="CC0000"/>
              </a:buClr>
              <a:buFont typeface="Wingdings" pitchFamily="2" charset="2"/>
              <a:buChar char="n"/>
              <a:defRPr/>
            </a:pPr>
            <a:r>
              <a:rPr lang="en-US" sz="2400" kern="0" dirty="0">
                <a:solidFill>
                  <a:srgbClr val="000000"/>
                </a:solidFill>
                <a:latin typeface="Times New Roman" pitchFamily="18" charset="0"/>
                <a:cs typeface="Times New Roman" pitchFamily="18" charset="0"/>
              </a:rPr>
              <a:t>Generates to many packets, and</a:t>
            </a:r>
          </a:p>
          <a:p>
            <a:pPr marL="1693863" lvl="3" indent="-387350" algn="just" eaLnBrk="1" hangingPunct="1">
              <a:lnSpc>
                <a:spcPct val="90000"/>
              </a:lnSpc>
              <a:spcBef>
                <a:spcPct val="20000"/>
              </a:spcBef>
              <a:buClr>
                <a:srgbClr val="CC0000"/>
              </a:buClr>
              <a:buFont typeface="Wingdings" pitchFamily="2" charset="2"/>
              <a:buChar char="n"/>
              <a:defRPr/>
            </a:pPr>
            <a:r>
              <a:rPr lang="en-US" sz="2400" kern="0" dirty="0">
                <a:solidFill>
                  <a:srgbClr val="000000"/>
                </a:solidFill>
                <a:latin typeface="Times New Roman" pitchFamily="18" charset="0"/>
                <a:cs typeface="Times New Roman" pitchFamily="18" charset="0"/>
              </a:rPr>
              <a:t>Consumes to much bandwidth.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655A438-AF8C-B346-8D6D-C101562C1806}"/>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Spanning Tree Broadcasting(2)</a:t>
            </a:r>
            <a:endParaRPr lang="en-US" sz="4000" b="1" dirty="0">
              <a:latin typeface="Times New Roman" panose="02020603050405020304" pitchFamily="18" charset="0"/>
              <a:cs typeface="Times New Roman" panose="02020603050405020304" pitchFamily="18" charset="0"/>
            </a:endParaRPr>
          </a:p>
        </p:txBody>
      </p:sp>
      <p:sp>
        <p:nvSpPr>
          <p:cNvPr id="56322" name="Rectangle 3">
            <a:extLst>
              <a:ext uri="{FF2B5EF4-FFF2-40B4-BE49-F238E27FC236}">
                <a16:creationId xmlns:a16="http://schemas.microsoft.com/office/drawing/2014/main" id="{9006BCE2-37DD-8B85-7D9C-9830596D5086}"/>
              </a:ext>
            </a:extLst>
          </p:cNvPr>
          <p:cNvSpPr txBox="1">
            <a:spLocks noChangeArrowheads="1"/>
          </p:cNvSpPr>
          <p:nvPr/>
        </p:nvSpPr>
        <p:spPr bwMode="auto">
          <a:xfrm>
            <a:off x="374650" y="1304925"/>
            <a:ext cx="3913188"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Uses the minimum number of packets necessary</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Routers must be able to compute spanning tree</a:t>
            </a:r>
          </a:p>
          <a:p>
            <a:pPr lvl="1" algn="just">
              <a:buFont typeface="Wingdings" pitchFamily="2" charset="2"/>
              <a:buChar char="ü"/>
            </a:pPr>
            <a:r>
              <a:rPr lang="en-US" altLang="en-US" sz="2400">
                <a:latin typeface="Times New Roman" panose="02020603050405020304" pitchFamily="18" charset="0"/>
                <a:cs typeface="Times New Roman" panose="02020603050405020304" pitchFamily="18" charset="0"/>
              </a:rPr>
              <a:t>Available with link state routing</a:t>
            </a:r>
          </a:p>
          <a:p>
            <a:pPr lvl="1" algn="just">
              <a:buFont typeface="Wingdings" pitchFamily="2" charset="2"/>
              <a:buChar char="ü"/>
            </a:pPr>
            <a:r>
              <a:rPr lang="en-US" altLang="en-US" sz="2400">
                <a:latin typeface="Times New Roman" panose="02020603050405020304" pitchFamily="18" charset="0"/>
                <a:cs typeface="Times New Roman" panose="02020603050405020304" pitchFamily="18" charset="0"/>
              </a:rPr>
              <a:t>Not available with distance vector routing</a:t>
            </a:r>
          </a:p>
        </p:txBody>
      </p:sp>
      <p:pic>
        <p:nvPicPr>
          <p:cNvPr id="56323" name="Picture 4">
            <a:extLst>
              <a:ext uri="{FF2B5EF4-FFF2-40B4-BE49-F238E27FC236}">
                <a16:creationId xmlns:a16="http://schemas.microsoft.com/office/drawing/2014/main" id="{303464CB-F218-0981-881D-D5F0CFB1FC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498600"/>
            <a:ext cx="4256088"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1694963-6C0A-CFB0-5071-9F12E92AA5DE}"/>
              </a:ext>
            </a:extLst>
          </p:cNvPr>
          <p:cNvSpPr>
            <a:spLocks noGrp="1" noChangeArrowheads="1"/>
          </p:cNvSpPr>
          <p:nvPr>
            <p:ph type="title"/>
          </p:nvPr>
        </p:nvSpPr>
        <p:spPr>
          <a:xfrm>
            <a:off x="0" y="1"/>
            <a:ext cx="9144000" cy="890954"/>
          </a:xfrm>
        </p:spPr>
        <p:txBody>
          <a:bodyPr/>
          <a:lstStyle/>
          <a:p>
            <a:pPr eaLnBrk="1" hangingPunct="1">
              <a:defRPr/>
            </a:pPr>
            <a:r>
              <a:rPr lang="en-US" sz="36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Multicast Routing</a:t>
            </a:r>
            <a:endParaRPr lang="en-US" sz="4000" b="1" dirty="0">
              <a:latin typeface="Times New Roman" panose="02020603050405020304" pitchFamily="18" charset="0"/>
              <a:cs typeface="Times New Roman" panose="02020603050405020304" pitchFamily="18" charset="0"/>
            </a:endParaRPr>
          </a:p>
        </p:txBody>
      </p:sp>
      <p:sp>
        <p:nvSpPr>
          <p:cNvPr id="35843" name="Rectangle 3">
            <a:extLst>
              <a:ext uri="{FF2B5EF4-FFF2-40B4-BE49-F238E27FC236}">
                <a16:creationId xmlns:a16="http://schemas.microsoft.com/office/drawing/2014/main" id="{A45B8F5A-4CAD-777C-4509-928765EC4F5D}"/>
              </a:ext>
            </a:extLst>
          </p:cNvPr>
          <p:cNvSpPr txBox="1">
            <a:spLocks noChangeArrowheads="1"/>
          </p:cNvSpPr>
          <p:nvPr/>
        </p:nvSpPr>
        <p:spPr bwMode="auto">
          <a:xfrm>
            <a:off x="314325" y="928688"/>
            <a:ext cx="8485188" cy="5929312"/>
          </a:xfrm>
          <a:prstGeom prst="rect">
            <a:avLst/>
          </a:prstGeom>
          <a:noFill/>
          <a:ln>
            <a:noFill/>
          </a:ln>
          <a:effectLst/>
        </p:spPr>
        <p:txBody>
          <a:bodyPr/>
          <a:lstStyle>
            <a:lvl1pPr marL="609600" indent="-609600" eaLnBrk="0" hangingPunct="0">
              <a:defRPr>
                <a:solidFill>
                  <a:schemeClr val="tx1"/>
                </a:solidFill>
                <a:latin typeface="Arial" pitchFamily="34" charset="0"/>
              </a:defRPr>
            </a:lvl1pPr>
            <a:lvl2pPr marL="990600" indent="-53340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marL="571500" indent="-571500" algn="just" eaLnBrk="1" hangingPunct="1">
              <a:lnSpc>
                <a:spcPct val="90000"/>
              </a:lnSpc>
              <a:spcBef>
                <a:spcPct val="20000"/>
              </a:spcBef>
              <a:buClr>
                <a:srgbClr val="CC0000"/>
              </a:buClr>
              <a:buFont typeface="Wingdings" pitchFamily="2" charset="2"/>
              <a:buChar char="o"/>
              <a:defRPr/>
            </a:pPr>
            <a:r>
              <a:rPr lang="en-US" sz="3200" kern="0" dirty="0">
                <a:solidFill>
                  <a:srgbClr val="000000"/>
                </a:solidFill>
                <a:latin typeface="Times New Roman" pitchFamily="18" charset="0"/>
                <a:cs typeface="Times New Roman" pitchFamily="18" charset="0"/>
              </a:rPr>
              <a:t>A method to broadcast packets to well-defined groups.</a:t>
            </a:r>
          </a:p>
          <a:p>
            <a:pPr marL="571500" indent="-571500" algn="just" eaLnBrk="1" hangingPunct="1">
              <a:lnSpc>
                <a:spcPct val="90000"/>
              </a:lnSpc>
              <a:spcBef>
                <a:spcPct val="20000"/>
              </a:spcBef>
              <a:buClr>
                <a:srgbClr val="CC0000"/>
              </a:buClr>
              <a:buFont typeface="Wingdings" pitchFamily="2" charset="2"/>
              <a:buChar char="o"/>
              <a:defRPr/>
            </a:pPr>
            <a:r>
              <a:rPr lang="en-US" sz="3200" kern="0" dirty="0">
                <a:solidFill>
                  <a:srgbClr val="000000"/>
                </a:solidFill>
                <a:latin typeface="Times New Roman" pitchFamily="18" charset="0"/>
                <a:cs typeface="Times New Roman" pitchFamily="18" charset="0"/>
              </a:rPr>
              <a:t>Hosts can join multicast groups.</a:t>
            </a:r>
          </a:p>
          <a:p>
            <a:pPr marL="952500" lvl="1" indent="-571500" algn="just" eaLnBrk="1" hangingPunct="1">
              <a:lnSpc>
                <a:spcPct val="90000"/>
              </a:lnSpc>
              <a:spcBef>
                <a:spcPct val="20000"/>
              </a:spcBef>
              <a:buClr>
                <a:srgbClr val="CC0000"/>
              </a:buClr>
              <a:buFont typeface="Wingdings" pitchFamily="2" charset="2"/>
              <a:buChar char="ü"/>
              <a:defRPr/>
            </a:pPr>
            <a:r>
              <a:rPr lang="en-US" sz="3200" kern="0" dirty="0">
                <a:solidFill>
                  <a:srgbClr val="000000"/>
                </a:solidFill>
                <a:latin typeface="Times New Roman" pitchFamily="18" charset="0"/>
                <a:cs typeface="Times New Roman" pitchFamily="18" charset="0"/>
              </a:rPr>
              <a:t>They inform their routers.</a:t>
            </a:r>
          </a:p>
          <a:p>
            <a:pPr marL="952500" lvl="1" indent="-571500" algn="just" eaLnBrk="1" hangingPunct="1">
              <a:lnSpc>
                <a:spcPct val="90000"/>
              </a:lnSpc>
              <a:spcBef>
                <a:spcPct val="20000"/>
              </a:spcBef>
              <a:buClr>
                <a:srgbClr val="CC0000"/>
              </a:buClr>
              <a:buFont typeface="Wingdings" pitchFamily="2" charset="2"/>
              <a:buChar char="ü"/>
              <a:defRPr/>
            </a:pPr>
            <a:r>
              <a:rPr lang="en-US" sz="3200" kern="0" dirty="0">
                <a:solidFill>
                  <a:srgbClr val="000000"/>
                </a:solidFill>
                <a:latin typeface="Times New Roman" pitchFamily="18" charset="0"/>
                <a:cs typeface="Times New Roman" pitchFamily="18" charset="0"/>
              </a:rPr>
              <a:t>Routers send group information throughout the subnet.</a:t>
            </a:r>
          </a:p>
          <a:p>
            <a:pPr marL="571500" indent="-571500" algn="just" eaLnBrk="1" hangingPunct="1">
              <a:lnSpc>
                <a:spcPct val="90000"/>
              </a:lnSpc>
              <a:spcBef>
                <a:spcPct val="20000"/>
              </a:spcBef>
              <a:buClr>
                <a:srgbClr val="CC0000"/>
              </a:buClr>
              <a:buFont typeface="Wingdings" pitchFamily="2" charset="2"/>
              <a:buChar char="o"/>
              <a:defRPr/>
            </a:pPr>
            <a:r>
              <a:rPr lang="en-US" sz="3200" kern="0" dirty="0">
                <a:solidFill>
                  <a:srgbClr val="000000"/>
                </a:solidFill>
                <a:latin typeface="Times New Roman" pitchFamily="18" charset="0"/>
                <a:cs typeface="Times New Roman" pitchFamily="18" charset="0"/>
              </a:rPr>
              <a:t>Each router computes a spanning tree for each group.  The spanning tree includes all the routers needed to broadcast data to the group.</a:t>
            </a:r>
          </a:p>
          <a:p>
            <a:pPr marL="571500" indent="-571500" algn="just" eaLnBrk="1" hangingPunct="1">
              <a:lnSpc>
                <a:spcPct val="90000"/>
              </a:lnSpc>
              <a:spcBef>
                <a:spcPct val="20000"/>
              </a:spcBef>
              <a:buClr>
                <a:srgbClr val="CC0000"/>
              </a:buClr>
              <a:buFont typeface="Wingdings" pitchFamily="2" charset="2"/>
              <a:buChar char="o"/>
              <a:defRPr/>
            </a:pPr>
            <a:r>
              <a:rPr lang="en-US" sz="3200" kern="0" dirty="0">
                <a:solidFill>
                  <a:srgbClr val="000000"/>
                </a:solidFill>
                <a:latin typeface="Times New Roman" pitchFamily="18" charset="0"/>
                <a:cs typeface="Times New Roman" pitchFamily="18" charset="0"/>
              </a:rPr>
              <a:t>Use spanning tree protocol. </a:t>
            </a:r>
          </a:p>
        </p:txBody>
      </p:sp>
    </p:spTree>
  </p:cSld>
  <p:clrMapOvr>
    <a:masterClrMapping/>
  </p:clrMapOvr>
</p:sld>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4555</TotalTime>
  <Words>2065</Words>
  <Application>Microsoft Macintosh PowerPoint</Application>
  <PresentationFormat>On-screen Show (4:3)</PresentationFormat>
  <Paragraphs>293</Paragraphs>
  <Slides>33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Trebuchet MS</vt:lpstr>
      <vt:lpstr>Calibri</vt:lpstr>
      <vt:lpstr>Times New Roman</vt:lpstr>
      <vt:lpstr>Wingdings</vt:lpstr>
      <vt:lpstr>Times-Roman</vt:lpstr>
      <vt:lpstr>Tannenbaum</vt:lpstr>
      <vt:lpstr>PowerPoint Presentation</vt:lpstr>
      <vt:lpstr>Types of Routing Algorithms</vt:lpstr>
      <vt:lpstr>Optimality principle</vt:lpstr>
      <vt:lpstr>Sink Trees </vt:lpstr>
      <vt:lpstr>Shortest Path Routing </vt:lpstr>
      <vt:lpstr>Shortest Path Routing(1)</vt:lpstr>
      <vt:lpstr>Shortest Path Routing(2)</vt:lpstr>
      <vt:lpstr>Shortest Path Routing(3) [Example]</vt:lpstr>
      <vt:lpstr>Flooding </vt:lpstr>
      <vt:lpstr>Flooding </vt:lpstr>
      <vt:lpstr>PowerPoint Presentation</vt:lpstr>
      <vt:lpstr>Dynamic/Adaptive Routing</vt:lpstr>
      <vt:lpstr>Dynamic/Adaptive Routing</vt:lpstr>
      <vt:lpstr>Distance Vector Routing</vt:lpstr>
      <vt:lpstr>Distance Vector Routing</vt:lpstr>
      <vt:lpstr>Distance Vector Routing</vt:lpstr>
      <vt:lpstr>Count–to-Infinity Problem</vt:lpstr>
      <vt:lpstr>Count–to-Infinity Problem</vt:lpstr>
      <vt:lpstr>Count–to-Infinity Problem</vt:lpstr>
      <vt:lpstr>The Split Horizon Hack</vt:lpstr>
      <vt:lpstr>A topology where split horizon fails</vt:lpstr>
      <vt:lpstr>Link State Routing</vt:lpstr>
      <vt:lpstr>1. Discovering Your Neighbors</vt:lpstr>
      <vt:lpstr>2. Measuring Line Cost</vt:lpstr>
      <vt:lpstr>3. Building Link State Packet</vt:lpstr>
      <vt:lpstr>4. Distributing the Link State Packets</vt:lpstr>
      <vt:lpstr>4. Distributing the Link State Packets (2)</vt:lpstr>
      <vt:lpstr>Hierarchical Routing</vt:lpstr>
      <vt:lpstr>Hierarchical Routing(2)</vt:lpstr>
      <vt:lpstr>Hierarchical Routing(3)</vt:lpstr>
      <vt:lpstr>Broadcast Routing</vt:lpstr>
      <vt:lpstr>Spanning Tree Broadcasting(2)</vt:lpstr>
      <vt:lpstr>Multicast Routing</vt:lpstr>
    </vt:vector>
  </TitlesOfParts>
  <Company> 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Physical Layer</dc:title>
  <dc:creator>Steve Armstrong</dc:creator>
  <cp:lastModifiedBy>Shafiullah Shafin</cp:lastModifiedBy>
  <cp:revision>256</cp:revision>
  <dcterms:created xsi:type="dcterms:W3CDTF">2002-07-01T13:57:45Z</dcterms:created>
  <dcterms:modified xsi:type="dcterms:W3CDTF">2025-12-08T18:52:01Z</dcterms:modified>
</cp:coreProperties>
</file>