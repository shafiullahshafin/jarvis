
<file path=[Content_Types].xml><?xml version="1.0" encoding="utf-8"?>
<Types xmlns="http://schemas.openxmlformats.org/package/2006/content-types">
  <Default Extension="gif" ContentType="image/gif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8" r:id="rId1"/>
  </p:sldMasterIdLst>
  <p:notesMasterIdLst>
    <p:notesMasterId r:id="rId33"/>
  </p:notesMasterIdLst>
  <p:sldIdLst>
    <p:sldId id="256" r:id="rId2"/>
    <p:sldId id="261" r:id="rId3"/>
    <p:sldId id="262" r:id="rId4"/>
    <p:sldId id="263" r:id="rId5"/>
    <p:sldId id="291" r:id="rId6"/>
    <p:sldId id="264" r:id="rId7"/>
    <p:sldId id="266" r:id="rId8"/>
    <p:sldId id="267" r:id="rId9"/>
    <p:sldId id="292" r:id="rId10"/>
    <p:sldId id="293" r:id="rId11"/>
    <p:sldId id="280" r:id="rId12"/>
    <p:sldId id="281" r:id="rId13"/>
    <p:sldId id="294" r:id="rId14"/>
    <p:sldId id="295" r:id="rId15"/>
    <p:sldId id="296" r:id="rId16"/>
    <p:sldId id="297" r:id="rId17"/>
    <p:sldId id="286" r:id="rId18"/>
    <p:sldId id="298" r:id="rId19"/>
    <p:sldId id="299" r:id="rId20"/>
    <p:sldId id="300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301" r:id="rId29"/>
    <p:sldId id="302" r:id="rId30"/>
    <p:sldId id="289" r:id="rId31"/>
    <p:sldId id="290" r:id="rId32"/>
  </p:sldIdLst>
  <p:sldSz cx="4610100" cy="3460750"/>
  <p:notesSz cx="4610100" cy="34607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7" d="100"/>
          <a:sy n="107" d="100"/>
        </p:scale>
        <p:origin x="2280" y="6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32C433-130E-4990-A055-2A4DA35DBF4A}" type="datetimeFigureOut">
              <a:rPr lang="en-US" smtClean="0"/>
              <a:t>9/27/2022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18466F-03B2-41FF-9BA1-65DDE6E242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864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555713" y="1204422"/>
            <a:ext cx="3498675" cy="83058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1765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9121" y="2196423"/>
            <a:ext cx="2571860" cy="625687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95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230520" indent="0" algn="ctr">
              <a:buNone/>
              <a:defRPr sz="958"/>
            </a:lvl2pPr>
            <a:lvl3pPr marL="461040" indent="0" algn="ctr">
              <a:buNone/>
              <a:defRPr sz="908"/>
            </a:lvl3pPr>
            <a:lvl4pPr marL="691561" indent="0" algn="ctr">
              <a:buNone/>
              <a:defRPr sz="807"/>
            </a:lvl4pPr>
            <a:lvl5pPr marL="922081" indent="0" algn="ctr">
              <a:buNone/>
              <a:defRPr sz="807"/>
            </a:lvl5pPr>
            <a:lvl6pPr marL="1152601" indent="0" algn="ctr">
              <a:buNone/>
              <a:defRPr sz="807"/>
            </a:lvl6pPr>
            <a:lvl7pPr marL="1383121" indent="0" algn="ctr">
              <a:buNone/>
              <a:defRPr sz="807"/>
            </a:lvl7pPr>
            <a:lvl8pPr marL="1613642" indent="0" algn="ctr">
              <a:buNone/>
              <a:defRPr sz="807"/>
            </a:lvl8pPr>
            <a:lvl9pPr marL="1844162" indent="0" algn="ctr">
              <a:buNone/>
              <a:defRPr sz="80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952CA-8001-445C-9DAA-581A14A1EAA2}" type="datetime1">
              <a:rPr lang="en-US" smtClean="0"/>
              <a:t>9/27/2022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lang="en-US" spc="-20" smtClean="0"/>
              <a:t>‹#›</a:t>
            </a:fld>
            <a:r>
              <a:rPr lang="en-US" spc="-55"/>
              <a:t> </a:t>
            </a:r>
            <a:r>
              <a:rPr lang="en-US" spc="150"/>
              <a:t>/</a:t>
            </a:r>
            <a:r>
              <a:rPr lang="en-US" spc="-55"/>
              <a:t> </a:t>
            </a:r>
            <a:r>
              <a:rPr lang="en-US" spc="-20"/>
              <a:t>35</a:t>
            </a:r>
            <a:endParaRPr lang="en-US" spc="-20" dirty="0"/>
          </a:p>
        </p:txBody>
      </p:sp>
    </p:spTree>
    <p:extLst>
      <p:ext uri="{BB962C8B-B14F-4D97-AF65-F5344CB8AC3E}">
        <p14:creationId xmlns:p14="http://schemas.microsoft.com/office/powerpoint/2010/main" val="3784795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FCAF-332C-446B-B916-29959DD53A99}" type="datetime1">
              <a:rPr lang="en-US" smtClean="0"/>
              <a:t>9/27/2022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lang="en-US" spc="-20" smtClean="0"/>
              <a:t>‹#›</a:t>
            </a:fld>
            <a:r>
              <a:rPr lang="en-US" spc="-55"/>
              <a:t> </a:t>
            </a:r>
            <a:r>
              <a:rPr lang="en-US" spc="150"/>
              <a:t>/</a:t>
            </a:r>
            <a:r>
              <a:rPr lang="en-US" spc="-55"/>
              <a:t> </a:t>
            </a:r>
            <a:r>
              <a:rPr lang="en-US" spc="-20"/>
              <a:t>35</a:t>
            </a:r>
            <a:endParaRPr lang="en-US" spc="-20" dirty="0"/>
          </a:p>
        </p:txBody>
      </p:sp>
    </p:spTree>
    <p:extLst>
      <p:ext uri="{BB962C8B-B14F-4D97-AF65-F5344CB8AC3E}">
        <p14:creationId xmlns:p14="http://schemas.microsoft.com/office/powerpoint/2010/main" val="4087462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557822" y="1204422"/>
            <a:ext cx="3499066" cy="83058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1765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9121" y="2196383"/>
            <a:ext cx="2571860" cy="638398"/>
          </a:xfrm>
        </p:spPr>
        <p:txBody>
          <a:bodyPr anchor="t" anchorCtr="1">
            <a:normAutofit/>
          </a:bodyPr>
          <a:lstStyle>
            <a:lvl1pPr marL="0" indent="0">
              <a:buNone/>
              <a:defRPr sz="958">
                <a:solidFill>
                  <a:schemeClr val="tx1"/>
                </a:solidFill>
              </a:defRPr>
            </a:lvl1pPr>
            <a:lvl2pPr marL="230520" indent="0">
              <a:buNone/>
              <a:defRPr sz="958">
                <a:solidFill>
                  <a:schemeClr val="tx1">
                    <a:tint val="75000"/>
                  </a:schemeClr>
                </a:solidFill>
              </a:defRPr>
            </a:lvl2pPr>
            <a:lvl3pPr marL="461040" indent="0">
              <a:buNone/>
              <a:defRPr sz="908">
                <a:solidFill>
                  <a:schemeClr val="tx1">
                    <a:tint val="75000"/>
                  </a:schemeClr>
                </a:solidFill>
              </a:defRPr>
            </a:lvl3pPr>
            <a:lvl4pPr marL="691561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4pPr>
            <a:lvl5pPr marL="922081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5pPr>
            <a:lvl6pPr marL="1152601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6pPr>
            <a:lvl7pPr marL="1383121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7pPr>
            <a:lvl8pPr marL="1613642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8pPr>
            <a:lvl9pPr marL="1844162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1F554-247F-47D5-B33D-E0329F3C07B3}" type="datetime1">
              <a:rPr lang="en-US" smtClean="0"/>
              <a:t>9/27/2022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lang="en-US" spc="-20" smtClean="0"/>
              <a:t>‹#›</a:t>
            </a:fld>
            <a:r>
              <a:rPr lang="en-US" spc="-55"/>
              <a:t> </a:t>
            </a:r>
            <a:r>
              <a:rPr lang="en-US" spc="150"/>
              <a:t>/</a:t>
            </a:r>
            <a:r>
              <a:rPr lang="en-US" spc="-55"/>
              <a:t> </a:t>
            </a:r>
            <a:r>
              <a:rPr lang="en-US" spc="-20"/>
              <a:t>35</a:t>
            </a:r>
            <a:endParaRPr lang="en-US" spc="-20" dirty="0"/>
          </a:p>
        </p:txBody>
      </p:sp>
    </p:spTree>
    <p:extLst>
      <p:ext uri="{BB962C8B-B14F-4D97-AF65-F5344CB8AC3E}">
        <p14:creationId xmlns:p14="http://schemas.microsoft.com/office/powerpoint/2010/main" val="8660255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5712" y="1331235"/>
            <a:ext cx="1657712" cy="1565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96676" y="1331235"/>
            <a:ext cx="1658968" cy="1565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F4DE4-8260-4BA1-86B8-3DEDC39F0451}" type="datetime1">
              <a:rPr lang="en-US" smtClean="0"/>
              <a:t>9/27/2022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lang="en-US" spc="-20" smtClean="0"/>
              <a:t>‹#›</a:t>
            </a:fld>
            <a:r>
              <a:rPr lang="en-US" spc="-55"/>
              <a:t> </a:t>
            </a:r>
            <a:r>
              <a:rPr lang="en-US" spc="150"/>
              <a:t>/</a:t>
            </a:r>
            <a:r>
              <a:rPr lang="en-US" spc="-55"/>
              <a:t> </a:t>
            </a:r>
            <a:r>
              <a:rPr lang="en-US" spc="-20"/>
              <a:t>35</a:t>
            </a:r>
            <a:endParaRPr lang="en-US" spc="-20" dirty="0"/>
          </a:p>
        </p:txBody>
      </p:sp>
    </p:spTree>
    <p:extLst>
      <p:ext uri="{BB962C8B-B14F-4D97-AF65-F5344CB8AC3E}">
        <p14:creationId xmlns:p14="http://schemas.microsoft.com/office/powerpoint/2010/main" val="3260691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55712" y="1167428"/>
            <a:ext cx="1657712" cy="355303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958" b="0" cap="all" spc="5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230520" indent="0">
              <a:buNone/>
              <a:defRPr sz="95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5712" y="1586177"/>
            <a:ext cx="1657712" cy="13104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96676" y="1586177"/>
            <a:ext cx="1658968" cy="1310410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2396676" y="1167428"/>
            <a:ext cx="1658968" cy="355303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958" b="0" cap="all" spc="5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230520" indent="0">
              <a:buNone/>
              <a:defRPr sz="958" b="1"/>
            </a:lvl2pPr>
            <a:lvl3pPr marL="461040" indent="0">
              <a:buNone/>
              <a:defRPr sz="908" b="1"/>
            </a:lvl3pPr>
            <a:lvl4pPr marL="691561" indent="0">
              <a:buNone/>
              <a:defRPr sz="807" b="1"/>
            </a:lvl4pPr>
            <a:lvl5pPr marL="922081" indent="0">
              <a:buNone/>
              <a:defRPr sz="807" b="1"/>
            </a:lvl5pPr>
            <a:lvl6pPr marL="1152601" indent="0">
              <a:buNone/>
              <a:defRPr sz="807" b="1"/>
            </a:lvl6pPr>
            <a:lvl7pPr marL="1383121" indent="0">
              <a:buNone/>
              <a:defRPr sz="807" b="1"/>
            </a:lvl7pPr>
            <a:lvl8pPr marL="1613642" indent="0">
              <a:buNone/>
              <a:defRPr sz="807" b="1"/>
            </a:lvl8pPr>
            <a:lvl9pPr marL="1844162" indent="0">
              <a:buNone/>
              <a:defRPr sz="80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50E095-7BB4-4B5A-A890-64C1F893538B}" type="datetime1">
              <a:rPr lang="en-US" smtClean="0"/>
              <a:t>9/27/2022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lang="en-US" spc="-20" smtClean="0"/>
              <a:t>‹#›</a:t>
            </a:fld>
            <a:r>
              <a:rPr lang="en-US" spc="-55"/>
              <a:t> </a:t>
            </a:r>
            <a:r>
              <a:rPr lang="en-US" spc="150"/>
              <a:t>/</a:t>
            </a:r>
            <a:r>
              <a:rPr lang="en-US" spc="-55"/>
              <a:t> </a:t>
            </a:r>
            <a:r>
              <a:rPr lang="en-US" spc="-20"/>
              <a:t>35</a:t>
            </a:r>
            <a:endParaRPr lang="en-US" spc="-20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011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89694-7EE6-4EC9-86E5-843F486BD72E}" type="datetime1">
              <a:rPr lang="en-US" smtClean="0"/>
              <a:t>9/27/2022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lang="en-US" spc="-20" smtClean="0"/>
              <a:t>‹#›</a:t>
            </a:fld>
            <a:r>
              <a:rPr lang="en-US" spc="-55"/>
              <a:t> </a:t>
            </a:r>
            <a:r>
              <a:rPr lang="en-US" spc="150"/>
              <a:t>/</a:t>
            </a:r>
            <a:r>
              <a:rPr lang="en-US" spc="-55"/>
              <a:t> </a:t>
            </a:r>
            <a:r>
              <a:rPr lang="en-US" spc="-20"/>
              <a:t>35</a:t>
            </a:r>
            <a:endParaRPr lang="en-US" spc="-20" dirty="0"/>
          </a:p>
        </p:txBody>
      </p:sp>
    </p:spTree>
    <p:extLst>
      <p:ext uri="{BB962C8B-B14F-4D97-AF65-F5344CB8AC3E}">
        <p14:creationId xmlns:p14="http://schemas.microsoft.com/office/powerpoint/2010/main" val="289527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F121A-3FF5-44D3-B985-21998C702502}" type="datetime1">
              <a:rPr lang="en-US" smtClean="0"/>
              <a:t>9/27/2022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lang="en-US" spc="-20" smtClean="0"/>
              <a:t>‹#›</a:t>
            </a:fld>
            <a:r>
              <a:rPr lang="en-US" spc="-55"/>
              <a:t> </a:t>
            </a:r>
            <a:r>
              <a:rPr lang="en-US" spc="150"/>
              <a:t>/</a:t>
            </a:r>
            <a:r>
              <a:rPr lang="en-US" spc="-55"/>
              <a:t> </a:t>
            </a:r>
            <a:r>
              <a:rPr lang="en-US" spc="-20"/>
              <a:t>35</a:t>
            </a:r>
            <a:endParaRPr lang="en-US" spc="-20" dirty="0"/>
          </a:p>
        </p:txBody>
      </p:sp>
    </p:spTree>
    <p:extLst>
      <p:ext uri="{BB962C8B-B14F-4D97-AF65-F5344CB8AC3E}">
        <p14:creationId xmlns:p14="http://schemas.microsoft.com/office/powerpoint/2010/main" val="3617331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2305050" cy="3460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323021" y="1132303"/>
            <a:ext cx="1659008" cy="576033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1059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7080" y="406062"/>
            <a:ext cx="1820990" cy="2648627"/>
          </a:xfrm>
        </p:spPr>
        <p:txBody>
          <a:bodyPr>
            <a:normAutofit/>
          </a:bodyPr>
          <a:lstStyle>
            <a:lvl1pPr>
              <a:defRPr sz="958">
                <a:solidFill>
                  <a:schemeClr val="tx1"/>
                </a:solidFill>
              </a:defRPr>
            </a:lvl1pPr>
            <a:lvl2pPr>
              <a:defRPr sz="807">
                <a:solidFill>
                  <a:schemeClr val="tx1"/>
                </a:solidFill>
              </a:defRPr>
            </a:lvl2pPr>
            <a:lvl3pPr>
              <a:defRPr sz="807">
                <a:solidFill>
                  <a:schemeClr val="tx1"/>
                </a:solidFill>
              </a:defRPr>
            </a:lvl3pPr>
            <a:lvl4pPr>
              <a:defRPr sz="807">
                <a:solidFill>
                  <a:schemeClr val="tx1"/>
                </a:solidFill>
              </a:defRPr>
            </a:lvl4pPr>
            <a:lvl5pPr>
              <a:defRPr sz="807">
                <a:solidFill>
                  <a:schemeClr val="tx1"/>
                </a:solidFill>
              </a:defRPr>
            </a:lvl5pPr>
            <a:lvl6pPr>
              <a:defRPr sz="807"/>
            </a:lvl6pPr>
            <a:lvl7pPr>
              <a:defRPr sz="807"/>
            </a:lvl7pPr>
            <a:lvl8pPr>
              <a:defRPr sz="807"/>
            </a:lvl8pPr>
            <a:lvl9pPr>
              <a:defRPr sz="80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078" y="1791394"/>
            <a:ext cx="1434894" cy="110717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756">
                <a:solidFill>
                  <a:srgbClr val="FFFFFF"/>
                </a:solidFill>
              </a:defRPr>
            </a:lvl1pPr>
            <a:lvl2pPr marL="230520" indent="0">
              <a:buNone/>
              <a:defRPr sz="706"/>
            </a:lvl2pPr>
            <a:lvl3pPr marL="461040" indent="0">
              <a:buNone/>
              <a:defRPr sz="605"/>
            </a:lvl3pPr>
            <a:lvl4pPr marL="691561" indent="0">
              <a:buNone/>
              <a:defRPr sz="504"/>
            </a:lvl4pPr>
            <a:lvl5pPr marL="922081" indent="0">
              <a:buNone/>
              <a:defRPr sz="504"/>
            </a:lvl5pPr>
            <a:lvl6pPr marL="1152601" indent="0">
              <a:buNone/>
              <a:defRPr sz="504"/>
            </a:lvl6pPr>
            <a:lvl7pPr marL="1383121" indent="0">
              <a:buNone/>
              <a:defRPr sz="504"/>
            </a:lvl7pPr>
            <a:lvl8pPr marL="1613642" indent="0">
              <a:buNone/>
              <a:defRPr sz="504"/>
            </a:lvl8pPr>
            <a:lvl9pPr marL="1844162" indent="0">
              <a:buNone/>
              <a:defRPr sz="50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7C22A-0088-4011-A4FB-B045053686A6}" type="datetime1">
              <a:rPr lang="en-US" smtClean="0"/>
              <a:t>9/27/2022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323021" y="3146975"/>
            <a:ext cx="1919059" cy="161502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lang="en-US" spc="-20" smtClean="0"/>
              <a:t>‹#›</a:t>
            </a:fld>
            <a:r>
              <a:rPr lang="en-US" spc="-55"/>
              <a:t> </a:t>
            </a:r>
            <a:r>
              <a:rPr lang="en-US" spc="150"/>
              <a:t>/</a:t>
            </a:r>
            <a:r>
              <a:rPr lang="en-US" spc="-55"/>
              <a:t> </a:t>
            </a:r>
            <a:r>
              <a:rPr lang="en-US" spc="-20"/>
              <a:t>35</a:t>
            </a:r>
            <a:endParaRPr lang="en-US" spc="-20" dirty="0"/>
          </a:p>
        </p:txBody>
      </p:sp>
    </p:spTree>
    <p:extLst>
      <p:ext uri="{BB962C8B-B14F-4D97-AF65-F5344CB8AC3E}">
        <p14:creationId xmlns:p14="http://schemas.microsoft.com/office/powerpoint/2010/main" val="864535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2305049" cy="3460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322707" y="1132302"/>
            <a:ext cx="1659636" cy="576792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1059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05050" y="-21281"/>
            <a:ext cx="2307356" cy="346075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1613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230520" indent="0">
              <a:buNone/>
              <a:defRPr sz="1412"/>
            </a:lvl2pPr>
            <a:lvl3pPr marL="461040" indent="0">
              <a:buNone/>
              <a:defRPr sz="1210"/>
            </a:lvl3pPr>
            <a:lvl4pPr marL="691561" indent="0">
              <a:buNone/>
              <a:defRPr sz="1008"/>
            </a:lvl4pPr>
            <a:lvl5pPr marL="922081" indent="0">
              <a:buNone/>
              <a:defRPr sz="1008"/>
            </a:lvl5pPr>
            <a:lvl6pPr marL="1152601" indent="0">
              <a:buNone/>
              <a:defRPr sz="1008"/>
            </a:lvl6pPr>
            <a:lvl7pPr marL="1383121" indent="0">
              <a:buNone/>
              <a:defRPr sz="1008"/>
            </a:lvl7pPr>
            <a:lvl8pPr marL="1613642" indent="0">
              <a:buNone/>
              <a:defRPr sz="1008"/>
            </a:lvl8pPr>
            <a:lvl9pPr marL="1844162" indent="0">
              <a:buNone/>
              <a:defRPr sz="100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078" y="1791395"/>
            <a:ext cx="1434894" cy="110717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756">
                <a:solidFill>
                  <a:srgbClr val="FFFFFF"/>
                </a:solidFill>
              </a:defRPr>
            </a:lvl1pPr>
            <a:lvl2pPr marL="230520" indent="0">
              <a:buNone/>
              <a:defRPr sz="706"/>
            </a:lvl2pPr>
            <a:lvl3pPr marL="461040" indent="0">
              <a:buNone/>
              <a:defRPr sz="605"/>
            </a:lvl3pPr>
            <a:lvl4pPr marL="691561" indent="0">
              <a:buNone/>
              <a:defRPr sz="504"/>
            </a:lvl4pPr>
            <a:lvl5pPr marL="922081" indent="0">
              <a:buNone/>
              <a:defRPr sz="504"/>
            </a:lvl5pPr>
            <a:lvl6pPr marL="1152601" indent="0">
              <a:buNone/>
              <a:defRPr sz="504"/>
            </a:lvl6pPr>
            <a:lvl7pPr marL="1383121" indent="0">
              <a:buNone/>
              <a:defRPr sz="504"/>
            </a:lvl7pPr>
            <a:lvl8pPr marL="1613642" indent="0">
              <a:buNone/>
              <a:defRPr sz="504"/>
            </a:lvl8pPr>
            <a:lvl9pPr marL="1844162" indent="0">
              <a:buNone/>
              <a:defRPr sz="50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6D54F74D-F0F6-44F5-9240-72875D5C79F8}" type="datetime1">
              <a:rPr lang="en-US" smtClean="0"/>
              <a:t>9/27/2022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22707" y="3146975"/>
            <a:ext cx="1917802" cy="161502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lang="en-US" spc="-20" smtClean="0"/>
              <a:t>‹#›</a:t>
            </a:fld>
            <a:r>
              <a:rPr lang="en-US" spc="-55"/>
              <a:t> </a:t>
            </a:r>
            <a:r>
              <a:rPr lang="en-US" spc="150"/>
              <a:t>/</a:t>
            </a:r>
            <a:r>
              <a:rPr lang="en-US" spc="-55"/>
              <a:t> </a:t>
            </a:r>
            <a:r>
              <a:rPr lang="en-US" spc="-20"/>
              <a:t>35</a:t>
            </a:r>
            <a:endParaRPr lang="en-US" spc="-20" dirty="0"/>
          </a:p>
        </p:txBody>
      </p:sp>
    </p:spTree>
    <p:extLst>
      <p:ext uri="{BB962C8B-B14F-4D97-AF65-F5344CB8AC3E}">
        <p14:creationId xmlns:p14="http://schemas.microsoft.com/office/powerpoint/2010/main" val="4134560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FAC48-DD5D-42EE-8590-F9BB6C0FC76E}" type="datetime1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lang="en-US" spc="-20" smtClean="0"/>
              <a:t>‹#›</a:t>
            </a:fld>
            <a:r>
              <a:rPr lang="en-US" spc="-55"/>
              <a:t> </a:t>
            </a:r>
            <a:r>
              <a:rPr lang="en-US" spc="150"/>
              <a:t>/</a:t>
            </a:r>
            <a:r>
              <a:rPr lang="en-US" spc="-55"/>
              <a:t> </a:t>
            </a:r>
            <a:r>
              <a:rPr lang="en-US" spc="-20"/>
              <a:t>35</a:t>
            </a:r>
            <a:endParaRPr lang="en-US" spc="-20" dirty="0"/>
          </a:p>
        </p:txBody>
      </p:sp>
    </p:spTree>
    <p:extLst>
      <p:ext uri="{BB962C8B-B14F-4D97-AF65-F5344CB8AC3E}">
        <p14:creationId xmlns:p14="http://schemas.microsoft.com/office/powerpoint/2010/main" val="4032181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958" y="472969"/>
            <a:ext cx="531375" cy="25148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9715" y="472969"/>
            <a:ext cx="2377738" cy="25148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C14F8-9D32-4787-9AB5-FDB01CEE0678}" type="datetime1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lang="en-US" spc="-20" smtClean="0"/>
              <a:t>‹#›</a:t>
            </a:fld>
            <a:r>
              <a:rPr lang="en-US" spc="-55"/>
              <a:t> </a:t>
            </a:r>
            <a:r>
              <a:rPr lang="en-US" spc="150"/>
              <a:t>/</a:t>
            </a:r>
            <a:r>
              <a:rPr lang="en-US" spc="-55"/>
              <a:t> </a:t>
            </a:r>
            <a:r>
              <a:rPr lang="en-US" spc="-20"/>
              <a:t>35</a:t>
            </a:r>
            <a:endParaRPr lang="en-US" spc="-20" dirty="0"/>
          </a:p>
        </p:txBody>
      </p:sp>
    </p:spTree>
    <p:extLst>
      <p:ext uri="{BB962C8B-B14F-4D97-AF65-F5344CB8AC3E}">
        <p14:creationId xmlns:p14="http://schemas.microsoft.com/office/powerpoint/2010/main" val="1590273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809715" y="486812"/>
            <a:ext cx="2993618" cy="599863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9715" y="1331236"/>
            <a:ext cx="2993618" cy="15653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4384" y="3148291"/>
            <a:ext cx="1041260" cy="1634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04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4F8ACD37-A222-4FB4-916F-293A8066E6D3}" type="datetime1">
              <a:rPr lang="en-US" smtClean="0"/>
              <a:t>9/27/2022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5712" y="3146975"/>
            <a:ext cx="2297318" cy="1615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04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54390" y="3137747"/>
            <a:ext cx="184404" cy="184573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555" spc="0" baseline="0">
                <a:solidFill>
                  <a:srgbClr val="FFFFFF"/>
                </a:solidFill>
              </a:defRPr>
            </a:lvl1pPr>
          </a:lstStyle>
          <a:p>
            <a:pPr marL="38100">
              <a:lnSpc>
                <a:spcPts val="675"/>
              </a:lnSpc>
            </a:pPr>
            <a:fld id="{81D60167-4931-47E6-BA6A-407CBD079E47}" type="slidenum">
              <a:rPr lang="en-US" spc="-20" smtClean="0"/>
              <a:t>‹#›</a:t>
            </a:fld>
            <a:r>
              <a:rPr lang="en-US" spc="-55"/>
              <a:t> </a:t>
            </a:r>
            <a:r>
              <a:rPr lang="en-US" spc="150"/>
              <a:t>/</a:t>
            </a:r>
            <a:r>
              <a:rPr lang="en-US" spc="-55"/>
              <a:t> </a:t>
            </a:r>
            <a:r>
              <a:rPr lang="en-US" spc="-20"/>
              <a:t>35</a:t>
            </a:r>
            <a:endParaRPr lang="en-US" spc="-20" dirty="0"/>
          </a:p>
        </p:txBody>
      </p:sp>
    </p:spTree>
    <p:extLst>
      <p:ext uri="{BB962C8B-B14F-4D97-AF65-F5344CB8AC3E}">
        <p14:creationId xmlns:p14="http://schemas.microsoft.com/office/powerpoint/2010/main" val="3500479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sldNum="0" hdr="0" ftr="0" dt="0"/>
  <p:txStyles>
    <p:titleStyle>
      <a:lvl1pPr algn="ctr" defTabSz="461040" rtl="0" eaLnBrk="1" latinLnBrk="0" hangingPunct="1">
        <a:lnSpc>
          <a:spcPct val="90000"/>
        </a:lnSpc>
        <a:spcBef>
          <a:spcPct val="0"/>
        </a:spcBef>
        <a:buNone/>
        <a:defRPr sz="1311" kern="1200" cap="all" spc="101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115260" indent="-115260" algn="l" defTabSz="461040" rtl="0" eaLnBrk="1" latinLnBrk="0" hangingPunct="1">
        <a:lnSpc>
          <a:spcPct val="100000"/>
        </a:lnSpc>
        <a:spcBef>
          <a:spcPts val="504"/>
        </a:spcBef>
        <a:buClr>
          <a:schemeClr val="accent2"/>
        </a:buClr>
        <a:buFont typeface="Arial" panose="020B0604020202020204" pitchFamily="34" charset="0"/>
        <a:buChar char="•"/>
        <a:defRPr sz="908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230520" indent="-115260" algn="l" defTabSz="461040" rtl="0" eaLnBrk="1" latinLnBrk="0" hangingPunct="1">
        <a:lnSpc>
          <a:spcPct val="100000"/>
        </a:lnSpc>
        <a:spcBef>
          <a:spcPts val="504"/>
        </a:spcBef>
        <a:buClr>
          <a:schemeClr val="accent2"/>
        </a:buClr>
        <a:buFont typeface="Arial" panose="020B0604020202020204" pitchFamily="34" charset="0"/>
        <a:buChar char="•"/>
        <a:defRPr sz="807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345780" indent="-115260" algn="l" defTabSz="461040" rtl="0" eaLnBrk="1" latinLnBrk="0" hangingPunct="1">
        <a:lnSpc>
          <a:spcPct val="100000"/>
        </a:lnSpc>
        <a:spcBef>
          <a:spcPts val="504"/>
        </a:spcBef>
        <a:buClr>
          <a:schemeClr val="accent2"/>
        </a:buClr>
        <a:buFont typeface="Arial" panose="020B0604020202020204" pitchFamily="34" charset="0"/>
        <a:buChar char="•"/>
        <a:defRPr sz="807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461040" indent="-115260" algn="l" defTabSz="461040" rtl="0" eaLnBrk="1" latinLnBrk="0" hangingPunct="1">
        <a:lnSpc>
          <a:spcPct val="100000"/>
        </a:lnSpc>
        <a:spcBef>
          <a:spcPts val="504"/>
        </a:spcBef>
        <a:buClr>
          <a:schemeClr val="accent2"/>
        </a:buClr>
        <a:buFont typeface="Arial" panose="020B0604020202020204" pitchFamily="34" charset="0"/>
        <a:buChar char="•"/>
        <a:defRPr sz="807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576301" indent="-115260" algn="l" defTabSz="461040" rtl="0" eaLnBrk="1" latinLnBrk="0" hangingPunct="1">
        <a:lnSpc>
          <a:spcPct val="100000"/>
        </a:lnSpc>
        <a:spcBef>
          <a:spcPts val="504"/>
        </a:spcBef>
        <a:buClr>
          <a:schemeClr val="accent2"/>
        </a:buClr>
        <a:buFont typeface="Arial" panose="020B0604020202020204" pitchFamily="34" charset="0"/>
        <a:buChar char="•"/>
        <a:defRPr sz="807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662746" indent="-115260" algn="l" defTabSz="461040" rtl="0" eaLnBrk="1" latinLnBrk="0" hangingPunct="1">
        <a:lnSpc>
          <a:spcPct val="100000"/>
        </a:lnSpc>
        <a:spcBef>
          <a:spcPts val="504"/>
        </a:spcBef>
        <a:buClr>
          <a:schemeClr val="accent2"/>
        </a:buClr>
        <a:buFont typeface="Arial" panose="020B0604020202020204" pitchFamily="34" charset="0"/>
        <a:buChar char="•"/>
        <a:defRPr sz="807" kern="1200">
          <a:solidFill>
            <a:schemeClr val="tx1"/>
          </a:solidFill>
          <a:latin typeface="+mn-lt"/>
          <a:ea typeface="+mn-ea"/>
          <a:cs typeface="+mn-cs"/>
        </a:defRPr>
      </a:lvl6pPr>
      <a:lvl7pPr marL="749191" indent="-115260" algn="l" defTabSz="461040" rtl="0" eaLnBrk="1" latinLnBrk="0" hangingPunct="1">
        <a:lnSpc>
          <a:spcPct val="100000"/>
        </a:lnSpc>
        <a:spcBef>
          <a:spcPts val="504"/>
        </a:spcBef>
        <a:buClr>
          <a:schemeClr val="accent2"/>
        </a:buClr>
        <a:buFont typeface="Arial" panose="020B0604020202020204" pitchFamily="34" charset="0"/>
        <a:buChar char="•"/>
        <a:defRPr sz="807" kern="1200">
          <a:solidFill>
            <a:schemeClr val="tx1"/>
          </a:solidFill>
          <a:latin typeface="+mn-lt"/>
          <a:ea typeface="+mn-ea"/>
          <a:cs typeface="+mn-cs"/>
        </a:defRPr>
      </a:lvl7pPr>
      <a:lvl8pPr marL="835636" indent="-115260" algn="l" defTabSz="461040" rtl="0" eaLnBrk="1" latinLnBrk="0" hangingPunct="1">
        <a:lnSpc>
          <a:spcPct val="100000"/>
        </a:lnSpc>
        <a:spcBef>
          <a:spcPts val="504"/>
        </a:spcBef>
        <a:buClr>
          <a:schemeClr val="accent2"/>
        </a:buClr>
        <a:buFont typeface="Arial" panose="020B0604020202020204" pitchFamily="34" charset="0"/>
        <a:buChar char="•"/>
        <a:defRPr sz="807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922081" indent="-115260" algn="l" defTabSz="461040" rtl="0" eaLnBrk="1" latinLnBrk="0" hangingPunct="1">
        <a:lnSpc>
          <a:spcPct val="100000"/>
        </a:lnSpc>
        <a:spcBef>
          <a:spcPts val="504"/>
        </a:spcBef>
        <a:buClr>
          <a:schemeClr val="accent2"/>
        </a:buClr>
        <a:buFont typeface="Arial" panose="020B0604020202020204" pitchFamily="34" charset="0"/>
        <a:buChar char="•"/>
        <a:defRPr sz="807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1pPr>
      <a:lvl2pPr marL="23052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2pPr>
      <a:lvl3pPr marL="461040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3pPr>
      <a:lvl4pPr marL="69156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4pPr>
      <a:lvl5pPr marL="92208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5pPr>
      <a:lvl6pPr marL="115260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6pPr>
      <a:lvl7pPr marL="1383121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7pPr>
      <a:lvl8pPr marL="161364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8pPr>
      <a:lvl9pPr marL="1844162" algn="l" defTabSz="461040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echopedia.com/definition/25597/computer-network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/>
          <p:nvPr/>
        </p:nvSpPr>
        <p:spPr>
          <a:xfrm>
            <a:off x="3046680" y="3270008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967063" y="326604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144865" y="326604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" name="object 14"/>
          <p:cNvGrpSpPr/>
          <p:nvPr/>
        </p:nvGrpSpPr>
        <p:grpSpPr>
          <a:xfrm>
            <a:off x="3242526" y="3257165"/>
            <a:ext cx="203200" cy="55880"/>
            <a:chOff x="3242526" y="3257165"/>
            <a:chExt cx="203200" cy="55880"/>
          </a:xfrm>
        </p:grpSpPr>
        <p:sp>
          <p:nvSpPr>
            <p:cNvPr id="15" name="object 15"/>
            <p:cNvSpPr/>
            <p:nvPr/>
          </p:nvSpPr>
          <p:spPr>
            <a:xfrm>
              <a:off x="3305694" y="3259695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2" y="0"/>
                  </a:lnTo>
                  <a:lnTo>
                    <a:pt x="63832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242526" y="326604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3517976" y="3255900"/>
            <a:ext cx="203200" cy="58419"/>
            <a:chOff x="3517976" y="3255900"/>
            <a:chExt cx="203200" cy="58419"/>
          </a:xfrm>
        </p:grpSpPr>
        <p:sp>
          <p:nvSpPr>
            <p:cNvPr id="18" name="object 18"/>
            <p:cNvSpPr/>
            <p:nvPr/>
          </p:nvSpPr>
          <p:spPr>
            <a:xfrm>
              <a:off x="3606877" y="3272396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517976" y="3266046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594177" y="3259695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0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0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3793439" y="3255900"/>
            <a:ext cx="203200" cy="58419"/>
            <a:chOff x="3793439" y="3255900"/>
            <a:chExt cx="203200" cy="58419"/>
          </a:xfrm>
        </p:grpSpPr>
        <p:sp>
          <p:nvSpPr>
            <p:cNvPr id="22" name="object 22"/>
            <p:cNvSpPr/>
            <p:nvPr/>
          </p:nvSpPr>
          <p:spPr>
            <a:xfrm>
              <a:off x="3869640" y="3259695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0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0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793439" y="3266046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869640" y="3297796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699"/>
                  </a:moveTo>
                  <a:lnTo>
                    <a:pt x="50800" y="12699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/>
          <p:nvPr/>
        </p:nvSpPr>
        <p:spPr>
          <a:xfrm>
            <a:off x="4145090" y="3259695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6" name="object 26"/>
          <p:cNvGrpSpPr/>
          <p:nvPr/>
        </p:nvGrpSpPr>
        <p:grpSpPr>
          <a:xfrm>
            <a:off x="4326582" y="3257165"/>
            <a:ext cx="238760" cy="57150"/>
            <a:chOff x="4326582" y="3257165"/>
            <a:chExt cx="238760" cy="57150"/>
          </a:xfrm>
        </p:grpSpPr>
        <p:sp>
          <p:nvSpPr>
            <p:cNvPr id="27" name="object 27"/>
            <p:cNvSpPr/>
            <p:nvPr/>
          </p:nvSpPr>
          <p:spPr>
            <a:xfrm>
              <a:off x="4451033" y="329017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0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423969" y="32636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329112" y="3259695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79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79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1073880" y="804424"/>
            <a:ext cx="2792235" cy="275717"/>
          </a:xfrm>
          <a:prstGeom prst="rect">
            <a:avLst/>
          </a:prstGeom>
          <a:solidFill>
            <a:srgbClr val="D6D6EF"/>
          </a:solidFill>
        </p:spPr>
        <p:txBody>
          <a:bodyPr vert="horz" wrap="square" lIns="0" tIns="59690" rIns="0" bIns="0" rtlCol="0">
            <a:spAutoFit/>
          </a:bodyPr>
          <a:lstStyle/>
          <a:p>
            <a:pPr marL="141605">
              <a:lnSpc>
                <a:spcPct val="100000"/>
              </a:lnSpc>
              <a:spcBef>
                <a:spcPts val="470"/>
              </a:spcBef>
            </a:pPr>
            <a:r>
              <a:rPr sz="1400" spc="-55" dirty="0">
                <a:latin typeface="Trebuchet MS"/>
                <a:cs typeface="Trebuchet MS"/>
              </a:rPr>
              <a:t>Computer</a:t>
            </a:r>
            <a:r>
              <a:rPr sz="1400" spc="30" dirty="0">
                <a:latin typeface="Trebuchet MS"/>
                <a:cs typeface="Trebuchet MS"/>
              </a:rPr>
              <a:t> </a:t>
            </a:r>
            <a:r>
              <a:rPr sz="1400" spc="-60" dirty="0">
                <a:latin typeface="Trebuchet MS"/>
                <a:cs typeface="Trebuchet MS"/>
              </a:rPr>
              <a:t>Networks</a:t>
            </a:r>
            <a:r>
              <a:rPr sz="1400" spc="35" dirty="0">
                <a:latin typeface="Trebuchet MS"/>
                <a:cs typeface="Trebuchet MS"/>
              </a:rPr>
              <a:t> </a:t>
            </a:r>
            <a:r>
              <a:rPr sz="1400" spc="70" dirty="0">
                <a:latin typeface="Trebuchet MS"/>
                <a:cs typeface="Trebuchet MS"/>
              </a:rPr>
              <a:t>(CSE</a:t>
            </a:r>
            <a:r>
              <a:rPr sz="1400" spc="35" dirty="0">
                <a:latin typeface="Trebuchet MS"/>
                <a:cs typeface="Trebuchet MS"/>
              </a:rPr>
              <a:t> </a:t>
            </a:r>
            <a:r>
              <a:rPr sz="1400" spc="-35" dirty="0">
                <a:latin typeface="Trebuchet MS"/>
                <a:cs typeface="Trebuchet MS"/>
              </a:rPr>
              <a:t>3205</a:t>
            </a:r>
            <a:r>
              <a:rPr sz="1400" spc="-20" dirty="0">
                <a:latin typeface="Trebuchet MS"/>
                <a:cs typeface="Trebuchet MS"/>
              </a:rPr>
              <a:t>)</a:t>
            </a:r>
            <a:endParaRPr sz="1400" dirty="0">
              <a:latin typeface="Trebuchet MS"/>
              <a:cs typeface="Trebuchet M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301020" y="3341243"/>
            <a:ext cx="27749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spc="-20" dirty="0">
                <a:solidFill>
                  <a:srgbClr val="7F7F7F"/>
                </a:solidFill>
                <a:latin typeface="Microsoft Sans Serif"/>
                <a:cs typeface="Microsoft Sans Serif"/>
              </a:rPr>
              <a:t>1</a:t>
            </a:fld>
            <a:r>
              <a:rPr sz="600" spc="-5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150" dirty="0">
                <a:solidFill>
                  <a:srgbClr val="7F7F7F"/>
                </a:solidFill>
                <a:latin typeface="Microsoft Sans Serif"/>
                <a:cs typeface="Microsoft Sans Serif"/>
              </a:rPr>
              <a:t>/</a:t>
            </a:r>
            <a:r>
              <a:rPr sz="600" spc="-5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-20" dirty="0">
                <a:solidFill>
                  <a:srgbClr val="7F7F7F"/>
                </a:solidFill>
                <a:latin typeface="Microsoft Sans Serif"/>
                <a:cs typeface="Microsoft Sans Serif"/>
              </a:rPr>
              <a:t>35</a:t>
            </a:r>
            <a:endParaRPr sz="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/>
          <p:nvPr/>
        </p:nvSpPr>
        <p:spPr>
          <a:xfrm>
            <a:off x="3046680" y="3270008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67063" y="326604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144865" y="326604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3242526" y="3257165"/>
            <a:ext cx="203200" cy="55880"/>
            <a:chOff x="3242526" y="3257165"/>
            <a:chExt cx="203200" cy="55880"/>
          </a:xfrm>
        </p:grpSpPr>
        <p:sp>
          <p:nvSpPr>
            <p:cNvPr id="13" name="object 13"/>
            <p:cNvSpPr/>
            <p:nvPr/>
          </p:nvSpPr>
          <p:spPr>
            <a:xfrm>
              <a:off x="3305694" y="3259695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2" y="0"/>
                  </a:lnTo>
                  <a:lnTo>
                    <a:pt x="63832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42526" y="326604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3517976" y="3255900"/>
            <a:ext cx="203200" cy="58419"/>
            <a:chOff x="3517976" y="3255900"/>
            <a:chExt cx="203200" cy="58419"/>
          </a:xfrm>
        </p:grpSpPr>
        <p:sp>
          <p:nvSpPr>
            <p:cNvPr id="16" name="object 16"/>
            <p:cNvSpPr/>
            <p:nvPr/>
          </p:nvSpPr>
          <p:spPr>
            <a:xfrm>
              <a:off x="3606877" y="3272396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517976" y="3266046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594177" y="3259695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0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0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3793439" y="3255900"/>
            <a:ext cx="203200" cy="58419"/>
            <a:chOff x="3793439" y="3255900"/>
            <a:chExt cx="203200" cy="58419"/>
          </a:xfrm>
        </p:grpSpPr>
        <p:sp>
          <p:nvSpPr>
            <p:cNvPr id="20" name="object 20"/>
            <p:cNvSpPr/>
            <p:nvPr/>
          </p:nvSpPr>
          <p:spPr>
            <a:xfrm>
              <a:off x="3869640" y="3259695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0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0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93439" y="3266046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69640" y="3297796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699"/>
                  </a:moveTo>
                  <a:lnTo>
                    <a:pt x="50800" y="12699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/>
          <p:nvPr/>
        </p:nvSpPr>
        <p:spPr>
          <a:xfrm>
            <a:off x="4145090" y="3259695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4" name="object 24"/>
          <p:cNvGrpSpPr/>
          <p:nvPr/>
        </p:nvGrpSpPr>
        <p:grpSpPr>
          <a:xfrm>
            <a:off x="4326582" y="3257165"/>
            <a:ext cx="238760" cy="57150"/>
            <a:chOff x="4326582" y="3257165"/>
            <a:chExt cx="238760" cy="57150"/>
          </a:xfrm>
        </p:grpSpPr>
        <p:sp>
          <p:nvSpPr>
            <p:cNvPr id="25" name="object 25"/>
            <p:cNvSpPr/>
            <p:nvPr/>
          </p:nvSpPr>
          <p:spPr>
            <a:xfrm>
              <a:off x="4451033" y="329017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0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23969" y="32636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329112" y="3259695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79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79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1707680" y="135789"/>
            <a:ext cx="1259383" cy="2190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65" dirty="0"/>
              <a:t>Book List</a:t>
            </a:r>
            <a:endParaRPr spc="-65" dirty="0"/>
          </a:p>
        </p:txBody>
      </p:sp>
      <p:sp>
        <p:nvSpPr>
          <p:cNvPr id="37" name="object 37"/>
          <p:cNvSpPr txBox="1"/>
          <p:nvPr/>
        </p:nvSpPr>
        <p:spPr>
          <a:xfrm>
            <a:off x="4301020" y="3341243"/>
            <a:ext cx="27749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spc="-20" dirty="0">
                <a:solidFill>
                  <a:srgbClr val="7F7F7F"/>
                </a:solidFill>
                <a:latin typeface="Microsoft Sans Serif"/>
                <a:cs typeface="Microsoft Sans Serif"/>
              </a:rPr>
              <a:t>2</a:t>
            </a:fld>
            <a:r>
              <a:rPr sz="600" spc="-5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150" dirty="0">
                <a:solidFill>
                  <a:srgbClr val="7F7F7F"/>
                </a:solidFill>
                <a:latin typeface="Microsoft Sans Serif"/>
                <a:cs typeface="Microsoft Sans Serif"/>
              </a:rPr>
              <a:t>/</a:t>
            </a:r>
            <a:r>
              <a:rPr sz="600" spc="-5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-20" dirty="0">
                <a:solidFill>
                  <a:srgbClr val="7F7F7F"/>
                </a:solidFill>
                <a:latin typeface="Microsoft Sans Serif"/>
                <a:cs typeface="Microsoft Sans Serif"/>
              </a:rPr>
              <a:t>35</a:t>
            </a:r>
            <a:endParaRPr sz="600">
              <a:latin typeface="Microsoft Sans Serif"/>
              <a:cs typeface="Microsoft Sans Serif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52450" y="1291016"/>
            <a:ext cx="3626142" cy="995336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lang="en-US" sz="1400" spc="-40" dirty="0">
                <a:latin typeface="Tahoma"/>
                <a:cs typeface="Tahoma"/>
              </a:rPr>
              <a:t>1. </a:t>
            </a:r>
            <a:r>
              <a:rPr sz="1400" spc="-40" dirty="0">
                <a:latin typeface="Tahoma"/>
                <a:cs typeface="Tahoma"/>
              </a:rPr>
              <a:t>Computer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50" dirty="0">
                <a:latin typeface="Tahoma"/>
                <a:cs typeface="Tahoma"/>
              </a:rPr>
              <a:t>Networks</a:t>
            </a:r>
            <a:r>
              <a:rPr sz="1400" spc="25" dirty="0">
                <a:latin typeface="Tahoma"/>
                <a:cs typeface="Tahoma"/>
              </a:rPr>
              <a:t> </a:t>
            </a:r>
            <a:r>
              <a:rPr sz="1400" spc="-60" dirty="0">
                <a:latin typeface="Tahoma"/>
                <a:cs typeface="Tahoma"/>
              </a:rPr>
              <a:t>by</a:t>
            </a:r>
            <a:r>
              <a:rPr sz="1400" spc="20" dirty="0">
                <a:latin typeface="Tahoma"/>
                <a:cs typeface="Tahoma"/>
              </a:rPr>
              <a:t> </a:t>
            </a:r>
            <a:r>
              <a:rPr sz="1400" spc="-40" dirty="0">
                <a:latin typeface="Tahoma"/>
                <a:cs typeface="Tahoma"/>
              </a:rPr>
              <a:t>Andrew</a:t>
            </a:r>
            <a:r>
              <a:rPr sz="1400" spc="25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S.</a:t>
            </a:r>
            <a:r>
              <a:rPr sz="1400" spc="20" dirty="0">
                <a:latin typeface="Tahoma"/>
                <a:cs typeface="Tahoma"/>
              </a:rPr>
              <a:t> </a:t>
            </a:r>
            <a:r>
              <a:rPr sz="1400" spc="-55" dirty="0">
                <a:latin typeface="Tahoma"/>
                <a:cs typeface="Tahoma"/>
              </a:rPr>
              <a:t>Tanenbaum</a:t>
            </a:r>
            <a:endParaRPr sz="1400" dirty="0">
              <a:latin typeface="Tahoma"/>
              <a:cs typeface="Tahoma"/>
            </a:endParaRPr>
          </a:p>
          <a:p>
            <a:pPr marL="12700" marR="27940">
              <a:lnSpc>
                <a:spcPct val="102600"/>
              </a:lnSpc>
              <a:spcBef>
                <a:spcPts val="300"/>
              </a:spcBef>
            </a:pPr>
            <a:r>
              <a:rPr lang="en-US" sz="1400" spc="-10" dirty="0">
                <a:latin typeface="Tahoma"/>
                <a:cs typeface="Tahoma"/>
              </a:rPr>
              <a:t>2. </a:t>
            </a:r>
            <a:r>
              <a:rPr sz="1400" spc="-10" dirty="0">
                <a:latin typeface="Tahoma"/>
                <a:cs typeface="Tahoma"/>
              </a:rPr>
              <a:t>Data</a:t>
            </a:r>
            <a:r>
              <a:rPr sz="1400" spc="5" dirty="0">
                <a:latin typeface="Tahoma"/>
                <a:cs typeface="Tahoma"/>
              </a:rPr>
              <a:t> </a:t>
            </a:r>
            <a:r>
              <a:rPr sz="1400" spc="-40" dirty="0">
                <a:latin typeface="Tahoma"/>
                <a:cs typeface="Tahoma"/>
              </a:rPr>
              <a:t>Communications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50" dirty="0">
                <a:latin typeface="Tahoma"/>
                <a:cs typeface="Tahoma"/>
              </a:rPr>
              <a:t>and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40" dirty="0">
                <a:latin typeface="Tahoma"/>
                <a:cs typeface="Tahoma"/>
              </a:rPr>
              <a:t>Networking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60" dirty="0">
                <a:latin typeface="Tahoma"/>
                <a:cs typeface="Tahoma"/>
              </a:rPr>
              <a:t>by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spc="-30" dirty="0">
                <a:latin typeface="Tahoma"/>
                <a:cs typeface="Tahoma"/>
              </a:rPr>
              <a:t>Behrouz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spc="15" dirty="0">
                <a:latin typeface="Tahoma"/>
                <a:cs typeface="Tahoma"/>
              </a:rPr>
              <a:t>A. </a:t>
            </a:r>
            <a:r>
              <a:rPr sz="1400" spc="-325" dirty="0">
                <a:latin typeface="Tahoma"/>
                <a:cs typeface="Tahoma"/>
              </a:rPr>
              <a:t> </a:t>
            </a:r>
            <a:r>
              <a:rPr sz="1400" spc="-45" dirty="0">
                <a:latin typeface="Tahoma"/>
                <a:cs typeface="Tahoma"/>
              </a:rPr>
              <a:t>Forouzan</a:t>
            </a:r>
            <a:endParaRPr sz="1400" dirty="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lang="en-US" sz="1400" spc="-55" dirty="0">
                <a:latin typeface="Tahoma"/>
                <a:cs typeface="Tahoma"/>
              </a:rPr>
              <a:t>3. Cryptography and Network Security by Stallings</a:t>
            </a:r>
            <a:endParaRPr sz="14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2"/>
          <p:cNvSpPr/>
          <p:nvPr/>
        </p:nvSpPr>
        <p:spPr>
          <a:xfrm>
            <a:off x="3046680" y="3270008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967063" y="326604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144865" y="326604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>
            <a:off x="3242526" y="3257165"/>
            <a:ext cx="203200" cy="55880"/>
            <a:chOff x="3242526" y="3257165"/>
            <a:chExt cx="203200" cy="55880"/>
          </a:xfrm>
        </p:grpSpPr>
        <p:sp>
          <p:nvSpPr>
            <p:cNvPr id="16" name="object 16"/>
            <p:cNvSpPr/>
            <p:nvPr/>
          </p:nvSpPr>
          <p:spPr>
            <a:xfrm>
              <a:off x="3305694" y="3259695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2" y="0"/>
                  </a:lnTo>
                  <a:lnTo>
                    <a:pt x="63832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242526" y="326604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3517976" y="3255900"/>
            <a:ext cx="203200" cy="58419"/>
            <a:chOff x="3517976" y="3255900"/>
            <a:chExt cx="203200" cy="58419"/>
          </a:xfrm>
        </p:grpSpPr>
        <p:sp>
          <p:nvSpPr>
            <p:cNvPr id="19" name="object 19"/>
            <p:cNvSpPr/>
            <p:nvPr/>
          </p:nvSpPr>
          <p:spPr>
            <a:xfrm>
              <a:off x="3606877" y="3272396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517976" y="3266046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594177" y="3259695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0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0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3793439" y="3266045"/>
            <a:ext cx="203200" cy="48260"/>
            <a:chOff x="3793439" y="3266045"/>
            <a:chExt cx="203200" cy="48260"/>
          </a:xfrm>
        </p:grpSpPr>
        <p:sp>
          <p:nvSpPr>
            <p:cNvPr id="23" name="object 23"/>
            <p:cNvSpPr/>
            <p:nvPr/>
          </p:nvSpPr>
          <p:spPr>
            <a:xfrm>
              <a:off x="3882340" y="3285096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793439" y="326604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869640" y="3297796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699"/>
                  </a:moveTo>
                  <a:lnTo>
                    <a:pt x="50800" y="12699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>
            <a:spLocks noGrp="1"/>
          </p:cNvSpPr>
          <p:nvPr>
            <p:ph type="title"/>
          </p:nvPr>
        </p:nvSpPr>
        <p:spPr>
          <a:xfrm>
            <a:off x="664666" y="239350"/>
            <a:ext cx="3493123" cy="2190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What</a:t>
            </a:r>
            <a:r>
              <a:rPr spc="25" dirty="0"/>
              <a:t> </a:t>
            </a:r>
            <a:r>
              <a:rPr spc="-50" dirty="0"/>
              <a:t>is</a:t>
            </a:r>
            <a:r>
              <a:rPr spc="25" dirty="0"/>
              <a:t> </a:t>
            </a:r>
            <a:r>
              <a:rPr spc="-55" dirty="0"/>
              <a:t>Computer</a:t>
            </a:r>
            <a:r>
              <a:rPr spc="25" dirty="0"/>
              <a:t> </a:t>
            </a:r>
            <a:r>
              <a:rPr spc="-40" dirty="0"/>
              <a:t>Network?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idx="1"/>
          </p:nvPr>
        </p:nvSpPr>
        <p:spPr>
          <a:xfrm>
            <a:off x="400051" y="968375"/>
            <a:ext cx="4072210" cy="1281826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45720" marR="78740" algn="just">
              <a:lnSpc>
                <a:spcPct val="102600"/>
              </a:lnSpc>
              <a:spcBef>
                <a:spcPts val="220"/>
              </a:spcBef>
            </a:pPr>
            <a:r>
              <a:rPr sz="1600" spc="65" dirty="0"/>
              <a:t>A</a:t>
            </a:r>
            <a:r>
              <a:rPr sz="1600" spc="20" dirty="0"/>
              <a:t> </a:t>
            </a:r>
            <a:r>
              <a:rPr sz="1600" spc="-45" dirty="0"/>
              <a:t>computer</a:t>
            </a:r>
            <a:r>
              <a:rPr sz="1600" spc="25" dirty="0"/>
              <a:t> </a:t>
            </a:r>
            <a:r>
              <a:rPr sz="1600" spc="-55" dirty="0"/>
              <a:t>network</a:t>
            </a:r>
            <a:r>
              <a:rPr sz="1600" spc="25" dirty="0"/>
              <a:t> </a:t>
            </a:r>
            <a:r>
              <a:rPr sz="1600" spc="-35" dirty="0"/>
              <a:t>is</a:t>
            </a:r>
            <a:r>
              <a:rPr sz="1600" spc="25" dirty="0"/>
              <a:t> </a:t>
            </a:r>
            <a:r>
              <a:rPr sz="1600" spc="-55" dirty="0"/>
              <a:t>a</a:t>
            </a:r>
            <a:r>
              <a:rPr sz="1600" spc="20" dirty="0"/>
              <a:t> </a:t>
            </a:r>
            <a:r>
              <a:rPr sz="1600" b="1" spc="-50" dirty="0"/>
              <a:t>group</a:t>
            </a:r>
            <a:r>
              <a:rPr sz="1600" b="1" spc="25" dirty="0"/>
              <a:t> </a:t>
            </a:r>
            <a:r>
              <a:rPr sz="1600" spc="-35" dirty="0"/>
              <a:t>of</a:t>
            </a:r>
            <a:r>
              <a:rPr sz="1600" spc="20" dirty="0"/>
              <a:t> </a:t>
            </a:r>
            <a:r>
              <a:rPr sz="1600" spc="-45" dirty="0"/>
              <a:t>computer</a:t>
            </a:r>
            <a:r>
              <a:rPr sz="1600" spc="25" dirty="0"/>
              <a:t> </a:t>
            </a:r>
            <a:r>
              <a:rPr sz="1600" spc="-60" dirty="0"/>
              <a:t>systems</a:t>
            </a:r>
            <a:r>
              <a:rPr sz="1600" spc="25" dirty="0"/>
              <a:t> </a:t>
            </a:r>
            <a:r>
              <a:rPr sz="1600" spc="-50" dirty="0"/>
              <a:t>and</a:t>
            </a:r>
            <a:r>
              <a:rPr sz="1600" spc="20" dirty="0"/>
              <a:t> </a:t>
            </a:r>
            <a:r>
              <a:rPr sz="1600" spc="-40" dirty="0"/>
              <a:t>other </a:t>
            </a:r>
            <a:r>
              <a:rPr sz="1600" spc="-325" dirty="0"/>
              <a:t> </a:t>
            </a:r>
            <a:r>
              <a:rPr sz="1600" spc="-35" dirty="0"/>
              <a:t>computing </a:t>
            </a:r>
            <a:r>
              <a:rPr sz="1600" spc="-65" dirty="0"/>
              <a:t>hardware</a:t>
            </a:r>
            <a:r>
              <a:rPr sz="1600" spc="-60" dirty="0"/>
              <a:t> </a:t>
            </a:r>
            <a:r>
              <a:rPr sz="1600" spc="-55" dirty="0"/>
              <a:t>devices </a:t>
            </a:r>
            <a:r>
              <a:rPr sz="1600" spc="-15" dirty="0"/>
              <a:t>that </a:t>
            </a:r>
            <a:r>
              <a:rPr sz="1600" spc="-70" dirty="0"/>
              <a:t>are</a:t>
            </a:r>
            <a:r>
              <a:rPr sz="1600" spc="-65" dirty="0"/>
              <a:t> </a:t>
            </a:r>
            <a:r>
              <a:rPr sz="1600" b="1" u="sng" spc="-40" dirty="0"/>
              <a:t>linked</a:t>
            </a:r>
            <a:r>
              <a:rPr sz="1600" spc="-40" dirty="0"/>
              <a:t> </a:t>
            </a:r>
            <a:r>
              <a:rPr sz="1600" spc="-45" dirty="0"/>
              <a:t>together </a:t>
            </a:r>
            <a:r>
              <a:rPr sz="1600" spc="-40" dirty="0"/>
              <a:t>through </a:t>
            </a:r>
            <a:r>
              <a:rPr sz="1600" spc="-35" dirty="0"/>
              <a:t> communication</a:t>
            </a:r>
            <a:r>
              <a:rPr sz="1600" spc="20" dirty="0"/>
              <a:t> </a:t>
            </a:r>
            <a:r>
              <a:rPr sz="1600" spc="-50" dirty="0"/>
              <a:t>channels</a:t>
            </a:r>
            <a:r>
              <a:rPr sz="1600" spc="20" dirty="0"/>
              <a:t> </a:t>
            </a:r>
            <a:r>
              <a:rPr sz="1600" spc="-15" dirty="0"/>
              <a:t>to</a:t>
            </a:r>
            <a:r>
              <a:rPr sz="1600" spc="15" dirty="0"/>
              <a:t> </a:t>
            </a:r>
            <a:r>
              <a:rPr sz="1600" i="1" spc="-20" dirty="0"/>
              <a:t>facilitate</a:t>
            </a:r>
            <a:r>
              <a:rPr sz="1600" i="1" spc="20" dirty="0"/>
              <a:t> </a:t>
            </a:r>
            <a:r>
              <a:rPr sz="1600" b="1" i="1" spc="-35" dirty="0"/>
              <a:t>communication</a:t>
            </a:r>
            <a:r>
              <a:rPr sz="1600" spc="20" dirty="0"/>
              <a:t> </a:t>
            </a:r>
            <a:r>
              <a:rPr sz="1600" spc="-50" dirty="0"/>
              <a:t>and </a:t>
            </a:r>
            <a:r>
              <a:rPr sz="1600" spc="-45" dirty="0"/>
              <a:t> </a:t>
            </a:r>
            <a:r>
              <a:rPr sz="1600" b="1" i="1" spc="-55" dirty="0"/>
              <a:t>resource-sharing</a:t>
            </a:r>
            <a:r>
              <a:rPr sz="1600" spc="20" dirty="0"/>
              <a:t> </a:t>
            </a:r>
            <a:r>
              <a:rPr sz="1600" spc="-60" dirty="0"/>
              <a:t>among</a:t>
            </a:r>
            <a:r>
              <a:rPr sz="1600" spc="20" dirty="0"/>
              <a:t> </a:t>
            </a:r>
            <a:r>
              <a:rPr sz="1600" spc="-55" dirty="0"/>
              <a:t>a</a:t>
            </a:r>
            <a:r>
              <a:rPr sz="1600" spc="20" dirty="0"/>
              <a:t> </a:t>
            </a:r>
            <a:r>
              <a:rPr sz="1600" spc="-55" dirty="0"/>
              <a:t>wide</a:t>
            </a:r>
            <a:r>
              <a:rPr sz="1600" spc="25" dirty="0"/>
              <a:t> </a:t>
            </a:r>
            <a:r>
              <a:rPr sz="1600" spc="-60" dirty="0"/>
              <a:t>range</a:t>
            </a:r>
            <a:r>
              <a:rPr sz="1600" spc="20" dirty="0"/>
              <a:t> </a:t>
            </a:r>
            <a:r>
              <a:rPr sz="1600" spc="-35" dirty="0"/>
              <a:t>of</a:t>
            </a:r>
            <a:r>
              <a:rPr sz="1600" spc="15" dirty="0"/>
              <a:t> </a:t>
            </a:r>
            <a:r>
              <a:rPr sz="1600" spc="-55" dirty="0"/>
              <a:t>users.</a:t>
            </a:r>
            <a:r>
              <a:rPr sz="1600" spc="-82" baseline="27777" dirty="0">
                <a:latin typeface="Microsoft Sans Serif"/>
                <a:cs typeface="Microsoft Sans Serif"/>
              </a:rPr>
              <a:t>1</a:t>
            </a:r>
            <a:endParaRPr sz="1600" baseline="27777" dirty="0">
              <a:latin typeface="Microsoft Sans Serif"/>
              <a:cs typeface="Microsoft Sans Serif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49363" y="3170542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-312470" y="2941927"/>
            <a:ext cx="4232910" cy="38408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800" dirty="0">
              <a:latin typeface="Microsoft Sans Serif"/>
              <a:cs typeface="Microsoft Sans Serif"/>
            </a:endParaRPr>
          </a:p>
          <a:p>
            <a:pPr marL="900430">
              <a:lnSpc>
                <a:spcPct val="100000"/>
              </a:lnSpc>
            </a:pPr>
            <a:r>
              <a:rPr sz="900" spc="-52" baseline="37037" dirty="0">
                <a:latin typeface="Microsoft Sans Serif"/>
                <a:cs typeface="Microsoft Sans Serif"/>
              </a:rPr>
              <a:t>1</a:t>
            </a:r>
            <a:r>
              <a:rPr sz="900" spc="-35" dirty="0">
                <a:latin typeface="Trebuchet MS"/>
                <a:cs typeface="Trebuchet MS"/>
                <a:hlinkClick r:id="rId2"/>
              </a:rPr>
              <a:t>https://www.techopedia.com/definition/25597/computer-</a:t>
            </a:r>
            <a:r>
              <a:rPr sz="900" strike="sngStrike" spc="-35" dirty="0">
                <a:latin typeface="Trebuchet MS"/>
                <a:cs typeface="Trebuchet MS"/>
                <a:hlinkClick r:id="rId2"/>
              </a:rPr>
              <a:t>n</a:t>
            </a:r>
            <a:r>
              <a:rPr sz="900" strike="noStrike" spc="-35" dirty="0">
                <a:latin typeface="Trebuchet MS"/>
                <a:cs typeface="Trebuchet MS"/>
                <a:hlinkClick r:id="rId2"/>
              </a:rPr>
              <a:t>etwor</a:t>
            </a:r>
            <a:r>
              <a:rPr sz="900" u="heavy" strike="sngStrike" spc="-35" dirty="0">
                <a:uFill>
                  <a:solidFill>
                    <a:srgbClr val="ADADE0"/>
                  </a:solidFill>
                </a:uFill>
                <a:latin typeface="Trebuchet MS"/>
                <a:cs typeface="Trebuchet MS"/>
                <a:hlinkClick r:id="rId2"/>
              </a:rPr>
              <a:t>k</a:t>
            </a:r>
            <a:endParaRPr sz="900" dirty="0">
              <a:latin typeface="Trebuchet MS"/>
              <a:cs typeface="Trebuchet M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301020" y="3341243"/>
            <a:ext cx="27749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spc="-20" dirty="0">
                <a:solidFill>
                  <a:srgbClr val="7F7F7F"/>
                </a:solidFill>
                <a:latin typeface="Microsoft Sans Serif"/>
                <a:cs typeface="Microsoft Sans Serif"/>
              </a:rPr>
              <a:t>3</a:t>
            </a:fld>
            <a:r>
              <a:rPr sz="600" spc="-5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150" dirty="0">
                <a:solidFill>
                  <a:srgbClr val="7F7F7F"/>
                </a:solidFill>
                <a:latin typeface="Microsoft Sans Serif"/>
                <a:cs typeface="Microsoft Sans Serif"/>
              </a:rPr>
              <a:t>/</a:t>
            </a:r>
            <a:r>
              <a:rPr sz="600" spc="-5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-20" dirty="0">
                <a:solidFill>
                  <a:srgbClr val="7F7F7F"/>
                </a:solidFill>
                <a:latin typeface="Microsoft Sans Serif"/>
                <a:cs typeface="Microsoft Sans Serif"/>
              </a:rPr>
              <a:t>35</a:t>
            </a:r>
            <a:endParaRPr sz="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/>
          <p:nvPr/>
        </p:nvSpPr>
        <p:spPr>
          <a:xfrm>
            <a:off x="2967063" y="326604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9" name="object 29"/>
          <p:cNvGrpSpPr/>
          <p:nvPr/>
        </p:nvGrpSpPr>
        <p:grpSpPr>
          <a:xfrm>
            <a:off x="0" y="0"/>
            <a:ext cx="4608195" cy="569595"/>
            <a:chOff x="0" y="0"/>
            <a:chExt cx="4608195" cy="569595"/>
          </a:xfrm>
        </p:grpSpPr>
        <p:sp>
          <p:nvSpPr>
            <p:cNvPr id="30" name="object 30"/>
            <p:cNvSpPr/>
            <p:nvPr/>
          </p:nvSpPr>
          <p:spPr>
            <a:xfrm>
              <a:off x="569366" y="0"/>
              <a:ext cx="4039235" cy="569595"/>
            </a:xfrm>
            <a:custGeom>
              <a:avLst/>
              <a:gdLst/>
              <a:ahLst/>
              <a:cxnLst/>
              <a:rect l="l" t="t" r="r" b="b"/>
              <a:pathLst>
                <a:path w="4039235" h="569595">
                  <a:moveTo>
                    <a:pt x="0" y="569366"/>
                  </a:moveTo>
                  <a:lnTo>
                    <a:pt x="4038638" y="569366"/>
                  </a:lnTo>
                  <a:lnTo>
                    <a:pt x="4038638" y="0"/>
                  </a:lnTo>
                  <a:lnTo>
                    <a:pt x="0" y="0"/>
                  </a:lnTo>
                  <a:lnTo>
                    <a:pt x="0" y="569366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0" y="0"/>
              <a:ext cx="569595" cy="569595"/>
            </a:xfrm>
            <a:custGeom>
              <a:avLst/>
              <a:gdLst/>
              <a:ahLst/>
              <a:cxnLst/>
              <a:rect l="l" t="t" r="r" b="b"/>
              <a:pathLst>
                <a:path w="569595" h="569595">
                  <a:moveTo>
                    <a:pt x="569366" y="0"/>
                  </a:moveTo>
                  <a:lnTo>
                    <a:pt x="0" y="0"/>
                  </a:lnTo>
                  <a:lnTo>
                    <a:pt x="0" y="569366"/>
                  </a:lnTo>
                  <a:lnTo>
                    <a:pt x="569366" y="569366"/>
                  </a:lnTo>
                  <a:lnTo>
                    <a:pt x="56936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>
            <a:spLocks noGrp="1"/>
          </p:cNvSpPr>
          <p:nvPr>
            <p:ph type="title"/>
          </p:nvPr>
        </p:nvSpPr>
        <p:spPr>
          <a:xfrm>
            <a:off x="664666" y="174372"/>
            <a:ext cx="3480423" cy="2190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What</a:t>
            </a:r>
            <a:r>
              <a:rPr spc="25" dirty="0"/>
              <a:t> </a:t>
            </a:r>
            <a:r>
              <a:rPr spc="-50" dirty="0"/>
              <a:t>is</a:t>
            </a:r>
            <a:r>
              <a:rPr spc="25" dirty="0"/>
              <a:t> </a:t>
            </a:r>
            <a:r>
              <a:rPr spc="-55" dirty="0"/>
              <a:t>Computer</a:t>
            </a:r>
            <a:r>
              <a:rPr spc="25" dirty="0"/>
              <a:t> </a:t>
            </a:r>
            <a:r>
              <a:rPr spc="-40" dirty="0"/>
              <a:t>Network?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247650" y="624826"/>
            <a:ext cx="2716593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We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use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b="1" spc="-40" dirty="0">
                <a:solidFill>
                  <a:srgbClr val="FF0000"/>
                </a:solidFill>
                <a:latin typeface="Arial"/>
                <a:cs typeface="Arial"/>
              </a:rPr>
              <a:t>Computer</a:t>
            </a:r>
            <a:r>
              <a:rPr sz="1100" b="1" spc="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b="1" spc="-50" dirty="0">
                <a:solidFill>
                  <a:srgbClr val="FF0000"/>
                </a:solidFill>
                <a:latin typeface="Arial"/>
                <a:cs typeface="Arial"/>
              </a:rPr>
              <a:t>network</a:t>
            </a:r>
            <a:r>
              <a:rPr sz="1100" b="1" spc="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spc="-15" dirty="0">
                <a:latin typeface="Tahoma"/>
                <a:cs typeface="Tahoma"/>
              </a:rPr>
              <a:t>to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mean,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47650" y="992428"/>
            <a:ext cx="4226801" cy="536622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45720" marR="204470">
              <a:lnSpc>
                <a:spcPct val="102600"/>
              </a:lnSpc>
              <a:spcBef>
                <a:spcPts val="220"/>
              </a:spcBef>
            </a:pPr>
            <a:r>
              <a:rPr sz="1100" spc="65" dirty="0">
                <a:latin typeface="Tahoma"/>
                <a:cs typeface="Tahoma"/>
              </a:rPr>
              <a:t>A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collection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autonomous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computers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i="1" spc="-45" dirty="0">
                <a:latin typeface="Arial"/>
                <a:cs typeface="Arial"/>
              </a:rPr>
              <a:t>interconnected</a:t>
            </a:r>
            <a:r>
              <a:rPr sz="1100" i="1" spc="50" dirty="0">
                <a:latin typeface="Arial"/>
                <a:cs typeface="Arial"/>
              </a:rPr>
              <a:t> </a:t>
            </a:r>
            <a:r>
              <a:rPr sz="1100" spc="-60" dirty="0">
                <a:latin typeface="Tahoma"/>
                <a:cs typeface="Tahoma"/>
              </a:rPr>
              <a:t>by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a 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single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technology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with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networking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device(s).</a:t>
            </a:r>
            <a:r>
              <a:rPr sz="1100" spc="1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Two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computers </a:t>
            </a:r>
            <a:r>
              <a:rPr sz="1100" spc="-32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are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said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to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be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interconnected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" dirty="0">
                <a:latin typeface="Tahoma"/>
                <a:cs typeface="Tahoma"/>
              </a:rPr>
              <a:t>if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they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are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able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to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exchange 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information.</a:t>
            </a:r>
            <a:endParaRPr sz="1100" dirty="0">
              <a:latin typeface="Tahoma"/>
              <a:cs typeface="Tahoma"/>
            </a:endParaRPr>
          </a:p>
        </p:txBody>
      </p:sp>
      <p:pic>
        <p:nvPicPr>
          <p:cNvPr id="38" name="object 3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5799" y="1685623"/>
            <a:ext cx="3113251" cy="1618522"/>
          </a:xfrm>
          <a:prstGeom prst="rect">
            <a:avLst/>
          </a:prstGeom>
        </p:spPr>
      </p:pic>
      <p:sp>
        <p:nvSpPr>
          <p:cNvPr id="40" name="object 40"/>
          <p:cNvSpPr txBox="1"/>
          <p:nvPr/>
        </p:nvSpPr>
        <p:spPr>
          <a:xfrm>
            <a:off x="4301020" y="3341243"/>
            <a:ext cx="27749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spc="-20" dirty="0">
                <a:solidFill>
                  <a:srgbClr val="7F7F7F"/>
                </a:solidFill>
                <a:latin typeface="Microsoft Sans Serif"/>
                <a:cs typeface="Microsoft Sans Serif"/>
              </a:rPr>
              <a:t>4</a:t>
            </a:fld>
            <a:r>
              <a:rPr sz="600" spc="-5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150" dirty="0">
                <a:solidFill>
                  <a:srgbClr val="7F7F7F"/>
                </a:solidFill>
                <a:latin typeface="Microsoft Sans Serif"/>
                <a:cs typeface="Microsoft Sans Serif"/>
              </a:rPr>
              <a:t>/</a:t>
            </a:r>
            <a:r>
              <a:rPr sz="600" spc="-5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-20" dirty="0">
                <a:solidFill>
                  <a:srgbClr val="7F7F7F"/>
                </a:solidFill>
                <a:latin typeface="Microsoft Sans Serif"/>
                <a:cs typeface="Microsoft Sans Serif"/>
              </a:rPr>
              <a:t>35</a:t>
            </a:r>
            <a:endParaRPr sz="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/>
          <p:nvPr/>
        </p:nvSpPr>
        <p:spPr>
          <a:xfrm>
            <a:off x="2967063" y="326604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9" name="object 29"/>
          <p:cNvGrpSpPr/>
          <p:nvPr/>
        </p:nvGrpSpPr>
        <p:grpSpPr>
          <a:xfrm>
            <a:off x="0" y="0"/>
            <a:ext cx="4608195" cy="569595"/>
            <a:chOff x="0" y="0"/>
            <a:chExt cx="4608195" cy="569595"/>
          </a:xfrm>
        </p:grpSpPr>
        <p:sp>
          <p:nvSpPr>
            <p:cNvPr id="30" name="object 30"/>
            <p:cNvSpPr/>
            <p:nvPr/>
          </p:nvSpPr>
          <p:spPr>
            <a:xfrm>
              <a:off x="569366" y="0"/>
              <a:ext cx="4039235" cy="569595"/>
            </a:xfrm>
            <a:custGeom>
              <a:avLst/>
              <a:gdLst/>
              <a:ahLst/>
              <a:cxnLst/>
              <a:rect l="l" t="t" r="r" b="b"/>
              <a:pathLst>
                <a:path w="4039235" h="569595">
                  <a:moveTo>
                    <a:pt x="0" y="569366"/>
                  </a:moveTo>
                  <a:lnTo>
                    <a:pt x="4038638" y="569366"/>
                  </a:lnTo>
                  <a:lnTo>
                    <a:pt x="4038638" y="0"/>
                  </a:lnTo>
                  <a:lnTo>
                    <a:pt x="0" y="0"/>
                  </a:lnTo>
                  <a:lnTo>
                    <a:pt x="0" y="569366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31" name="object 31"/>
            <p:cNvSpPr/>
            <p:nvPr/>
          </p:nvSpPr>
          <p:spPr>
            <a:xfrm>
              <a:off x="0" y="0"/>
              <a:ext cx="569595" cy="569595"/>
            </a:xfrm>
            <a:custGeom>
              <a:avLst/>
              <a:gdLst/>
              <a:ahLst/>
              <a:cxnLst/>
              <a:rect l="l" t="t" r="r" b="b"/>
              <a:pathLst>
                <a:path w="569595" h="569595">
                  <a:moveTo>
                    <a:pt x="569366" y="0"/>
                  </a:moveTo>
                  <a:lnTo>
                    <a:pt x="0" y="0"/>
                  </a:lnTo>
                  <a:lnTo>
                    <a:pt x="0" y="569366"/>
                  </a:lnTo>
                  <a:lnTo>
                    <a:pt x="569366" y="569366"/>
                  </a:lnTo>
                  <a:lnTo>
                    <a:pt x="56936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>
            <a:spLocks noGrp="1"/>
          </p:cNvSpPr>
          <p:nvPr>
            <p:ph type="title"/>
          </p:nvPr>
        </p:nvSpPr>
        <p:spPr>
          <a:xfrm>
            <a:off x="458349" y="34963"/>
            <a:ext cx="3733800" cy="569595"/>
          </a:xfrm>
        </p:spPr>
        <p:txBody>
          <a:bodyPr>
            <a:normAutofit fontScale="90000"/>
          </a:bodyPr>
          <a:lstStyle/>
          <a:p>
            <a:r>
              <a:rPr lang="en-US" dirty="0"/>
              <a:t>Differences of Computer Network and Distributed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295AA-D389-4AA6-843D-58FC3CD8A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849" y="815975"/>
            <a:ext cx="4226801" cy="2347835"/>
          </a:xfrm>
        </p:spPr>
        <p:txBody>
          <a:bodyPr>
            <a:normAutofit fontScale="92500" lnSpcReduction="20000"/>
          </a:bodyPr>
          <a:lstStyle/>
          <a:p>
            <a:pPr marL="45720" marR="204470" algn="just">
              <a:lnSpc>
                <a:spcPct val="102600"/>
              </a:lnSpc>
              <a:spcBef>
                <a:spcPts val="220"/>
              </a:spcBef>
            </a:pPr>
            <a:r>
              <a:rPr lang="en-US" sz="1300" b="1" spc="6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Computer Network: </a:t>
            </a:r>
            <a:r>
              <a:rPr lang="en-US" sz="1300" spc="65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3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spc="-25" dirty="0">
                <a:latin typeface="Arial" panose="020B0604020202020204" pitchFamily="34" charset="0"/>
                <a:cs typeface="Arial" panose="020B0604020202020204" pitchFamily="34" charset="0"/>
              </a:rPr>
              <a:t>collection</a:t>
            </a:r>
            <a:r>
              <a:rPr lang="en-US" sz="13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spc="-35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n-US" sz="13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spc="-50" dirty="0">
                <a:latin typeface="Arial" panose="020B0604020202020204" pitchFamily="34" charset="0"/>
                <a:cs typeface="Arial" panose="020B0604020202020204" pitchFamily="34" charset="0"/>
              </a:rPr>
              <a:t>autonomous</a:t>
            </a:r>
            <a:r>
              <a:rPr lang="en-US" sz="13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spc="-45" dirty="0">
                <a:latin typeface="Arial" panose="020B0604020202020204" pitchFamily="34" charset="0"/>
                <a:cs typeface="Arial" panose="020B0604020202020204" pitchFamily="34" charset="0"/>
              </a:rPr>
              <a:t>computers </a:t>
            </a:r>
            <a:r>
              <a:rPr lang="en-US" sz="13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interconnected</a:t>
            </a:r>
            <a:r>
              <a:rPr lang="en-US" sz="1300" i="1" spc="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spc="-60" dirty="0"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lang="en-US" sz="13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spc="-55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sz="1300" spc="-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spc="-45" dirty="0">
                <a:latin typeface="Arial" panose="020B0604020202020204" pitchFamily="34" charset="0"/>
                <a:cs typeface="Arial" panose="020B0604020202020204" pitchFamily="34" charset="0"/>
              </a:rPr>
              <a:t>single</a:t>
            </a:r>
            <a:r>
              <a:rPr lang="en-US" sz="1300" spc="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spc="-40" dirty="0">
                <a:latin typeface="Arial" panose="020B0604020202020204" pitchFamily="34" charset="0"/>
                <a:cs typeface="Arial" panose="020B0604020202020204" pitchFamily="34" charset="0"/>
              </a:rPr>
              <a:t>technology</a:t>
            </a:r>
            <a:r>
              <a:rPr lang="en-US" sz="1300" spc="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spc="-25" dirty="0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en-US" sz="1300" spc="1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300" spc="-50" dirty="0">
                <a:latin typeface="Arial" panose="020B0604020202020204" pitchFamily="34" charset="0"/>
                <a:cs typeface="Arial" panose="020B0604020202020204" pitchFamily="34" charset="0"/>
              </a:rPr>
              <a:t>networking </a:t>
            </a:r>
            <a:r>
              <a:rPr lang="en-US" sz="1300" spc="-40" dirty="0">
                <a:latin typeface="Arial" panose="020B0604020202020204" pitchFamily="34" charset="0"/>
                <a:cs typeface="Arial" panose="020B0604020202020204" pitchFamily="34" charset="0"/>
              </a:rPr>
              <a:t>device(s).</a:t>
            </a:r>
            <a:r>
              <a:rPr lang="en-US" sz="1300" spc="13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45720" marR="204470" algn="just">
              <a:lnSpc>
                <a:spcPct val="102600"/>
              </a:lnSpc>
              <a:spcBef>
                <a:spcPts val="220"/>
              </a:spcBef>
            </a:pPr>
            <a:r>
              <a:rPr lang="en-US" sz="1300" b="1" spc="135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Distributed System: </a:t>
            </a:r>
            <a:r>
              <a:rPr lang="en-US" sz="1300" spc="135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collection of </a:t>
            </a:r>
            <a:r>
              <a:rPr lang="en-US" sz="1300" spc="-50" dirty="0">
                <a:latin typeface="Arial" panose="020B0604020202020204" pitchFamily="34" charset="0"/>
                <a:cs typeface="Arial" panose="020B0604020202020204" pitchFamily="34" charset="0"/>
              </a:rPr>
              <a:t>autonomous ,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independent computers appears to its users as a </a:t>
            </a:r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single coherent system. 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Usually, it  has a </a:t>
            </a:r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single model 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or paradigm that it presents to the users.  Often a layer of </a:t>
            </a:r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on top of the operating system,  called </a:t>
            </a:r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middleware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, is responsible for implementing this model.</a:t>
            </a:r>
            <a:r>
              <a:rPr lang="en-US" sz="1300" spc="-45" dirty="0">
                <a:latin typeface="Tahoma"/>
                <a:cs typeface="Tahoma"/>
              </a:rPr>
              <a:t> </a:t>
            </a:r>
          </a:p>
          <a:p>
            <a:pPr marL="391500" marR="204470" lvl="3" algn="just">
              <a:lnSpc>
                <a:spcPct val="102600"/>
              </a:lnSpc>
              <a:spcBef>
                <a:spcPts val="220"/>
              </a:spcBef>
            </a:pPr>
            <a:r>
              <a:rPr lang="en-US" sz="1100" spc="-45" dirty="0">
                <a:latin typeface="Tahoma"/>
                <a:cs typeface="Tahoma"/>
              </a:rPr>
              <a:t>Example:</a:t>
            </a:r>
            <a:r>
              <a:rPr lang="en-US" sz="1100" spc="130" dirty="0">
                <a:latin typeface="Tahoma"/>
                <a:cs typeface="Tahoma"/>
              </a:rPr>
              <a:t> </a:t>
            </a:r>
            <a:r>
              <a:rPr lang="en-US" sz="1100" spc="-30" dirty="0">
                <a:latin typeface="Tahoma"/>
                <a:cs typeface="Tahoma"/>
              </a:rPr>
              <a:t>World</a:t>
            </a:r>
            <a:r>
              <a:rPr lang="en-US" sz="1100" spc="10" dirty="0">
                <a:latin typeface="Tahoma"/>
                <a:cs typeface="Tahoma"/>
              </a:rPr>
              <a:t> </a:t>
            </a:r>
            <a:r>
              <a:rPr lang="en-US" sz="1100" spc="-25" dirty="0">
                <a:latin typeface="Tahoma"/>
                <a:cs typeface="Tahoma"/>
              </a:rPr>
              <a:t>Wide</a:t>
            </a:r>
            <a:r>
              <a:rPr lang="en-US" sz="1100" spc="15" dirty="0">
                <a:latin typeface="Tahoma"/>
                <a:cs typeface="Tahoma"/>
              </a:rPr>
              <a:t> </a:t>
            </a:r>
            <a:r>
              <a:rPr lang="en-US" sz="1100" spc="-50" dirty="0">
                <a:latin typeface="Tahoma"/>
                <a:cs typeface="Tahoma"/>
              </a:rPr>
              <a:t>Web</a:t>
            </a:r>
            <a:r>
              <a:rPr lang="en-US" sz="1100" spc="15" dirty="0">
                <a:latin typeface="Tahoma"/>
                <a:cs typeface="Tahoma"/>
              </a:rPr>
              <a:t> </a:t>
            </a:r>
            <a:r>
              <a:rPr lang="en-US" sz="1100" spc="20" dirty="0">
                <a:latin typeface="Tahoma"/>
                <a:cs typeface="Tahoma"/>
              </a:rPr>
              <a:t>(WWW)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" marR="204470" algn="just">
              <a:lnSpc>
                <a:spcPct val="102600"/>
              </a:lnSpc>
              <a:spcBef>
                <a:spcPts val="220"/>
              </a:spcBef>
            </a:pPr>
            <a:r>
              <a:rPr lang="en-US" sz="1300" dirty="0">
                <a:solidFill>
                  <a:srgbClr val="7030A0"/>
                </a:solidFill>
              </a:rPr>
              <a:t>In a computer network, this coherence, model, and software are absent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247650" y="992428"/>
            <a:ext cx="4226801" cy="205954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45720" marR="204470" algn="just">
              <a:lnSpc>
                <a:spcPct val="102600"/>
              </a:lnSpc>
              <a:spcBef>
                <a:spcPts val="220"/>
              </a:spcBef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301020" y="3341243"/>
            <a:ext cx="27749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spc="-20" dirty="0">
                <a:solidFill>
                  <a:srgbClr val="7F7F7F"/>
                </a:solidFill>
                <a:latin typeface="Microsoft Sans Serif"/>
                <a:cs typeface="Microsoft Sans Serif"/>
              </a:rPr>
              <a:t>5</a:t>
            </a:fld>
            <a:r>
              <a:rPr sz="600" spc="-5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150" dirty="0">
                <a:solidFill>
                  <a:srgbClr val="7F7F7F"/>
                </a:solidFill>
                <a:latin typeface="Microsoft Sans Serif"/>
                <a:cs typeface="Microsoft Sans Serif"/>
              </a:rPr>
              <a:t>/</a:t>
            </a:r>
            <a:r>
              <a:rPr sz="600" spc="-5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-20" dirty="0">
                <a:solidFill>
                  <a:srgbClr val="7F7F7F"/>
                </a:solidFill>
                <a:latin typeface="Microsoft Sans Serif"/>
                <a:cs typeface="Microsoft Sans Serif"/>
              </a:rPr>
              <a:t>35</a:t>
            </a:r>
            <a:endParaRPr sz="60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349093159"/>
      </p:ext>
    </p:extLst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2967063" y="326604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44865" y="326604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1485087" y="867871"/>
            <a:ext cx="2175130" cy="2445385"/>
            <a:chOff x="1485087" y="867871"/>
            <a:chExt cx="1960880" cy="2445385"/>
          </a:xfrm>
        </p:grpSpPr>
        <p:sp>
          <p:nvSpPr>
            <p:cNvPr id="8" name="object 8"/>
            <p:cNvSpPr/>
            <p:nvPr/>
          </p:nvSpPr>
          <p:spPr>
            <a:xfrm>
              <a:off x="3305694" y="3259695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2" y="0"/>
                  </a:lnTo>
                  <a:lnTo>
                    <a:pt x="63832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242526" y="3266046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5087" y="867871"/>
              <a:ext cx="1920161" cy="2350762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0" y="0"/>
            <a:ext cx="4608195" cy="569595"/>
            <a:chOff x="0" y="0"/>
            <a:chExt cx="4608195" cy="569595"/>
          </a:xfrm>
        </p:grpSpPr>
        <p:sp>
          <p:nvSpPr>
            <p:cNvPr id="25" name="object 25"/>
            <p:cNvSpPr/>
            <p:nvPr/>
          </p:nvSpPr>
          <p:spPr>
            <a:xfrm>
              <a:off x="569366" y="0"/>
              <a:ext cx="4039235" cy="569595"/>
            </a:xfrm>
            <a:custGeom>
              <a:avLst/>
              <a:gdLst/>
              <a:ahLst/>
              <a:cxnLst/>
              <a:rect l="l" t="t" r="r" b="b"/>
              <a:pathLst>
                <a:path w="4039235" h="569595">
                  <a:moveTo>
                    <a:pt x="0" y="569366"/>
                  </a:moveTo>
                  <a:lnTo>
                    <a:pt x="4038638" y="569366"/>
                  </a:lnTo>
                  <a:lnTo>
                    <a:pt x="4038638" y="0"/>
                  </a:lnTo>
                  <a:lnTo>
                    <a:pt x="0" y="0"/>
                  </a:lnTo>
                  <a:lnTo>
                    <a:pt x="0" y="569366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0" y="0"/>
              <a:ext cx="569595" cy="569595"/>
            </a:xfrm>
            <a:custGeom>
              <a:avLst/>
              <a:gdLst/>
              <a:ahLst/>
              <a:cxnLst/>
              <a:rect l="l" t="t" r="r" b="b"/>
              <a:pathLst>
                <a:path w="569595" h="569595">
                  <a:moveTo>
                    <a:pt x="569366" y="0"/>
                  </a:moveTo>
                  <a:lnTo>
                    <a:pt x="0" y="0"/>
                  </a:lnTo>
                  <a:lnTo>
                    <a:pt x="0" y="569366"/>
                  </a:lnTo>
                  <a:lnTo>
                    <a:pt x="569366" y="569366"/>
                  </a:lnTo>
                  <a:lnTo>
                    <a:pt x="56936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xfrm>
            <a:off x="664667" y="172155"/>
            <a:ext cx="3469183" cy="2190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What</a:t>
            </a:r>
            <a:r>
              <a:rPr spc="5" dirty="0"/>
              <a:t> </a:t>
            </a:r>
            <a:r>
              <a:rPr spc="-50" dirty="0"/>
              <a:t>is</a:t>
            </a:r>
            <a:r>
              <a:rPr spc="10" dirty="0"/>
              <a:t> </a:t>
            </a:r>
            <a:r>
              <a:rPr spc="-45" dirty="0"/>
              <a:t>Internet?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4301020" y="3341243"/>
            <a:ext cx="27749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75"/>
              </a:lnSpc>
            </a:pPr>
            <a:fld id="{81D60167-4931-47E6-BA6A-407CBD079E47}" type="slidenum">
              <a:rPr sz="600" spc="-20" dirty="0">
                <a:solidFill>
                  <a:srgbClr val="7F7F7F"/>
                </a:solidFill>
                <a:latin typeface="Microsoft Sans Serif"/>
                <a:cs typeface="Microsoft Sans Serif"/>
              </a:rPr>
              <a:t>6</a:t>
            </a:fld>
            <a:r>
              <a:rPr sz="600" spc="-5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150" dirty="0">
                <a:solidFill>
                  <a:srgbClr val="7F7F7F"/>
                </a:solidFill>
                <a:latin typeface="Microsoft Sans Serif"/>
                <a:cs typeface="Microsoft Sans Serif"/>
              </a:rPr>
              <a:t>/</a:t>
            </a:r>
            <a:r>
              <a:rPr sz="600" spc="-5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-20" dirty="0">
                <a:solidFill>
                  <a:srgbClr val="7F7F7F"/>
                </a:solidFill>
                <a:latin typeface="Microsoft Sans Serif"/>
                <a:cs typeface="Microsoft Sans Serif"/>
              </a:rPr>
              <a:t>35</a:t>
            </a:r>
            <a:endParaRPr sz="600">
              <a:latin typeface="Microsoft Sans Serif"/>
              <a:cs typeface="Microsoft Sans Serif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36663" y="624826"/>
            <a:ext cx="13614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65" dirty="0">
                <a:latin typeface="Tahoma"/>
                <a:cs typeface="Tahoma"/>
              </a:rPr>
              <a:t>A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network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networks.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object 27"/>
          <p:cNvGrpSpPr/>
          <p:nvPr/>
        </p:nvGrpSpPr>
        <p:grpSpPr>
          <a:xfrm>
            <a:off x="0" y="0"/>
            <a:ext cx="4608195" cy="569595"/>
            <a:chOff x="0" y="0"/>
            <a:chExt cx="4608195" cy="569595"/>
          </a:xfrm>
        </p:grpSpPr>
        <p:sp>
          <p:nvSpPr>
            <p:cNvPr id="28" name="object 28"/>
            <p:cNvSpPr/>
            <p:nvPr/>
          </p:nvSpPr>
          <p:spPr>
            <a:xfrm>
              <a:off x="569366" y="0"/>
              <a:ext cx="4039235" cy="569595"/>
            </a:xfrm>
            <a:custGeom>
              <a:avLst/>
              <a:gdLst/>
              <a:ahLst/>
              <a:cxnLst/>
              <a:rect l="l" t="t" r="r" b="b"/>
              <a:pathLst>
                <a:path w="4039235" h="569595">
                  <a:moveTo>
                    <a:pt x="0" y="569366"/>
                  </a:moveTo>
                  <a:lnTo>
                    <a:pt x="4038638" y="569366"/>
                  </a:lnTo>
                  <a:lnTo>
                    <a:pt x="4038638" y="0"/>
                  </a:lnTo>
                  <a:lnTo>
                    <a:pt x="0" y="0"/>
                  </a:lnTo>
                  <a:lnTo>
                    <a:pt x="0" y="569366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0" y="0"/>
              <a:ext cx="569595" cy="569595"/>
            </a:xfrm>
            <a:custGeom>
              <a:avLst/>
              <a:gdLst/>
              <a:ahLst/>
              <a:cxnLst/>
              <a:rect l="l" t="t" r="r" b="b"/>
              <a:pathLst>
                <a:path w="569595" h="569595">
                  <a:moveTo>
                    <a:pt x="569366" y="0"/>
                  </a:moveTo>
                  <a:lnTo>
                    <a:pt x="0" y="0"/>
                  </a:lnTo>
                  <a:lnTo>
                    <a:pt x="0" y="569366"/>
                  </a:lnTo>
                  <a:lnTo>
                    <a:pt x="569366" y="569366"/>
                  </a:lnTo>
                  <a:lnTo>
                    <a:pt x="56936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xfrm>
            <a:off x="664667" y="163829"/>
            <a:ext cx="3531223" cy="2190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pc="-40" dirty="0"/>
              <a:t>1.1 </a:t>
            </a:r>
            <a:r>
              <a:rPr spc="-40" dirty="0"/>
              <a:t>Uses</a:t>
            </a:r>
            <a:r>
              <a:rPr spc="20" dirty="0"/>
              <a:t> </a:t>
            </a:r>
            <a:r>
              <a:rPr spc="-70" dirty="0"/>
              <a:t>of</a:t>
            </a:r>
            <a:r>
              <a:rPr spc="20" dirty="0"/>
              <a:t> </a:t>
            </a:r>
            <a:r>
              <a:rPr spc="-55" dirty="0"/>
              <a:t>Computer</a:t>
            </a:r>
            <a:r>
              <a:rPr spc="25" dirty="0"/>
              <a:t> </a:t>
            </a:r>
            <a:r>
              <a:rPr spc="-65" dirty="0"/>
              <a:t>Network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569366" y="1118964"/>
            <a:ext cx="3412084" cy="10852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223520" indent="-228600">
              <a:lnSpc>
                <a:spcPct val="125299"/>
              </a:lnSpc>
              <a:spcBef>
                <a:spcPts val="100"/>
              </a:spcBef>
              <a:buAutoNum type="arabicPeriod"/>
            </a:pPr>
            <a:r>
              <a:rPr lang="en-US" sz="1100" spc="-50" dirty="0">
                <a:latin typeface="Tahoma"/>
                <a:cs typeface="Tahoma"/>
              </a:rPr>
              <a:t>Business Application: </a:t>
            </a:r>
            <a:r>
              <a:rPr sz="1100" spc="-50" dirty="0">
                <a:latin typeface="Tahoma"/>
                <a:cs typeface="Tahoma"/>
              </a:rPr>
              <a:t>Resource</a:t>
            </a:r>
            <a:r>
              <a:rPr lang="en-US" sz="1100" spc="-50" dirty="0">
                <a:latin typeface="Tahoma"/>
                <a:cs typeface="Tahoma"/>
              </a:rPr>
              <a:t> S</a:t>
            </a:r>
            <a:r>
              <a:rPr sz="1100" spc="-55" dirty="0">
                <a:latin typeface="Tahoma"/>
                <a:cs typeface="Tahoma"/>
              </a:rPr>
              <a:t>h</a:t>
            </a:r>
            <a:r>
              <a:rPr sz="1100" spc="-85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ring</a:t>
            </a:r>
            <a:r>
              <a:rPr lang="en-US" sz="1100" spc="-30" dirty="0">
                <a:latin typeface="Tahoma"/>
                <a:cs typeface="Tahoma"/>
              </a:rPr>
              <a:t> ,</a:t>
            </a:r>
            <a:r>
              <a:rPr lang="en-US" sz="1100" spc="-10" dirty="0">
                <a:latin typeface="Tahoma"/>
                <a:cs typeface="Tahoma"/>
              </a:rPr>
              <a:t> VoIP</a:t>
            </a:r>
            <a:r>
              <a:rPr lang="en-US" sz="1100" spc="-5" dirty="0">
                <a:latin typeface="Tahoma"/>
                <a:cs typeface="Tahoma"/>
              </a:rPr>
              <a:t> </a:t>
            </a:r>
            <a:r>
              <a:rPr lang="en-US" sz="1100" spc="-20" dirty="0">
                <a:latin typeface="Tahoma"/>
                <a:cs typeface="Tahoma"/>
              </a:rPr>
              <a:t>(Voice</a:t>
            </a:r>
            <a:r>
              <a:rPr lang="en-US" sz="1100" spc="-10" dirty="0">
                <a:latin typeface="Tahoma"/>
                <a:cs typeface="Tahoma"/>
              </a:rPr>
              <a:t> </a:t>
            </a:r>
            <a:r>
              <a:rPr lang="en-US" sz="1100" spc="-55" dirty="0">
                <a:latin typeface="Tahoma"/>
                <a:cs typeface="Tahoma"/>
              </a:rPr>
              <a:t>over</a:t>
            </a:r>
            <a:r>
              <a:rPr lang="en-US" sz="1100" spc="-5" dirty="0">
                <a:latin typeface="Tahoma"/>
                <a:cs typeface="Tahoma"/>
              </a:rPr>
              <a:t> </a:t>
            </a:r>
            <a:r>
              <a:rPr lang="en-US" sz="1100" spc="-10" dirty="0">
                <a:latin typeface="Tahoma"/>
                <a:cs typeface="Tahoma"/>
              </a:rPr>
              <a:t>IP) </a:t>
            </a:r>
            <a:r>
              <a:rPr lang="en-US" sz="1100" spc="-330" dirty="0">
                <a:latin typeface="Tahoma"/>
                <a:cs typeface="Tahoma"/>
              </a:rPr>
              <a:t> </a:t>
            </a:r>
            <a:r>
              <a:rPr lang="en-US" sz="1100" spc="35" dirty="0">
                <a:latin typeface="Tahoma"/>
                <a:cs typeface="Tahoma"/>
              </a:rPr>
              <a:t>IPTV </a:t>
            </a:r>
            <a:r>
              <a:rPr sz="1100" spc="-30" dirty="0">
                <a:latin typeface="Tahoma"/>
                <a:cs typeface="Tahoma"/>
              </a:rPr>
              <a:t>  </a:t>
            </a:r>
            <a:endParaRPr lang="en-US" sz="1100" spc="-30" dirty="0">
              <a:latin typeface="Tahoma"/>
              <a:cs typeface="Tahoma"/>
            </a:endParaRPr>
          </a:p>
          <a:p>
            <a:pPr marL="241300" marR="223520" indent="-228600">
              <a:lnSpc>
                <a:spcPct val="125299"/>
              </a:lnSpc>
              <a:spcBef>
                <a:spcPts val="100"/>
              </a:spcBef>
              <a:buAutoNum type="arabicPeriod"/>
            </a:pPr>
            <a:r>
              <a:rPr lang="en-US" sz="1100" spc="-30" dirty="0">
                <a:latin typeface="Tahoma"/>
                <a:cs typeface="Tahoma"/>
              </a:rPr>
              <a:t>Home Applications: Peer to Peer Communication</a:t>
            </a:r>
          </a:p>
          <a:p>
            <a:pPr marL="241300" marR="223520" indent="-228600">
              <a:lnSpc>
                <a:spcPct val="125299"/>
              </a:lnSpc>
              <a:spcBef>
                <a:spcPts val="100"/>
              </a:spcBef>
              <a:buAutoNum type="arabicPeriod"/>
            </a:pPr>
            <a:r>
              <a:rPr lang="en-US" sz="1100" spc="-30" dirty="0">
                <a:latin typeface="Tahoma"/>
                <a:cs typeface="Tahoma"/>
              </a:rPr>
              <a:t>Mobile Users: </a:t>
            </a:r>
          </a:p>
          <a:p>
            <a:pPr marL="241300" marR="223520" indent="-228600">
              <a:lnSpc>
                <a:spcPct val="125299"/>
              </a:lnSpc>
              <a:spcBef>
                <a:spcPts val="100"/>
              </a:spcBef>
              <a:buAutoNum type="arabicPeriod"/>
            </a:pPr>
            <a:r>
              <a:rPr lang="en-US" sz="1100" spc="-15" dirty="0">
                <a:latin typeface="Tahoma"/>
                <a:cs typeface="Tahoma"/>
              </a:rPr>
              <a:t>Social Issues: </a:t>
            </a:r>
            <a:r>
              <a:rPr sz="1100" spc="-15" dirty="0">
                <a:latin typeface="Tahoma"/>
                <a:cs typeface="Tahoma"/>
              </a:rPr>
              <a:t>Email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service</a:t>
            </a:r>
            <a:r>
              <a:rPr lang="en-US" sz="1100" spc="-50" dirty="0">
                <a:latin typeface="Tahoma"/>
                <a:cs typeface="Tahoma"/>
              </a:rPr>
              <a:t>, Social networking</a:t>
            </a:r>
            <a:endParaRPr sz="11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2967063" y="326604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44865" y="326604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0" y="0"/>
            <a:ext cx="4608195" cy="569595"/>
            <a:chOff x="0" y="0"/>
            <a:chExt cx="4608195" cy="569595"/>
          </a:xfrm>
        </p:grpSpPr>
        <p:sp>
          <p:nvSpPr>
            <p:cNvPr id="23" name="object 23"/>
            <p:cNvSpPr/>
            <p:nvPr/>
          </p:nvSpPr>
          <p:spPr>
            <a:xfrm>
              <a:off x="569366" y="0"/>
              <a:ext cx="4039235" cy="569595"/>
            </a:xfrm>
            <a:custGeom>
              <a:avLst/>
              <a:gdLst/>
              <a:ahLst/>
              <a:cxnLst/>
              <a:rect l="l" t="t" r="r" b="b"/>
              <a:pathLst>
                <a:path w="4039235" h="569595">
                  <a:moveTo>
                    <a:pt x="0" y="569366"/>
                  </a:moveTo>
                  <a:lnTo>
                    <a:pt x="4038638" y="569366"/>
                  </a:lnTo>
                  <a:lnTo>
                    <a:pt x="4038638" y="0"/>
                  </a:lnTo>
                  <a:lnTo>
                    <a:pt x="0" y="0"/>
                  </a:lnTo>
                  <a:lnTo>
                    <a:pt x="0" y="569366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0" y="0"/>
              <a:ext cx="569595" cy="569595"/>
            </a:xfrm>
            <a:custGeom>
              <a:avLst/>
              <a:gdLst/>
              <a:ahLst/>
              <a:cxnLst/>
              <a:rect l="l" t="t" r="r" b="b"/>
              <a:pathLst>
                <a:path w="569595" h="569595">
                  <a:moveTo>
                    <a:pt x="569366" y="0"/>
                  </a:moveTo>
                  <a:lnTo>
                    <a:pt x="0" y="0"/>
                  </a:lnTo>
                  <a:lnTo>
                    <a:pt x="0" y="569366"/>
                  </a:lnTo>
                  <a:lnTo>
                    <a:pt x="569366" y="569366"/>
                  </a:lnTo>
                  <a:lnTo>
                    <a:pt x="56936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664667" y="172155"/>
            <a:ext cx="3621583" cy="2190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Fundamental</a:t>
            </a:r>
            <a:r>
              <a:rPr spc="40" dirty="0"/>
              <a:t> </a:t>
            </a:r>
            <a:r>
              <a:rPr spc="-70" dirty="0"/>
              <a:t>of</a:t>
            </a:r>
            <a:r>
              <a:rPr spc="40" dirty="0"/>
              <a:t> </a:t>
            </a:r>
            <a:r>
              <a:rPr spc="-60" dirty="0"/>
              <a:t>communication</a:t>
            </a:r>
          </a:p>
        </p:txBody>
      </p:sp>
      <p:pic>
        <p:nvPicPr>
          <p:cNvPr id="26" name="object 2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36" y="789977"/>
            <a:ext cx="3646556" cy="2116253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2967063" y="326604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44865" y="326604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0" y="0"/>
            <a:ext cx="4608195" cy="569595"/>
            <a:chOff x="0" y="0"/>
            <a:chExt cx="4608195" cy="569595"/>
          </a:xfrm>
        </p:grpSpPr>
        <p:sp>
          <p:nvSpPr>
            <p:cNvPr id="23" name="object 23"/>
            <p:cNvSpPr/>
            <p:nvPr/>
          </p:nvSpPr>
          <p:spPr>
            <a:xfrm>
              <a:off x="569366" y="0"/>
              <a:ext cx="4039235" cy="569595"/>
            </a:xfrm>
            <a:custGeom>
              <a:avLst/>
              <a:gdLst/>
              <a:ahLst/>
              <a:cxnLst/>
              <a:rect l="l" t="t" r="r" b="b"/>
              <a:pathLst>
                <a:path w="4039235" h="569595">
                  <a:moveTo>
                    <a:pt x="0" y="569366"/>
                  </a:moveTo>
                  <a:lnTo>
                    <a:pt x="4038638" y="569366"/>
                  </a:lnTo>
                  <a:lnTo>
                    <a:pt x="4038638" y="0"/>
                  </a:lnTo>
                  <a:lnTo>
                    <a:pt x="0" y="0"/>
                  </a:lnTo>
                  <a:lnTo>
                    <a:pt x="0" y="569366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0" y="0"/>
              <a:ext cx="569595" cy="569595"/>
            </a:xfrm>
            <a:custGeom>
              <a:avLst/>
              <a:gdLst/>
              <a:ahLst/>
              <a:cxnLst/>
              <a:rect l="l" t="t" r="r" b="b"/>
              <a:pathLst>
                <a:path w="569595" h="569595">
                  <a:moveTo>
                    <a:pt x="569366" y="0"/>
                  </a:moveTo>
                  <a:lnTo>
                    <a:pt x="0" y="0"/>
                  </a:lnTo>
                  <a:lnTo>
                    <a:pt x="0" y="569366"/>
                  </a:lnTo>
                  <a:lnTo>
                    <a:pt x="569366" y="569366"/>
                  </a:lnTo>
                  <a:lnTo>
                    <a:pt x="56936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664667" y="172155"/>
            <a:ext cx="3621583" cy="2190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Fundamental</a:t>
            </a:r>
            <a:r>
              <a:rPr spc="40" dirty="0"/>
              <a:t> </a:t>
            </a:r>
            <a:r>
              <a:rPr spc="-70" dirty="0"/>
              <a:t>of</a:t>
            </a:r>
            <a:r>
              <a:rPr spc="40" dirty="0"/>
              <a:t> </a:t>
            </a:r>
            <a:r>
              <a:rPr spc="-60" dirty="0"/>
              <a:t>communication</a:t>
            </a:r>
          </a:p>
        </p:txBody>
      </p:sp>
      <p:pic>
        <p:nvPicPr>
          <p:cNvPr id="10" name="object 26">
            <a:extLst>
              <a:ext uri="{FF2B5EF4-FFF2-40B4-BE49-F238E27FC236}">
                <a16:creationId xmlns:a16="http://schemas.microsoft.com/office/drawing/2014/main" id="{A46BAD99-87CE-4781-A8D5-284C0405293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050" y="968375"/>
            <a:ext cx="388620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295003"/>
      </p:ext>
    </p:extLst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2967063" y="326604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44865" y="326604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0" y="0"/>
            <a:ext cx="4608195" cy="569595"/>
            <a:chOff x="0" y="0"/>
            <a:chExt cx="4608195" cy="569595"/>
          </a:xfrm>
        </p:grpSpPr>
        <p:sp>
          <p:nvSpPr>
            <p:cNvPr id="23" name="object 23"/>
            <p:cNvSpPr/>
            <p:nvPr/>
          </p:nvSpPr>
          <p:spPr>
            <a:xfrm>
              <a:off x="569366" y="0"/>
              <a:ext cx="4039235" cy="569595"/>
            </a:xfrm>
            <a:custGeom>
              <a:avLst/>
              <a:gdLst/>
              <a:ahLst/>
              <a:cxnLst/>
              <a:rect l="l" t="t" r="r" b="b"/>
              <a:pathLst>
                <a:path w="4039235" h="569595">
                  <a:moveTo>
                    <a:pt x="0" y="569366"/>
                  </a:moveTo>
                  <a:lnTo>
                    <a:pt x="4038638" y="569366"/>
                  </a:lnTo>
                  <a:lnTo>
                    <a:pt x="4038638" y="0"/>
                  </a:lnTo>
                  <a:lnTo>
                    <a:pt x="0" y="0"/>
                  </a:lnTo>
                  <a:lnTo>
                    <a:pt x="0" y="569366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0" y="0"/>
              <a:ext cx="569595" cy="569595"/>
            </a:xfrm>
            <a:custGeom>
              <a:avLst/>
              <a:gdLst/>
              <a:ahLst/>
              <a:cxnLst/>
              <a:rect l="l" t="t" r="r" b="b"/>
              <a:pathLst>
                <a:path w="569595" h="569595">
                  <a:moveTo>
                    <a:pt x="569366" y="0"/>
                  </a:moveTo>
                  <a:lnTo>
                    <a:pt x="0" y="0"/>
                  </a:lnTo>
                  <a:lnTo>
                    <a:pt x="0" y="569366"/>
                  </a:lnTo>
                  <a:lnTo>
                    <a:pt x="569366" y="569366"/>
                  </a:lnTo>
                  <a:lnTo>
                    <a:pt x="56936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664667" y="172155"/>
            <a:ext cx="3621583" cy="2190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Fundamental</a:t>
            </a:r>
            <a:r>
              <a:rPr spc="40" dirty="0"/>
              <a:t> </a:t>
            </a:r>
            <a:r>
              <a:rPr spc="-70" dirty="0"/>
              <a:t>of</a:t>
            </a:r>
            <a:r>
              <a:rPr spc="40" dirty="0"/>
              <a:t> </a:t>
            </a:r>
            <a:r>
              <a:rPr spc="-60" dirty="0"/>
              <a:t>communication</a:t>
            </a:r>
          </a:p>
        </p:txBody>
      </p:sp>
      <p:pic>
        <p:nvPicPr>
          <p:cNvPr id="11" name="object 26">
            <a:extLst>
              <a:ext uri="{FF2B5EF4-FFF2-40B4-BE49-F238E27FC236}">
                <a16:creationId xmlns:a16="http://schemas.microsoft.com/office/drawing/2014/main" id="{2B5C14B1-8F5E-43E7-95E9-F44F60C0E94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4667" y="821949"/>
            <a:ext cx="3509341" cy="1816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070351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/>
          <p:nvPr/>
        </p:nvSpPr>
        <p:spPr>
          <a:xfrm>
            <a:off x="3046680" y="3270008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67063" y="326604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144865" y="326604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3242526" y="3257165"/>
            <a:ext cx="203200" cy="55880"/>
            <a:chOff x="3242526" y="3257165"/>
            <a:chExt cx="203200" cy="55880"/>
          </a:xfrm>
        </p:grpSpPr>
        <p:sp>
          <p:nvSpPr>
            <p:cNvPr id="12" name="object 12"/>
            <p:cNvSpPr/>
            <p:nvPr/>
          </p:nvSpPr>
          <p:spPr>
            <a:xfrm>
              <a:off x="3305694" y="3259695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2" y="0"/>
                  </a:lnTo>
                  <a:lnTo>
                    <a:pt x="63832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42526" y="326604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3517976" y="3255900"/>
            <a:ext cx="203200" cy="58419"/>
            <a:chOff x="3517976" y="3255900"/>
            <a:chExt cx="203200" cy="58419"/>
          </a:xfrm>
        </p:grpSpPr>
        <p:sp>
          <p:nvSpPr>
            <p:cNvPr id="15" name="object 15"/>
            <p:cNvSpPr/>
            <p:nvPr/>
          </p:nvSpPr>
          <p:spPr>
            <a:xfrm>
              <a:off x="3606877" y="3272396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517976" y="3266046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594177" y="3259695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0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0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3793439" y="3255900"/>
            <a:ext cx="203200" cy="58419"/>
            <a:chOff x="3793439" y="3255900"/>
            <a:chExt cx="203200" cy="58419"/>
          </a:xfrm>
        </p:grpSpPr>
        <p:sp>
          <p:nvSpPr>
            <p:cNvPr id="19" name="object 19"/>
            <p:cNvSpPr/>
            <p:nvPr/>
          </p:nvSpPr>
          <p:spPr>
            <a:xfrm>
              <a:off x="3869640" y="3259695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0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0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793439" y="3266046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869640" y="3297796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699"/>
                  </a:moveTo>
                  <a:lnTo>
                    <a:pt x="50800" y="12699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/>
          <p:nvPr/>
        </p:nvSpPr>
        <p:spPr>
          <a:xfrm>
            <a:off x="4145090" y="3259695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4326582" y="3257165"/>
            <a:ext cx="238760" cy="57150"/>
            <a:chOff x="4326582" y="3257165"/>
            <a:chExt cx="238760" cy="57150"/>
          </a:xfrm>
        </p:grpSpPr>
        <p:sp>
          <p:nvSpPr>
            <p:cNvPr id="24" name="object 24"/>
            <p:cNvSpPr/>
            <p:nvPr/>
          </p:nvSpPr>
          <p:spPr>
            <a:xfrm>
              <a:off x="4451033" y="329017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0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23969" y="32636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329112" y="3259695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79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79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0" y="0"/>
            <a:ext cx="4608195" cy="569595"/>
            <a:chOff x="0" y="0"/>
            <a:chExt cx="4608195" cy="569595"/>
          </a:xfrm>
        </p:grpSpPr>
        <p:sp>
          <p:nvSpPr>
            <p:cNvPr id="28" name="object 28"/>
            <p:cNvSpPr/>
            <p:nvPr/>
          </p:nvSpPr>
          <p:spPr>
            <a:xfrm>
              <a:off x="569366" y="0"/>
              <a:ext cx="4039235" cy="569595"/>
            </a:xfrm>
            <a:custGeom>
              <a:avLst/>
              <a:gdLst/>
              <a:ahLst/>
              <a:cxnLst/>
              <a:rect l="l" t="t" r="r" b="b"/>
              <a:pathLst>
                <a:path w="4039235" h="569595">
                  <a:moveTo>
                    <a:pt x="0" y="569366"/>
                  </a:moveTo>
                  <a:lnTo>
                    <a:pt x="4038638" y="569366"/>
                  </a:lnTo>
                  <a:lnTo>
                    <a:pt x="4038638" y="0"/>
                  </a:lnTo>
                  <a:lnTo>
                    <a:pt x="0" y="0"/>
                  </a:lnTo>
                  <a:lnTo>
                    <a:pt x="0" y="569366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0" y="0"/>
              <a:ext cx="569595" cy="569595"/>
            </a:xfrm>
            <a:custGeom>
              <a:avLst/>
              <a:gdLst/>
              <a:ahLst/>
              <a:cxnLst/>
              <a:rect l="l" t="t" r="r" b="b"/>
              <a:pathLst>
                <a:path w="569595" h="569595">
                  <a:moveTo>
                    <a:pt x="569366" y="0"/>
                  </a:moveTo>
                  <a:lnTo>
                    <a:pt x="0" y="0"/>
                  </a:lnTo>
                  <a:lnTo>
                    <a:pt x="0" y="569366"/>
                  </a:lnTo>
                  <a:lnTo>
                    <a:pt x="569366" y="569366"/>
                  </a:lnTo>
                  <a:lnTo>
                    <a:pt x="56936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xfrm>
            <a:off x="664666" y="172155"/>
            <a:ext cx="3376067" cy="2190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Classification</a:t>
            </a:r>
            <a:r>
              <a:rPr spc="25" dirty="0"/>
              <a:t> </a:t>
            </a:r>
            <a:r>
              <a:rPr spc="-70" dirty="0"/>
              <a:t>of</a:t>
            </a:r>
            <a:r>
              <a:rPr spc="30" dirty="0"/>
              <a:t> </a:t>
            </a:r>
            <a:r>
              <a:rPr spc="-65" dirty="0"/>
              <a:t>Network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360809" y="885426"/>
            <a:ext cx="3901987" cy="168892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algn="just">
              <a:lnSpc>
                <a:spcPct val="102600"/>
              </a:lnSpc>
              <a:spcBef>
                <a:spcPts val="55"/>
              </a:spcBef>
            </a:pPr>
            <a:r>
              <a:rPr lang="en-US" sz="1400" b="1" spc="-20" dirty="0">
                <a:latin typeface="Tahoma"/>
                <a:cs typeface="Tahoma"/>
              </a:rPr>
              <a:t>1.2 NETWORK HARDWARE:</a:t>
            </a:r>
          </a:p>
          <a:p>
            <a:pPr marL="12700" marR="5080" algn="just">
              <a:lnSpc>
                <a:spcPct val="102600"/>
              </a:lnSpc>
              <a:spcBef>
                <a:spcPts val="55"/>
              </a:spcBef>
            </a:pPr>
            <a:endParaRPr lang="en-US" sz="1400" spc="-20" dirty="0">
              <a:latin typeface="Tahoma"/>
              <a:cs typeface="Tahoma"/>
            </a:endParaRPr>
          </a:p>
          <a:p>
            <a:pPr marL="12700" marR="5080" algn="just">
              <a:lnSpc>
                <a:spcPct val="102600"/>
              </a:lnSpc>
              <a:spcBef>
                <a:spcPts val="55"/>
              </a:spcBef>
            </a:pPr>
            <a:r>
              <a:rPr sz="1400" spc="-20" dirty="0">
                <a:latin typeface="Tahoma"/>
                <a:cs typeface="Tahoma"/>
              </a:rPr>
              <a:t>Broadly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45" dirty="0">
                <a:latin typeface="Tahoma"/>
                <a:cs typeface="Tahoma"/>
              </a:rPr>
              <a:t>speaking,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50" dirty="0">
                <a:latin typeface="Tahoma"/>
                <a:cs typeface="Tahoma"/>
              </a:rPr>
              <a:t>there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70" dirty="0">
                <a:latin typeface="Tahoma"/>
                <a:cs typeface="Tahoma"/>
              </a:rPr>
              <a:t>are</a:t>
            </a:r>
            <a:r>
              <a:rPr sz="1400" spc="20" dirty="0">
                <a:latin typeface="Tahoma"/>
                <a:cs typeface="Tahoma"/>
              </a:rPr>
              <a:t> </a:t>
            </a:r>
            <a:r>
              <a:rPr sz="1400" spc="-55" dirty="0">
                <a:latin typeface="Tahoma"/>
                <a:cs typeface="Tahoma"/>
              </a:rPr>
              <a:t>two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spc="-50" dirty="0">
                <a:latin typeface="Tahoma"/>
                <a:cs typeface="Tahoma"/>
              </a:rPr>
              <a:t>types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35" dirty="0">
                <a:latin typeface="Tahoma"/>
                <a:cs typeface="Tahoma"/>
              </a:rPr>
              <a:t>of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b="1" spc="-40" dirty="0">
                <a:latin typeface="Tahoma"/>
                <a:cs typeface="Tahoma"/>
              </a:rPr>
              <a:t>transmission </a:t>
            </a:r>
            <a:r>
              <a:rPr sz="1400" b="1" spc="-325" dirty="0">
                <a:latin typeface="Tahoma"/>
                <a:cs typeface="Tahoma"/>
              </a:rPr>
              <a:t> </a:t>
            </a:r>
            <a:r>
              <a:rPr sz="1400" b="1" spc="-40" dirty="0">
                <a:latin typeface="Tahoma"/>
                <a:cs typeface="Tahoma"/>
              </a:rPr>
              <a:t>technology</a:t>
            </a:r>
            <a:r>
              <a:rPr sz="1400" b="1" spc="10" dirty="0">
                <a:latin typeface="Tahoma"/>
                <a:cs typeface="Tahoma"/>
              </a:rPr>
              <a:t> </a:t>
            </a:r>
            <a:r>
              <a:rPr sz="1400" spc="-15" dirty="0">
                <a:latin typeface="Tahoma"/>
                <a:cs typeface="Tahoma"/>
              </a:rPr>
              <a:t>that</a:t>
            </a:r>
            <a:r>
              <a:rPr sz="1400" spc="20" dirty="0">
                <a:latin typeface="Tahoma"/>
                <a:cs typeface="Tahoma"/>
              </a:rPr>
              <a:t> </a:t>
            </a:r>
            <a:r>
              <a:rPr sz="1400" spc="-70" dirty="0">
                <a:latin typeface="Tahoma"/>
                <a:cs typeface="Tahoma"/>
              </a:rPr>
              <a:t>are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in</a:t>
            </a:r>
            <a:r>
              <a:rPr sz="1400" spc="20" dirty="0">
                <a:latin typeface="Tahoma"/>
                <a:cs typeface="Tahoma"/>
              </a:rPr>
              <a:t> </a:t>
            </a:r>
            <a:r>
              <a:rPr sz="1400" spc="-60" dirty="0">
                <a:latin typeface="Tahoma"/>
                <a:cs typeface="Tahoma"/>
              </a:rPr>
              <a:t>widespread</a:t>
            </a:r>
            <a:r>
              <a:rPr sz="1400" spc="20" dirty="0">
                <a:latin typeface="Tahoma"/>
                <a:cs typeface="Tahoma"/>
              </a:rPr>
              <a:t> </a:t>
            </a:r>
            <a:r>
              <a:rPr sz="1400" spc="-65" dirty="0">
                <a:latin typeface="Tahoma"/>
                <a:cs typeface="Tahoma"/>
              </a:rPr>
              <a:t>use.</a:t>
            </a:r>
            <a:endParaRPr sz="1400" dirty="0">
              <a:latin typeface="Tahoma"/>
              <a:cs typeface="Tahoma"/>
            </a:endParaRPr>
          </a:p>
          <a:p>
            <a:pPr marL="289560" marR="662305">
              <a:lnSpc>
                <a:spcPct val="125299"/>
              </a:lnSpc>
              <a:spcBef>
                <a:spcPts val="300"/>
              </a:spcBef>
            </a:pPr>
            <a:r>
              <a:rPr lang="en-US" sz="1400" spc="-45" dirty="0">
                <a:latin typeface="Tahoma"/>
                <a:cs typeface="Tahoma"/>
              </a:rPr>
              <a:t>1. </a:t>
            </a:r>
            <a:r>
              <a:rPr sz="1400" spc="-45" dirty="0">
                <a:latin typeface="Tahoma"/>
                <a:cs typeface="Tahoma"/>
              </a:rPr>
              <a:t>broadcast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links</a:t>
            </a:r>
            <a:r>
              <a:rPr sz="1400" spc="20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(Broadcast</a:t>
            </a:r>
            <a:r>
              <a:rPr sz="1400" spc="20" dirty="0">
                <a:latin typeface="Tahoma"/>
                <a:cs typeface="Tahoma"/>
              </a:rPr>
              <a:t> </a:t>
            </a:r>
            <a:r>
              <a:rPr sz="1400" spc="-40" dirty="0">
                <a:latin typeface="Tahoma"/>
                <a:cs typeface="Tahoma"/>
              </a:rPr>
              <a:t>System) 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lang="en-US" sz="1400" spc="-35" dirty="0">
                <a:latin typeface="Tahoma"/>
                <a:cs typeface="Tahoma"/>
              </a:rPr>
              <a:t>2. </a:t>
            </a:r>
            <a:r>
              <a:rPr sz="1400" spc="-20" dirty="0">
                <a:latin typeface="Tahoma"/>
                <a:cs typeface="Tahoma"/>
              </a:rPr>
              <a:t>point-to-point</a:t>
            </a:r>
            <a:r>
              <a:rPr sz="1400" spc="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links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spc="-20" dirty="0">
                <a:latin typeface="Tahoma"/>
                <a:cs typeface="Tahoma"/>
              </a:rPr>
              <a:t>(Unicast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spc="-40" dirty="0">
                <a:latin typeface="Tahoma"/>
                <a:cs typeface="Tahoma"/>
              </a:rPr>
              <a:t>System)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286097" y="3323099"/>
            <a:ext cx="2540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0" dirty="0">
                <a:solidFill>
                  <a:srgbClr val="7F7F7F"/>
                </a:solidFill>
                <a:latin typeface="Microsoft Sans Serif"/>
                <a:cs typeface="Microsoft Sans Serif"/>
              </a:rPr>
              <a:t>25</a:t>
            </a:r>
            <a:r>
              <a:rPr sz="600" spc="-5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150" dirty="0">
                <a:solidFill>
                  <a:srgbClr val="7F7F7F"/>
                </a:solidFill>
                <a:latin typeface="Microsoft Sans Serif"/>
                <a:cs typeface="Microsoft Sans Serif"/>
              </a:rPr>
              <a:t>/</a:t>
            </a:r>
            <a:r>
              <a:rPr sz="600" spc="-55" dirty="0">
                <a:solidFill>
                  <a:srgbClr val="7F7F7F"/>
                </a:solidFill>
                <a:latin typeface="Microsoft Sans Serif"/>
                <a:cs typeface="Microsoft Sans Serif"/>
              </a:rPr>
              <a:t> </a:t>
            </a:r>
            <a:r>
              <a:rPr sz="600" spc="-20" dirty="0">
                <a:solidFill>
                  <a:srgbClr val="7F7F7F"/>
                </a:solidFill>
                <a:latin typeface="Microsoft Sans Serif"/>
                <a:cs typeface="Microsoft Sans Serif"/>
              </a:rPr>
              <a:t>35</a:t>
            </a:r>
            <a:endParaRPr sz="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2967063" y="326604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44865" y="326604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0" y="0"/>
            <a:ext cx="4608195" cy="569595"/>
            <a:chOff x="0" y="0"/>
            <a:chExt cx="4608195" cy="569595"/>
          </a:xfrm>
        </p:grpSpPr>
        <p:sp>
          <p:nvSpPr>
            <p:cNvPr id="23" name="object 23"/>
            <p:cNvSpPr/>
            <p:nvPr/>
          </p:nvSpPr>
          <p:spPr>
            <a:xfrm>
              <a:off x="569366" y="0"/>
              <a:ext cx="4039235" cy="569595"/>
            </a:xfrm>
            <a:custGeom>
              <a:avLst/>
              <a:gdLst/>
              <a:ahLst/>
              <a:cxnLst/>
              <a:rect l="l" t="t" r="r" b="b"/>
              <a:pathLst>
                <a:path w="4039235" h="569595">
                  <a:moveTo>
                    <a:pt x="0" y="569366"/>
                  </a:moveTo>
                  <a:lnTo>
                    <a:pt x="4038638" y="569366"/>
                  </a:lnTo>
                  <a:lnTo>
                    <a:pt x="4038638" y="0"/>
                  </a:lnTo>
                  <a:lnTo>
                    <a:pt x="0" y="0"/>
                  </a:lnTo>
                  <a:lnTo>
                    <a:pt x="0" y="569366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0" y="0"/>
              <a:ext cx="569595" cy="569595"/>
            </a:xfrm>
            <a:custGeom>
              <a:avLst/>
              <a:gdLst/>
              <a:ahLst/>
              <a:cxnLst/>
              <a:rect l="l" t="t" r="r" b="b"/>
              <a:pathLst>
                <a:path w="569595" h="569595">
                  <a:moveTo>
                    <a:pt x="569366" y="0"/>
                  </a:moveTo>
                  <a:lnTo>
                    <a:pt x="0" y="0"/>
                  </a:lnTo>
                  <a:lnTo>
                    <a:pt x="0" y="569366"/>
                  </a:lnTo>
                  <a:lnTo>
                    <a:pt x="569366" y="569366"/>
                  </a:lnTo>
                  <a:lnTo>
                    <a:pt x="56936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664666" y="172155"/>
            <a:ext cx="3469183" cy="2190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Classification</a:t>
            </a:r>
            <a:r>
              <a:rPr spc="25" dirty="0"/>
              <a:t> </a:t>
            </a:r>
            <a:r>
              <a:rPr spc="-70" dirty="0"/>
              <a:t>of</a:t>
            </a:r>
            <a:r>
              <a:rPr spc="30" dirty="0"/>
              <a:t> </a:t>
            </a:r>
            <a:r>
              <a:rPr spc="-65" dirty="0"/>
              <a:t>Network</a:t>
            </a:r>
          </a:p>
        </p:txBody>
      </p:sp>
      <p:pic>
        <p:nvPicPr>
          <p:cNvPr id="26" name="object 26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9366" y="841375"/>
            <a:ext cx="3343201" cy="218440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2967063" y="326604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44865" y="326604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0" y="0"/>
            <a:ext cx="4608195" cy="569595"/>
            <a:chOff x="0" y="0"/>
            <a:chExt cx="4608195" cy="569595"/>
          </a:xfrm>
        </p:grpSpPr>
        <p:sp>
          <p:nvSpPr>
            <p:cNvPr id="23" name="object 23"/>
            <p:cNvSpPr/>
            <p:nvPr/>
          </p:nvSpPr>
          <p:spPr>
            <a:xfrm>
              <a:off x="569366" y="0"/>
              <a:ext cx="4039235" cy="569595"/>
            </a:xfrm>
            <a:custGeom>
              <a:avLst/>
              <a:gdLst/>
              <a:ahLst/>
              <a:cxnLst/>
              <a:rect l="l" t="t" r="r" b="b"/>
              <a:pathLst>
                <a:path w="4039235" h="569595">
                  <a:moveTo>
                    <a:pt x="0" y="569366"/>
                  </a:moveTo>
                  <a:lnTo>
                    <a:pt x="4038638" y="569366"/>
                  </a:lnTo>
                  <a:lnTo>
                    <a:pt x="4038638" y="0"/>
                  </a:lnTo>
                  <a:lnTo>
                    <a:pt x="0" y="0"/>
                  </a:lnTo>
                  <a:lnTo>
                    <a:pt x="0" y="569366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0" y="0"/>
              <a:ext cx="569595" cy="569595"/>
            </a:xfrm>
            <a:custGeom>
              <a:avLst/>
              <a:gdLst/>
              <a:ahLst/>
              <a:cxnLst/>
              <a:rect l="l" t="t" r="r" b="b"/>
              <a:pathLst>
                <a:path w="569595" h="569595">
                  <a:moveTo>
                    <a:pt x="569366" y="0"/>
                  </a:moveTo>
                  <a:lnTo>
                    <a:pt x="0" y="0"/>
                  </a:lnTo>
                  <a:lnTo>
                    <a:pt x="0" y="569366"/>
                  </a:lnTo>
                  <a:lnTo>
                    <a:pt x="569366" y="569366"/>
                  </a:lnTo>
                  <a:lnTo>
                    <a:pt x="56936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664666" y="172155"/>
            <a:ext cx="3469183" cy="2190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Classification</a:t>
            </a:r>
            <a:r>
              <a:rPr spc="25" dirty="0"/>
              <a:t> </a:t>
            </a:r>
            <a:r>
              <a:rPr spc="-70" dirty="0"/>
              <a:t>of</a:t>
            </a:r>
            <a:r>
              <a:rPr spc="30" dirty="0"/>
              <a:t> </a:t>
            </a:r>
            <a:r>
              <a:rPr spc="-65" dirty="0"/>
              <a:t>Network</a:t>
            </a:r>
          </a:p>
        </p:txBody>
      </p:sp>
      <p:pic>
        <p:nvPicPr>
          <p:cNvPr id="9" name="object 26">
            <a:extLst>
              <a:ext uri="{FF2B5EF4-FFF2-40B4-BE49-F238E27FC236}">
                <a16:creationId xmlns:a16="http://schemas.microsoft.com/office/drawing/2014/main" id="{A2DD5253-2C99-45E0-9E4A-15C54CC4DB27}"/>
              </a:ext>
            </a:extLst>
          </p:cNvPr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3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1550" y="712268"/>
            <a:ext cx="2667000" cy="2424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893016"/>
      </p:ext>
    </p:extLst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2967063" y="326604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44865" y="326604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0" y="0"/>
            <a:ext cx="4608195" cy="569595"/>
            <a:chOff x="0" y="0"/>
            <a:chExt cx="4608195" cy="569595"/>
          </a:xfrm>
        </p:grpSpPr>
        <p:sp>
          <p:nvSpPr>
            <p:cNvPr id="23" name="object 23"/>
            <p:cNvSpPr/>
            <p:nvPr/>
          </p:nvSpPr>
          <p:spPr>
            <a:xfrm>
              <a:off x="569366" y="0"/>
              <a:ext cx="4039235" cy="569595"/>
            </a:xfrm>
            <a:custGeom>
              <a:avLst/>
              <a:gdLst/>
              <a:ahLst/>
              <a:cxnLst/>
              <a:rect l="l" t="t" r="r" b="b"/>
              <a:pathLst>
                <a:path w="4039235" h="569595">
                  <a:moveTo>
                    <a:pt x="0" y="569366"/>
                  </a:moveTo>
                  <a:lnTo>
                    <a:pt x="4038638" y="569366"/>
                  </a:lnTo>
                  <a:lnTo>
                    <a:pt x="4038638" y="0"/>
                  </a:lnTo>
                  <a:lnTo>
                    <a:pt x="0" y="0"/>
                  </a:lnTo>
                  <a:lnTo>
                    <a:pt x="0" y="569366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0" y="0"/>
              <a:ext cx="569595" cy="569595"/>
            </a:xfrm>
            <a:custGeom>
              <a:avLst/>
              <a:gdLst/>
              <a:ahLst/>
              <a:cxnLst/>
              <a:rect l="l" t="t" r="r" b="b"/>
              <a:pathLst>
                <a:path w="569595" h="569595">
                  <a:moveTo>
                    <a:pt x="569366" y="0"/>
                  </a:moveTo>
                  <a:lnTo>
                    <a:pt x="0" y="0"/>
                  </a:lnTo>
                  <a:lnTo>
                    <a:pt x="0" y="569366"/>
                  </a:lnTo>
                  <a:lnTo>
                    <a:pt x="569366" y="569366"/>
                  </a:lnTo>
                  <a:lnTo>
                    <a:pt x="56936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664666" y="172155"/>
            <a:ext cx="3469183" cy="2190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Classification</a:t>
            </a:r>
            <a:r>
              <a:rPr spc="25" dirty="0"/>
              <a:t> </a:t>
            </a:r>
            <a:r>
              <a:rPr spc="-70" dirty="0"/>
              <a:t>of</a:t>
            </a:r>
            <a:r>
              <a:rPr spc="30" dirty="0"/>
              <a:t> </a:t>
            </a:r>
            <a:r>
              <a:rPr spc="-65" dirty="0"/>
              <a:t>Network</a:t>
            </a:r>
          </a:p>
        </p:txBody>
      </p:sp>
      <p:pic>
        <p:nvPicPr>
          <p:cNvPr id="10" name="object 26">
            <a:extLst>
              <a:ext uri="{FF2B5EF4-FFF2-40B4-BE49-F238E27FC236}">
                <a16:creationId xmlns:a16="http://schemas.microsoft.com/office/drawing/2014/main" id="{8CA76015-3B30-4476-A8F2-C5009A1E3CE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4110" y="854076"/>
            <a:ext cx="3926315" cy="1896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012499"/>
      </p:ext>
    </p:extLst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2967063" y="326604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44865" y="326604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0" y="0"/>
            <a:ext cx="4608195" cy="569595"/>
            <a:chOff x="0" y="0"/>
            <a:chExt cx="4608195" cy="569595"/>
          </a:xfrm>
        </p:grpSpPr>
        <p:sp>
          <p:nvSpPr>
            <p:cNvPr id="23" name="object 23"/>
            <p:cNvSpPr/>
            <p:nvPr/>
          </p:nvSpPr>
          <p:spPr>
            <a:xfrm>
              <a:off x="569366" y="0"/>
              <a:ext cx="4039235" cy="569595"/>
            </a:xfrm>
            <a:custGeom>
              <a:avLst/>
              <a:gdLst/>
              <a:ahLst/>
              <a:cxnLst/>
              <a:rect l="l" t="t" r="r" b="b"/>
              <a:pathLst>
                <a:path w="4039235" h="569595">
                  <a:moveTo>
                    <a:pt x="0" y="569366"/>
                  </a:moveTo>
                  <a:lnTo>
                    <a:pt x="4038638" y="569366"/>
                  </a:lnTo>
                  <a:lnTo>
                    <a:pt x="4038638" y="0"/>
                  </a:lnTo>
                  <a:lnTo>
                    <a:pt x="0" y="0"/>
                  </a:lnTo>
                  <a:lnTo>
                    <a:pt x="0" y="569366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0" y="0"/>
              <a:ext cx="569595" cy="569595"/>
            </a:xfrm>
            <a:custGeom>
              <a:avLst/>
              <a:gdLst/>
              <a:ahLst/>
              <a:cxnLst/>
              <a:rect l="l" t="t" r="r" b="b"/>
              <a:pathLst>
                <a:path w="569595" h="569595">
                  <a:moveTo>
                    <a:pt x="569366" y="0"/>
                  </a:moveTo>
                  <a:lnTo>
                    <a:pt x="0" y="0"/>
                  </a:lnTo>
                  <a:lnTo>
                    <a:pt x="0" y="569366"/>
                  </a:lnTo>
                  <a:lnTo>
                    <a:pt x="569366" y="569366"/>
                  </a:lnTo>
                  <a:lnTo>
                    <a:pt x="56936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664666" y="172155"/>
            <a:ext cx="3469183" cy="2190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Classification</a:t>
            </a:r>
            <a:r>
              <a:rPr spc="25" dirty="0"/>
              <a:t> </a:t>
            </a:r>
            <a:r>
              <a:rPr spc="-70" dirty="0"/>
              <a:t>of</a:t>
            </a:r>
            <a:r>
              <a:rPr spc="30" dirty="0"/>
              <a:t> </a:t>
            </a:r>
            <a:r>
              <a:rPr spc="-65" dirty="0"/>
              <a:t>Network</a:t>
            </a:r>
          </a:p>
        </p:txBody>
      </p:sp>
      <p:pic>
        <p:nvPicPr>
          <p:cNvPr id="10" name="object 26">
            <a:extLst>
              <a:ext uri="{FF2B5EF4-FFF2-40B4-BE49-F238E27FC236}">
                <a16:creationId xmlns:a16="http://schemas.microsoft.com/office/drawing/2014/main" id="{8CA76015-3B30-4476-A8F2-C5009A1E3CE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4110" y="854076"/>
            <a:ext cx="3926315" cy="1896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050322"/>
      </p:ext>
    </p:extLst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2967063" y="326604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44865" y="326604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0" y="0"/>
            <a:ext cx="4608195" cy="569595"/>
            <a:chOff x="0" y="0"/>
            <a:chExt cx="4608195" cy="569595"/>
          </a:xfrm>
        </p:grpSpPr>
        <p:sp>
          <p:nvSpPr>
            <p:cNvPr id="23" name="object 23"/>
            <p:cNvSpPr/>
            <p:nvPr/>
          </p:nvSpPr>
          <p:spPr>
            <a:xfrm>
              <a:off x="569366" y="0"/>
              <a:ext cx="4039235" cy="569595"/>
            </a:xfrm>
            <a:custGeom>
              <a:avLst/>
              <a:gdLst/>
              <a:ahLst/>
              <a:cxnLst/>
              <a:rect l="l" t="t" r="r" b="b"/>
              <a:pathLst>
                <a:path w="4039235" h="569595">
                  <a:moveTo>
                    <a:pt x="0" y="569366"/>
                  </a:moveTo>
                  <a:lnTo>
                    <a:pt x="4038638" y="569366"/>
                  </a:lnTo>
                  <a:lnTo>
                    <a:pt x="4038638" y="0"/>
                  </a:lnTo>
                  <a:lnTo>
                    <a:pt x="0" y="0"/>
                  </a:lnTo>
                  <a:lnTo>
                    <a:pt x="0" y="569366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0" y="0"/>
              <a:ext cx="569595" cy="569595"/>
            </a:xfrm>
            <a:custGeom>
              <a:avLst/>
              <a:gdLst/>
              <a:ahLst/>
              <a:cxnLst/>
              <a:rect l="l" t="t" r="r" b="b"/>
              <a:pathLst>
                <a:path w="569595" h="569595">
                  <a:moveTo>
                    <a:pt x="569366" y="0"/>
                  </a:moveTo>
                  <a:lnTo>
                    <a:pt x="0" y="0"/>
                  </a:lnTo>
                  <a:lnTo>
                    <a:pt x="0" y="569366"/>
                  </a:lnTo>
                  <a:lnTo>
                    <a:pt x="569366" y="569366"/>
                  </a:lnTo>
                  <a:lnTo>
                    <a:pt x="56936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664666" y="172155"/>
            <a:ext cx="3469183" cy="2190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Classification</a:t>
            </a:r>
            <a:r>
              <a:rPr spc="25" dirty="0"/>
              <a:t> </a:t>
            </a:r>
            <a:r>
              <a:rPr spc="-70" dirty="0"/>
              <a:t>of</a:t>
            </a:r>
            <a:r>
              <a:rPr spc="30" dirty="0"/>
              <a:t> </a:t>
            </a:r>
            <a:r>
              <a:rPr spc="-65" dirty="0"/>
              <a:t>Network</a:t>
            </a:r>
          </a:p>
        </p:txBody>
      </p:sp>
      <p:pic>
        <p:nvPicPr>
          <p:cNvPr id="10" name="object 26">
            <a:extLst>
              <a:ext uri="{FF2B5EF4-FFF2-40B4-BE49-F238E27FC236}">
                <a16:creationId xmlns:a16="http://schemas.microsoft.com/office/drawing/2014/main" id="{8CA76015-3B30-4476-A8F2-C5009A1E3CE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4110" y="854076"/>
            <a:ext cx="3926315" cy="1896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937974"/>
      </p:ext>
    </p:extLst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/>
          <p:nvPr/>
        </p:nvSpPr>
        <p:spPr>
          <a:xfrm>
            <a:off x="3046680" y="3270008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967063" y="326604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144865" y="326604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145090" y="3259695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7" name="object 27"/>
          <p:cNvGrpSpPr/>
          <p:nvPr/>
        </p:nvGrpSpPr>
        <p:grpSpPr>
          <a:xfrm>
            <a:off x="0" y="0"/>
            <a:ext cx="4608195" cy="569595"/>
            <a:chOff x="0" y="0"/>
            <a:chExt cx="4608195" cy="569595"/>
          </a:xfrm>
        </p:grpSpPr>
        <p:sp>
          <p:nvSpPr>
            <p:cNvPr id="28" name="object 28"/>
            <p:cNvSpPr/>
            <p:nvPr/>
          </p:nvSpPr>
          <p:spPr>
            <a:xfrm>
              <a:off x="569366" y="0"/>
              <a:ext cx="4039235" cy="569595"/>
            </a:xfrm>
            <a:custGeom>
              <a:avLst/>
              <a:gdLst/>
              <a:ahLst/>
              <a:cxnLst/>
              <a:rect l="l" t="t" r="r" b="b"/>
              <a:pathLst>
                <a:path w="4039235" h="569595">
                  <a:moveTo>
                    <a:pt x="0" y="569366"/>
                  </a:moveTo>
                  <a:lnTo>
                    <a:pt x="4038638" y="569366"/>
                  </a:lnTo>
                  <a:lnTo>
                    <a:pt x="4038638" y="0"/>
                  </a:lnTo>
                  <a:lnTo>
                    <a:pt x="0" y="0"/>
                  </a:lnTo>
                  <a:lnTo>
                    <a:pt x="0" y="569366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0" y="0"/>
              <a:ext cx="569595" cy="569595"/>
            </a:xfrm>
            <a:custGeom>
              <a:avLst/>
              <a:gdLst/>
              <a:ahLst/>
              <a:cxnLst/>
              <a:rect l="l" t="t" r="r" b="b"/>
              <a:pathLst>
                <a:path w="569595" h="569595">
                  <a:moveTo>
                    <a:pt x="569366" y="0"/>
                  </a:moveTo>
                  <a:lnTo>
                    <a:pt x="0" y="0"/>
                  </a:lnTo>
                  <a:lnTo>
                    <a:pt x="0" y="569366"/>
                  </a:lnTo>
                  <a:lnTo>
                    <a:pt x="569366" y="569366"/>
                  </a:lnTo>
                  <a:lnTo>
                    <a:pt x="56936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xfrm>
            <a:off x="664666" y="172155"/>
            <a:ext cx="3376067" cy="2190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Classification</a:t>
            </a:r>
            <a:r>
              <a:rPr spc="25" dirty="0"/>
              <a:t> </a:t>
            </a:r>
            <a:r>
              <a:rPr spc="-70" dirty="0"/>
              <a:t>of</a:t>
            </a:r>
            <a:r>
              <a:rPr spc="30" dirty="0"/>
              <a:t> </a:t>
            </a:r>
            <a:r>
              <a:rPr spc="-65" dirty="0"/>
              <a:t>Network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idx="1"/>
          </p:nvPr>
        </p:nvSpPr>
        <p:spPr>
          <a:xfrm>
            <a:off x="476250" y="813435"/>
            <a:ext cx="3719640" cy="1151790"/>
          </a:xfrm>
          <a:prstGeom prst="rect">
            <a:avLst/>
          </a:prstGeom>
          <a:solidFill>
            <a:srgbClr val="E9E9F2"/>
          </a:solidFill>
        </p:spPr>
        <p:txBody>
          <a:bodyPr vert="horz" wrap="square" lIns="0" tIns="27940" rIns="0" bIns="0" rtlCol="0">
            <a:spAutoFit/>
          </a:bodyPr>
          <a:lstStyle/>
          <a:p>
            <a:pPr marL="45720" marR="100965" algn="just">
              <a:lnSpc>
                <a:spcPct val="102600"/>
              </a:lnSpc>
              <a:spcBef>
                <a:spcPts val="220"/>
              </a:spcBef>
            </a:pPr>
            <a:r>
              <a:rPr sz="1400" spc="65" dirty="0"/>
              <a:t>A</a:t>
            </a:r>
            <a:r>
              <a:rPr sz="1400" spc="20" dirty="0"/>
              <a:t> </a:t>
            </a:r>
            <a:r>
              <a:rPr sz="1400" spc="-55" dirty="0"/>
              <a:t>campus</a:t>
            </a:r>
            <a:r>
              <a:rPr sz="1400" spc="25" dirty="0"/>
              <a:t> </a:t>
            </a:r>
            <a:r>
              <a:rPr sz="1400" spc="-55" dirty="0"/>
              <a:t>network,</a:t>
            </a:r>
            <a:r>
              <a:rPr sz="1400" spc="20" dirty="0"/>
              <a:t> </a:t>
            </a:r>
            <a:r>
              <a:rPr sz="1400" spc="-55" dirty="0"/>
              <a:t>campus</a:t>
            </a:r>
            <a:r>
              <a:rPr sz="1400" spc="25" dirty="0"/>
              <a:t> </a:t>
            </a:r>
            <a:r>
              <a:rPr sz="1400" spc="-65" dirty="0"/>
              <a:t>area</a:t>
            </a:r>
            <a:r>
              <a:rPr sz="1400" spc="20" dirty="0"/>
              <a:t> </a:t>
            </a:r>
            <a:r>
              <a:rPr sz="1400" spc="-55" dirty="0"/>
              <a:t>network,</a:t>
            </a:r>
            <a:r>
              <a:rPr sz="1400" spc="25" dirty="0"/>
              <a:t> </a:t>
            </a:r>
            <a:r>
              <a:rPr sz="1400" spc="-45" dirty="0"/>
              <a:t>corporate</a:t>
            </a:r>
            <a:r>
              <a:rPr sz="1400" spc="20" dirty="0"/>
              <a:t> </a:t>
            </a:r>
            <a:r>
              <a:rPr sz="1400" spc="-65" dirty="0"/>
              <a:t>area </a:t>
            </a:r>
            <a:r>
              <a:rPr sz="1400" spc="-60" dirty="0"/>
              <a:t> </a:t>
            </a:r>
            <a:r>
              <a:rPr sz="1400" spc="-55" dirty="0"/>
              <a:t>network</a:t>
            </a:r>
            <a:r>
              <a:rPr sz="1400" spc="20" dirty="0"/>
              <a:t> </a:t>
            </a:r>
            <a:r>
              <a:rPr sz="1400" spc="-60" dirty="0"/>
              <a:t>or</a:t>
            </a:r>
            <a:r>
              <a:rPr sz="1400" spc="20" dirty="0"/>
              <a:t> </a:t>
            </a:r>
            <a:r>
              <a:rPr sz="1400" spc="40" dirty="0"/>
              <a:t>CAN</a:t>
            </a:r>
            <a:r>
              <a:rPr sz="1400" spc="15" dirty="0"/>
              <a:t> </a:t>
            </a:r>
            <a:r>
              <a:rPr sz="1400" spc="-35" dirty="0"/>
              <a:t>is</a:t>
            </a:r>
            <a:r>
              <a:rPr sz="1400" spc="20" dirty="0"/>
              <a:t> </a:t>
            </a:r>
            <a:r>
              <a:rPr sz="1400" spc="-55" dirty="0"/>
              <a:t>a</a:t>
            </a:r>
            <a:r>
              <a:rPr sz="1400" spc="20" dirty="0"/>
              <a:t> </a:t>
            </a:r>
            <a:r>
              <a:rPr sz="1400" spc="-45" dirty="0"/>
              <a:t>computer</a:t>
            </a:r>
            <a:r>
              <a:rPr sz="1400" spc="20" dirty="0"/>
              <a:t> </a:t>
            </a:r>
            <a:r>
              <a:rPr sz="1400" spc="-55" dirty="0"/>
              <a:t>network</a:t>
            </a:r>
            <a:r>
              <a:rPr sz="1400" spc="20" dirty="0"/>
              <a:t> </a:t>
            </a:r>
            <a:r>
              <a:rPr sz="1400" spc="-65" dirty="0"/>
              <a:t>made</a:t>
            </a:r>
            <a:r>
              <a:rPr sz="1400" spc="20" dirty="0"/>
              <a:t> </a:t>
            </a:r>
            <a:r>
              <a:rPr sz="1400" spc="-50" dirty="0"/>
              <a:t>up</a:t>
            </a:r>
            <a:r>
              <a:rPr sz="1400" spc="20" dirty="0"/>
              <a:t> </a:t>
            </a:r>
            <a:r>
              <a:rPr sz="1400" spc="-35" dirty="0"/>
              <a:t>of</a:t>
            </a:r>
            <a:r>
              <a:rPr sz="1400" spc="15" dirty="0"/>
              <a:t> </a:t>
            </a:r>
            <a:r>
              <a:rPr sz="1400" spc="-55" dirty="0"/>
              <a:t>an </a:t>
            </a:r>
            <a:r>
              <a:rPr sz="1400" spc="-50" dirty="0"/>
              <a:t> </a:t>
            </a:r>
            <a:r>
              <a:rPr sz="1400" b="1" spc="-35" dirty="0"/>
              <a:t>interconnection</a:t>
            </a:r>
            <a:r>
              <a:rPr sz="1400" b="1" spc="25" dirty="0"/>
              <a:t> </a:t>
            </a:r>
            <a:r>
              <a:rPr sz="1400" b="1" spc="-35" dirty="0"/>
              <a:t>of</a:t>
            </a:r>
            <a:r>
              <a:rPr sz="1400" b="1" spc="25" dirty="0"/>
              <a:t> </a:t>
            </a:r>
            <a:r>
              <a:rPr sz="1400" b="1" spc="-20" dirty="0"/>
              <a:t>local</a:t>
            </a:r>
            <a:r>
              <a:rPr sz="1400" b="1" spc="25" dirty="0"/>
              <a:t> </a:t>
            </a:r>
            <a:r>
              <a:rPr sz="1400" b="1" spc="-65" dirty="0"/>
              <a:t>area</a:t>
            </a:r>
            <a:r>
              <a:rPr sz="1400" b="1" spc="25" dirty="0"/>
              <a:t> </a:t>
            </a:r>
            <a:r>
              <a:rPr sz="1400" b="1" spc="-60" dirty="0"/>
              <a:t>networks</a:t>
            </a:r>
            <a:r>
              <a:rPr sz="1400" b="1" spc="25" dirty="0"/>
              <a:t> </a:t>
            </a:r>
            <a:r>
              <a:rPr sz="1400" b="1" spc="10" dirty="0"/>
              <a:t>(LANs)</a:t>
            </a:r>
            <a:r>
              <a:rPr sz="1400" b="1" spc="30" dirty="0"/>
              <a:t> </a:t>
            </a:r>
            <a:r>
              <a:rPr sz="1400" spc="-25" dirty="0"/>
              <a:t>within</a:t>
            </a:r>
            <a:r>
              <a:rPr sz="1400" spc="20" dirty="0"/>
              <a:t> </a:t>
            </a:r>
            <a:r>
              <a:rPr sz="1400" spc="-55" dirty="0"/>
              <a:t>a</a:t>
            </a:r>
            <a:r>
              <a:rPr sz="1400" spc="25" dirty="0"/>
              <a:t> </a:t>
            </a:r>
            <a:r>
              <a:rPr sz="1400" spc="-25" dirty="0"/>
              <a:t>limited </a:t>
            </a:r>
            <a:r>
              <a:rPr sz="1400" spc="-330" dirty="0"/>
              <a:t> </a:t>
            </a:r>
            <a:r>
              <a:rPr sz="1400" spc="-45" dirty="0"/>
              <a:t>geographical</a:t>
            </a:r>
            <a:r>
              <a:rPr sz="1400" spc="10" dirty="0"/>
              <a:t> </a:t>
            </a:r>
            <a:r>
              <a:rPr sz="1400" spc="-55" dirty="0"/>
              <a:t>area.</a:t>
            </a:r>
            <a:r>
              <a:rPr sz="2400" spc="-82" baseline="27777" dirty="0">
                <a:latin typeface="Microsoft Sans Serif"/>
                <a:cs typeface="Microsoft Sans Serif"/>
              </a:rPr>
              <a:t>2</a:t>
            </a:r>
            <a:endParaRPr sz="2400" baseline="27777" dirty="0">
              <a:latin typeface="Microsoft Sans Serif"/>
              <a:cs typeface="Microsoft Sans Serif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76251" y="582296"/>
            <a:ext cx="3719640" cy="179536"/>
          </a:xfrm>
          <a:prstGeom prst="rect">
            <a:avLst/>
          </a:prstGeom>
          <a:solidFill>
            <a:srgbClr val="262685"/>
          </a:solidFill>
        </p:spPr>
        <p:txBody>
          <a:bodyPr vert="horz" wrap="square" lIns="0" tIns="1016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80"/>
              </a:spcBef>
            </a:pPr>
            <a:r>
              <a:rPr sz="1100" spc="-15" dirty="0">
                <a:solidFill>
                  <a:srgbClr val="FFFFFF"/>
                </a:solidFill>
                <a:latin typeface="Tahoma"/>
                <a:cs typeface="Tahoma"/>
              </a:rPr>
              <a:t>CAN(Campus</a:t>
            </a:r>
            <a:r>
              <a:rPr sz="11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solidFill>
                  <a:srgbClr val="FFFFFF"/>
                </a:solidFill>
                <a:latin typeface="Tahoma"/>
                <a:cs typeface="Tahoma"/>
              </a:rPr>
              <a:t>Area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FFFFFF"/>
                </a:solidFill>
                <a:latin typeface="Tahoma"/>
                <a:cs typeface="Tahoma"/>
              </a:rPr>
              <a:t>Network)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49363" y="3170542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2851315" y="3301644"/>
            <a:ext cx="35560" cy="0"/>
          </a:xfrm>
          <a:custGeom>
            <a:avLst/>
            <a:gdLst/>
            <a:ahLst/>
            <a:cxnLst/>
            <a:rect l="l" t="t" r="r" b="b"/>
            <a:pathLst>
              <a:path w="35560">
                <a:moveTo>
                  <a:pt x="0" y="0"/>
                </a:moveTo>
                <a:lnTo>
                  <a:pt x="35115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301428" y="2974072"/>
            <a:ext cx="4197490" cy="38408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600" dirty="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800" dirty="0">
              <a:latin typeface="Microsoft Sans Serif"/>
              <a:cs typeface="Microsoft Sans Serif"/>
            </a:endParaRPr>
          </a:p>
          <a:p>
            <a:pPr marL="900430">
              <a:lnSpc>
                <a:spcPct val="100000"/>
              </a:lnSpc>
            </a:pPr>
            <a:r>
              <a:rPr sz="900" spc="-44" baseline="37037" dirty="0">
                <a:latin typeface="Microsoft Sans Serif"/>
                <a:cs typeface="Microsoft Sans Serif"/>
              </a:rPr>
              <a:t>2</a:t>
            </a:r>
            <a:r>
              <a:rPr sz="900" spc="-30" dirty="0">
                <a:latin typeface="Trebuchet MS"/>
                <a:cs typeface="Trebuchet MS"/>
              </a:rPr>
              <a:t>https://en.wikipedia.org/wiki/Campus</a:t>
            </a:r>
            <a:r>
              <a:rPr sz="900" spc="70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network</a:t>
            </a:r>
            <a:endParaRPr sz="9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2967063" y="326604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44865" y="326604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0" y="0"/>
            <a:ext cx="4608195" cy="569595"/>
            <a:chOff x="0" y="0"/>
            <a:chExt cx="4608195" cy="569595"/>
          </a:xfrm>
        </p:grpSpPr>
        <p:sp>
          <p:nvSpPr>
            <p:cNvPr id="23" name="object 23"/>
            <p:cNvSpPr/>
            <p:nvPr/>
          </p:nvSpPr>
          <p:spPr>
            <a:xfrm>
              <a:off x="569366" y="0"/>
              <a:ext cx="4039235" cy="569595"/>
            </a:xfrm>
            <a:custGeom>
              <a:avLst/>
              <a:gdLst/>
              <a:ahLst/>
              <a:cxnLst/>
              <a:rect l="l" t="t" r="r" b="b"/>
              <a:pathLst>
                <a:path w="4039235" h="569595">
                  <a:moveTo>
                    <a:pt x="0" y="569366"/>
                  </a:moveTo>
                  <a:lnTo>
                    <a:pt x="4038638" y="569366"/>
                  </a:lnTo>
                  <a:lnTo>
                    <a:pt x="4038638" y="0"/>
                  </a:lnTo>
                  <a:lnTo>
                    <a:pt x="0" y="0"/>
                  </a:lnTo>
                  <a:lnTo>
                    <a:pt x="0" y="569366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0" y="0"/>
              <a:ext cx="569595" cy="569595"/>
            </a:xfrm>
            <a:custGeom>
              <a:avLst/>
              <a:gdLst/>
              <a:ahLst/>
              <a:cxnLst/>
              <a:rect l="l" t="t" r="r" b="b"/>
              <a:pathLst>
                <a:path w="569595" h="569595">
                  <a:moveTo>
                    <a:pt x="569366" y="0"/>
                  </a:moveTo>
                  <a:lnTo>
                    <a:pt x="0" y="0"/>
                  </a:lnTo>
                  <a:lnTo>
                    <a:pt x="0" y="569366"/>
                  </a:lnTo>
                  <a:lnTo>
                    <a:pt x="569366" y="569366"/>
                  </a:lnTo>
                  <a:lnTo>
                    <a:pt x="56936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664666" y="172155"/>
            <a:ext cx="3469183" cy="2190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Classification</a:t>
            </a:r>
            <a:r>
              <a:rPr spc="25" dirty="0"/>
              <a:t> </a:t>
            </a:r>
            <a:r>
              <a:rPr spc="-70" dirty="0"/>
              <a:t>of</a:t>
            </a:r>
            <a:r>
              <a:rPr spc="30" dirty="0"/>
              <a:t> </a:t>
            </a:r>
            <a:r>
              <a:rPr spc="-65" dirty="0"/>
              <a:t>Network</a:t>
            </a:r>
          </a:p>
        </p:txBody>
      </p:sp>
      <p:pic>
        <p:nvPicPr>
          <p:cNvPr id="9" name="object 26">
            <a:extLst>
              <a:ext uri="{FF2B5EF4-FFF2-40B4-BE49-F238E27FC236}">
                <a16:creationId xmlns:a16="http://schemas.microsoft.com/office/drawing/2014/main" id="{F6D316D6-613D-4275-8B7B-2CA9C51FEC2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5450" y="815976"/>
            <a:ext cx="3681489" cy="2070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567214"/>
      </p:ext>
    </p:extLst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2967063" y="326604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44865" y="326604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2" name="object 22"/>
          <p:cNvGrpSpPr/>
          <p:nvPr/>
        </p:nvGrpSpPr>
        <p:grpSpPr>
          <a:xfrm>
            <a:off x="0" y="0"/>
            <a:ext cx="4608195" cy="569595"/>
            <a:chOff x="0" y="0"/>
            <a:chExt cx="4608195" cy="569595"/>
          </a:xfrm>
        </p:grpSpPr>
        <p:sp>
          <p:nvSpPr>
            <p:cNvPr id="23" name="object 23"/>
            <p:cNvSpPr/>
            <p:nvPr/>
          </p:nvSpPr>
          <p:spPr>
            <a:xfrm>
              <a:off x="569366" y="0"/>
              <a:ext cx="4039235" cy="569595"/>
            </a:xfrm>
            <a:custGeom>
              <a:avLst/>
              <a:gdLst/>
              <a:ahLst/>
              <a:cxnLst/>
              <a:rect l="l" t="t" r="r" b="b"/>
              <a:pathLst>
                <a:path w="4039235" h="569595">
                  <a:moveTo>
                    <a:pt x="0" y="569366"/>
                  </a:moveTo>
                  <a:lnTo>
                    <a:pt x="4038638" y="569366"/>
                  </a:lnTo>
                  <a:lnTo>
                    <a:pt x="4038638" y="0"/>
                  </a:lnTo>
                  <a:lnTo>
                    <a:pt x="0" y="0"/>
                  </a:lnTo>
                  <a:lnTo>
                    <a:pt x="0" y="569366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0" y="0"/>
              <a:ext cx="569595" cy="569595"/>
            </a:xfrm>
            <a:custGeom>
              <a:avLst/>
              <a:gdLst/>
              <a:ahLst/>
              <a:cxnLst/>
              <a:rect l="l" t="t" r="r" b="b"/>
              <a:pathLst>
                <a:path w="569595" h="569595">
                  <a:moveTo>
                    <a:pt x="569366" y="0"/>
                  </a:moveTo>
                  <a:lnTo>
                    <a:pt x="0" y="0"/>
                  </a:lnTo>
                  <a:lnTo>
                    <a:pt x="0" y="569366"/>
                  </a:lnTo>
                  <a:lnTo>
                    <a:pt x="569366" y="569366"/>
                  </a:lnTo>
                  <a:lnTo>
                    <a:pt x="56936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664666" y="172155"/>
            <a:ext cx="3469183" cy="2190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Classification</a:t>
            </a:r>
            <a:r>
              <a:rPr spc="25" dirty="0"/>
              <a:t> </a:t>
            </a:r>
            <a:r>
              <a:rPr spc="-70" dirty="0"/>
              <a:t>of</a:t>
            </a:r>
            <a:r>
              <a:rPr spc="30" dirty="0"/>
              <a:t> </a:t>
            </a:r>
            <a:r>
              <a:rPr spc="-65" dirty="0"/>
              <a:t>Network</a:t>
            </a:r>
          </a:p>
        </p:txBody>
      </p:sp>
      <p:pic>
        <p:nvPicPr>
          <p:cNvPr id="10" name="object 26">
            <a:extLst>
              <a:ext uri="{FF2B5EF4-FFF2-40B4-BE49-F238E27FC236}">
                <a16:creationId xmlns:a16="http://schemas.microsoft.com/office/drawing/2014/main" id="{125F2233-7E50-49AA-9D44-B7D9DB5E048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050" y="741749"/>
            <a:ext cx="3810000" cy="2345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675594"/>
      </p:ext>
    </p:extLst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4067316C-C026-48B5-9F81-B959E7C81C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7250" y="206375"/>
            <a:ext cx="2993618" cy="599863"/>
          </a:xfrm>
          <a:noFill/>
        </p:spPr>
        <p:txBody>
          <a:bodyPr/>
          <a:lstStyle/>
          <a:p>
            <a:pPr eaLnBrk="1" hangingPunct="1"/>
            <a:r>
              <a:rPr lang="en-US" altLang="en-US" dirty="0"/>
              <a:t>Internetworking devices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188A3120-D7B5-46D2-A699-E5CAA79533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5758" y="1000443"/>
            <a:ext cx="3918585" cy="2074545"/>
          </a:xfrm>
          <a:noFill/>
        </p:spPr>
        <p:txBody>
          <a:bodyPr>
            <a:normAutofit/>
          </a:bodyPr>
          <a:lstStyle/>
          <a:p>
            <a:pPr eaLnBrk="1" hangingPunct="1"/>
            <a:r>
              <a:rPr lang="en-US" altLang="en-US" sz="1400" dirty="0"/>
              <a:t>Descending in increasing power and complexity</a:t>
            </a:r>
          </a:p>
          <a:p>
            <a:pPr lvl="1"/>
            <a:r>
              <a:rPr lang="en-US" altLang="en-US" sz="1299" dirty="0"/>
              <a:t>Hubs</a:t>
            </a:r>
          </a:p>
          <a:p>
            <a:pPr lvl="1"/>
            <a:r>
              <a:rPr lang="en-US" altLang="en-US" sz="1299" dirty="0"/>
              <a:t>Bridges</a:t>
            </a:r>
          </a:p>
          <a:p>
            <a:pPr lvl="1"/>
            <a:r>
              <a:rPr lang="en-US" altLang="en-US" sz="1299" dirty="0"/>
              <a:t>Switches</a:t>
            </a:r>
          </a:p>
          <a:p>
            <a:pPr lvl="1"/>
            <a:r>
              <a:rPr lang="en-US" altLang="en-US" sz="1299" dirty="0"/>
              <a:t>Routers</a:t>
            </a:r>
          </a:p>
          <a:p>
            <a:pPr lvl="1"/>
            <a:r>
              <a:rPr lang="en-US" altLang="en-US" sz="1299" dirty="0"/>
              <a:t>Gateways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650BFB92-EE5B-4894-9D12-EABBCDF17E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58398" y="53975"/>
            <a:ext cx="1850618" cy="304800"/>
          </a:xfrm>
          <a:noFill/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Hub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1FCA757-7BEE-4F92-AE18-E5109F63984B}"/>
              </a:ext>
            </a:extLst>
          </p:cNvPr>
          <p:cNvSpPr/>
          <p:nvPr/>
        </p:nvSpPr>
        <p:spPr>
          <a:xfrm>
            <a:off x="412007" y="455952"/>
            <a:ext cx="43434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200" dirty="0">
                <a:latin typeface="Times New Roman" panose="02020603050405020304" pitchFamily="18" charset="0"/>
              </a:rPr>
              <a:t> A hub interconnects two or more workstations into a </a:t>
            </a:r>
            <a:r>
              <a:rPr lang="en-US" altLang="en-US" sz="1200" b="1" dirty="0">
                <a:latin typeface="Times New Roman" panose="02020603050405020304" pitchFamily="18" charset="0"/>
              </a:rPr>
              <a:t>local area network</a:t>
            </a:r>
            <a:r>
              <a:rPr lang="en-US" altLang="en-US" sz="1200" dirty="0">
                <a:latin typeface="Times New Roman" panose="02020603050405020304" pitchFamily="18" charset="0"/>
              </a:rPr>
              <a:t>. A simple interconnecting device that requires no overhead to operate.</a:t>
            </a:r>
          </a:p>
          <a:p>
            <a:pPr>
              <a:spcBef>
                <a:spcPct val="50000"/>
              </a:spcBef>
            </a:pPr>
            <a:r>
              <a:rPr lang="en-US" altLang="en-US" sz="1200" dirty="0">
                <a:latin typeface="Times New Roman" panose="02020603050405020304" pitchFamily="18" charset="0"/>
              </a:rPr>
              <a:t>When a workstation transmits to a hub, the hub immediately resends the data frame out </a:t>
            </a:r>
            <a:r>
              <a:rPr lang="en-US" altLang="en-US" sz="1200" b="1" dirty="0">
                <a:latin typeface="Times New Roman" panose="02020603050405020304" pitchFamily="18" charset="0"/>
              </a:rPr>
              <a:t>all connecting links</a:t>
            </a:r>
            <a:r>
              <a:rPr lang="en-US" altLang="en-US" sz="1200" dirty="0">
                <a:latin typeface="Times New Roman" panose="02020603050405020304" pitchFamily="18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5B225C-1EDB-4C56-B424-6A3558FA4D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650" y="1563948"/>
            <a:ext cx="2209800" cy="16573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3">
            <a:extLst>
              <a:ext uri="{FF2B5EF4-FFF2-40B4-BE49-F238E27FC236}">
                <a16:creationId xmlns:a16="http://schemas.microsoft.com/office/drawing/2014/main" id="{006D0B08-F8BE-420B-BE00-6D897C419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870" y="587375"/>
            <a:ext cx="4187508" cy="1590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en-US" sz="2017" b="1">
              <a:solidFill>
                <a:srgbClr val="76027C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en-US" sz="2017" b="1">
              <a:solidFill>
                <a:srgbClr val="76027C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en-US" sz="2017" b="1">
              <a:solidFill>
                <a:srgbClr val="76027C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en-US" sz="1109" b="1">
              <a:latin typeface="Times New Roman" panose="02020603050405020304" pitchFamily="18" charset="0"/>
            </a:endParaRPr>
          </a:p>
        </p:txBody>
      </p:sp>
      <p:sp>
        <p:nvSpPr>
          <p:cNvPr id="24580" name="Text Box 4">
            <a:extLst>
              <a:ext uri="{FF2B5EF4-FFF2-40B4-BE49-F238E27FC236}">
                <a16:creationId xmlns:a16="http://schemas.microsoft.com/office/drawing/2014/main" id="{6DE024C9-D693-4D87-8EB3-FD83AA3EF5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50" y="511175"/>
            <a:ext cx="4110673" cy="2047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210" dirty="0">
                <a:latin typeface="Times New Roman" panose="02020603050405020304" pitchFamily="18" charset="0"/>
              </a:rPr>
              <a:t>A bridge can be used to connect two </a:t>
            </a:r>
            <a:r>
              <a:rPr lang="en-US" altLang="en-US" sz="1210" b="1" dirty="0">
                <a:latin typeface="Times New Roman" panose="02020603050405020304" pitchFamily="18" charset="0"/>
              </a:rPr>
              <a:t>similar</a:t>
            </a:r>
            <a:r>
              <a:rPr lang="en-US" altLang="en-US" sz="1210" dirty="0">
                <a:latin typeface="Times New Roman" panose="02020603050405020304" pitchFamily="18" charset="0"/>
              </a:rPr>
              <a:t> LANs, such as two CSMA/CD LANs.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210" dirty="0">
                <a:latin typeface="Times New Roman" panose="02020603050405020304" pitchFamily="18" charset="0"/>
              </a:rPr>
              <a:t>A bridge can also be used to connect two </a:t>
            </a:r>
            <a:r>
              <a:rPr lang="en-US" altLang="en-US" sz="1210" b="1" dirty="0">
                <a:latin typeface="Times New Roman" panose="02020603050405020304" pitchFamily="18" charset="0"/>
              </a:rPr>
              <a:t>closely similar </a:t>
            </a:r>
            <a:r>
              <a:rPr lang="en-US" altLang="en-US" sz="1210" dirty="0">
                <a:latin typeface="Times New Roman" panose="02020603050405020304" pitchFamily="18" charset="0"/>
              </a:rPr>
              <a:t>LANs, such as a CSMA/CD LAN and a token ring LAN.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210" dirty="0">
                <a:latin typeface="Times New Roman" panose="02020603050405020304" pitchFamily="18" charset="0"/>
              </a:rPr>
              <a:t>The bridge examines the destination address in a </a:t>
            </a:r>
            <a:r>
              <a:rPr lang="en-US" altLang="en-US" sz="1210" b="1" dirty="0">
                <a:latin typeface="Times New Roman" panose="02020603050405020304" pitchFamily="18" charset="0"/>
              </a:rPr>
              <a:t>frame</a:t>
            </a:r>
            <a:r>
              <a:rPr lang="en-US" altLang="en-US" sz="1210" dirty="0">
                <a:latin typeface="Times New Roman" panose="02020603050405020304" pitchFamily="18" charset="0"/>
              </a:rPr>
              <a:t> and either forwards this frame onto the next LAN or does not.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210" dirty="0">
                <a:latin typeface="Times New Roman" panose="02020603050405020304" pitchFamily="18" charset="0"/>
              </a:rPr>
              <a:t>The bridge examines the source address in a frame and places this address in a routing table, to be used for future routing decisions.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F78C1E5-F2B9-43EC-8C0A-3D440CA353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58398" y="53975"/>
            <a:ext cx="1332452" cy="304800"/>
          </a:xfrm>
          <a:noFill/>
        </p:spPr>
        <p:txBody>
          <a:bodyPr>
            <a:normAutofit fontScale="90000"/>
          </a:bodyPr>
          <a:lstStyle/>
          <a:p>
            <a:r>
              <a:rPr lang="en-US" altLang="en-US" dirty="0"/>
              <a:t>Bridges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>
            <a:extLst>
              <a:ext uri="{FF2B5EF4-FFF2-40B4-BE49-F238E27FC236}">
                <a16:creationId xmlns:a16="http://schemas.microsoft.com/office/drawing/2014/main" id="{9ACFCC60-34B7-42AC-8223-0A4E1808A4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505" y="769938"/>
            <a:ext cx="4187508" cy="1590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en-US" sz="2017" b="1">
              <a:solidFill>
                <a:srgbClr val="76027C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en-US" sz="2017" b="1">
              <a:solidFill>
                <a:srgbClr val="76027C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en-US" sz="2017" b="1">
              <a:solidFill>
                <a:srgbClr val="76027C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en-US" sz="1109" b="1">
              <a:latin typeface="Times New Roman" panose="02020603050405020304" pitchFamily="18" charset="0"/>
            </a:endParaRPr>
          </a:p>
        </p:txBody>
      </p:sp>
      <p:sp>
        <p:nvSpPr>
          <p:cNvPr id="25604" name="Text Box 4">
            <a:extLst>
              <a:ext uri="{FF2B5EF4-FFF2-40B4-BE49-F238E27FC236}">
                <a16:creationId xmlns:a16="http://schemas.microsoft.com/office/drawing/2014/main" id="{22D4FA59-2E87-43B8-8BB4-10B65B063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505" y="769937"/>
            <a:ext cx="4110673" cy="27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1210">
              <a:latin typeface="Times New Roman" panose="02020603050405020304" pitchFamily="18" charset="0"/>
            </a:endParaRPr>
          </a:p>
        </p:txBody>
      </p:sp>
      <p:pic>
        <p:nvPicPr>
          <p:cNvPr id="25605" name="Picture 5" descr="FIG8-01">
            <a:extLst>
              <a:ext uri="{FF2B5EF4-FFF2-40B4-BE49-F238E27FC236}">
                <a16:creationId xmlns:a16="http://schemas.microsoft.com/office/drawing/2014/main" id="{A353998D-092B-448C-BA56-509A035E1A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62" t="15492" b="16902"/>
          <a:stretch>
            <a:fillRect/>
          </a:stretch>
        </p:blipFill>
        <p:spPr bwMode="auto">
          <a:xfrm>
            <a:off x="345757" y="647482"/>
            <a:ext cx="4097867" cy="2350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9B43F0F9-CE6A-4349-BC3A-F3468E1967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1" y="100756"/>
            <a:ext cx="3789362" cy="422140"/>
          </a:xfrm>
          <a:noFill/>
        </p:spPr>
        <p:txBody>
          <a:bodyPr>
            <a:normAutofit fontScale="90000"/>
          </a:bodyPr>
          <a:lstStyle/>
          <a:p>
            <a:r>
              <a:rPr lang="en-US" altLang="en-US" sz="1400" b="1" dirty="0">
                <a:solidFill>
                  <a:srgbClr val="820288"/>
                </a:solidFill>
                <a:latin typeface="Times New Roman" panose="02020603050405020304" pitchFamily="18" charset="0"/>
              </a:rPr>
              <a:t>A bridge interconnecting two dissimilar LANs</a:t>
            </a:r>
            <a:r>
              <a:rPr lang="en-US" altLang="en-US" sz="1600" b="1" dirty="0">
                <a:solidFill>
                  <a:srgbClr val="A703AF"/>
                </a:solidFill>
                <a:latin typeface="Times New Roman" panose="02020603050405020304" pitchFamily="18" charset="0"/>
              </a:rPr>
              <a:t>	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3">
            <a:extLst>
              <a:ext uri="{FF2B5EF4-FFF2-40B4-BE49-F238E27FC236}">
                <a16:creationId xmlns:a16="http://schemas.microsoft.com/office/drawing/2014/main" id="{41BCE843-DE2B-4524-A601-46843AF22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505" y="769938"/>
            <a:ext cx="4187508" cy="1590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en-US" sz="2017" b="1">
              <a:solidFill>
                <a:srgbClr val="76027C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en-US" sz="2017" b="1">
              <a:solidFill>
                <a:srgbClr val="76027C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en-US" sz="2017" b="1">
              <a:solidFill>
                <a:srgbClr val="76027C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en-US" sz="1109" b="1">
              <a:latin typeface="Times New Roman" panose="02020603050405020304" pitchFamily="18" charset="0"/>
            </a:endParaRPr>
          </a:p>
        </p:txBody>
      </p:sp>
      <p:sp>
        <p:nvSpPr>
          <p:cNvPr id="26628" name="Text Box 4">
            <a:extLst>
              <a:ext uri="{FF2B5EF4-FFF2-40B4-BE49-F238E27FC236}">
                <a16:creationId xmlns:a16="http://schemas.microsoft.com/office/drawing/2014/main" id="{6A1CA64B-D583-4529-834B-61E5450002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505" y="769937"/>
            <a:ext cx="4110673" cy="27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1210">
              <a:latin typeface="Times New Roman" panose="02020603050405020304" pitchFamily="18" charset="0"/>
            </a:endParaRPr>
          </a:p>
        </p:txBody>
      </p:sp>
      <p:pic>
        <p:nvPicPr>
          <p:cNvPr id="26629" name="Picture 5" descr="FIG8-02">
            <a:extLst>
              <a:ext uri="{FF2B5EF4-FFF2-40B4-BE49-F238E27FC236}">
                <a16:creationId xmlns:a16="http://schemas.microsoft.com/office/drawing/2014/main" id="{14171335-A8AF-47C7-BEFC-C8DC6142AE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62" t="26761" b="26761"/>
          <a:stretch>
            <a:fillRect/>
          </a:stretch>
        </p:blipFill>
        <p:spPr bwMode="auto">
          <a:xfrm>
            <a:off x="268922" y="1115695"/>
            <a:ext cx="4187508" cy="1651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01885382-BE40-4096-95F7-3989821222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6250" y="174918"/>
            <a:ext cx="3789362" cy="595017"/>
          </a:xfrm>
          <a:noFill/>
        </p:spPr>
        <p:txBody>
          <a:bodyPr>
            <a:normAutofit fontScale="90000"/>
          </a:bodyPr>
          <a:lstStyle/>
          <a:p>
            <a:r>
              <a:rPr lang="en-US" altLang="en-US" sz="1400" b="1" dirty="0">
                <a:solidFill>
                  <a:srgbClr val="820288"/>
                </a:solidFill>
                <a:latin typeface="Times New Roman" panose="02020603050405020304" pitchFamily="18" charset="0"/>
              </a:rPr>
              <a:t>Bridge interconnecting two identical LANs</a:t>
            </a:r>
            <a:r>
              <a:rPr lang="en-US" altLang="en-US" sz="1600" b="1" dirty="0">
                <a:solidFill>
                  <a:srgbClr val="A703AF"/>
                </a:solidFill>
                <a:latin typeface="Times New Roman" panose="02020603050405020304" pitchFamily="18" charset="0"/>
              </a:rPr>
              <a:t>	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>
            <a:extLst>
              <a:ext uri="{FF2B5EF4-FFF2-40B4-BE49-F238E27FC236}">
                <a16:creationId xmlns:a16="http://schemas.microsoft.com/office/drawing/2014/main" id="{6EC61E00-913D-4CAE-83EF-072D2130B1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505" y="769938"/>
            <a:ext cx="4187508" cy="1590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en-US" sz="2017" b="1">
              <a:solidFill>
                <a:srgbClr val="76027C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en-US" sz="2017" b="1">
              <a:solidFill>
                <a:srgbClr val="76027C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en-US" sz="2017" b="1">
              <a:solidFill>
                <a:srgbClr val="76027C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en-US" sz="1109" b="1">
              <a:latin typeface="Times New Roman" panose="02020603050405020304" pitchFamily="18" charset="0"/>
            </a:endParaRPr>
          </a:p>
        </p:txBody>
      </p:sp>
      <p:sp>
        <p:nvSpPr>
          <p:cNvPr id="27652" name="Text Box 4">
            <a:extLst>
              <a:ext uri="{FF2B5EF4-FFF2-40B4-BE49-F238E27FC236}">
                <a16:creationId xmlns:a16="http://schemas.microsoft.com/office/drawing/2014/main" id="{68A646B1-4572-488E-BD1E-B26B015A07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087" y="577850"/>
            <a:ext cx="4110673" cy="269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210" dirty="0">
                <a:latin typeface="Times New Roman" panose="02020603050405020304" pitchFamily="18" charset="0"/>
              </a:rPr>
              <a:t>A switch is a combination of a hub and a bridge. 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210" dirty="0">
                <a:latin typeface="Times New Roman" panose="02020603050405020304" pitchFamily="18" charset="0"/>
              </a:rPr>
              <a:t>It can interconnect two or more workstations, but like a bridge, </a:t>
            </a:r>
            <a:r>
              <a:rPr lang="en-US" altLang="en-US" sz="1210" b="1" dirty="0">
                <a:latin typeface="Times New Roman" panose="02020603050405020304" pitchFamily="18" charset="0"/>
              </a:rPr>
              <a:t>it observes traffic flow and learns</a:t>
            </a:r>
            <a:r>
              <a:rPr lang="en-US" altLang="en-US" sz="1210" dirty="0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210" dirty="0">
                <a:latin typeface="Times New Roman" panose="02020603050405020304" pitchFamily="18" charset="0"/>
              </a:rPr>
              <a:t>When a frame arrives at a switch, the switch </a:t>
            </a:r>
            <a:r>
              <a:rPr lang="en-US" altLang="en-US" sz="1210" b="1" dirty="0">
                <a:latin typeface="Times New Roman" panose="02020603050405020304" pitchFamily="18" charset="0"/>
              </a:rPr>
              <a:t>examines the destination address</a:t>
            </a:r>
            <a:r>
              <a:rPr lang="en-US" altLang="en-US" sz="1210" dirty="0">
                <a:latin typeface="Times New Roman" panose="02020603050405020304" pitchFamily="18" charset="0"/>
              </a:rPr>
              <a:t> and forwards the frame out the one necessary connection.</a:t>
            </a:r>
          </a:p>
          <a:p>
            <a:pPr lvl="1" eaLnBrk="1" hangingPunct="1">
              <a:buFontTx/>
              <a:buChar char="•"/>
            </a:pPr>
            <a:r>
              <a:rPr lang="en-US" altLang="en-US" sz="1210" dirty="0">
                <a:latin typeface="Times New Roman" panose="02020603050405020304" pitchFamily="18" charset="0"/>
              </a:rPr>
              <a:t>Workstations that connect to a hub are on a </a:t>
            </a:r>
            <a:r>
              <a:rPr lang="en-US" altLang="en-US" sz="1210" i="1" dirty="0">
                <a:latin typeface="Times New Roman" panose="02020603050405020304" pitchFamily="18" charset="0"/>
              </a:rPr>
              <a:t>shared segment</a:t>
            </a:r>
            <a:r>
              <a:rPr lang="en-US" altLang="en-US" sz="1210" dirty="0">
                <a:latin typeface="Times New Roman" panose="02020603050405020304" pitchFamily="18" charset="0"/>
              </a:rPr>
              <a:t>.</a:t>
            </a:r>
          </a:p>
          <a:p>
            <a:pPr lvl="1" eaLnBrk="1" hangingPunct="1">
              <a:buFontTx/>
              <a:buChar char="•"/>
            </a:pPr>
            <a:r>
              <a:rPr lang="en-US" altLang="en-US" sz="1210" dirty="0">
                <a:latin typeface="Times New Roman" panose="02020603050405020304" pitchFamily="18" charset="0"/>
              </a:rPr>
              <a:t>Workstations that connect to a switch are on a </a:t>
            </a:r>
            <a:r>
              <a:rPr lang="en-US" altLang="en-US" sz="1210" i="1" dirty="0">
                <a:latin typeface="Times New Roman" panose="02020603050405020304" pitchFamily="18" charset="0"/>
              </a:rPr>
              <a:t>switched segment</a:t>
            </a:r>
            <a:r>
              <a:rPr lang="en-US" altLang="en-US" sz="1210" dirty="0">
                <a:latin typeface="Times New Roman" panose="02020603050405020304" pitchFamily="18" charset="0"/>
              </a:rPr>
              <a:t>.</a:t>
            </a:r>
          </a:p>
          <a:p>
            <a:pPr eaLnBrk="1" hangingPunct="1">
              <a:spcBef>
                <a:spcPct val="50000"/>
              </a:spcBef>
            </a:pPr>
            <a:endParaRPr lang="en-US" altLang="en-US" sz="1210" dirty="0"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endParaRPr lang="en-US" altLang="en-US" sz="1210" dirty="0">
              <a:latin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84756A6-CB59-4FE2-97B1-21F5367BAA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58398" y="53975"/>
            <a:ext cx="1332452" cy="381000"/>
          </a:xfrm>
          <a:noFill/>
        </p:spPr>
        <p:txBody>
          <a:bodyPr>
            <a:normAutofit fontScale="90000"/>
          </a:bodyPr>
          <a:lstStyle/>
          <a:p>
            <a:r>
              <a:rPr lang="en-US" altLang="en-US" dirty="0"/>
              <a:t>  Switches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B9BC1F87-0796-4677-A79B-745BBE517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505" y="769938"/>
            <a:ext cx="4187508" cy="1590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en-US" sz="2017" b="1">
              <a:solidFill>
                <a:srgbClr val="76027C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en-US" sz="2017" b="1">
              <a:solidFill>
                <a:srgbClr val="76027C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en-US" sz="2017" b="1">
              <a:solidFill>
                <a:srgbClr val="76027C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en-US" sz="1109" b="1">
              <a:latin typeface="Times New Roman" panose="02020603050405020304" pitchFamily="18" charset="0"/>
            </a:endParaRPr>
          </a:p>
        </p:txBody>
      </p:sp>
      <p:sp>
        <p:nvSpPr>
          <p:cNvPr id="28675" name="Text Box 3">
            <a:extLst>
              <a:ext uri="{FF2B5EF4-FFF2-40B4-BE49-F238E27FC236}">
                <a16:creationId xmlns:a16="http://schemas.microsoft.com/office/drawing/2014/main" id="{F11A14C8-C2F6-49B7-B406-4EF7347BD3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505" y="769937"/>
            <a:ext cx="4110673" cy="27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altLang="en-US" sz="1210">
              <a:latin typeface="Times New Roman" panose="02020603050405020304" pitchFamily="18" charset="0"/>
            </a:endParaRPr>
          </a:p>
        </p:txBody>
      </p:sp>
      <p:pic>
        <p:nvPicPr>
          <p:cNvPr id="28676" name="Picture 4" descr="Fig08-12">
            <a:extLst>
              <a:ext uri="{FF2B5EF4-FFF2-40B4-BE49-F238E27FC236}">
                <a16:creationId xmlns:a16="http://schemas.microsoft.com/office/drawing/2014/main" id="{ABF042BA-3186-43A5-BE6B-512B57F24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67" t="21251" b="20000"/>
          <a:stretch>
            <a:fillRect/>
          </a:stretch>
        </p:blipFill>
        <p:spPr bwMode="auto">
          <a:xfrm>
            <a:off x="345758" y="769938"/>
            <a:ext cx="4020232" cy="2258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7" name="Text Box 5">
            <a:extLst>
              <a:ext uri="{FF2B5EF4-FFF2-40B4-BE49-F238E27FC236}">
                <a16:creationId xmlns:a16="http://schemas.microsoft.com/office/drawing/2014/main" id="{587C1684-2C80-460F-8FC5-EB7A19D2E3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253" y="232092"/>
            <a:ext cx="3227070" cy="340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13" b="1">
                <a:latin typeface="Times New Roman" panose="02020603050405020304" pitchFamily="18" charset="0"/>
              </a:rPr>
              <a:t>Switch Example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>
            <a:extLst>
              <a:ext uri="{FF2B5EF4-FFF2-40B4-BE49-F238E27FC236}">
                <a16:creationId xmlns:a16="http://schemas.microsoft.com/office/drawing/2014/main" id="{1929D969-4418-46AE-934F-75AD352134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505" y="769938"/>
            <a:ext cx="4187508" cy="15900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en-US" sz="2017" b="1">
              <a:solidFill>
                <a:srgbClr val="76027C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en-US" sz="2017" b="1">
              <a:solidFill>
                <a:srgbClr val="76027C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en-US" sz="2017" b="1">
              <a:solidFill>
                <a:srgbClr val="76027C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endParaRPr lang="en-US" altLang="en-US" sz="1109" b="1">
              <a:latin typeface="Times New Roman" panose="02020603050405020304" pitchFamily="18" charset="0"/>
            </a:endParaRPr>
          </a:p>
        </p:txBody>
      </p:sp>
      <p:sp>
        <p:nvSpPr>
          <p:cNvPr id="29700" name="Text Box 4">
            <a:extLst>
              <a:ext uri="{FF2B5EF4-FFF2-40B4-BE49-F238E27FC236}">
                <a16:creationId xmlns:a16="http://schemas.microsoft.com/office/drawing/2014/main" id="{B8F7F868-EB66-465A-9F04-AE41DF31E4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922" y="663575"/>
            <a:ext cx="4110673" cy="1023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210" dirty="0">
                <a:latin typeface="Times New Roman" panose="02020603050405020304" pitchFamily="18" charset="0"/>
              </a:rPr>
              <a:t>Thus, routers are often called “layer 3 devices”.  They operate at the third layer, or OSI </a:t>
            </a:r>
            <a:r>
              <a:rPr lang="en-US" altLang="en-US" sz="1210" b="1" dirty="0">
                <a:latin typeface="Times New Roman" panose="02020603050405020304" pitchFamily="18" charset="0"/>
              </a:rPr>
              <a:t>network layer, </a:t>
            </a:r>
            <a:r>
              <a:rPr lang="en-US" altLang="en-US" sz="1210" dirty="0">
                <a:latin typeface="Times New Roman" panose="02020603050405020304" pitchFamily="18" charset="0"/>
              </a:rPr>
              <a:t>of the packet.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210" dirty="0">
                <a:latin typeface="Times New Roman" panose="02020603050405020304" pitchFamily="18" charset="0"/>
              </a:rPr>
              <a:t>Routers often incorporate firewall functions.</a:t>
            </a:r>
          </a:p>
          <a:p>
            <a:pPr eaLnBrk="1" hangingPunct="1">
              <a:spcBef>
                <a:spcPct val="50000"/>
              </a:spcBef>
            </a:pPr>
            <a:r>
              <a:rPr lang="en-US" altLang="en-US" sz="1210" dirty="0">
                <a:latin typeface="Times New Roman" panose="02020603050405020304" pitchFamily="18" charset="0"/>
              </a:rPr>
              <a:t>An example of a router’s operation is shown on the next slide.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D9DD6A9-A013-4448-B880-9FA6AF7561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58398" y="53975"/>
            <a:ext cx="1332452" cy="381000"/>
          </a:xfrm>
          <a:noFill/>
        </p:spPr>
        <p:txBody>
          <a:bodyPr>
            <a:normAutofit fontScale="90000"/>
          </a:bodyPr>
          <a:lstStyle/>
          <a:p>
            <a:r>
              <a:rPr lang="en-US" altLang="en-US" dirty="0"/>
              <a:t>  	   Routers</a:t>
            </a:r>
            <a:br>
              <a:rPr lang="en-US" altLang="en-US" dirty="0"/>
            </a:br>
            <a:endParaRPr lang="en-US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AutoShape 3">
            <a:extLst>
              <a:ext uri="{FF2B5EF4-FFF2-40B4-BE49-F238E27FC236}">
                <a16:creationId xmlns:a16="http://schemas.microsoft.com/office/drawing/2014/main" id="{1A5ACCEE-B73E-4E7E-8D44-867B53607F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6258" y="2433181"/>
            <a:ext cx="269762" cy="222330"/>
          </a:xfrm>
          <a:prstGeom prst="flowChartAlternateProcess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706" b="1">
                <a:solidFill>
                  <a:srgbClr val="000000"/>
                </a:solidFill>
              </a:rPr>
              <a:t>R</a:t>
            </a:r>
            <a:endParaRPr lang="en-US" altLang="en-US" sz="1210">
              <a:solidFill>
                <a:srgbClr val="000000"/>
              </a:solidFill>
            </a:endParaRPr>
          </a:p>
        </p:txBody>
      </p:sp>
      <p:sp>
        <p:nvSpPr>
          <p:cNvPr id="30724" name="AutoShape 4">
            <a:extLst>
              <a:ext uri="{FF2B5EF4-FFF2-40B4-BE49-F238E27FC236}">
                <a16:creationId xmlns:a16="http://schemas.microsoft.com/office/drawing/2014/main" id="{CAC4399E-5C76-4456-ACE0-21C70F718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7545" y="1703249"/>
            <a:ext cx="269762" cy="222330"/>
          </a:xfrm>
          <a:prstGeom prst="flowChartAlternateProcess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706" b="1">
                <a:solidFill>
                  <a:srgbClr val="000000"/>
                </a:solidFill>
              </a:rPr>
              <a:t>R</a:t>
            </a:r>
            <a:endParaRPr lang="en-US" altLang="en-US" sz="1210">
              <a:solidFill>
                <a:srgbClr val="000000"/>
              </a:solidFill>
            </a:endParaRPr>
          </a:p>
        </p:txBody>
      </p:sp>
      <p:sp>
        <p:nvSpPr>
          <p:cNvPr id="30725" name="AutoShape 5">
            <a:extLst>
              <a:ext uri="{FF2B5EF4-FFF2-40B4-BE49-F238E27FC236}">
                <a16:creationId xmlns:a16="http://schemas.microsoft.com/office/drawing/2014/main" id="{91FF9D46-9ACF-4185-AB40-2F39E1B6DC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4590" y="2548434"/>
            <a:ext cx="269762" cy="222330"/>
          </a:xfrm>
          <a:prstGeom prst="flowChartAlternateProcess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706" b="1">
                <a:solidFill>
                  <a:srgbClr val="000000"/>
                </a:solidFill>
              </a:rPr>
              <a:t>R</a:t>
            </a:r>
            <a:endParaRPr lang="en-US" altLang="en-US" sz="1210">
              <a:solidFill>
                <a:srgbClr val="000000"/>
              </a:solidFill>
            </a:endParaRPr>
          </a:p>
        </p:txBody>
      </p:sp>
      <p:sp>
        <p:nvSpPr>
          <p:cNvPr id="30726" name="AutoShape 6">
            <a:extLst>
              <a:ext uri="{FF2B5EF4-FFF2-40B4-BE49-F238E27FC236}">
                <a16:creationId xmlns:a16="http://schemas.microsoft.com/office/drawing/2014/main" id="{5CDF659F-8616-46BC-A874-36B501571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3168" y="1434326"/>
            <a:ext cx="269762" cy="222330"/>
          </a:xfrm>
          <a:prstGeom prst="flowChartAlternateProcess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706" b="1">
                <a:solidFill>
                  <a:srgbClr val="000000"/>
                </a:solidFill>
              </a:rPr>
              <a:t>R</a:t>
            </a:r>
            <a:endParaRPr lang="en-US" altLang="en-US" sz="1210">
              <a:solidFill>
                <a:srgbClr val="000000"/>
              </a:solidFill>
            </a:endParaRPr>
          </a:p>
        </p:txBody>
      </p:sp>
      <p:sp>
        <p:nvSpPr>
          <p:cNvPr id="30727" name="AutoShape 7">
            <a:extLst>
              <a:ext uri="{FF2B5EF4-FFF2-40B4-BE49-F238E27FC236}">
                <a16:creationId xmlns:a16="http://schemas.microsoft.com/office/drawing/2014/main" id="{F14C3597-D49D-4E21-9624-2B24A7D41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360" y="1472744"/>
            <a:ext cx="269762" cy="222330"/>
          </a:xfrm>
          <a:prstGeom prst="flowChartAlternateProcess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706" b="1">
                <a:solidFill>
                  <a:srgbClr val="000000"/>
                </a:solidFill>
              </a:rPr>
              <a:t>R</a:t>
            </a:r>
            <a:endParaRPr lang="en-US" altLang="en-US" sz="1210">
              <a:solidFill>
                <a:srgbClr val="000000"/>
              </a:solidFill>
            </a:endParaRPr>
          </a:p>
        </p:txBody>
      </p:sp>
      <p:sp>
        <p:nvSpPr>
          <p:cNvPr id="30728" name="AutoShape 8">
            <a:extLst>
              <a:ext uri="{FF2B5EF4-FFF2-40B4-BE49-F238E27FC236}">
                <a16:creationId xmlns:a16="http://schemas.microsoft.com/office/drawing/2014/main" id="{EC176361-0379-489C-9650-C3C490E3E1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401" y="1472128"/>
            <a:ext cx="282639" cy="239570"/>
          </a:xfrm>
          <a:prstGeom prst="flowChartAlternateProcess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807" b="1">
                <a:solidFill>
                  <a:srgbClr val="000000"/>
                </a:solidFill>
              </a:rPr>
              <a:t>H</a:t>
            </a:r>
            <a:endParaRPr lang="en-US" altLang="en-US" sz="1210">
              <a:solidFill>
                <a:srgbClr val="000000"/>
              </a:solidFill>
            </a:endParaRPr>
          </a:p>
        </p:txBody>
      </p:sp>
      <p:sp>
        <p:nvSpPr>
          <p:cNvPr id="30729" name="AutoShape 9">
            <a:extLst>
              <a:ext uri="{FF2B5EF4-FFF2-40B4-BE49-F238E27FC236}">
                <a16:creationId xmlns:a16="http://schemas.microsoft.com/office/drawing/2014/main" id="{CB846BD7-63F2-4BE4-AE5F-C9C1B6511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402" y="2317313"/>
            <a:ext cx="282639" cy="239570"/>
          </a:xfrm>
          <a:prstGeom prst="flowChartAlternateProcess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807" b="1">
                <a:solidFill>
                  <a:srgbClr val="000000"/>
                </a:solidFill>
              </a:rPr>
              <a:t>H</a:t>
            </a:r>
            <a:endParaRPr lang="en-US" altLang="en-US" sz="1210">
              <a:solidFill>
                <a:srgbClr val="000000"/>
              </a:solidFill>
            </a:endParaRPr>
          </a:p>
        </p:txBody>
      </p:sp>
      <p:sp>
        <p:nvSpPr>
          <p:cNvPr id="30730" name="AutoShape 10">
            <a:extLst>
              <a:ext uri="{FF2B5EF4-FFF2-40B4-BE49-F238E27FC236}">
                <a16:creationId xmlns:a16="http://schemas.microsoft.com/office/drawing/2014/main" id="{322DF082-02AB-4A8C-9C70-058760AB9B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5306" y="1356875"/>
            <a:ext cx="282639" cy="239570"/>
          </a:xfrm>
          <a:prstGeom prst="flowChartAlternateProcess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807" b="1">
                <a:solidFill>
                  <a:srgbClr val="000000"/>
                </a:solidFill>
              </a:rPr>
              <a:t>H</a:t>
            </a:r>
            <a:endParaRPr lang="en-US" altLang="en-US" sz="1210">
              <a:solidFill>
                <a:srgbClr val="000000"/>
              </a:solidFill>
            </a:endParaRPr>
          </a:p>
        </p:txBody>
      </p:sp>
      <p:sp>
        <p:nvSpPr>
          <p:cNvPr id="30731" name="AutoShape 11">
            <a:extLst>
              <a:ext uri="{FF2B5EF4-FFF2-40B4-BE49-F238E27FC236}">
                <a16:creationId xmlns:a16="http://schemas.microsoft.com/office/drawing/2014/main" id="{B623AEF5-435E-4000-AD73-94C16E064E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036" y="2702288"/>
            <a:ext cx="282639" cy="239570"/>
          </a:xfrm>
          <a:prstGeom prst="flowChartAlternateProcess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807" b="1">
                <a:solidFill>
                  <a:srgbClr val="000000"/>
                </a:solidFill>
              </a:rPr>
              <a:t>H</a:t>
            </a:r>
            <a:endParaRPr lang="en-US" altLang="en-US" sz="1210">
              <a:solidFill>
                <a:srgbClr val="000000"/>
              </a:solidFill>
            </a:endParaRPr>
          </a:p>
        </p:txBody>
      </p:sp>
      <p:sp>
        <p:nvSpPr>
          <p:cNvPr id="30732" name="Line 12">
            <a:extLst>
              <a:ext uri="{FF2B5EF4-FFF2-40B4-BE49-F238E27FC236}">
                <a16:creationId xmlns:a16="http://schemas.microsoft.com/office/drawing/2014/main" id="{49FFCE8E-61DF-473C-A596-7A29652B297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8386" y="2729230"/>
            <a:ext cx="73634" cy="3841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 sz="908"/>
          </a:p>
        </p:txBody>
      </p:sp>
      <p:sp>
        <p:nvSpPr>
          <p:cNvPr id="30733" name="Line 13">
            <a:extLst>
              <a:ext uri="{FF2B5EF4-FFF2-40B4-BE49-F238E27FC236}">
                <a16:creationId xmlns:a16="http://schemas.microsoft.com/office/drawing/2014/main" id="{E0D74A0E-BFA5-40DF-A3CA-E841279C1C1A}"/>
              </a:ext>
            </a:extLst>
          </p:cNvPr>
          <p:cNvSpPr>
            <a:spLocks noChangeShapeType="1"/>
          </p:cNvSpPr>
          <p:nvPr/>
        </p:nvSpPr>
        <p:spPr bwMode="auto">
          <a:xfrm>
            <a:off x="809969" y="2460308"/>
            <a:ext cx="112051" cy="7683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 sz="908"/>
          </a:p>
        </p:txBody>
      </p:sp>
      <p:sp>
        <p:nvSpPr>
          <p:cNvPr id="30734" name="Line 14">
            <a:extLst>
              <a:ext uri="{FF2B5EF4-FFF2-40B4-BE49-F238E27FC236}">
                <a16:creationId xmlns:a16="http://schemas.microsoft.com/office/drawing/2014/main" id="{954E2E81-7A32-49C9-AF15-7B0B03008FE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8891" y="2383473"/>
            <a:ext cx="35216" cy="7683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 sz="908"/>
          </a:p>
        </p:txBody>
      </p:sp>
      <p:sp>
        <p:nvSpPr>
          <p:cNvPr id="30735" name="Line 15">
            <a:extLst>
              <a:ext uri="{FF2B5EF4-FFF2-40B4-BE49-F238E27FC236}">
                <a16:creationId xmlns:a16="http://schemas.microsoft.com/office/drawing/2014/main" id="{2B35E72E-A6B8-428F-A450-BA0E2F89937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44612" y="2537142"/>
            <a:ext cx="195289" cy="3841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 sz="908"/>
          </a:p>
        </p:txBody>
      </p:sp>
      <p:cxnSp>
        <p:nvCxnSpPr>
          <p:cNvPr id="30736" name="AutoShape 16">
            <a:extLst>
              <a:ext uri="{FF2B5EF4-FFF2-40B4-BE49-F238E27FC236}">
                <a16:creationId xmlns:a16="http://schemas.microsoft.com/office/drawing/2014/main" id="{883DA591-95C2-4813-A0F5-E37AF14FFE7C}"/>
              </a:ext>
            </a:extLst>
          </p:cNvPr>
          <p:cNvCxnSpPr>
            <a:cxnSpLocks noChangeShapeType="1"/>
            <a:endCxn id="30728" idx="2"/>
          </p:cNvCxnSpPr>
          <p:nvPr/>
        </p:nvCxnSpPr>
        <p:spPr bwMode="auto">
          <a:xfrm>
            <a:off x="433797" y="1683954"/>
            <a:ext cx="268924" cy="27744"/>
          </a:xfrm>
          <a:prstGeom prst="bentConnector4">
            <a:avLst>
              <a:gd name="adj1" fmla="val 23725"/>
              <a:gd name="adj2" fmla="val 923962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37" name="AutoShape 17">
            <a:extLst>
              <a:ext uri="{FF2B5EF4-FFF2-40B4-BE49-F238E27FC236}">
                <a16:creationId xmlns:a16="http://schemas.microsoft.com/office/drawing/2014/main" id="{DBD43E5B-1D23-452E-99CB-D86E754A1992}"/>
              </a:ext>
            </a:extLst>
          </p:cNvPr>
          <p:cNvCxnSpPr>
            <a:cxnSpLocks noChangeShapeType="1"/>
            <a:stCxn id="30728" idx="2"/>
            <a:endCxn id="30727" idx="2"/>
          </p:cNvCxnSpPr>
          <p:nvPr/>
        </p:nvCxnSpPr>
        <p:spPr bwMode="auto">
          <a:xfrm rot="5400000" flipH="1" flipV="1">
            <a:off x="826669" y="1571126"/>
            <a:ext cx="16624" cy="264520"/>
          </a:xfrm>
          <a:prstGeom prst="bentConnector3">
            <a:avLst>
              <a:gd name="adj1" fmla="val -137512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38" name="Line 18">
            <a:extLst>
              <a:ext uri="{FF2B5EF4-FFF2-40B4-BE49-F238E27FC236}">
                <a16:creationId xmlns:a16="http://schemas.microsoft.com/office/drawing/2014/main" id="{BDCD44DA-FD34-443F-8AB5-39C8229784F4}"/>
              </a:ext>
            </a:extLst>
          </p:cNvPr>
          <p:cNvSpPr>
            <a:spLocks noChangeShapeType="1"/>
          </p:cNvSpPr>
          <p:nvPr/>
        </p:nvSpPr>
        <p:spPr bwMode="auto">
          <a:xfrm>
            <a:off x="959638" y="1807210"/>
            <a:ext cx="769150" cy="3841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 sz="908"/>
          </a:p>
        </p:txBody>
      </p:sp>
      <p:sp>
        <p:nvSpPr>
          <p:cNvPr id="30739" name="Line 19">
            <a:extLst>
              <a:ext uri="{FF2B5EF4-FFF2-40B4-BE49-F238E27FC236}">
                <a16:creationId xmlns:a16="http://schemas.microsoft.com/office/drawing/2014/main" id="{51732D8A-CD68-4E77-94DF-4789CC82229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689570" y="1884045"/>
            <a:ext cx="116053" cy="5762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 sz="908"/>
          </a:p>
        </p:txBody>
      </p:sp>
      <p:sp>
        <p:nvSpPr>
          <p:cNvPr id="30740" name="Line 20">
            <a:extLst>
              <a:ext uri="{FF2B5EF4-FFF2-40B4-BE49-F238E27FC236}">
                <a16:creationId xmlns:a16="http://schemas.microsoft.com/office/drawing/2014/main" id="{7EBC4484-9AC3-4BE4-B1E7-EB5E04C3DAF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66060" y="1615123"/>
            <a:ext cx="767550" cy="46101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 sz="908"/>
          </a:p>
        </p:txBody>
      </p:sp>
      <p:cxnSp>
        <p:nvCxnSpPr>
          <p:cNvPr id="30741" name="AutoShape 21">
            <a:extLst>
              <a:ext uri="{FF2B5EF4-FFF2-40B4-BE49-F238E27FC236}">
                <a16:creationId xmlns:a16="http://schemas.microsoft.com/office/drawing/2014/main" id="{39F85697-CBF4-4CF0-A112-48AB5DEB196F}"/>
              </a:ext>
            </a:extLst>
          </p:cNvPr>
          <p:cNvCxnSpPr>
            <a:cxnSpLocks noChangeShapeType="1"/>
            <a:stCxn id="30730" idx="1"/>
          </p:cNvCxnSpPr>
          <p:nvPr/>
        </p:nvCxnSpPr>
        <p:spPr bwMode="auto">
          <a:xfrm rot="10800000" flipH="1" flipV="1">
            <a:off x="3865305" y="1476660"/>
            <a:ext cx="53279" cy="307340"/>
          </a:xfrm>
          <a:prstGeom prst="bentConnector4">
            <a:avLst>
              <a:gd name="adj1" fmla="val -429062"/>
              <a:gd name="adj2" fmla="val 69487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42" name="AutoShape 22">
            <a:extLst>
              <a:ext uri="{FF2B5EF4-FFF2-40B4-BE49-F238E27FC236}">
                <a16:creationId xmlns:a16="http://schemas.microsoft.com/office/drawing/2014/main" id="{9AAC0D88-1F20-488F-8965-A1056A5D2AF9}"/>
              </a:ext>
            </a:extLst>
          </p:cNvPr>
          <p:cNvCxnSpPr>
            <a:cxnSpLocks noChangeShapeType="1"/>
            <a:stCxn id="30730" idx="1"/>
            <a:endCxn id="30726" idx="3"/>
          </p:cNvCxnSpPr>
          <p:nvPr/>
        </p:nvCxnSpPr>
        <p:spPr bwMode="auto">
          <a:xfrm rot="10800000" flipV="1">
            <a:off x="3752930" y="1476659"/>
            <a:ext cx="112376" cy="68831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43" name="AutoShape 23">
            <a:extLst>
              <a:ext uri="{FF2B5EF4-FFF2-40B4-BE49-F238E27FC236}">
                <a16:creationId xmlns:a16="http://schemas.microsoft.com/office/drawing/2014/main" id="{DB53247E-38B4-4FB0-BFB6-386B4ECB9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3197" y="2202676"/>
            <a:ext cx="269762" cy="222330"/>
          </a:xfrm>
          <a:prstGeom prst="flowChartAlternateProcess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706" b="1">
                <a:solidFill>
                  <a:srgbClr val="000000"/>
                </a:solidFill>
              </a:rPr>
              <a:t>R</a:t>
            </a:r>
            <a:endParaRPr lang="en-US" altLang="en-US" sz="1210">
              <a:solidFill>
                <a:srgbClr val="000000"/>
              </a:solidFill>
            </a:endParaRPr>
          </a:p>
        </p:txBody>
      </p:sp>
      <p:sp>
        <p:nvSpPr>
          <p:cNvPr id="30744" name="Line 24">
            <a:extLst>
              <a:ext uri="{FF2B5EF4-FFF2-40B4-BE49-F238E27FC236}">
                <a16:creationId xmlns:a16="http://schemas.microsoft.com/office/drawing/2014/main" id="{B33BFF66-D9E0-4DF5-B91D-0D69B9C1D76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14108" y="1884045"/>
            <a:ext cx="691515" cy="34575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 sz="908"/>
          </a:p>
        </p:txBody>
      </p:sp>
      <p:sp>
        <p:nvSpPr>
          <p:cNvPr id="30745" name="AutoShape 25">
            <a:extLst>
              <a:ext uri="{FF2B5EF4-FFF2-40B4-BE49-F238E27FC236}">
                <a16:creationId xmlns:a16="http://schemas.microsoft.com/office/drawing/2014/main" id="{095384BA-E3AF-43C7-B216-293FCDFA73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3808" y="1088569"/>
            <a:ext cx="269762" cy="222330"/>
          </a:xfrm>
          <a:prstGeom prst="flowChartAlternateProcess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706" b="1">
                <a:solidFill>
                  <a:srgbClr val="000000"/>
                </a:solidFill>
              </a:rPr>
              <a:t>R</a:t>
            </a:r>
            <a:endParaRPr lang="en-US" altLang="en-US" sz="1210">
              <a:solidFill>
                <a:srgbClr val="000000"/>
              </a:solidFill>
            </a:endParaRPr>
          </a:p>
        </p:txBody>
      </p:sp>
      <p:sp>
        <p:nvSpPr>
          <p:cNvPr id="30746" name="AutoShape 26">
            <a:extLst>
              <a:ext uri="{FF2B5EF4-FFF2-40B4-BE49-F238E27FC236}">
                <a16:creationId xmlns:a16="http://schemas.microsoft.com/office/drawing/2014/main" id="{76984545-103E-4459-B5D8-D42FED82A3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2848" y="1087953"/>
            <a:ext cx="282639" cy="239570"/>
          </a:xfrm>
          <a:prstGeom prst="flowChartAlternateProcess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807" b="1">
                <a:solidFill>
                  <a:srgbClr val="000000"/>
                </a:solidFill>
              </a:rPr>
              <a:t>H</a:t>
            </a:r>
            <a:endParaRPr lang="en-US" altLang="en-US" sz="1210">
              <a:solidFill>
                <a:srgbClr val="000000"/>
              </a:solidFill>
            </a:endParaRPr>
          </a:p>
        </p:txBody>
      </p:sp>
      <p:cxnSp>
        <p:nvCxnSpPr>
          <p:cNvPr id="30747" name="AutoShape 27">
            <a:extLst>
              <a:ext uri="{FF2B5EF4-FFF2-40B4-BE49-F238E27FC236}">
                <a16:creationId xmlns:a16="http://schemas.microsoft.com/office/drawing/2014/main" id="{D76B0A16-6950-4386-9032-7DB814DBE381}"/>
              </a:ext>
            </a:extLst>
          </p:cNvPr>
          <p:cNvCxnSpPr>
            <a:cxnSpLocks noChangeShapeType="1"/>
            <a:stCxn id="30746" idx="2"/>
            <a:endCxn id="30745" idx="2"/>
          </p:cNvCxnSpPr>
          <p:nvPr/>
        </p:nvCxnSpPr>
        <p:spPr bwMode="auto">
          <a:xfrm rot="5400000" flipH="1" flipV="1">
            <a:off x="2248116" y="1186950"/>
            <a:ext cx="16624" cy="264521"/>
          </a:xfrm>
          <a:prstGeom prst="bentConnector3">
            <a:avLst>
              <a:gd name="adj1" fmla="val -1375120"/>
            </a:avLst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48" name="Line 28">
            <a:extLst>
              <a:ext uri="{FF2B5EF4-FFF2-40B4-BE49-F238E27FC236}">
                <a16:creationId xmlns:a16="http://schemas.microsoft.com/office/drawing/2014/main" id="{8AA9CE49-A1B9-4DC6-B0D0-2DCC206BC7B6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1085" y="1423035"/>
            <a:ext cx="269723" cy="61468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 sz="908"/>
          </a:p>
        </p:txBody>
      </p:sp>
      <p:sp>
        <p:nvSpPr>
          <p:cNvPr id="30749" name="AutoShape 29">
            <a:extLst>
              <a:ext uri="{FF2B5EF4-FFF2-40B4-BE49-F238E27FC236}">
                <a16:creationId xmlns:a16="http://schemas.microsoft.com/office/drawing/2014/main" id="{9445CBA2-391B-4759-B452-573AE12E1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1148" y="2010589"/>
            <a:ext cx="269762" cy="222330"/>
          </a:xfrm>
          <a:prstGeom prst="flowChartAlternateProcess">
            <a:avLst/>
          </a:prstGeom>
          <a:solidFill>
            <a:schemeClr val="fol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706" b="1">
                <a:solidFill>
                  <a:srgbClr val="000000"/>
                </a:solidFill>
              </a:rPr>
              <a:t>R</a:t>
            </a:r>
            <a:endParaRPr lang="en-US" altLang="en-US" sz="1210">
              <a:solidFill>
                <a:srgbClr val="000000"/>
              </a:solidFill>
            </a:endParaRPr>
          </a:p>
        </p:txBody>
      </p:sp>
      <p:sp>
        <p:nvSpPr>
          <p:cNvPr id="30750" name="Freeform 30">
            <a:extLst>
              <a:ext uri="{FF2B5EF4-FFF2-40B4-BE49-F238E27FC236}">
                <a16:creationId xmlns:a16="http://schemas.microsoft.com/office/drawing/2014/main" id="{75DCBD4D-FD2E-4FD0-961A-E9E6D30C56CE}"/>
              </a:ext>
            </a:extLst>
          </p:cNvPr>
          <p:cNvSpPr>
            <a:spLocks/>
          </p:cNvSpPr>
          <p:nvPr/>
        </p:nvSpPr>
        <p:spPr bwMode="auto">
          <a:xfrm>
            <a:off x="344958" y="1627156"/>
            <a:ext cx="184731" cy="232051"/>
          </a:xfrm>
          <a:custGeom>
            <a:avLst/>
            <a:gdLst>
              <a:gd name="T0" fmla="*/ 2147483647 w 824"/>
              <a:gd name="T1" fmla="*/ 2147483647 h 320"/>
              <a:gd name="T2" fmla="*/ 2147483647 w 824"/>
              <a:gd name="T3" fmla="*/ 2147483647 h 320"/>
              <a:gd name="T4" fmla="*/ 2147483647 w 824"/>
              <a:gd name="T5" fmla="*/ 2147483647 h 320"/>
              <a:gd name="T6" fmla="*/ 2147483647 w 824"/>
              <a:gd name="T7" fmla="*/ 2147483647 h 320"/>
              <a:gd name="T8" fmla="*/ 2147483647 w 824"/>
              <a:gd name="T9" fmla="*/ 2147483647 h 320"/>
              <a:gd name="T10" fmla="*/ 2147483647 w 824"/>
              <a:gd name="T11" fmla="*/ 2147483647 h 320"/>
              <a:gd name="T12" fmla="*/ 2147483647 w 824"/>
              <a:gd name="T13" fmla="*/ 0 h 320"/>
              <a:gd name="T14" fmla="*/ 2147483647 w 824"/>
              <a:gd name="T15" fmla="*/ 2147483647 h 320"/>
              <a:gd name="T16" fmla="*/ 2147483647 w 824"/>
              <a:gd name="T17" fmla="*/ 2147483647 h 32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824" h="320">
                <a:moveTo>
                  <a:pt x="48" y="96"/>
                </a:moveTo>
                <a:cubicBezTo>
                  <a:pt x="24" y="152"/>
                  <a:pt x="0" y="208"/>
                  <a:pt x="48" y="240"/>
                </a:cubicBezTo>
                <a:cubicBezTo>
                  <a:pt x="96" y="272"/>
                  <a:pt x="232" y="280"/>
                  <a:pt x="336" y="288"/>
                </a:cubicBezTo>
                <a:cubicBezTo>
                  <a:pt x="440" y="296"/>
                  <a:pt x="608" y="320"/>
                  <a:pt x="672" y="288"/>
                </a:cubicBezTo>
                <a:cubicBezTo>
                  <a:pt x="736" y="256"/>
                  <a:pt x="712" y="136"/>
                  <a:pt x="720" y="96"/>
                </a:cubicBezTo>
                <a:cubicBezTo>
                  <a:pt x="728" y="56"/>
                  <a:pt x="712" y="64"/>
                  <a:pt x="720" y="48"/>
                </a:cubicBezTo>
                <a:cubicBezTo>
                  <a:pt x="728" y="32"/>
                  <a:pt x="752" y="0"/>
                  <a:pt x="768" y="0"/>
                </a:cubicBezTo>
                <a:cubicBezTo>
                  <a:pt x="784" y="0"/>
                  <a:pt x="808" y="32"/>
                  <a:pt x="816" y="48"/>
                </a:cubicBezTo>
                <a:cubicBezTo>
                  <a:pt x="824" y="64"/>
                  <a:pt x="820" y="80"/>
                  <a:pt x="816" y="96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sz="908"/>
          </a:p>
        </p:txBody>
      </p:sp>
      <p:sp>
        <p:nvSpPr>
          <p:cNvPr id="30751" name="Freeform 31">
            <a:extLst>
              <a:ext uri="{FF2B5EF4-FFF2-40B4-BE49-F238E27FC236}">
                <a16:creationId xmlns:a16="http://schemas.microsoft.com/office/drawing/2014/main" id="{A1BD410B-DE54-4745-8851-AA9A6197C5F1}"/>
              </a:ext>
            </a:extLst>
          </p:cNvPr>
          <p:cNvSpPr>
            <a:spLocks/>
          </p:cNvSpPr>
          <p:nvPr/>
        </p:nvSpPr>
        <p:spPr bwMode="auto">
          <a:xfrm>
            <a:off x="926022" y="1687584"/>
            <a:ext cx="184731" cy="232051"/>
          </a:xfrm>
          <a:custGeom>
            <a:avLst/>
            <a:gdLst>
              <a:gd name="T0" fmla="*/ 2147483647 w 3738"/>
              <a:gd name="T1" fmla="*/ 2147483647 h 711"/>
              <a:gd name="T2" fmla="*/ 2147483647 w 3738"/>
              <a:gd name="T3" fmla="*/ 2147483647 h 711"/>
              <a:gd name="T4" fmla="*/ 2147483647 w 3738"/>
              <a:gd name="T5" fmla="*/ 2147483647 h 711"/>
              <a:gd name="T6" fmla="*/ 2147483647 w 3738"/>
              <a:gd name="T7" fmla="*/ 2147483647 h 711"/>
              <a:gd name="T8" fmla="*/ 2147483647 w 3738"/>
              <a:gd name="T9" fmla="*/ 2147483647 h 711"/>
              <a:gd name="T10" fmla="*/ 2147483647 w 3738"/>
              <a:gd name="T11" fmla="*/ 2147483647 h 711"/>
              <a:gd name="T12" fmla="*/ 2147483647 w 3738"/>
              <a:gd name="T13" fmla="*/ 2147483647 h 711"/>
              <a:gd name="T14" fmla="*/ 2147483647 w 3738"/>
              <a:gd name="T15" fmla="*/ 2147483647 h 711"/>
              <a:gd name="T16" fmla="*/ 2147483647 w 3738"/>
              <a:gd name="T17" fmla="*/ 2147483647 h 711"/>
              <a:gd name="T18" fmla="*/ 2147483647 w 3738"/>
              <a:gd name="T19" fmla="*/ 2147483647 h 711"/>
              <a:gd name="T20" fmla="*/ 2147483647 w 3738"/>
              <a:gd name="T21" fmla="*/ 2147483647 h 711"/>
              <a:gd name="T22" fmla="*/ 2147483647 w 3738"/>
              <a:gd name="T23" fmla="*/ 2147483647 h 711"/>
              <a:gd name="T24" fmla="*/ 2147483647 w 3738"/>
              <a:gd name="T25" fmla="*/ 2147483647 h 711"/>
              <a:gd name="T26" fmla="*/ 2147483647 w 3738"/>
              <a:gd name="T27" fmla="*/ 2147483647 h 711"/>
              <a:gd name="T28" fmla="*/ 2147483647 w 3738"/>
              <a:gd name="T29" fmla="*/ 2147483647 h 711"/>
              <a:gd name="T30" fmla="*/ 2147483647 w 3738"/>
              <a:gd name="T31" fmla="*/ 2147483647 h 711"/>
              <a:gd name="T32" fmla="*/ 2147483647 w 3738"/>
              <a:gd name="T33" fmla="*/ 2147483647 h 711"/>
              <a:gd name="T34" fmla="*/ 2147483647 w 3738"/>
              <a:gd name="T35" fmla="*/ 2147483647 h 711"/>
              <a:gd name="T36" fmla="*/ 2147483647 w 3738"/>
              <a:gd name="T37" fmla="*/ 2147483647 h 711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3738" h="711">
                <a:moveTo>
                  <a:pt x="90" y="216"/>
                </a:moveTo>
                <a:cubicBezTo>
                  <a:pt x="58" y="256"/>
                  <a:pt x="0" y="318"/>
                  <a:pt x="90" y="360"/>
                </a:cubicBezTo>
                <a:cubicBezTo>
                  <a:pt x="180" y="402"/>
                  <a:pt x="476" y="453"/>
                  <a:pt x="628" y="469"/>
                </a:cubicBezTo>
                <a:cubicBezTo>
                  <a:pt x="780" y="485"/>
                  <a:pt x="900" y="466"/>
                  <a:pt x="1002" y="456"/>
                </a:cubicBezTo>
                <a:cubicBezTo>
                  <a:pt x="1104" y="446"/>
                  <a:pt x="1162" y="406"/>
                  <a:pt x="1242" y="408"/>
                </a:cubicBezTo>
                <a:cubicBezTo>
                  <a:pt x="1322" y="410"/>
                  <a:pt x="1367" y="432"/>
                  <a:pt x="1485" y="469"/>
                </a:cubicBezTo>
                <a:cubicBezTo>
                  <a:pt x="1603" y="506"/>
                  <a:pt x="1854" y="593"/>
                  <a:pt x="1953" y="630"/>
                </a:cubicBezTo>
                <a:cubicBezTo>
                  <a:pt x="2052" y="667"/>
                  <a:pt x="2033" y="677"/>
                  <a:pt x="2077" y="689"/>
                </a:cubicBezTo>
                <a:cubicBezTo>
                  <a:pt x="2121" y="701"/>
                  <a:pt x="2168" y="711"/>
                  <a:pt x="2216" y="704"/>
                </a:cubicBezTo>
                <a:cubicBezTo>
                  <a:pt x="2264" y="697"/>
                  <a:pt x="2309" y="679"/>
                  <a:pt x="2363" y="645"/>
                </a:cubicBezTo>
                <a:cubicBezTo>
                  <a:pt x="2417" y="611"/>
                  <a:pt x="2483" y="543"/>
                  <a:pt x="2538" y="499"/>
                </a:cubicBezTo>
                <a:cubicBezTo>
                  <a:pt x="2593" y="455"/>
                  <a:pt x="2615" y="433"/>
                  <a:pt x="2692" y="382"/>
                </a:cubicBezTo>
                <a:cubicBezTo>
                  <a:pt x="2769" y="331"/>
                  <a:pt x="2915" y="240"/>
                  <a:pt x="2999" y="191"/>
                </a:cubicBezTo>
                <a:cubicBezTo>
                  <a:pt x="3083" y="142"/>
                  <a:pt x="3130" y="117"/>
                  <a:pt x="3197" y="89"/>
                </a:cubicBezTo>
                <a:cubicBezTo>
                  <a:pt x="3264" y="61"/>
                  <a:pt x="3344" y="35"/>
                  <a:pt x="3402" y="24"/>
                </a:cubicBezTo>
                <a:cubicBezTo>
                  <a:pt x="3460" y="13"/>
                  <a:pt x="3514" y="0"/>
                  <a:pt x="3546" y="24"/>
                </a:cubicBezTo>
                <a:cubicBezTo>
                  <a:pt x="3578" y="48"/>
                  <a:pt x="3586" y="120"/>
                  <a:pt x="3594" y="168"/>
                </a:cubicBezTo>
                <a:cubicBezTo>
                  <a:pt x="3602" y="216"/>
                  <a:pt x="3570" y="288"/>
                  <a:pt x="3594" y="312"/>
                </a:cubicBezTo>
                <a:cubicBezTo>
                  <a:pt x="3618" y="336"/>
                  <a:pt x="3678" y="324"/>
                  <a:pt x="3738" y="312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sz="908"/>
          </a:p>
        </p:txBody>
      </p:sp>
      <p:sp>
        <p:nvSpPr>
          <p:cNvPr id="30752" name="Line 32">
            <a:extLst>
              <a:ext uri="{FF2B5EF4-FFF2-40B4-BE49-F238E27FC236}">
                <a16:creationId xmlns:a16="http://schemas.microsoft.com/office/drawing/2014/main" id="{F47D74F1-F7A9-4B47-9A01-2B7150E68C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36473" y="1230948"/>
            <a:ext cx="154470" cy="23050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 sz="908"/>
          </a:p>
        </p:txBody>
      </p:sp>
      <p:sp>
        <p:nvSpPr>
          <p:cNvPr id="30753" name="Line 33">
            <a:extLst>
              <a:ext uri="{FF2B5EF4-FFF2-40B4-BE49-F238E27FC236}">
                <a16:creationId xmlns:a16="http://schemas.microsoft.com/office/drawing/2014/main" id="{B8718025-58AD-499C-A908-372BA673E7B1}"/>
              </a:ext>
            </a:extLst>
          </p:cNvPr>
          <p:cNvSpPr>
            <a:spLocks noChangeShapeType="1"/>
          </p:cNvSpPr>
          <p:nvPr/>
        </p:nvSpPr>
        <p:spPr bwMode="auto">
          <a:xfrm>
            <a:off x="1344613" y="1230947"/>
            <a:ext cx="383375" cy="49942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 sz="908"/>
          </a:p>
        </p:txBody>
      </p:sp>
      <p:sp>
        <p:nvSpPr>
          <p:cNvPr id="30754" name="Text Box 34">
            <a:extLst>
              <a:ext uri="{FF2B5EF4-FFF2-40B4-BE49-F238E27FC236}">
                <a16:creationId xmlns:a16="http://schemas.microsoft.com/office/drawing/2014/main" id="{CD4F2D3E-1E08-4200-9421-9C705A7E00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602" y="885190"/>
            <a:ext cx="729933" cy="526811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706">
                <a:solidFill>
                  <a:srgbClr val="000000"/>
                </a:solidFill>
              </a:rPr>
              <a:t>Routers send packet to next closest point</a:t>
            </a:r>
            <a:endParaRPr lang="en-US" altLang="en-US" sz="454">
              <a:solidFill>
                <a:srgbClr val="000000"/>
              </a:solidFill>
            </a:endParaRPr>
          </a:p>
        </p:txBody>
      </p:sp>
      <p:sp>
        <p:nvSpPr>
          <p:cNvPr id="30755" name="Line 35">
            <a:extLst>
              <a:ext uri="{FF2B5EF4-FFF2-40B4-BE49-F238E27FC236}">
                <a16:creationId xmlns:a16="http://schemas.microsoft.com/office/drawing/2014/main" id="{C5008C24-7288-4B04-A9D2-C18FBE839AA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456430" y="654685"/>
            <a:ext cx="153670" cy="11525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 sz="908"/>
          </a:p>
        </p:txBody>
      </p:sp>
      <p:sp>
        <p:nvSpPr>
          <p:cNvPr id="30756" name="Line 36">
            <a:extLst>
              <a:ext uri="{FF2B5EF4-FFF2-40B4-BE49-F238E27FC236}">
                <a16:creationId xmlns:a16="http://schemas.microsoft.com/office/drawing/2014/main" id="{D8CCB4C0-2F37-4A6D-A3E5-AABEF4BBDF02}"/>
              </a:ext>
            </a:extLst>
          </p:cNvPr>
          <p:cNvSpPr>
            <a:spLocks noChangeShapeType="1"/>
          </p:cNvSpPr>
          <p:nvPr/>
        </p:nvSpPr>
        <p:spPr bwMode="auto">
          <a:xfrm>
            <a:off x="1690370" y="2575560"/>
            <a:ext cx="576263" cy="11525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 sz="908"/>
          </a:p>
        </p:txBody>
      </p:sp>
      <p:sp>
        <p:nvSpPr>
          <p:cNvPr id="30757" name="Line 37">
            <a:extLst>
              <a:ext uri="{FF2B5EF4-FFF2-40B4-BE49-F238E27FC236}">
                <a16:creationId xmlns:a16="http://schemas.microsoft.com/office/drawing/2014/main" id="{6F22A7BA-334B-4489-939E-821C692E2F9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882458" y="1884045"/>
            <a:ext cx="461010" cy="69151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 sz="908"/>
          </a:p>
        </p:txBody>
      </p:sp>
      <p:sp>
        <p:nvSpPr>
          <p:cNvPr id="30758" name="Line 38">
            <a:extLst>
              <a:ext uri="{FF2B5EF4-FFF2-40B4-BE49-F238E27FC236}">
                <a16:creationId xmlns:a16="http://schemas.microsoft.com/office/drawing/2014/main" id="{A37585C0-4348-4E5A-B46D-F4CC6BC0E3D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20302" y="2152967"/>
            <a:ext cx="192088" cy="42259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 sz="908"/>
          </a:p>
        </p:txBody>
      </p:sp>
      <p:sp>
        <p:nvSpPr>
          <p:cNvPr id="30759" name="Line 39">
            <a:extLst>
              <a:ext uri="{FF2B5EF4-FFF2-40B4-BE49-F238E27FC236}">
                <a16:creationId xmlns:a16="http://schemas.microsoft.com/office/drawing/2014/main" id="{EA7469D3-E878-43E9-A3FC-5D530136F46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458720" y="1230948"/>
            <a:ext cx="1075690" cy="30734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 sz="908"/>
          </a:p>
        </p:txBody>
      </p:sp>
      <p:sp>
        <p:nvSpPr>
          <p:cNvPr id="30760" name="Line 40">
            <a:extLst>
              <a:ext uri="{FF2B5EF4-FFF2-40B4-BE49-F238E27FC236}">
                <a16:creationId xmlns:a16="http://schemas.microsoft.com/office/drawing/2014/main" id="{F6426BA8-7F37-4186-8514-2FC4B998C36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882457" y="1884045"/>
            <a:ext cx="729933" cy="1920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 sz="908"/>
          </a:p>
        </p:txBody>
      </p:sp>
      <p:sp>
        <p:nvSpPr>
          <p:cNvPr id="30761" name="Text Box 41">
            <a:extLst>
              <a:ext uri="{FF2B5EF4-FFF2-40B4-BE49-F238E27FC236}">
                <a16:creationId xmlns:a16="http://schemas.microsoft.com/office/drawing/2014/main" id="{F91DB1EF-E5D8-48BA-AFDA-95D50789FF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3333" y="2495195"/>
            <a:ext cx="736099" cy="441659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908">
                <a:solidFill>
                  <a:srgbClr val="000000"/>
                </a:solidFill>
              </a:rPr>
              <a:t>H: Hosts</a:t>
            </a:r>
          </a:p>
          <a:p>
            <a:pPr>
              <a:spcBef>
                <a:spcPct val="50000"/>
              </a:spcBef>
            </a:pPr>
            <a:r>
              <a:rPr lang="en-US" altLang="en-US" sz="908">
                <a:solidFill>
                  <a:srgbClr val="000000"/>
                </a:solidFill>
              </a:rPr>
              <a:t>R: Routers</a:t>
            </a:r>
          </a:p>
        </p:txBody>
      </p:sp>
      <p:pic>
        <p:nvPicPr>
          <p:cNvPr id="30762" name="Picture 42" descr="Computer5">
            <a:extLst>
              <a:ext uri="{FF2B5EF4-FFF2-40B4-BE49-F238E27FC236}">
                <a16:creationId xmlns:a16="http://schemas.microsoft.com/office/drawing/2014/main" id="{F46BD30D-5EC1-436E-9DAE-29AF391A74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505" y="1367811"/>
            <a:ext cx="368968" cy="324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3" name="Picture 43" descr="paketaro box">
            <a:extLst>
              <a:ext uri="{FF2B5EF4-FFF2-40B4-BE49-F238E27FC236}">
                <a16:creationId xmlns:a16="http://schemas.microsoft.com/office/drawing/2014/main" id="{D0A17458-FFAB-4282-A111-CCE4862549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0167" y="1615122"/>
            <a:ext cx="576263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764" name="Group 44">
            <a:extLst>
              <a:ext uri="{FF2B5EF4-FFF2-40B4-BE49-F238E27FC236}">
                <a16:creationId xmlns:a16="http://schemas.microsoft.com/office/drawing/2014/main" id="{C2E7A7A5-7C30-47CE-8372-2C70E281AE98}"/>
              </a:ext>
            </a:extLst>
          </p:cNvPr>
          <p:cNvGrpSpPr>
            <a:grpSpLocks/>
          </p:cNvGrpSpPr>
          <p:nvPr/>
        </p:nvGrpSpPr>
        <p:grpSpPr bwMode="auto">
          <a:xfrm>
            <a:off x="877200" y="2460308"/>
            <a:ext cx="505830" cy="376171"/>
            <a:chOff x="3891" y="2677"/>
            <a:chExt cx="632" cy="470"/>
          </a:xfrm>
        </p:grpSpPr>
        <p:sp>
          <p:nvSpPr>
            <p:cNvPr id="30766" name="Freeform 45">
              <a:extLst>
                <a:ext uri="{FF2B5EF4-FFF2-40B4-BE49-F238E27FC236}">
                  <a16:creationId xmlns:a16="http://schemas.microsoft.com/office/drawing/2014/main" id="{B304F508-6E6D-402F-8A99-08F8928B9D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6" y="2687"/>
              <a:ext cx="277" cy="228"/>
            </a:xfrm>
            <a:custGeom>
              <a:avLst/>
              <a:gdLst>
                <a:gd name="T0" fmla="*/ 0 w 277"/>
                <a:gd name="T1" fmla="*/ 23 h 228"/>
                <a:gd name="T2" fmla="*/ 5 w 277"/>
                <a:gd name="T3" fmla="*/ 23 h 228"/>
                <a:gd name="T4" fmla="*/ 10 w 277"/>
                <a:gd name="T5" fmla="*/ 19 h 228"/>
                <a:gd name="T6" fmla="*/ 17 w 277"/>
                <a:gd name="T7" fmla="*/ 14 h 228"/>
                <a:gd name="T8" fmla="*/ 26 w 277"/>
                <a:gd name="T9" fmla="*/ 9 h 228"/>
                <a:gd name="T10" fmla="*/ 36 w 277"/>
                <a:gd name="T11" fmla="*/ 4 h 228"/>
                <a:gd name="T12" fmla="*/ 50 w 277"/>
                <a:gd name="T13" fmla="*/ 2 h 228"/>
                <a:gd name="T14" fmla="*/ 65 w 277"/>
                <a:gd name="T15" fmla="*/ 0 h 228"/>
                <a:gd name="T16" fmla="*/ 79 w 277"/>
                <a:gd name="T17" fmla="*/ 0 h 228"/>
                <a:gd name="T18" fmla="*/ 96 w 277"/>
                <a:gd name="T19" fmla="*/ 4 h 228"/>
                <a:gd name="T20" fmla="*/ 110 w 277"/>
                <a:gd name="T21" fmla="*/ 11 h 228"/>
                <a:gd name="T22" fmla="*/ 124 w 277"/>
                <a:gd name="T23" fmla="*/ 23 h 228"/>
                <a:gd name="T24" fmla="*/ 134 w 277"/>
                <a:gd name="T25" fmla="*/ 33 h 228"/>
                <a:gd name="T26" fmla="*/ 143 w 277"/>
                <a:gd name="T27" fmla="*/ 42 h 228"/>
                <a:gd name="T28" fmla="*/ 148 w 277"/>
                <a:gd name="T29" fmla="*/ 52 h 228"/>
                <a:gd name="T30" fmla="*/ 150 w 277"/>
                <a:gd name="T31" fmla="*/ 59 h 228"/>
                <a:gd name="T32" fmla="*/ 153 w 277"/>
                <a:gd name="T33" fmla="*/ 66 h 228"/>
                <a:gd name="T34" fmla="*/ 153 w 277"/>
                <a:gd name="T35" fmla="*/ 73 h 228"/>
                <a:gd name="T36" fmla="*/ 153 w 277"/>
                <a:gd name="T37" fmla="*/ 78 h 228"/>
                <a:gd name="T38" fmla="*/ 153 w 277"/>
                <a:gd name="T39" fmla="*/ 81 h 228"/>
                <a:gd name="T40" fmla="*/ 153 w 277"/>
                <a:gd name="T41" fmla="*/ 81 h 228"/>
                <a:gd name="T42" fmla="*/ 153 w 277"/>
                <a:gd name="T43" fmla="*/ 81 h 228"/>
                <a:gd name="T44" fmla="*/ 155 w 277"/>
                <a:gd name="T45" fmla="*/ 78 h 228"/>
                <a:gd name="T46" fmla="*/ 160 w 277"/>
                <a:gd name="T47" fmla="*/ 76 h 228"/>
                <a:gd name="T48" fmla="*/ 167 w 277"/>
                <a:gd name="T49" fmla="*/ 73 h 228"/>
                <a:gd name="T50" fmla="*/ 174 w 277"/>
                <a:gd name="T51" fmla="*/ 71 h 228"/>
                <a:gd name="T52" fmla="*/ 181 w 277"/>
                <a:gd name="T53" fmla="*/ 69 h 228"/>
                <a:gd name="T54" fmla="*/ 191 w 277"/>
                <a:gd name="T55" fmla="*/ 69 h 228"/>
                <a:gd name="T56" fmla="*/ 200 w 277"/>
                <a:gd name="T57" fmla="*/ 71 h 228"/>
                <a:gd name="T58" fmla="*/ 210 w 277"/>
                <a:gd name="T59" fmla="*/ 73 h 228"/>
                <a:gd name="T60" fmla="*/ 219 w 277"/>
                <a:gd name="T61" fmla="*/ 81 h 228"/>
                <a:gd name="T62" fmla="*/ 229 w 277"/>
                <a:gd name="T63" fmla="*/ 90 h 228"/>
                <a:gd name="T64" fmla="*/ 234 w 277"/>
                <a:gd name="T65" fmla="*/ 97 h 228"/>
                <a:gd name="T66" fmla="*/ 236 w 277"/>
                <a:gd name="T67" fmla="*/ 107 h 228"/>
                <a:gd name="T68" fmla="*/ 239 w 277"/>
                <a:gd name="T69" fmla="*/ 116 h 228"/>
                <a:gd name="T70" fmla="*/ 239 w 277"/>
                <a:gd name="T71" fmla="*/ 124 h 228"/>
                <a:gd name="T72" fmla="*/ 236 w 277"/>
                <a:gd name="T73" fmla="*/ 131 h 228"/>
                <a:gd name="T74" fmla="*/ 236 w 277"/>
                <a:gd name="T75" fmla="*/ 138 h 228"/>
                <a:gd name="T76" fmla="*/ 234 w 277"/>
                <a:gd name="T77" fmla="*/ 143 h 228"/>
                <a:gd name="T78" fmla="*/ 234 w 277"/>
                <a:gd name="T79" fmla="*/ 145 h 228"/>
                <a:gd name="T80" fmla="*/ 231 w 277"/>
                <a:gd name="T81" fmla="*/ 145 h 228"/>
                <a:gd name="T82" fmla="*/ 234 w 277"/>
                <a:gd name="T83" fmla="*/ 147 h 228"/>
                <a:gd name="T84" fmla="*/ 236 w 277"/>
                <a:gd name="T85" fmla="*/ 147 h 228"/>
                <a:gd name="T86" fmla="*/ 241 w 277"/>
                <a:gd name="T87" fmla="*/ 152 h 228"/>
                <a:gd name="T88" fmla="*/ 248 w 277"/>
                <a:gd name="T89" fmla="*/ 157 h 228"/>
                <a:gd name="T90" fmla="*/ 253 w 277"/>
                <a:gd name="T91" fmla="*/ 164 h 228"/>
                <a:gd name="T92" fmla="*/ 260 w 277"/>
                <a:gd name="T93" fmla="*/ 174 h 228"/>
                <a:gd name="T94" fmla="*/ 267 w 277"/>
                <a:gd name="T95" fmla="*/ 183 h 228"/>
                <a:gd name="T96" fmla="*/ 272 w 277"/>
                <a:gd name="T97" fmla="*/ 195 h 228"/>
                <a:gd name="T98" fmla="*/ 274 w 277"/>
                <a:gd name="T99" fmla="*/ 212 h 228"/>
                <a:gd name="T100" fmla="*/ 277 w 277"/>
                <a:gd name="T101" fmla="*/ 228 h 22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277" h="228">
                  <a:moveTo>
                    <a:pt x="0" y="23"/>
                  </a:moveTo>
                  <a:lnTo>
                    <a:pt x="5" y="23"/>
                  </a:lnTo>
                  <a:lnTo>
                    <a:pt x="10" y="19"/>
                  </a:lnTo>
                  <a:lnTo>
                    <a:pt x="17" y="14"/>
                  </a:lnTo>
                  <a:lnTo>
                    <a:pt x="26" y="9"/>
                  </a:lnTo>
                  <a:lnTo>
                    <a:pt x="36" y="4"/>
                  </a:lnTo>
                  <a:lnTo>
                    <a:pt x="50" y="2"/>
                  </a:lnTo>
                  <a:lnTo>
                    <a:pt x="65" y="0"/>
                  </a:lnTo>
                  <a:lnTo>
                    <a:pt x="79" y="0"/>
                  </a:lnTo>
                  <a:lnTo>
                    <a:pt x="96" y="4"/>
                  </a:lnTo>
                  <a:lnTo>
                    <a:pt x="110" y="11"/>
                  </a:lnTo>
                  <a:lnTo>
                    <a:pt x="124" y="23"/>
                  </a:lnTo>
                  <a:lnTo>
                    <a:pt x="134" y="33"/>
                  </a:lnTo>
                  <a:lnTo>
                    <a:pt x="143" y="42"/>
                  </a:lnTo>
                  <a:lnTo>
                    <a:pt x="148" y="52"/>
                  </a:lnTo>
                  <a:lnTo>
                    <a:pt x="150" y="59"/>
                  </a:lnTo>
                  <a:lnTo>
                    <a:pt x="153" y="66"/>
                  </a:lnTo>
                  <a:lnTo>
                    <a:pt x="153" y="73"/>
                  </a:lnTo>
                  <a:lnTo>
                    <a:pt x="153" y="78"/>
                  </a:lnTo>
                  <a:lnTo>
                    <a:pt x="153" y="81"/>
                  </a:lnTo>
                  <a:lnTo>
                    <a:pt x="155" y="78"/>
                  </a:lnTo>
                  <a:lnTo>
                    <a:pt x="160" y="76"/>
                  </a:lnTo>
                  <a:lnTo>
                    <a:pt x="167" y="73"/>
                  </a:lnTo>
                  <a:lnTo>
                    <a:pt x="174" y="71"/>
                  </a:lnTo>
                  <a:lnTo>
                    <a:pt x="181" y="69"/>
                  </a:lnTo>
                  <a:lnTo>
                    <a:pt x="191" y="69"/>
                  </a:lnTo>
                  <a:lnTo>
                    <a:pt x="200" y="71"/>
                  </a:lnTo>
                  <a:lnTo>
                    <a:pt x="210" y="73"/>
                  </a:lnTo>
                  <a:lnTo>
                    <a:pt x="219" y="81"/>
                  </a:lnTo>
                  <a:lnTo>
                    <a:pt x="229" y="90"/>
                  </a:lnTo>
                  <a:lnTo>
                    <a:pt x="234" y="97"/>
                  </a:lnTo>
                  <a:lnTo>
                    <a:pt x="236" y="107"/>
                  </a:lnTo>
                  <a:lnTo>
                    <a:pt x="239" y="116"/>
                  </a:lnTo>
                  <a:lnTo>
                    <a:pt x="239" y="124"/>
                  </a:lnTo>
                  <a:lnTo>
                    <a:pt x="236" y="131"/>
                  </a:lnTo>
                  <a:lnTo>
                    <a:pt x="236" y="138"/>
                  </a:lnTo>
                  <a:lnTo>
                    <a:pt x="234" y="143"/>
                  </a:lnTo>
                  <a:lnTo>
                    <a:pt x="234" y="145"/>
                  </a:lnTo>
                  <a:lnTo>
                    <a:pt x="231" y="145"/>
                  </a:lnTo>
                  <a:lnTo>
                    <a:pt x="234" y="147"/>
                  </a:lnTo>
                  <a:lnTo>
                    <a:pt x="236" y="147"/>
                  </a:lnTo>
                  <a:lnTo>
                    <a:pt x="241" y="152"/>
                  </a:lnTo>
                  <a:lnTo>
                    <a:pt x="248" y="157"/>
                  </a:lnTo>
                  <a:lnTo>
                    <a:pt x="253" y="164"/>
                  </a:lnTo>
                  <a:lnTo>
                    <a:pt x="260" y="174"/>
                  </a:lnTo>
                  <a:lnTo>
                    <a:pt x="267" y="183"/>
                  </a:lnTo>
                  <a:lnTo>
                    <a:pt x="272" y="195"/>
                  </a:lnTo>
                  <a:lnTo>
                    <a:pt x="274" y="212"/>
                  </a:lnTo>
                  <a:lnTo>
                    <a:pt x="277" y="228"/>
                  </a:lnTo>
                </a:path>
              </a:pathLst>
            </a:custGeom>
            <a:noFill/>
            <a:ln w="12700" cmpd="sng">
              <a:solidFill>
                <a:srgbClr val="0066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/>
            <a:lstStyle/>
            <a:p>
              <a:endParaRPr lang="en-US" sz="908"/>
            </a:p>
          </p:txBody>
        </p:sp>
        <p:sp>
          <p:nvSpPr>
            <p:cNvPr id="30767" name="Freeform 46">
              <a:extLst>
                <a:ext uri="{FF2B5EF4-FFF2-40B4-BE49-F238E27FC236}">
                  <a16:creationId xmlns:a16="http://schemas.microsoft.com/office/drawing/2014/main" id="{EA46C427-767B-4F4C-A472-915F77665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1" y="2677"/>
              <a:ext cx="358" cy="236"/>
            </a:xfrm>
            <a:custGeom>
              <a:avLst/>
              <a:gdLst>
                <a:gd name="T0" fmla="*/ 2 w 358"/>
                <a:gd name="T1" fmla="*/ 219 h 236"/>
                <a:gd name="T2" fmla="*/ 9 w 358"/>
                <a:gd name="T3" fmla="*/ 193 h 236"/>
                <a:gd name="T4" fmla="*/ 21 w 358"/>
                <a:gd name="T5" fmla="*/ 174 h 236"/>
                <a:gd name="T6" fmla="*/ 33 w 358"/>
                <a:gd name="T7" fmla="*/ 162 h 236"/>
                <a:gd name="T8" fmla="*/ 43 w 358"/>
                <a:gd name="T9" fmla="*/ 155 h 236"/>
                <a:gd name="T10" fmla="*/ 43 w 358"/>
                <a:gd name="T11" fmla="*/ 155 h 236"/>
                <a:gd name="T12" fmla="*/ 40 w 358"/>
                <a:gd name="T13" fmla="*/ 145 h 236"/>
                <a:gd name="T14" fmla="*/ 38 w 358"/>
                <a:gd name="T15" fmla="*/ 134 h 236"/>
                <a:gd name="T16" fmla="*/ 38 w 358"/>
                <a:gd name="T17" fmla="*/ 117 h 236"/>
                <a:gd name="T18" fmla="*/ 48 w 358"/>
                <a:gd name="T19" fmla="*/ 98 h 236"/>
                <a:gd name="T20" fmla="*/ 67 w 358"/>
                <a:gd name="T21" fmla="*/ 83 h 236"/>
                <a:gd name="T22" fmla="*/ 83 w 358"/>
                <a:gd name="T23" fmla="*/ 79 h 236"/>
                <a:gd name="T24" fmla="*/ 102 w 358"/>
                <a:gd name="T25" fmla="*/ 81 h 236"/>
                <a:gd name="T26" fmla="*/ 114 w 358"/>
                <a:gd name="T27" fmla="*/ 86 h 236"/>
                <a:gd name="T28" fmla="*/ 121 w 358"/>
                <a:gd name="T29" fmla="*/ 91 h 236"/>
                <a:gd name="T30" fmla="*/ 124 w 358"/>
                <a:gd name="T31" fmla="*/ 88 h 236"/>
                <a:gd name="T32" fmla="*/ 121 w 358"/>
                <a:gd name="T33" fmla="*/ 81 h 236"/>
                <a:gd name="T34" fmla="*/ 124 w 358"/>
                <a:gd name="T35" fmla="*/ 69 h 236"/>
                <a:gd name="T36" fmla="*/ 133 w 358"/>
                <a:gd name="T37" fmla="*/ 52 h 236"/>
                <a:gd name="T38" fmla="*/ 152 w 358"/>
                <a:gd name="T39" fmla="*/ 31 h 236"/>
                <a:gd name="T40" fmla="*/ 181 w 358"/>
                <a:gd name="T41" fmla="*/ 14 h 236"/>
                <a:gd name="T42" fmla="*/ 212 w 358"/>
                <a:gd name="T43" fmla="*/ 10 h 236"/>
                <a:gd name="T44" fmla="*/ 238 w 358"/>
                <a:gd name="T45" fmla="*/ 14 h 236"/>
                <a:gd name="T46" fmla="*/ 260 w 358"/>
                <a:gd name="T47" fmla="*/ 24 h 236"/>
                <a:gd name="T48" fmla="*/ 272 w 358"/>
                <a:gd name="T49" fmla="*/ 31 h 236"/>
                <a:gd name="T50" fmla="*/ 274 w 358"/>
                <a:gd name="T51" fmla="*/ 31 h 236"/>
                <a:gd name="T52" fmla="*/ 274 w 358"/>
                <a:gd name="T53" fmla="*/ 26 h 236"/>
                <a:gd name="T54" fmla="*/ 279 w 358"/>
                <a:gd name="T55" fmla="*/ 17 h 236"/>
                <a:gd name="T56" fmla="*/ 288 w 358"/>
                <a:gd name="T57" fmla="*/ 7 h 236"/>
                <a:gd name="T58" fmla="*/ 305 w 358"/>
                <a:gd name="T59" fmla="*/ 2 h 236"/>
                <a:gd name="T60" fmla="*/ 327 w 358"/>
                <a:gd name="T61" fmla="*/ 2 h 236"/>
                <a:gd name="T62" fmla="*/ 343 w 358"/>
                <a:gd name="T63" fmla="*/ 7 h 236"/>
                <a:gd name="T64" fmla="*/ 350 w 358"/>
                <a:gd name="T65" fmla="*/ 17 h 236"/>
                <a:gd name="T66" fmla="*/ 355 w 358"/>
                <a:gd name="T67" fmla="*/ 26 h 236"/>
                <a:gd name="T68" fmla="*/ 358 w 358"/>
                <a:gd name="T69" fmla="*/ 31 h 2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358" h="236">
                  <a:moveTo>
                    <a:pt x="0" y="236"/>
                  </a:moveTo>
                  <a:lnTo>
                    <a:pt x="2" y="219"/>
                  </a:lnTo>
                  <a:lnTo>
                    <a:pt x="5" y="205"/>
                  </a:lnTo>
                  <a:lnTo>
                    <a:pt x="9" y="193"/>
                  </a:lnTo>
                  <a:lnTo>
                    <a:pt x="14" y="181"/>
                  </a:lnTo>
                  <a:lnTo>
                    <a:pt x="21" y="174"/>
                  </a:lnTo>
                  <a:lnTo>
                    <a:pt x="29" y="167"/>
                  </a:lnTo>
                  <a:lnTo>
                    <a:pt x="33" y="162"/>
                  </a:lnTo>
                  <a:lnTo>
                    <a:pt x="38" y="157"/>
                  </a:lnTo>
                  <a:lnTo>
                    <a:pt x="43" y="155"/>
                  </a:lnTo>
                  <a:lnTo>
                    <a:pt x="40" y="150"/>
                  </a:lnTo>
                  <a:lnTo>
                    <a:pt x="40" y="145"/>
                  </a:lnTo>
                  <a:lnTo>
                    <a:pt x="38" y="141"/>
                  </a:lnTo>
                  <a:lnTo>
                    <a:pt x="38" y="134"/>
                  </a:lnTo>
                  <a:lnTo>
                    <a:pt x="38" y="124"/>
                  </a:lnTo>
                  <a:lnTo>
                    <a:pt x="38" y="117"/>
                  </a:lnTo>
                  <a:lnTo>
                    <a:pt x="43" y="107"/>
                  </a:lnTo>
                  <a:lnTo>
                    <a:pt x="48" y="98"/>
                  </a:lnTo>
                  <a:lnTo>
                    <a:pt x="55" y="91"/>
                  </a:lnTo>
                  <a:lnTo>
                    <a:pt x="67" y="83"/>
                  </a:lnTo>
                  <a:lnTo>
                    <a:pt x="76" y="81"/>
                  </a:lnTo>
                  <a:lnTo>
                    <a:pt x="83" y="79"/>
                  </a:lnTo>
                  <a:lnTo>
                    <a:pt x="93" y="79"/>
                  </a:lnTo>
                  <a:lnTo>
                    <a:pt x="102" y="81"/>
                  </a:lnTo>
                  <a:lnTo>
                    <a:pt x="110" y="83"/>
                  </a:lnTo>
                  <a:lnTo>
                    <a:pt x="114" y="86"/>
                  </a:lnTo>
                  <a:lnTo>
                    <a:pt x="119" y="88"/>
                  </a:lnTo>
                  <a:lnTo>
                    <a:pt x="121" y="91"/>
                  </a:lnTo>
                  <a:lnTo>
                    <a:pt x="124" y="91"/>
                  </a:lnTo>
                  <a:lnTo>
                    <a:pt x="124" y="88"/>
                  </a:lnTo>
                  <a:lnTo>
                    <a:pt x="121" y="86"/>
                  </a:lnTo>
                  <a:lnTo>
                    <a:pt x="121" y="81"/>
                  </a:lnTo>
                  <a:lnTo>
                    <a:pt x="124" y="76"/>
                  </a:lnTo>
                  <a:lnTo>
                    <a:pt x="124" y="69"/>
                  </a:lnTo>
                  <a:lnTo>
                    <a:pt x="129" y="60"/>
                  </a:lnTo>
                  <a:lnTo>
                    <a:pt x="133" y="52"/>
                  </a:lnTo>
                  <a:lnTo>
                    <a:pt x="141" y="43"/>
                  </a:lnTo>
                  <a:lnTo>
                    <a:pt x="152" y="31"/>
                  </a:lnTo>
                  <a:lnTo>
                    <a:pt x="164" y="21"/>
                  </a:lnTo>
                  <a:lnTo>
                    <a:pt x="181" y="14"/>
                  </a:lnTo>
                  <a:lnTo>
                    <a:pt x="195" y="10"/>
                  </a:lnTo>
                  <a:lnTo>
                    <a:pt x="212" y="10"/>
                  </a:lnTo>
                  <a:lnTo>
                    <a:pt x="226" y="10"/>
                  </a:lnTo>
                  <a:lnTo>
                    <a:pt x="238" y="14"/>
                  </a:lnTo>
                  <a:lnTo>
                    <a:pt x="250" y="19"/>
                  </a:lnTo>
                  <a:lnTo>
                    <a:pt x="260" y="24"/>
                  </a:lnTo>
                  <a:lnTo>
                    <a:pt x="267" y="29"/>
                  </a:lnTo>
                  <a:lnTo>
                    <a:pt x="272" y="31"/>
                  </a:lnTo>
                  <a:lnTo>
                    <a:pt x="274" y="33"/>
                  </a:lnTo>
                  <a:lnTo>
                    <a:pt x="274" y="31"/>
                  </a:lnTo>
                  <a:lnTo>
                    <a:pt x="274" y="29"/>
                  </a:lnTo>
                  <a:lnTo>
                    <a:pt x="274" y="26"/>
                  </a:lnTo>
                  <a:lnTo>
                    <a:pt x="276" y="21"/>
                  </a:lnTo>
                  <a:lnTo>
                    <a:pt x="279" y="17"/>
                  </a:lnTo>
                  <a:lnTo>
                    <a:pt x="284" y="12"/>
                  </a:lnTo>
                  <a:lnTo>
                    <a:pt x="288" y="7"/>
                  </a:lnTo>
                  <a:lnTo>
                    <a:pt x="296" y="5"/>
                  </a:lnTo>
                  <a:lnTo>
                    <a:pt x="305" y="2"/>
                  </a:lnTo>
                  <a:lnTo>
                    <a:pt x="315" y="0"/>
                  </a:lnTo>
                  <a:lnTo>
                    <a:pt x="327" y="2"/>
                  </a:lnTo>
                  <a:lnTo>
                    <a:pt x="336" y="5"/>
                  </a:lnTo>
                  <a:lnTo>
                    <a:pt x="343" y="7"/>
                  </a:lnTo>
                  <a:lnTo>
                    <a:pt x="348" y="12"/>
                  </a:lnTo>
                  <a:lnTo>
                    <a:pt x="350" y="17"/>
                  </a:lnTo>
                  <a:lnTo>
                    <a:pt x="355" y="21"/>
                  </a:lnTo>
                  <a:lnTo>
                    <a:pt x="355" y="26"/>
                  </a:lnTo>
                  <a:lnTo>
                    <a:pt x="358" y="29"/>
                  </a:lnTo>
                  <a:lnTo>
                    <a:pt x="358" y="31"/>
                  </a:lnTo>
                  <a:lnTo>
                    <a:pt x="358" y="33"/>
                  </a:lnTo>
                </a:path>
              </a:pathLst>
            </a:custGeom>
            <a:noFill/>
            <a:ln w="12700" cmpd="sng">
              <a:solidFill>
                <a:srgbClr val="0066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/>
            <a:lstStyle/>
            <a:p>
              <a:endParaRPr lang="en-US" sz="908"/>
            </a:p>
          </p:txBody>
        </p:sp>
        <p:sp>
          <p:nvSpPr>
            <p:cNvPr id="30768" name="Freeform 47">
              <a:extLst>
                <a:ext uri="{FF2B5EF4-FFF2-40B4-BE49-F238E27FC236}">
                  <a16:creationId xmlns:a16="http://schemas.microsoft.com/office/drawing/2014/main" id="{5392B053-E7C7-4C22-8036-B4E3762145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1" y="2911"/>
              <a:ext cx="272" cy="229"/>
            </a:xfrm>
            <a:custGeom>
              <a:avLst/>
              <a:gdLst>
                <a:gd name="T0" fmla="*/ 272 w 272"/>
                <a:gd name="T1" fmla="*/ 202 h 229"/>
                <a:gd name="T2" fmla="*/ 272 w 272"/>
                <a:gd name="T3" fmla="*/ 205 h 229"/>
                <a:gd name="T4" fmla="*/ 267 w 272"/>
                <a:gd name="T5" fmla="*/ 207 h 229"/>
                <a:gd name="T6" fmla="*/ 260 w 272"/>
                <a:gd name="T7" fmla="*/ 212 h 229"/>
                <a:gd name="T8" fmla="*/ 250 w 272"/>
                <a:gd name="T9" fmla="*/ 217 h 229"/>
                <a:gd name="T10" fmla="*/ 238 w 272"/>
                <a:gd name="T11" fmla="*/ 221 h 229"/>
                <a:gd name="T12" fmla="*/ 226 w 272"/>
                <a:gd name="T13" fmla="*/ 226 h 229"/>
                <a:gd name="T14" fmla="*/ 212 w 272"/>
                <a:gd name="T15" fmla="*/ 229 h 229"/>
                <a:gd name="T16" fmla="*/ 195 w 272"/>
                <a:gd name="T17" fmla="*/ 226 h 229"/>
                <a:gd name="T18" fmla="*/ 181 w 272"/>
                <a:gd name="T19" fmla="*/ 224 h 229"/>
                <a:gd name="T20" fmla="*/ 164 w 272"/>
                <a:gd name="T21" fmla="*/ 214 h 229"/>
                <a:gd name="T22" fmla="*/ 152 w 272"/>
                <a:gd name="T23" fmla="*/ 205 h 229"/>
                <a:gd name="T24" fmla="*/ 141 w 272"/>
                <a:gd name="T25" fmla="*/ 195 h 229"/>
                <a:gd name="T26" fmla="*/ 133 w 272"/>
                <a:gd name="T27" fmla="*/ 186 h 229"/>
                <a:gd name="T28" fmla="*/ 129 w 272"/>
                <a:gd name="T29" fmla="*/ 176 h 229"/>
                <a:gd name="T30" fmla="*/ 124 w 272"/>
                <a:gd name="T31" fmla="*/ 167 h 229"/>
                <a:gd name="T32" fmla="*/ 124 w 272"/>
                <a:gd name="T33" fmla="*/ 159 h 229"/>
                <a:gd name="T34" fmla="*/ 121 w 272"/>
                <a:gd name="T35" fmla="*/ 155 h 229"/>
                <a:gd name="T36" fmla="*/ 121 w 272"/>
                <a:gd name="T37" fmla="*/ 150 h 229"/>
                <a:gd name="T38" fmla="*/ 124 w 272"/>
                <a:gd name="T39" fmla="*/ 148 h 229"/>
                <a:gd name="T40" fmla="*/ 124 w 272"/>
                <a:gd name="T41" fmla="*/ 145 h 229"/>
                <a:gd name="T42" fmla="*/ 121 w 272"/>
                <a:gd name="T43" fmla="*/ 148 h 229"/>
                <a:gd name="T44" fmla="*/ 119 w 272"/>
                <a:gd name="T45" fmla="*/ 150 h 229"/>
                <a:gd name="T46" fmla="*/ 114 w 272"/>
                <a:gd name="T47" fmla="*/ 152 h 229"/>
                <a:gd name="T48" fmla="*/ 110 w 272"/>
                <a:gd name="T49" fmla="*/ 155 h 229"/>
                <a:gd name="T50" fmla="*/ 102 w 272"/>
                <a:gd name="T51" fmla="*/ 157 h 229"/>
                <a:gd name="T52" fmla="*/ 93 w 272"/>
                <a:gd name="T53" fmla="*/ 157 h 229"/>
                <a:gd name="T54" fmla="*/ 83 w 272"/>
                <a:gd name="T55" fmla="*/ 157 h 229"/>
                <a:gd name="T56" fmla="*/ 76 w 272"/>
                <a:gd name="T57" fmla="*/ 157 h 229"/>
                <a:gd name="T58" fmla="*/ 67 w 272"/>
                <a:gd name="T59" fmla="*/ 152 h 229"/>
                <a:gd name="T60" fmla="*/ 55 w 272"/>
                <a:gd name="T61" fmla="*/ 145 h 229"/>
                <a:gd name="T62" fmla="*/ 48 w 272"/>
                <a:gd name="T63" fmla="*/ 138 h 229"/>
                <a:gd name="T64" fmla="*/ 43 w 272"/>
                <a:gd name="T65" fmla="*/ 128 h 229"/>
                <a:gd name="T66" fmla="*/ 38 w 272"/>
                <a:gd name="T67" fmla="*/ 121 h 229"/>
                <a:gd name="T68" fmla="*/ 38 w 272"/>
                <a:gd name="T69" fmla="*/ 112 h 229"/>
                <a:gd name="T70" fmla="*/ 38 w 272"/>
                <a:gd name="T71" fmla="*/ 105 h 229"/>
                <a:gd name="T72" fmla="*/ 38 w 272"/>
                <a:gd name="T73" fmla="*/ 97 h 229"/>
                <a:gd name="T74" fmla="*/ 40 w 272"/>
                <a:gd name="T75" fmla="*/ 90 h 229"/>
                <a:gd name="T76" fmla="*/ 40 w 272"/>
                <a:gd name="T77" fmla="*/ 86 h 229"/>
                <a:gd name="T78" fmla="*/ 43 w 272"/>
                <a:gd name="T79" fmla="*/ 83 h 229"/>
                <a:gd name="T80" fmla="*/ 43 w 272"/>
                <a:gd name="T81" fmla="*/ 81 h 229"/>
                <a:gd name="T82" fmla="*/ 43 w 272"/>
                <a:gd name="T83" fmla="*/ 81 h 229"/>
                <a:gd name="T84" fmla="*/ 38 w 272"/>
                <a:gd name="T85" fmla="*/ 78 h 229"/>
                <a:gd name="T86" fmla="*/ 33 w 272"/>
                <a:gd name="T87" fmla="*/ 76 h 229"/>
                <a:gd name="T88" fmla="*/ 29 w 272"/>
                <a:gd name="T89" fmla="*/ 71 h 229"/>
                <a:gd name="T90" fmla="*/ 21 w 272"/>
                <a:gd name="T91" fmla="*/ 64 h 229"/>
                <a:gd name="T92" fmla="*/ 14 w 272"/>
                <a:gd name="T93" fmla="*/ 55 h 229"/>
                <a:gd name="T94" fmla="*/ 9 w 272"/>
                <a:gd name="T95" fmla="*/ 45 h 229"/>
                <a:gd name="T96" fmla="*/ 5 w 272"/>
                <a:gd name="T97" fmla="*/ 31 h 229"/>
                <a:gd name="T98" fmla="*/ 2 w 272"/>
                <a:gd name="T99" fmla="*/ 16 h 229"/>
                <a:gd name="T100" fmla="*/ 0 w 272"/>
                <a:gd name="T101" fmla="*/ 0 h 22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272" h="229">
                  <a:moveTo>
                    <a:pt x="272" y="202"/>
                  </a:moveTo>
                  <a:lnTo>
                    <a:pt x="272" y="205"/>
                  </a:lnTo>
                  <a:lnTo>
                    <a:pt x="267" y="207"/>
                  </a:lnTo>
                  <a:lnTo>
                    <a:pt x="260" y="212"/>
                  </a:lnTo>
                  <a:lnTo>
                    <a:pt x="250" y="217"/>
                  </a:lnTo>
                  <a:lnTo>
                    <a:pt x="238" y="221"/>
                  </a:lnTo>
                  <a:lnTo>
                    <a:pt x="226" y="226"/>
                  </a:lnTo>
                  <a:lnTo>
                    <a:pt x="212" y="229"/>
                  </a:lnTo>
                  <a:lnTo>
                    <a:pt x="195" y="226"/>
                  </a:lnTo>
                  <a:lnTo>
                    <a:pt x="181" y="224"/>
                  </a:lnTo>
                  <a:lnTo>
                    <a:pt x="164" y="214"/>
                  </a:lnTo>
                  <a:lnTo>
                    <a:pt x="152" y="205"/>
                  </a:lnTo>
                  <a:lnTo>
                    <a:pt x="141" y="195"/>
                  </a:lnTo>
                  <a:lnTo>
                    <a:pt x="133" y="186"/>
                  </a:lnTo>
                  <a:lnTo>
                    <a:pt x="129" y="176"/>
                  </a:lnTo>
                  <a:lnTo>
                    <a:pt x="124" y="167"/>
                  </a:lnTo>
                  <a:lnTo>
                    <a:pt x="124" y="159"/>
                  </a:lnTo>
                  <a:lnTo>
                    <a:pt x="121" y="155"/>
                  </a:lnTo>
                  <a:lnTo>
                    <a:pt x="121" y="150"/>
                  </a:lnTo>
                  <a:lnTo>
                    <a:pt x="124" y="148"/>
                  </a:lnTo>
                  <a:lnTo>
                    <a:pt x="124" y="145"/>
                  </a:lnTo>
                  <a:lnTo>
                    <a:pt x="121" y="148"/>
                  </a:lnTo>
                  <a:lnTo>
                    <a:pt x="119" y="150"/>
                  </a:lnTo>
                  <a:lnTo>
                    <a:pt x="114" y="152"/>
                  </a:lnTo>
                  <a:lnTo>
                    <a:pt x="110" y="155"/>
                  </a:lnTo>
                  <a:lnTo>
                    <a:pt x="102" y="157"/>
                  </a:lnTo>
                  <a:lnTo>
                    <a:pt x="93" y="157"/>
                  </a:lnTo>
                  <a:lnTo>
                    <a:pt x="83" y="157"/>
                  </a:lnTo>
                  <a:lnTo>
                    <a:pt x="76" y="157"/>
                  </a:lnTo>
                  <a:lnTo>
                    <a:pt x="67" y="152"/>
                  </a:lnTo>
                  <a:lnTo>
                    <a:pt x="55" y="145"/>
                  </a:lnTo>
                  <a:lnTo>
                    <a:pt x="48" y="138"/>
                  </a:lnTo>
                  <a:lnTo>
                    <a:pt x="43" y="128"/>
                  </a:lnTo>
                  <a:lnTo>
                    <a:pt x="38" y="121"/>
                  </a:lnTo>
                  <a:lnTo>
                    <a:pt x="38" y="112"/>
                  </a:lnTo>
                  <a:lnTo>
                    <a:pt x="38" y="105"/>
                  </a:lnTo>
                  <a:lnTo>
                    <a:pt x="38" y="97"/>
                  </a:lnTo>
                  <a:lnTo>
                    <a:pt x="40" y="90"/>
                  </a:lnTo>
                  <a:lnTo>
                    <a:pt x="40" y="86"/>
                  </a:lnTo>
                  <a:lnTo>
                    <a:pt x="43" y="83"/>
                  </a:lnTo>
                  <a:lnTo>
                    <a:pt x="43" y="81"/>
                  </a:lnTo>
                  <a:lnTo>
                    <a:pt x="38" y="78"/>
                  </a:lnTo>
                  <a:lnTo>
                    <a:pt x="33" y="76"/>
                  </a:lnTo>
                  <a:lnTo>
                    <a:pt x="29" y="71"/>
                  </a:lnTo>
                  <a:lnTo>
                    <a:pt x="21" y="64"/>
                  </a:lnTo>
                  <a:lnTo>
                    <a:pt x="14" y="55"/>
                  </a:lnTo>
                  <a:lnTo>
                    <a:pt x="9" y="45"/>
                  </a:lnTo>
                  <a:lnTo>
                    <a:pt x="5" y="31"/>
                  </a:lnTo>
                  <a:lnTo>
                    <a:pt x="2" y="16"/>
                  </a:lnTo>
                  <a:lnTo>
                    <a:pt x="0" y="0"/>
                  </a:lnTo>
                </a:path>
              </a:pathLst>
            </a:custGeom>
            <a:noFill/>
            <a:ln w="12700" cmpd="sng">
              <a:solidFill>
                <a:srgbClr val="0066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/>
            <a:lstStyle/>
            <a:p>
              <a:endParaRPr lang="en-US" sz="908"/>
            </a:p>
          </p:txBody>
        </p:sp>
        <p:sp>
          <p:nvSpPr>
            <p:cNvPr id="30769" name="Freeform 48">
              <a:extLst>
                <a:ext uri="{FF2B5EF4-FFF2-40B4-BE49-F238E27FC236}">
                  <a16:creationId xmlns:a16="http://schemas.microsoft.com/office/drawing/2014/main" id="{B25C4E96-02D1-41BB-AAC2-525D2C9C5D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5" y="2911"/>
              <a:ext cx="355" cy="236"/>
            </a:xfrm>
            <a:custGeom>
              <a:avLst/>
              <a:gdLst>
                <a:gd name="T0" fmla="*/ 355 w 355"/>
                <a:gd name="T1" fmla="*/ 16 h 236"/>
                <a:gd name="T2" fmla="*/ 348 w 355"/>
                <a:gd name="T3" fmla="*/ 45 h 236"/>
                <a:gd name="T4" fmla="*/ 334 w 355"/>
                <a:gd name="T5" fmla="*/ 64 h 236"/>
                <a:gd name="T6" fmla="*/ 322 w 355"/>
                <a:gd name="T7" fmla="*/ 76 h 236"/>
                <a:gd name="T8" fmla="*/ 315 w 355"/>
                <a:gd name="T9" fmla="*/ 81 h 236"/>
                <a:gd name="T10" fmla="*/ 315 w 355"/>
                <a:gd name="T11" fmla="*/ 83 h 236"/>
                <a:gd name="T12" fmla="*/ 317 w 355"/>
                <a:gd name="T13" fmla="*/ 90 h 236"/>
                <a:gd name="T14" fmla="*/ 320 w 355"/>
                <a:gd name="T15" fmla="*/ 105 h 236"/>
                <a:gd name="T16" fmla="*/ 317 w 355"/>
                <a:gd name="T17" fmla="*/ 121 h 236"/>
                <a:gd name="T18" fmla="*/ 310 w 355"/>
                <a:gd name="T19" fmla="*/ 138 h 236"/>
                <a:gd name="T20" fmla="*/ 291 w 355"/>
                <a:gd name="T21" fmla="*/ 152 h 236"/>
                <a:gd name="T22" fmla="*/ 272 w 355"/>
                <a:gd name="T23" fmla="*/ 159 h 236"/>
                <a:gd name="T24" fmla="*/ 255 w 355"/>
                <a:gd name="T25" fmla="*/ 157 h 236"/>
                <a:gd name="T26" fmla="*/ 241 w 355"/>
                <a:gd name="T27" fmla="*/ 152 h 236"/>
                <a:gd name="T28" fmla="*/ 234 w 355"/>
                <a:gd name="T29" fmla="*/ 148 h 236"/>
                <a:gd name="T30" fmla="*/ 234 w 355"/>
                <a:gd name="T31" fmla="*/ 148 h 236"/>
                <a:gd name="T32" fmla="*/ 234 w 355"/>
                <a:gd name="T33" fmla="*/ 155 h 236"/>
                <a:gd name="T34" fmla="*/ 231 w 355"/>
                <a:gd name="T35" fmla="*/ 169 h 236"/>
                <a:gd name="T36" fmla="*/ 224 w 355"/>
                <a:gd name="T37" fmla="*/ 186 h 236"/>
                <a:gd name="T38" fmla="*/ 205 w 355"/>
                <a:gd name="T39" fmla="*/ 205 h 236"/>
                <a:gd name="T40" fmla="*/ 177 w 355"/>
                <a:gd name="T41" fmla="*/ 224 h 236"/>
                <a:gd name="T42" fmla="*/ 146 w 355"/>
                <a:gd name="T43" fmla="*/ 229 h 236"/>
                <a:gd name="T44" fmla="*/ 117 w 355"/>
                <a:gd name="T45" fmla="*/ 224 h 236"/>
                <a:gd name="T46" fmla="*/ 98 w 355"/>
                <a:gd name="T47" fmla="*/ 214 h 236"/>
                <a:gd name="T48" fmla="*/ 86 w 355"/>
                <a:gd name="T49" fmla="*/ 205 h 236"/>
                <a:gd name="T50" fmla="*/ 84 w 355"/>
                <a:gd name="T51" fmla="*/ 205 h 236"/>
                <a:gd name="T52" fmla="*/ 81 w 355"/>
                <a:gd name="T53" fmla="*/ 212 h 236"/>
                <a:gd name="T54" fmla="*/ 76 w 355"/>
                <a:gd name="T55" fmla="*/ 219 h 236"/>
                <a:gd name="T56" fmla="*/ 69 w 355"/>
                <a:gd name="T57" fmla="*/ 229 h 236"/>
                <a:gd name="T58" fmla="*/ 53 w 355"/>
                <a:gd name="T59" fmla="*/ 236 h 236"/>
                <a:gd name="T60" fmla="*/ 31 w 355"/>
                <a:gd name="T61" fmla="*/ 236 h 236"/>
                <a:gd name="T62" fmla="*/ 14 w 355"/>
                <a:gd name="T63" fmla="*/ 229 h 236"/>
                <a:gd name="T64" fmla="*/ 5 w 355"/>
                <a:gd name="T65" fmla="*/ 219 h 236"/>
                <a:gd name="T66" fmla="*/ 0 w 355"/>
                <a:gd name="T67" fmla="*/ 212 h 236"/>
                <a:gd name="T68" fmla="*/ 0 w 355"/>
                <a:gd name="T69" fmla="*/ 205 h 2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355" h="236">
                  <a:moveTo>
                    <a:pt x="355" y="0"/>
                  </a:moveTo>
                  <a:lnTo>
                    <a:pt x="355" y="16"/>
                  </a:lnTo>
                  <a:lnTo>
                    <a:pt x="353" y="33"/>
                  </a:lnTo>
                  <a:lnTo>
                    <a:pt x="348" y="45"/>
                  </a:lnTo>
                  <a:lnTo>
                    <a:pt x="341" y="55"/>
                  </a:lnTo>
                  <a:lnTo>
                    <a:pt x="334" y="64"/>
                  </a:lnTo>
                  <a:lnTo>
                    <a:pt x="329" y="71"/>
                  </a:lnTo>
                  <a:lnTo>
                    <a:pt x="322" y="76"/>
                  </a:lnTo>
                  <a:lnTo>
                    <a:pt x="317" y="78"/>
                  </a:lnTo>
                  <a:lnTo>
                    <a:pt x="315" y="81"/>
                  </a:lnTo>
                  <a:lnTo>
                    <a:pt x="312" y="83"/>
                  </a:lnTo>
                  <a:lnTo>
                    <a:pt x="315" y="83"/>
                  </a:lnTo>
                  <a:lnTo>
                    <a:pt x="315" y="86"/>
                  </a:lnTo>
                  <a:lnTo>
                    <a:pt x="317" y="90"/>
                  </a:lnTo>
                  <a:lnTo>
                    <a:pt x="317" y="97"/>
                  </a:lnTo>
                  <a:lnTo>
                    <a:pt x="320" y="105"/>
                  </a:lnTo>
                  <a:lnTo>
                    <a:pt x="320" y="112"/>
                  </a:lnTo>
                  <a:lnTo>
                    <a:pt x="317" y="121"/>
                  </a:lnTo>
                  <a:lnTo>
                    <a:pt x="315" y="131"/>
                  </a:lnTo>
                  <a:lnTo>
                    <a:pt x="310" y="138"/>
                  </a:lnTo>
                  <a:lnTo>
                    <a:pt x="300" y="148"/>
                  </a:lnTo>
                  <a:lnTo>
                    <a:pt x="291" y="152"/>
                  </a:lnTo>
                  <a:lnTo>
                    <a:pt x="281" y="157"/>
                  </a:lnTo>
                  <a:lnTo>
                    <a:pt x="272" y="159"/>
                  </a:lnTo>
                  <a:lnTo>
                    <a:pt x="262" y="159"/>
                  </a:lnTo>
                  <a:lnTo>
                    <a:pt x="255" y="157"/>
                  </a:lnTo>
                  <a:lnTo>
                    <a:pt x="248" y="155"/>
                  </a:lnTo>
                  <a:lnTo>
                    <a:pt x="241" y="152"/>
                  </a:lnTo>
                  <a:lnTo>
                    <a:pt x="236" y="150"/>
                  </a:lnTo>
                  <a:lnTo>
                    <a:pt x="234" y="148"/>
                  </a:lnTo>
                  <a:lnTo>
                    <a:pt x="234" y="150"/>
                  </a:lnTo>
                  <a:lnTo>
                    <a:pt x="234" y="155"/>
                  </a:lnTo>
                  <a:lnTo>
                    <a:pt x="234" y="162"/>
                  </a:lnTo>
                  <a:lnTo>
                    <a:pt x="231" y="169"/>
                  </a:lnTo>
                  <a:lnTo>
                    <a:pt x="229" y="176"/>
                  </a:lnTo>
                  <a:lnTo>
                    <a:pt x="224" y="186"/>
                  </a:lnTo>
                  <a:lnTo>
                    <a:pt x="215" y="195"/>
                  </a:lnTo>
                  <a:lnTo>
                    <a:pt x="205" y="205"/>
                  </a:lnTo>
                  <a:lnTo>
                    <a:pt x="191" y="217"/>
                  </a:lnTo>
                  <a:lnTo>
                    <a:pt x="177" y="224"/>
                  </a:lnTo>
                  <a:lnTo>
                    <a:pt x="160" y="229"/>
                  </a:lnTo>
                  <a:lnTo>
                    <a:pt x="146" y="229"/>
                  </a:lnTo>
                  <a:lnTo>
                    <a:pt x="131" y="226"/>
                  </a:lnTo>
                  <a:lnTo>
                    <a:pt x="117" y="224"/>
                  </a:lnTo>
                  <a:lnTo>
                    <a:pt x="107" y="219"/>
                  </a:lnTo>
                  <a:lnTo>
                    <a:pt x="98" y="214"/>
                  </a:lnTo>
                  <a:lnTo>
                    <a:pt x="91" y="209"/>
                  </a:lnTo>
                  <a:lnTo>
                    <a:pt x="86" y="205"/>
                  </a:lnTo>
                  <a:lnTo>
                    <a:pt x="84" y="205"/>
                  </a:lnTo>
                  <a:lnTo>
                    <a:pt x="84" y="207"/>
                  </a:lnTo>
                  <a:lnTo>
                    <a:pt x="81" y="212"/>
                  </a:lnTo>
                  <a:lnTo>
                    <a:pt x="81" y="214"/>
                  </a:lnTo>
                  <a:lnTo>
                    <a:pt x="76" y="219"/>
                  </a:lnTo>
                  <a:lnTo>
                    <a:pt x="74" y="224"/>
                  </a:lnTo>
                  <a:lnTo>
                    <a:pt x="69" y="229"/>
                  </a:lnTo>
                  <a:lnTo>
                    <a:pt x="62" y="233"/>
                  </a:lnTo>
                  <a:lnTo>
                    <a:pt x="53" y="236"/>
                  </a:lnTo>
                  <a:lnTo>
                    <a:pt x="41" y="236"/>
                  </a:lnTo>
                  <a:lnTo>
                    <a:pt x="31" y="236"/>
                  </a:lnTo>
                  <a:lnTo>
                    <a:pt x="22" y="233"/>
                  </a:lnTo>
                  <a:lnTo>
                    <a:pt x="14" y="229"/>
                  </a:lnTo>
                  <a:lnTo>
                    <a:pt x="10" y="224"/>
                  </a:lnTo>
                  <a:lnTo>
                    <a:pt x="5" y="219"/>
                  </a:lnTo>
                  <a:lnTo>
                    <a:pt x="2" y="214"/>
                  </a:lnTo>
                  <a:lnTo>
                    <a:pt x="0" y="212"/>
                  </a:lnTo>
                  <a:lnTo>
                    <a:pt x="0" y="207"/>
                  </a:lnTo>
                  <a:lnTo>
                    <a:pt x="0" y="205"/>
                  </a:lnTo>
                </a:path>
              </a:pathLst>
            </a:custGeom>
            <a:noFill/>
            <a:ln w="12700" cmpd="sng">
              <a:solidFill>
                <a:srgbClr val="0066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/>
            <a:lstStyle/>
            <a:p>
              <a:endParaRPr lang="en-US" sz="908"/>
            </a:p>
          </p:txBody>
        </p:sp>
      </p:grpSp>
      <p:sp>
        <p:nvSpPr>
          <p:cNvPr id="30765" name="Rectangle 49">
            <a:extLst>
              <a:ext uri="{FF2B5EF4-FFF2-40B4-BE49-F238E27FC236}">
                <a16:creationId xmlns:a16="http://schemas.microsoft.com/office/drawing/2014/main" id="{C50EBC29-1952-4262-AB63-CC1C5593C5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6397" y="117547"/>
            <a:ext cx="1915910" cy="371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15" b="1" dirty="0">
                <a:solidFill>
                  <a:srgbClr val="820288"/>
                </a:solidFill>
                <a:latin typeface="Times New Roman" panose="02020603050405020304" pitchFamily="18" charset="0"/>
              </a:rPr>
              <a:t>Routers example </a:t>
            </a:r>
            <a:endParaRPr lang="en-US" altLang="en-US" sz="2017" b="1" dirty="0">
              <a:solidFill>
                <a:srgbClr val="A703A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4">
            <a:extLst>
              <a:ext uri="{FF2B5EF4-FFF2-40B4-BE49-F238E27FC236}">
                <a16:creationId xmlns:a16="http://schemas.microsoft.com/office/drawing/2014/main" id="{09566035-8E48-405C-99D5-A71B30700F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80265" y="312929"/>
            <a:ext cx="3928989" cy="576263"/>
          </a:xfrm>
          <a:noFill/>
        </p:spPr>
        <p:txBody>
          <a:bodyPr anchor="b"/>
          <a:lstStyle/>
          <a:p>
            <a:pPr eaLnBrk="1" hangingPunct="1"/>
            <a:r>
              <a:rPr lang="en-US" altLang="en-US"/>
              <a:t>Gateways (protocol converter)</a:t>
            </a:r>
          </a:p>
        </p:txBody>
      </p:sp>
      <p:pic>
        <p:nvPicPr>
          <p:cNvPr id="31747" name="Picture 5" descr="1">
            <a:extLst>
              <a:ext uri="{FF2B5EF4-FFF2-40B4-BE49-F238E27FC236}">
                <a16:creationId xmlns:a16="http://schemas.microsoft.com/office/drawing/2014/main" id="{7D61A300-C892-4CF2-8F67-50701B3480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957" y="1040461"/>
            <a:ext cx="3887371" cy="2201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0"/>
          <p:cNvSpPr/>
          <p:nvPr/>
        </p:nvSpPr>
        <p:spPr>
          <a:xfrm>
            <a:off x="4145090" y="3259695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5" name="object 25"/>
          <p:cNvGrpSpPr/>
          <p:nvPr/>
        </p:nvGrpSpPr>
        <p:grpSpPr>
          <a:xfrm>
            <a:off x="0" y="0"/>
            <a:ext cx="4608195" cy="569595"/>
            <a:chOff x="0" y="0"/>
            <a:chExt cx="4608195" cy="569595"/>
          </a:xfrm>
        </p:grpSpPr>
        <p:sp>
          <p:nvSpPr>
            <p:cNvPr id="26" name="object 26"/>
            <p:cNvSpPr/>
            <p:nvPr/>
          </p:nvSpPr>
          <p:spPr>
            <a:xfrm>
              <a:off x="569366" y="0"/>
              <a:ext cx="4039235" cy="569595"/>
            </a:xfrm>
            <a:custGeom>
              <a:avLst/>
              <a:gdLst/>
              <a:ahLst/>
              <a:cxnLst/>
              <a:rect l="l" t="t" r="r" b="b"/>
              <a:pathLst>
                <a:path w="4039235" h="569595">
                  <a:moveTo>
                    <a:pt x="0" y="569366"/>
                  </a:moveTo>
                  <a:lnTo>
                    <a:pt x="4038638" y="569366"/>
                  </a:lnTo>
                  <a:lnTo>
                    <a:pt x="4038638" y="0"/>
                  </a:lnTo>
                  <a:lnTo>
                    <a:pt x="0" y="0"/>
                  </a:lnTo>
                  <a:lnTo>
                    <a:pt x="0" y="569366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0" y="0"/>
              <a:ext cx="569595" cy="569595"/>
            </a:xfrm>
            <a:custGeom>
              <a:avLst/>
              <a:gdLst/>
              <a:ahLst/>
              <a:cxnLst/>
              <a:rect l="l" t="t" r="r" b="b"/>
              <a:pathLst>
                <a:path w="569595" h="569595">
                  <a:moveTo>
                    <a:pt x="569366" y="0"/>
                  </a:moveTo>
                  <a:lnTo>
                    <a:pt x="0" y="0"/>
                  </a:lnTo>
                  <a:lnTo>
                    <a:pt x="0" y="569366"/>
                  </a:lnTo>
                  <a:lnTo>
                    <a:pt x="569366" y="569366"/>
                  </a:lnTo>
                  <a:lnTo>
                    <a:pt x="56936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xfrm>
            <a:off x="664666" y="172155"/>
            <a:ext cx="3255773" cy="2190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Summ</a:t>
            </a:r>
            <a:r>
              <a:rPr spc="-60" dirty="0"/>
              <a:t>ary</a:t>
            </a:r>
          </a:p>
        </p:txBody>
      </p:sp>
      <p:pic>
        <p:nvPicPr>
          <p:cNvPr id="29" name="object 2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9250" y="741751"/>
            <a:ext cx="1275196" cy="1089322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1199466" y="2039758"/>
            <a:ext cx="2366590" cy="1051312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lang="en-US" sz="1100" spc="-45" dirty="0">
                <a:latin typeface="Tahoma"/>
                <a:cs typeface="Tahoma"/>
              </a:rPr>
              <a:t>1. </a:t>
            </a:r>
            <a:r>
              <a:rPr sz="1100" spc="-45" dirty="0">
                <a:latin typeface="Tahoma"/>
                <a:cs typeface="Tahoma"/>
              </a:rPr>
              <a:t>Overview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lang="en-US" sz="1100" spc="-55" dirty="0">
                <a:latin typeface="Tahoma"/>
                <a:cs typeface="Tahoma"/>
              </a:rPr>
              <a:t>OSI Model</a:t>
            </a:r>
            <a:endParaRPr sz="1100" dirty="0">
              <a:latin typeface="Tahoma"/>
              <a:cs typeface="Tahoma"/>
            </a:endParaRPr>
          </a:p>
          <a:p>
            <a:pPr marL="12700" marR="5080">
              <a:lnSpc>
                <a:spcPct val="125299"/>
              </a:lnSpc>
            </a:pPr>
            <a:r>
              <a:rPr lang="en-US" sz="1100" spc="-40" dirty="0">
                <a:latin typeface="Tahoma"/>
                <a:cs typeface="Tahoma"/>
              </a:rPr>
              <a:t>2. </a:t>
            </a:r>
            <a:r>
              <a:rPr sz="1100" spc="-40" dirty="0">
                <a:latin typeface="Tahoma"/>
                <a:cs typeface="Tahoma"/>
              </a:rPr>
              <a:t>Computer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Network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vs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Distributed</a:t>
            </a:r>
            <a:endParaRPr lang="en-US" sz="1100" spc="-25" dirty="0">
              <a:latin typeface="Tahoma"/>
              <a:cs typeface="Tahoma"/>
            </a:endParaRPr>
          </a:p>
          <a:p>
            <a:pPr marL="12700" marR="5080">
              <a:lnSpc>
                <a:spcPct val="125299"/>
              </a:lnSpc>
            </a:pPr>
            <a:r>
              <a:rPr lang="en-US" sz="1100" spc="-25" dirty="0">
                <a:latin typeface="Tahoma"/>
                <a:cs typeface="Tahoma"/>
              </a:rPr>
              <a:t>3. Application of Computer Network</a:t>
            </a:r>
            <a:r>
              <a:rPr sz="1100" spc="20" dirty="0">
                <a:latin typeface="Tahoma"/>
                <a:cs typeface="Tahoma"/>
              </a:rPr>
              <a:t> </a:t>
            </a:r>
            <a:endParaRPr lang="en-US" sz="1100" spc="20" dirty="0">
              <a:latin typeface="Tahoma"/>
              <a:cs typeface="Tahoma"/>
            </a:endParaRPr>
          </a:p>
          <a:p>
            <a:pPr marL="12700" marR="5080">
              <a:lnSpc>
                <a:spcPct val="125299"/>
              </a:lnSpc>
            </a:pPr>
            <a:r>
              <a:rPr lang="en-US" sz="1100" spc="20" dirty="0">
                <a:latin typeface="Tahoma"/>
                <a:cs typeface="Tahoma"/>
              </a:rPr>
              <a:t>4. </a:t>
            </a:r>
            <a:r>
              <a:rPr sz="1100" spc="-45" dirty="0">
                <a:latin typeface="Tahoma"/>
                <a:cs typeface="Tahoma"/>
              </a:rPr>
              <a:t>System </a:t>
            </a:r>
            <a:r>
              <a:rPr sz="1100" spc="-33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Classification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Network</a:t>
            </a:r>
            <a:endParaRPr lang="en-US" sz="1100" spc="-45" dirty="0">
              <a:latin typeface="Tahoma"/>
              <a:cs typeface="Tahoma"/>
            </a:endParaRPr>
          </a:p>
          <a:p>
            <a:pPr marL="12700" marR="5080">
              <a:lnSpc>
                <a:spcPct val="125299"/>
              </a:lnSpc>
            </a:pPr>
            <a:r>
              <a:rPr lang="en-US" sz="1100" spc="-45" dirty="0">
                <a:latin typeface="Tahoma"/>
                <a:cs typeface="Tahoma"/>
              </a:rPr>
              <a:t>5. </a:t>
            </a:r>
            <a:r>
              <a:rPr lang="en-US" altLang="en-US" sz="1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Internetworking devices</a:t>
            </a:r>
            <a:endParaRPr sz="11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/>
          <p:nvPr/>
        </p:nvSpPr>
        <p:spPr>
          <a:xfrm>
            <a:off x="3046680" y="3270008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967063" y="326604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144865" y="326604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3242526" y="3257165"/>
            <a:ext cx="203200" cy="55880"/>
            <a:chOff x="3242526" y="3257165"/>
            <a:chExt cx="203200" cy="55880"/>
          </a:xfrm>
        </p:grpSpPr>
        <p:sp>
          <p:nvSpPr>
            <p:cNvPr id="13" name="object 13"/>
            <p:cNvSpPr/>
            <p:nvPr/>
          </p:nvSpPr>
          <p:spPr>
            <a:xfrm>
              <a:off x="3305694" y="3259695"/>
              <a:ext cx="64135" cy="50800"/>
            </a:xfrm>
            <a:custGeom>
              <a:avLst/>
              <a:gdLst/>
              <a:ahLst/>
              <a:cxnLst/>
              <a:rect l="l" t="t" r="r" b="b"/>
              <a:pathLst>
                <a:path w="64135" h="50800">
                  <a:moveTo>
                    <a:pt x="0" y="50800"/>
                  </a:moveTo>
                  <a:lnTo>
                    <a:pt x="43019" y="50800"/>
                  </a:lnTo>
                  <a:lnTo>
                    <a:pt x="43019" y="20434"/>
                  </a:lnTo>
                  <a:lnTo>
                    <a:pt x="0" y="20434"/>
                  </a:lnTo>
                  <a:lnTo>
                    <a:pt x="0" y="50800"/>
                  </a:lnTo>
                  <a:close/>
                </a:path>
                <a:path w="64135" h="50800">
                  <a:moveTo>
                    <a:pt x="10491" y="20320"/>
                  </a:moveTo>
                  <a:lnTo>
                    <a:pt x="10491" y="10160"/>
                  </a:lnTo>
                  <a:lnTo>
                    <a:pt x="53672" y="10160"/>
                  </a:lnTo>
                  <a:lnTo>
                    <a:pt x="53672" y="40640"/>
                  </a:lnTo>
                  <a:lnTo>
                    <a:pt x="43512" y="40640"/>
                  </a:lnTo>
                </a:path>
                <a:path w="64135" h="50800">
                  <a:moveTo>
                    <a:pt x="20652" y="10160"/>
                  </a:moveTo>
                  <a:lnTo>
                    <a:pt x="20652" y="0"/>
                  </a:lnTo>
                  <a:lnTo>
                    <a:pt x="63832" y="0"/>
                  </a:lnTo>
                  <a:lnTo>
                    <a:pt x="63832" y="30480"/>
                  </a:lnTo>
                  <a:lnTo>
                    <a:pt x="53672" y="304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42526" y="3266045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3517976" y="3255900"/>
            <a:ext cx="203200" cy="58419"/>
            <a:chOff x="3517976" y="3255900"/>
            <a:chExt cx="203200" cy="58419"/>
          </a:xfrm>
        </p:grpSpPr>
        <p:sp>
          <p:nvSpPr>
            <p:cNvPr id="16" name="object 16"/>
            <p:cNvSpPr/>
            <p:nvPr/>
          </p:nvSpPr>
          <p:spPr>
            <a:xfrm>
              <a:off x="3606877" y="3272396"/>
              <a:ext cx="38100" cy="0"/>
            </a:xfrm>
            <a:custGeom>
              <a:avLst/>
              <a:gdLst/>
              <a:ahLst/>
              <a:cxnLst/>
              <a:rect l="l" t="t" r="r" b="b"/>
              <a:pathLst>
                <a:path w="38100">
                  <a:moveTo>
                    <a:pt x="0" y="0"/>
                  </a:moveTo>
                  <a:lnTo>
                    <a:pt x="38100" y="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517976" y="3266046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594177" y="3259695"/>
              <a:ext cx="50800" cy="50800"/>
            </a:xfrm>
            <a:custGeom>
              <a:avLst/>
              <a:gdLst/>
              <a:ahLst/>
              <a:cxnLst/>
              <a:rect l="l" t="t" r="r" b="b"/>
              <a:pathLst>
                <a:path w="50800" h="50800">
                  <a:moveTo>
                    <a:pt x="0" y="0"/>
                  </a:moveTo>
                  <a:lnTo>
                    <a:pt x="38100" y="0"/>
                  </a:lnTo>
                </a:path>
                <a:path w="50800" h="50800">
                  <a:moveTo>
                    <a:pt x="12700" y="25400"/>
                  </a:moveTo>
                  <a:lnTo>
                    <a:pt x="50800" y="25400"/>
                  </a:lnTo>
                </a:path>
                <a:path w="50800" h="50800">
                  <a:moveTo>
                    <a:pt x="0" y="38100"/>
                  </a:moveTo>
                  <a:lnTo>
                    <a:pt x="38100" y="38100"/>
                  </a:lnTo>
                </a:path>
                <a:path w="50800" h="50800">
                  <a:moveTo>
                    <a:pt x="12700" y="50800"/>
                  </a:moveTo>
                  <a:lnTo>
                    <a:pt x="50800" y="50800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3793439" y="3255900"/>
            <a:ext cx="203200" cy="58419"/>
            <a:chOff x="3793439" y="3255900"/>
            <a:chExt cx="203200" cy="58419"/>
          </a:xfrm>
        </p:grpSpPr>
        <p:sp>
          <p:nvSpPr>
            <p:cNvPr id="20" name="object 20"/>
            <p:cNvSpPr/>
            <p:nvPr/>
          </p:nvSpPr>
          <p:spPr>
            <a:xfrm>
              <a:off x="3869640" y="3259695"/>
              <a:ext cx="50800" cy="25400"/>
            </a:xfrm>
            <a:custGeom>
              <a:avLst/>
              <a:gdLst/>
              <a:ahLst/>
              <a:cxnLst/>
              <a:rect l="l" t="t" r="r" b="b"/>
              <a:pathLst>
                <a:path w="50800" h="25400">
                  <a:moveTo>
                    <a:pt x="0" y="0"/>
                  </a:moveTo>
                  <a:lnTo>
                    <a:pt x="38100" y="0"/>
                  </a:lnTo>
                </a:path>
                <a:path w="50800" h="25400">
                  <a:moveTo>
                    <a:pt x="12700" y="12700"/>
                  </a:moveTo>
                  <a:lnTo>
                    <a:pt x="50800" y="12700"/>
                  </a:lnTo>
                </a:path>
                <a:path w="50800" h="25400">
                  <a:moveTo>
                    <a:pt x="12700" y="25400"/>
                  </a:moveTo>
                  <a:lnTo>
                    <a:pt x="50800" y="2540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793439" y="3266046"/>
              <a:ext cx="203200" cy="38100"/>
            </a:xfrm>
            <a:custGeom>
              <a:avLst/>
              <a:gdLst/>
              <a:ahLst/>
              <a:cxnLst/>
              <a:rect l="l" t="t" r="r" b="b"/>
              <a:pathLst>
                <a:path w="203200" h="38100">
                  <a:moveTo>
                    <a:pt x="25400" y="0"/>
                  </a:moveTo>
                  <a:lnTo>
                    <a:pt x="0" y="19050"/>
                  </a:lnTo>
                  <a:lnTo>
                    <a:pt x="25400" y="38100"/>
                  </a:lnTo>
                  <a:lnTo>
                    <a:pt x="25400" y="0"/>
                  </a:lnTo>
                  <a:close/>
                </a:path>
                <a:path w="203200" h="38100">
                  <a:moveTo>
                    <a:pt x="177802" y="0"/>
                  </a:moveTo>
                  <a:lnTo>
                    <a:pt x="177802" y="38100"/>
                  </a:lnTo>
                  <a:lnTo>
                    <a:pt x="203202" y="19050"/>
                  </a:lnTo>
                  <a:lnTo>
                    <a:pt x="177802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869640" y="3297796"/>
              <a:ext cx="50800" cy="12700"/>
            </a:xfrm>
            <a:custGeom>
              <a:avLst/>
              <a:gdLst/>
              <a:ahLst/>
              <a:cxnLst/>
              <a:rect l="l" t="t" r="r" b="b"/>
              <a:pathLst>
                <a:path w="50800" h="12700">
                  <a:moveTo>
                    <a:pt x="0" y="0"/>
                  </a:moveTo>
                  <a:lnTo>
                    <a:pt x="38100" y="0"/>
                  </a:lnTo>
                </a:path>
                <a:path w="50800" h="12700">
                  <a:moveTo>
                    <a:pt x="12700" y="12699"/>
                  </a:moveTo>
                  <a:lnTo>
                    <a:pt x="50800" y="12699"/>
                  </a:lnTo>
                </a:path>
              </a:pathLst>
            </a:custGeom>
            <a:ln w="7591">
              <a:solidFill>
                <a:srgbClr val="D6D6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/>
          <p:nvPr/>
        </p:nvSpPr>
        <p:spPr>
          <a:xfrm>
            <a:off x="4145090" y="3259695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4" name="object 24"/>
          <p:cNvGrpSpPr/>
          <p:nvPr/>
        </p:nvGrpSpPr>
        <p:grpSpPr>
          <a:xfrm>
            <a:off x="4326582" y="3257165"/>
            <a:ext cx="238760" cy="57150"/>
            <a:chOff x="4326582" y="3257165"/>
            <a:chExt cx="238760" cy="57150"/>
          </a:xfrm>
        </p:grpSpPr>
        <p:sp>
          <p:nvSpPr>
            <p:cNvPr id="25" name="object 25"/>
            <p:cNvSpPr/>
            <p:nvPr/>
          </p:nvSpPr>
          <p:spPr>
            <a:xfrm>
              <a:off x="4451033" y="329017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0" y="0"/>
                  </a:moveTo>
                  <a:lnTo>
                    <a:pt x="20320" y="20320"/>
                  </a:lnTo>
                </a:path>
              </a:pathLst>
            </a:custGeom>
            <a:ln w="7591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423969" y="3263681"/>
              <a:ext cx="30480" cy="30480"/>
            </a:xfrm>
            <a:custGeom>
              <a:avLst/>
              <a:gdLst/>
              <a:ahLst/>
              <a:cxnLst/>
              <a:rect l="l" t="t" r="r" b="b"/>
              <a:pathLst>
                <a:path w="30479" h="30479">
                  <a:moveTo>
                    <a:pt x="30366" y="15183"/>
                  </a:moveTo>
                  <a:lnTo>
                    <a:pt x="30366" y="6797"/>
                  </a:lnTo>
                  <a:lnTo>
                    <a:pt x="23568" y="0"/>
                  </a:lnTo>
                  <a:lnTo>
                    <a:pt x="15183" y="0"/>
                  </a:lnTo>
                  <a:lnTo>
                    <a:pt x="6797" y="0"/>
                  </a:lnTo>
                  <a:lnTo>
                    <a:pt x="0" y="6797"/>
                  </a:lnTo>
                  <a:lnTo>
                    <a:pt x="0" y="15183"/>
                  </a:lnTo>
                  <a:lnTo>
                    <a:pt x="0" y="23568"/>
                  </a:lnTo>
                  <a:lnTo>
                    <a:pt x="6797" y="30366"/>
                  </a:lnTo>
                  <a:lnTo>
                    <a:pt x="15183" y="30366"/>
                  </a:lnTo>
                  <a:lnTo>
                    <a:pt x="23568" y="30366"/>
                  </a:lnTo>
                  <a:lnTo>
                    <a:pt x="30366" y="23568"/>
                  </a:lnTo>
                  <a:lnTo>
                    <a:pt x="30366" y="15183"/>
                  </a:lnTo>
                  <a:close/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329112" y="3259695"/>
              <a:ext cx="233679" cy="50800"/>
            </a:xfrm>
            <a:custGeom>
              <a:avLst/>
              <a:gdLst/>
              <a:ahLst/>
              <a:cxnLst/>
              <a:rect l="l" t="t" r="r" b="b"/>
              <a:pathLst>
                <a:path w="233679" h="50800">
                  <a:moveTo>
                    <a:pt x="40640" y="50800"/>
                  </a:moveTo>
                  <a:lnTo>
                    <a:pt x="50400" y="48796"/>
                  </a:lnTo>
                  <a:lnTo>
                    <a:pt x="58488" y="43339"/>
                  </a:lnTo>
                  <a:lnTo>
                    <a:pt x="64002" y="35262"/>
                  </a:lnTo>
                  <a:lnTo>
                    <a:pt x="66040" y="25400"/>
                  </a:lnTo>
                  <a:lnTo>
                    <a:pt x="64036" y="15537"/>
                  </a:lnTo>
                  <a:lnTo>
                    <a:pt x="58579" y="7461"/>
                  </a:lnTo>
                  <a:lnTo>
                    <a:pt x="50502" y="2004"/>
                  </a:lnTo>
                  <a:lnTo>
                    <a:pt x="40640" y="0"/>
                  </a:lnTo>
                  <a:lnTo>
                    <a:pt x="30778" y="2004"/>
                  </a:lnTo>
                  <a:lnTo>
                    <a:pt x="22701" y="7461"/>
                  </a:lnTo>
                  <a:lnTo>
                    <a:pt x="17244" y="15537"/>
                  </a:lnTo>
                  <a:lnTo>
                    <a:pt x="15240" y="25400"/>
                  </a:lnTo>
                </a:path>
                <a:path w="233679" h="50800">
                  <a:moveTo>
                    <a:pt x="30480" y="17780"/>
                  </a:moveTo>
                  <a:lnTo>
                    <a:pt x="15240" y="30480"/>
                  </a:lnTo>
                  <a:lnTo>
                    <a:pt x="0" y="17780"/>
                  </a:lnTo>
                </a:path>
                <a:path w="233679" h="50800">
                  <a:moveTo>
                    <a:pt x="193042" y="50800"/>
                  </a:moveTo>
                  <a:lnTo>
                    <a:pt x="183179" y="48796"/>
                  </a:lnTo>
                  <a:lnTo>
                    <a:pt x="175103" y="43339"/>
                  </a:lnTo>
                  <a:lnTo>
                    <a:pt x="169646" y="35262"/>
                  </a:lnTo>
                  <a:lnTo>
                    <a:pt x="167642" y="25400"/>
                  </a:lnTo>
                  <a:lnTo>
                    <a:pt x="169646" y="15537"/>
                  </a:lnTo>
                  <a:lnTo>
                    <a:pt x="175103" y="7461"/>
                  </a:lnTo>
                  <a:lnTo>
                    <a:pt x="183179" y="2004"/>
                  </a:lnTo>
                  <a:lnTo>
                    <a:pt x="193042" y="0"/>
                  </a:lnTo>
                  <a:lnTo>
                    <a:pt x="202904" y="2004"/>
                  </a:lnTo>
                  <a:lnTo>
                    <a:pt x="210981" y="7461"/>
                  </a:lnTo>
                  <a:lnTo>
                    <a:pt x="216438" y="15537"/>
                  </a:lnTo>
                  <a:lnTo>
                    <a:pt x="218442" y="25400"/>
                  </a:lnTo>
                </a:path>
                <a:path w="233679" h="50800">
                  <a:moveTo>
                    <a:pt x="233682" y="17780"/>
                  </a:moveTo>
                  <a:lnTo>
                    <a:pt x="218442" y="30480"/>
                  </a:lnTo>
                  <a:lnTo>
                    <a:pt x="203202" y="17780"/>
                  </a:lnTo>
                </a:path>
              </a:pathLst>
            </a:custGeom>
            <a:ln w="5060">
              <a:solidFill>
                <a:srgbClr val="ADADE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0" y="0"/>
            <a:ext cx="4608195" cy="569595"/>
            <a:chOff x="0" y="0"/>
            <a:chExt cx="4608195" cy="569595"/>
          </a:xfrm>
        </p:grpSpPr>
        <p:sp>
          <p:nvSpPr>
            <p:cNvPr id="29" name="object 29"/>
            <p:cNvSpPr/>
            <p:nvPr/>
          </p:nvSpPr>
          <p:spPr>
            <a:xfrm>
              <a:off x="569366" y="0"/>
              <a:ext cx="4039235" cy="569595"/>
            </a:xfrm>
            <a:custGeom>
              <a:avLst/>
              <a:gdLst/>
              <a:ahLst/>
              <a:cxnLst/>
              <a:rect l="l" t="t" r="r" b="b"/>
              <a:pathLst>
                <a:path w="4039235" h="569595">
                  <a:moveTo>
                    <a:pt x="0" y="569366"/>
                  </a:moveTo>
                  <a:lnTo>
                    <a:pt x="4038638" y="569366"/>
                  </a:lnTo>
                  <a:lnTo>
                    <a:pt x="4038638" y="0"/>
                  </a:lnTo>
                  <a:lnTo>
                    <a:pt x="0" y="0"/>
                  </a:lnTo>
                  <a:lnTo>
                    <a:pt x="0" y="569366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0" y="0"/>
              <a:ext cx="569595" cy="569595"/>
            </a:xfrm>
            <a:custGeom>
              <a:avLst/>
              <a:gdLst/>
              <a:ahLst/>
              <a:cxnLst/>
              <a:rect l="l" t="t" r="r" b="b"/>
              <a:pathLst>
                <a:path w="569595" h="569595">
                  <a:moveTo>
                    <a:pt x="569366" y="0"/>
                  </a:moveTo>
                  <a:lnTo>
                    <a:pt x="0" y="0"/>
                  </a:lnTo>
                  <a:lnTo>
                    <a:pt x="0" y="569366"/>
                  </a:lnTo>
                  <a:lnTo>
                    <a:pt x="569366" y="569366"/>
                  </a:lnTo>
                  <a:lnTo>
                    <a:pt x="56936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664666" y="172155"/>
            <a:ext cx="3164383" cy="21903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5" dirty="0"/>
              <a:t>Acknowledgement</a:t>
            </a:r>
          </a:p>
        </p:txBody>
      </p:sp>
      <p:sp>
        <p:nvSpPr>
          <p:cNvPr id="32" name="object 32"/>
          <p:cNvSpPr/>
          <p:nvPr/>
        </p:nvSpPr>
        <p:spPr>
          <a:xfrm>
            <a:off x="895603" y="1355636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4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1013752" y="1265960"/>
            <a:ext cx="3317240" cy="1541063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141605">
              <a:lnSpc>
                <a:spcPct val="102600"/>
              </a:lnSpc>
              <a:spcBef>
                <a:spcPts val="55"/>
              </a:spcBef>
            </a:pPr>
            <a:r>
              <a:rPr sz="1100" spc="-35" dirty="0">
                <a:latin typeface="Tahoma"/>
                <a:cs typeface="Tahoma"/>
              </a:rPr>
              <a:t>Slides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supplied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with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Computer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Networks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by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Andrew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S. </a:t>
            </a:r>
            <a:r>
              <a:rPr sz="1100" spc="-3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Tanenbaum</a:t>
            </a:r>
            <a:endParaRPr sz="1100" dirty="0">
              <a:latin typeface="Tahoma"/>
              <a:cs typeface="Tahoma"/>
            </a:endParaRPr>
          </a:p>
          <a:p>
            <a:pPr marL="12700" marR="279400">
              <a:lnSpc>
                <a:spcPct val="102600"/>
              </a:lnSpc>
              <a:spcBef>
                <a:spcPts val="300"/>
              </a:spcBef>
            </a:pPr>
            <a:r>
              <a:rPr sz="1100" spc="-35" dirty="0">
                <a:latin typeface="Tahoma"/>
                <a:cs typeface="Tahoma"/>
              </a:rPr>
              <a:t>Lecture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Slide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by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Prof.</a:t>
            </a:r>
            <a:r>
              <a:rPr sz="1100" spc="145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Dina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Katabi,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15" dirty="0">
                <a:latin typeface="Tahoma"/>
                <a:cs typeface="Tahoma"/>
              </a:rPr>
              <a:t>MIT,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Computer </a:t>
            </a:r>
            <a:r>
              <a:rPr sz="1100" spc="-3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Science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5" dirty="0">
                <a:latin typeface="Tahoma"/>
                <a:cs typeface="Tahoma"/>
              </a:rPr>
              <a:t>Artificial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Intelligence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Lab</a:t>
            </a:r>
            <a:endParaRPr sz="1100" dirty="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sz="1100" spc="-35" dirty="0">
                <a:latin typeface="Tahoma"/>
                <a:cs typeface="Tahoma"/>
              </a:rPr>
              <a:t>Lecture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Slide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by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Prof.</a:t>
            </a:r>
            <a:r>
              <a:rPr sz="1100" spc="1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Nick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McKeown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Computer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Science </a:t>
            </a:r>
            <a:r>
              <a:rPr sz="1100" spc="-3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and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Electrical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Engineering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Stanford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University</a:t>
            </a:r>
            <a:endParaRPr lang="en-US" sz="1100" spc="-30" dirty="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r>
              <a:rPr lang="pt-BR" sz="1100" dirty="0">
                <a:latin typeface="Tahoma"/>
                <a:cs typeface="Tahoma"/>
              </a:rPr>
              <a:t>A H M Sarowar Sattar</a:t>
            </a:r>
          </a:p>
          <a:p>
            <a:pPr marL="12700" marR="5080">
              <a:lnSpc>
                <a:spcPct val="102600"/>
              </a:lnSpc>
              <a:spcBef>
                <a:spcPts val="300"/>
              </a:spcBef>
            </a:pPr>
            <a:endParaRPr sz="1100" dirty="0">
              <a:latin typeface="Tahoma"/>
              <a:cs typeface="Tahom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895603" y="1737741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4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895603" y="2119845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4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5">
            <a:extLst>
              <a:ext uri="{FF2B5EF4-FFF2-40B4-BE49-F238E27FC236}">
                <a16:creationId xmlns:a16="http://schemas.microsoft.com/office/drawing/2014/main" id="{0C573A29-AE90-48B2-996D-0CCDF2DE04D1}"/>
              </a:ext>
            </a:extLst>
          </p:cNvPr>
          <p:cNvSpPr/>
          <p:nvPr/>
        </p:nvSpPr>
        <p:spPr>
          <a:xfrm>
            <a:off x="895603" y="2478229"/>
            <a:ext cx="61594" cy="61594"/>
          </a:xfrm>
          <a:custGeom>
            <a:avLst/>
            <a:gdLst/>
            <a:ahLst/>
            <a:cxnLst/>
            <a:rect l="l" t="t" r="r" b="b"/>
            <a:pathLst>
              <a:path w="61594" h="61594">
                <a:moveTo>
                  <a:pt x="61569" y="0"/>
                </a:moveTo>
                <a:lnTo>
                  <a:pt x="0" y="0"/>
                </a:lnTo>
                <a:lnTo>
                  <a:pt x="0" y="61569"/>
                </a:lnTo>
                <a:lnTo>
                  <a:pt x="61569" y="61569"/>
                </a:lnTo>
                <a:lnTo>
                  <a:pt x="61569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102</TotalTime>
  <Words>835</Words>
  <Application>Microsoft Office PowerPoint</Application>
  <PresentationFormat>Custom</PresentationFormat>
  <Paragraphs>123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Arial</vt:lpstr>
      <vt:lpstr>Calibri</vt:lpstr>
      <vt:lpstr>Gill Sans MT</vt:lpstr>
      <vt:lpstr>Microsoft Sans Serif</vt:lpstr>
      <vt:lpstr>Tahoma</vt:lpstr>
      <vt:lpstr>Times New Roman</vt:lpstr>
      <vt:lpstr>Trebuchet MS</vt:lpstr>
      <vt:lpstr>Wingdings</vt:lpstr>
      <vt:lpstr>Parcel</vt:lpstr>
      <vt:lpstr>PowerPoint Presentation</vt:lpstr>
      <vt:lpstr>Book List</vt:lpstr>
      <vt:lpstr>What is Computer Network?</vt:lpstr>
      <vt:lpstr>What is Computer Network?</vt:lpstr>
      <vt:lpstr>Differences of Computer Network and Distributed System</vt:lpstr>
      <vt:lpstr>What is Internet?</vt:lpstr>
      <vt:lpstr>1.1 Uses of Computer Network</vt:lpstr>
      <vt:lpstr>Fundamental of communication</vt:lpstr>
      <vt:lpstr>Fundamental of communication</vt:lpstr>
      <vt:lpstr>Fundamental of communication</vt:lpstr>
      <vt:lpstr>Classification of Network</vt:lpstr>
      <vt:lpstr>Classification of Network</vt:lpstr>
      <vt:lpstr>Classification of Network</vt:lpstr>
      <vt:lpstr>Classification of Network</vt:lpstr>
      <vt:lpstr>Classification of Network</vt:lpstr>
      <vt:lpstr>Classification of Network</vt:lpstr>
      <vt:lpstr>Classification of Network</vt:lpstr>
      <vt:lpstr>Classification of Network</vt:lpstr>
      <vt:lpstr>Classification of Network</vt:lpstr>
      <vt:lpstr>Internetworking devices</vt:lpstr>
      <vt:lpstr>Hub</vt:lpstr>
      <vt:lpstr>Bridges</vt:lpstr>
      <vt:lpstr>A bridge interconnecting two dissimilar LANs </vt:lpstr>
      <vt:lpstr>Bridge interconnecting two identical LANs </vt:lpstr>
      <vt:lpstr>  Switches</vt:lpstr>
      <vt:lpstr>PowerPoint Presentation</vt:lpstr>
      <vt:lpstr>      Routers </vt:lpstr>
      <vt:lpstr>PowerPoint Presentation</vt:lpstr>
      <vt:lpstr>Gateways (protocol converter)</vt:lpstr>
      <vt:lpstr>Summary</vt:lpstr>
      <vt:lpstr>Acknowledgement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Networks (CSE 3205 &amp; CSE 3206)</dc:title>
  <dc:creator>A H M Sarowar Sattar </dc:creator>
  <cp:lastModifiedBy>Dell</cp:lastModifiedBy>
  <cp:revision>35</cp:revision>
  <dcterms:created xsi:type="dcterms:W3CDTF">2022-09-26T16:55:25Z</dcterms:created>
  <dcterms:modified xsi:type="dcterms:W3CDTF">2022-09-26T18:39:35Z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2018-10-13T00:00:00Z</vt:filetime>
  </property>
  <property fmtid="{D5CDD505-2E9C-101B-9397-08002B2CF9AE}" pid="3" name="Creator">
    <vt:lpwstr>LaTeX with Beamer class version 3.10</vt:lpwstr>
  </property>
  <property fmtid="{D5CDD505-2E9C-101B-9397-08002B2CF9AE}" pid="4" name="LastSaved">
    <vt:filetime>2022-09-26T00:00:00Z</vt:filetime>
  </property>
</Properties>
</file>