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995" r:id="rId1"/>
  </p:sldMasterIdLst>
  <p:notesMasterIdLst>
    <p:notesMasterId r:id="rId19"/>
  </p:notesMasterIdLst>
  <p:sldIdLst>
    <p:sldId id="256" r:id="rId2"/>
    <p:sldId id="317" r:id="rId3"/>
    <p:sldId id="318" r:id="rId4"/>
    <p:sldId id="319" r:id="rId5"/>
    <p:sldId id="334" r:id="rId6"/>
    <p:sldId id="329" r:id="rId7"/>
    <p:sldId id="330" r:id="rId8"/>
    <p:sldId id="331" r:id="rId9"/>
    <p:sldId id="333" r:id="rId10"/>
    <p:sldId id="332" r:id="rId11"/>
    <p:sldId id="320" r:id="rId12"/>
    <p:sldId id="321" r:id="rId13"/>
    <p:sldId id="322" r:id="rId14"/>
    <p:sldId id="323" r:id="rId15"/>
    <p:sldId id="324" r:id="rId16"/>
    <p:sldId id="328" r:id="rId17"/>
    <p:sldId id="30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218" autoAdjust="0"/>
  </p:normalViewPr>
  <p:slideViewPr>
    <p:cSldViewPr>
      <p:cViewPr varScale="1">
        <p:scale>
          <a:sx n="120" d="100"/>
          <a:sy n="120" d="100"/>
        </p:scale>
        <p:origin x="144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8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5F947E-8D99-EC4B-919F-3DCE784C96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1805C-C366-F23B-1638-B4D0B0FFBD4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5824D14-9344-9D4B-B65A-7432965D5728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3723115-FB5A-4F68-0484-11755FE61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9DE7C1-E496-C1AA-1C41-6FB68FC96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901C6-57C6-4E0F-D1E8-87A5875D8E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DE7B1A-E379-E0DA-9738-6A5BCD30E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E601ED1-BCD5-3643-90D3-554162253A89}" type="slidenum">
              <a:rPr lang="en-US" altLang="en-BD"/>
              <a:pPr/>
              <a:t>‹#›</a:t>
            </a:fld>
            <a:endParaRPr lang="en-US" altLang="en-B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4FEC5D2B-CDEB-722E-4668-8B722F3F54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3D1E6843-56BB-ACF2-95F8-FC9A906E20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BD" altLang="en-BD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31BD46FB-71CA-3373-9D27-7CE2176E8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9B1D7E-0F07-924D-BED3-3D91D850FE8D}" type="slidenum">
              <a:rPr lang="en-US" altLang="en-BD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BD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78F7-610A-E28D-FB0C-FD4BD0EA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3E591-F4FE-E447-942E-03F0CC3DA6C2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97967-F8AC-5D5E-F3B3-B5DC26DC6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74E4-E62C-96A8-F856-9AA910E1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397EDE-DF6F-0A40-95A3-E7153EA8BC51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55853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15F27-022B-BCD9-BF96-4075E702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41352-BDE5-F84E-B9BE-F3978B811B87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E467-1CFB-E06B-06C3-35064D75E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6FC8E-1CFA-8E25-6297-5B7A4FCE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D89FE-9773-9446-A583-6E356056ACF6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427469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93050-88B9-5FCB-C3E6-24F22F2D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3CF04-8FF4-DC4D-BDE8-06FDEF8E1A73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7D24C-2880-92E5-7969-94F969E6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44CD9-0127-4759-A368-A55B7416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0464B0-2FF3-6340-B06C-1AF69E2D9B45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51889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6BB766A-FDDF-7050-0FCA-367F77E6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B4E61-BD50-364D-A7F3-77690113D44B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2A0EDF6-203D-7057-F4B2-A1EECEF7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929C014-F39D-7D50-9254-42DCFB12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985A07-CF7B-C04F-AEB7-2FEE1B355491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194589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A250EF-2DB3-2522-6454-AA20B585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ADD77-2C2C-6144-81AC-4056B1029FEF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9681DB-B3FA-FA75-E3A5-6FEC8776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69F2B6-B6EE-5ACE-2B39-4B121F57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033AF1-400B-4D46-8C0C-4C953D492DA6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273904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4A08E6C-C87F-E8DD-299D-A6770BA5F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D46E2-2CE4-3C48-8C14-61803BCFAAF8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D94CD0E-210F-CDF6-A0EA-B08CD6A6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A9BD074-C1ED-7D66-59CE-CFE0C82E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B4ABC-6686-CF42-B808-D7810AF9A1D4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267209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1A2B575-3C5D-7438-ACBF-0D8A37C2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735F8-C8D3-6C49-86D4-0E2C5A77AAB9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F2DA212-7A32-D358-B871-ADA2D17E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6171956-09C2-74CF-0843-BEB642C37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364DD1-2BEB-5B4D-98D6-CFC2061B84BE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484043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2306650-8E38-DBF5-0F3B-F97A1D19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3558B-9B3C-7247-82F0-A4A9ECBFE7BF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99C1598-0C48-24E2-0EBF-9C55B3DC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D37C8B-9610-97B9-1AD1-8A4FA734F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76C1F7-A04E-6144-8176-CD84D728CA65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274814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F1E52D-9E75-3495-A6ED-9EC7B6C2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DF6B7F-7C50-7A46-9C3D-84F06A209393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513362-111B-BC05-9971-DC84E8CC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543721-1738-F4E5-40D2-359AAE23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C53D56-8C68-6942-AE41-E3B0DD9E84C4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357480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51310-5BDA-5E95-D9D8-1722B515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40FAB-1F4B-CA4C-8CD4-C9E166868094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DE5D3-855C-7F12-CB8E-4A40C64F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580E-8E01-054F-CC28-BB992B8B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956CB-415A-9E43-BA42-D23C76CD19A0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109321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D437C-1BBC-94A3-840F-71414D978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D588A-00DB-CA4F-98BB-F95CF94338CB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92488-4918-ECC1-2F1E-EA266BD6D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7816D-B021-6729-9FC0-FC70D4CE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9C9926-1CC4-E54C-9E26-8B8771839EBF}" type="slidenum">
              <a:rPr lang="en-US" altLang="en-BD"/>
              <a:pPr/>
              <a:t>‹#›</a:t>
            </a:fld>
            <a:endParaRPr lang="en-US" altLang="en-BD"/>
          </a:p>
        </p:txBody>
      </p:sp>
    </p:spTree>
    <p:extLst>
      <p:ext uri="{BB962C8B-B14F-4D97-AF65-F5344CB8AC3E}">
        <p14:creationId xmlns:p14="http://schemas.microsoft.com/office/powerpoint/2010/main" val="425168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8634E41-5C40-EF6B-149C-05CCFE552B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BD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5A00C36-2BB1-382F-4411-174E08E0DA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BD"/>
              <a:t>Click to edit Master text styles</a:t>
            </a:r>
          </a:p>
          <a:p>
            <a:pPr lvl="1"/>
            <a:r>
              <a:rPr lang="en-US" altLang="en-BD"/>
              <a:t>Second level</a:t>
            </a:r>
          </a:p>
          <a:p>
            <a:pPr lvl="2"/>
            <a:r>
              <a:rPr lang="en-US" altLang="en-BD"/>
              <a:t>Third level</a:t>
            </a:r>
          </a:p>
          <a:p>
            <a:pPr lvl="3"/>
            <a:r>
              <a:rPr lang="en-US" altLang="en-BD"/>
              <a:t>Fourth level</a:t>
            </a:r>
          </a:p>
          <a:p>
            <a:pPr lvl="4"/>
            <a:r>
              <a:rPr lang="en-US" altLang="en-BD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161AF-18A9-C1F7-04F6-33BC6879B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AC99BE7A-EDF6-DC48-92ED-102D17839495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301D-644B-DCA2-1C30-0BC3FC9F7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048E7-FC2C-97EE-2B6C-CA1DB899A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9BF679B1-2E81-D944-BBC5-DC4A35E15FA3}" type="slidenum">
              <a:rPr lang="en-US" altLang="en-BD"/>
              <a:pPr/>
              <a:t>‹#›</a:t>
            </a:fld>
            <a:endParaRPr lang="en-US" altLang="en-B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hbmeyer.de/backtrack/achtdamen/eight.htm#u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xkcd.com/" TargetMode="External"/><Relationship Id="rId2" Type="http://schemas.openxmlformats.org/officeDocument/2006/relationships/hyperlink" Target="http://www.wikipedia.com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354DB788-F5B0-3F04-8074-20CA411AE9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BD" b="1">
                <a:solidFill>
                  <a:srgbClr val="FF0000"/>
                </a:solidFill>
              </a:rPr>
              <a:t>Backtracking</a:t>
            </a:r>
          </a:p>
        </p:txBody>
      </p:sp>
      <p:sp>
        <p:nvSpPr>
          <p:cNvPr id="2051" name="Subtitle 3">
            <a:extLst>
              <a:ext uri="{FF2B5EF4-FFF2-40B4-BE49-F238E27FC236}">
                <a16:creationId xmlns:a16="http://schemas.microsoft.com/office/drawing/2014/main" id="{233317AF-55EC-1854-A762-8CD4285D2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0" y="3124200"/>
            <a:ext cx="3352800" cy="609600"/>
          </a:xfrm>
        </p:spPr>
        <p:txBody>
          <a:bodyPr/>
          <a:lstStyle/>
          <a:p>
            <a:r>
              <a:rPr lang="en-US" altLang="en-BD" sz="1800">
                <a:solidFill>
                  <a:srgbClr val="5A2781"/>
                </a:solidFill>
              </a:rPr>
              <a:t>Computer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A311-3F54-521B-B020-2E504C8EC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7499350" cy="609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Backtracking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93FCA19C-BEB2-7D77-B1BC-EFA241D9B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3048000"/>
          </a:xfrm>
        </p:spPr>
        <p:txBody>
          <a:bodyPr/>
          <a:lstStyle/>
          <a:p>
            <a:pPr eaLnBrk="1" hangingPunct="1"/>
            <a:r>
              <a:rPr lang="en-US" altLang="en-BD">
                <a:solidFill>
                  <a:srgbClr val="FF0000"/>
                </a:solidFill>
              </a:rPr>
              <a:t>Backtracking</a:t>
            </a:r>
            <a:r>
              <a:rPr lang="en-US" altLang="en-BD"/>
              <a:t> is a technique used to solve problems with a large search space, by systematically trying and eliminating possibilities.</a:t>
            </a:r>
          </a:p>
          <a:p>
            <a:pPr eaLnBrk="1" hangingPunct="1"/>
            <a:r>
              <a:rPr lang="en-US" altLang="en-BD"/>
              <a:t>A standard example of backtracking would be going through a maze.  </a:t>
            </a:r>
          </a:p>
          <a:p>
            <a:pPr eaLnBrk="1" hangingPunct="1"/>
            <a:endParaRPr lang="en-US" altLang="en-BD"/>
          </a:p>
        </p:txBody>
      </p:sp>
      <p:pic>
        <p:nvPicPr>
          <p:cNvPr id="3076" name="Picture 3" descr="maze1.png">
            <a:extLst>
              <a:ext uri="{FF2B5EF4-FFF2-40B4-BE49-F238E27FC236}">
                <a16:creationId xmlns:a16="http://schemas.microsoft.com/office/drawing/2014/main" id="{B8788EAF-98D1-8CAB-234B-FBE19D37C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581400"/>
            <a:ext cx="2949575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96287-0F7A-016E-5E02-3D43ABD51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668713"/>
            <a:ext cx="12588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Junction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7B44F-BFB1-6BE2-9DDA-F3D8EA188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784600"/>
            <a:ext cx="990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1400" b="1" i="1">
                <a:solidFill>
                  <a:srgbClr val="00B050"/>
                </a:solidFill>
              </a:rPr>
              <a:t>Portion 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06A38-5EF6-4753-2F31-8BBDB6961AD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403057" y="4825206"/>
            <a:ext cx="11001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1600" b="1" i="1">
                <a:solidFill>
                  <a:srgbClr val="C00000"/>
                </a:solidFill>
              </a:rPr>
              <a:t>Portion 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208E93-5CF8-8CAE-34F8-B63632CA8518}"/>
              </a:ext>
            </a:extLst>
          </p:cNvPr>
          <p:cNvCxnSpPr/>
          <p:nvPr/>
        </p:nvCxnSpPr>
        <p:spPr>
          <a:xfrm>
            <a:off x="4860925" y="3938588"/>
            <a:ext cx="990600" cy="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A2ECBD7-3469-B0AD-2C48-38A909FC4198}"/>
              </a:ext>
            </a:extLst>
          </p:cNvPr>
          <p:cNvSpPr/>
          <p:nvPr/>
        </p:nvSpPr>
        <p:spPr>
          <a:xfrm>
            <a:off x="228600" y="4191000"/>
            <a:ext cx="4114800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000" dirty="0">
                <a:latin typeface="+mj-lt"/>
              </a:rPr>
              <a:t>At some point in a maze, you might have two options of which direction to go: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Portion A or Portion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E231766-3771-D0A6-FD97-1DCC831D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0"/>
            <a:ext cx="6248400" cy="914400"/>
          </a:xfrm>
        </p:spPr>
        <p:txBody>
          <a:bodyPr/>
          <a:lstStyle/>
          <a:p>
            <a:pPr eaLnBrk="1" hangingPunct="1"/>
            <a:r>
              <a:rPr lang="en-US" altLang="en-BD"/>
              <a:t>Backtracking</a:t>
            </a:r>
          </a:p>
        </p:txBody>
      </p:sp>
      <p:pic>
        <p:nvPicPr>
          <p:cNvPr id="4099" name="Picture 3" descr="maze1.png">
            <a:extLst>
              <a:ext uri="{FF2B5EF4-FFF2-40B4-BE49-F238E27FC236}">
                <a16:creationId xmlns:a16="http://schemas.microsoft.com/office/drawing/2014/main" id="{7462DD01-F436-F749-20C1-67B961739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1866900"/>
            <a:ext cx="36861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4">
            <a:extLst>
              <a:ext uri="{FF2B5EF4-FFF2-40B4-BE49-F238E27FC236}">
                <a16:creationId xmlns:a16="http://schemas.microsoft.com/office/drawing/2014/main" id="{B4980D4D-4257-97FF-8E34-8FCE13FEC5E4}"/>
              </a:ext>
            </a:extLst>
          </p:cNvPr>
          <p:cNvSpPr txBox="1">
            <a:spLocks noChangeArrowheads="1"/>
          </p:cNvSpPr>
          <p:nvPr/>
        </p:nvSpPr>
        <p:spPr bwMode="auto">
          <a:xfrm rot="-1727400">
            <a:off x="4914900" y="1276350"/>
            <a:ext cx="1465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2400" b="1" i="1">
                <a:solidFill>
                  <a:srgbClr val="FF0000"/>
                </a:solidFill>
              </a:rPr>
              <a:t>Junction</a:t>
            </a:r>
          </a:p>
        </p:txBody>
      </p:sp>
      <p:sp>
        <p:nvSpPr>
          <p:cNvPr id="4101" name="TextBox 5">
            <a:extLst>
              <a:ext uri="{FF2B5EF4-FFF2-40B4-BE49-F238E27FC236}">
                <a16:creationId xmlns:a16="http://schemas.microsoft.com/office/drawing/2014/main" id="{19779D3E-0E19-1791-AE07-90BE6721F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025" y="2095500"/>
            <a:ext cx="1338263" cy="400050"/>
          </a:xfrm>
          <a:prstGeom prst="rect">
            <a:avLst/>
          </a:prstGeom>
          <a:solidFill>
            <a:schemeClr val="bg1">
              <a:alpha val="7607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2000" b="1" i="1">
                <a:solidFill>
                  <a:srgbClr val="7030A0"/>
                </a:solidFill>
              </a:rPr>
              <a:t>Portion B</a:t>
            </a:r>
          </a:p>
        </p:txBody>
      </p:sp>
      <p:sp>
        <p:nvSpPr>
          <p:cNvPr id="4102" name="TextBox 6">
            <a:extLst>
              <a:ext uri="{FF2B5EF4-FFF2-40B4-BE49-F238E27FC236}">
                <a16:creationId xmlns:a16="http://schemas.microsoft.com/office/drawing/2014/main" id="{125AE4EC-1299-B4F7-2F68-8D350EB807BE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179219" y="3369469"/>
            <a:ext cx="1444625" cy="430213"/>
          </a:xfrm>
          <a:prstGeom prst="rect">
            <a:avLst/>
          </a:prstGeom>
          <a:solidFill>
            <a:schemeClr val="bg1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2200" b="1" i="1">
                <a:solidFill>
                  <a:srgbClr val="0070C0"/>
                </a:solidFill>
              </a:rPr>
              <a:t>Portion 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1BCD57-DBD0-3180-1349-51C44DBB8033}"/>
              </a:ext>
            </a:extLst>
          </p:cNvPr>
          <p:cNvCxnSpPr>
            <a:stCxn id="4100" idx="2"/>
          </p:cNvCxnSpPr>
          <p:nvPr/>
        </p:nvCxnSpPr>
        <p:spPr>
          <a:xfrm rot="16200000" flipH="1">
            <a:off x="5568157" y="1899444"/>
            <a:ext cx="614362" cy="23495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957B06F-0025-D8D8-390B-79DC060FE506}"/>
              </a:ext>
            </a:extLst>
          </p:cNvPr>
          <p:cNvSpPr txBox="1">
            <a:spLocks/>
          </p:cNvSpPr>
          <p:nvPr/>
        </p:nvSpPr>
        <p:spPr bwMode="auto">
          <a:xfrm>
            <a:off x="762000" y="990600"/>
            <a:ext cx="4267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365125" indent="-282575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r>
              <a:rPr lang="en-US" sz="3200" dirty="0">
                <a:latin typeface="+mj-lt"/>
              </a:rPr>
              <a:t>One strategy </a:t>
            </a:r>
            <a:r>
              <a:rPr lang="en-US" sz="2800" dirty="0">
                <a:latin typeface="+mj-lt"/>
              </a:rPr>
              <a:t>would be to try going through 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Portion A</a:t>
            </a:r>
            <a:r>
              <a:rPr lang="en-US" sz="2800" dirty="0">
                <a:latin typeface="+mj-lt"/>
              </a:rPr>
              <a:t> of the maze. </a:t>
            </a:r>
          </a:p>
          <a:p>
            <a:pPr marL="822325" lvl="1" indent="-282575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r>
              <a:rPr lang="en-US" sz="2400" dirty="0">
                <a:latin typeface="+mj-lt"/>
              </a:rPr>
              <a:t>If you get stuck before you find your way out, then you </a:t>
            </a:r>
            <a:r>
              <a:rPr lang="en-US" sz="2400" b="1" i="1" dirty="0">
                <a:latin typeface="+mj-lt"/>
              </a:rPr>
              <a:t>"backtrack"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to the junction.</a:t>
            </a:r>
          </a:p>
          <a:p>
            <a:pPr marL="822325" lvl="1" indent="-282575" eaLnBrk="0" hangingPunct="0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400" dirty="0">
                <a:latin typeface="+mj-lt"/>
              </a:rPr>
              <a:t> </a:t>
            </a:r>
          </a:p>
          <a:p>
            <a:pPr marL="365125" indent="-282575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r>
              <a:rPr lang="en-US" sz="2800" dirty="0">
                <a:latin typeface="+mj-lt"/>
              </a:rPr>
              <a:t>At this point in time you know that </a:t>
            </a:r>
            <a:r>
              <a:rPr lang="en-US" sz="2800" b="1" dirty="0">
                <a:solidFill>
                  <a:srgbClr val="0070C0"/>
                </a:solidFill>
                <a:latin typeface="+mj-lt"/>
              </a:rPr>
              <a:t>Portion A </a:t>
            </a:r>
            <a:r>
              <a:rPr lang="en-US" sz="2800" dirty="0">
                <a:latin typeface="+mj-lt"/>
              </a:rPr>
              <a:t>will </a:t>
            </a:r>
            <a:r>
              <a:rPr lang="en-US" sz="2800" b="1" i="1" dirty="0">
                <a:latin typeface="+mj-lt"/>
              </a:rPr>
              <a:t>NOT</a:t>
            </a:r>
            <a:r>
              <a:rPr lang="en-US" sz="2800" dirty="0">
                <a:latin typeface="+mj-lt"/>
              </a:rPr>
              <a:t> lead you out of the maze, </a:t>
            </a:r>
          </a:p>
          <a:p>
            <a:pPr marL="822325" lvl="1" indent="-282575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/>
            </a:pPr>
            <a:r>
              <a:rPr lang="en-US" sz="2400" dirty="0">
                <a:latin typeface="+mj-lt"/>
              </a:rPr>
              <a:t>so you then start searching in </a:t>
            </a:r>
            <a:r>
              <a:rPr lang="en-US" sz="2400" b="1" dirty="0">
                <a:solidFill>
                  <a:srgbClr val="7030A0"/>
                </a:solidFill>
                <a:latin typeface="+mj-lt"/>
              </a:rPr>
              <a:t>Portion B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6F455667-35F0-3D90-A9FB-19CBC133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7499350" cy="914400"/>
          </a:xfrm>
        </p:spPr>
        <p:txBody>
          <a:bodyPr/>
          <a:lstStyle/>
          <a:p>
            <a:pPr eaLnBrk="1" hangingPunct="1"/>
            <a:r>
              <a:rPr lang="en-US" altLang="en-BD"/>
              <a:t>Backtracking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1B026-43D0-6344-EF65-73B77886E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4419600" cy="5943600"/>
          </a:xfrm>
        </p:spPr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Clearly, at a single junction you could have even more than </a:t>
            </a:r>
            <a:r>
              <a:rPr lang="en-US" dirty="0">
                <a:solidFill>
                  <a:srgbClr val="C00000"/>
                </a:solidFill>
              </a:rPr>
              <a:t>2 choices.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backtracking strategy says to try each choice, one after the other,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if you ever get stuck, </a:t>
            </a:r>
            <a:r>
              <a:rPr lang="en-US" b="1" i="1" dirty="0"/>
              <a:t>"</a:t>
            </a:r>
            <a:r>
              <a:rPr lang="en-US" b="1" i="1" dirty="0">
                <a:solidFill>
                  <a:srgbClr val="C00000"/>
                </a:solidFill>
              </a:rPr>
              <a:t>backtrack</a:t>
            </a:r>
            <a:r>
              <a:rPr lang="en-US" b="1" i="1" dirty="0"/>
              <a:t>"</a:t>
            </a:r>
            <a:r>
              <a:rPr lang="en-US" b="1" dirty="0"/>
              <a:t> </a:t>
            </a:r>
            <a:r>
              <a:rPr lang="en-US" dirty="0"/>
              <a:t>to the junction and try the next choice.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If you try all choices and never found a way out, then there is </a:t>
            </a:r>
            <a:r>
              <a:rPr lang="en-US" b="1" dirty="0">
                <a:solidFill>
                  <a:srgbClr val="FF0000"/>
                </a:solidFill>
              </a:rPr>
              <a:t>no solution </a:t>
            </a:r>
            <a:r>
              <a:rPr lang="en-US" dirty="0"/>
              <a:t>to the maze.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3" descr="maze2.png">
            <a:extLst>
              <a:ext uri="{FF2B5EF4-FFF2-40B4-BE49-F238E27FC236}">
                <a16:creationId xmlns:a16="http://schemas.microsoft.com/office/drawing/2014/main" id="{8E639C46-A136-36BE-4FAD-D7287A7F8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2362200"/>
            <a:ext cx="368617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CB264-782C-40E5-9D48-445FD90FE12E}"/>
              </a:ext>
            </a:extLst>
          </p:cNvPr>
          <p:cNvSpPr txBox="1"/>
          <p:nvPr/>
        </p:nvSpPr>
        <p:spPr>
          <a:xfrm rot="20330493">
            <a:off x="6518275" y="3621088"/>
            <a:ext cx="1582738" cy="52228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b="1" i="1" dirty="0">
                <a:solidFill>
                  <a:srgbClr val="C00000"/>
                </a:solidFill>
                <a:latin typeface="Aharoni" pitchFamily="2" charset="-79"/>
                <a:cs typeface="Aharoni" pitchFamily="2" charset="-79"/>
              </a:rPr>
              <a:t>Junction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40CCD3-633A-C201-8899-F4C5CBF3A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419600"/>
            <a:ext cx="369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2000" b="1" i="1">
                <a:solidFill>
                  <a:srgbClr val="0070C0"/>
                </a:solidFill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F34A8B-4D73-23B0-4E7D-25C33068FD94}"/>
              </a:ext>
            </a:extLst>
          </p:cNvPr>
          <p:cNvCxnSpPr>
            <a:stCxn id="5" idx="2"/>
          </p:cNvCxnSpPr>
          <p:nvPr/>
        </p:nvCxnSpPr>
        <p:spPr>
          <a:xfrm rot="16200000" flipH="1">
            <a:off x="7593806" y="3936207"/>
            <a:ext cx="446087" cy="825500"/>
          </a:xfrm>
          <a:prstGeom prst="straightConnector1">
            <a:avLst/>
          </a:prstGeom>
          <a:ln w="317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CC4262-A785-FA48-4711-C5758027DC48}"/>
              </a:ext>
            </a:extLst>
          </p:cNvPr>
          <p:cNvSpPr txBox="1"/>
          <p:nvPr/>
        </p:nvSpPr>
        <p:spPr>
          <a:xfrm>
            <a:off x="8050213" y="4038600"/>
            <a:ext cx="407987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i="1" dirty="0">
                <a:solidFill>
                  <a:schemeClr val="accent4">
                    <a:lumMod val="75000"/>
                  </a:schemeClr>
                </a:solidFill>
                <a:latin typeface="Arial" charset="0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AAC9E-848C-084D-F729-CEF985690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7244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2400" b="1" i="1">
                <a:solidFill>
                  <a:srgbClr val="7030A0"/>
                </a:solidFill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8279B51-97E9-A29D-3C31-8F81E5B7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7791450" cy="990600"/>
          </a:xfrm>
        </p:spPr>
        <p:txBody>
          <a:bodyPr/>
          <a:lstStyle/>
          <a:p>
            <a:pPr eaLnBrk="1" hangingPunct="1"/>
            <a:r>
              <a:rPr lang="en-US" altLang="en-BD" sz="3600"/>
              <a:t>Backtracking – n Queens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58D0A-071B-851A-3E62-6705CB017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4267200" cy="5334000"/>
          </a:xfrm>
        </p:spPr>
        <p:txBody>
          <a:bodyPr rtlCol="0">
            <a:normAutofit fontScale="77500" lnSpcReduction="2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Find an arrangement of </a:t>
            </a:r>
            <a:r>
              <a:rPr lang="en-US" b="1" dirty="0">
                <a:solidFill>
                  <a:srgbClr val="C00000"/>
                </a:solidFill>
              </a:rPr>
              <a:t>n queens </a:t>
            </a:r>
            <a:r>
              <a:rPr lang="en-US" dirty="0"/>
              <a:t>on a single chess board such that no two queens are attacking one another.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/>
              <a:t>In chess, queens can move all the way down any row, column or diagonal (so long as no pieces are in the way).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lvl="1" algn="just" eaLnBrk="1" fontAlgn="auto" hangingPunct="1">
              <a:spcAft>
                <a:spcPts val="0"/>
              </a:spcAft>
              <a:defRPr/>
            </a:pPr>
            <a:r>
              <a:rPr lang="en-US" dirty="0"/>
              <a:t>Due to the first two restrictions, it's clear that each row and column of the board will have exactly one queen.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0A4200-9777-C7BD-0CE6-11C45825EFC2}"/>
              </a:ext>
            </a:extLst>
          </p:cNvPr>
          <p:cNvSpPr txBox="1">
            <a:spLocks/>
          </p:cNvSpPr>
          <p:nvPr/>
        </p:nvSpPr>
        <p:spPr bwMode="auto">
          <a:xfrm>
            <a:off x="5410200" y="914400"/>
            <a:ext cx="3505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+mn-lt"/>
              </a:rPr>
              <a:t>How attacks can happen</a:t>
            </a:r>
            <a:r>
              <a:rPr lang="en-US" sz="24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24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400" dirty="0">
                <a:latin typeface="+mn-lt"/>
              </a:rPr>
              <a:t>Same row: R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=R</a:t>
            </a:r>
            <a:r>
              <a:rPr lang="en-US" sz="2400" baseline="-25000" dirty="0">
                <a:latin typeface="+mn-lt"/>
              </a:rPr>
              <a:t>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400" dirty="0">
                <a:latin typeface="+mn-lt"/>
              </a:rPr>
              <a:t>Same column: C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=C</a:t>
            </a:r>
            <a:r>
              <a:rPr lang="en-US" sz="2400" baseline="-25000" dirty="0">
                <a:latin typeface="+mn-lt"/>
              </a:rPr>
              <a:t>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400" dirty="0">
                <a:latin typeface="+mn-lt"/>
              </a:rPr>
              <a:t>Diagonal: |R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-R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|=|C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-C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E1F00B5F-2C97-29F0-E6D7-AE7981FE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188" eaLnBrk="1" hangingPunct="1"/>
            <a:r>
              <a:rPr lang="en-US" altLang="en-BD"/>
              <a:t>Basic Algorithm (example)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08FF3A-AC40-F22F-F591-09417AF2C4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3900" y="17272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02E2CDF-BCF3-C39F-D890-38185CAD8233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7272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B194993-72D3-1C17-1286-BD48451A0FD4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43434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935D09B-0D78-9708-0E42-8FD3123101DF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43434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4C483609-2FB7-406D-BC78-1452B9C0AFD2}"/>
              </a:ext>
            </a:extLst>
          </p:cNvPr>
          <p:cNvSpPr/>
          <p:nvPr/>
        </p:nvSpPr>
        <p:spPr>
          <a:xfrm>
            <a:off x="4267200" y="2514600"/>
            <a:ext cx="685800" cy="609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E176991-75AF-E3E2-E8F9-0259B1D3486F}"/>
              </a:ext>
            </a:extLst>
          </p:cNvPr>
          <p:cNvSpPr/>
          <p:nvPr/>
        </p:nvSpPr>
        <p:spPr>
          <a:xfrm>
            <a:off x="4267200" y="4953000"/>
            <a:ext cx="685800" cy="609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EBD1F8BA-B890-1BE9-0575-7AA434BF5887}"/>
              </a:ext>
            </a:extLst>
          </p:cNvPr>
          <p:cNvSpPr/>
          <p:nvPr/>
        </p:nvSpPr>
        <p:spPr>
          <a:xfrm rot="19800000">
            <a:off x="4038600" y="3863975"/>
            <a:ext cx="1066800" cy="2286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08DEF-6E57-41C6-A121-5C7CB4AB365F}"/>
              </a:ext>
            </a:extLst>
          </p:cNvPr>
          <p:cNvSpPr txBox="1"/>
          <p:nvPr/>
        </p:nvSpPr>
        <p:spPr>
          <a:xfrm>
            <a:off x="3886200" y="1905000"/>
            <a:ext cx="12144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</a:rPr>
              <a:t>F: Free slot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EC7F83D-121D-FE09-49F9-FCC91D51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188" eaLnBrk="1" hangingPunct="1"/>
            <a:r>
              <a:rPr lang="en-US" altLang="en-BD"/>
              <a:t>Basic Algorithm (example)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DA415F-48CD-A21B-B4D5-34AEFECE06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3900" y="17145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550DA071-82B8-5047-1B65-FEBC9454262B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17145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C1E8562-390B-BFE9-D445-F473BBB87220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43307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0D4B3B2F-563E-B09E-3CD3-B183A11530D2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43307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ight Arrow 6">
            <a:extLst>
              <a:ext uri="{FF2B5EF4-FFF2-40B4-BE49-F238E27FC236}">
                <a16:creationId xmlns:a16="http://schemas.microsoft.com/office/drawing/2014/main" id="{1E1AC7F6-3837-034F-8107-C3BAEA2969AB}"/>
              </a:ext>
            </a:extLst>
          </p:cNvPr>
          <p:cNvSpPr/>
          <p:nvPr/>
        </p:nvSpPr>
        <p:spPr>
          <a:xfrm>
            <a:off x="4267200" y="2514600"/>
            <a:ext cx="685800" cy="609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817DD7C-3F71-60C4-D888-A87FA9E7C0EC}"/>
              </a:ext>
            </a:extLst>
          </p:cNvPr>
          <p:cNvSpPr/>
          <p:nvPr/>
        </p:nvSpPr>
        <p:spPr>
          <a:xfrm>
            <a:off x="4267200" y="4953000"/>
            <a:ext cx="685800" cy="609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8DAAC41C-F5C2-30F4-790F-5353C5A36F79}"/>
              </a:ext>
            </a:extLst>
          </p:cNvPr>
          <p:cNvSpPr/>
          <p:nvPr/>
        </p:nvSpPr>
        <p:spPr>
          <a:xfrm rot="19800000">
            <a:off x="4038600" y="3863975"/>
            <a:ext cx="1066800" cy="2286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4BD4320-4761-8A46-E11D-2273AB3E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188" eaLnBrk="1" hangingPunct="1"/>
            <a:r>
              <a:rPr lang="en-US" altLang="en-BD"/>
              <a:t>Basic Algorithm (example)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CCA240-7DFF-7F2F-3517-259D894121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0D65C-8D13-CE59-CEF3-E24713B32604}"/>
              </a:ext>
            </a:extLst>
          </p:cNvPr>
          <p:cNvGraphicFramePr>
            <a:graphicFrameLocks noGrp="1"/>
          </p:cNvGraphicFramePr>
          <p:nvPr/>
        </p:nvGraphicFramePr>
        <p:xfrm>
          <a:off x="5219700" y="1600200"/>
          <a:ext cx="2971800" cy="2301875"/>
        </p:xfrm>
        <a:graphic>
          <a:graphicData uri="http://schemas.openxmlformats.org/drawingml/2006/table">
            <a:tbl>
              <a:tblPr/>
              <a:tblGrid>
                <a:gridCol w="59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720F8E-FFB9-A6CD-680B-8C778B7DBB1B}"/>
              </a:ext>
            </a:extLst>
          </p:cNvPr>
          <p:cNvSpPr txBox="1"/>
          <p:nvPr/>
        </p:nvSpPr>
        <p:spPr>
          <a:xfrm>
            <a:off x="3048000" y="4953000"/>
            <a:ext cx="3962400" cy="862013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5000" dirty="0">
                <a:solidFill>
                  <a:srgbClr val="C00000"/>
                </a:solidFill>
                <a:ea typeface="ＭＳ Ｐゴシック" charset="-128"/>
              </a:rPr>
              <a:t>All queen set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6EE509E-A42B-C3A6-9870-3E62898C2114}"/>
              </a:ext>
            </a:extLst>
          </p:cNvPr>
          <p:cNvSpPr/>
          <p:nvPr/>
        </p:nvSpPr>
        <p:spPr>
          <a:xfrm>
            <a:off x="4267200" y="2514600"/>
            <a:ext cx="685800" cy="6096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8D45E94-A2EA-2913-A2AF-A50C600C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188" eaLnBrk="1" hangingPunct="1"/>
            <a:r>
              <a:rPr lang="en-US" altLang="en-BD"/>
              <a:t>Optimizing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B3C0-1DDD-7C02-EA8B-CFD1476EF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US" sz="2800" dirty="0">
                <a:latin typeface="+mj-lt"/>
              </a:rPr>
              <a:t>Further look ahead—not just next row</a:t>
            </a:r>
          </a:p>
          <a:p>
            <a:pPr lvl="1" eaLnBrk="1" hangingPunct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US" sz="2400" dirty="0">
                <a:latin typeface="+mj-lt"/>
              </a:rPr>
              <a:t>Keep track of </a:t>
            </a:r>
            <a:r>
              <a:rPr lang="en-US" sz="2400" i="1" dirty="0">
                <a:latin typeface="+mj-lt"/>
              </a:rPr>
              <a:t>total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free spaces </a:t>
            </a:r>
            <a:r>
              <a:rPr lang="en-US" sz="2400" dirty="0">
                <a:latin typeface="+mj-lt"/>
              </a:rPr>
              <a:t>per row</a:t>
            </a:r>
          </a:p>
          <a:p>
            <a:pPr lvl="2"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US" sz="2200" dirty="0">
                <a:latin typeface="+mj-lt"/>
              </a:rPr>
              <a:t>If any row ahead has a zero count, backtrack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US" sz="2800" dirty="0">
                <a:latin typeface="+mj-lt"/>
              </a:rPr>
              <a:t>Jump to other rows</a:t>
            </a:r>
          </a:p>
          <a:p>
            <a:pPr lvl="1" eaLnBrk="1" hangingPunct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US" sz="2400" dirty="0">
                <a:latin typeface="+mj-lt"/>
              </a:rPr>
              <a:t>To prevent unnecessary future backtracks, jump to rows with </a:t>
            </a:r>
            <a:r>
              <a:rPr lang="en-US" sz="2400" dirty="0">
                <a:solidFill>
                  <a:srgbClr val="C00000"/>
                </a:solidFill>
                <a:latin typeface="+mj-lt"/>
              </a:rPr>
              <a:t>fewest free spots </a:t>
            </a:r>
            <a:r>
              <a:rPr lang="en-US" sz="2400" dirty="0">
                <a:latin typeface="+mj-lt"/>
              </a:rPr>
              <a:t>and place queens there first</a:t>
            </a:r>
          </a:p>
          <a:p>
            <a:pPr eaLnBrk="1" hangingPunct="1">
              <a:lnSpc>
                <a:spcPct val="80000"/>
              </a:lnSpc>
              <a:buFont typeface="Arial" charset="0"/>
              <a:buChar char="•"/>
              <a:defRPr/>
            </a:pPr>
            <a:r>
              <a:rPr lang="en-US" sz="2800" dirty="0">
                <a:latin typeface="+mj-lt"/>
              </a:rPr>
              <a:t>Cell blocking</a:t>
            </a:r>
          </a:p>
          <a:p>
            <a:pPr lvl="1" eaLnBrk="1" hangingPunct="1">
              <a:lnSpc>
                <a:spcPct val="80000"/>
              </a:lnSpc>
              <a:buFont typeface="Arial" charset="0"/>
              <a:buChar char="–"/>
              <a:defRPr/>
            </a:pPr>
            <a:r>
              <a:rPr lang="en-US" sz="2400" dirty="0">
                <a:latin typeface="+mj-lt"/>
              </a:rPr>
              <a:t>Prevention of placing queens on cells that would lead to repeating of previously found solution and/or putting the board in an unsolvable situation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F6EA38D-6E45-947B-067E-1FED3444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188" eaLnBrk="1" hangingPunct="1"/>
            <a:r>
              <a:rPr lang="en-US" altLang="en-BD"/>
              <a:t>Optimizing the Algorithm (ex)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7BF9C9-DF88-63DB-CB3C-4700999798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1838325" cy="16748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1F56C70-9AE0-6C77-F604-FD0CD08FCDC8}"/>
              </a:ext>
            </a:extLst>
          </p:cNvPr>
          <p:cNvGraphicFramePr>
            <a:graphicFrameLocks noGrp="1"/>
          </p:cNvGraphicFramePr>
          <p:nvPr/>
        </p:nvGraphicFramePr>
        <p:xfrm>
          <a:off x="3657600" y="1600200"/>
          <a:ext cx="1838325" cy="16748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B507C38D-DAF3-E092-AAF6-2D6D9627800F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1600200"/>
          <a:ext cx="1838325" cy="16748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0D69E968-1B46-343C-03BC-718C9EAA84E1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4419600"/>
          <a:ext cx="1838325" cy="16748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rgbClr val="E40059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F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9C65F737-5157-811B-9F05-3F78DC662DAF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4419600"/>
          <a:ext cx="1838325" cy="1674813"/>
        </p:xfrm>
        <a:graphic>
          <a:graphicData uri="http://schemas.openxmlformats.org/drawingml/2006/table">
            <a:tbl>
              <a:tblPr/>
              <a:tblGrid>
                <a:gridCol w="3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-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entury Gothic" charset="0"/>
                        <a:ea typeface="ＭＳ Ｐゴシック" charset="-128"/>
                      </a:endParaRP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charset="0"/>
                          <a:ea typeface="ＭＳ Ｐゴシック" charset="-128"/>
                        </a:rPr>
                        <a:t>Q</a:t>
                      </a:r>
                    </a:p>
                  </a:txBody>
                  <a:tcPr marL="64893" marR="64893" marT="32446" marB="32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87280E2A-E224-04FD-BAF1-C406D1D36B40}"/>
              </a:ext>
            </a:extLst>
          </p:cNvPr>
          <p:cNvSpPr/>
          <p:nvPr/>
        </p:nvSpPr>
        <p:spPr>
          <a:xfrm>
            <a:off x="2895600" y="2286000"/>
            <a:ext cx="685800" cy="381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09640E28-9F81-A6FB-47AB-F4F29DAE7871}"/>
              </a:ext>
            </a:extLst>
          </p:cNvPr>
          <p:cNvSpPr/>
          <p:nvPr/>
        </p:nvSpPr>
        <p:spPr>
          <a:xfrm>
            <a:off x="5638800" y="2286000"/>
            <a:ext cx="685800" cy="381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E0DC8ED-4831-1227-6E3B-5E4CBDFF919D}"/>
              </a:ext>
            </a:extLst>
          </p:cNvPr>
          <p:cNvSpPr/>
          <p:nvPr/>
        </p:nvSpPr>
        <p:spPr>
          <a:xfrm>
            <a:off x="4191000" y="5105400"/>
            <a:ext cx="685800" cy="381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7FE76F7-1A46-FC42-03D2-38B31747464C}"/>
              </a:ext>
            </a:extLst>
          </p:cNvPr>
          <p:cNvSpPr/>
          <p:nvPr/>
        </p:nvSpPr>
        <p:spPr>
          <a:xfrm rot="9000000">
            <a:off x="4108450" y="3794125"/>
            <a:ext cx="2165350" cy="1714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ACC2B35-5910-A013-28F4-9539B2E2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7791450" cy="990600"/>
          </a:xfrm>
        </p:spPr>
        <p:txBody>
          <a:bodyPr/>
          <a:lstStyle/>
          <a:p>
            <a:pPr eaLnBrk="1" hangingPunct="1"/>
            <a:r>
              <a:rPr lang="en-US" altLang="en-BD" sz="3600"/>
              <a:t>Backtracking – Eight Queens Problem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751CBEA-E42E-B70D-C0B0-E8311517E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28800"/>
            <a:ext cx="3028950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4E25375-C843-AD8F-5E5B-ECD0B25F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7791450" cy="990600"/>
          </a:xfrm>
        </p:spPr>
        <p:txBody>
          <a:bodyPr/>
          <a:lstStyle/>
          <a:p>
            <a:pPr eaLnBrk="1" hangingPunct="1"/>
            <a:r>
              <a:rPr lang="en-US" altLang="en-BD" sz="3600"/>
              <a:t>Backtracking – Eight Queens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4373A-0B16-401D-3206-4080528D3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90600"/>
            <a:ext cx="4572000" cy="58674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backtracking strategy is as follows:</a:t>
            </a:r>
          </a:p>
          <a:p>
            <a:pPr marL="871538" lvl="1" indent="-514350" eaLnBrk="1" fontAlgn="auto" hangingPunct="1"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dirty="0"/>
              <a:t>Place a queen on the first available square in row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.</a:t>
            </a:r>
          </a:p>
          <a:p>
            <a:pPr marL="871538" lvl="1" indent="-514350" eaLnBrk="1" fontAlgn="auto" hangingPunct="1">
              <a:spcAft>
                <a:spcPts val="0"/>
              </a:spcAft>
              <a:buFont typeface="+mj-lt"/>
              <a:buAutoNum type="arabicParenR"/>
              <a:defRPr/>
            </a:pPr>
            <a:endParaRPr lang="en-US" dirty="0"/>
          </a:p>
          <a:p>
            <a:pPr marL="871538" lvl="1" indent="-514350" eaLnBrk="1" fontAlgn="auto" hangingPunct="1"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dirty="0"/>
              <a:t>Move onto the next row, placing a queen on the first available square there (that doesn't conflict with the previously placed queens).</a:t>
            </a:r>
          </a:p>
          <a:p>
            <a:pPr marL="871538" lvl="1" indent="-514350" eaLnBrk="1" fontAlgn="auto" hangingPunct="1">
              <a:spcAft>
                <a:spcPts val="0"/>
              </a:spcAft>
              <a:buFont typeface="+mj-lt"/>
              <a:buAutoNum type="arabicParenR"/>
              <a:defRPr/>
            </a:pPr>
            <a:endParaRPr lang="en-US" dirty="0"/>
          </a:p>
          <a:p>
            <a:pPr marL="871538" lvl="1" indent="-514350" eaLnBrk="1" fontAlgn="auto" hangingPunct="1">
              <a:spcAft>
                <a:spcPts val="0"/>
              </a:spcAft>
              <a:buFont typeface="+mj-lt"/>
              <a:buAutoNum type="arabicParenR"/>
              <a:defRPr/>
            </a:pPr>
            <a:r>
              <a:rPr lang="en-US" dirty="0"/>
              <a:t>Continue in this fashion until either: </a:t>
            </a:r>
          </a:p>
          <a:p>
            <a:pPr marL="1117600" lvl="2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en-US" dirty="0"/>
              <a:t>you have solved the problem, or </a:t>
            </a:r>
          </a:p>
          <a:p>
            <a:pPr marL="1117600" lvl="2" indent="-514350" eaLnBrk="1" fontAlgn="auto" hangingPunct="1">
              <a:spcAft>
                <a:spcPts val="0"/>
              </a:spcAft>
              <a:buFont typeface="+mj-lt"/>
              <a:buAutoNum type="alphaLcParenR"/>
              <a:defRPr/>
            </a:pPr>
            <a:r>
              <a:rPr lang="en-US" dirty="0"/>
              <a:t>you get stuck. </a:t>
            </a:r>
          </a:p>
          <a:p>
            <a:pPr marL="1328738" lvl="3" indent="-514350" eaLnBrk="1" fontAlgn="auto" hangingPunct="1">
              <a:spcAft>
                <a:spcPts val="0"/>
              </a:spcAft>
              <a:defRPr/>
            </a:pPr>
            <a:r>
              <a:rPr lang="en-US" dirty="0"/>
              <a:t>When you get stuck, remove the queens that got you there, until you get to a row where there is another valid square to try.</a:t>
            </a:r>
          </a:p>
        </p:txBody>
      </p:sp>
      <p:sp>
        <p:nvSpPr>
          <p:cNvPr id="13316" name="TextBox 4">
            <a:extLst>
              <a:ext uri="{FF2B5EF4-FFF2-40B4-BE49-F238E27FC236}">
                <a16:creationId xmlns:a16="http://schemas.microsoft.com/office/drawing/2014/main" id="{96B26075-6E9A-C77B-A686-F493A24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029200"/>
            <a:ext cx="3505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/>
              <a:t>Animated Example:</a:t>
            </a:r>
          </a:p>
          <a:p>
            <a:pPr eaLnBrk="1" hangingPunct="1"/>
            <a:r>
              <a:rPr lang="en-US" altLang="en-BD">
                <a:hlinkClick r:id="rId2"/>
              </a:rPr>
              <a:t>http://www.hbmeyer.de/backtrack/achtdamen/eight.htm#up</a:t>
            </a:r>
            <a:endParaRPr lang="en-US" altLang="en-BD"/>
          </a:p>
        </p:txBody>
      </p:sp>
      <p:pic>
        <p:nvPicPr>
          <p:cNvPr id="13317" name="Picture 5" descr="chess_board.png">
            <a:extLst>
              <a:ext uri="{FF2B5EF4-FFF2-40B4-BE49-F238E27FC236}">
                <a16:creationId xmlns:a16="http://schemas.microsoft.com/office/drawing/2014/main" id="{36906835-A100-71B5-12AB-B3490F6BE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990600"/>
            <a:ext cx="3529013" cy="354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16635-E225-1CB3-A075-9F74E7F03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9398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E3A20-47AD-02A4-DE01-2D178C626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3970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D8002-6730-4DA1-BFB0-CD78FE9DA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8542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EA2D9-8B94-A79B-A957-3DC7C521F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2352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C3D07-EAFA-C8C2-15D6-3754947A2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6924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F53509-E5A0-60C6-B422-BDAE76242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26670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51B422-D398-3253-171D-3B97A30EC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4114800"/>
            <a:ext cx="22590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Continue…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E0D0A5-7037-DC45-56E1-BFD083154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1242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D5D7A1-71E6-186A-EF56-8A3A093DE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31496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D96412-7F5E-C34F-4FB7-CD7CC01AC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1242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B9AF9-95E5-E22F-3A30-303CD4FA2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1242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150E9A-7E39-0DCF-9FB6-98F098BF2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31496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AD1A79-2D57-8C87-266E-27B14BCFC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31496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3C742C-0462-CCDD-96A5-213D4C720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150" y="31496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266518-2F0E-2451-A45B-1B871843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124200"/>
            <a:ext cx="476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 b="1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BE7380-6AD5-0795-3EF3-AEA7E39AD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581400"/>
            <a:ext cx="2535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BD" sz="3200">
                <a:solidFill>
                  <a:srgbClr val="D0303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Backtrack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1" grpId="1"/>
      <p:bldP spid="14" grpId="0"/>
      <p:bldP spid="15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33A7-BBC1-36F1-9477-064391A3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0"/>
            <a:ext cx="786765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Backtracking – Eight Queens Problem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A02C9D5-3B8C-3BE7-ED9A-C5EC493C9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66800"/>
            <a:ext cx="7499350" cy="4800600"/>
          </a:xfrm>
        </p:spPr>
        <p:txBody>
          <a:bodyPr/>
          <a:lstStyle/>
          <a:p>
            <a:pPr eaLnBrk="1" hangingPunct="1"/>
            <a:r>
              <a:rPr lang="en-US" altLang="en-BD"/>
              <a:t>When we carry out backtracking, an easy way to visualize what is going on is a tree that shows all the different possibilities that have been tried.</a:t>
            </a:r>
          </a:p>
          <a:p>
            <a:pPr eaLnBrk="1" hangingPunct="1"/>
            <a:r>
              <a:rPr lang="en-US" altLang="en-BD"/>
              <a:t>On the board we will show a visual representation of solving the 4 Queens problem (placing 4 queens on a 4x4 board where no two attack one another).</a:t>
            </a:r>
          </a:p>
          <a:p>
            <a:pPr eaLnBrk="1" hangingPunct="1"/>
            <a:endParaRPr lang="en-US" altLang="en-BD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A343-129E-C423-8571-62D443D2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765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Backtracking – Eight Queens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0BE9C-D161-46EB-7402-A81C0BED6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BD"/>
              <a:t>The neat thing about coding up backtracking, is that it can be done recursively, without having to do all the bookkeeping at once.</a:t>
            </a:r>
          </a:p>
          <a:p>
            <a:pPr lvl="1" eaLnBrk="1" hangingPunct="1"/>
            <a:r>
              <a:rPr lang="en-US" altLang="en-BD"/>
              <a:t>Instead, the stack or recursive calls does most of the bookkeeping </a:t>
            </a:r>
          </a:p>
          <a:p>
            <a:pPr lvl="1" eaLnBrk="1" hangingPunct="1"/>
            <a:r>
              <a:rPr lang="en-US" altLang="en-BD"/>
              <a:t>(ie, keeping track of which queens we've placed, and which combinations we've tried so far, etc.)</a:t>
            </a:r>
          </a:p>
          <a:p>
            <a:pPr eaLnBrk="1" hangingPunct="1"/>
            <a:endParaRPr lang="en-US" altLang="en-B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0FB42-48A0-FDD2-7879-022F12A4B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7162800" cy="5867400"/>
          </a:xfrm>
          <a:solidFill>
            <a:schemeClr val="bg1"/>
          </a:solidFill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b="1" dirty="0">
                <a:latin typeface="+mj-lt"/>
                <a:cs typeface="Times New Roman" pitchFamily="18" charset="0"/>
              </a:rPr>
              <a:t>void </a:t>
            </a:r>
            <a:r>
              <a:rPr lang="en-US" sz="1800" b="1" dirty="0" err="1">
                <a:latin typeface="+mj-lt"/>
                <a:cs typeface="Times New Roman" pitchFamily="18" charset="0"/>
              </a:rPr>
              <a:t>solveItRec</a:t>
            </a:r>
            <a:r>
              <a:rPr lang="en-US" sz="1800" b="1" dirty="0">
                <a:latin typeface="+mj-lt"/>
                <a:cs typeface="Times New Roman" pitchFamily="18" charset="0"/>
              </a:rPr>
              <a:t>(</a:t>
            </a:r>
            <a:r>
              <a:rPr lang="en-US" sz="1800" b="1" dirty="0" err="1">
                <a:latin typeface="+mj-lt"/>
                <a:cs typeface="Times New Roman" pitchFamily="18" charset="0"/>
              </a:rPr>
              <a:t>int</a:t>
            </a:r>
            <a:r>
              <a:rPr lang="en-US" sz="1800" b="1" dirty="0">
                <a:latin typeface="+mj-lt"/>
                <a:cs typeface="Times New Roman" pitchFamily="18" charset="0"/>
              </a:rPr>
              <a:t> perm[], </a:t>
            </a:r>
            <a:r>
              <a:rPr lang="en-US" sz="1800" b="1" dirty="0" err="1">
                <a:latin typeface="+mj-lt"/>
                <a:cs typeface="Times New Roman" pitchFamily="18" charset="0"/>
              </a:rPr>
              <a:t>int</a:t>
            </a:r>
            <a:r>
              <a:rPr lang="en-US" sz="1800" b="1" dirty="0">
                <a:latin typeface="+mj-lt"/>
                <a:cs typeface="Times New Roman" pitchFamily="18" charset="0"/>
              </a:rPr>
              <a:t> location, </a:t>
            </a:r>
            <a:r>
              <a:rPr lang="en-US" sz="1800" b="1" dirty="0" err="1">
                <a:latin typeface="+mj-lt"/>
                <a:cs typeface="Times New Roman" pitchFamily="18" charset="0"/>
              </a:rPr>
              <a:t>struct</a:t>
            </a:r>
            <a:r>
              <a:rPr lang="en-US" sz="1800" b="1" dirty="0">
                <a:latin typeface="+mj-lt"/>
                <a:cs typeface="Times New Roman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itchFamily="18" charset="0"/>
              </a:rPr>
              <a:t>onesquare</a:t>
            </a:r>
            <a:r>
              <a:rPr lang="en-US" sz="1800" b="1" dirty="0">
                <a:latin typeface="+mj-lt"/>
                <a:cs typeface="Times New Roman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itchFamily="18" charset="0"/>
              </a:rPr>
              <a:t>usedList</a:t>
            </a:r>
            <a:r>
              <a:rPr lang="en-US" sz="1800" b="1" dirty="0">
                <a:latin typeface="+mj-lt"/>
                <a:cs typeface="Times New Roman" pitchFamily="18" charset="0"/>
              </a:rPr>
              <a:t>[])  {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if (location == SIZE) {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</a:t>
            </a:r>
            <a:r>
              <a:rPr lang="en-US" sz="1800" dirty="0" err="1">
                <a:latin typeface="+mj-lt"/>
                <a:cs typeface="Times New Roman" pitchFamily="18" charset="0"/>
              </a:rPr>
              <a:t>printSol</a:t>
            </a:r>
            <a:r>
              <a:rPr lang="en-US" sz="1800" dirty="0">
                <a:latin typeface="+mj-lt"/>
                <a:cs typeface="Times New Roman" pitchFamily="18" charset="0"/>
              </a:rPr>
              <a:t>(perm);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}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for (</a:t>
            </a:r>
            <a:r>
              <a:rPr lang="en-US" sz="1800" dirty="0" err="1">
                <a:latin typeface="+mj-lt"/>
                <a:cs typeface="Times New Roman" pitchFamily="18" charset="0"/>
              </a:rPr>
              <a:t>int</a:t>
            </a:r>
            <a:r>
              <a:rPr lang="en-US" sz="1800" dirty="0">
                <a:latin typeface="+mj-lt"/>
                <a:cs typeface="Times New Roman" pitchFamily="18" charset="0"/>
              </a:rPr>
              <a:t> 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=0; 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&lt;SIZE; 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++) {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if (</a:t>
            </a:r>
            <a:r>
              <a:rPr lang="en-US" sz="1800" dirty="0" err="1">
                <a:latin typeface="+mj-lt"/>
                <a:cs typeface="Times New Roman" pitchFamily="18" charset="0"/>
              </a:rPr>
              <a:t>usedList</a:t>
            </a:r>
            <a:r>
              <a:rPr lang="en-US" sz="1800" dirty="0">
                <a:latin typeface="+mj-lt"/>
                <a:cs typeface="Times New Roman" pitchFamily="18" charset="0"/>
              </a:rPr>
              <a:t>[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] == false) {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1800" dirty="0">
              <a:latin typeface="+mj-lt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if (!conflict(perm, location, 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)) {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                      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      perm[location] = 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;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      </a:t>
            </a:r>
            <a:r>
              <a:rPr lang="en-US" sz="1800" dirty="0" err="1">
                <a:latin typeface="+mj-lt"/>
                <a:cs typeface="Times New Roman" pitchFamily="18" charset="0"/>
              </a:rPr>
              <a:t>usedList</a:t>
            </a:r>
            <a:r>
              <a:rPr lang="en-US" sz="1800" dirty="0">
                <a:latin typeface="+mj-lt"/>
                <a:cs typeface="Times New Roman" pitchFamily="18" charset="0"/>
              </a:rPr>
              <a:t>[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] = true;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      </a:t>
            </a:r>
            <a:r>
              <a:rPr lang="en-US" sz="1800" dirty="0" err="1">
                <a:latin typeface="+mj-lt"/>
                <a:cs typeface="Times New Roman" pitchFamily="18" charset="0"/>
              </a:rPr>
              <a:t>solveItRec</a:t>
            </a:r>
            <a:r>
              <a:rPr lang="en-US" sz="1800" dirty="0">
                <a:latin typeface="+mj-lt"/>
                <a:cs typeface="Times New Roman" pitchFamily="18" charset="0"/>
              </a:rPr>
              <a:t>(perm, location+1, </a:t>
            </a:r>
            <a:r>
              <a:rPr lang="en-US" sz="1800" dirty="0" err="1">
                <a:latin typeface="+mj-lt"/>
                <a:cs typeface="Times New Roman" pitchFamily="18" charset="0"/>
              </a:rPr>
              <a:t>usedList</a:t>
            </a:r>
            <a:r>
              <a:rPr lang="en-US" sz="1800" dirty="0">
                <a:latin typeface="+mj-lt"/>
                <a:cs typeface="Times New Roman" pitchFamily="18" charset="0"/>
              </a:rPr>
              <a:t>);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      </a:t>
            </a:r>
            <a:r>
              <a:rPr lang="en-US" sz="1800" dirty="0" err="1">
                <a:latin typeface="+mj-lt"/>
                <a:cs typeface="Times New Roman" pitchFamily="18" charset="0"/>
              </a:rPr>
              <a:t>usedList</a:t>
            </a:r>
            <a:r>
              <a:rPr lang="en-US" sz="1800" dirty="0">
                <a:latin typeface="+mj-lt"/>
                <a:cs typeface="Times New Roman" pitchFamily="18" charset="0"/>
              </a:rPr>
              <a:t>[</a:t>
            </a:r>
            <a:r>
              <a:rPr lang="en-US" sz="1800" dirty="0" err="1">
                <a:latin typeface="+mj-lt"/>
                <a:cs typeface="Times New Roman" pitchFamily="18" charset="0"/>
              </a:rPr>
              <a:t>i</a:t>
            </a:r>
            <a:r>
              <a:rPr lang="en-US" sz="1800" dirty="0">
                <a:latin typeface="+mj-lt"/>
                <a:cs typeface="Times New Roman" pitchFamily="18" charset="0"/>
              </a:rPr>
              <a:t>] = false;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    }                                       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    }    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    }    </a:t>
            </a:r>
          </a:p>
          <a:p>
            <a:pPr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>
                <a:latin typeface="+mj-lt"/>
                <a:cs typeface="Times New Roman" pitchFamily="18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B03AEE-53D4-7303-FF1D-CEEC0EE32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0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perm[] </a:t>
            </a:r>
            <a:r>
              <a:rPr lang="en-US" sz="1600" dirty="0">
                <a:latin typeface="+mj-lt"/>
              </a:rPr>
              <a:t>- stores a valid permutation of queens from index 0 to location-1. </a:t>
            </a:r>
          </a:p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latin typeface="+mj-lt"/>
              </a:rPr>
              <a:t>location</a:t>
            </a:r>
            <a:r>
              <a:rPr lang="en-US" sz="1600" dirty="0">
                <a:latin typeface="+mj-lt"/>
              </a:rPr>
              <a:t> – the column we are placing the next queen</a:t>
            </a:r>
          </a:p>
          <a:p>
            <a:pPr>
              <a:defRPr/>
            </a:pPr>
            <a:r>
              <a:rPr lang="en-US" sz="1600" b="1" dirty="0" err="1">
                <a:solidFill>
                  <a:srgbClr val="7030A0"/>
                </a:solidFill>
                <a:latin typeface="+mj-lt"/>
              </a:rPr>
              <a:t>usedList</a:t>
            </a:r>
            <a:r>
              <a:rPr lang="en-US" sz="1600" b="1" dirty="0">
                <a:solidFill>
                  <a:srgbClr val="7030A0"/>
                </a:solidFill>
                <a:latin typeface="+mj-lt"/>
              </a:rPr>
              <a:t>[] </a:t>
            </a:r>
            <a:r>
              <a:rPr lang="en-US" sz="1600" dirty="0">
                <a:latin typeface="+mj-lt"/>
              </a:rPr>
              <a:t>– keeps track of the rows in which the queens have already been placed.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A44BB-437D-F7AD-F9DC-20E467569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611313"/>
            <a:ext cx="4800600" cy="369887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+mj-lt"/>
              </a:rPr>
              <a:t>Found a solution to the problem, so print it!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300D13-1E85-7BAD-E2DE-4F0450DF514A}"/>
              </a:ext>
            </a:extLst>
          </p:cNvPr>
          <p:cNvCxnSpPr>
            <a:stCxn id="5" idx="1"/>
          </p:cNvCxnSpPr>
          <p:nvPr/>
        </p:nvCxnSpPr>
        <p:spPr>
          <a:xfrm rot="10800000" flipV="1">
            <a:off x="3429000" y="1797050"/>
            <a:ext cx="457200" cy="3175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ED518B-C724-6420-3F06-D2D6A903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286000"/>
            <a:ext cx="5334000" cy="3698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latin typeface="+mj-lt"/>
              </a:rPr>
              <a:t>Loop through possible rows to place this queen.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BA466E-BF54-850F-B425-F8A8F5909B8E}"/>
              </a:ext>
            </a:extLst>
          </p:cNvPr>
          <p:cNvCxnSpPr>
            <a:stCxn id="8" idx="1"/>
          </p:cNvCxnSpPr>
          <p:nvPr/>
        </p:nvCxnSpPr>
        <p:spPr>
          <a:xfrm rot="10800000" flipV="1">
            <a:off x="2971800" y="2470150"/>
            <a:ext cx="533400" cy="4445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93355A9-00ED-2C9A-EA44-CC95774F1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895600"/>
            <a:ext cx="4267200" cy="36988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latin typeface="+mj-lt"/>
              </a:rPr>
              <a:t>Only try this row if it hasn’t been used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DC2546-6FE1-7E63-0BA9-22ED041D1ADA}"/>
              </a:ext>
            </a:extLst>
          </p:cNvPr>
          <p:cNvCxnSpPr>
            <a:stCxn id="14" idx="1"/>
          </p:cNvCxnSpPr>
          <p:nvPr/>
        </p:nvCxnSpPr>
        <p:spPr>
          <a:xfrm rot="10800000" flipV="1">
            <a:off x="3200400" y="3079750"/>
            <a:ext cx="609600" cy="4445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F92A60-427E-FFE1-A92F-BBB883EC0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4724400" cy="64611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latin typeface="+mj-lt"/>
              </a:rPr>
              <a:t>Check if this position conflicts with any previous queens on the diagonal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8212BA-A371-CEFC-41E0-B231F0035005}"/>
              </a:ext>
            </a:extLst>
          </p:cNvPr>
          <p:cNvCxnSpPr>
            <a:stCxn id="16" idx="1"/>
          </p:cNvCxnSpPr>
          <p:nvPr/>
        </p:nvCxnSpPr>
        <p:spPr>
          <a:xfrm rot="10800000">
            <a:off x="3505200" y="3733800"/>
            <a:ext cx="685800" cy="1905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C43717-E498-8CF7-46F2-2BB16CDB3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343400"/>
            <a:ext cx="3581400" cy="20320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Gill Sans MT" pitchFamily="34" charset="0"/>
              <a:buAutoNum type="arabicParenR"/>
              <a:defRPr/>
            </a:pPr>
            <a:r>
              <a:rPr lang="en-US">
                <a:latin typeface="+mj-lt"/>
              </a:rPr>
              <a:t>mark the queen in this row</a:t>
            </a:r>
          </a:p>
          <a:p>
            <a:pPr marL="342900" indent="-342900">
              <a:buFont typeface="Gill Sans MT" pitchFamily="34" charset="0"/>
              <a:buAutoNum type="arabicParenR"/>
              <a:defRPr/>
            </a:pPr>
            <a:r>
              <a:rPr lang="en-US">
                <a:latin typeface="+mj-lt"/>
              </a:rPr>
              <a:t>mark the row as used</a:t>
            </a:r>
          </a:p>
          <a:p>
            <a:pPr marL="342900" indent="-342900">
              <a:buFont typeface="Gill Sans MT" pitchFamily="34" charset="0"/>
              <a:buAutoNum type="arabicParenR"/>
              <a:defRPr/>
            </a:pPr>
            <a:r>
              <a:rPr lang="en-US">
                <a:latin typeface="+mj-lt"/>
              </a:rPr>
              <a:t>solve the next column location recursively</a:t>
            </a:r>
          </a:p>
          <a:p>
            <a:pPr marL="342900" indent="-342900">
              <a:buFont typeface="Gill Sans MT" pitchFamily="34" charset="0"/>
              <a:buAutoNum type="arabicParenR"/>
              <a:defRPr/>
            </a:pPr>
            <a:r>
              <a:rPr lang="en-US">
                <a:latin typeface="+mj-lt"/>
              </a:rPr>
              <a:t>un-mark the row as used, so we can get ALL possible valid solutions.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5B3E16-0798-D357-C851-E21D91E4A697}"/>
              </a:ext>
            </a:extLst>
          </p:cNvPr>
          <p:cNvCxnSpPr/>
          <p:nvPr/>
        </p:nvCxnSpPr>
        <p:spPr>
          <a:xfrm rot="10800000">
            <a:off x="3962400" y="4495800"/>
            <a:ext cx="1295400" cy="1588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347535-A351-6D32-7A2E-7276BE28A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382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rgbClr val="7030A0"/>
                </a:solidFill>
                <a:latin typeface="+mj-lt"/>
              </a:rPr>
              <a:t>Pseudo code</a:t>
            </a:r>
            <a:endParaRPr lang="en-US" sz="3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  <p:bldP spid="14" grpId="0" animBg="1"/>
      <p:bldP spid="16" grpId="0" animBg="1"/>
      <p:bldP spid="22" grpId="0" animBg="1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F002-A58A-6331-B372-373BD347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Backtracking – 8 queens problem -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A3F4-5226-F530-0354-21762668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66800"/>
            <a:ext cx="8153400" cy="57912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Another possible brute-force algorithm is generate the permutations of the numbers 1 through 8 (of which there are 8! = 40,320),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and uses the elements of each permutation as indices to place a queen on each row.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Then it rejects those boards with diagonal attacking positions.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backtracking algorithm, is a slight improvement on the permutation method,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constructs the search tree by considering one row of the board at a time, eliminating most non-solution board positions at a very early stage in their construction.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Because it rejects row and diagonal attacks even on incomplete boards, it examines only 15,720 possible queen placements.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 further improvement which examines only 5,508 possible queen placements is to combine the permutation based method with the early pruning method: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The permutations are generated depth-first, and the search space is pruned if the partial permutation produces a diagonal attack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F79E97C9-A6E4-8592-5892-94CE09274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BD"/>
              <a:t>References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CFA45BB-54C5-970D-9187-4A9150DF4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5100" y="1524000"/>
            <a:ext cx="7480300" cy="4664075"/>
          </a:xfrm>
        </p:spPr>
        <p:txBody>
          <a:bodyPr/>
          <a:lstStyle/>
          <a:p>
            <a:pPr eaLnBrk="1" hangingPunct="1"/>
            <a:r>
              <a:rPr lang="en-US" altLang="en-BD"/>
              <a:t>Additional material from the textbook: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BD"/>
              <a:t>Data Structures and Algorithm Analysis in Java (Second Edition) by Mark Allen Weiss</a:t>
            </a:r>
          </a:p>
          <a:p>
            <a:pPr eaLnBrk="1" hangingPunct="1"/>
            <a:r>
              <a:rPr lang="en-US" altLang="en-BD"/>
              <a:t>Additional images:</a:t>
            </a:r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BD">
                <a:hlinkClick r:id="rId2"/>
              </a:rPr>
              <a:t>www.wikipedia.com</a:t>
            </a:r>
            <a:endParaRPr lang="en-US" altLang="en-BD"/>
          </a:p>
          <a:p>
            <a:pPr lvl="1" eaLnBrk="1" hangingPunct="1">
              <a:buFont typeface="Verdana" panose="020B0604030504040204" pitchFamily="34" charset="0"/>
              <a:buNone/>
            </a:pPr>
            <a:r>
              <a:rPr lang="en-US" altLang="en-BD">
                <a:hlinkClick r:id="rId3"/>
              </a:rPr>
              <a:t>xkcd.com</a:t>
            </a:r>
            <a:endParaRPr lang="en-US" altLang="en-BD"/>
          </a:p>
          <a:p>
            <a:pPr eaLnBrk="1" hangingPunct="1"/>
            <a:endParaRPr lang="en-US" altLang="en-B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6121</TotalTime>
  <Words>1244</Words>
  <Application>Microsoft Macintosh PowerPoint</Application>
  <PresentationFormat>On-screen Show (4:3)</PresentationFormat>
  <Paragraphs>281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</vt:lpstr>
      <vt:lpstr>Wingdings 2</vt:lpstr>
      <vt:lpstr>Aharoni</vt:lpstr>
      <vt:lpstr>ＭＳ Ｐゴシック</vt:lpstr>
      <vt:lpstr>Century Gothic</vt:lpstr>
      <vt:lpstr>Times New Roman</vt:lpstr>
      <vt:lpstr>Gill Sans MT</vt:lpstr>
      <vt:lpstr>Verdana</vt:lpstr>
      <vt:lpstr>Office Theme</vt:lpstr>
      <vt:lpstr>Backtracking</vt:lpstr>
      <vt:lpstr>Backtracking</vt:lpstr>
      <vt:lpstr>Backtracking</vt:lpstr>
      <vt:lpstr>Backtracking</vt:lpstr>
      <vt:lpstr>Backtracking – n Queens Problem</vt:lpstr>
      <vt:lpstr>Basic Algorithm (example)</vt:lpstr>
      <vt:lpstr>Basic Algorithm (example)</vt:lpstr>
      <vt:lpstr>Basic Algorithm (example)</vt:lpstr>
      <vt:lpstr>Optimizing the Algorithm</vt:lpstr>
      <vt:lpstr>Optimizing the Algorithm (ex)</vt:lpstr>
      <vt:lpstr>Backtracking – Eight Queens Problem</vt:lpstr>
      <vt:lpstr>Backtracking – Eight Queens Problem</vt:lpstr>
      <vt:lpstr>Backtracking – Eight Queens Problem</vt:lpstr>
      <vt:lpstr>Backtracking – Eight Queens Problem</vt:lpstr>
      <vt:lpstr>PowerPoint Presentation</vt:lpstr>
      <vt:lpstr>Backtracking – 8 queens problem - Analysis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Sarah</dc:creator>
  <cp:lastModifiedBy>Shafiullah Shafin</cp:lastModifiedBy>
  <cp:revision>428</cp:revision>
  <dcterms:created xsi:type="dcterms:W3CDTF">2006-08-16T00:00:00Z</dcterms:created>
  <dcterms:modified xsi:type="dcterms:W3CDTF">2025-12-08T18:50:08Z</dcterms:modified>
</cp:coreProperties>
</file>