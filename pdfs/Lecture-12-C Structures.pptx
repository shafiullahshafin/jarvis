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8" r:id="rId6"/>
    <p:sldId id="280" r:id="rId7"/>
    <p:sldId id="281" r:id="rId8"/>
    <p:sldId id="279" r:id="rId9"/>
    <p:sldId id="262" r:id="rId10"/>
    <p:sldId id="272" r:id="rId11"/>
    <p:sldId id="273" r:id="rId12"/>
    <p:sldId id="270" r:id="rId13"/>
    <p:sldId id="274" r:id="rId14"/>
    <p:sldId id="261" r:id="rId15"/>
    <p:sldId id="275" r:id="rId16"/>
    <p:sldId id="264" r:id="rId17"/>
    <p:sldId id="265" r:id="rId18"/>
    <p:sldId id="266" r:id="rId19"/>
    <p:sldId id="267" r:id="rId20"/>
    <p:sldId id="276" r:id="rId21"/>
    <p:sldId id="263" r:id="rId22"/>
    <p:sldId id="277" r:id="rId23"/>
    <p:sldId id="282" r:id="rId24"/>
    <p:sldId id="271" r:id="rId25"/>
    <p:sldId id="283" r:id="rId26"/>
    <p:sldId id="284" r:id="rId27"/>
    <p:sldId id="285" r:id="rId28"/>
    <p:sldId id="286" r:id="rId29"/>
    <p:sldId id="287" r:id="rId30"/>
    <p:sldId id="288" r:id="rId31"/>
    <p:sldId id="289" r:id="rId32"/>
    <p:sldId id="290" r:id="rId33"/>
    <p:sldId id="292" r:id="rId34"/>
    <p:sldId id="293"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10" d="100"/>
          <a:sy n="110" d="100"/>
        </p:scale>
        <p:origin x="-1608"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2/25/2019</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2/25/2019</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2/25/2019</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2/25/2019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pPr/>
              <a:t>2/25/2019</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2/25/2019</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2/25/2019</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2/25/2019</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5.jpeg"/><Relationship Id="rId1" Type="http://schemas.openxmlformats.org/officeDocument/2006/relationships/slideLayout" Target="../slideLayouts/slideLayout2.xml"/><Relationship Id="rId5" Type="http://schemas.microsoft.com/office/2007/relationships/hdphoto" Target="../media/hdphoto9.wdp"/><Relationship Id="rId4" Type="http://schemas.openxmlformats.org/officeDocument/2006/relationships/image" Target="../media/image16.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19.jpeg"/><Relationship Id="rId1" Type="http://schemas.openxmlformats.org/officeDocument/2006/relationships/slideLayout" Target="../slideLayouts/slideLayout2.xml"/><Relationship Id="rId5" Type="http://schemas.microsoft.com/office/2007/relationships/hdphoto" Target="../media/hdphoto13.wdp"/><Relationship Id="rId4" Type="http://schemas.openxmlformats.org/officeDocument/2006/relationships/image" Target="../media/image20.jpeg"/></Relationships>
</file>

<file path=ppt/slides/_rels/slide22.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 - Structures</a:t>
            </a:r>
            <a:endParaRPr lang="en-US" dirty="0"/>
          </a:p>
        </p:txBody>
      </p:sp>
      <p:sp>
        <p:nvSpPr>
          <p:cNvPr id="3" name="TextBox 2"/>
          <p:cNvSpPr txBox="1"/>
          <p:nvPr/>
        </p:nvSpPr>
        <p:spPr>
          <a:xfrm>
            <a:off x="3657600" y="5410200"/>
            <a:ext cx="5668769" cy="1200329"/>
          </a:xfrm>
          <a:prstGeom prst="rect">
            <a:avLst/>
          </a:prstGeom>
          <a:noFill/>
        </p:spPr>
        <p:txBody>
          <a:bodyPr wrap="square" rtlCol="0">
            <a:spAutoFit/>
          </a:bodyPr>
          <a:lstStyle/>
          <a:p>
            <a:r>
              <a:rPr lang="en-US" dirty="0" smtClean="0"/>
              <a:t>Abu Sayeed</a:t>
            </a:r>
          </a:p>
          <a:p>
            <a:r>
              <a:rPr lang="en-US" dirty="0" smtClean="0"/>
              <a:t>Assistant Professor</a:t>
            </a:r>
          </a:p>
          <a:p>
            <a:r>
              <a:rPr lang="en-US" dirty="0" smtClean="0"/>
              <a:t>Department of Computer Science &amp; Engineering</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777" y="27609"/>
            <a:ext cx="7467600" cy="715962"/>
          </a:xfrm>
        </p:spPr>
        <p:txBody>
          <a:bodyPr/>
          <a:lstStyle/>
          <a:p>
            <a:pPr algn="ctr"/>
            <a:r>
              <a:rPr lang="en-US" dirty="0" smtClean="0">
                <a:solidFill>
                  <a:schemeClr val="accent3"/>
                </a:solidFill>
              </a:rPr>
              <a:t>C - Structures</a:t>
            </a:r>
            <a:endParaRPr lang="en-US" dirty="0">
              <a:solidFill>
                <a:schemeClr val="accent3"/>
              </a:solidFill>
            </a:endParaRPr>
          </a:p>
        </p:txBody>
      </p:sp>
      <p:sp>
        <p:nvSpPr>
          <p:cNvPr id="3" name="Content Placeholder 2"/>
          <p:cNvSpPr>
            <a:spLocks noGrp="1"/>
          </p:cNvSpPr>
          <p:nvPr>
            <p:ph sz="quarter" idx="1"/>
          </p:nvPr>
        </p:nvSpPr>
        <p:spPr>
          <a:xfrm>
            <a:off x="152400" y="990600"/>
            <a:ext cx="8610600" cy="5410200"/>
          </a:xfrm>
        </p:spPr>
        <p:txBody>
          <a:bodyPr>
            <a:normAutofit lnSpcReduction="10000"/>
          </a:bodyPr>
          <a:lstStyle/>
          <a:p>
            <a:pPr algn="just"/>
            <a:r>
              <a:rPr lang="en-US" dirty="0" smtClean="0"/>
              <a:t>C arrays allow you to define type of variables that can hold several data items of the same kind but </a:t>
            </a:r>
            <a:r>
              <a:rPr lang="en-US" b="1" dirty="0" smtClean="0"/>
              <a:t>structure</a:t>
            </a:r>
            <a:r>
              <a:rPr lang="en-US" dirty="0" smtClean="0"/>
              <a:t> is another user defined data type available in C programming, which allows you to combine data items of different kinds.</a:t>
            </a:r>
          </a:p>
          <a:p>
            <a:pPr algn="just"/>
            <a:r>
              <a:rPr lang="en-US" dirty="0" smtClean="0"/>
              <a:t>Structure is the collection of variables of different types under a single name for better handling.</a:t>
            </a:r>
          </a:p>
          <a:p>
            <a:pPr algn="just"/>
            <a:r>
              <a:rPr lang="en-US" dirty="0" smtClean="0"/>
              <a:t>Structures are used to represent a record, Suppose you want to keep track of your books in a library. You might want to track the following attributes about each book:</a:t>
            </a:r>
          </a:p>
          <a:p>
            <a:pPr lvl="1"/>
            <a:r>
              <a:rPr lang="en-US" dirty="0" smtClean="0"/>
              <a:t>Title</a:t>
            </a:r>
          </a:p>
          <a:p>
            <a:pPr lvl="1"/>
            <a:r>
              <a:rPr lang="en-US" dirty="0" smtClean="0"/>
              <a:t>Author</a:t>
            </a:r>
          </a:p>
          <a:p>
            <a:pPr lvl="1"/>
            <a:r>
              <a:rPr lang="en-US" dirty="0" smtClean="0"/>
              <a:t>Subject</a:t>
            </a:r>
          </a:p>
          <a:p>
            <a:pPr lvl="1"/>
            <a:r>
              <a:rPr lang="en-US" dirty="0" smtClean="0"/>
              <a:t>Book ID</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484" y="668769"/>
            <a:ext cx="8869916" cy="1617232"/>
          </a:xfrm>
        </p:spPr>
        <p:txBody>
          <a:bodyPr>
            <a:normAutofit lnSpcReduction="10000"/>
          </a:bodyPr>
          <a:lstStyle/>
          <a:p>
            <a:pPr algn="just"/>
            <a:r>
              <a:rPr lang="en-US" dirty="0" smtClean="0"/>
              <a:t>To define a structure, you must use the </a:t>
            </a:r>
            <a:r>
              <a:rPr lang="en-US" b="1" dirty="0" err="1" smtClean="0"/>
              <a:t>struct</a:t>
            </a:r>
            <a:r>
              <a:rPr lang="en-US" dirty="0" smtClean="0"/>
              <a:t> statement. The </a:t>
            </a:r>
            <a:r>
              <a:rPr lang="en-US" dirty="0" err="1" smtClean="0"/>
              <a:t>struct</a:t>
            </a:r>
            <a:r>
              <a:rPr lang="en-US" dirty="0" smtClean="0"/>
              <a:t> statement defines a new data type, with more than one member for your program. </a:t>
            </a:r>
          </a:p>
          <a:p>
            <a:pPr algn="just"/>
            <a:r>
              <a:rPr lang="en-US" dirty="0" smtClean="0"/>
              <a:t>The format of the </a:t>
            </a:r>
            <a:r>
              <a:rPr lang="en-US" b="1" dirty="0" err="1" smtClean="0"/>
              <a:t>struct</a:t>
            </a:r>
            <a:r>
              <a:rPr lang="en-US" dirty="0" smtClean="0"/>
              <a:t> statement is this:</a:t>
            </a:r>
            <a:endParaRPr lang="en-US" dirty="0"/>
          </a:p>
        </p:txBody>
      </p:sp>
      <p:sp>
        <p:nvSpPr>
          <p:cNvPr id="5" name="Title 1"/>
          <p:cNvSpPr>
            <a:spLocks noGrp="1"/>
          </p:cNvSpPr>
          <p:nvPr>
            <p:ph type="title"/>
          </p:nvPr>
        </p:nvSpPr>
        <p:spPr>
          <a:xfrm>
            <a:off x="624777" y="27609"/>
            <a:ext cx="7467600" cy="581991"/>
          </a:xfrm>
        </p:spPr>
        <p:txBody>
          <a:bodyPr/>
          <a:lstStyle/>
          <a:p>
            <a:pPr algn="ctr"/>
            <a:r>
              <a:rPr lang="en-US" dirty="0" smtClean="0">
                <a:solidFill>
                  <a:schemeClr val="accent3"/>
                </a:solidFill>
              </a:rPr>
              <a:t>Defining a Structure</a:t>
            </a:r>
          </a:p>
        </p:txBody>
      </p:sp>
      <p:sp>
        <p:nvSpPr>
          <p:cNvPr id="6" name="Content Placeholder 2"/>
          <p:cNvSpPr txBox="1">
            <a:spLocks/>
          </p:cNvSpPr>
          <p:nvPr/>
        </p:nvSpPr>
        <p:spPr>
          <a:xfrm>
            <a:off x="0" y="4534512"/>
            <a:ext cx="8762999" cy="2221500"/>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gn="just"/>
            <a:r>
              <a:rPr lang="en-US" dirty="0" smtClean="0"/>
              <a:t>The </a:t>
            </a:r>
            <a:r>
              <a:rPr lang="en-US" b="1" dirty="0" smtClean="0"/>
              <a:t>structure tag</a:t>
            </a:r>
            <a:r>
              <a:rPr lang="en-US" dirty="0" smtClean="0"/>
              <a:t> is optional and each member definition is a normal variable definition, such as </a:t>
            </a:r>
            <a:r>
              <a:rPr lang="en-US" i="1" dirty="0" err="1" smtClean="0"/>
              <a:t>int</a:t>
            </a:r>
            <a:r>
              <a:rPr lang="en-US" i="1" dirty="0" smtClean="0"/>
              <a:t> </a:t>
            </a:r>
            <a:r>
              <a:rPr lang="en-US" i="1" dirty="0" err="1" smtClean="0"/>
              <a:t>i</a:t>
            </a:r>
            <a:r>
              <a:rPr lang="en-US" dirty="0" smtClean="0"/>
              <a:t>; or </a:t>
            </a:r>
            <a:r>
              <a:rPr lang="en-US" i="1" dirty="0" smtClean="0"/>
              <a:t>float f</a:t>
            </a:r>
            <a:r>
              <a:rPr lang="en-US" dirty="0" smtClean="0"/>
              <a:t>; or any other valid variable definition. </a:t>
            </a:r>
          </a:p>
          <a:p>
            <a:pPr algn="just"/>
            <a:r>
              <a:rPr lang="en-US" dirty="0" smtClean="0"/>
              <a:t>At the end of the structure's definition, before the final semicolon, you can specify one or more structure variables but it is optional. </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379780" y="2268420"/>
            <a:ext cx="4800600" cy="2057400"/>
          </a:xfrm>
          <a:prstGeom prst="rect">
            <a:avLst/>
          </a:prstGeom>
          <a:noFill/>
          <a:ln w="9525">
            <a:solidFill>
              <a:schemeClr val="accent1"/>
            </a:solidFill>
            <a:miter lim="800000"/>
            <a:headEnd/>
            <a:tailEnd/>
          </a:ln>
        </p:spPr>
      </p:pic>
    </p:spTree>
    <p:extLst>
      <p:ext uri="{BB962C8B-B14F-4D97-AF65-F5344CB8AC3E}">
        <p14:creationId xmlns:p14="http://schemas.microsoft.com/office/powerpoint/2010/main" xmlns="" val="1959081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15824" y="862830"/>
            <a:ext cx="8570975" cy="813570"/>
          </a:xfrm>
        </p:spPr>
        <p:txBody>
          <a:bodyPr>
            <a:normAutofit/>
          </a:bodyPr>
          <a:lstStyle/>
          <a:p>
            <a:pPr algn="just"/>
            <a:r>
              <a:rPr lang="en-US" dirty="0" smtClean="0"/>
              <a:t>Here is the way you would declare the Book structure:</a:t>
            </a:r>
          </a:p>
          <a:p>
            <a:endParaRPr lang="en-US" dirty="0"/>
          </a:p>
        </p:txBody>
      </p:sp>
      <p:sp>
        <p:nvSpPr>
          <p:cNvPr id="9" name="Title 1"/>
          <p:cNvSpPr>
            <a:spLocks noGrp="1"/>
          </p:cNvSpPr>
          <p:nvPr>
            <p:ph type="title"/>
          </p:nvPr>
        </p:nvSpPr>
        <p:spPr>
          <a:xfrm>
            <a:off x="624777" y="27609"/>
            <a:ext cx="7467600" cy="581991"/>
          </a:xfrm>
        </p:spPr>
        <p:txBody>
          <a:bodyPr/>
          <a:lstStyle/>
          <a:p>
            <a:pPr algn="ctr"/>
            <a:r>
              <a:rPr lang="en-US" dirty="0" smtClean="0">
                <a:solidFill>
                  <a:schemeClr val="accent3"/>
                </a:solidFill>
              </a:rPr>
              <a:t>Defining a Structure</a:t>
            </a:r>
          </a:p>
        </p:txBody>
      </p:sp>
      <p:pic>
        <p:nvPicPr>
          <p:cNvPr id="2050" name="Picture 2"/>
          <p:cNvPicPr>
            <a:picLocks noChangeAspect="1" noChangeArrowheads="1"/>
          </p:cNvPicPr>
          <p:nvPr/>
        </p:nvPicPr>
        <p:blipFill>
          <a:blip r:embed="rId2" cstate="print"/>
          <a:srcRect/>
          <a:stretch>
            <a:fillRect/>
          </a:stretch>
        </p:blipFill>
        <p:spPr bwMode="auto">
          <a:xfrm>
            <a:off x="381001" y="2133600"/>
            <a:ext cx="3525140" cy="2286000"/>
          </a:xfrm>
          <a:prstGeom prst="rect">
            <a:avLst/>
          </a:prstGeom>
          <a:noFill/>
          <a:ln w="9525">
            <a:solidFill>
              <a:schemeClr val="accent1"/>
            </a:solidFill>
            <a:miter lim="800000"/>
            <a:headEnd/>
            <a:tailEnd/>
          </a:ln>
        </p:spPr>
      </p:pic>
      <p:sp>
        <p:nvSpPr>
          <p:cNvPr id="10" name="Rounded Rectangular Callout 9"/>
          <p:cNvSpPr/>
          <p:nvPr/>
        </p:nvSpPr>
        <p:spPr>
          <a:xfrm>
            <a:off x="2362200" y="1524000"/>
            <a:ext cx="2209800" cy="403276"/>
          </a:xfrm>
          <a:prstGeom prst="wedgeRoundRectCallout">
            <a:avLst>
              <a:gd name="adj1" fmla="val -51936"/>
              <a:gd name="adj2" fmla="val 121533"/>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Structure tag</a:t>
            </a:r>
            <a:endParaRPr lang="en-US" dirty="0">
              <a:solidFill>
                <a:schemeClr val="tx1"/>
              </a:solidFill>
            </a:endParaRPr>
          </a:p>
        </p:txBody>
      </p:sp>
      <p:sp>
        <p:nvSpPr>
          <p:cNvPr id="11" name="Rounded Rectangular Callout 10"/>
          <p:cNvSpPr/>
          <p:nvPr/>
        </p:nvSpPr>
        <p:spPr>
          <a:xfrm>
            <a:off x="3810000" y="2286000"/>
            <a:ext cx="2133600" cy="533400"/>
          </a:xfrm>
          <a:prstGeom prst="wedgeRoundRectCallout">
            <a:avLst>
              <a:gd name="adj1" fmla="val -58635"/>
              <a:gd name="adj2" fmla="val 127445"/>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Member definition</a:t>
            </a:r>
            <a:endParaRPr lang="en-US" dirty="0">
              <a:solidFill>
                <a:schemeClr val="tx1"/>
              </a:solidFill>
            </a:endParaRPr>
          </a:p>
        </p:txBody>
      </p:sp>
      <p:sp>
        <p:nvSpPr>
          <p:cNvPr id="12" name="Rounded Rectangular Callout 11"/>
          <p:cNvSpPr/>
          <p:nvPr/>
        </p:nvSpPr>
        <p:spPr>
          <a:xfrm>
            <a:off x="1905000" y="4953000"/>
            <a:ext cx="2133600" cy="533400"/>
          </a:xfrm>
          <a:prstGeom prst="wedgeRoundRectCallout">
            <a:avLst>
              <a:gd name="adj1" fmla="val -84349"/>
              <a:gd name="adj2" fmla="val -16794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structure variables</a:t>
            </a:r>
            <a:endParaRPr lang="en-US" dirty="0">
              <a:solidFill>
                <a:schemeClr val="tx1"/>
              </a:solidFill>
            </a:endParaRPr>
          </a:p>
        </p:txBody>
      </p:sp>
      <p:sp>
        <p:nvSpPr>
          <p:cNvPr id="13" name="Content Placeholder 2"/>
          <p:cNvSpPr txBox="1">
            <a:spLocks/>
          </p:cNvSpPr>
          <p:nvPr/>
        </p:nvSpPr>
        <p:spPr>
          <a:xfrm>
            <a:off x="140680" y="5867400"/>
            <a:ext cx="8570975" cy="813570"/>
          </a:xfrm>
          <a:prstGeom prst="rect">
            <a:avLst/>
          </a:prstGeom>
        </p:spPr>
        <p:txBody>
          <a:bodyPr vert="horz">
            <a:normAutofit lnSpcReduction="10000"/>
          </a:bodyPr>
          <a:lstStyle/>
          <a:p>
            <a:pPr marL="274320" indent="-274320" algn="just">
              <a:spcBef>
                <a:spcPts val="600"/>
              </a:spcBef>
              <a:buClr>
                <a:schemeClr val="accent1"/>
              </a:buClr>
              <a:buSzPct val="70000"/>
              <a:buFont typeface="Wingdings"/>
              <a:buChar char=""/>
            </a:pPr>
            <a:r>
              <a:rPr lang="en-US" sz="2400" dirty="0" smtClean="0"/>
              <a:t>With the declaration of the structure you have created a new type, called</a:t>
            </a:r>
            <a:r>
              <a:rPr lang="en-US" sz="2400" b="1" dirty="0" smtClean="0"/>
              <a:t> Books</a:t>
            </a:r>
            <a:r>
              <a:rPr lang="en-US" sz="2400" dirty="0" smtClean="0"/>
              <a:t>.</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Char char=""/>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2051" name="Picture 3"/>
          <p:cNvPicPr>
            <a:picLocks noChangeAspect="1" noChangeArrowheads="1"/>
          </p:cNvPicPr>
          <p:nvPr/>
        </p:nvPicPr>
        <p:blipFill>
          <a:blip r:embed="rId3" cstate="print"/>
          <a:srcRect/>
          <a:stretch>
            <a:fillRect/>
          </a:stretch>
        </p:blipFill>
        <p:spPr bwMode="auto">
          <a:xfrm>
            <a:off x="6019800" y="3733800"/>
            <a:ext cx="2551853" cy="1676400"/>
          </a:xfrm>
          <a:prstGeom prst="rect">
            <a:avLst/>
          </a:prstGeom>
          <a:noFill/>
          <a:ln w="9525">
            <a:solidFill>
              <a:schemeClr val="accent1">
                <a:shade val="50000"/>
              </a:schemeClr>
            </a:solidFill>
            <a:miter lim="800000"/>
            <a:headEnd/>
            <a:tailEnd/>
          </a:ln>
        </p:spPr>
      </p:pic>
      <p:sp>
        <p:nvSpPr>
          <p:cNvPr id="14" name="TextBox 13"/>
          <p:cNvSpPr txBox="1"/>
          <p:nvPr/>
        </p:nvSpPr>
        <p:spPr>
          <a:xfrm>
            <a:off x="5957668" y="3248464"/>
            <a:ext cx="1828800" cy="369332"/>
          </a:xfrm>
          <a:prstGeom prst="rect">
            <a:avLst/>
          </a:prstGeom>
          <a:noFill/>
        </p:spPr>
        <p:txBody>
          <a:bodyPr wrap="square" rtlCol="0">
            <a:spAutoFit/>
          </a:bodyPr>
          <a:lstStyle/>
          <a:p>
            <a:r>
              <a:rPr lang="en-US" dirty="0" smtClean="0"/>
              <a:t>Example 2</a:t>
            </a:r>
            <a:endParaRPr lang="en-US" dirty="0"/>
          </a:p>
        </p:txBody>
      </p:sp>
      <p:sp>
        <p:nvSpPr>
          <p:cNvPr id="15" name="TextBox 14"/>
          <p:cNvSpPr txBox="1"/>
          <p:nvPr/>
        </p:nvSpPr>
        <p:spPr>
          <a:xfrm>
            <a:off x="282524" y="1600200"/>
            <a:ext cx="1828800" cy="369332"/>
          </a:xfrm>
          <a:prstGeom prst="rect">
            <a:avLst/>
          </a:prstGeom>
          <a:noFill/>
        </p:spPr>
        <p:txBody>
          <a:bodyPr wrap="square" rtlCol="0">
            <a:spAutoFit/>
          </a:bodyPr>
          <a:lstStyle/>
          <a:p>
            <a:r>
              <a:rPr lang="en-US" dirty="0" smtClean="0"/>
              <a:t>Example 1</a:t>
            </a:r>
            <a:endParaRPr lang="en-US" dirty="0"/>
          </a:p>
        </p:txBody>
      </p:sp>
    </p:spTree>
    <p:extLst>
      <p:ext uri="{BB962C8B-B14F-4D97-AF65-F5344CB8AC3E}">
        <p14:creationId xmlns:p14="http://schemas.microsoft.com/office/powerpoint/2010/main" xmlns="" val="2117791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3618"/>
            <a:ext cx="8305800" cy="639762"/>
          </a:xfrm>
        </p:spPr>
        <p:txBody>
          <a:bodyPr/>
          <a:lstStyle/>
          <a:p>
            <a:pPr algn="ctr"/>
            <a:r>
              <a:rPr lang="en-US" dirty="0" smtClean="0">
                <a:solidFill>
                  <a:schemeClr val="accent3"/>
                </a:solidFill>
              </a:rPr>
              <a:t>Structure variable declaration</a:t>
            </a:r>
            <a:endParaRPr lang="en-US" dirty="0">
              <a:solidFill>
                <a:schemeClr val="accent3"/>
              </a:solidFill>
            </a:endParaRPr>
          </a:p>
        </p:txBody>
      </p:sp>
      <p:sp>
        <p:nvSpPr>
          <p:cNvPr id="3" name="Content Placeholder 2"/>
          <p:cNvSpPr>
            <a:spLocks noGrp="1"/>
          </p:cNvSpPr>
          <p:nvPr>
            <p:ph sz="quarter" idx="1"/>
          </p:nvPr>
        </p:nvSpPr>
        <p:spPr>
          <a:xfrm>
            <a:off x="152400" y="995276"/>
            <a:ext cx="8686800" cy="1290724"/>
          </a:xfrm>
        </p:spPr>
        <p:txBody>
          <a:bodyPr>
            <a:normAutofit fontScale="92500"/>
          </a:bodyPr>
          <a:lstStyle/>
          <a:p>
            <a:r>
              <a:rPr lang="en-US" dirty="0" smtClean="0"/>
              <a:t>When a structure is defined, it creates a user-defined type but, no storage is allocated. </a:t>
            </a:r>
          </a:p>
          <a:p>
            <a:r>
              <a:rPr lang="en-US" dirty="0" smtClean="0"/>
              <a:t>For the above structure of person, variable can be declared as:</a:t>
            </a:r>
            <a:endParaRPr lang="en-US" dirty="0"/>
          </a:p>
        </p:txBody>
      </p:sp>
      <p:pic>
        <p:nvPicPr>
          <p:cNvPr id="24578" name="Picture 2"/>
          <p:cNvPicPr>
            <a:picLocks noChangeAspect="1" noChangeArrowheads="1"/>
          </p:cNvPicPr>
          <p:nvPr/>
        </p:nvPicPr>
        <p:blipFill>
          <a:blip r:embed="rId2" cstate="print"/>
          <a:srcRect/>
          <a:stretch>
            <a:fillRect/>
          </a:stretch>
        </p:blipFill>
        <p:spPr bwMode="auto">
          <a:xfrm>
            <a:off x="330588" y="2379780"/>
            <a:ext cx="4267200" cy="3101926"/>
          </a:xfrm>
          <a:prstGeom prst="rect">
            <a:avLst/>
          </a:prstGeom>
          <a:noFill/>
          <a:ln w="9525">
            <a:solidFill>
              <a:schemeClr val="accent1">
                <a:shade val="50000"/>
              </a:schemeClr>
            </a:solidFill>
            <a:miter lim="800000"/>
            <a:headEnd/>
            <a:tailEnd/>
          </a:ln>
        </p:spPr>
      </p:pic>
      <p:pic>
        <p:nvPicPr>
          <p:cNvPr id="24579" name="Picture 3"/>
          <p:cNvPicPr>
            <a:picLocks noChangeAspect="1" noChangeArrowheads="1"/>
          </p:cNvPicPr>
          <p:nvPr/>
        </p:nvPicPr>
        <p:blipFill>
          <a:blip r:embed="rId3" cstate="print"/>
          <a:srcRect/>
          <a:stretch>
            <a:fillRect/>
          </a:stretch>
        </p:blipFill>
        <p:spPr bwMode="auto">
          <a:xfrm>
            <a:off x="5153464" y="3370766"/>
            <a:ext cx="3410527" cy="2394626"/>
          </a:xfrm>
          <a:prstGeom prst="rect">
            <a:avLst/>
          </a:prstGeom>
          <a:noFill/>
          <a:ln w="9525">
            <a:solidFill>
              <a:schemeClr val="accent1">
                <a:shade val="50000"/>
              </a:schemeClr>
            </a:solidFill>
            <a:miter lim="800000"/>
            <a:headEnd/>
            <a:tailEnd/>
          </a:ln>
        </p:spPr>
      </p:pic>
      <p:sp>
        <p:nvSpPr>
          <p:cNvPr id="6" name="Rectangle 5"/>
          <p:cNvSpPr/>
          <p:nvPr/>
        </p:nvSpPr>
        <p:spPr>
          <a:xfrm>
            <a:off x="5085472" y="2625960"/>
            <a:ext cx="3505200" cy="707886"/>
          </a:xfrm>
          <a:prstGeom prst="rect">
            <a:avLst/>
          </a:prstGeom>
        </p:spPr>
        <p:txBody>
          <a:bodyPr wrap="square">
            <a:spAutoFit/>
          </a:bodyPr>
          <a:lstStyle/>
          <a:p>
            <a:pPr algn="just"/>
            <a:r>
              <a:rPr lang="en-US" sz="2000" dirty="0" smtClean="0"/>
              <a:t>Another way of creating structure variable is:</a:t>
            </a:r>
            <a:endParaRPr lang="en-US" sz="2000" dirty="0"/>
          </a:p>
        </p:txBody>
      </p:sp>
      <p:sp>
        <p:nvSpPr>
          <p:cNvPr id="7" name="Rectangle 6"/>
          <p:cNvSpPr/>
          <p:nvPr/>
        </p:nvSpPr>
        <p:spPr>
          <a:xfrm>
            <a:off x="234460" y="5911952"/>
            <a:ext cx="8534400" cy="707886"/>
          </a:xfrm>
          <a:prstGeom prst="rect">
            <a:avLst/>
          </a:prstGeom>
        </p:spPr>
        <p:txBody>
          <a:bodyPr wrap="square">
            <a:spAutoFit/>
          </a:bodyPr>
          <a:lstStyle/>
          <a:p>
            <a:r>
              <a:rPr lang="en-US" sz="2000" dirty="0" smtClean="0"/>
              <a:t>In both cases, 2 variables </a:t>
            </a:r>
            <a:r>
              <a:rPr lang="en-US" sz="2000" i="1" dirty="0" smtClean="0"/>
              <a:t>p1</a:t>
            </a:r>
            <a:r>
              <a:rPr lang="en-US" sz="2000" dirty="0" smtClean="0"/>
              <a:t>, </a:t>
            </a:r>
            <a:r>
              <a:rPr lang="en-US" sz="2000" i="1" dirty="0" smtClean="0"/>
              <a:t>p2</a:t>
            </a:r>
            <a:r>
              <a:rPr lang="en-US" sz="2000" dirty="0" smtClean="0"/>
              <a:t> and array </a:t>
            </a:r>
            <a:r>
              <a:rPr lang="en-US" sz="2000" i="1" dirty="0" smtClean="0"/>
              <a:t>p</a:t>
            </a:r>
            <a:r>
              <a:rPr lang="en-US" sz="2000" dirty="0" smtClean="0"/>
              <a:t> having 20 elements of type </a:t>
            </a:r>
            <a:r>
              <a:rPr lang="en-US" sz="2000" b="1" dirty="0" err="1" smtClean="0"/>
              <a:t>struct</a:t>
            </a:r>
            <a:r>
              <a:rPr lang="en-US" sz="2000" b="1" dirty="0" smtClean="0"/>
              <a:t> person</a:t>
            </a:r>
            <a:r>
              <a:rPr lang="en-US" sz="2000" dirty="0" smtClean="0"/>
              <a:t> are created.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68204"/>
            <a:ext cx="8534400" cy="746195"/>
          </a:xfrm>
        </p:spPr>
        <p:txBody>
          <a:bodyPr>
            <a:noAutofit/>
          </a:bodyPr>
          <a:lstStyle/>
          <a:p>
            <a:pPr algn="ctr"/>
            <a:r>
              <a:rPr lang="en-US" sz="2800" dirty="0">
                <a:solidFill>
                  <a:schemeClr val="accent3"/>
                </a:solidFill>
              </a:rPr>
              <a:t>Difference between C variable</a:t>
            </a:r>
            <a:r>
              <a:rPr lang="en-US" sz="2800" dirty="0" smtClean="0">
                <a:solidFill>
                  <a:schemeClr val="accent3"/>
                </a:solidFill>
              </a:rPr>
              <a:t>, </a:t>
            </a:r>
            <a:r>
              <a:rPr lang="en-US" sz="2800" dirty="0">
                <a:solidFill>
                  <a:schemeClr val="accent3"/>
                </a:solidFill>
              </a:rPr>
              <a:t>array </a:t>
            </a:r>
            <a:r>
              <a:rPr lang="en-US" sz="2800" dirty="0" smtClean="0">
                <a:solidFill>
                  <a:schemeClr val="accent3"/>
                </a:solidFill>
              </a:rPr>
              <a:t>and structure</a:t>
            </a:r>
            <a:endParaRPr lang="en-US" sz="2800" dirty="0">
              <a:solidFill>
                <a:schemeClr val="accent3"/>
              </a:solidFill>
            </a:endParaRPr>
          </a:p>
        </p:txBody>
      </p:sp>
      <p:sp>
        <p:nvSpPr>
          <p:cNvPr id="3" name="Content Placeholder 2"/>
          <p:cNvSpPr>
            <a:spLocks noGrp="1"/>
          </p:cNvSpPr>
          <p:nvPr>
            <p:ph sz="quarter" idx="1"/>
          </p:nvPr>
        </p:nvSpPr>
        <p:spPr>
          <a:xfrm>
            <a:off x="152400" y="995276"/>
            <a:ext cx="8686800" cy="2967124"/>
          </a:xfrm>
        </p:spPr>
        <p:txBody>
          <a:bodyPr>
            <a:normAutofit/>
          </a:bodyPr>
          <a:lstStyle/>
          <a:p>
            <a:r>
              <a:rPr lang="en-US" dirty="0" smtClean="0"/>
              <a:t>A </a:t>
            </a:r>
            <a:r>
              <a:rPr lang="en-US" dirty="0"/>
              <a:t>normal C variable can hold only one data of one data type at a time.</a:t>
            </a:r>
          </a:p>
          <a:p>
            <a:r>
              <a:rPr lang="en-US" dirty="0"/>
              <a:t>An array can hold group of data of </a:t>
            </a:r>
            <a:r>
              <a:rPr lang="en-US" u="sng" dirty="0"/>
              <a:t>same data type</a:t>
            </a:r>
            <a:r>
              <a:rPr lang="en-US" dirty="0"/>
              <a:t>.</a:t>
            </a:r>
          </a:p>
          <a:p>
            <a:r>
              <a:rPr lang="en-US" dirty="0"/>
              <a:t>A structure can hold group of data of </a:t>
            </a:r>
            <a:r>
              <a:rPr lang="en-US" u="sng" dirty="0"/>
              <a:t>different data types</a:t>
            </a:r>
          </a:p>
          <a:p>
            <a:r>
              <a:rPr lang="en-US" dirty="0"/>
              <a:t>Data types can be </a:t>
            </a:r>
            <a:r>
              <a:rPr lang="en-US" dirty="0" err="1"/>
              <a:t>int</a:t>
            </a:r>
            <a:r>
              <a:rPr lang="en-US" dirty="0"/>
              <a:t>, char, float, double and long double etc.</a:t>
            </a:r>
          </a:p>
        </p:txBody>
      </p:sp>
      <p:pic>
        <p:nvPicPr>
          <p:cNvPr id="4" name="Picture 3"/>
          <p:cNvPicPr>
            <a:picLocks noChangeAspect="1"/>
          </p:cNvPicPr>
          <p:nvPr/>
        </p:nvPicPr>
        <p:blipFill>
          <a:blip r:embed="rId2" cstate="print">
            <a:extLst>
              <a:ext uri="{BEBA8EAE-BF5A-486C-A8C5-ECC9F3942E4B}">
                <a14:imgProps xmlns:a14="http://schemas.microsoft.com/office/drawing/2010/main" xmlns="">
                  <a14:imgLayer r:embed="rId3">
                    <a14:imgEffect>
                      <a14:sharpenSoften amount="43000"/>
                    </a14:imgEffect>
                  </a14:imgLayer>
                </a14:imgProps>
              </a:ext>
            </a:extLst>
          </a:blip>
          <a:stretch>
            <a:fillRect/>
          </a:stretch>
        </p:blipFill>
        <p:spPr>
          <a:xfrm>
            <a:off x="106930" y="3657600"/>
            <a:ext cx="8624190" cy="2979265"/>
          </a:xfrm>
          <a:prstGeom prst="rect">
            <a:avLst/>
          </a:prstGeom>
        </p:spPr>
      </p:pic>
    </p:spTree>
    <p:extLst>
      <p:ext uri="{BB962C8B-B14F-4D97-AF65-F5344CB8AC3E}">
        <p14:creationId xmlns:p14="http://schemas.microsoft.com/office/powerpoint/2010/main" xmlns="" val="3925829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68204"/>
            <a:ext cx="8534400" cy="746195"/>
          </a:xfrm>
        </p:spPr>
        <p:txBody>
          <a:bodyPr>
            <a:noAutofit/>
          </a:bodyPr>
          <a:lstStyle/>
          <a:p>
            <a:pPr algn="ctr"/>
            <a:r>
              <a:rPr lang="en-US" sz="2800" dirty="0">
                <a:solidFill>
                  <a:schemeClr val="accent3"/>
                </a:solidFill>
              </a:rPr>
              <a:t>Below table explains following concepts in C </a:t>
            </a:r>
            <a:r>
              <a:rPr lang="en-US" sz="2800" dirty="0" smtClean="0">
                <a:solidFill>
                  <a:schemeClr val="accent3"/>
                </a:solidFill>
              </a:rPr>
              <a:t>structure</a:t>
            </a:r>
            <a:endParaRPr lang="en-US" sz="2800" dirty="0">
              <a:solidFill>
                <a:schemeClr val="accent3"/>
              </a:solidFill>
            </a:endParaRPr>
          </a:p>
        </p:txBody>
      </p:sp>
      <p:sp>
        <p:nvSpPr>
          <p:cNvPr id="3" name="Content Placeholder 2"/>
          <p:cNvSpPr>
            <a:spLocks noGrp="1"/>
          </p:cNvSpPr>
          <p:nvPr>
            <p:ph sz="quarter" idx="1"/>
          </p:nvPr>
        </p:nvSpPr>
        <p:spPr>
          <a:xfrm>
            <a:off x="107577" y="1084922"/>
            <a:ext cx="8686800" cy="1062124"/>
          </a:xfrm>
        </p:spPr>
        <p:txBody>
          <a:bodyPr>
            <a:normAutofit fontScale="92500" lnSpcReduction="20000"/>
          </a:bodyPr>
          <a:lstStyle/>
          <a:p>
            <a:r>
              <a:rPr lang="en-US" dirty="0" smtClean="0"/>
              <a:t>How </a:t>
            </a:r>
            <a:r>
              <a:rPr lang="en-US" dirty="0"/>
              <a:t>to declare a C structure?</a:t>
            </a:r>
          </a:p>
          <a:p>
            <a:r>
              <a:rPr lang="en-US" dirty="0"/>
              <a:t>How to initialize a C structure?</a:t>
            </a:r>
          </a:p>
          <a:p>
            <a:r>
              <a:rPr lang="en-US" dirty="0"/>
              <a:t>How to access the members of a C structure?</a:t>
            </a:r>
          </a:p>
        </p:txBody>
      </p:sp>
      <p:pic>
        <p:nvPicPr>
          <p:cNvPr id="5" name="Picture 4"/>
          <p:cNvPicPr>
            <a:picLocks noChangeAspect="1"/>
          </p:cNvPicPr>
          <p:nvPr/>
        </p:nvPicPr>
        <p:blipFill>
          <a:blip r:embed="rId2" cstate="print">
            <a:extLst>
              <a:ext uri="{BEBA8EAE-BF5A-486C-A8C5-ECC9F3942E4B}">
                <a14:imgProps xmlns:a14="http://schemas.microsoft.com/office/drawing/2010/main" xmlns="">
                  <a14:imgLayer r:embed="rId3">
                    <a14:imgEffect>
                      <a14:sharpenSoften amount="78000"/>
                    </a14:imgEffect>
                  </a14:imgLayer>
                </a14:imgProps>
              </a:ext>
            </a:extLst>
          </a:blip>
          <a:stretch>
            <a:fillRect/>
          </a:stretch>
        </p:blipFill>
        <p:spPr>
          <a:xfrm>
            <a:off x="168835" y="2329328"/>
            <a:ext cx="8879010" cy="4191000"/>
          </a:xfrm>
          <a:prstGeom prst="rect">
            <a:avLst/>
          </a:prstGeom>
        </p:spPr>
      </p:pic>
    </p:spTree>
    <p:extLst>
      <p:ext uri="{BB962C8B-B14F-4D97-AF65-F5344CB8AC3E}">
        <p14:creationId xmlns:p14="http://schemas.microsoft.com/office/powerpoint/2010/main" xmlns="" val="2487529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534400" cy="563562"/>
          </a:xfrm>
        </p:spPr>
        <p:txBody>
          <a:bodyPr>
            <a:normAutofit/>
          </a:bodyPr>
          <a:lstStyle/>
          <a:p>
            <a:pPr algn="ctr"/>
            <a:r>
              <a:rPr lang="en-US" sz="2800" dirty="0" smtClean="0">
                <a:solidFill>
                  <a:schemeClr val="accent3"/>
                </a:solidFill>
              </a:rPr>
              <a:t>Accessing members of a structure</a:t>
            </a:r>
            <a:endParaRPr lang="en-US" sz="2800" dirty="0">
              <a:solidFill>
                <a:schemeClr val="accent3"/>
              </a:solidFill>
            </a:endParaRPr>
          </a:p>
        </p:txBody>
      </p:sp>
      <p:sp>
        <p:nvSpPr>
          <p:cNvPr id="3" name="Content Placeholder 2"/>
          <p:cNvSpPr>
            <a:spLocks noGrp="1"/>
          </p:cNvSpPr>
          <p:nvPr>
            <p:ph sz="quarter" idx="1"/>
          </p:nvPr>
        </p:nvSpPr>
        <p:spPr>
          <a:xfrm>
            <a:off x="228600" y="1117212"/>
            <a:ext cx="8458200" cy="5486399"/>
          </a:xfrm>
        </p:spPr>
        <p:txBody>
          <a:bodyPr>
            <a:normAutofit lnSpcReduction="10000"/>
          </a:bodyPr>
          <a:lstStyle/>
          <a:p>
            <a:r>
              <a:rPr lang="en-US" dirty="0"/>
              <a:t>S</a:t>
            </a:r>
            <a:r>
              <a:rPr lang="en-US" dirty="0" smtClean="0"/>
              <a:t>tructure </a:t>
            </a:r>
            <a:r>
              <a:rPr lang="en-US" dirty="0"/>
              <a:t>can be accessed in 2 </a:t>
            </a:r>
            <a:r>
              <a:rPr lang="en-US" dirty="0" smtClean="0"/>
              <a:t>ways. </a:t>
            </a:r>
            <a:r>
              <a:rPr lang="en-US" dirty="0"/>
              <a:t>They are,</a:t>
            </a:r>
          </a:p>
          <a:p>
            <a:pPr marL="742950" lvl="1" indent="-285750">
              <a:buFont typeface="+mj-lt"/>
              <a:buAutoNum type="arabicPeriod"/>
            </a:pPr>
            <a:r>
              <a:rPr lang="en-US" dirty="0"/>
              <a:t>Using normal structure variable</a:t>
            </a:r>
          </a:p>
          <a:p>
            <a:pPr marL="742950" lvl="1" indent="-285750">
              <a:buFont typeface="+mj-lt"/>
              <a:buAutoNum type="arabicPeriod"/>
            </a:pPr>
            <a:r>
              <a:rPr lang="en-US" dirty="0"/>
              <a:t>Using pointer variable</a:t>
            </a:r>
          </a:p>
          <a:p>
            <a:r>
              <a:rPr lang="en-US" dirty="0"/>
              <a:t>There are two types of operators used for accessing members of a structure.</a:t>
            </a:r>
          </a:p>
          <a:p>
            <a:pPr lvl="1"/>
            <a:r>
              <a:rPr lang="en-US" dirty="0" smtClean="0"/>
              <a:t>Member </a:t>
            </a:r>
            <a:r>
              <a:rPr lang="en-US" dirty="0"/>
              <a:t>operator(.)</a:t>
            </a:r>
          </a:p>
          <a:p>
            <a:pPr lvl="1"/>
            <a:r>
              <a:rPr lang="en-US" dirty="0"/>
              <a:t>Structure pointer operator(-&gt;)</a:t>
            </a:r>
            <a:endParaRPr lang="en-US" dirty="0" smtClean="0"/>
          </a:p>
          <a:p>
            <a:pPr algn="just"/>
            <a:r>
              <a:rPr lang="en-US" dirty="0" smtClean="0"/>
              <a:t>Dot</a:t>
            </a:r>
            <a:r>
              <a:rPr lang="en-US" dirty="0"/>
              <a:t>(.) operator is used to access the data using normal structure </a:t>
            </a:r>
            <a:r>
              <a:rPr lang="en-US" dirty="0" smtClean="0"/>
              <a:t>variable.</a:t>
            </a:r>
          </a:p>
          <a:p>
            <a:pPr algn="just"/>
            <a:r>
              <a:rPr lang="en-US" dirty="0" smtClean="0"/>
              <a:t>Arrow </a:t>
            </a:r>
            <a:r>
              <a:rPr lang="en-US" dirty="0"/>
              <a:t>(-&gt;) is used to access the data using pointer variable. </a:t>
            </a:r>
            <a:endParaRPr lang="en-US" dirty="0" smtClean="0"/>
          </a:p>
          <a:p>
            <a:pPr algn="just"/>
            <a:r>
              <a:rPr lang="en-US" dirty="0" smtClean="0"/>
              <a:t>We already have </a:t>
            </a:r>
            <a:r>
              <a:rPr lang="en-US" dirty="0"/>
              <a:t>learnt how to access structure data using normal </a:t>
            </a:r>
            <a:r>
              <a:rPr lang="en-US" dirty="0" smtClean="0"/>
              <a:t>variable. So</a:t>
            </a:r>
            <a:r>
              <a:rPr lang="en-US" dirty="0"/>
              <a:t>, we are showing here how to access structure data using pointer </a:t>
            </a:r>
            <a:r>
              <a:rPr lang="en-US" dirty="0" smtClean="0"/>
              <a:t>variable.</a:t>
            </a:r>
            <a:endParaRPr lang="en-US" dirty="0">
              <a:effectLst/>
            </a:endParaRPr>
          </a:p>
        </p:txBody>
      </p:sp>
    </p:spTree>
    <p:extLst>
      <p:ext uri="{BB962C8B-B14F-4D97-AF65-F5344CB8AC3E}">
        <p14:creationId xmlns:p14="http://schemas.microsoft.com/office/powerpoint/2010/main" xmlns="" val="1693870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346"/>
            <a:ext cx="8610600" cy="563562"/>
          </a:xfrm>
        </p:spPr>
        <p:txBody>
          <a:bodyPr/>
          <a:lstStyle/>
          <a:p>
            <a:pPr algn="ctr"/>
            <a:r>
              <a:rPr lang="en-US" dirty="0" smtClean="0">
                <a:solidFill>
                  <a:schemeClr val="accent3"/>
                </a:solidFill>
              </a:rPr>
              <a:t>Pointers to Structures</a:t>
            </a:r>
            <a:endParaRPr lang="en-US" dirty="0">
              <a:solidFill>
                <a:schemeClr val="accent3"/>
              </a:solidFill>
            </a:endParaRPr>
          </a:p>
        </p:txBody>
      </p:sp>
      <p:pic>
        <p:nvPicPr>
          <p:cNvPr id="5123" name="Picture 3"/>
          <p:cNvPicPr>
            <a:picLocks noChangeAspect="1" noChangeArrowheads="1"/>
          </p:cNvPicPr>
          <p:nvPr/>
        </p:nvPicPr>
        <p:blipFill>
          <a:blip r:embed="rId2" cstate="print"/>
          <a:srcRect/>
          <a:stretch>
            <a:fillRect/>
          </a:stretch>
        </p:blipFill>
        <p:spPr bwMode="auto">
          <a:xfrm>
            <a:off x="198255" y="1254360"/>
            <a:ext cx="8557327" cy="34290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p:cNvPicPr>
            <a:picLocks noChangeAspect="1"/>
          </p:cNvPicPr>
          <p:nvPr/>
        </p:nvPicPr>
        <p:blipFill>
          <a:blip r:embed="rId2" cstate="print">
            <a:extLst>
              <a:ext uri="{BEBA8EAE-BF5A-486C-A8C5-ECC9F3942E4B}">
                <a14:imgProps xmlns:a14="http://schemas.microsoft.com/office/drawing/2010/main" xmlns="">
                  <a14:imgLayer r:embed="rId3">
                    <a14:imgEffect>
                      <a14:sharpenSoften amount="72000"/>
                    </a14:imgEffect>
                  </a14:imgLayer>
                </a14:imgProps>
              </a:ext>
              <a:ext uri="{28A0092B-C50C-407E-A947-70E740481C1C}">
                <a14:useLocalDpi xmlns:a14="http://schemas.microsoft.com/office/drawing/2010/main" xmlns="" val="0"/>
              </a:ext>
            </a:extLst>
          </a:blip>
          <a:stretch>
            <a:fillRect/>
          </a:stretch>
        </p:blipFill>
        <p:spPr>
          <a:xfrm>
            <a:off x="134802" y="775151"/>
            <a:ext cx="6799398" cy="6094797"/>
          </a:xfrm>
          <a:prstGeom prst="rect">
            <a:avLst/>
          </a:prstGeom>
        </p:spPr>
      </p:pic>
      <p:sp>
        <p:nvSpPr>
          <p:cNvPr id="7" name="Rectangle 6"/>
          <p:cNvSpPr/>
          <p:nvPr/>
        </p:nvSpPr>
        <p:spPr>
          <a:xfrm>
            <a:off x="6012316" y="3752671"/>
            <a:ext cx="2903084" cy="1200329"/>
          </a:xfrm>
          <a:prstGeom prst="rect">
            <a:avLst/>
          </a:prstGeom>
        </p:spPr>
        <p:txBody>
          <a:bodyPr wrap="square">
            <a:spAutoFit/>
          </a:bodyPr>
          <a:lstStyle/>
          <a:p>
            <a:r>
              <a:rPr lang="en-US" b="1" dirty="0" smtClean="0"/>
              <a:t>Output:</a:t>
            </a:r>
          </a:p>
          <a:p>
            <a:r>
              <a:rPr lang="en-US" dirty="0" smtClean="0"/>
              <a:t>Id </a:t>
            </a:r>
            <a:r>
              <a:rPr lang="en-US" dirty="0"/>
              <a:t>is: 1</a:t>
            </a:r>
          </a:p>
          <a:p>
            <a:r>
              <a:rPr lang="en-US" dirty="0"/>
              <a:t>Name is: </a:t>
            </a:r>
            <a:r>
              <a:rPr lang="en-US" dirty="0" err="1"/>
              <a:t>Raju</a:t>
            </a:r>
            <a:endParaRPr lang="en-US" dirty="0"/>
          </a:p>
          <a:p>
            <a:r>
              <a:rPr lang="en-US" dirty="0"/>
              <a:t>Percentage is: 86.500000</a:t>
            </a:r>
          </a:p>
        </p:txBody>
      </p:sp>
      <p:sp>
        <p:nvSpPr>
          <p:cNvPr id="8" name="Rectangle 7"/>
          <p:cNvSpPr/>
          <p:nvPr/>
        </p:nvSpPr>
        <p:spPr>
          <a:xfrm>
            <a:off x="3285561" y="655927"/>
            <a:ext cx="5715000" cy="1200329"/>
          </a:xfrm>
          <a:prstGeom prst="rect">
            <a:avLst/>
          </a:prstGeom>
        </p:spPr>
        <p:txBody>
          <a:bodyPr wrap="square">
            <a:spAutoFit/>
          </a:bodyPr>
          <a:lstStyle/>
          <a:p>
            <a:r>
              <a:rPr lang="en-US" dirty="0"/>
              <a:t>This program is used to store and access “id, name and percentage” for one student. We can also store and access these data for many students using array of structures.</a:t>
            </a:r>
          </a:p>
        </p:txBody>
      </p:sp>
      <p:sp>
        <p:nvSpPr>
          <p:cNvPr id="11" name="Title 1"/>
          <p:cNvSpPr txBox="1">
            <a:spLocks/>
          </p:cNvSpPr>
          <p:nvPr/>
        </p:nvSpPr>
        <p:spPr>
          <a:xfrm>
            <a:off x="228600" y="35582"/>
            <a:ext cx="8637492" cy="559077"/>
          </a:xfrm>
          <a:prstGeom prst="rect">
            <a:avLst/>
          </a:prstGeom>
        </p:spPr>
        <p:txBody>
          <a:bodyPr vert="horz" anchor="b">
            <a:no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sz="2400" dirty="0" smtClean="0">
                <a:solidFill>
                  <a:schemeClr val="accent3"/>
                </a:solidFill>
              </a:rPr>
              <a:t>Example program for C structure</a:t>
            </a:r>
            <a:endParaRPr lang="en-US" sz="2400" dirty="0">
              <a:solidFill>
                <a:schemeClr val="accent3"/>
              </a:solidFill>
            </a:endParaRPr>
          </a:p>
        </p:txBody>
      </p:sp>
    </p:spTree>
    <p:extLst>
      <p:ext uri="{BB962C8B-B14F-4D97-AF65-F5344CB8AC3E}">
        <p14:creationId xmlns:p14="http://schemas.microsoft.com/office/powerpoint/2010/main" xmlns="" val="1344352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BEBA8EAE-BF5A-486C-A8C5-ECC9F3942E4B}">
                <a14:imgProps xmlns:a14="http://schemas.microsoft.com/office/drawing/2010/main" xmlns="">
                  <a14:imgLayer r:embed="rId3">
                    <a14:imgEffect>
                      <a14:sharpenSoften amount="46000"/>
                    </a14:imgEffect>
                  </a14:imgLayer>
                </a14:imgProps>
              </a:ext>
            </a:extLst>
          </a:blip>
          <a:stretch>
            <a:fillRect/>
          </a:stretch>
        </p:blipFill>
        <p:spPr>
          <a:xfrm>
            <a:off x="140449" y="0"/>
            <a:ext cx="5127942" cy="6858000"/>
          </a:xfrm>
          <a:prstGeom prst="rect">
            <a:avLst/>
          </a:prstGeom>
        </p:spPr>
      </p:pic>
      <p:sp>
        <p:nvSpPr>
          <p:cNvPr id="7" name="Rectangle 6"/>
          <p:cNvSpPr/>
          <p:nvPr/>
        </p:nvSpPr>
        <p:spPr>
          <a:xfrm>
            <a:off x="6006345" y="2945932"/>
            <a:ext cx="2743200" cy="2739212"/>
          </a:xfrm>
          <a:prstGeom prst="rect">
            <a:avLst/>
          </a:prstGeom>
        </p:spPr>
        <p:txBody>
          <a:bodyPr wrap="square">
            <a:spAutoFit/>
          </a:bodyPr>
          <a:lstStyle/>
          <a:p>
            <a:r>
              <a:rPr lang="en-US" b="1" dirty="0" smtClean="0"/>
              <a:t>Output:</a:t>
            </a:r>
          </a:p>
          <a:p>
            <a:r>
              <a:rPr lang="en-US" sz="1400" dirty="0" smtClean="0"/>
              <a:t>    Records </a:t>
            </a:r>
            <a:r>
              <a:rPr lang="en-US" sz="1400" dirty="0"/>
              <a:t>of STUDENT : </a:t>
            </a:r>
            <a:r>
              <a:rPr lang="en-US" sz="1400" dirty="0" smtClean="0"/>
              <a:t>1 </a:t>
            </a:r>
          </a:p>
          <a:p>
            <a:r>
              <a:rPr lang="en-US" sz="1400" dirty="0" smtClean="0"/>
              <a:t>Id </a:t>
            </a:r>
            <a:r>
              <a:rPr lang="en-US" sz="1400" dirty="0"/>
              <a:t>is: 1 </a:t>
            </a:r>
            <a:endParaRPr lang="en-US" sz="1400" dirty="0" smtClean="0"/>
          </a:p>
          <a:p>
            <a:r>
              <a:rPr lang="en-US" sz="1400" dirty="0" smtClean="0"/>
              <a:t>Name </a:t>
            </a:r>
            <a:r>
              <a:rPr lang="en-US" sz="1400" dirty="0"/>
              <a:t>is: </a:t>
            </a:r>
            <a:r>
              <a:rPr lang="en-US" sz="1400" dirty="0" err="1"/>
              <a:t>Raju</a:t>
            </a:r>
            <a:r>
              <a:rPr lang="en-US" sz="1400" dirty="0"/>
              <a:t> </a:t>
            </a:r>
            <a:endParaRPr lang="en-US" sz="1400" dirty="0" smtClean="0"/>
          </a:p>
          <a:p>
            <a:r>
              <a:rPr lang="en-US" sz="1400" dirty="0" smtClean="0"/>
              <a:t>Percentage </a:t>
            </a:r>
            <a:r>
              <a:rPr lang="en-US" sz="1400" dirty="0"/>
              <a:t>is: 86.500000 </a:t>
            </a:r>
            <a:endParaRPr lang="en-US" sz="1400" dirty="0" smtClean="0"/>
          </a:p>
          <a:p>
            <a:r>
              <a:rPr lang="en-US" sz="1400" dirty="0" smtClean="0"/>
              <a:t>   Records </a:t>
            </a:r>
            <a:r>
              <a:rPr lang="en-US" sz="1400" dirty="0"/>
              <a:t>of STUDENT : 2 </a:t>
            </a:r>
            <a:endParaRPr lang="en-US" sz="1400" dirty="0" smtClean="0"/>
          </a:p>
          <a:p>
            <a:r>
              <a:rPr lang="en-US" sz="1400" dirty="0" smtClean="0"/>
              <a:t>Id </a:t>
            </a:r>
            <a:r>
              <a:rPr lang="en-US" sz="1400" dirty="0"/>
              <a:t>is: 2 </a:t>
            </a:r>
            <a:endParaRPr lang="en-US" sz="1400" dirty="0" smtClean="0"/>
          </a:p>
          <a:p>
            <a:r>
              <a:rPr lang="en-US" sz="1400" dirty="0" smtClean="0"/>
              <a:t>Name </a:t>
            </a:r>
            <a:r>
              <a:rPr lang="en-US" sz="1400" dirty="0"/>
              <a:t>is: </a:t>
            </a:r>
            <a:r>
              <a:rPr lang="en-US" sz="1400" dirty="0" err="1"/>
              <a:t>Surendren</a:t>
            </a:r>
            <a:r>
              <a:rPr lang="en-US" sz="1400" dirty="0"/>
              <a:t> </a:t>
            </a:r>
            <a:endParaRPr lang="en-US" sz="1400" dirty="0" smtClean="0"/>
          </a:p>
          <a:p>
            <a:r>
              <a:rPr lang="en-US" sz="1400" dirty="0" smtClean="0"/>
              <a:t>Percentage </a:t>
            </a:r>
            <a:r>
              <a:rPr lang="en-US" sz="1400" dirty="0"/>
              <a:t>is: 90.500000 </a:t>
            </a:r>
            <a:endParaRPr lang="en-US" sz="1400" dirty="0" smtClean="0"/>
          </a:p>
          <a:p>
            <a:r>
              <a:rPr lang="en-US" sz="1400" dirty="0" smtClean="0"/>
              <a:t>    Records </a:t>
            </a:r>
            <a:r>
              <a:rPr lang="en-US" sz="1400" dirty="0"/>
              <a:t>of STUDENT : 3 </a:t>
            </a:r>
            <a:endParaRPr lang="en-US" sz="1400" dirty="0" smtClean="0"/>
          </a:p>
          <a:p>
            <a:r>
              <a:rPr lang="en-US" sz="1400" dirty="0" smtClean="0"/>
              <a:t>Id </a:t>
            </a:r>
            <a:r>
              <a:rPr lang="en-US" sz="1400" dirty="0"/>
              <a:t>is: 3 Name is: </a:t>
            </a:r>
            <a:r>
              <a:rPr lang="en-US" sz="1400" dirty="0" err="1"/>
              <a:t>Thiyagu</a:t>
            </a:r>
            <a:r>
              <a:rPr lang="en-US" sz="1400" dirty="0"/>
              <a:t> </a:t>
            </a:r>
            <a:endParaRPr lang="en-US" sz="1400" dirty="0" smtClean="0"/>
          </a:p>
          <a:p>
            <a:r>
              <a:rPr lang="en-US" sz="1400" dirty="0" smtClean="0"/>
              <a:t>Percentage </a:t>
            </a:r>
            <a:r>
              <a:rPr lang="en-US" sz="1400" dirty="0"/>
              <a:t>is: 81.500000</a:t>
            </a:r>
          </a:p>
        </p:txBody>
      </p:sp>
      <p:sp>
        <p:nvSpPr>
          <p:cNvPr id="8" name="Rectangle 7"/>
          <p:cNvSpPr/>
          <p:nvPr/>
        </p:nvSpPr>
        <p:spPr>
          <a:xfrm>
            <a:off x="2722288" y="423955"/>
            <a:ext cx="6116912" cy="1754327"/>
          </a:xfrm>
          <a:prstGeom prst="rect">
            <a:avLst/>
          </a:prstGeom>
        </p:spPr>
        <p:txBody>
          <a:bodyPr wrap="square">
            <a:spAutoFit/>
          </a:bodyPr>
          <a:lstStyle/>
          <a:p>
            <a:pPr algn="just"/>
            <a:r>
              <a:rPr lang="en-US" dirty="0"/>
              <a:t>This program is used to store and access “id, name and percentage” for 3 students. Structure array is used in this program to store and display records for many students. You can store “n” number of students record by declaring structure variable as ‘</a:t>
            </a:r>
            <a:r>
              <a:rPr lang="en-US" dirty="0" err="1"/>
              <a:t>struct</a:t>
            </a:r>
            <a:r>
              <a:rPr lang="en-US" dirty="0"/>
              <a:t> student record[n]“, where n can be 1000 or 5000 etc.</a:t>
            </a:r>
          </a:p>
        </p:txBody>
      </p:sp>
      <p:sp>
        <p:nvSpPr>
          <p:cNvPr id="10" name="Title 1"/>
          <p:cNvSpPr>
            <a:spLocks noGrp="1"/>
          </p:cNvSpPr>
          <p:nvPr>
            <p:ph type="title"/>
          </p:nvPr>
        </p:nvSpPr>
        <p:spPr>
          <a:xfrm>
            <a:off x="2704348" y="19426"/>
            <a:ext cx="6230469" cy="368778"/>
          </a:xfrm>
        </p:spPr>
        <p:txBody>
          <a:bodyPr>
            <a:noAutofit/>
          </a:bodyPr>
          <a:lstStyle/>
          <a:p>
            <a:r>
              <a:rPr lang="en-US" sz="2400" dirty="0">
                <a:solidFill>
                  <a:schemeClr val="accent3"/>
                </a:solidFill>
              </a:rPr>
              <a:t>Example </a:t>
            </a:r>
            <a:r>
              <a:rPr lang="en-US" sz="2400" dirty="0" smtClean="0">
                <a:solidFill>
                  <a:schemeClr val="accent3"/>
                </a:solidFill>
              </a:rPr>
              <a:t>program-array </a:t>
            </a:r>
            <a:r>
              <a:rPr lang="en-US" sz="2400" dirty="0">
                <a:solidFill>
                  <a:schemeClr val="accent3"/>
                </a:solidFill>
              </a:rPr>
              <a:t>of </a:t>
            </a:r>
            <a:r>
              <a:rPr lang="en-US" sz="2400" dirty="0" smtClean="0">
                <a:solidFill>
                  <a:schemeClr val="accent3"/>
                </a:solidFill>
              </a:rPr>
              <a:t>structures</a:t>
            </a:r>
            <a:endParaRPr lang="en-US" sz="2400" dirty="0">
              <a:solidFill>
                <a:schemeClr val="accent3"/>
              </a:solidFill>
            </a:endParaRPr>
          </a:p>
        </p:txBody>
      </p:sp>
    </p:spTree>
    <p:extLst>
      <p:ext uri="{BB962C8B-B14F-4D97-AF65-F5344CB8AC3E}">
        <p14:creationId xmlns:p14="http://schemas.microsoft.com/office/powerpoint/2010/main" xmlns="" val="3858199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3472" y="35482"/>
            <a:ext cx="7467600" cy="421718"/>
          </a:xfrm>
        </p:spPr>
        <p:txBody>
          <a:bodyPr>
            <a:normAutofit fontScale="90000"/>
          </a:bodyPr>
          <a:lstStyle/>
          <a:p>
            <a:pPr algn="ctr"/>
            <a:r>
              <a:rPr lang="en-US" dirty="0" smtClean="0">
                <a:solidFill>
                  <a:schemeClr val="accent3"/>
                </a:solidFill>
              </a:rPr>
              <a:t>Example program of structure</a:t>
            </a:r>
            <a:endParaRPr lang="en-US" dirty="0">
              <a:solidFill>
                <a:schemeClr val="accent3"/>
              </a:solidFill>
            </a:endParaRPr>
          </a:p>
        </p:txBody>
      </p:sp>
      <p:sp>
        <p:nvSpPr>
          <p:cNvPr id="4" name="Rectangle 3"/>
          <p:cNvSpPr/>
          <p:nvPr/>
        </p:nvSpPr>
        <p:spPr>
          <a:xfrm>
            <a:off x="147704" y="429044"/>
            <a:ext cx="8691496" cy="646331"/>
          </a:xfrm>
          <a:prstGeom prst="rect">
            <a:avLst/>
          </a:prstGeom>
        </p:spPr>
        <p:txBody>
          <a:bodyPr wrap="square">
            <a:spAutoFit/>
          </a:bodyPr>
          <a:lstStyle/>
          <a:p>
            <a:r>
              <a:rPr lang="en-US" b="1" dirty="0" smtClean="0"/>
              <a:t>Write a C program to add two distances entered by user. Measurement of distance should be in inch and feet.(Note: 12 inches = 1 foot)</a:t>
            </a:r>
            <a:endParaRPr lang="en-US" dirty="0"/>
          </a:p>
        </p:txBody>
      </p:sp>
      <p:pic>
        <p:nvPicPr>
          <p:cNvPr id="6" name="Picture 2"/>
          <p:cNvPicPr>
            <a:picLocks noChangeAspect="1" noChangeArrowheads="1"/>
          </p:cNvPicPr>
          <p:nvPr/>
        </p:nvPicPr>
        <p:blipFill>
          <a:blip r:embed="rId2" cstate="print">
            <a:extLst>
              <a:ext uri="{BEBA8EAE-BF5A-486C-A8C5-ECC9F3942E4B}">
                <a14:imgProps xmlns:a14="http://schemas.microsoft.com/office/drawing/2010/main" xmlns="">
                  <a14:imgLayer r:embed="rId3">
                    <a14:imgEffect>
                      <a14:sharpenSoften amount="54000"/>
                    </a14:imgEffect>
                  </a14:imgLayer>
                </a14:imgProps>
              </a:ext>
            </a:extLst>
          </a:blip>
          <a:srcRect/>
          <a:stretch>
            <a:fillRect/>
          </a:stretch>
        </p:blipFill>
        <p:spPr bwMode="auto">
          <a:xfrm>
            <a:off x="1083216" y="1123072"/>
            <a:ext cx="6898672" cy="5600700"/>
          </a:xfrm>
          <a:prstGeom prst="rect">
            <a:avLst/>
          </a:prstGeom>
          <a:noFill/>
          <a:ln w="9525">
            <a:solidFill>
              <a:schemeClr val="accent1">
                <a:shade val="50000"/>
              </a:schemeClr>
            </a:solid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941" y="191876"/>
            <a:ext cx="7467600" cy="421718"/>
          </a:xfrm>
        </p:spPr>
        <p:txBody>
          <a:bodyPr>
            <a:noAutofit/>
          </a:bodyPr>
          <a:lstStyle/>
          <a:p>
            <a:pPr algn="ctr"/>
            <a:r>
              <a:rPr lang="en-US" sz="2400" dirty="0">
                <a:solidFill>
                  <a:schemeClr val="accent3"/>
                </a:solidFill>
              </a:rPr>
              <a:t>Passing </a:t>
            </a:r>
            <a:r>
              <a:rPr lang="en-US" sz="2400" dirty="0" smtClean="0">
                <a:solidFill>
                  <a:schemeClr val="accent3"/>
                </a:solidFill>
              </a:rPr>
              <a:t>structure </a:t>
            </a:r>
            <a:r>
              <a:rPr lang="en-US" sz="2400" dirty="0">
                <a:solidFill>
                  <a:schemeClr val="accent3"/>
                </a:solidFill>
              </a:rPr>
              <a:t>to function</a:t>
            </a:r>
          </a:p>
        </p:txBody>
      </p:sp>
      <p:sp>
        <p:nvSpPr>
          <p:cNvPr id="5" name="Content Placeholder 2"/>
          <p:cNvSpPr>
            <a:spLocks noGrp="1"/>
          </p:cNvSpPr>
          <p:nvPr>
            <p:ph sz="quarter" idx="1"/>
          </p:nvPr>
        </p:nvSpPr>
        <p:spPr>
          <a:xfrm>
            <a:off x="42204" y="838200"/>
            <a:ext cx="8685305" cy="5867400"/>
          </a:xfrm>
        </p:spPr>
        <p:txBody>
          <a:bodyPr>
            <a:normAutofit lnSpcReduction="10000"/>
          </a:bodyPr>
          <a:lstStyle/>
          <a:p>
            <a:pPr algn="just"/>
            <a:r>
              <a:rPr lang="en-US" dirty="0"/>
              <a:t>A structure can be passed to any function from main function or from any sub function.</a:t>
            </a:r>
          </a:p>
          <a:p>
            <a:pPr algn="just"/>
            <a:r>
              <a:rPr lang="en-US" dirty="0"/>
              <a:t>Structure definition will be available within the function only.</a:t>
            </a:r>
          </a:p>
          <a:p>
            <a:pPr algn="just"/>
            <a:r>
              <a:rPr lang="en-US" dirty="0"/>
              <a:t>It won’t be available to other functions unless it is passed to those functions by value or by address(reference).</a:t>
            </a:r>
          </a:p>
          <a:p>
            <a:pPr algn="just"/>
            <a:r>
              <a:rPr lang="en-US" dirty="0"/>
              <a:t>Else, we have to declare structure variable as global variable. That means, structure variable should be declared outside the main function. So, this structure will be visible to all the functions in a C program</a:t>
            </a:r>
            <a:r>
              <a:rPr lang="en-US" dirty="0" smtClean="0"/>
              <a:t>.</a:t>
            </a:r>
          </a:p>
          <a:p>
            <a:r>
              <a:rPr lang="en-US" b="1" dirty="0"/>
              <a:t>Passing structure to function in </a:t>
            </a:r>
            <a:r>
              <a:rPr lang="en-US" b="1" dirty="0" smtClean="0"/>
              <a:t>C: </a:t>
            </a:r>
            <a:r>
              <a:rPr lang="en-US" dirty="0" smtClean="0"/>
              <a:t>It </a:t>
            </a:r>
            <a:r>
              <a:rPr lang="en-US" dirty="0"/>
              <a:t>can be done in below 3 ways.</a:t>
            </a:r>
          </a:p>
          <a:p>
            <a:pPr marL="822960" lvl="1" indent="-457200">
              <a:buFont typeface="+mj-ea"/>
              <a:buAutoNum type="circleNumDbPlain"/>
            </a:pPr>
            <a:r>
              <a:rPr lang="en-US" dirty="0"/>
              <a:t>Passing structure to a function by </a:t>
            </a:r>
            <a:r>
              <a:rPr lang="en-US" dirty="0" smtClean="0"/>
              <a:t>value</a:t>
            </a:r>
          </a:p>
          <a:p>
            <a:pPr marL="822960" lvl="1" indent="-457200">
              <a:buFont typeface="+mj-ea"/>
              <a:buAutoNum type="circleNumDbPlain"/>
            </a:pPr>
            <a:r>
              <a:rPr lang="en-US" dirty="0" smtClean="0"/>
              <a:t>Passing </a:t>
            </a:r>
            <a:r>
              <a:rPr lang="en-US" dirty="0"/>
              <a:t>structure to a function by address(reference</a:t>
            </a:r>
            <a:r>
              <a:rPr lang="en-US" dirty="0" smtClean="0"/>
              <a:t>)</a:t>
            </a:r>
          </a:p>
          <a:p>
            <a:pPr marL="822960" lvl="1" indent="-457200">
              <a:buFont typeface="+mj-ea"/>
              <a:buAutoNum type="circleNumDbPlain"/>
            </a:pPr>
            <a:r>
              <a:rPr lang="en-US" dirty="0" smtClean="0"/>
              <a:t>No </a:t>
            </a:r>
            <a:r>
              <a:rPr lang="en-US" dirty="0"/>
              <a:t>need to pass a structure – Declare structure variable as global</a:t>
            </a:r>
          </a:p>
          <a:p>
            <a:pPr algn="just"/>
            <a:endParaRPr lang="en-US" dirty="0"/>
          </a:p>
        </p:txBody>
      </p:sp>
    </p:spTree>
    <p:extLst>
      <p:ext uri="{BB962C8B-B14F-4D97-AF65-F5344CB8AC3E}">
        <p14:creationId xmlns:p14="http://schemas.microsoft.com/office/powerpoint/2010/main" xmlns="" val="3084428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extLst>
              <a:ext uri="{BEBA8EAE-BF5A-486C-A8C5-ECC9F3942E4B}">
                <a14:imgProps xmlns:a14="http://schemas.microsoft.com/office/drawing/2010/main" xmlns="">
                  <a14:imgLayer r:embed="rId3">
                    <a14:imgEffect>
                      <a14:sharpenSoften amount="50000"/>
                    </a14:imgEffect>
                  </a14:imgLayer>
                </a14:imgProps>
              </a:ext>
            </a:extLst>
          </a:blip>
          <a:srcRect/>
          <a:stretch>
            <a:fillRect/>
          </a:stretch>
        </p:blipFill>
        <p:spPr bwMode="auto">
          <a:xfrm>
            <a:off x="167631" y="2209800"/>
            <a:ext cx="5628612" cy="4534970"/>
          </a:xfrm>
          <a:prstGeom prst="rect">
            <a:avLst/>
          </a:prstGeom>
          <a:noFill/>
          <a:ln w="9525">
            <a:solidFill>
              <a:schemeClr val="accent1">
                <a:shade val="50000"/>
              </a:schemeClr>
            </a:solidFill>
            <a:miter lim="800000"/>
            <a:headEnd/>
            <a:tailEnd/>
          </a:ln>
        </p:spPr>
      </p:pic>
      <p:sp>
        <p:nvSpPr>
          <p:cNvPr id="8" name="Content Placeholder 2"/>
          <p:cNvSpPr>
            <a:spLocks noGrp="1"/>
          </p:cNvSpPr>
          <p:nvPr>
            <p:ph sz="quarter" idx="1"/>
          </p:nvPr>
        </p:nvSpPr>
        <p:spPr>
          <a:xfrm>
            <a:off x="45484" y="685800"/>
            <a:ext cx="8641316" cy="1744392"/>
          </a:xfrm>
        </p:spPr>
        <p:txBody>
          <a:bodyPr>
            <a:normAutofit fontScale="70000" lnSpcReduction="20000"/>
          </a:bodyPr>
          <a:lstStyle/>
          <a:p>
            <a:pPr algn="just"/>
            <a:r>
              <a:rPr lang="en-US" dirty="0" smtClean="0"/>
              <a:t>A structure variable can be passed to the function as an argument as normal variable. </a:t>
            </a:r>
          </a:p>
          <a:p>
            <a:pPr algn="just"/>
            <a:r>
              <a:rPr lang="en-US" dirty="0" smtClean="0"/>
              <a:t>If structure is passed by value, change made in structure variable in function definition does not reflect in original structure variable in calling function.</a:t>
            </a:r>
          </a:p>
          <a:p>
            <a:pPr algn="just"/>
            <a:r>
              <a:rPr lang="en-US" dirty="0" smtClean="0"/>
              <a:t>You would access structure variables in the similar way as you have accessed in the above example:</a:t>
            </a:r>
          </a:p>
        </p:txBody>
      </p:sp>
      <p:sp>
        <p:nvSpPr>
          <p:cNvPr id="10" name="Rectangle 9"/>
          <p:cNvSpPr/>
          <p:nvPr/>
        </p:nvSpPr>
        <p:spPr>
          <a:xfrm>
            <a:off x="5781828" y="5055048"/>
            <a:ext cx="3429000" cy="1477328"/>
          </a:xfrm>
          <a:prstGeom prst="rect">
            <a:avLst/>
          </a:prstGeom>
        </p:spPr>
        <p:txBody>
          <a:bodyPr wrap="square">
            <a:spAutoFit/>
          </a:bodyPr>
          <a:lstStyle/>
          <a:p>
            <a:r>
              <a:rPr lang="en-US" b="1" dirty="0" smtClean="0"/>
              <a:t>Output:</a:t>
            </a:r>
          </a:p>
          <a:p>
            <a:r>
              <a:rPr lang="en-US" dirty="0" smtClean="0"/>
              <a:t>Enter student's name: Kevin</a:t>
            </a:r>
          </a:p>
          <a:p>
            <a:r>
              <a:rPr lang="en-US" dirty="0" smtClean="0"/>
              <a:t>Enter roll number: 149</a:t>
            </a:r>
          </a:p>
          <a:p>
            <a:r>
              <a:rPr lang="en-US" dirty="0" smtClean="0"/>
              <a:t>Name: Kevin</a:t>
            </a:r>
          </a:p>
          <a:p>
            <a:r>
              <a:rPr lang="en-US" dirty="0" smtClean="0"/>
              <a:t>Roll: 149</a:t>
            </a:r>
            <a:endParaRPr lang="en-US" dirty="0"/>
          </a:p>
        </p:txBody>
      </p:sp>
      <p:sp>
        <p:nvSpPr>
          <p:cNvPr id="11" name="Rectangle 10"/>
          <p:cNvSpPr/>
          <p:nvPr/>
        </p:nvSpPr>
        <p:spPr>
          <a:xfrm>
            <a:off x="5802920" y="2407930"/>
            <a:ext cx="2895600" cy="1815882"/>
          </a:xfrm>
          <a:prstGeom prst="rect">
            <a:avLst/>
          </a:prstGeom>
        </p:spPr>
        <p:txBody>
          <a:bodyPr wrap="square">
            <a:spAutoFit/>
          </a:bodyPr>
          <a:lstStyle/>
          <a:p>
            <a:pPr algn="just"/>
            <a:r>
              <a:rPr lang="en-US" sz="1400" dirty="0" smtClean="0"/>
              <a:t>Write a C program to create a structure student, containing name and roll. Ask user the name and roll of a student in main function. Pass this structure to a function and display the information in that function.</a:t>
            </a:r>
            <a:endParaRPr lang="en-US" sz="1400" dirty="0"/>
          </a:p>
        </p:txBody>
      </p:sp>
      <p:sp>
        <p:nvSpPr>
          <p:cNvPr id="7" name="Rounded Rectangular Callout 6"/>
          <p:cNvSpPr/>
          <p:nvPr/>
        </p:nvSpPr>
        <p:spPr>
          <a:xfrm>
            <a:off x="2514600" y="6400800"/>
            <a:ext cx="3048000" cy="284872"/>
          </a:xfrm>
          <a:prstGeom prst="wedgeRoundRectCallout">
            <a:avLst>
              <a:gd name="adj1" fmla="val -71015"/>
              <a:gd name="adj2" fmla="val -3700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Passing structure variable</a:t>
            </a:r>
            <a:endParaRPr lang="en-US" sz="1600" dirty="0"/>
          </a:p>
        </p:txBody>
      </p:sp>
      <p:sp>
        <p:nvSpPr>
          <p:cNvPr id="12" name="Title 1"/>
          <p:cNvSpPr txBox="1">
            <a:spLocks/>
          </p:cNvSpPr>
          <p:nvPr/>
        </p:nvSpPr>
        <p:spPr>
          <a:xfrm>
            <a:off x="228600" y="34366"/>
            <a:ext cx="8483597" cy="500529"/>
          </a:xfrm>
          <a:prstGeom prst="rect">
            <a:avLst/>
          </a:prstGeom>
        </p:spPr>
        <p:txBody>
          <a:bodyPr vert="horz" anchor="b">
            <a:no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sz="2400" dirty="0">
                <a:solidFill>
                  <a:schemeClr val="accent3"/>
                </a:solidFill>
              </a:rPr>
              <a:t>Example </a:t>
            </a:r>
            <a:r>
              <a:rPr lang="en-US" sz="2400" dirty="0" smtClean="0">
                <a:solidFill>
                  <a:schemeClr val="accent3"/>
                </a:solidFill>
              </a:rPr>
              <a:t> – </a:t>
            </a:r>
            <a:r>
              <a:rPr lang="en-US" sz="2400" dirty="0">
                <a:solidFill>
                  <a:schemeClr val="accent3"/>
                </a:solidFill>
              </a:rPr>
              <a:t>passing structure to </a:t>
            </a:r>
            <a:r>
              <a:rPr lang="en-US" sz="2400" dirty="0" smtClean="0">
                <a:solidFill>
                  <a:schemeClr val="accent3"/>
                </a:solidFill>
              </a:rPr>
              <a:t>function </a:t>
            </a:r>
            <a:r>
              <a:rPr lang="en-US" sz="2400" dirty="0">
                <a:solidFill>
                  <a:schemeClr val="accent3"/>
                </a:solidFill>
              </a:rPr>
              <a:t>by </a:t>
            </a:r>
            <a:r>
              <a:rPr lang="en-US" sz="2400" dirty="0" smtClean="0">
                <a:solidFill>
                  <a:schemeClr val="accent3"/>
                </a:solidFill>
              </a:rPr>
              <a:t>value</a:t>
            </a:r>
            <a:endParaRPr lang="en-US" sz="2400" dirty="0">
              <a:solidFill>
                <a:schemeClr val="accent3"/>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BEBA8EAE-BF5A-486C-A8C5-ECC9F3942E4B}">
                <a14:imgProps xmlns:a14="http://schemas.microsoft.com/office/drawing/2010/main" xmlns="">
                  <a14:imgLayer r:embed="rId3">
                    <a14:imgEffect>
                      <a14:sharpenSoften amount="50000"/>
                    </a14:imgEffect>
                  </a14:imgLayer>
                </a14:imgProps>
              </a:ext>
            </a:extLst>
          </a:blip>
          <a:stretch>
            <a:fillRect/>
          </a:stretch>
        </p:blipFill>
        <p:spPr>
          <a:xfrm>
            <a:off x="129993" y="685800"/>
            <a:ext cx="7097504" cy="6186687"/>
          </a:xfrm>
          <a:prstGeom prst="rect">
            <a:avLst/>
          </a:prstGeom>
        </p:spPr>
      </p:pic>
      <p:sp>
        <p:nvSpPr>
          <p:cNvPr id="7" name="Rectangle 6"/>
          <p:cNvSpPr/>
          <p:nvPr/>
        </p:nvSpPr>
        <p:spPr>
          <a:xfrm>
            <a:off x="6007840" y="5460994"/>
            <a:ext cx="2901580" cy="1200329"/>
          </a:xfrm>
          <a:prstGeom prst="rect">
            <a:avLst/>
          </a:prstGeom>
        </p:spPr>
        <p:txBody>
          <a:bodyPr wrap="square">
            <a:spAutoFit/>
          </a:bodyPr>
          <a:lstStyle/>
          <a:p>
            <a:r>
              <a:rPr lang="en-US" b="1" dirty="0" smtClean="0"/>
              <a:t>Output:</a:t>
            </a:r>
          </a:p>
          <a:p>
            <a:r>
              <a:rPr lang="en-US" dirty="0"/>
              <a:t>Id is: 1 </a:t>
            </a:r>
            <a:endParaRPr lang="en-US" dirty="0" smtClean="0"/>
          </a:p>
          <a:p>
            <a:r>
              <a:rPr lang="en-US" dirty="0" smtClean="0"/>
              <a:t>Name </a:t>
            </a:r>
            <a:r>
              <a:rPr lang="en-US" dirty="0"/>
              <a:t>is: </a:t>
            </a:r>
            <a:r>
              <a:rPr lang="en-US" dirty="0" err="1"/>
              <a:t>Raju</a:t>
            </a:r>
            <a:r>
              <a:rPr lang="en-US" dirty="0"/>
              <a:t> </a:t>
            </a:r>
            <a:endParaRPr lang="en-US" dirty="0" smtClean="0"/>
          </a:p>
          <a:p>
            <a:r>
              <a:rPr lang="en-US" dirty="0" smtClean="0"/>
              <a:t>Percentage </a:t>
            </a:r>
            <a:r>
              <a:rPr lang="en-US" dirty="0"/>
              <a:t>is: 86.500000 </a:t>
            </a:r>
          </a:p>
        </p:txBody>
      </p:sp>
      <p:sp>
        <p:nvSpPr>
          <p:cNvPr id="8" name="Rectangle 7"/>
          <p:cNvSpPr/>
          <p:nvPr/>
        </p:nvSpPr>
        <p:spPr>
          <a:xfrm>
            <a:off x="3352800" y="626045"/>
            <a:ext cx="5450539" cy="1754327"/>
          </a:xfrm>
          <a:prstGeom prst="rect">
            <a:avLst/>
          </a:prstGeom>
        </p:spPr>
        <p:txBody>
          <a:bodyPr wrap="square">
            <a:spAutoFit/>
          </a:bodyPr>
          <a:lstStyle/>
          <a:p>
            <a:pPr algn="just"/>
            <a:r>
              <a:rPr lang="en-US" dirty="0"/>
              <a:t>In this program, the whole structure is passed to another function by value. It means the whole structure is passed to another function with all members and their values. So, this structure can be accessed from called function. This concept is very useful while writing very big programs in C.</a:t>
            </a:r>
          </a:p>
        </p:txBody>
      </p:sp>
      <p:sp>
        <p:nvSpPr>
          <p:cNvPr id="11" name="Title 1"/>
          <p:cNvSpPr txBox="1">
            <a:spLocks/>
          </p:cNvSpPr>
          <p:nvPr/>
        </p:nvSpPr>
        <p:spPr>
          <a:xfrm>
            <a:off x="228600" y="34366"/>
            <a:ext cx="8483597" cy="500529"/>
          </a:xfrm>
          <a:prstGeom prst="rect">
            <a:avLst/>
          </a:prstGeom>
        </p:spPr>
        <p:txBody>
          <a:bodyPr vert="horz" anchor="b">
            <a:no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sz="2400" dirty="0">
                <a:solidFill>
                  <a:schemeClr val="accent3"/>
                </a:solidFill>
              </a:rPr>
              <a:t>Example </a:t>
            </a:r>
            <a:r>
              <a:rPr lang="en-US" sz="2400" dirty="0" smtClean="0">
                <a:solidFill>
                  <a:schemeClr val="accent3"/>
                </a:solidFill>
              </a:rPr>
              <a:t> – </a:t>
            </a:r>
            <a:r>
              <a:rPr lang="en-US" sz="2400" dirty="0">
                <a:solidFill>
                  <a:schemeClr val="accent3"/>
                </a:solidFill>
              </a:rPr>
              <a:t>passing structure to </a:t>
            </a:r>
            <a:r>
              <a:rPr lang="en-US" sz="2400" dirty="0" smtClean="0">
                <a:solidFill>
                  <a:schemeClr val="accent3"/>
                </a:solidFill>
              </a:rPr>
              <a:t>function </a:t>
            </a:r>
            <a:r>
              <a:rPr lang="en-US" sz="2400" dirty="0">
                <a:solidFill>
                  <a:schemeClr val="accent3"/>
                </a:solidFill>
              </a:rPr>
              <a:t>by </a:t>
            </a:r>
            <a:r>
              <a:rPr lang="en-US" sz="2400" dirty="0" smtClean="0">
                <a:solidFill>
                  <a:schemeClr val="accent3"/>
                </a:solidFill>
              </a:rPr>
              <a:t>value</a:t>
            </a:r>
            <a:endParaRPr lang="en-US" sz="2400" dirty="0">
              <a:solidFill>
                <a:schemeClr val="accent3"/>
              </a:solidFill>
            </a:endParaRPr>
          </a:p>
        </p:txBody>
      </p:sp>
    </p:spTree>
    <p:extLst>
      <p:ext uri="{BB962C8B-B14F-4D97-AF65-F5344CB8AC3E}">
        <p14:creationId xmlns:p14="http://schemas.microsoft.com/office/powerpoint/2010/main" xmlns="" val="4224051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1720"/>
            <a:ext cx="4038600" cy="1287925"/>
          </a:xfrm>
        </p:spPr>
        <p:txBody>
          <a:bodyPr>
            <a:normAutofit/>
          </a:bodyPr>
          <a:lstStyle/>
          <a:p>
            <a:pPr algn="ctr"/>
            <a:r>
              <a:rPr lang="en-US" sz="2400" dirty="0" smtClean="0">
                <a:solidFill>
                  <a:schemeClr val="accent3"/>
                </a:solidFill>
              </a:rPr>
              <a:t>Example  </a:t>
            </a:r>
            <a:r>
              <a:rPr lang="en-US" sz="2400" dirty="0">
                <a:solidFill>
                  <a:schemeClr val="accent3"/>
                </a:solidFill>
              </a:rPr>
              <a:t>– passing structure to function by value</a:t>
            </a:r>
          </a:p>
        </p:txBody>
      </p:sp>
      <p:pic>
        <p:nvPicPr>
          <p:cNvPr id="4098" name="Picture 2"/>
          <p:cNvPicPr>
            <a:picLocks noChangeAspect="1" noChangeArrowheads="1"/>
          </p:cNvPicPr>
          <p:nvPr/>
        </p:nvPicPr>
        <p:blipFill>
          <a:blip r:embed="rId2" cstate="print">
            <a:extLst>
              <a:ext uri="{BEBA8EAE-BF5A-486C-A8C5-ECC9F3942E4B}">
                <a14:imgProps xmlns:a14="http://schemas.microsoft.com/office/drawing/2010/main" xmlns="">
                  <a14:imgLayer r:embed="rId3">
                    <a14:imgEffect>
                      <a14:sharpenSoften amount="46000"/>
                    </a14:imgEffect>
                  </a14:imgLayer>
                </a14:imgProps>
              </a:ext>
            </a:extLst>
          </a:blip>
          <a:srcRect/>
          <a:stretch>
            <a:fillRect/>
          </a:stretch>
        </p:blipFill>
        <p:spPr bwMode="auto">
          <a:xfrm>
            <a:off x="4292988" y="1"/>
            <a:ext cx="4479209" cy="6857999"/>
          </a:xfrm>
          <a:prstGeom prst="rect">
            <a:avLst/>
          </a:prstGeom>
          <a:noFill/>
          <a:ln w="9525">
            <a:solidFill>
              <a:schemeClr val="accent1">
                <a:shade val="50000"/>
              </a:schemeClr>
            </a:solidFill>
            <a:miter lim="800000"/>
            <a:headEnd/>
            <a:tailEnd/>
          </a:ln>
        </p:spPr>
      </p:pic>
      <p:pic>
        <p:nvPicPr>
          <p:cNvPr id="4099" name="Picture 3"/>
          <p:cNvPicPr>
            <a:picLocks noChangeAspect="1" noChangeArrowheads="1"/>
          </p:cNvPicPr>
          <p:nvPr/>
        </p:nvPicPr>
        <p:blipFill>
          <a:blip r:embed="rId4" cstate="print">
            <a:extLst>
              <a:ext uri="{BEBA8EAE-BF5A-486C-A8C5-ECC9F3942E4B}">
                <a14:imgProps xmlns:a14="http://schemas.microsoft.com/office/drawing/2010/main" xmlns="">
                  <a14:imgLayer r:embed="rId5">
                    <a14:imgEffect>
                      <a14:sharpenSoften amount="46000"/>
                    </a14:imgEffect>
                  </a14:imgLayer>
                </a14:imgProps>
              </a:ext>
            </a:extLst>
          </a:blip>
          <a:srcRect/>
          <a:stretch>
            <a:fillRect/>
          </a:stretch>
        </p:blipFill>
        <p:spPr bwMode="auto">
          <a:xfrm>
            <a:off x="338796" y="2446624"/>
            <a:ext cx="3668751" cy="1600200"/>
          </a:xfrm>
          <a:prstGeom prst="rect">
            <a:avLst/>
          </a:prstGeom>
          <a:noFill/>
          <a:ln w="9525">
            <a:solidFill>
              <a:schemeClr val="accent1">
                <a:shade val="50000"/>
              </a:schemeClr>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wipe(down)">
                                      <p:cBhvr>
                                        <p:cTn id="7"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a:spLocks noGrp="1"/>
          </p:cNvSpPr>
          <p:nvPr>
            <p:ph sz="quarter" idx="1"/>
          </p:nvPr>
        </p:nvSpPr>
        <p:spPr>
          <a:xfrm>
            <a:off x="115824" y="1509958"/>
            <a:ext cx="8570975" cy="3813506"/>
          </a:xfrm>
        </p:spPr>
        <p:txBody>
          <a:bodyPr>
            <a:normAutofit fontScale="92500"/>
          </a:bodyPr>
          <a:lstStyle/>
          <a:p>
            <a:pPr algn="just"/>
            <a:r>
              <a:rPr lang="en-US" dirty="0" smtClean="0"/>
              <a:t>The </a:t>
            </a:r>
            <a:r>
              <a:rPr lang="en-US" b="1" dirty="0" smtClean="0"/>
              <a:t>address</a:t>
            </a:r>
            <a:r>
              <a:rPr lang="en-US" dirty="0" smtClean="0"/>
              <a:t> location of </a:t>
            </a:r>
            <a:r>
              <a:rPr lang="en-US" b="1" dirty="0" smtClean="0"/>
              <a:t>structure</a:t>
            </a:r>
            <a:r>
              <a:rPr lang="en-US" dirty="0" smtClean="0"/>
              <a:t> variable is passed to function while passing it by reference. </a:t>
            </a:r>
          </a:p>
          <a:p>
            <a:pPr algn="just"/>
            <a:r>
              <a:rPr lang="en-US" dirty="0" smtClean="0"/>
              <a:t>If structure is passed by reference, change made in structure variable in function definition reflects in original structure variable in the calling function.</a:t>
            </a:r>
          </a:p>
          <a:p>
            <a:pPr algn="just"/>
            <a:r>
              <a:rPr lang="en-US" dirty="0" smtClean="0"/>
              <a:t>Exercise: Write a C program to add two distances(feet-inch system) entered by user. To solve this program, make a structure. Pass two structure variable (containing distance in feet and inch) to add function by reference and display the result in main function without returning it.</a:t>
            </a:r>
          </a:p>
        </p:txBody>
      </p:sp>
      <p:sp>
        <p:nvSpPr>
          <p:cNvPr id="5" name="Title 1"/>
          <p:cNvSpPr txBox="1">
            <a:spLocks/>
          </p:cNvSpPr>
          <p:nvPr/>
        </p:nvSpPr>
        <p:spPr>
          <a:xfrm>
            <a:off x="228600" y="84046"/>
            <a:ext cx="8393951" cy="525554"/>
          </a:xfrm>
          <a:prstGeom prst="rect">
            <a:avLst/>
          </a:prstGeom>
        </p:spPr>
        <p:txBody>
          <a:bodyPr vert="horz" anchor="b">
            <a:no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sz="2400" dirty="0" smtClean="0">
                <a:solidFill>
                  <a:schemeClr val="accent3"/>
                </a:solidFill>
              </a:rPr>
              <a:t>Passing </a:t>
            </a:r>
            <a:r>
              <a:rPr lang="en-US" sz="2400" dirty="0">
                <a:solidFill>
                  <a:schemeClr val="accent3"/>
                </a:solidFill>
              </a:rPr>
              <a:t>structure to function </a:t>
            </a:r>
            <a:r>
              <a:rPr lang="en-US" sz="2400" dirty="0" smtClean="0">
                <a:solidFill>
                  <a:schemeClr val="accent3"/>
                </a:solidFill>
              </a:rPr>
              <a:t>by address</a:t>
            </a:r>
            <a:r>
              <a:rPr lang="en-US" sz="2400" dirty="0">
                <a:solidFill>
                  <a:schemeClr val="accent3"/>
                </a:solidFill>
              </a:rPr>
              <a:t>/</a:t>
            </a:r>
            <a:r>
              <a:rPr lang="en-US" sz="2400" dirty="0" smtClean="0">
                <a:solidFill>
                  <a:schemeClr val="accent3"/>
                </a:solidFill>
              </a:rPr>
              <a:t>reference</a:t>
            </a:r>
            <a:endParaRPr lang="en-US" sz="2400" dirty="0">
              <a:solidFill>
                <a:schemeClr val="accent3"/>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cstate="print">
            <a:extLst>
              <a:ext uri="{BEBA8EAE-BF5A-486C-A8C5-ECC9F3942E4B}">
                <a14:imgProps xmlns:a14="http://schemas.microsoft.com/office/drawing/2010/main" xmlns="">
                  <a14:imgLayer r:embed="rId3">
                    <a14:imgEffect>
                      <a14:sharpenSoften amount="61000"/>
                    </a14:imgEffect>
                  </a14:imgLayer>
                </a14:imgProps>
              </a:ext>
            </a:extLst>
          </a:blip>
          <a:srcRect/>
          <a:stretch>
            <a:fillRect/>
          </a:stretch>
        </p:blipFill>
        <p:spPr bwMode="auto">
          <a:xfrm>
            <a:off x="116035" y="9372"/>
            <a:ext cx="6713547" cy="6848628"/>
          </a:xfrm>
          <a:prstGeom prst="rect">
            <a:avLst/>
          </a:prstGeom>
          <a:noFill/>
          <a:ln w="9525">
            <a:noFill/>
            <a:miter lim="800000"/>
            <a:headEnd/>
            <a:tailEnd/>
          </a:ln>
        </p:spPr>
      </p:pic>
      <p:sp>
        <p:nvSpPr>
          <p:cNvPr id="5" name="Rectangle 4"/>
          <p:cNvSpPr/>
          <p:nvPr/>
        </p:nvSpPr>
        <p:spPr>
          <a:xfrm>
            <a:off x="6019800" y="2819400"/>
            <a:ext cx="2667000" cy="2246769"/>
          </a:xfrm>
          <a:prstGeom prst="rect">
            <a:avLst/>
          </a:prstGeom>
          <a:solidFill>
            <a:schemeClr val="bg1">
              <a:lumMod val="95000"/>
            </a:schemeClr>
          </a:solidFill>
          <a:ln>
            <a:solidFill>
              <a:schemeClr val="accent1">
                <a:shade val="50000"/>
              </a:schemeClr>
            </a:solidFill>
          </a:ln>
        </p:spPr>
        <p:txBody>
          <a:bodyPr wrap="square">
            <a:spAutoFit/>
          </a:bodyPr>
          <a:lstStyle/>
          <a:p>
            <a:r>
              <a:rPr lang="en-US" sz="1400" b="1" dirty="0" smtClean="0"/>
              <a:t>Output:</a:t>
            </a:r>
          </a:p>
          <a:p>
            <a:endParaRPr lang="en-US" sz="1400" b="1" dirty="0" smtClean="0"/>
          </a:p>
          <a:p>
            <a:r>
              <a:rPr lang="en-US" sz="1400" dirty="0" smtClean="0"/>
              <a:t>First distance</a:t>
            </a:r>
          </a:p>
          <a:p>
            <a:r>
              <a:rPr lang="en-US" sz="1400" dirty="0" smtClean="0"/>
              <a:t>Enter feet: 12</a:t>
            </a:r>
          </a:p>
          <a:p>
            <a:r>
              <a:rPr lang="en-US" sz="1400" dirty="0" smtClean="0"/>
              <a:t>Enter inch: 6.8</a:t>
            </a:r>
          </a:p>
          <a:p>
            <a:r>
              <a:rPr lang="en-US" sz="1400" dirty="0" smtClean="0"/>
              <a:t>Second distance</a:t>
            </a:r>
          </a:p>
          <a:p>
            <a:r>
              <a:rPr lang="en-US" sz="1400" dirty="0" smtClean="0"/>
              <a:t>Enter feet: 5</a:t>
            </a:r>
          </a:p>
          <a:p>
            <a:r>
              <a:rPr lang="en-US" sz="1400" dirty="0" smtClean="0"/>
              <a:t>Enter inch: 7.5</a:t>
            </a:r>
          </a:p>
          <a:p>
            <a:endParaRPr lang="en-US" sz="1400" dirty="0" smtClean="0"/>
          </a:p>
          <a:p>
            <a:r>
              <a:rPr lang="en-US" sz="1400" dirty="0" smtClean="0"/>
              <a:t>Sum of distances = 18'-2.3"</a:t>
            </a:r>
            <a:endParaRPr lang="en-US" sz="1400" dirty="0"/>
          </a:p>
        </p:txBody>
      </p:sp>
      <p:sp>
        <p:nvSpPr>
          <p:cNvPr id="4" name="Title 1"/>
          <p:cNvSpPr>
            <a:spLocks noGrp="1"/>
          </p:cNvSpPr>
          <p:nvPr>
            <p:ph type="title"/>
          </p:nvPr>
        </p:nvSpPr>
        <p:spPr>
          <a:xfrm>
            <a:off x="2265088" y="20921"/>
            <a:ext cx="6400800" cy="857626"/>
          </a:xfrm>
        </p:spPr>
        <p:txBody>
          <a:bodyPr>
            <a:normAutofit/>
          </a:bodyPr>
          <a:lstStyle/>
          <a:p>
            <a:pPr algn="ctr"/>
            <a:r>
              <a:rPr lang="en-US" sz="2400" dirty="0">
                <a:solidFill>
                  <a:schemeClr val="accent3"/>
                </a:solidFill>
              </a:rPr>
              <a:t>Example–Passing structure to function by </a:t>
            </a:r>
            <a:r>
              <a:rPr lang="en-US" sz="2400" dirty="0" smtClean="0">
                <a:solidFill>
                  <a:schemeClr val="accent3"/>
                </a:solidFill>
              </a:rPr>
              <a:t>reference</a:t>
            </a:r>
            <a:endParaRPr lang="en-US" sz="2400" dirty="0">
              <a:solidFill>
                <a:schemeClr val="accent3"/>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8044" y="309456"/>
            <a:ext cx="8468756" cy="4154984"/>
          </a:xfrm>
          <a:prstGeom prst="rect">
            <a:avLst/>
          </a:prstGeom>
        </p:spPr>
        <p:txBody>
          <a:bodyPr wrap="square">
            <a:spAutoFit/>
          </a:bodyPr>
          <a:lstStyle/>
          <a:p>
            <a:pPr algn="ctr"/>
            <a:r>
              <a:rPr lang="en-US" sz="2400" b="1" dirty="0" smtClean="0">
                <a:solidFill>
                  <a:schemeClr val="accent3"/>
                </a:solidFill>
              </a:rPr>
              <a:t>Explanation of previous example</a:t>
            </a:r>
          </a:p>
          <a:p>
            <a:pPr algn="just"/>
            <a:endParaRPr lang="en-US" sz="2400" dirty="0" smtClean="0"/>
          </a:p>
          <a:p>
            <a:pPr algn="just"/>
            <a:r>
              <a:rPr lang="en-US" sz="2400" dirty="0" smtClean="0"/>
              <a:t>In the previous program, structure variables dist1 and dist2 are passed by value (because value of dist1 and dist2 does not need to be displayed in main function) and dist3 is passed by reference ,</a:t>
            </a:r>
            <a:r>
              <a:rPr lang="en-US" sz="2400" dirty="0" err="1" smtClean="0"/>
              <a:t>i.e</a:t>
            </a:r>
            <a:r>
              <a:rPr lang="en-US" sz="2400" dirty="0" smtClean="0"/>
              <a:t>, address of dist3 (&amp;dist3) is passed as an argument. </a:t>
            </a:r>
          </a:p>
          <a:p>
            <a:pPr algn="just"/>
            <a:endParaRPr lang="en-US" sz="2400" dirty="0" smtClean="0"/>
          </a:p>
          <a:p>
            <a:pPr algn="just"/>
            <a:r>
              <a:rPr lang="en-US" sz="2400" dirty="0" smtClean="0"/>
              <a:t>Thus, the structure pointer variable d3 points to the address of dist3. If any change is made in d3 variable, effect of it is seed in dist3 variable in main function.</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BEBA8EAE-BF5A-486C-A8C5-ECC9F3942E4B}">
                <a14:imgProps xmlns:a14="http://schemas.microsoft.com/office/drawing/2010/main" xmlns="">
                  <a14:imgLayer r:embed="rId3">
                    <a14:imgEffect>
                      <a14:sharpenSoften amount="50000"/>
                    </a14:imgEffect>
                  </a14:imgLayer>
                </a14:imgProps>
              </a:ext>
            </a:extLst>
          </a:blip>
          <a:stretch>
            <a:fillRect/>
          </a:stretch>
        </p:blipFill>
        <p:spPr>
          <a:xfrm>
            <a:off x="219639" y="762000"/>
            <a:ext cx="6333561" cy="6044942"/>
          </a:xfrm>
          <a:prstGeom prst="rect">
            <a:avLst/>
          </a:prstGeom>
        </p:spPr>
      </p:pic>
      <p:sp>
        <p:nvSpPr>
          <p:cNvPr id="7" name="Rectangle 6"/>
          <p:cNvSpPr/>
          <p:nvPr/>
        </p:nvSpPr>
        <p:spPr>
          <a:xfrm>
            <a:off x="6007840" y="5460994"/>
            <a:ext cx="2901580" cy="1200329"/>
          </a:xfrm>
          <a:prstGeom prst="rect">
            <a:avLst/>
          </a:prstGeom>
        </p:spPr>
        <p:txBody>
          <a:bodyPr wrap="square">
            <a:spAutoFit/>
          </a:bodyPr>
          <a:lstStyle/>
          <a:p>
            <a:r>
              <a:rPr lang="en-US" b="1" dirty="0" smtClean="0"/>
              <a:t>Output:</a:t>
            </a:r>
          </a:p>
          <a:p>
            <a:r>
              <a:rPr lang="en-US" dirty="0"/>
              <a:t>Id is: 1 </a:t>
            </a:r>
            <a:endParaRPr lang="en-US" dirty="0" smtClean="0"/>
          </a:p>
          <a:p>
            <a:r>
              <a:rPr lang="en-US" dirty="0" smtClean="0"/>
              <a:t>Name </a:t>
            </a:r>
            <a:r>
              <a:rPr lang="en-US" dirty="0"/>
              <a:t>is: </a:t>
            </a:r>
            <a:r>
              <a:rPr lang="en-US" dirty="0" err="1"/>
              <a:t>Raju</a:t>
            </a:r>
            <a:r>
              <a:rPr lang="en-US" dirty="0"/>
              <a:t> </a:t>
            </a:r>
            <a:endParaRPr lang="en-US" dirty="0" smtClean="0"/>
          </a:p>
          <a:p>
            <a:r>
              <a:rPr lang="en-US" dirty="0" smtClean="0"/>
              <a:t>Percentage </a:t>
            </a:r>
            <a:r>
              <a:rPr lang="en-US" dirty="0"/>
              <a:t>is: 86.500000 </a:t>
            </a:r>
          </a:p>
        </p:txBody>
      </p:sp>
      <p:sp>
        <p:nvSpPr>
          <p:cNvPr id="8" name="Rectangle 7"/>
          <p:cNvSpPr/>
          <p:nvPr/>
        </p:nvSpPr>
        <p:spPr>
          <a:xfrm>
            <a:off x="3246718" y="655927"/>
            <a:ext cx="5571561" cy="1754327"/>
          </a:xfrm>
          <a:prstGeom prst="rect">
            <a:avLst/>
          </a:prstGeom>
        </p:spPr>
        <p:txBody>
          <a:bodyPr wrap="square">
            <a:spAutoFit/>
          </a:bodyPr>
          <a:lstStyle/>
          <a:p>
            <a:pPr algn="just"/>
            <a:r>
              <a:rPr lang="en-US" dirty="0" smtClean="0"/>
              <a:t>Here </a:t>
            </a:r>
            <a:r>
              <a:rPr lang="en-US" dirty="0"/>
              <a:t>the </a:t>
            </a:r>
            <a:r>
              <a:rPr lang="en-US" dirty="0" smtClean="0"/>
              <a:t>structure </a:t>
            </a:r>
            <a:r>
              <a:rPr lang="en-US" dirty="0"/>
              <a:t>is passed to another function by address. It means only the address of the structure is passed to another function. The whole structure is not passed to another function with all members and their values. So, this structure can be accessed from called function by its address.</a:t>
            </a:r>
          </a:p>
        </p:txBody>
      </p:sp>
      <p:sp>
        <p:nvSpPr>
          <p:cNvPr id="11" name="Title 1"/>
          <p:cNvSpPr txBox="1">
            <a:spLocks/>
          </p:cNvSpPr>
          <p:nvPr/>
        </p:nvSpPr>
        <p:spPr>
          <a:xfrm>
            <a:off x="228600" y="41842"/>
            <a:ext cx="8393951" cy="729128"/>
          </a:xfrm>
          <a:prstGeom prst="rect">
            <a:avLst/>
          </a:prstGeom>
        </p:spPr>
        <p:txBody>
          <a:bodyPr vert="horz" anchor="b">
            <a:no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sz="2400" dirty="0" smtClean="0">
                <a:solidFill>
                  <a:schemeClr val="accent3"/>
                </a:solidFill>
              </a:rPr>
              <a:t>Example–Passing </a:t>
            </a:r>
            <a:r>
              <a:rPr lang="en-US" sz="2400" dirty="0">
                <a:solidFill>
                  <a:schemeClr val="accent3"/>
                </a:solidFill>
              </a:rPr>
              <a:t>structure to function </a:t>
            </a:r>
            <a:r>
              <a:rPr lang="en-US" sz="2400" dirty="0" smtClean="0">
                <a:solidFill>
                  <a:schemeClr val="accent3"/>
                </a:solidFill>
              </a:rPr>
              <a:t>by address</a:t>
            </a:r>
            <a:r>
              <a:rPr lang="en-US" sz="2400" dirty="0">
                <a:solidFill>
                  <a:schemeClr val="accent3"/>
                </a:solidFill>
              </a:rPr>
              <a:t>/</a:t>
            </a:r>
            <a:r>
              <a:rPr lang="en-US" sz="2400" dirty="0" smtClean="0">
                <a:solidFill>
                  <a:schemeClr val="accent3"/>
                </a:solidFill>
              </a:rPr>
              <a:t>reference</a:t>
            </a:r>
            <a:endParaRPr lang="en-US" sz="2400" dirty="0">
              <a:solidFill>
                <a:schemeClr val="accent3"/>
              </a:solidFill>
            </a:endParaRPr>
          </a:p>
        </p:txBody>
      </p:sp>
    </p:spTree>
    <p:extLst>
      <p:ext uri="{BB962C8B-B14F-4D97-AF65-F5344CB8AC3E}">
        <p14:creationId xmlns:p14="http://schemas.microsoft.com/office/powerpoint/2010/main" xmlns="" val="4260896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695" y="18744"/>
            <a:ext cx="4209764" cy="1237964"/>
          </a:xfrm>
        </p:spPr>
        <p:txBody>
          <a:bodyPr>
            <a:normAutofit/>
          </a:bodyPr>
          <a:lstStyle/>
          <a:p>
            <a:pPr algn="ctr"/>
            <a:r>
              <a:rPr lang="en-US" sz="2400" dirty="0" smtClean="0">
                <a:solidFill>
                  <a:schemeClr val="accent3"/>
                </a:solidFill>
              </a:rPr>
              <a:t>Example–Passing structure to function by address/reference</a:t>
            </a:r>
          </a:p>
        </p:txBody>
      </p:sp>
      <p:pic>
        <p:nvPicPr>
          <p:cNvPr id="6146" name="Picture 2"/>
          <p:cNvPicPr>
            <a:picLocks noChangeAspect="1" noChangeArrowheads="1"/>
          </p:cNvPicPr>
          <p:nvPr/>
        </p:nvPicPr>
        <p:blipFill>
          <a:blip r:embed="rId2" cstate="print">
            <a:extLst>
              <a:ext uri="{BEBA8EAE-BF5A-486C-A8C5-ECC9F3942E4B}">
                <a14:imgProps xmlns:a14="http://schemas.microsoft.com/office/drawing/2010/main" xmlns="">
                  <a14:imgLayer r:embed="rId3">
                    <a14:imgEffect>
                      <a14:sharpenSoften amount="41000"/>
                    </a14:imgEffect>
                  </a14:imgLayer>
                </a14:imgProps>
              </a:ext>
            </a:extLst>
          </a:blip>
          <a:srcRect/>
          <a:stretch>
            <a:fillRect/>
          </a:stretch>
        </p:blipFill>
        <p:spPr bwMode="auto">
          <a:xfrm>
            <a:off x="4353956" y="43963"/>
            <a:ext cx="4419600" cy="6748341"/>
          </a:xfrm>
          <a:prstGeom prst="rect">
            <a:avLst/>
          </a:prstGeom>
          <a:noFill/>
          <a:ln w="9525">
            <a:solidFill>
              <a:schemeClr val="accent1">
                <a:shade val="50000"/>
              </a:schemeClr>
            </a:solidFill>
            <a:miter lim="800000"/>
            <a:headEnd/>
            <a:tailEnd/>
          </a:ln>
        </p:spPr>
      </p:pic>
      <p:pic>
        <p:nvPicPr>
          <p:cNvPr id="7" name="Picture 3"/>
          <p:cNvPicPr>
            <a:picLocks noChangeAspect="1" noChangeArrowheads="1"/>
          </p:cNvPicPr>
          <p:nvPr/>
        </p:nvPicPr>
        <p:blipFill>
          <a:blip r:embed="rId4" cstate="print">
            <a:extLst>
              <a:ext uri="{BEBA8EAE-BF5A-486C-A8C5-ECC9F3942E4B}">
                <a14:imgProps xmlns:a14="http://schemas.microsoft.com/office/drawing/2010/main" xmlns="">
                  <a14:imgLayer r:embed="rId5">
                    <a14:imgEffect>
                      <a14:sharpenSoften amount="52000"/>
                    </a14:imgEffect>
                  </a14:imgLayer>
                </a14:imgProps>
              </a:ext>
            </a:extLst>
          </a:blip>
          <a:srcRect/>
          <a:stretch>
            <a:fillRect/>
          </a:stretch>
        </p:blipFill>
        <p:spPr bwMode="auto">
          <a:xfrm>
            <a:off x="228600" y="4724400"/>
            <a:ext cx="3929921" cy="1676400"/>
          </a:xfrm>
          <a:prstGeom prst="rect">
            <a:avLst/>
          </a:prstGeom>
          <a:noFill/>
          <a:ln w="9525">
            <a:solidFill>
              <a:schemeClr val="accent1">
                <a:shade val="50000"/>
              </a:schemeClr>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BEBA8EAE-BF5A-486C-A8C5-ECC9F3942E4B}">
                <a14:imgProps xmlns:a14="http://schemas.microsoft.com/office/drawing/2010/main" xmlns="">
                  <a14:imgLayer r:embed="rId3">
                    <a14:imgEffect>
                      <a14:sharpenSoften amount="70000"/>
                    </a14:imgEffect>
                  </a14:imgLayer>
                </a14:imgProps>
              </a:ext>
            </a:extLst>
          </a:blip>
          <a:stretch>
            <a:fillRect/>
          </a:stretch>
        </p:blipFill>
        <p:spPr>
          <a:xfrm>
            <a:off x="228600" y="863597"/>
            <a:ext cx="6248400" cy="5798644"/>
          </a:xfrm>
          <a:prstGeom prst="rect">
            <a:avLst/>
          </a:prstGeom>
        </p:spPr>
      </p:pic>
      <p:sp>
        <p:nvSpPr>
          <p:cNvPr id="7" name="Rectangle 6"/>
          <p:cNvSpPr/>
          <p:nvPr/>
        </p:nvSpPr>
        <p:spPr>
          <a:xfrm>
            <a:off x="6007840" y="5460994"/>
            <a:ext cx="2901580" cy="1200329"/>
          </a:xfrm>
          <a:prstGeom prst="rect">
            <a:avLst/>
          </a:prstGeom>
        </p:spPr>
        <p:txBody>
          <a:bodyPr wrap="square">
            <a:spAutoFit/>
          </a:bodyPr>
          <a:lstStyle/>
          <a:p>
            <a:r>
              <a:rPr lang="en-US" b="1" dirty="0" smtClean="0"/>
              <a:t>Output:</a:t>
            </a:r>
          </a:p>
          <a:p>
            <a:r>
              <a:rPr lang="en-US" dirty="0"/>
              <a:t>Id is: 1 </a:t>
            </a:r>
            <a:endParaRPr lang="en-US" dirty="0" smtClean="0"/>
          </a:p>
          <a:p>
            <a:r>
              <a:rPr lang="en-US" dirty="0" smtClean="0"/>
              <a:t>Name </a:t>
            </a:r>
            <a:r>
              <a:rPr lang="en-US" dirty="0"/>
              <a:t>is: </a:t>
            </a:r>
            <a:r>
              <a:rPr lang="en-US" dirty="0" err="1"/>
              <a:t>Raju</a:t>
            </a:r>
            <a:r>
              <a:rPr lang="en-US" dirty="0"/>
              <a:t> </a:t>
            </a:r>
            <a:endParaRPr lang="en-US" dirty="0" smtClean="0"/>
          </a:p>
          <a:p>
            <a:r>
              <a:rPr lang="en-US" dirty="0" smtClean="0"/>
              <a:t>Percentage </a:t>
            </a:r>
            <a:r>
              <a:rPr lang="en-US" dirty="0"/>
              <a:t>is: 86.500000 </a:t>
            </a:r>
          </a:p>
        </p:txBody>
      </p:sp>
      <p:sp>
        <p:nvSpPr>
          <p:cNvPr id="8" name="Rectangle 7"/>
          <p:cNvSpPr/>
          <p:nvPr/>
        </p:nvSpPr>
        <p:spPr>
          <a:xfrm>
            <a:off x="3276600" y="655927"/>
            <a:ext cx="5571561" cy="1754327"/>
          </a:xfrm>
          <a:prstGeom prst="rect">
            <a:avLst/>
          </a:prstGeom>
        </p:spPr>
        <p:txBody>
          <a:bodyPr wrap="square">
            <a:spAutoFit/>
          </a:bodyPr>
          <a:lstStyle/>
          <a:p>
            <a:pPr algn="just"/>
            <a:r>
              <a:rPr lang="en-US" dirty="0"/>
              <a:t>Structure variables also can be declared as global variables as we declare other variables in C. So, When a structure variable is declared as global, then it is visible to all the functions in a program. In this scenario, we don’t need to pass the structure to any function separately.</a:t>
            </a:r>
          </a:p>
        </p:txBody>
      </p:sp>
      <p:sp>
        <p:nvSpPr>
          <p:cNvPr id="11" name="Title 1"/>
          <p:cNvSpPr txBox="1">
            <a:spLocks/>
          </p:cNvSpPr>
          <p:nvPr/>
        </p:nvSpPr>
        <p:spPr>
          <a:xfrm>
            <a:off x="228600" y="41842"/>
            <a:ext cx="8534400" cy="729128"/>
          </a:xfrm>
          <a:prstGeom prst="rect">
            <a:avLst/>
          </a:prstGeom>
        </p:spPr>
        <p:txBody>
          <a:bodyPr vert="horz" anchor="b">
            <a:no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sz="2400" dirty="0">
                <a:solidFill>
                  <a:schemeClr val="accent3"/>
                </a:solidFill>
              </a:rPr>
              <a:t>Example program to declare a structure variable as </a:t>
            </a:r>
            <a:r>
              <a:rPr lang="en-US" sz="2400" dirty="0" smtClean="0">
                <a:solidFill>
                  <a:schemeClr val="accent3"/>
                </a:solidFill>
              </a:rPr>
              <a:t>global</a:t>
            </a:r>
            <a:endParaRPr lang="en-US" sz="2400" dirty="0">
              <a:solidFill>
                <a:schemeClr val="accent3"/>
              </a:solidFill>
            </a:endParaRPr>
          </a:p>
        </p:txBody>
      </p:sp>
    </p:spTree>
    <p:extLst>
      <p:ext uri="{BB962C8B-B14F-4D97-AF65-F5344CB8AC3E}">
        <p14:creationId xmlns:p14="http://schemas.microsoft.com/office/powerpoint/2010/main" xmlns="" val="314001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954" y="-5720"/>
            <a:ext cx="3886200" cy="533399"/>
          </a:xfrm>
        </p:spPr>
        <p:txBody>
          <a:bodyPr>
            <a:noAutofit/>
          </a:bodyPr>
          <a:lstStyle/>
          <a:p>
            <a:pPr algn="ctr"/>
            <a:r>
              <a:rPr lang="en-US" sz="2400" dirty="0" smtClean="0">
                <a:solidFill>
                  <a:schemeClr val="accent3"/>
                </a:solidFill>
              </a:rPr>
              <a:t>Copy A Structure </a:t>
            </a:r>
            <a:endParaRPr lang="en-US" sz="2400" dirty="0">
              <a:solidFill>
                <a:schemeClr val="accent3"/>
              </a:solidFill>
            </a:endParaRPr>
          </a:p>
        </p:txBody>
      </p:sp>
      <p:sp>
        <p:nvSpPr>
          <p:cNvPr id="3" name="Content Placeholder 2"/>
          <p:cNvSpPr>
            <a:spLocks noGrp="1"/>
          </p:cNvSpPr>
          <p:nvPr>
            <p:ph sz="quarter" idx="1"/>
          </p:nvPr>
        </p:nvSpPr>
        <p:spPr>
          <a:xfrm>
            <a:off x="47813" y="640977"/>
            <a:ext cx="3854823" cy="2711823"/>
          </a:xfrm>
        </p:spPr>
        <p:txBody>
          <a:bodyPr>
            <a:normAutofit fontScale="85000" lnSpcReduction="20000"/>
          </a:bodyPr>
          <a:lstStyle/>
          <a:p>
            <a:r>
              <a:rPr lang="en-US" dirty="0"/>
              <a:t>There are many methods to copy one structure to another structure in C.</a:t>
            </a:r>
          </a:p>
          <a:p>
            <a:pPr lvl="1"/>
            <a:r>
              <a:rPr lang="en-US" dirty="0"/>
              <a:t>We can copy using direct assignment of one structure to another structure or</a:t>
            </a:r>
          </a:p>
          <a:p>
            <a:pPr lvl="1"/>
            <a:r>
              <a:rPr lang="en-US" dirty="0"/>
              <a:t>we can use C inbuilt function “</a:t>
            </a:r>
            <a:r>
              <a:rPr lang="en-US" dirty="0" err="1"/>
              <a:t>memcpy</a:t>
            </a:r>
            <a:r>
              <a:rPr lang="en-US" dirty="0"/>
              <a:t>()” or</a:t>
            </a:r>
          </a:p>
          <a:p>
            <a:pPr lvl="1"/>
            <a:r>
              <a:rPr lang="en-US" dirty="0"/>
              <a:t>we can copy by individual structure members.</a:t>
            </a:r>
          </a:p>
        </p:txBody>
      </p:sp>
      <p:pic>
        <p:nvPicPr>
          <p:cNvPr id="4" name="Picture 3"/>
          <p:cNvPicPr>
            <a:picLocks noChangeAspect="1"/>
          </p:cNvPicPr>
          <p:nvPr/>
        </p:nvPicPr>
        <p:blipFill>
          <a:blip r:embed="rId2" cstate="print">
            <a:extLst>
              <a:ext uri="{BEBA8EAE-BF5A-486C-A8C5-ECC9F3942E4B}">
                <a14:imgProps xmlns:a14="http://schemas.microsoft.com/office/drawing/2010/main" xmlns="">
                  <a14:imgLayer r:embed="rId3">
                    <a14:imgEffect>
                      <a14:sharpenSoften amount="41000"/>
                    </a14:imgEffect>
                  </a14:imgLayer>
                </a14:imgProps>
              </a:ext>
            </a:extLst>
          </a:blip>
          <a:stretch>
            <a:fillRect/>
          </a:stretch>
        </p:blipFill>
        <p:spPr>
          <a:xfrm>
            <a:off x="4034115" y="0"/>
            <a:ext cx="5112327" cy="6858000"/>
          </a:xfrm>
          <a:prstGeom prst="rect">
            <a:avLst/>
          </a:prstGeom>
        </p:spPr>
      </p:pic>
      <p:sp>
        <p:nvSpPr>
          <p:cNvPr id="6" name="Rectangle 5"/>
          <p:cNvSpPr/>
          <p:nvPr/>
        </p:nvSpPr>
        <p:spPr>
          <a:xfrm>
            <a:off x="89646" y="3691985"/>
            <a:ext cx="4038600" cy="3247043"/>
          </a:xfrm>
          <a:prstGeom prst="rect">
            <a:avLst/>
          </a:prstGeom>
        </p:spPr>
        <p:txBody>
          <a:bodyPr wrap="square">
            <a:spAutoFit/>
          </a:bodyPr>
          <a:lstStyle/>
          <a:p>
            <a:r>
              <a:rPr lang="en-US" sz="1400" b="1" dirty="0" smtClean="0"/>
              <a:t>Output:</a:t>
            </a:r>
          </a:p>
          <a:p>
            <a:r>
              <a:rPr lang="en-US" sz="1050" dirty="0"/>
              <a:t>Records of STUDENT1 -</a:t>
            </a:r>
            <a:r>
              <a:rPr lang="en-US" sz="1050" b="1" dirty="0"/>
              <a:t> record1 structure</a:t>
            </a:r>
            <a:r>
              <a:rPr lang="en-US" sz="1050" dirty="0"/>
              <a:t/>
            </a:r>
            <a:br>
              <a:rPr lang="en-US" sz="1050" dirty="0"/>
            </a:br>
            <a:r>
              <a:rPr lang="en-US" sz="1050" dirty="0"/>
              <a:t>Id : 1</a:t>
            </a:r>
            <a:br>
              <a:rPr lang="en-US" sz="1050" dirty="0"/>
            </a:br>
            <a:r>
              <a:rPr lang="en-US" sz="1050" dirty="0"/>
              <a:t>Name : </a:t>
            </a:r>
            <a:r>
              <a:rPr lang="en-US" sz="1050" dirty="0" err="1"/>
              <a:t>Raju</a:t>
            </a:r>
            <a:r>
              <a:rPr lang="en-US" sz="1050" dirty="0"/>
              <a:t/>
            </a:r>
            <a:br>
              <a:rPr lang="en-US" sz="1050" dirty="0"/>
            </a:br>
            <a:r>
              <a:rPr lang="en-US" sz="1050" dirty="0"/>
              <a:t>Percentage : 90.500000 </a:t>
            </a:r>
          </a:p>
          <a:p>
            <a:r>
              <a:rPr lang="en-US" sz="1050" dirty="0"/>
              <a:t>Records of STUDENT1 – </a:t>
            </a:r>
            <a:r>
              <a:rPr lang="en-US" sz="1050" b="1" dirty="0"/>
              <a:t>Direct copy from record1</a:t>
            </a:r>
            <a:r>
              <a:rPr lang="en-US" sz="1050" dirty="0"/>
              <a:t/>
            </a:r>
            <a:br>
              <a:rPr lang="en-US" sz="1050" dirty="0"/>
            </a:br>
            <a:r>
              <a:rPr lang="en-US" sz="1050" dirty="0"/>
              <a:t>Id : 1</a:t>
            </a:r>
            <a:br>
              <a:rPr lang="en-US" sz="1050" dirty="0"/>
            </a:br>
            <a:r>
              <a:rPr lang="en-US" sz="1050" dirty="0"/>
              <a:t>Name : </a:t>
            </a:r>
            <a:r>
              <a:rPr lang="en-US" sz="1050" dirty="0" err="1"/>
              <a:t>Raju</a:t>
            </a:r>
            <a:r>
              <a:rPr lang="en-US" sz="1050" dirty="0"/>
              <a:t/>
            </a:r>
            <a:br>
              <a:rPr lang="en-US" sz="1050" dirty="0"/>
            </a:br>
            <a:r>
              <a:rPr lang="en-US" sz="1050" dirty="0"/>
              <a:t>Percentage : 90.500000</a:t>
            </a:r>
          </a:p>
          <a:p>
            <a:r>
              <a:rPr lang="en-US" sz="1050" dirty="0"/>
              <a:t>Records of STUDENT1 – </a:t>
            </a:r>
            <a:r>
              <a:rPr lang="en-US" sz="1050" b="1" dirty="0"/>
              <a:t>copied from record1 using </a:t>
            </a:r>
            <a:r>
              <a:rPr lang="en-US" sz="1050" b="1" dirty="0" err="1"/>
              <a:t>memcpy</a:t>
            </a:r>
            <a:r>
              <a:rPr lang="en-US" sz="1050" dirty="0"/>
              <a:t/>
            </a:r>
            <a:br>
              <a:rPr lang="en-US" sz="1050" dirty="0"/>
            </a:br>
            <a:r>
              <a:rPr lang="en-US" sz="1050" dirty="0"/>
              <a:t>Id : 1</a:t>
            </a:r>
            <a:br>
              <a:rPr lang="en-US" sz="1050" dirty="0"/>
            </a:br>
            <a:r>
              <a:rPr lang="en-US" sz="1050" dirty="0"/>
              <a:t>Name : </a:t>
            </a:r>
            <a:r>
              <a:rPr lang="en-US" sz="1050" dirty="0" err="1"/>
              <a:t>Raju</a:t>
            </a:r>
            <a:r>
              <a:rPr lang="en-US" sz="1050" dirty="0"/>
              <a:t/>
            </a:r>
            <a:br>
              <a:rPr lang="en-US" sz="1050" dirty="0"/>
            </a:br>
            <a:r>
              <a:rPr lang="en-US" sz="1050" dirty="0"/>
              <a:t>Percentage : 90.500000</a:t>
            </a:r>
          </a:p>
          <a:p>
            <a:r>
              <a:rPr lang="en-US" sz="1050" dirty="0"/>
              <a:t>Records of STUDENT1 – </a:t>
            </a:r>
            <a:r>
              <a:rPr lang="en-US" sz="1050" b="1" dirty="0"/>
              <a:t>Copied individual members from record1</a:t>
            </a:r>
            <a:r>
              <a:rPr lang="en-US" sz="1050" dirty="0"/>
              <a:t/>
            </a:r>
            <a:br>
              <a:rPr lang="en-US" sz="1050" dirty="0"/>
            </a:br>
            <a:r>
              <a:rPr lang="en-US" sz="1050" dirty="0"/>
              <a:t>Id : 1</a:t>
            </a:r>
            <a:br>
              <a:rPr lang="en-US" sz="1050" dirty="0"/>
            </a:br>
            <a:r>
              <a:rPr lang="en-US" sz="1050" dirty="0"/>
              <a:t>Name : </a:t>
            </a:r>
            <a:r>
              <a:rPr lang="en-US" sz="1050" dirty="0" err="1"/>
              <a:t>Raju</a:t>
            </a:r>
            <a:r>
              <a:rPr lang="en-US" sz="1050" dirty="0"/>
              <a:t/>
            </a:r>
            <a:br>
              <a:rPr lang="en-US" sz="1050" dirty="0"/>
            </a:br>
            <a:r>
              <a:rPr lang="en-US" sz="1050" dirty="0"/>
              <a:t>Percentage : 90.500000</a:t>
            </a:r>
          </a:p>
        </p:txBody>
      </p:sp>
    </p:spTree>
    <p:extLst>
      <p:ext uri="{BB962C8B-B14F-4D97-AF65-F5344CB8AC3E}">
        <p14:creationId xmlns:p14="http://schemas.microsoft.com/office/powerpoint/2010/main" xmlns="" val="3688674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534400" cy="487362"/>
          </a:xfrm>
        </p:spPr>
        <p:txBody>
          <a:bodyPr>
            <a:normAutofit fontScale="90000"/>
          </a:bodyPr>
          <a:lstStyle/>
          <a:p>
            <a:pPr algn="ctr"/>
            <a:r>
              <a:rPr lang="en-US" dirty="0" smtClean="0">
                <a:solidFill>
                  <a:schemeClr val="accent3"/>
                </a:solidFill>
              </a:rPr>
              <a:t>Keyword </a:t>
            </a:r>
            <a:r>
              <a:rPr lang="en-US" b="1" dirty="0" err="1" smtClean="0">
                <a:solidFill>
                  <a:schemeClr val="accent3"/>
                </a:solidFill>
              </a:rPr>
              <a:t>typedef</a:t>
            </a:r>
            <a:r>
              <a:rPr lang="en-US" dirty="0" smtClean="0">
                <a:solidFill>
                  <a:schemeClr val="accent3"/>
                </a:solidFill>
              </a:rPr>
              <a:t> while using structure</a:t>
            </a:r>
            <a:endParaRPr lang="en-US" dirty="0">
              <a:solidFill>
                <a:schemeClr val="accent3"/>
              </a:solidFill>
            </a:endParaRPr>
          </a:p>
        </p:txBody>
      </p:sp>
      <p:sp>
        <p:nvSpPr>
          <p:cNvPr id="3" name="Content Placeholder 2"/>
          <p:cNvSpPr>
            <a:spLocks noGrp="1"/>
          </p:cNvSpPr>
          <p:nvPr>
            <p:ph sz="quarter" idx="1"/>
          </p:nvPr>
        </p:nvSpPr>
        <p:spPr>
          <a:xfrm>
            <a:off x="228600" y="1065616"/>
            <a:ext cx="8458200" cy="5563784"/>
          </a:xfrm>
        </p:spPr>
        <p:txBody>
          <a:bodyPr/>
          <a:lstStyle/>
          <a:p>
            <a:pPr algn="just"/>
            <a:r>
              <a:rPr lang="en-US" dirty="0" smtClean="0"/>
              <a:t>Programmer generally use </a:t>
            </a:r>
            <a:r>
              <a:rPr lang="en-US" i="1" dirty="0" err="1" smtClean="0"/>
              <a:t>typedef</a:t>
            </a:r>
            <a:r>
              <a:rPr lang="en-US" dirty="0" smtClean="0"/>
              <a:t> while using structure in C language. For example:</a:t>
            </a:r>
          </a:p>
          <a:p>
            <a:pPr algn="just"/>
            <a:endParaRPr lang="en-US" dirty="0" smtClean="0"/>
          </a:p>
          <a:p>
            <a:pPr algn="just"/>
            <a:endParaRPr lang="en-US" dirty="0" smtClean="0"/>
          </a:p>
          <a:p>
            <a:pPr algn="just"/>
            <a:endParaRPr lang="en-US" dirty="0" smtClean="0"/>
          </a:p>
          <a:p>
            <a:pPr algn="just"/>
            <a:endParaRPr lang="en-US" dirty="0" smtClean="0"/>
          </a:p>
          <a:p>
            <a:pPr algn="just"/>
            <a:endParaRPr lang="en-US" dirty="0" smtClean="0"/>
          </a:p>
          <a:p>
            <a:pPr algn="just"/>
            <a:endParaRPr lang="en-US" dirty="0" smtClean="0"/>
          </a:p>
          <a:p>
            <a:pPr algn="just"/>
            <a:endParaRPr lang="en-US" dirty="0" smtClean="0"/>
          </a:p>
          <a:p>
            <a:pPr algn="just"/>
            <a:r>
              <a:rPr lang="en-US" dirty="0" smtClean="0"/>
              <a:t>Here, </a:t>
            </a:r>
            <a:r>
              <a:rPr lang="en-US" dirty="0" err="1" smtClean="0"/>
              <a:t>typedef</a:t>
            </a:r>
            <a:r>
              <a:rPr lang="en-US" dirty="0" smtClean="0"/>
              <a:t> keyword is used in creating a type </a:t>
            </a:r>
            <a:r>
              <a:rPr lang="en-US" i="1" dirty="0" smtClean="0"/>
              <a:t>comp</a:t>
            </a:r>
            <a:r>
              <a:rPr lang="en-US" dirty="0" smtClean="0"/>
              <a:t>(which is of type as </a:t>
            </a:r>
            <a:r>
              <a:rPr lang="en-US" b="1" dirty="0" err="1" smtClean="0"/>
              <a:t>struct</a:t>
            </a:r>
            <a:r>
              <a:rPr lang="en-US" b="1" dirty="0" smtClean="0"/>
              <a:t> complex</a:t>
            </a:r>
            <a:r>
              <a:rPr lang="en-US" dirty="0" smtClean="0"/>
              <a:t>). Then, two structure variables </a:t>
            </a:r>
            <a:r>
              <a:rPr lang="en-US" i="1" dirty="0" smtClean="0"/>
              <a:t>c1</a:t>
            </a:r>
            <a:r>
              <a:rPr lang="en-US" dirty="0" smtClean="0"/>
              <a:t> and </a:t>
            </a:r>
            <a:r>
              <a:rPr lang="en-US" i="1" dirty="0" smtClean="0"/>
              <a:t>c2</a:t>
            </a:r>
            <a:r>
              <a:rPr lang="en-US" dirty="0" smtClean="0"/>
              <a:t> are created by this </a:t>
            </a:r>
            <a:r>
              <a:rPr lang="en-US" i="1" dirty="0" smtClean="0"/>
              <a:t>comp</a:t>
            </a:r>
            <a:r>
              <a:rPr lang="en-US" dirty="0" smtClean="0"/>
              <a:t> type.</a:t>
            </a:r>
            <a:endParaRPr lang="en-US" dirty="0"/>
          </a:p>
        </p:txBody>
      </p:sp>
      <p:pic>
        <p:nvPicPr>
          <p:cNvPr id="26626" name="Picture 2"/>
          <p:cNvPicPr>
            <a:picLocks noChangeAspect="1" noChangeArrowheads="1"/>
          </p:cNvPicPr>
          <p:nvPr/>
        </p:nvPicPr>
        <p:blipFill>
          <a:blip r:embed="rId2" cstate="print"/>
          <a:srcRect/>
          <a:stretch>
            <a:fillRect/>
          </a:stretch>
        </p:blipFill>
        <p:spPr bwMode="auto">
          <a:xfrm>
            <a:off x="2819400" y="2187524"/>
            <a:ext cx="3505200" cy="2419519"/>
          </a:xfrm>
          <a:prstGeom prst="rect">
            <a:avLst/>
          </a:prstGeom>
          <a:noFill/>
          <a:ln w="9525">
            <a:solidFill>
              <a:schemeClr val="accent1">
                <a:shade val="50000"/>
              </a:schemeClr>
            </a:solid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0523"/>
            <a:ext cx="8534400" cy="487362"/>
          </a:xfrm>
        </p:spPr>
        <p:txBody>
          <a:bodyPr>
            <a:normAutofit fontScale="90000"/>
          </a:bodyPr>
          <a:lstStyle/>
          <a:p>
            <a:pPr algn="ctr"/>
            <a:r>
              <a:rPr lang="en-US" dirty="0" err="1">
                <a:solidFill>
                  <a:schemeClr val="accent3"/>
                </a:solidFill>
              </a:rPr>
              <a:t>Struct</a:t>
            </a:r>
            <a:r>
              <a:rPr lang="en-US" dirty="0">
                <a:solidFill>
                  <a:schemeClr val="accent3"/>
                </a:solidFill>
              </a:rPr>
              <a:t> memory allocation</a:t>
            </a:r>
          </a:p>
        </p:txBody>
      </p:sp>
      <p:sp>
        <p:nvSpPr>
          <p:cNvPr id="3" name="Content Placeholder 2"/>
          <p:cNvSpPr>
            <a:spLocks noGrp="1"/>
          </p:cNvSpPr>
          <p:nvPr>
            <p:ph sz="quarter" idx="1"/>
          </p:nvPr>
        </p:nvSpPr>
        <p:spPr>
          <a:xfrm>
            <a:off x="64248" y="587504"/>
            <a:ext cx="8698751" cy="1088896"/>
          </a:xfrm>
        </p:spPr>
        <p:txBody>
          <a:bodyPr>
            <a:normAutofit fontScale="85000" lnSpcReduction="20000"/>
          </a:bodyPr>
          <a:lstStyle/>
          <a:p>
            <a:r>
              <a:rPr lang="en-US" dirty="0"/>
              <a:t>How structure members are stored in memory</a:t>
            </a:r>
            <a:r>
              <a:rPr lang="en-US" dirty="0" smtClean="0"/>
              <a:t>? </a:t>
            </a:r>
          </a:p>
          <a:p>
            <a:pPr lvl="1"/>
            <a:r>
              <a:rPr lang="en-US" dirty="0" smtClean="0"/>
              <a:t>Always</a:t>
            </a:r>
            <a:r>
              <a:rPr lang="en-US" dirty="0"/>
              <a:t>, contiguous(adjacent) memory locations are used to store structure members in memory. Consider below example to understand how memory is allocated for structures.</a:t>
            </a:r>
          </a:p>
          <a:p>
            <a:pPr algn="just"/>
            <a:endParaRPr lang="en-US" dirty="0" smtClean="0"/>
          </a:p>
          <a:p>
            <a:pPr algn="just"/>
            <a:endParaRPr lang="en-US" dirty="0" smtClean="0"/>
          </a:p>
          <a:p>
            <a:pPr algn="just"/>
            <a:endParaRPr lang="en-US" dirty="0" smtClean="0"/>
          </a:p>
          <a:p>
            <a:pPr algn="just"/>
            <a:endParaRPr lang="en-US" dirty="0" smtClean="0"/>
          </a:p>
        </p:txBody>
      </p:sp>
      <p:pic>
        <p:nvPicPr>
          <p:cNvPr id="4" name="Picture 3"/>
          <p:cNvPicPr>
            <a:picLocks noChangeAspect="1"/>
          </p:cNvPicPr>
          <p:nvPr/>
        </p:nvPicPr>
        <p:blipFill>
          <a:blip r:embed="rId2" cstate="print">
            <a:extLst>
              <a:ext uri="{BEBA8EAE-BF5A-486C-A8C5-ECC9F3942E4B}">
                <a14:imgProps xmlns:a14="http://schemas.microsoft.com/office/drawing/2010/main" xmlns="">
                  <a14:imgLayer r:embed="rId3">
                    <a14:imgEffect>
                      <a14:sharpenSoften amount="52000"/>
                    </a14:imgEffect>
                  </a14:imgLayer>
                </a14:imgProps>
              </a:ext>
            </a:extLst>
          </a:blip>
          <a:stretch>
            <a:fillRect/>
          </a:stretch>
        </p:blipFill>
        <p:spPr>
          <a:xfrm>
            <a:off x="230094" y="1825464"/>
            <a:ext cx="6094505" cy="4938405"/>
          </a:xfrm>
          <a:prstGeom prst="rect">
            <a:avLst/>
          </a:prstGeom>
        </p:spPr>
      </p:pic>
      <p:sp>
        <p:nvSpPr>
          <p:cNvPr id="5" name="Rectangle 4"/>
          <p:cNvSpPr/>
          <p:nvPr/>
        </p:nvSpPr>
        <p:spPr>
          <a:xfrm>
            <a:off x="4607853" y="1678306"/>
            <a:ext cx="4038609" cy="2308324"/>
          </a:xfrm>
          <a:prstGeom prst="rect">
            <a:avLst/>
          </a:prstGeom>
          <a:solidFill>
            <a:schemeClr val="accent1">
              <a:lumMod val="20000"/>
              <a:lumOff val="80000"/>
            </a:schemeClr>
          </a:solidFill>
          <a:ln>
            <a:solidFill>
              <a:schemeClr val="accent1"/>
            </a:solidFill>
          </a:ln>
        </p:spPr>
        <p:txBody>
          <a:bodyPr wrap="square">
            <a:spAutoFit/>
          </a:bodyPr>
          <a:lstStyle/>
          <a:p>
            <a:r>
              <a:rPr lang="en-US" b="1" dirty="0" smtClean="0"/>
              <a:t>Output:</a:t>
            </a:r>
          </a:p>
          <a:p>
            <a:r>
              <a:rPr lang="en-US" dirty="0" smtClean="0"/>
              <a:t>size </a:t>
            </a:r>
            <a:r>
              <a:rPr lang="en-US" dirty="0"/>
              <a:t>of structure in bytes : 16 </a:t>
            </a:r>
          </a:p>
          <a:p>
            <a:endParaRPr lang="en-US" dirty="0"/>
          </a:p>
          <a:p>
            <a:r>
              <a:rPr lang="en-US" dirty="0"/>
              <a:t>Address of id1 = 675376768</a:t>
            </a:r>
          </a:p>
          <a:p>
            <a:r>
              <a:rPr lang="en-US" dirty="0"/>
              <a:t>Address of id2 = 675376772</a:t>
            </a:r>
          </a:p>
          <a:p>
            <a:r>
              <a:rPr lang="en-US" dirty="0"/>
              <a:t>Address of a = 675376776</a:t>
            </a:r>
          </a:p>
          <a:p>
            <a:r>
              <a:rPr lang="en-US" dirty="0"/>
              <a:t>Address of b = 675376777</a:t>
            </a:r>
          </a:p>
          <a:p>
            <a:r>
              <a:rPr lang="en-US" dirty="0"/>
              <a:t>Address of percentage = 675376780</a:t>
            </a:r>
          </a:p>
        </p:txBody>
      </p:sp>
    </p:spTree>
    <p:extLst>
      <p:ext uri="{BB962C8B-B14F-4D97-AF65-F5344CB8AC3E}">
        <p14:creationId xmlns:p14="http://schemas.microsoft.com/office/powerpoint/2010/main" xmlns="" val="514506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0523"/>
            <a:ext cx="8534400" cy="487362"/>
          </a:xfrm>
        </p:spPr>
        <p:txBody>
          <a:bodyPr>
            <a:normAutofit fontScale="90000"/>
          </a:bodyPr>
          <a:lstStyle/>
          <a:p>
            <a:pPr algn="ctr"/>
            <a:r>
              <a:rPr lang="en-US" dirty="0" err="1">
                <a:solidFill>
                  <a:schemeClr val="accent3"/>
                </a:solidFill>
              </a:rPr>
              <a:t>Struct</a:t>
            </a:r>
            <a:r>
              <a:rPr lang="en-US" dirty="0">
                <a:solidFill>
                  <a:schemeClr val="accent3"/>
                </a:solidFill>
              </a:rPr>
              <a:t> memory allocation</a:t>
            </a:r>
          </a:p>
        </p:txBody>
      </p:sp>
      <p:sp>
        <p:nvSpPr>
          <p:cNvPr id="3" name="Content Placeholder 2"/>
          <p:cNvSpPr>
            <a:spLocks noGrp="1"/>
          </p:cNvSpPr>
          <p:nvPr>
            <p:ph sz="quarter" idx="1"/>
          </p:nvPr>
        </p:nvSpPr>
        <p:spPr>
          <a:xfrm>
            <a:off x="64248" y="692090"/>
            <a:ext cx="8622551" cy="2584509"/>
          </a:xfrm>
        </p:spPr>
        <p:txBody>
          <a:bodyPr>
            <a:normAutofit fontScale="92500" lnSpcReduction="20000"/>
          </a:bodyPr>
          <a:lstStyle/>
          <a:p>
            <a:pPr algn="just"/>
            <a:r>
              <a:rPr lang="en-US" dirty="0"/>
              <a:t>There are 5 members declared for structure in above program. In 32 bit compiler, </a:t>
            </a:r>
            <a:endParaRPr lang="en-US" dirty="0" smtClean="0"/>
          </a:p>
          <a:p>
            <a:pPr lvl="1" algn="just"/>
            <a:r>
              <a:rPr lang="en-US" dirty="0" smtClean="0"/>
              <a:t>4 </a:t>
            </a:r>
            <a:r>
              <a:rPr lang="en-US" dirty="0"/>
              <a:t>bytes of memory is occupied by </a:t>
            </a:r>
            <a:r>
              <a:rPr lang="en-US" i="1" dirty="0" err="1"/>
              <a:t>int</a:t>
            </a:r>
            <a:r>
              <a:rPr lang="en-US" dirty="0"/>
              <a:t> </a:t>
            </a:r>
            <a:r>
              <a:rPr lang="en-US" dirty="0" err="1"/>
              <a:t>datatype</a:t>
            </a:r>
            <a:r>
              <a:rPr lang="en-US" dirty="0"/>
              <a:t>. </a:t>
            </a:r>
            <a:endParaRPr lang="en-US" dirty="0" smtClean="0"/>
          </a:p>
          <a:p>
            <a:pPr lvl="1" algn="just"/>
            <a:r>
              <a:rPr lang="en-US" dirty="0" smtClean="0"/>
              <a:t>1 </a:t>
            </a:r>
            <a:r>
              <a:rPr lang="en-US" dirty="0"/>
              <a:t>byte of memory is occupied by </a:t>
            </a:r>
            <a:r>
              <a:rPr lang="en-US" i="1" dirty="0"/>
              <a:t>char</a:t>
            </a:r>
            <a:r>
              <a:rPr lang="en-US" dirty="0"/>
              <a:t> </a:t>
            </a:r>
            <a:r>
              <a:rPr lang="en-US" dirty="0" err="1"/>
              <a:t>datatype</a:t>
            </a:r>
            <a:r>
              <a:rPr lang="en-US" dirty="0"/>
              <a:t> and </a:t>
            </a:r>
            <a:endParaRPr lang="en-US" dirty="0" smtClean="0"/>
          </a:p>
          <a:p>
            <a:pPr lvl="1" algn="just"/>
            <a:r>
              <a:rPr lang="en-US" dirty="0" smtClean="0"/>
              <a:t>4 </a:t>
            </a:r>
            <a:r>
              <a:rPr lang="en-US" dirty="0"/>
              <a:t>bytes of memory is occupied by </a:t>
            </a:r>
            <a:r>
              <a:rPr lang="en-US" i="1" dirty="0"/>
              <a:t>float</a:t>
            </a:r>
            <a:r>
              <a:rPr lang="en-US" dirty="0"/>
              <a:t> </a:t>
            </a:r>
            <a:r>
              <a:rPr lang="en-US" dirty="0" err="1"/>
              <a:t>datatype</a:t>
            </a:r>
            <a:r>
              <a:rPr lang="en-US" dirty="0"/>
              <a:t>.</a:t>
            </a:r>
          </a:p>
          <a:p>
            <a:pPr algn="just"/>
            <a:r>
              <a:rPr lang="en-US" dirty="0"/>
              <a:t>Please refer below table to know from where to where memory is allocated for each </a:t>
            </a:r>
            <a:r>
              <a:rPr lang="en-US" dirty="0" err="1"/>
              <a:t>datatype</a:t>
            </a:r>
            <a:r>
              <a:rPr lang="en-US" dirty="0"/>
              <a:t> in contiguous (adjacent) location in memory.</a:t>
            </a:r>
          </a:p>
          <a:p>
            <a:pPr algn="just"/>
            <a:endParaRPr lang="en-US" dirty="0" smtClean="0"/>
          </a:p>
          <a:p>
            <a:pPr algn="just"/>
            <a:endParaRPr lang="en-US" dirty="0" smtClean="0"/>
          </a:p>
          <a:p>
            <a:pPr algn="just"/>
            <a:endParaRPr lang="en-US" dirty="0" smtClean="0"/>
          </a:p>
        </p:txBody>
      </p:sp>
      <p:pic>
        <p:nvPicPr>
          <p:cNvPr id="6" name="Picture 5"/>
          <p:cNvPicPr>
            <a:picLocks noChangeAspect="1"/>
          </p:cNvPicPr>
          <p:nvPr/>
        </p:nvPicPr>
        <p:blipFill>
          <a:blip r:embed="rId2" cstate="print"/>
          <a:stretch>
            <a:fillRect/>
          </a:stretch>
        </p:blipFill>
        <p:spPr>
          <a:xfrm>
            <a:off x="156885" y="3477819"/>
            <a:ext cx="8550233" cy="2772076"/>
          </a:xfrm>
          <a:prstGeom prst="rect">
            <a:avLst/>
          </a:prstGeom>
        </p:spPr>
      </p:pic>
    </p:spTree>
    <p:extLst>
      <p:ext uri="{BB962C8B-B14F-4D97-AF65-F5344CB8AC3E}">
        <p14:creationId xmlns:p14="http://schemas.microsoft.com/office/powerpoint/2010/main" xmlns="" val="3871136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28498" y="793386"/>
            <a:ext cx="8634502" cy="1857187"/>
          </a:xfrm>
        </p:spPr>
        <p:txBody>
          <a:bodyPr/>
          <a:lstStyle/>
          <a:p>
            <a:r>
              <a:rPr lang="en-US" dirty="0"/>
              <a:t> The pictorial representation of above structure memory allocation is given below. </a:t>
            </a:r>
            <a:endParaRPr lang="en-US" dirty="0" smtClean="0"/>
          </a:p>
          <a:p>
            <a:r>
              <a:rPr lang="en-US" dirty="0" smtClean="0"/>
              <a:t>This </a:t>
            </a:r>
            <a:r>
              <a:rPr lang="en-US" dirty="0"/>
              <a:t>diagram will help you to understand the memory allocation concept in C very easily.</a:t>
            </a:r>
          </a:p>
          <a:p>
            <a:endParaRPr lang="en-US" dirty="0"/>
          </a:p>
        </p:txBody>
      </p:sp>
      <p:pic>
        <p:nvPicPr>
          <p:cNvPr id="4" name="Picture 3"/>
          <p:cNvPicPr>
            <a:picLocks noChangeAspect="1"/>
          </p:cNvPicPr>
          <p:nvPr/>
        </p:nvPicPr>
        <p:blipFill>
          <a:blip r:embed="rId2" cstate="print">
            <a:extLst>
              <a:ext uri="{BEBA8EAE-BF5A-486C-A8C5-ECC9F3942E4B}">
                <a14:imgProps xmlns:a14="http://schemas.microsoft.com/office/drawing/2010/main" xmlns="">
                  <a14:imgLayer r:embed="rId3">
                    <a14:imgEffect>
                      <a14:sharpenSoften amount="65000"/>
                    </a14:imgEffect>
                  </a14:imgLayer>
                </a14:imgProps>
              </a:ext>
            </a:extLst>
          </a:blip>
          <a:stretch>
            <a:fillRect/>
          </a:stretch>
        </p:blipFill>
        <p:spPr>
          <a:xfrm>
            <a:off x="153894" y="2698377"/>
            <a:ext cx="8564989" cy="3733800"/>
          </a:xfrm>
          <a:prstGeom prst="rect">
            <a:avLst/>
          </a:prstGeom>
        </p:spPr>
      </p:pic>
      <p:sp>
        <p:nvSpPr>
          <p:cNvPr id="5" name="Title 1"/>
          <p:cNvSpPr>
            <a:spLocks noGrp="1"/>
          </p:cNvSpPr>
          <p:nvPr>
            <p:ph type="title"/>
          </p:nvPr>
        </p:nvSpPr>
        <p:spPr>
          <a:xfrm>
            <a:off x="152400" y="50522"/>
            <a:ext cx="8534400" cy="635277"/>
          </a:xfrm>
        </p:spPr>
        <p:txBody>
          <a:bodyPr>
            <a:normAutofit/>
          </a:bodyPr>
          <a:lstStyle/>
          <a:p>
            <a:pPr algn="ctr"/>
            <a:r>
              <a:rPr lang="en-US" dirty="0" err="1">
                <a:solidFill>
                  <a:schemeClr val="accent3"/>
                </a:solidFill>
              </a:rPr>
              <a:t>Struct</a:t>
            </a:r>
            <a:r>
              <a:rPr lang="en-US" dirty="0">
                <a:solidFill>
                  <a:schemeClr val="accent3"/>
                </a:solidFill>
              </a:rPr>
              <a:t> memory allocation</a:t>
            </a:r>
          </a:p>
        </p:txBody>
      </p:sp>
    </p:spTree>
    <p:extLst>
      <p:ext uri="{BB962C8B-B14F-4D97-AF65-F5344CB8AC3E}">
        <p14:creationId xmlns:p14="http://schemas.microsoft.com/office/powerpoint/2010/main" xmlns="" val="3098270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315" y="35582"/>
            <a:ext cx="7467600" cy="715962"/>
          </a:xfrm>
        </p:spPr>
        <p:txBody>
          <a:bodyPr/>
          <a:lstStyle/>
          <a:p>
            <a:pPr algn="ctr"/>
            <a:r>
              <a:rPr lang="en-US" dirty="0">
                <a:solidFill>
                  <a:schemeClr val="accent3"/>
                </a:solidFill>
              </a:rPr>
              <a:t>Structure Padding</a:t>
            </a:r>
          </a:p>
        </p:txBody>
      </p:sp>
      <p:sp>
        <p:nvSpPr>
          <p:cNvPr id="3" name="Content Placeholder 2"/>
          <p:cNvSpPr>
            <a:spLocks noGrp="1"/>
          </p:cNvSpPr>
          <p:nvPr>
            <p:ph sz="quarter" idx="1"/>
          </p:nvPr>
        </p:nvSpPr>
        <p:spPr>
          <a:xfrm>
            <a:off x="152400" y="1241616"/>
            <a:ext cx="8610600" cy="4873752"/>
          </a:xfrm>
        </p:spPr>
        <p:txBody>
          <a:bodyPr>
            <a:normAutofit lnSpcReduction="10000"/>
          </a:bodyPr>
          <a:lstStyle/>
          <a:p>
            <a:r>
              <a:rPr lang="en-US" dirty="0"/>
              <a:t>In order to align the data in memory,  one or more empty bytes (addresses) are inserted (or left empty) between memory addresses which are allocated for other structure members while memory allocation. This concept is called </a:t>
            </a:r>
            <a:r>
              <a:rPr lang="en-US" i="1" dirty="0"/>
              <a:t>structure padding</a:t>
            </a:r>
            <a:r>
              <a:rPr lang="en-US" dirty="0"/>
              <a:t>.</a:t>
            </a:r>
          </a:p>
          <a:p>
            <a:r>
              <a:rPr lang="en-US" dirty="0"/>
              <a:t>Architecture of a computer processor is such a way that it can read 1 word (4 byte in 32 bit processor) from memory at a time.</a:t>
            </a:r>
          </a:p>
          <a:p>
            <a:r>
              <a:rPr lang="en-US" dirty="0"/>
              <a:t>To make use of this advantage of processor, data are always aligned as 4 bytes package which leads to insert empty addresses between other member’s address.</a:t>
            </a:r>
          </a:p>
          <a:p>
            <a:r>
              <a:rPr lang="en-US" dirty="0"/>
              <a:t>Because of this structure padding concept in C, size of the structure is always not same as what we think.</a:t>
            </a:r>
          </a:p>
          <a:p>
            <a:endParaRPr lang="en-US" dirty="0"/>
          </a:p>
        </p:txBody>
      </p:sp>
    </p:spTree>
    <p:extLst>
      <p:ext uri="{BB962C8B-B14F-4D97-AF65-F5344CB8AC3E}">
        <p14:creationId xmlns:p14="http://schemas.microsoft.com/office/powerpoint/2010/main" xmlns="" val="3885911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136" y="457200"/>
            <a:ext cx="8839200" cy="6370918"/>
          </a:xfrm>
        </p:spPr>
        <p:txBody>
          <a:bodyPr>
            <a:normAutofit fontScale="85000" lnSpcReduction="20000"/>
          </a:bodyPr>
          <a:lstStyle/>
          <a:p>
            <a:r>
              <a:rPr lang="en-US" dirty="0"/>
              <a:t>For example, </a:t>
            </a:r>
            <a:r>
              <a:rPr lang="en-US" dirty="0" smtClean="0"/>
              <a:t>consider </a:t>
            </a:r>
            <a:r>
              <a:rPr lang="en-US" dirty="0"/>
              <a:t>below structure that has 5 members</a:t>
            </a:r>
            <a:r>
              <a:rPr lang="en-US" dirty="0" smtClean="0"/>
              <a:t>.</a:t>
            </a:r>
            <a:endParaRPr lang="en-US" dirty="0"/>
          </a:p>
          <a:p>
            <a:r>
              <a:rPr lang="en-US" dirty="0" err="1"/>
              <a:t>struct</a:t>
            </a:r>
            <a:r>
              <a:rPr lang="en-US" dirty="0"/>
              <a:t> student</a:t>
            </a:r>
          </a:p>
          <a:p>
            <a:pPr marL="0" indent="0">
              <a:buNone/>
            </a:pPr>
            <a:r>
              <a:rPr lang="en-US" dirty="0" smtClean="0"/>
              <a:t>   	{</a:t>
            </a:r>
            <a:endParaRPr lang="en-US" dirty="0"/>
          </a:p>
          <a:p>
            <a:pPr marL="0" indent="0">
              <a:buNone/>
            </a:pPr>
            <a:r>
              <a:rPr lang="en-US" dirty="0" smtClean="0"/>
              <a:t> </a:t>
            </a:r>
            <a:r>
              <a:rPr lang="en-US" dirty="0"/>
              <a:t>  </a:t>
            </a:r>
            <a:r>
              <a:rPr lang="en-US" dirty="0" smtClean="0"/>
              <a:t>	</a:t>
            </a:r>
            <a:r>
              <a:rPr lang="en-US" dirty="0"/>
              <a:t>     </a:t>
            </a:r>
            <a:r>
              <a:rPr lang="en-US" dirty="0" err="1"/>
              <a:t>int</a:t>
            </a:r>
            <a:r>
              <a:rPr lang="en-US" dirty="0"/>
              <a:t> id1;</a:t>
            </a:r>
          </a:p>
          <a:p>
            <a:pPr marL="0" indent="0">
              <a:buNone/>
            </a:pPr>
            <a:r>
              <a:rPr lang="en-US" dirty="0" smtClean="0"/>
              <a:t> </a:t>
            </a:r>
            <a:r>
              <a:rPr lang="en-US" dirty="0"/>
              <a:t>  </a:t>
            </a:r>
            <a:r>
              <a:rPr lang="en-US" dirty="0" smtClean="0"/>
              <a:t>	</a:t>
            </a:r>
            <a:r>
              <a:rPr lang="en-US" dirty="0"/>
              <a:t>     </a:t>
            </a:r>
            <a:r>
              <a:rPr lang="en-US" dirty="0" err="1"/>
              <a:t>int</a:t>
            </a:r>
            <a:r>
              <a:rPr lang="en-US" dirty="0"/>
              <a:t> id2;</a:t>
            </a:r>
          </a:p>
          <a:p>
            <a:pPr marL="0" indent="0">
              <a:buNone/>
            </a:pPr>
            <a:r>
              <a:rPr lang="en-US" dirty="0" smtClean="0"/>
              <a:t> </a:t>
            </a:r>
            <a:r>
              <a:rPr lang="en-US" dirty="0"/>
              <a:t>  </a:t>
            </a:r>
            <a:r>
              <a:rPr lang="en-US" dirty="0" smtClean="0"/>
              <a:t>	</a:t>
            </a:r>
            <a:r>
              <a:rPr lang="en-US" dirty="0"/>
              <a:t>     char a;</a:t>
            </a:r>
          </a:p>
          <a:p>
            <a:pPr marL="0" indent="0">
              <a:buNone/>
            </a:pPr>
            <a:r>
              <a:rPr lang="en-US" dirty="0" smtClean="0"/>
              <a:t> </a:t>
            </a:r>
            <a:r>
              <a:rPr lang="en-US" dirty="0"/>
              <a:t>  </a:t>
            </a:r>
            <a:r>
              <a:rPr lang="en-US" dirty="0" smtClean="0"/>
              <a:t>	</a:t>
            </a:r>
            <a:r>
              <a:rPr lang="en-US" dirty="0"/>
              <a:t>     char b;</a:t>
            </a:r>
          </a:p>
          <a:p>
            <a:pPr marL="0" indent="0">
              <a:buNone/>
            </a:pPr>
            <a:r>
              <a:rPr lang="en-US" dirty="0" smtClean="0"/>
              <a:t> </a:t>
            </a:r>
            <a:r>
              <a:rPr lang="en-US" dirty="0"/>
              <a:t>  </a:t>
            </a:r>
            <a:r>
              <a:rPr lang="en-US" dirty="0" smtClean="0"/>
              <a:t>	</a:t>
            </a:r>
            <a:r>
              <a:rPr lang="en-US" dirty="0"/>
              <a:t>     float percentage;</a:t>
            </a:r>
          </a:p>
          <a:p>
            <a:pPr marL="365760" lvl="1" indent="0">
              <a:buNone/>
            </a:pPr>
            <a:r>
              <a:rPr lang="en-US" dirty="0" smtClean="0"/>
              <a:t>	};</a:t>
            </a:r>
          </a:p>
          <a:p>
            <a:r>
              <a:rPr lang="en-US" dirty="0"/>
              <a:t>As per C concepts, </a:t>
            </a:r>
            <a:r>
              <a:rPr lang="en-US" dirty="0" err="1"/>
              <a:t>int</a:t>
            </a:r>
            <a:r>
              <a:rPr lang="en-US" dirty="0"/>
              <a:t> and float </a:t>
            </a:r>
            <a:r>
              <a:rPr lang="en-US" dirty="0" err="1"/>
              <a:t>datatypes</a:t>
            </a:r>
            <a:r>
              <a:rPr lang="en-US" dirty="0"/>
              <a:t> occupy 4 bytes each and char </a:t>
            </a:r>
            <a:r>
              <a:rPr lang="en-US" dirty="0" err="1"/>
              <a:t>datatype</a:t>
            </a:r>
            <a:r>
              <a:rPr lang="en-US" dirty="0"/>
              <a:t> occupies 1 byte for 32 bit processor. So, only 14 bytes (4+4+1+1+4) should be allocated for above structure.</a:t>
            </a:r>
          </a:p>
          <a:p>
            <a:r>
              <a:rPr lang="en-US" dirty="0"/>
              <a:t>But, this is wrong.  Do you know why?</a:t>
            </a:r>
          </a:p>
          <a:p>
            <a:pPr lvl="1"/>
            <a:r>
              <a:rPr lang="en-US" dirty="0"/>
              <a:t>Architecture of a computer processor is such a way that it can read 1 word from memory at a time.</a:t>
            </a:r>
          </a:p>
          <a:p>
            <a:pPr lvl="1"/>
            <a:r>
              <a:rPr lang="en-US" dirty="0"/>
              <a:t>1 word is equal to 4 bytes for 32 bit processor and 8 bytes for 64 bit processor. </a:t>
            </a:r>
            <a:endParaRPr lang="en-US" dirty="0" smtClean="0"/>
          </a:p>
          <a:p>
            <a:pPr lvl="1"/>
            <a:r>
              <a:rPr lang="en-US" dirty="0" smtClean="0"/>
              <a:t>So</a:t>
            </a:r>
            <a:r>
              <a:rPr lang="en-US" dirty="0"/>
              <a:t>, 32 bit processor always reads 4 bytes at a time and 64 bit processor always reads 8 bytes at a time.</a:t>
            </a:r>
          </a:p>
          <a:p>
            <a:pPr lvl="1"/>
            <a:r>
              <a:rPr lang="en-US" dirty="0"/>
              <a:t>This concept is very useful to increase the processor speed.</a:t>
            </a:r>
          </a:p>
          <a:p>
            <a:pPr lvl="1"/>
            <a:r>
              <a:rPr lang="en-US" dirty="0"/>
              <a:t>To make use of this advantage, memory is arranged as a group of 4 bytes in 32 bit processor and 8 bytes in 64 bit processor.</a:t>
            </a:r>
          </a:p>
          <a:p>
            <a:endParaRPr lang="en-US" dirty="0"/>
          </a:p>
          <a:p>
            <a:endParaRPr lang="en-US" dirty="0"/>
          </a:p>
        </p:txBody>
      </p:sp>
      <p:sp>
        <p:nvSpPr>
          <p:cNvPr id="4" name="Title 1"/>
          <p:cNvSpPr>
            <a:spLocks noGrp="1"/>
          </p:cNvSpPr>
          <p:nvPr>
            <p:ph type="title"/>
          </p:nvPr>
        </p:nvSpPr>
        <p:spPr>
          <a:xfrm>
            <a:off x="685800" y="0"/>
            <a:ext cx="7467600" cy="446744"/>
          </a:xfrm>
        </p:spPr>
        <p:txBody>
          <a:bodyPr>
            <a:normAutofit fontScale="90000"/>
          </a:bodyPr>
          <a:lstStyle/>
          <a:p>
            <a:pPr algn="ctr"/>
            <a:r>
              <a:rPr lang="en-US" dirty="0">
                <a:solidFill>
                  <a:schemeClr val="accent3"/>
                </a:solidFill>
              </a:rPr>
              <a:t>Structure Padding</a:t>
            </a:r>
          </a:p>
        </p:txBody>
      </p:sp>
    </p:spTree>
    <p:extLst>
      <p:ext uri="{BB962C8B-B14F-4D97-AF65-F5344CB8AC3E}">
        <p14:creationId xmlns:p14="http://schemas.microsoft.com/office/powerpoint/2010/main" xmlns="" val="130743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BEBA8EAE-BF5A-486C-A8C5-ECC9F3942E4B}">
                <a14:imgProps xmlns:a14="http://schemas.microsoft.com/office/drawing/2010/main" xmlns="">
                  <a14:imgLayer r:embed="rId3">
                    <a14:imgEffect>
                      <a14:sharpenSoften amount="35000"/>
                    </a14:imgEffect>
                  </a14:imgLayer>
                </a14:imgProps>
              </a:ext>
            </a:extLst>
          </a:blip>
          <a:stretch>
            <a:fillRect/>
          </a:stretch>
        </p:blipFill>
        <p:spPr>
          <a:xfrm>
            <a:off x="135985" y="14941"/>
            <a:ext cx="5431834" cy="6858000"/>
          </a:xfrm>
          <a:prstGeom prst="rect">
            <a:avLst/>
          </a:prstGeom>
        </p:spPr>
      </p:pic>
      <p:sp>
        <p:nvSpPr>
          <p:cNvPr id="2" name="Title 1"/>
          <p:cNvSpPr>
            <a:spLocks noGrp="1"/>
          </p:cNvSpPr>
          <p:nvPr>
            <p:ph type="title"/>
          </p:nvPr>
        </p:nvSpPr>
        <p:spPr>
          <a:xfrm>
            <a:off x="4343400" y="20641"/>
            <a:ext cx="4343400" cy="868362"/>
          </a:xfrm>
        </p:spPr>
        <p:txBody>
          <a:bodyPr>
            <a:normAutofit/>
          </a:bodyPr>
          <a:lstStyle/>
          <a:p>
            <a:pPr algn="ctr"/>
            <a:r>
              <a:rPr lang="en-US" sz="2400" dirty="0">
                <a:solidFill>
                  <a:schemeClr val="accent3"/>
                </a:solidFill>
              </a:rPr>
              <a:t>Example program for structure </a:t>
            </a:r>
            <a:r>
              <a:rPr lang="en-US" sz="2400" dirty="0" smtClean="0">
                <a:solidFill>
                  <a:schemeClr val="accent3"/>
                </a:solidFill>
              </a:rPr>
              <a:t>padding</a:t>
            </a:r>
            <a:endParaRPr lang="en-US" sz="2400" dirty="0">
              <a:solidFill>
                <a:schemeClr val="accent3"/>
              </a:solidFill>
            </a:endParaRPr>
          </a:p>
        </p:txBody>
      </p:sp>
      <p:sp>
        <p:nvSpPr>
          <p:cNvPr id="3" name="Content Placeholder 2"/>
          <p:cNvSpPr>
            <a:spLocks noGrp="1"/>
          </p:cNvSpPr>
          <p:nvPr>
            <p:ph sz="quarter" idx="1"/>
          </p:nvPr>
        </p:nvSpPr>
        <p:spPr>
          <a:xfrm>
            <a:off x="4191000" y="894481"/>
            <a:ext cx="4676587" cy="1752591"/>
          </a:xfrm>
        </p:spPr>
        <p:txBody>
          <a:bodyPr>
            <a:normAutofit fontScale="92500" lnSpcReduction="10000"/>
          </a:bodyPr>
          <a:lstStyle/>
          <a:p>
            <a:r>
              <a:rPr lang="en-US" dirty="0" smtClean="0"/>
              <a:t>This </a:t>
            </a:r>
            <a:r>
              <a:rPr lang="en-US" dirty="0"/>
              <a:t>C program is compiled and executed in 32 bit compiler. </a:t>
            </a:r>
            <a:endParaRPr lang="en-US" dirty="0" smtClean="0"/>
          </a:p>
          <a:p>
            <a:r>
              <a:rPr lang="en-US" dirty="0" smtClean="0"/>
              <a:t>Please </a:t>
            </a:r>
            <a:r>
              <a:rPr lang="en-US" dirty="0"/>
              <a:t>check memory allocated for structure1 and structure2 </a:t>
            </a:r>
            <a:r>
              <a:rPr lang="en-US" dirty="0" smtClean="0"/>
              <a:t>of this </a:t>
            </a:r>
            <a:r>
              <a:rPr lang="en-US" dirty="0"/>
              <a:t>program.</a:t>
            </a:r>
          </a:p>
        </p:txBody>
      </p:sp>
      <p:sp>
        <p:nvSpPr>
          <p:cNvPr id="6" name="Rectangle 5"/>
          <p:cNvSpPr/>
          <p:nvPr/>
        </p:nvSpPr>
        <p:spPr>
          <a:xfrm>
            <a:off x="5638800" y="3352800"/>
            <a:ext cx="3188440" cy="3123189"/>
          </a:xfrm>
          <a:prstGeom prst="rect">
            <a:avLst/>
          </a:prstGeom>
        </p:spPr>
        <p:txBody>
          <a:bodyPr wrap="square">
            <a:spAutoFit/>
          </a:bodyPr>
          <a:lstStyle/>
          <a:p>
            <a:r>
              <a:rPr lang="en-US" sz="1200" b="1" dirty="0" smtClean="0"/>
              <a:t>Output:</a:t>
            </a:r>
          </a:p>
          <a:p>
            <a:r>
              <a:rPr lang="en-US" sz="1200" dirty="0" smtClean="0"/>
              <a:t>size </a:t>
            </a:r>
            <a:r>
              <a:rPr lang="en-US" sz="1200" dirty="0"/>
              <a:t>of structure1 in bytes : 16 </a:t>
            </a:r>
          </a:p>
          <a:p>
            <a:endParaRPr lang="en-US" sz="1200" dirty="0"/>
          </a:p>
          <a:p>
            <a:r>
              <a:rPr lang="en-US" sz="1200" dirty="0"/>
              <a:t>Address of id1 = 1297339856</a:t>
            </a:r>
          </a:p>
          <a:p>
            <a:r>
              <a:rPr lang="en-US" sz="1200" dirty="0"/>
              <a:t>Address of id2 = 1297339860</a:t>
            </a:r>
          </a:p>
          <a:p>
            <a:r>
              <a:rPr lang="en-US" sz="1200" dirty="0"/>
              <a:t>Address of name = 1297339864</a:t>
            </a:r>
          </a:p>
          <a:p>
            <a:r>
              <a:rPr lang="en-US" sz="1200" dirty="0"/>
              <a:t>Address of c = 1297339865</a:t>
            </a:r>
          </a:p>
          <a:p>
            <a:r>
              <a:rPr lang="en-US" sz="1200" dirty="0"/>
              <a:t>Address of percentage = 1297339868</a:t>
            </a:r>
          </a:p>
          <a:p>
            <a:endParaRPr lang="en-US" sz="1200" dirty="0"/>
          </a:p>
          <a:p>
            <a:r>
              <a:rPr lang="en-US" sz="1200" dirty="0"/>
              <a:t>size of structure2 in bytes : 20</a:t>
            </a:r>
          </a:p>
          <a:p>
            <a:endParaRPr lang="en-US" sz="1200" dirty="0"/>
          </a:p>
          <a:p>
            <a:r>
              <a:rPr lang="en-US" sz="1200" dirty="0"/>
              <a:t>Address of id1 = 1297339824</a:t>
            </a:r>
          </a:p>
          <a:p>
            <a:r>
              <a:rPr lang="en-US" sz="1200" dirty="0"/>
              <a:t>Address of name = 1297339828</a:t>
            </a:r>
          </a:p>
          <a:p>
            <a:r>
              <a:rPr lang="en-US" sz="1200" dirty="0"/>
              <a:t>Address of id2 = 1297339832</a:t>
            </a:r>
          </a:p>
          <a:p>
            <a:r>
              <a:rPr lang="en-US" sz="1200" dirty="0"/>
              <a:t>Address of c = 1297339836</a:t>
            </a:r>
          </a:p>
          <a:p>
            <a:r>
              <a:rPr lang="en-US" sz="1200" dirty="0"/>
              <a:t>Address of percentage = 1297339840</a:t>
            </a:r>
          </a:p>
        </p:txBody>
      </p:sp>
    </p:spTree>
    <p:extLst>
      <p:ext uri="{BB962C8B-B14F-4D97-AF65-F5344CB8AC3E}">
        <p14:creationId xmlns:p14="http://schemas.microsoft.com/office/powerpoint/2010/main" xmlns="" val="3303518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613" y="35582"/>
            <a:ext cx="8229600" cy="563562"/>
          </a:xfrm>
        </p:spPr>
        <p:txBody>
          <a:bodyPr>
            <a:noAutofit/>
          </a:bodyPr>
          <a:lstStyle/>
          <a:p>
            <a:r>
              <a:rPr lang="en-US" sz="2400" dirty="0">
                <a:solidFill>
                  <a:schemeClr val="accent3"/>
                </a:solidFill>
              </a:rPr>
              <a:t>Structure padding analysis for p</a:t>
            </a:r>
            <a:r>
              <a:rPr lang="en-US" sz="2400" dirty="0" smtClean="0">
                <a:solidFill>
                  <a:schemeClr val="accent3"/>
                </a:solidFill>
              </a:rPr>
              <a:t>revious C program</a:t>
            </a:r>
            <a:endParaRPr lang="en-US" sz="2400" dirty="0">
              <a:solidFill>
                <a:schemeClr val="accent3"/>
              </a:solidFill>
            </a:endParaRPr>
          </a:p>
        </p:txBody>
      </p:sp>
      <p:sp>
        <p:nvSpPr>
          <p:cNvPr id="3" name="Content Placeholder 2"/>
          <p:cNvSpPr>
            <a:spLocks noGrp="1"/>
          </p:cNvSpPr>
          <p:nvPr>
            <p:ph sz="quarter" idx="1"/>
          </p:nvPr>
        </p:nvSpPr>
        <p:spPr>
          <a:xfrm>
            <a:off x="14068" y="609600"/>
            <a:ext cx="8915400" cy="6095999"/>
          </a:xfrm>
        </p:spPr>
        <p:txBody>
          <a:bodyPr>
            <a:normAutofit fontScale="92500" lnSpcReduction="20000"/>
          </a:bodyPr>
          <a:lstStyle/>
          <a:p>
            <a:pPr marL="0" indent="0">
              <a:buNone/>
            </a:pPr>
            <a:endParaRPr lang="en-US" dirty="0" smtClean="0"/>
          </a:p>
          <a:p>
            <a:r>
              <a:rPr lang="en-US" sz="2200" u="sng" dirty="0"/>
              <a:t>Memory allocation for </a:t>
            </a:r>
            <a:r>
              <a:rPr lang="en-US" sz="2200" b="1" u="sng" dirty="0"/>
              <a:t>structure1</a:t>
            </a:r>
            <a:r>
              <a:rPr lang="en-US" sz="2200" b="1" u="sng" dirty="0" smtClean="0"/>
              <a:t>:</a:t>
            </a:r>
            <a:endParaRPr lang="en-US" sz="2200" u="sng" dirty="0" smtClean="0"/>
          </a:p>
          <a:p>
            <a:pPr lvl="1"/>
            <a:r>
              <a:rPr lang="en-US" dirty="0" smtClean="0"/>
              <a:t>In </a:t>
            </a:r>
            <a:r>
              <a:rPr lang="en-US" dirty="0"/>
              <a:t>above program, memory for structure1 is allocated sequentially for first 4 </a:t>
            </a:r>
            <a:r>
              <a:rPr lang="en-US" dirty="0" smtClean="0"/>
              <a:t>members.</a:t>
            </a:r>
          </a:p>
          <a:p>
            <a:pPr lvl="1"/>
            <a:r>
              <a:rPr lang="en-US" dirty="0" smtClean="0"/>
              <a:t>Whereas</a:t>
            </a:r>
            <a:r>
              <a:rPr lang="en-US" dirty="0"/>
              <a:t>, memory for 5th member “percentage” is not allocated immediate next to the end of member “</a:t>
            </a:r>
            <a:r>
              <a:rPr lang="en-US" dirty="0" smtClean="0"/>
              <a:t>c”</a:t>
            </a:r>
            <a:endParaRPr lang="en-US" dirty="0"/>
          </a:p>
          <a:p>
            <a:pPr lvl="1"/>
            <a:r>
              <a:rPr lang="en-US" dirty="0" smtClean="0"/>
              <a:t>There </a:t>
            </a:r>
            <a:r>
              <a:rPr lang="en-US" dirty="0"/>
              <a:t>are only 2 bytes remaining in the package of 4 bytes after memory allocated to member “c</a:t>
            </a:r>
            <a:r>
              <a:rPr lang="en-US" dirty="0" smtClean="0"/>
              <a:t>”.</a:t>
            </a:r>
          </a:p>
          <a:p>
            <a:pPr lvl="1"/>
            <a:r>
              <a:rPr lang="en-US" dirty="0" smtClean="0"/>
              <a:t>Range </a:t>
            </a:r>
            <a:r>
              <a:rPr lang="en-US" dirty="0"/>
              <a:t>of this 4 byte package is from 1297339864 to </a:t>
            </a:r>
            <a:r>
              <a:rPr lang="en-US" dirty="0" smtClean="0"/>
              <a:t>1297339867.</a:t>
            </a:r>
          </a:p>
          <a:p>
            <a:pPr lvl="1"/>
            <a:r>
              <a:rPr lang="en-US" dirty="0" smtClean="0"/>
              <a:t>Addresses </a:t>
            </a:r>
            <a:r>
              <a:rPr lang="en-US" dirty="0"/>
              <a:t>1297339864  and 1297339865 are used for members “name and c”. Addresses 1297339866  and 1297339867 only is available in this </a:t>
            </a:r>
            <a:r>
              <a:rPr lang="en-US" dirty="0" smtClean="0"/>
              <a:t>package.</a:t>
            </a:r>
          </a:p>
          <a:p>
            <a:pPr lvl="1"/>
            <a:r>
              <a:rPr lang="en-US" dirty="0" smtClean="0"/>
              <a:t>But</a:t>
            </a:r>
            <a:r>
              <a:rPr lang="en-US" dirty="0"/>
              <a:t>, member “percentage” is </a:t>
            </a:r>
            <a:r>
              <a:rPr lang="en-US" dirty="0" err="1"/>
              <a:t>datatype</a:t>
            </a:r>
            <a:r>
              <a:rPr lang="en-US" dirty="0"/>
              <a:t> of float and requires 4 bytes. It can’t be stored in the same memory package as it requires 4 bytes. Only 2 bytes are free in that </a:t>
            </a:r>
            <a:r>
              <a:rPr lang="en-US" dirty="0" smtClean="0"/>
              <a:t>package.</a:t>
            </a:r>
          </a:p>
          <a:p>
            <a:pPr lvl="1"/>
            <a:r>
              <a:rPr lang="en-US" dirty="0" smtClean="0"/>
              <a:t>So</a:t>
            </a:r>
            <a:r>
              <a:rPr lang="en-US" dirty="0"/>
              <a:t>, next 4 byte of memory package is chosen to store percentage data which is from 1297339868 to </a:t>
            </a:r>
            <a:r>
              <a:rPr lang="en-US" dirty="0" smtClean="0"/>
              <a:t>1297339871.</a:t>
            </a:r>
          </a:p>
          <a:p>
            <a:pPr lvl="1"/>
            <a:r>
              <a:rPr lang="en-US" dirty="0" smtClean="0"/>
              <a:t>Because </a:t>
            </a:r>
            <a:r>
              <a:rPr lang="en-US" dirty="0"/>
              <a:t>of this, memory 1297339866 and 1297339867 are not used by the program and those 2 bytes are left </a:t>
            </a:r>
            <a:r>
              <a:rPr lang="en-US" dirty="0" smtClean="0"/>
              <a:t>empty.</a:t>
            </a:r>
          </a:p>
          <a:p>
            <a:pPr lvl="1"/>
            <a:r>
              <a:rPr lang="en-US" dirty="0" smtClean="0"/>
              <a:t>So</a:t>
            </a:r>
            <a:r>
              <a:rPr lang="en-US" dirty="0"/>
              <a:t>, size of structure1 is 16 bytes which is 2 bytes extra than what we think. Because, 2 bytes are left empty.</a:t>
            </a:r>
          </a:p>
          <a:p>
            <a:endParaRPr lang="en-US" dirty="0"/>
          </a:p>
        </p:txBody>
      </p:sp>
    </p:spTree>
    <p:extLst>
      <p:ext uri="{BB962C8B-B14F-4D97-AF65-F5344CB8AC3E}">
        <p14:creationId xmlns:p14="http://schemas.microsoft.com/office/powerpoint/2010/main" xmlns="" val="8782447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BEBA8EAE-BF5A-486C-A8C5-ECC9F3942E4B}">
                <a14:imgProps xmlns:a14="http://schemas.microsoft.com/office/drawing/2010/main" xmlns="">
                  <a14:imgLayer r:embed="rId3">
                    <a14:imgEffect>
                      <a14:sharpenSoften amount="46000"/>
                    </a14:imgEffect>
                  </a14:imgLayer>
                </a14:imgProps>
              </a:ext>
            </a:extLst>
          </a:blip>
          <a:stretch>
            <a:fillRect/>
          </a:stretch>
        </p:blipFill>
        <p:spPr>
          <a:xfrm>
            <a:off x="129872" y="2562342"/>
            <a:ext cx="8694811" cy="3790394"/>
          </a:xfrm>
          <a:prstGeom prst="rect">
            <a:avLst/>
          </a:prstGeom>
        </p:spPr>
      </p:pic>
      <p:sp>
        <p:nvSpPr>
          <p:cNvPr id="5" name="Rectangle 4"/>
          <p:cNvSpPr/>
          <p:nvPr/>
        </p:nvSpPr>
        <p:spPr>
          <a:xfrm>
            <a:off x="1790148" y="1347065"/>
            <a:ext cx="5160637" cy="461665"/>
          </a:xfrm>
          <a:prstGeom prst="rect">
            <a:avLst/>
          </a:prstGeom>
        </p:spPr>
        <p:txBody>
          <a:bodyPr wrap="none">
            <a:spAutoFit/>
          </a:bodyPr>
          <a:lstStyle/>
          <a:p>
            <a:r>
              <a:rPr lang="en-US" sz="2400" dirty="0"/>
              <a:t>Memory allocation for </a:t>
            </a:r>
            <a:r>
              <a:rPr lang="en-US" sz="2400" b="1" dirty="0" smtClean="0"/>
              <a:t>structure1</a:t>
            </a:r>
            <a:endParaRPr lang="en-US" sz="2400" b="1" dirty="0"/>
          </a:p>
        </p:txBody>
      </p:sp>
      <p:sp>
        <p:nvSpPr>
          <p:cNvPr id="6" name="Title 1"/>
          <p:cNvSpPr>
            <a:spLocks noGrp="1"/>
          </p:cNvSpPr>
          <p:nvPr>
            <p:ph type="title"/>
          </p:nvPr>
        </p:nvSpPr>
        <p:spPr>
          <a:xfrm>
            <a:off x="352613" y="35582"/>
            <a:ext cx="8229600" cy="563562"/>
          </a:xfrm>
        </p:spPr>
        <p:txBody>
          <a:bodyPr>
            <a:noAutofit/>
          </a:bodyPr>
          <a:lstStyle/>
          <a:p>
            <a:r>
              <a:rPr lang="en-US" sz="2400" dirty="0">
                <a:solidFill>
                  <a:schemeClr val="accent3"/>
                </a:solidFill>
              </a:rPr>
              <a:t>Structure padding analysis for p</a:t>
            </a:r>
            <a:r>
              <a:rPr lang="en-US" sz="2400" dirty="0" smtClean="0">
                <a:solidFill>
                  <a:schemeClr val="accent3"/>
                </a:solidFill>
              </a:rPr>
              <a:t>revious C program</a:t>
            </a:r>
            <a:endParaRPr lang="en-US" sz="2400" dirty="0">
              <a:solidFill>
                <a:schemeClr val="accent3"/>
              </a:solidFill>
            </a:endParaRPr>
          </a:p>
        </p:txBody>
      </p:sp>
    </p:spTree>
    <p:extLst>
      <p:ext uri="{BB962C8B-B14F-4D97-AF65-F5344CB8AC3E}">
        <p14:creationId xmlns:p14="http://schemas.microsoft.com/office/powerpoint/2010/main" xmlns="" val="17740493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613" y="35582"/>
            <a:ext cx="8229600" cy="563562"/>
          </a:xfrm>
        </p:spPr>
        <p:txBody>
          <a:bodyPr>
            <a:noAutofit/>
          </a:bodyPr>
          <a:lstStyle/>
          <a:p>
            <a:r>
              <a:rPr lang="en-US" sz="2400" dirty="0">
                <a:solidFill>
                  <a:schemeClr val="accent3"/>
                </a:solidFill>
              </a:rPr>
              <a:t>Structure padding analysis for p</a:t>
            </a:r>
            <a:r>
              <a:rPr lang="en-US" sz="2400" dirty="0" smtClean="0">
                <a:solidFill>
                  <a:schemeClr val="accent3"/>
                </a:solidFill>
              </a:rPr>
              <a:t>revious C program</a:t>
            </a:r>
            <a:endParaRPr lang="en-US" sz="2400" dirty="0">
              <a:solidFill>
                <a:schemeClr val="accent3"/>
              </a:solidFill>
            </a:endParaRPr>
          </a:p>
        </p:txBody>
      </p:sp>
      <p:sp>
        <p:nvSpPr>
          <p:cNvPr id="3" name="Content Placeholder 2"/>
          <p:cNvSpPr>
            <a:spLocks noGrp="1"/>
          </p:cNvSpPr>
          <p:nvPr>
            <p:ph sz="quarter" idx="1"/>
          </p:nvPr>
        </p:nvSpPr>
        <p:spPr>
          <a:xfrm>
            <a:off x="28136" y="763494"/>
            <a:ext cx="8915400" cy="5942105"/>
          </a:xfrm>
        </p:spPr>
        <p:txBody>
          <a:bodyPr>
            <a:normAutofit fontScale="92500" lnSpcReduction="20000"/>
          </a:bodyPr>
          <a:lstStyle/>
          <a:p>
            <a:pPr marL="0" indent="0">
              <a:buNone/>
            </a:pPr>
            <a:endParaRPr lang="en-US" dirty="0" smtClean="0"/>
          </a:p>
          <a:p>
            <a:r>
              <a:rPr lang="en-US" u="sng" dirty="0"/>
              <a:t>Memory allocation for </a:t>
            </a:r>
            <a:r>
              <a:rPr lang="en-US" b="1" u="sng" dirty="0" smtClean="0"/>
              <a:t>structure2:</a:t>
            </a:r>
            <a:endParaRPr lang="en-US" u="sng" dirty="0"/>
          </a:p>
          <a:p>
            <a:pPr lvl="1"/>
            <a:r>
              <a:rPr lang="en-US" dirty="0"/>
              <a:t>Memory for structure2 is also allocated as same as above concept. Please note that structure1 and structure2 are same. But, they differ only in the order of the members declared inside the structure.</a:t>
            </a:r>
          </a:p>
          <a:p>
            <a:pPr lvl="1"/>
            <a:r>
              <a:rPr lang="en-US" dirty="0"/>
              <a:t>4 bytes of memory is allocated for 1st structure member “id1″ which occupies whole 4 byte of memory package.</a:t>
            </a:r>
          </a:p>
          <a:p>
            <a:pPr lvl="1"/>
            <a:r>
              <a:rPr lang="en-US" dirty="0"/>
              <a:t>Then, 2nd structure member “name” occupies only 1 byte of memory in next 4 byte package and remaining 3 bytes are left empty. Because, 3rd structure member “id2″ of </a:t>
            </a:r>
            <a:r>
              <a:rPr lang="en-US" dirty="0" err="1"/>
              <a:t>datatype</a:t>
            </a:r>
            <a:r>
              <a:rPr lang="en-US" dirty="0"/>
              <a:t> integer requires whole 4 byte of memory in the package. But, this is not possible as only 3 bytes available in the package.</a:t>
            </a:r>
          </a:p>
          <a:p>
            <a:pPr lvl="1"/>
            <a:r>
              <a:rPr lang="en-US" dirty="0"/>
              <a:t>So, next whole 4 byte package is used for structure member “id2″.</a:t>
            </a:r>
          </a:p>
          <a:p>
            <a:pPr lvl="1"/>
            <a:r>
              <a:rPr lang="en-US" dirty="0"/>
              <a:t>Again, 4th structure member “c” occupies only 1 byte of memory in next 4 byte package and remaining 3 bytes are left empty.</a:t>
            </a:r>
          </a:p>
          <a:p>
            <a:pPr lvl="1"/>
            <a:r>
              <a:rPr lang="en-US" dirty="0"/>
              <a:t>Because, 5th structure member “percentage” of </a:t>
            </a:r>
            <a:r>
              <a:rPr lang="en-US" dirty="0" err="1"/>
              <a:t>datatype</a:t>
            </a:r>
            <a:r>
              <a:rPr lang="en-US" dirty="0"/>
              <a:t> float requires whole 4 byte of memory in the package.</a:t>
            </a:r>
          </a:p>
          <a:p>
            <a:pPr lvl="1"/>
            <a:r>
              <a:rPr lang="en-US" dirty="0"/>
              <a:t>But, this is also not possible as only 3 bytes available in the package. So, next whole 4 byte package is used for structure member “percentage”.</a:t>
            </a:r>
          </a:p>
          <a:p>
            <a:pPr lvl="1"/>
            <a:r>
              <a:rPr lang="en-US" dirty="0"/>
              <a:t>So, size of structure2 is 20 bytes which is 6 bytes extra than what we think. Because, 6 bytes are left empty.</a:t>
            </a:r>
          </a:p>
          <a:p>
            <a:endParaRPr lang="en-US" dirty="0"/>
          </a:p>
        </p:txBody>
      </p:sp>
    </p:spTree>
    <p:extLst>
      <p:ext uri="{BB962C8B-B14F-4D97-AF65-F5344CB8AC3E}">
        <p14:creationId xmlns:p14="http://schemas.microsoft.com/office/powerpoint/2010/main" xmlns="" val="35671382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35400" y="1136045"/>
            <a:ext cx="5160637" cy="461665"/>
          </a:xfrm>
          <a:prstGeom prst="rect">
            <a:avLst/>
          </a:prstGeom>
        </p:spPr>
        <p:txBody>
          <a:bodyPr wrap="none">
            <a:spAutoFit/>
          </a:bodyPr>
          <a:lstStyle/>
          <a:p>
            <a:pPr algn="ctr"/>
            <a:r>
              <a:rPr lang="en-US" sz="2400" dirty="0"/>
              <a:t>Memory allocation for </a:t>
            </a:r>
            <a:r>
              <a:rPr lang="en-US" sz="2400" b="1" dirty="0" smtClean="0"/>
              <a:t>structure2</a:t>
            </a:r>
            <a:endParaRPr lang="en-US" sz="2400" b="1" dirty="0"/>
          </a:p>
        </p:txBody>
      </p:sp>
      <p:sp>
        <p:nvSpPr>
          <p:cNvPr id="6" name="Title 1"/>
          <p:cNvSpPr>
            <a:spLocks noGrp="1"/>
          </p:cNvSpPr>
          <p:nvPr>
            <p:ph type="title"/>
          </p:nvPr>
        </p:nvSpPr>
        <p:spPr>
          <a:xfrm>
            <a:off x="352613" y="35582"/>
            <a:ext cx="8229600" cy="563562"/>
          </a:xfrm>
        </p:spPr>
        <p:txBody>
          <a:bodyPr>
            <a:noAutofit/>
          </a:bodyPr>
          <a:lstStyle/>
          <a:p>
            <a:r>
              <a:rPr lang="en-US" sz="2400" dirty="0">
                <a:solidFill>
                  <a:schemeClr val="accent3"/>
                </a:solidFill>
              </a:rPr>
              <a:t>Structure padding analysis for p</a:t>
            </a:r>
            <a:r>
              <a:rPr lang="en-US" sz="2400" dirty="0" smtClean="0">
                <a:solidFill>
                  <a:schemeClr val="accent3"/>
                </a:solidFill>
              </a:rPr>
              <a:t>revious C program</a:t>
            </a:r>
            <a:endParaRPr lang="en-US" sz="2400" dirty="0">
              <a:solidFill>
                <a:schemeClr val="accent3"/>
              </a:solidFill>
            </a:endParaRPr>
          </a:p>
        </p:txBody>
      </p:sp>
      <p:pic>
        <p:nvPicPr>
          <p:cNvPr id="2" name="Picture 1"/>
          <p:cNvPicPr>
            <a:picLocks noChangeAspect="1"/>
          </p:cNvPicPr>
          <p:nvPr/>
        </p:nvPicPr>
        <p:blipFill>
          <a:blip r:embed="rId2" cstate="print"/>
          <a:stretch>
            <a:fillRect/>
          </a:stretch>
        </p:blipFill>
        <p:spPr>
          <a:xfrm>
            <a:off x="151654" y="2374208"/>
            <a:ext cx="8648700" cy="3860800"/>
          </a:xfrm>
          <a:prstGeom prst="rect">
            <a:avLst/>
          </a:prstGeom>
        </p:spPr>
      </p:pic>
    </p:spTree>
    <p:extLst>
      <p:ext uri="{BB962C8B-B14F-4D97-AF65-F5344CB8AC3E}">
        <p14:creationId xmlns:p14="http://schemas.microsoft.com/office/powerpoint/2010/main" xmlns="" val="10935929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1002</TotalTime>
  <Words>1871</Words>
  <Application>Microsoft Office PowerPoint</Application>
  <PresentationFormat>On-screen Show (4:3)</PresentationFormat>
  <Paragraphs>243</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Oriel</vt:lpstr>
      <vt:lpstr>C - Structures</vt:lpstr>
      <vt:lpstr>C - Structures</vt:lpstr>
      <vt:lpstr>Defining a Structure</vt:lpstr>
      <vt:lpstr>Defining a Structure</vt:lpstr>
      <vt:lpstr>Structure variable declaration</vt:lpstr>
      <vt:lpstr>Difference between C variable, array and structure</vt:lpstr>
      <vt:lpstr>Below table explains following concepts in C structure</vt:lpstr>
      <vt:lpstr>Accessing members of a structure</vt:lpstr>
      <vt:lpstr>Pointers to Structures</vt:lpstr>
      <vt:lpstr>Slide 10</vt:lpstr>
      <vt:lpstr>Example program-array of structures</vt:lpstr>
      <vt:lpstr>Example program of structure</vt:lpstr>
      <vt:lpstr>Passing structure to function</vt:lpstr>
      <vt:lpstr>Slide 14</vt:lpstr>
      <vt:lpstr>Slide 15</vt:lpstr>
      <vt:lpstr>Example  – passing structure to function by value</vt:lpstr>
      <vt:lpstr>Slide 17</vt:lpstr>
      <vt:lpstr>Example–Passing structure to function by reference</vt:lpstr>
      <vt:lpstr>Slide 19</vt:lpstr>
      <vt:lpstr>Slide 20</vt:lpstr>
      <vt:lpstr>Example–Passing structure to function by address/reference</vt:lpstr>
      <vt:lpstr>Slide 22</vt:lpstr>
      <vt:lpstr>Copy A Structure </vt:lpstr>
      <vt:lpstr>Keyword typedef while using structure</vt:lpstr>
      <vt:lpstr>Struct memory allocation</vt:lpstr>
      <vt:lpstr>Struct memory allocation</vt:lpstr>
      <vt:lpstr>Struct memory allocation</vt:lpstr>
      <vt:lpstr>Structure Padding</vt:lpstr>
      <vt:lpstr>Structure Padding</vt:lpstr>
      <vt:lpstr>Example program for structure padding</vt:lpstr>
      <vt:lpstr>Structure padding analysis for previous C program</vt:lpstr>
      <vt:lpstr>Structure padding analysis for previous C program</vt:lpstr>
      <vt:lpstr>Structure padding analysis for previous C program</vt:lpstr>
      <vt:lpstr>Structure padding analysis for previous C program</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 Function</dc:title>
  <dc:creator>new teacher</dc:creator>
  <cp:lastModifiedBy>Abu Sayeed</cp:lastModifiedBy>
  <cp:revision>632</cp:revision>
  <dcterms:created xsi:type="dcterms:W3CDTF">2006-08-16T00:00:00Z</dcterms:created>
  <dcterms:modified xsi:type="dcterms:W3CDTF">2019-02-25T02:55:45Z</dcterms:modified>
</cp:coreProperties>
</file>