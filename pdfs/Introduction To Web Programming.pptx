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2" r:id="rId7"/>
    <p:sldId id="263" r:id="rId8"/>
    <p:sldId id="264" r:id="rId9"/>
    <p:sldId id="265" r:id="rId10"/>
    <p:sldId id="267" r:id="rId11"/>
    <p:sldId id="266" r:id="rId12"/>
    <p:sldId id="268" r:id="rId13"/>
    <p:sldId id="269" r:id="rId14"/>
    <p:sldId id="270" r:id="rId15"/>
    <p:sldId id="271" r:id="rId16"/>
    <p:sldId id="272" r:id="rId17"/>
    <p:sldId id="273" r:id="rId18"/>
    <p:sldId id="274" r:id="rId19"/>
  </p:sldIdLst>
  <p:sldSz cx="12192000" cy="6858000"/>
  <p:notesSz cx="6858000" cy="9144000"/>
  <p:defaultText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668"/>
  </p:normalViewPr>
  <p:slideViewPr>
    <p:cSldViewPr snapToGrid="0">
      <p:cViewPr varScale="1">
        <p:scale>
          <a:sx n="95" d="100"/>
          <a:sy n="95" d="100"/>
        </p:scale>
        <p:origin x="200"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14938-E8B5-E5B7-42BD-5A3C1EC8C00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D"/>
          </a:p>
        </p:txBody>
      </p:sp>
      <p:sp>
        <p:nvSpPr>
          <p:cNvPr id="3" name="Subtitle 2">
            <a:extLst>
              <a:ext uri="{FF2B5EF4-FFF2-40B4-BE49-F238E27FC236}">
                <a16:creationId xmlns:a16="http://schemas.microsoft.com/office/drawing/2014/main" id="{23EB6576-25B8-5E5F-75ED-35F3FBA07C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D"/>
          </a:p>
        </p:txBody>
      </p:sp>
      <p:sp>
        <p:nvSpPr>
          <p:cNvPr id="4" name="Date Placeholder 3">
            <a:extLst>
              <a:ext uri="{FF2B5EF4-FFF2-40B4-BE49-F238E27FC236}">
                <a16:creationId xmlns:a16="http://schemas.microsoft.com/office/drawing/2014/main" id="{3FFA6277-9235-1F78-3901-3586DD11F1D7}"/>
              </a:ext>
            </a:extLst>
          </p:cNvPr>
          <p:cNvSpPr>
            <a:spLocks noGrp="1"/>
          </p:cNvSpPr>
          <p:nvPr>
            <p:ph type="dt" sz="half" idx="10"/>
          </p:nvPr>
        </p:nvSpPr>
        <p:spPr/>
        <p:txBody>
          <a:bodyPr/>
          <a:lstStyle/>
          <a:p>
            <a:fld id="{93182CD3-D74F-0745-8546-D0914EDA58C9}" type="datetimeFigureOut">
              <a:rPr lang="en-BD" smtClean="0"/>
              <a:t>20/3/23</a:t>
            </a:fld>
            <a:endParaRPr lang="en-BD"/>
          </a:p>
        </p:txBody>
      </p:sp>
      <p:sp>
        <p:nvSpPr>
          <p:cNvPr id="5" name="Footer Placeholder 4">
            <a:extLst>
              <a:ext uri="{FF2B5EF4-FFF2-40B4-BE49-F238E27FC236}">
                <a16:creationId xmlns:a16="http://schemas.microsoft.com/office/drawing/2014/main" id="{0F2EDE41-40EC-83DC-DDCD-04E3899248F7}"/>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7228CCCD-9871-480D-3420-FAD753ADBC82}"/>
              </a:ext>
            </a:extLst>
          </p:cNvPr>
          <p:cNvSpPr>
            <a:spLocks noGrp="1"/>
          </p:cNvSpPr>
          <p:nvPr>
            <p:ph type="sldNum" sz="quarter" idx="12"/>
          </p:nvPr>
        </p:nvSpPr>
        <p:spPr/>
        <p:txBody>
          <a:bodyPr/>
          <a:lstStyle/>
          <a:p>
            <a:fld id="{6A638227-356B-B44C-99CC-19C444AA0C55}" type="slidenum">
              <a:rPr lang="en-BD" smtClean="0"/>
              <a:t>‹#›</a:t>
            </a:fld>
            <a:endParaRPr lang="en-BD"/>
          </a:p>
        </p:txBody>
      </p:sp>
    </p:spTree>
    <p:extLst>
      <p:ext uri="{BB962C8B-B14F-4D97-AF65-F5344CB8AC3E}">
        <p14:creationId xmlns:p14="http://schemas.microsoft.com/office/powerpoint/2010/main" val="4081305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02F81-68C4-E121-E411-F939010F1440}"/>
              </a:ext>
            </a:extLst>
          </p:cNvPr>
          <p:cNvSpPr>
            <a:spLocks noGrp="1"/>
          </p:cNvSpPr>
          <p:nvPr>
            <p:ph type="title"/>
          </p:nvPr>
        </p:nvSpPr>
        <p:spPr/>
        <p:txBody>
          <a:bodyPr/>
          <a:lstStyle/>
          <a:p>
            <a:r>
              <a:rPr lang="en-GB"/>
              <a:t>Click to edit Master title style</a:t>
            </a:r>
            <a:endParaRPr lang="en-BD"/>
          </a:p>
        </p:txBody>
      </p:sp>
      <p:sp>
        <p:nvSpPr>
          <p:cNvPr id="3" name="Content Placeholder 2">
            <a:extLst>
              <a:ext uri="{FF2B5EF4-FFF2-40B4-BE49-F238E27FC236}">
                <a16:creationId xmlns:a16="http://schemas.microsoft.com/office/drawing/2014/main" id="{7759C392-B837-84BE-C571-C056A694140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068509C3-6D9D-3173-87C1-E0ED5A8A7211}"/>
              </a:ext>
            </a:extLst>
          </p:cNvPr>
          <p:cNvSpPr>
            <a:spLocks noGrp="1"/>
          </p:cNvSpPr>
          <p:nvPr>
            <p:ph type="dt" sz="half" idx="10"/>
          </p:nvPr>
        </p:nvSpPr>
        <p:spPr/>
        <p:txBody>
          <a:bodyPr/>
          <a:lstStyle/>
          <a:p>
            <a:fld id="{93182CD3-D74F-0745-8546-D0914EDA58C9}" type="datetimeFigureOut">
              <a:rPr lang="en-BD" smtClean="0"/>
              <a:t>20/3/23</a:t>
            </a:fld>
            <a:endParaRPr lang="en-BD"/>
          </a:p>
        </p:txBody>
      </p:sp>
      <p:sp>
        <p:nvSpPr>
          <p:cNvPr id="5" name="Footer Placeholder 4">
            <a:extLst>
              <a:ext uri="{FF2B5EF4-FFF2-40B4-BE49-F238E27FC236}">
                <a16:creationId xmlns:a16="http://schemas.microsoft.com/office/drawing/2014/main" id="{FE2C5BD3-2FCF-95E9-D68A-E13B295285F5}"/>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B97AD9F5-4FBB-3F5F-904F-8D2F26A536A5}"/>
              </a:ext>
            </a:extLst>
          </p:cNvPr>
          <p:cNvSpPr>
            <a:spLocks noGrp="1"/>
          </p:cNvSpPr>
          <p:nvPr>
            <p:ph type="sldNum" sz="quarter" idx="12"/>
          </p:nvPr>
        </p:nvSpPr>
        <p:spPr/>
        <p:txBody>
          <a:bodyPr/>
          <a:lstStyle/>
          <a:p>
            <a:fld id="{6A638227-356B-B44C-99CC-19C444AA0C55}" type="slidenum">
              <a:rPr lang="en-BD" smtClean="0"/>
              <a:t>‹#›</a:t>
            </a:fld>
            <a:endParaRPr lang="en-BD"/>
          </a:p>
        </p:txBody>
      </p:sp>
    </p:spTree>
    <p:extLst>
      <p:ext uri="{BB962C8B-B14F-4D97-AF65-F5344CB8AC3E}">
        <p14:creationId xmlns:p14="http://schemas.microsoft.com/office/powerpoint/2010/main" val="421687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2192-DDD6-2EF7-4E73-1F96E2CD6A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D"/>
          </a:p>
        </p:txBody>
      </p:sp>
      <p:sp>
        <p:nvSpPr>
          <p:cNvPr id="3" name="Text Placeholder 2">
            <a:extLst>
              <a:ext uri="{FF2B5EF4-FFF2-40B4-BE49-F238E27FC236}">
                <a16:creationId xmlns:a16="http://schemas.microsoft.com/office/drawing/2014/main" id="{DCF78992-C188-6319-7E0F-59D1F45720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32FFFB5-053D-EBE6-444C-F85E8D20E733}"/>
              </a:ext>
            </a:extLst>
          </p:cNvPr>
          <p:cNvSpPr>
            <a:spLocks noGrp="1"/>
          </p:cNvSpPr>
          <p:nvPr>
            <p:ph type="dt" sz="half" idx="10"/>
          </p:nvPr>
        </p:nvSpPr>
        <p:spPr/>
        <p:txBody>
          <a:bodyPr/>
          <a:lstStyle/>
          <a:p>
            <a:fld id="{93182CD3-D74F-0745-8546-D0914EDA58C9}" type="datetimeFigureOut">
              <a:rPr lang="en-BD" smtClean="0"/>
              <a:t>20/3/23</a:t>
            </a:fld>
            <a:endParaRPr lang="en-BD"/>
          </a:p>
        </p:txBody>
      </p:sp>
      <p:sp>
        <p:nvSpPr>
          <p:cNvPr id="5" name="Footer Placeholder 4">
            <a:extLst>
              <a:ext uri="{FF2B5EF4-FFF2-40B4-BE49-F238E27FC236}">
                <a16:creationId xmlns:a16="http://schemas.microsoft.com/office/drawing/2014/main" id="{AB4179E8-59FD-443C-4429-FB970A4111B2}"/>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BA826822-2EFD-B2DF-0482-C461C12509B9}"/>
              </a:ext>
            </a:extLst>
          </p:cNvPr>
          <p:cNvSpPr>
            <a:spLocks noGrp="1"/>
          </p:cNvSpPr>
          <p:nvPr>
            <p:ph type="sldNum" sz="quarter" idx="12"/>
          </p:nvPr>
        </p:nvSpPr>
        <p:spPr/>
        <p:txBody>
          <a:bodyPr/>
          <a:lstStyle/>
          <a:p>
            <a:fld id="{6A638227-356B-B44C-99CC-19C444AA0C55}" type="slidenum">
              <a:rPr lang="en-BD" smtClean="0"/>
              <a:t>‹#›</a:t>
            </a:fld>
            <a:endParaRPr lang="en-BD"/>
          </a:p>
        </p:txBody>
      </p:sp>
    </p:spTree>
    <p:extLst>
      <p:ext uri="{BB962C8B-B14F-4D97-AF65-F5344CB8AC3E}">
        <p14:creationId xmlns:p14="http://schemas.microsoft.com/office/powerpoint/2010/main" val="1881175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650A5-F776-6F83-16F8-E2FBCF4F9D6E}"/>
              </a:ext>
            </a:extLst>
          </p:cNvPr>
          <p:cNvSpPr>
            <a:spLocks noGrp="1"/>
          </p:cNvSpPr>
          <p:nvPr>
            <p:ph type="title"/>
          </p:nvPr>
        </p:nvSpPr>
        <p:spPr/>
        <p:txBody>
          <a:bodyPr/>
          <a:lstStyle/>
          <a:p>
            <a:r>
              <a:rPr lang="en-GB"/>
              <a:t>Click to edit Master title style</a:t>
            </a:r>
            <a:endParaRPr lang="en-BD"/>
          </a:p>
        </p:txBody>
      </p:sp>
      <p:sp>
        <p:nvSpPr>
          <p:cNvPr id="3" name="Content Placeholder 2">
            <a:extLst>
              <a:ext uri="{FF2B5EF4-FFF2-40B4-BE49-F238E27FC236}">
                <a16:creationId xmlns:a16="http://schemas.microsoft.com/office/drawing/2014/main" id="{88F31C38-05D6-B9A7-B361-9F896C85D4A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Content Placeholder 3">
            <a:extLst>
              <a:ext uri="{FF2B5EF4-FFF2-40B4-BE49-F238E27FC236}">
                <a16:creationId xmlns:a16="http://schemas.microsoft.com/office/drawing/2014/main" id="{01B6C2D7-0DEC-0A92-6C45-2BA7D0DFA23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5" name="Date Placeholder 4">
            <a:extLst>
              <a:ext uri="{FF2B5EF4-FFF2-40B4-BE49-F238E27FC236}">
                <a16:creationId xmlns:a16="http://schemas.microsoft.com/office/drawing/2014/main" id="{87A15398-C90F-616F-DF43-635186882C00}"/>
              </a:ext>
            </a:extLst>
          </p:cNvPr>
          <p:cNvSpPr>
            <a:spLocks noGrp="1"/>
          </p:cNvSpPr>
          <p:nvPr>
            <p:ph type="dt" sz="half" idx="10"/>
          </p:nvPr>
        </p:nvSpPr>
        <p:spPr/>
        <p:txBody>
          <a:bodyPr/>
          <a:lstStyle/>
          <a:p>
            <a:fld id="{93182CD3-D74F-0745-8546-D0914EDA58C9}" type="datetimeFigureOut">
              <a:rPr lang="en-BD" smtClean="0"/>
              <a:t>20/3/23</a:t>
            </a:fld>
            <a:endParaRPr lang="en-BD"/>
          </a:p>
        </p:txBody>
      </p:sp>
      <p:sp>
        <p:nvSpPr>
          <p:cNvPr id="6" name="Footer Placeholder 5">
            <a:extLst>
              <a:ext uri="{FF2B5EF4-FFF2-40B4-BE49-F238E27FC236}">
                <a16:creationId xmlns:a16="http://schemas.microsoft.com/office/drawing/2014/main" id="{A89F8FE9-BD3D-3F52-2211-C1954D06DB24}"/>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BF7A1699-5D5A-3964-008D-E573EFA4BFC2}"/>
              </a:ext>
            </a:extLst>
          </p:cNvPr>
          <p:cNvSpPr>
            <a:spLocks noGrp="1"/>
          </p:cNvSpPr>
          <p:nvPr>
            <p:ph type="sldNum" sz="quarter" idx="12"/>
          </p:nvPr>
        </p:nvSpPr>
        <p:spPr/>
        <p:txBody>
          <a:bodyPr/>
          <a:lstStyle/>
          <a:p>
            <a:fld id="{6A638227-356B-B44C-99CC-19C444AA0C55}" type="slidenum">
              <a:rPr lang="en-BD" smtClean="0"/>
              <a:t>‹#›</a:t>
            </a:fld>
            <a:endParaRPr lang="en-BD"/>
          </a:p>
        </p:txBody>
      </p:sp>
    </p:spTree>
    <p:extLst>
      <p:ext uri="{BB962C8B-B14F-4D97-AF65-F5344CB8AC3E}">
        <p14:creationId xmlns:p14="http://schemas.microsoft.com/office/powerpoint/2010/main" val="1250539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1181B-FF1B-C414-55E4-44668E12D278}"/>
              </a:ext>
            </a:extLst>
          </p:cNvPr>
          <p:cNvSpPr>
            <a:spLocks noGrp="1"/>
          </p:cNvSpPr>
          <p:nvPr>
            <p:ph type="title"/>
          </p:nvPr>
        </p:nvSpPr>
        <p:spPr>
          <a:xfrm>
            <a:off x="839788" y="365125"/>
            <a:ext cx="10515600" cy="1325563"/>
          </a:xfrm>
        </p:spPr>
        <p:txBody>
          <a:bodyPr/>
          <a:lstStyle/>
          <a:p>
            <a:r>
              <a:rPr lang="en-GB"/>
              <a:t>Click to edit Master title style</a:t>
            </a:r>
            <a:endParaRPr lang="en-BD"/>
          </a:p>
        </p:txBody>
      </p:sp>
      <p:sp>
        <p:nvSpPr>
          <p:cNvPr id="3" name="Text Placeholder 2">
            <a:extLst>
              <a:ext uri="{FF2B5EF4-FFF2-40B4-BE49-F238E27FC236}">
                <a16:creationId xmlns:a16="http://schemas.microsoft.com/office/drawing/2014/main" id="{559358F7-97B7-AAE5-225D-27CACFF48A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774C1FE-3AF9-0B70-EFC0-53A3415D792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5" name="Text Placeholder 4">
            <a:extLst>
              <a:ext uri="{FF2B5EF4-FFF2-40B4-BE49-F238E27FC236}">
                <a16:creationId xmlns:a16="http://schemas.microsoft.com/office/drawing/2014/main" id="{B0309C34-C2C0-710E-378D-1D3C82F1F8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3E394FA-551D-1B62-F137-F1B4244EF00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7" name="Date Placeholder 6">
            <a:extLst>
              <a:ext uri="{FF2B5EF4-FFF2-40B4-BE49-F238E27FC236}">
                <a16:creationId xmlns:a16="http://schemas.microsoft.com/office/drawing/2014/main" id="{5163AC42-612D-5B3E-5CF2-0EBEAB16D162}"/>
              </a:ext>
            </a:extLst>
          </p:cNvPr>
          <p:cNvSpPr>
            <a:spLocks noGrp="1"/>
          </p:cNvSpPr>
          <p:nvPr>
            <p:ph type="dt" sz="half" idx="10"/>
          </p:nvPr>
        </p:nvSpPr>
        <p:spPr/>
        <p:txBody>
          <a:bodyPr/>
          <a:lstStyle/>
          <a:p>
            <a:fld id="{93182CD3-D74F-0745-8546-D0914EDA58C9}" type="datetimeFigureOut">
              <a:rPr lang="en-BD" smtClean="0"/>
              <a:t>20/3/23</a:t>
            </a:fld>
            <a:endParaRPr lang="en-BD"/>
          </a:p>
        </p:txBody>
      </p:sp>
      <p:sp>
        <p:nvSpPr>
          <p:cNvPr id="8" name="Footer Placeholder 7">
            <a:extLst>
              <a:ext uri="{FF2B5EF4-FFF2-40B4-BE49-F238E27FC236}">
                <a16:creationId xmlns:a16="http://schemas.microsoft.com/office/drawing/2014/main" id="{F1986057-8F1E-40C2-CF80-99BFF01C8D2F}"/>
              </a:ext>
            </a:extLst>
          </p:cNvPr>
          <p:cNvSpPr>
            <a:spLocks noGrp="1"/>
          </p:cNvSpPr>
          <p:nvPr>
            <p:ph type="ftr" sz="quarter" idx="11"/>
          </p:nvPr>
        </p:nvSpPr>
        <p:spPr/>
        <p:txBody>
          <a:bodyPr/>
          <a:lstStyle/>
          <a:p>
            <a:endParaRPr lang="en-BD"/>
          </a:p>
        </p:txBody>
      </p:sp>
      <p:sp>
        <p:nvSpPr>
          <p:cNvPr id="9" name="Slide Number Placeholder 8">
            <a:extLst>
              <a:ext uri="{FF2B5EF4-FFF2-40B4-BE49-F238E27FC236}">
                <a16:creationId xmlns:a16="http://schemas.microsoft.com/office/drawing/2014/main" id="{2FAB527C-8740-3B8C-3142-4B48E0885E6E}"/>
              </a:ext>
            </a:extLst>
          </p:cNvPr>
          <p:cNvSpPr>
            <a:spLocks noGrp="1"/>
          </p:cNvSpPr>
          <p:nvPr>
            <p:ph type="sldNum" sz="quarter" idx="12"/>
          </p:nvPr>
        </p:nvSpPr>
        <p:spPr/>
        <p:txBody>
          <a:bodyPr/>
          <a:lstStyle/>
          <a:p>
            <a:fld id="{6A638227-356B-B44C-99CC-19C444AA0C55}" type="slidenum">
              <a:rPr lang="en-BD" smtClean="0"/>
              <a:t>‹#›</a:t>
            </a:fld>
            <a:endParaRPr lang="en-BD"/>
          </a:p>
        </p:txBody>
      </p:sp>
    </p:spTree>
    <p:extLst>
      <p:ext uri="{BB962C8B-B14F-4D97-AF65-F5344CB8AC3E}">
        <p14:creationId xmlns:p14="http://schemas.microsoft.com/office/powerpoint/2010/main" val="1957406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EF671-DBAC-AD21-683A-E354A8A5D888}"/>
              </a:ext>
            </a:extLst>
          </p:cNvPr>
          <p:cNvSpPr>
            <a:spLocks noGrp="1"/>
          </p:cNvSpPr>
          <p:nvPr>
            <p:ph type="title"/>
          </p:nvPr>
        </p:nvSpPr>
        <p:spPr/>
        <p:txBody>
          <a:bodyPr/>
          <a:lstStyle/>
          <a:p>
            <a:r>
              <a:rPr lang="en-GB"/>
              <a:t>Click to edit Master title style</a:t>
            </a:r>
            <a:endParaRPr lang="en-BD"/>
          </a:p>
        </p:txBody>
      </p:sp>
      <p:sp>
        <p:nvSpPr>
          <p:cNvPr id="3" name="Date Placeholder 2">
            <a:extLst>
              <a:ext uri="{FF2B5EF4-FFF2-40B4-BE49-F238E27FC236}">
                <a16:creationId xmlns:a16="http://schemas.microsoft.com/office/drawing/2014/main" id="{C8BE0C93-EE17-3FEB-2130-8334C348FDB6}"/>
              </a:ext>
            </a:extLst>
          </p:cNvPr>
          <p:cNvSpPr>
            <a:spLocks noGrp="1"/>
          </p:cNvSpPr>
          <p:nvPr>
            <p:ph type="dt" sz="half" idx="10"/>
          </p:nvPr>
        </p:nvSpPr>
        <p:spPr/>
        <p:txBody>
          <a:bodyPr/>
          <a:lstStyle/>
          <a:p>
            <a:fld id="{93182CD3-D74F-0745-8546-D0914EDA58C9}" type="datetimeFigureOut">
              <a:rPr lang="en-BD" smtClean="0"/>
              <a:t>20/3/23</a:t>
            </a:fld>
            <a:endParaRPr lang="en-BD"/>
          </a:p>
        </p:txBody>
      </p:sp>
      <p:sp>
        <p:nvSpPr>
          <p:cNvPr id="4" name="Footer Placeholder 3">
            <a:extLst>
              <a:ext uri="{FF2B5EF4-FFF2-40B4-BE49-F238E27FC236}">
                <a16:creationId xmlns:a16="http://schemas.microsoft.com/office/drawing/2014/main" id="{52657EF7-66C7-1C2D-77AA-2349C92F3EC9}"/>
              </a:ext>
            </a:extLst>
          </p:cNvPr>
          <p:cNvSpPr>
            <a:spLocks noGrp="1"/>
          </p:cNvSpPr>
          <p:nvPr>
            <p:ph type="ftr" sz="quarter" idx="11"/>
          </p:nvPr>
        </p:nvSpPr>
        <p:spPr/>
        <p:txBody>
          <a:bodyPr/>
          <a:lstStyle/>
          <a:p>
            <a:endParaRPr lang="en-BD"/>
          </a:p>
        </p:txBody>
      </p:sp>
      <p:sp>
        <p:nvSpPr>
          <p:cNvPr id="5" name="Slide Number Placeholder 4">
            <a:extLst>
              <a:ext uri="{FF2B5EF4-FFF2-40B4-BE49-F238E27FC236}">
                <a16:creationId xmlns:a16="http://schemas.microsoft.com/office/drawing/2014/main" id="{967F3EF8-83C5-EAFC-9F8F-1E4CCF88CF9F}"/>
              </a:ext>
            </a:extLst>
          </p:cNvPr>
          <p:cNvSpPr>
            <a:spLocks noGrp="1"/>
          </p:cNvSpPr>
          <p:nvPr>
            <p:ph type="sldNum" sz="quarter" idx="12"/>
          </p:nvPr>
        </p:nvSpPr>
        <p:spPr/>
        <p:txBody>
          <a:bodyPr/>
          <a:lstStyle/>
          <a:p>
            <a:fld id="{6A638227-356B-B44C-99CC-19C444AA0C55}" type="slidenum">
              <a:rPr lang="en-BD" smtClean="0"/>
              <a:t>‹#›</a:t>
            </a:fld>
            <a:endParaRPr lang="en-BD"/>
          </a:p>
        </p:txBody>
      </p:sp>
    </p:spTree>
    <p:extLst>
      <p:ext uri="{BB962C8B-B14F-4D97-AF65-F5344CB8AC3E}">
        <p14:creationId xmlns:p14="http://schemas.microsoft.com/office/powerpoint/2010/main" val="783936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7E5AB1-69C6-63A8-AA7B-016621FBAD03}"/>
              </a:ext>
            </a:extLst>
          </p:cNvPr>
          <p:cNvSpPr>
            <a:spLocks noGrp="1"/>
          </p:cNvSpPr>
          <p:nvPr>
            <p:ph type="dt" sz="half" idx="10"/>
          </p:nvPr>
        </p:nvSpPr>
        <p:spPr/>
        <p:txBody>
          <a:bodyPr/>
          <a:lstStyle/>
          <a:p>
            <a:fld id="{93182CD3-D74F-0745-8546-D0914EDA58C9}" type="datetimeFigureOut">
              <a:rPr lang="en-BD" smtClean="0"/>
              <a:t>20/3/23</a:t>
            </a:fld>
            <a:endParaRPr lang="en-BD"/>
          </a:p>
        </p:txBody>
      </p:sp>
      <p:sp>
        <p:nvSpPr>
          <p:cNvPr id="3" name="Footer Placeholder 2">
            <a:extLst>
              <a:ext uri="{FF2B5EF4-FFF2-40B4-BE49-F238E27FC236}">
                <a16:creationId xmlns:a16="http://schemas.microsoft.com/office/drawing/2014/main" id="{327C4D8D-006E-CCD7-3DE8-53C81AD8A60B}"/>
              </a:ext>
            </a:extLst>
          </p:cNvPr>
          <p:cNvSpPr>
            <a:spLocks noGrp="1"/>
          </p:cNvSpPr>
          <p:nvPr>
            <p:ph type="ftr" sz="quarter" idx="11"/>
          </p:nvPr>
        </p:nvSpPr>
        <p:spPr/>
        <p:txBody>
          <a:bodyPr/>
          <a:lstStyle/>
          <a:p>
            <a:endParaRPr lang="en-BD"/>
          </a:p>
        </p:txBody>
      </p:sp>
      <p:sp>
        <p:nvSpPr>
          <p:cNvPr id="4" name="Slide Number Placeholder 3">
            <a:extLst>
              <a:ext uri="{FF2B5EF4-FFF2-40B4-BE49-F238E27FC236}">
                <a16:creationId xmlns:a16="http://schemas.microsoft.com/office/drawing/2014/main" id="{D0913D76-0E52-0DC1-DE26-529DD5B09964}"/>
              </a:ext>
            </a:extLst>
          </p:cNvPr>
          <p:cNvSpPr>
            <a:spLocks noGrp="1"/>
          </p:cNvSpPr>
          <p:nvPr>
            <p:ph type="sldNum" sz="quarter" idx="12"/>
          </p:nvPr>
        </p:nvSpPr>
        <p:spPr/>
        <p:txBody>
          <a:bodyPr/>
          <a:lstStyle/>
          <a:p>
            <a:fld id="{6A638227-356B-B44C-99CC-19C444AA0C55}" type="slidenum">
              <a:rPr lang="en-BD" smtClean="0"/>
              <a:t>‹#›</a:t>
            </a:fld>
            <a:endParaRPr lang="en-BD"/>
          </a:p>
        </p:txBody>
      </p:sp>
    </p:spTree>
    <p:extLst>
      <p:ext uri="{BB962C8B-B14F-4D97-AF65-F5344CB8AC3E}">
        <p14:creationId xmlns:p14="http://schemas.microsoft.com/office/powerpoint/2010/main" val="683828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8718E-D519-7595-07B9-57DB3AB796B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D"/>
          </a:p>
        </p:txBody>
      </p:sp>
      <p:sp>
        <p:nvSpPr>
          <p:cNvPr id="3" name="Content Placeholder 2">
            <a:extLst>
              <a:ext uri="{FF2B5EF4-FFF2-40B4-BE49-F238E27FC236}">
                <a16:creationId xmlns:a16="http://schemas.microsoft.com/office/drawing/2014/main" id="{E82E547B-4CCF-1477-317D-490BD0EB64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Text Placeholder 3">
            <a:extLst>
              <a:ext uri="{FF2B5EF4-FFF2-40B4-BE49-F238E27FC236}">
                <a16:creationId xmlns:a16="http://schemas.microsoft.com/office/drawing/2014/main" id="{471B72F0-AE72-7687-545C-71ACABF47E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CECE53-525F-F4E7-A7E2-AB023F2C5DDC}"/>
              </a:ext>
            </a:extLst>
          </p:cNvPr>
          <p:cNvSpPr>
            <a:spLocks noGrp="1"/>
          </p:cNvSpPr>
          <p:nvPr>
            <p:ph type="dt" sz="half" idx="10"/>
          </p:nvPr>
        </p:nvSpPr>
        <p:spPr/>
        <p:txBody>
          <a:bodyPr/>
          <a:lstStyle/>
          <a:p>
            <a:fld id="{93182CD3-D74F-0745-8546-D0914EDA58C9}" type="datetimeFigureOut">
              <a:rPr lang="en-BD" smtClean="0"/>
              <a:t>20/3/23</a:t>
            </a:fld>
            <a:endParaRPr lang="en-BD"/>
          </a:p>
        </p:txBody>
      </p:sp>
      <p:sp>
        <p:nvSpPr>
          <p:cNvPr id="6" name="Footer Placeholder 5">
            <a:extLst>
              <a:ext uri="{FF2B5EF4-FFF2-40B4-BE49-F238E27FC236}">
                <a16:creationId xmlns:a16="http://schemas.microsoft.com/office/drawing/2014/main" id="{3F1FF5DA-2A1A-C599-82AB-5EEEDFC1A1D4}"/>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445E7F8F-90AB-6D6C-1CEE-AE669A298454}"/>
              </a:ext>
            </a:extLst>
          </p:cNvPr>
          <p:cNvSpPr>
            <a:spLocks noGrp="1"/>
          </p:cNvSpPr>
          <p:nvPr>
            <p:ph type="sldNum" sz="quarter" idx="12"/>
          </p:nvPr>
        </p:nvSpPr>
        <p:spPr/>
        <p:txBody>
          <a:bodyPr/>
          <a:lstStyle/>
          <a:p>
            <a:fld id="{6A638227-356B-B44C-99CC-19C444AA0C55}" type="slidenum">
              <a:rPr lang="en-BD" smtClean="0"/>
              <a:t>‹#›</a:t>
            </a:fld>
            <a:endParaRPr lang="en-BD"/>
          </a:p>
        </p:txBody>
      </p:sp>
    </p:spTree>
    <p:extLst>
      <p:ext uri="{BB962C8B-B14F-4D97-AF65-F5344CB8AC3E}">
        <p14:creationId xmlns:p14="http://schemas.microsoft.com/office/powerpoint/2010/main" val="1154300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F87CB-F83C-2DC6-310B-30AB7BA1E8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D"/>
          </a:p>
        </p:txBody>
      </p:sp>
      <p:sp>
        <p:nvSpPr>
          <p:cNvPr id="3" name="Picture Placeholder 2">
            <a:extLst>
              <a:ext uri="{FF2B5EF4-FFF2-40B4-BE49-F238E27FC236}">
                <a16:creationId xmlns:a16="http://schemas.microsoft.com/office/drawing/2014/main" id="{B0DBE660-3644-C089-A7F8-3B09917977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D"/>
          </a:p>
        </p:txBody>
      </p:sp>
      <p:sp>
        <p:nvSpPr>
          <p:cNvPr id="4" name="Text Placeholder 3">
            <a:extLst>
              <a:ext uri="{FF2B5EF4-FFF2-40B4-BE49-F238E27FC236}">
                <a16:creationId xmlns:a16="http://schemas.microsoft.com/office/drawing/2014/main" id="{89E42A3D-875A-C111-403A-8E585719A8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6932CB7-3042-C21D-0496-532A8AB196C2}"/>
              </a:ext>
            </a:extLst>
          </p:cNvPr>
          <p:cNvSpPr>
            <a:spLocks noGrp="1"/>
          </p:cNvSpPr>
          <p:nvPr>
            <p:ph type="dt" sz="half" idx="10"/>
          </p:nvPr>
        </p:nvSpPr>
        <p:spPr/>
        <p:txBody>
          <a:bodyPr/>
          <a:lstStyle/>
          <a:p>
            <a:fld id="{93182CD3-D74F-0745-8546-D0914EDA58C9}" type="datetimeFigureOut">
              <a:rPr lang="en-BD" smtClean="0"/>
              <a:t>20/3/23</a:t>
            </a:fld>
            <a:endParaRPr lang="en-BD"/>
          </a:p>
        </p:txBody>
      </p:sp>
      <p:sp>
        <p:nvSpPr>
          <p:cNvPr id="6" name="Footer Placeholder 5">
            <a:extLst>
              <a:ext uri="{FF2B5EF4-FFF2-40B4-BE49-F238E27FC236}">
                <a16:creationId xmlns:a16="http://schemas.microsoft.com/office/drawing/2014/main" id="{2909AC2C-910D-115A-C95A-4D29B85075E5}"/>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0470810F-ADE3-80D2-1BD2-D4B62EEC03CC}"/>
              </a:ext>
            </a:extLst>
          </p:cNvPr>
          <p:cNvSpPr>
            <a:spLocks noGrp="1"/>
          </p:cNvSpPr>
          <p:nvPr>
            <p:ph type="sldNum" sz="quarter" idx="12"/>
          </p:nvPr>
        </p:nvSpPr>
        <p:spPr/>
        <p:txBody>
          <a:bodyPr/>
          <a:lstStyle/>
          <a:p>
            <a:fld id="{6A638227-356B-B44C-99CC-19C444AA0C55}" type="slidenum">
              <a:rPr lang="en-BD" smtClean="0"/>
              <a:t>‹#›</a:t>
            </a:fld>
            <a:endParaRPr lang="en-BD"/>
          </a:p>
        </p:txBody>
      </p:sp>
    </p:spTree>
    <p:extLst>
      <p:ext uri="{BB962C8B-B14F-4D97-AF65-F5344CB8AC3E}">
        <p14:creationId xmlns:p14="http://schemas.microsoft.com/office/powerpoint/2010/main" val="2646763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4B715-54FF-5DE3-F0EC-D3FA031A7E6B}"/>
              </a:ext>
            </a:extLst>
          </p:cNvPr>
          <p:cNvSpPr>
            <a:spLocks noGrp="1"/>
          </p:cNvSpPr>
          <p:nvPr>
            <p:ph type="title"/>
          </p:nvPr>
        </p:nvSpPr>
        <p:spPr/>
        <p:txBody>
          <a:bodyPr/>
          <a:lstStyle/>
          <a:p>
            <a:r>
              <a:rPr lang="en-GB"/>
              <a:t>Click to edit Master title style</a:t>
            </a:r>
            <a:endParaRPr lang="en-BD"/>
          </a:p>
        </p:txBody>
      </p:sp>
      <p:sp>
        <p:nvSpPr>
          <p:cNvPr id="3" name="Vertical Text Placeholder 2">
            <a:extLst>
              <a:ext uri="{FF2B5EF4-FFF2-40B4-BE49-F238E27FC236}">
                <a16:creationId xmlns:a16="http://schemas.microsoft.com/office/drawing/2014/main" id="{C8E4A33C-F84E-A56C-1F2C-BA615848B4C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2EA995C4-B7F1-1ECA-E584-1470DD47CDE2}"/>
              </a:ext>
            </a:extLst>
          </p:cNvPr>
          <p:cNvSpPr>
            <a:spLocks noGrp="1"/>
          </p:cNvSpPr>
          <p:nvPr>
            <p:ph type="dt" sz="half" idx="10"/>
          </p:nvPr>
        </p:nvSpPr>
        <p:spPr/>
        <p:txBody>
          <a:bodyPr/>
          <a:lstStyle/>
          <a:p>
            <a:fld id="{93182CD3-D74F-0745-8546-D0914EDA58C9}" type="datetimeFigureOut">
              <a:rPr lang="en-BD" smtClean="0"/>
              <a:t>20/3/23</a:t>
            </a:fld>
            <a:endParaRPr lang="en-BD"/>
          </a:p>
        </p:txBody>
      </p:sp>
      <p:sp>
        <p:nvSpPr>
          <p:cNvPr id="5" name="Footer Placeholder 4">
            <a:extLst>
              <a:ext uri="{FF2B5EF4-FFF2-40B4-BE49-F238E27FC236}">
                <a16:creationId xmlns:a16="http://schemas.microsoft.com/office/drawing/2014/main" id="{FADB265D-BCF8-7B57-A88A-001F4208BAED}"/>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D9F22FD0-DEE8-E321-1AA3-C67D786E0B59}"/>
              </a:ext>
            </a:extLst>
          </p:cNvPr>
          <p:cNvSpPr>
            <a:spLocks noGrp="1"/>
          </p:cNvSpPr>
          <p:nvPr>
            <p:ph type="sldNum" sz="quarter" idx="12"/>
          </p:nvPr>
        </p:nvSpPr>
        <p:spPr/>
        <p:txBody>
          <a:bodyPr/>
          <a:lstStyle/>
          <a:p>
            <a:fld id="{6A638227-356B-B44C-99CC-19C444AA0C55}" type="slidenum">
              <a:rPr lang="en-BD" smtClean="0"/>
              <a:t>‹#›</a:t>
            </a:fld>
            <a:endParaRPr lang="en-BD"/>
          </a:p>
        </p:txBody>
      </p:sp>
    </p:spTree>
    <p:extLst>
      <p:ext uri="{BB962C8B-B14F-4D97-AF65-F5344CB8AC3E}">
        <p14:creationId xmlns:p14="http://schemas.microsoft.com/office/powerpoint/2010/main" val="689869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11777F-F942-E6EC-7D77-A4D8849B0B5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D"/>
          </a:p>
        </p:txBody>
      </p:sp>
      <p:sp>
        <p:nvSpPr>
          <p:cNvPr id="3" name="Vertical Text Placeholder 2">
            <a:extLst>
              <a:ext uri="{FF2B5EF4-FFF2-40B4-BE49-F238E27FC236}">
                <a16:creationId xmlns:a16="http://schemas.microsoft.com/office/drawing/2014/main" id="{95DF5AB9-EE2F-7624-A312-44CD5333E33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9CF805FB-DC4A-C982-6DE7-BA16BEF795D1}"/>
              </a:ext>
            </a:extLst>
          </p:cNvPr>
          <p:cNvSpPr>
            <a:spLocks noGrp="1"/>
          </p:cNvSpPr>
          <p:nvPr>
            <p:ph type="dt" sz="half" idx="10"/>
          </p:nvPr>
        </p:nvSpPr>
        <p:spPr/>
        <p:txBody>
          <a:bodyPr/>
          <a:lstStyle/>
          <a:p>
            <a:fld id="{93182CD3-D74F-0745-8546-D0914EDA58C9}" type="datetimeFigureOut">
              <a:rPr lang="en-BD" smtClean="0"/>
              <a:t>20/3/23</a:t>
            </a:fld>
            <a:endParaRPr lang="en-BD"/>
          </a:p>
        </p:txBody>
      </p:sp>
      <p:sp>
        <p:nvSpPr>
          <p:cNvPr id="5" name="Footer Placeholder 4">
            <a:extLst>
              <a:ext uri="{FF2B5EF4-FFF2-40B4-BE49-F238E27FC236}">
                <a16:creationId xmlns:a16="http://schemas.microsoft.com/office/drawing/2014/main" id="{65ABC985-92BB-B96C-F427-8D1F6383E0CE}"/>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E6D24F73-820C-7ABF-718B-10EBE5B63436}"/>
              </a:ext>
            </a:extLst>
          </p:cNvPr>
          <p:cNvSpPr>
            <a:spLocks noGrp="1"/>
          </p:cNvSpPr>
          <p:nvPr>
            <p:ph type="sldNum" sz="quarter" idx="12"/>
          </p:nvPr>
        </p:nvSpPr>
        <p:spPr/>
        <p:txBody>
          <a:bodyPr/>
          <a:lstStyle/>
          <a:p>
            <a:fld id="{6A638227-356B-B44C-99CC-19C444AA0C55}" type="slidenum">
              <a:rPr lang="en-BD" smtClean="0"/>
              <a:t>‹#›</a:t>
            </a:fld>
            <a:endParaRPr lang="en-BD"/>
          </a:p>
        </p:txBody>
      </p:sp>
    </p:spTree>
    <p:extLst>
      <p:ext uri="{BB962C8B-B14F-4D97-AF65-F5344CB8AC3E}">
        <p14:creationId xmlns:p14="http://schemas.microsoft.com/office/powerpoint/2010/main" val="183327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C01236-DCA5-8F9D-74B6-962E05CE92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D"/>
          </a:p>
        </p:txBody>
      </p:sp>
      <p:sp>
        <p:nvSpPr>
          <p:cNvPr id="3" name="Text Placeholder 2">
            <a:extLst>
              <a:ext uri="{FF2B5EF4-FFF2-40B4-BE49-F238E27FC236}">
                <a16:creationId xmlns:a16="http://schemas.microsoft.com/office/drawing/2014/main" id="{CE0FF354-6030-DC48-7FC2-B7308754C6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00D05380-B5D7-A9E1-1477-DB546A82D0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182CD3-D74F-0745-8546-D0914EDA58C9}" type="datetimeFigureOut">
              <a:rPr lang="en-BD" smtClean="0"/>
              <a:t>20/3/23</a:t>
            </a:fld>
            <a:endParaRPr lang="en-BD"/>
          </a:p>
        </p:txBody>
      </p:sp>
      <p:sp>
        <p:nvSpPr>
          <p:cNvPr id="5" name="Footer Placeholder 4">
            <a:extLst>
              <a:ext uri="{FF2B5EF4-FFF2-40B4-BE49-F238E27FC236}">
                <a16:creationId xmlns:a16="http://schemas.microsoft.com/office/drawing/2014/main" id="{7620BE4C-60D5-423F-5A70-9F3AE66C2D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D"/>
          </a:p>
        </p:txBody>
      </p:sp>
      <p:sp>
        <p:nvSpPr>
          <p:cNvPr id="6" name="Slide Number Placeholder 5">
            <a:extLst>
              <a:ext uri="{FF2B5EF4-FFF2-40B4-BE49-F238E27FC236}">
                <a16:creationId xmlns:a16="http://schemas.microsoft.com/office/drawing/2014/main" id="{50504976-2637-8D0D-0D2A-2701A6A473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638227-356B-B44C-99CC-19C444AA0C55}" type="slidenum">
              <a:rPr lang="en-BD" smtClean="0"/>
              <a:t>‹#›</a:t>
            </a:fld>
            <a:endParaRPr lang="en-BD"/>
          </a:p>
        </p:txBody>
      </p:sp>
    </p:spTree>
    <p:extLst>
      <p:ext uri="{BB962C8B-B14F-4D97-AF65-F5344CB8AC3E}">
        <p14:creationId xmlns:p14="http://schemas.microsoft.com/office/powerpoint/2010/main" val="35168356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6EA4A-0FC0-191D-2D38-8D70FAFB3830}"/>
              </a:ext>
            </a:extLst>
          </p:cNvPr>
          <p:cNvSpPr>
            <a:spLocks noGrp="1"/>
          </p:cNvSpPr>
          <p:nvPr>
            <p:ph type="ctrTitle"/>
          </p:nvPr>
        </p:nvSpPr>
        <p:spPr/>
        <p:txBody>
          <a:bodyPr/>
          <a:lstStyle/>
          <a:p>
            <a:r>
              <a:rPr lang="en-BD" dirty="0"/>
              <a:t>Introduction to Web Programming</a:t>
            </a:r>
          </a:p>
        </p:txBody>
      </p:sp>
      <p:sp>
        <p:nvSpPr>
          <p:cNvPr id="3" name="Subtitle 2">
            <a:extLst>
              <a:ext uri="{FF2B5EF4-FFF2-40B4-BE49-F238E27FC236}">
                <a16:creationId xmlns:a16="http://schemas.microsoft.com/office/drawing/2014/main" id="{4A86B6F3-C568-E877-58FA-D0543D322EAF}"/>
              </a:ext>
            </a:extLst>
          </p:cNvPr>
          <p:cNvSpPr>
            <a:spLocks noGrp="1"/>
          </p:cNvSpPr>
          <p:nvPr>
            <p:ph type="subTitle" idx="1"/>
          </p:nvPr>
        </p:nvSpPr>
        <p:spPr/>
        <p:txBody>
          <a:bodyPr/>
          <a:lstStyle/>
          <a:p>
            <a:endParaRPr lang="en-BD" dirty="0"/>
          </a:p>
          <a:p>
            <a:endParaRPr lang="en-BD" dirty="0"/>
          </a:p>
        </p:txBody>
      </p:sp>
    </p:spTree>
    <p:extLst>
      <p:ext uri="{BB962C8B-B14F-4D97-AF65-F5344CB8AC3E}">
        <p14:creationId xmlns:p14="http://schemas.microsoft.com/office/powerpoint/2010/main" val="3843499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BE6F8-1FF8-1341-4CEB-6EF5FF1F7EFF}"/>
              </a:ext>
            </a:extLst>
          </p:cNvPr>
          <p:cNvSpPr>
            <a:spLocks noGrp="1"/>
          </p:cNvSpPr>
          <p:nvPr>
            <p:ph type="title"/>
          </p:nvPr>
        </p:nvSpPr>
        <p:spPr/>
        <p:txBody>
          <a:bodyPr/>
          <a:lstStyle/>
          <a:p>
            <a:r>
              <a:rPr lang="en-BD" dirty="0"/>
              <a:t>Outline</a:t>
            </a:r>
          </a:p>
        </p:txBody>
      </p:sp>
      <p:sp>
        <p:nvSpPr>
          <p:cNvPr id="3" name="Content Placeholder 2">
            <a:extLst>
              <a:ext uri="{FF2B5EF4-FFF2-40B4-BE49-F238E27FC236}">
                <a16:creationId xmlns:a16="http://schemas.microsoft.com/office/drawing/2014/main" id="{097EB756-0880-66B7-1073-ECC4561E6201}"/>
              </a:ext>
            </a:extLst>
          </p:cNvPr>
          <p:cNvSpPr>
            <a:spLocks noGrp="1"/>
          </p:cNvSpPr>
          <p:nvPr>
            <p:ph idx="1"/>
          </p:nvPr>
        </p:nvSpPr>
        <p:spPr/>
        <p:txBody>
          <a:bodyPr/>
          <a:lstStyle/>
          <a:p>
            <a:r>
              <a:rPr lang="en-BD" dirty="0">
                <a:latin typeface="Times New Roman" panose="02020603050405020304" pitchFamily="18" charset="0"/>
                <a:cs typeface="Times New Roman" panose="02020603050405020304" pitchFamily="18" charset="0"/>
              </a:rPr>
              <a:t>Client-Server concept</a:t>
            </a:r>
          </a:p>
          <a:p>
            <a:r>
              <a:rPr lang="en-BD" dirty="0">
                <a:latin typeface="Times New Roman" panose="02020603050405020304" pitchFamily="18" charset="0"/>
                <a:cs typeface="Times New Roman" panose="02020603050405020304" pitchFamily="18" charset="0"/>
              </a:rPr>
              <a:t>Server types </a:t>
            </a:r>
          </a:p>
          <a:p>
            <a:r>
              <a:rPr lang="en-BD" dirty="0">
                <a:latin typeface="Times New Roman" panose="02020603050405020304" pitchFamily="18" charset="0"/>
                <a:cs typeface="Times New Roman" panose="02020603050405020304" pitchFamily="18" charset="0"/>
              </a:rPr>
              <a:t>Http request types</a:t>
            </a:r>
          </a:p>
          <a:p>
            <a:r>
              <a:rPr lang="en-BD" dirty="0">
                <a:latin typeface="Times New Roman" panose="02020603050405020304" pitchFamily="18" charset="0"/>
                <a:cs typeface="Times New Roman" panose="02020603050405020304" pitchFamily="18" charset="0"/>
              </a:rPr>
              <a:t>Browser and mark up language </a:t>
            </a:r>
          </a:p>
          <a:p>
            <a:r>
              <a:rPr lang="en-BD" dirty="0">
                <a:latin typeface="Times New Roman" panose="02020603050405020304" pitchFamily="18" charset="0"/>
                <a:cs typeface="Times New Roman" panose="02020603050405020304" pitchFamily="18" charset="0"/>
              </a:rPr>
              <a:t>API and server side programming</a:t>
            </a:r>
          </a:p>
          <a:p>
            <a:r>
              <a:rPr lang="en-BD" dirty="0">
                <a:latin typeface="Times New Roman" panose="02020603050405020304" pitchFamily="18" charset="0"/>
                <a:cs typeface="Times New Roman" panose="02020603050405020304" pitchFamily="18" charset="0"/>
              </a:rPr>
              <a:t>Client side scripting vs server side scripting</a:t>
            </a:r>
          </a:p>
          <a:p>
            <a:r>
              <a:rPr lang="en-BD" dirty="0">
                <a:latin typeface="Times New Roman" panose="02020603050405020304" pitchFamily="18" charset="0"/>
                <a:cs typeface="Times New Roman" panose="02020603050405020304" pitchFamily="18" charset="0"/>
              </a:rPr>
              <a:t>XAMPP</a:t>
            </a:r>
          </a:p>
        </p:txBody>
      </p:sp>
    </p:spTree>
    <p:extLst>
      <p:ext uri="{BB962C8B-B14F-4D97-AF65-F5344CB8AC3E}">
        <p14:creationId xmlns:p14="http://schemas.microsoft.com/office/powerpoint/2010/main" val="2259842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1DEB7-215F-4D3C-AA81-F7A74C94279B}"/>
              </a:ext>
            </a:extLst>
          </p:cNvPr>
          <p:cNvSpPr>
            <a:spLocks noGrp="1"/>
          </p:cNvSpPr>
          <p:nvPr>
            <p:ph type="title"/>
          </p:nvPr>
        </p:nvSpPr>
        <p:spPr/>
        <p:txBody>
          <a:bodyPr/>
          <a:lstStyle/>
          <a:p>
            <a:r>
              <a:rPr lang="en-BD" dirty="0"/>
              <a:t>Client-Server concept</a:t>
            </a:r>
          </a:p>
        </p:txBody>
      </p:sp>
      <p:pic>
        <p:nvPicPr>
          <p:cNvPr id="1026" name="Picture 2" descr="Client and Server">
            <a:extLst>
              <a:ext uri="{FF2B5EF4-FFF2-40B4-BE49-F238E27FC236}">
                <a16:creationId xmlns:a16="http://schemas.microsoft.com/office/drawing/2014/main" id="{AD308131-0C51-07F8-60BC-5950BC3A2E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53670" y="1969294"/>
            <a:ext cx="9484659" cy="39653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CD2E6E2-A024-DC26-19C6-6289003A4CC4}"/>
              </a:ext>
            </a:extLst>
          </p:cNvPr>
          <p:cNvSpPr txBox="1"/>
          <p:nvPr/>
        </p:nvSpPr>
        <p:spPr>
          <a:xfrm>
            <a:off x="470647" y="5934670"/>
            <a:ext cx="10703859" cy="923330"/>
          </a:xfrm>
          <a:prstGeom prst="rect">
            <a:avLst/>
          </a:prstGeom>
          <a:noFill/>
        </p:spPr>
        <p:txBody>
          <a:bodyPr wrap="square" rtlCol="0">
            <a:spAutoFit/>
          </a:bodyPr>
          <a:lstStyle/>
          <a:p>
            <a:r>
              <a:rPr lang="en-BD" dirty="0"/>
              <a:t>Reference: </a:t>
            </a:r>
          </a:p>
          <a:p>
            <a:r>
              <a:rPr lang="en-GB" sz="1800" i="1" dirty="0">
                <a:effectLst/>
                <a:latin typeface="Times New Roman" panose="02020603050405020304" pitchFamily="18" charset="0"/>
              </a:rPr>
              <a:t>Client Server Architecture - Detailed Explanation</a:t>
            </a:r>
            <a:r>
              <a:rPr lang="en-GB" sz="1800" dirty="0">
                <a:effectLst/>
                <a:latin typeface="Times New Roman" panose="02020603050405020304" pitchFamily="18" charset="0"/>
              </a:rPr>
              <a:t>. (2022, June 3). </a:t>
            </a:r>
            <a:r>
              <a:rPr lang="en-GB" sz="1800" dirty="0" err="1">
                <a:effectLst/>
                <a:latin typeface="Times New Roman" panose="02020603050405020304" pitchFamily="18" charset="0"/>
              </a:rPr>
              <a:t>InterviewBit</a:t>
            </a:r>
            <a:r>
              <a:rPr lang="en-GB" sz="1800" dirty="0">
                <a:effectLst/>
                <a:latin typeface="Times New Roman" panose="02020603050405020304" pitchFamily="18" charset="0"/>
              </a:rPr>
              <a:t>. https://</a:t>
            </a:r>
            <a:r>
              <a:rPr lang="en-GB" sz="1800" dirty="0" err="1">
                <a:effectLst/>
                <a:latin typeface="Times New Roman" panose="02020603050405020304" pitchFamily="18" charset="0"/>
              </a:rPr>
              <a:t>www.interviewbit.com</a:t>
            </a:r>
            <a:r>
              <a:rPr lang="en-GB" sz="1800" dirty="0">
                <a:effectLst/>
                <a:latin typeface="Times New Roman" panose="02020603050405020304" pitchFamily="18" charset="0"/>
              </a:rPr>
              <a:t>/blog/client-server-architecture/</a:t>
            </a:r>
          </a:p>
        </p:txBody>
      </p:sp>
    </p:spTree>
    <p:extLst>
      <p:ext uri="{BB962C8B-B14F-4D97-AF65-F5344CB8AC3E}">
        <p14:creationId xmlns:p14="http://schemas.microsoft.com/office/powerpoint/2010/main" val="2359410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1DEB7-215F-4D3C-AA81-F7A74C94279B}"/>
              </a:ext>
            </a:extLst>
          </p:cNvPr>
          <p:cNvSpPr>
            <a:spLocks noGrp="1"/>
          </p:cNvSpPr>
          <p:nvPr>
            <p:ph type="title"/>
          </p:nvPr>
        </p:nvSpPr>
        <p:spPr/>
        <p:txBody>
          <a:bodyPr/>
          <a:lstStyle/>
          <a:p>
            <a:r>
              <a:rPr lang="en-BD" dirty="0"/>
              <a:t>Client-Server concept</a:t>
            </a:r>
          </a:p>
        </p:txBody>
      </p:sp>
      <p:pic>
        <p:nvPicPr>
          <p:cNvPr id="3074" name="Picture 2" descr="Client-Server Architecture working">
            <a:extLst>
              <a:ext uri="{FF2B5EF4-FFF2-40B4-BE49-F238E27FC236}">
                <a16:creationId xmlns:a16="http://schemas.microsoft.com/office/drawing/2014/main" id="{B7F2B1BB-AC8A-9202-A31C-E82D45EB057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3200" y="1381918"/>
            <a:ext cx="6911788" cy="5399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016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1A560-2E94-5ACB-14AC-083108E30CC6}"/>
              </a:ext>
            </a:extLst>
          </p:cNvPr>
          <p:cNvSpPr>
            <a:spLocks noGrp="1"/>
          </p:cNvSpPr>
          <p:nvPr>
            <p:ph type="title"/>
          </p:nvPr>
        </p:nvSpPr>
        <p:spPr/>
        <p:txBody>
          <a:bodyPr/>
          <a:lstStyle/>
          <a:p>
            <a:r>
              <a:rPr lang="en-BD" dirty="0"/>
              <a:t>Server Types</a:t>
            </a:r>
          </a:p>
        </p:txBody>
      </p:sp>
      <p:sp>
        <p:nvSpPr>
          <p:cNvPr id="3" name="Content Placeholder 2">
            <a:extLst>
              <a:ext uri="{FF2B5EF4-FFF2-40B4-BE49-F238E27FC236}">
                <a16:creationId xmlns:a16="http://schemas.microsoft.com/office/drawing/2014/main" id="{8161E370-2BAD-42B5-0254-F33FF3963C5E}"/>
              </a:ext>
            </a:extLst>
          </p:cNvPr>
          <p:cNvSpPr>
            <a:spLocks noGrp="1"/>
          </p:cNvSpPr>
          <p:nvPr>
            <p:ph idx="1"/>
          </p:nvPr>
        </p:nvSpPr>
        <p:spPr>
          <a:xfrm>
            <a:off x="838200" y="1690688"/>
            <a:ext cx="10515600" cy="4351338"/>
          </a:xfrm>
        </p:spPr>
        <p:txBody>
          <a:bodyPr>
            <a:noAutofit/>
          </a:bodyPr>
          <a:lstStyle/>
          <a:p>
            <a:r>
              <a:rPr lang="en-GB" sz="2200" i="0" dirty="0">
                <a:solidFill>
                  <a:schemeClr val="accent1">
                    <a:lumMod val="75000"/>
                  </a:schemeClr>
                </a:solidFill>
                <a:effectLst/>
                <a:latin typeface="Times New Roman" panose="02020603050405020304" pitchFamily="18" charset="0"/>
                <a:cs typeface="Times New Roman" panose="02020603050405020304" pitchFamily="18" charset="0"/>
              </a:rPr>
              <a:t>Apache HTTP Server</a:t>
            </a:r>
            <a:br>
              <a:rPr lang="en-GB" sz="2200" i="0" dirty="0">
                <a:solidFill>
                  <a:srgbClr val="000000"/>
                </a:solidFill>
                <a:effectLst/>
                <a:latin typeface="Times New Roman" panose="02020603050405020304" pitchFamily="18" charset="0"/>
                <a:cs typeface="Times New Roman" panose="02020603050405020304" pitchFamily="18" charset="0"/>
              </a:rPr>
            </a:br>
            <a:r>
              <a:rPr lang="en-GB" sz="2200" i="0" dirty="0">
                <a:solidFill>
                  <a:srgbClr val="000000"/>
                </a:solidFill>
                <a:effectLst/>
                <a:latin typeface="Times New Roman" panose="02020603050405020304" pitchFamily="18" charset="0"/>
                <a:cs typeface="Times New Roman" panose="02020603050405020304" pitchFamily="18" charset="0"/>
              </a:rPr>
              <a:t>This is the most popular web server in the world developed by the Apache Software Foundation. Apache web server is an open source software and can be installed on almost all operating systems including Linux, Unix, Windows, FreeBSD, Mac OS X and more. About 60% of the web server machines run the Apache Web Server.</a:t>
            </a:r>
          </a:p>
          <a:p>
            <a:r>
              <a:rPr lang="en-GB" sz="2200" i="0" dirty="0">
                <a:solidFill>
                  <a:schemeClr val="accent1">
                    <a:lumMod val="75000"/>
                  </a:schemeClr>
                </a:solidFill>
                <a:effectLst/>
                <a:latin typeface="Times New Roman" panose="02020603050405020304" pitchFamily="18" charset="0"/>
                <a:cs typeface="Times New Roman" panose="02020603050405020304" pitchFamily="18" charset="0"/>
              </a:rPr>
              <a:t>Internet Information Services</a:t>
            </a:r>
            <a:br>
              <a:rPr lang="en-GB" sz="2200" i="0" dirty="0">
                <a:solidFill>
                  <a:srgbClr val="000000"/>
                </a:solidFill>
                <a:effectLst/>
                <a:latin typeface="Times New Roman" panose="02020603050405020304" pitchFamily="18" charset="0"/>
                <a:cs typeface="Times New Roman" panose="02020603050405020304" pitchFamily="18" charset="0"/>
              </a:rPr>
            </a:br>
            <a:r>
              <a:rPr lang="en-GB" sz="2200" i="0" dirty="0">
                <a:solidFill>
                  <a:srgbClr val="000000"/>
                </a:solidFill>
                <a:effectLst/>
                <a:latin typeface="Times New Roman" panose="02020603050405020304" pitchFamily="18" charset="0"/>
                <a:cs typeface="Times New Roman" panose="02020603050405020304" pitchFamily="18" charset="0"/>
              </a:rPr>
              <a:t>The Internet Information Server (IIS) is a high performance Web Server from Microsoft.</a:t>
            </a:r>
          </a:p>
          <a:p>
            <a:r>
              <a:rPr lang="en-GB" sz="2200" i="0" dirty="0">
                <a:solidFill>
                  <a:schemeClr val="accent1">
                    <a:lumMod val="75000"/>
                  </a:schemeClr>
                </a:solidFill>
                <a:effectLst/>
                <a:latin typeface="Times New Roman" panose="02020603050405020304" pitchFamily="18" charset="0"/>
                <a:cs typeface="Times New Roman" panose="02020603050405020304" pitchFamily="18" charset="0"/>
              </a:rPr>
              <a:t>Sun Java System Web Server</a:t>
            </a:r>
            <a:br>
              <a:rPr lang="en-GB" sz="2200" i="0" dirty="0">
                <a:solidFill>
                  <a:srgbClr val="000000"/>
                </a:solidFill>
                <a:effectLst/>
                <a:latin typeface="Times New Roman" panose="02020603050405020304" pitchFamily="18" charset="0"/>
                <a:cs typeface="Times New Roman" panose="02020603050405020304" pitchFamily="18" charset="0"/>
              </a:rPr>
            </a:br>
            <a:r>
              <a:rPr lang="en-GB" sz="2200" i="0" dirty="0">
                <a:solidFill>
                  <a:srgbClr val="000000"/>
                </a:solidFill>
                <a:effectLst/>
                <a:latin typeface="Times New Roman" panose="02020603050405020304" pitchFamily="18" charset="0"/>
                <a:cs typeface="Times New Roman" panose="02020603050405020304" pitchFamily="18" charset="0"/>
              </a:rPr>
              <a:t>The Sun Java System web server supports various languages, scripts and technologies required for Web 2.0 such as JSP, Java Servlets, PHP, Perl, Python, Ruby on Rails, ASP and </a:t>
            </a:r>
            <a:r>
              <a:rPr lang="en-GB" sz="2200" i="0" dirty="0" err="1">
                <a:solidFill>
                  <a:srgbClr val="000000"/>
                </a:solidFill>
                <a:effectLst/>
                <a:latin typeface="Times New Roman" panose="02020603050405020304" pitchFamily="18" charset="0"/>
                <a:cs typeface="Times New Roman" panose="02020603050405020304" pitchFamily="18" charset="0"/>
              </a:rPr>
              <a:t>Coldfusion</a:t>
            </a:r>
            <a:r>
              <a:rPr lang="en-GB" sz="2200" i="0" dirty="0">
                <a:solidFill>
                  <a:srgbClr val="000000"/>
                </a:solidFill>
                <a:effectLst/>
                <a:latin typeface="Times New Roman" panose="02020603050405020304" pitchFamily="18" charset="0"/>
                <a:cs typeface="Times New Roman" panose="02020603050405020304" pitchFamily="18" charset="0"/>
              </a:rPr>
              <a:t> etc.</a:t>
            </a:r>
          </a:p>
          <a:p>
            <a:r>
              <a:rPr lang="en-GB" sz="2200" i="0" dirty="0">
                <a:solidFill>
                  <a:schemeClr val="accent1">
                    <a:lumMod val="75000"/>
                  </a:schemeClr>
                </a:solidFill>
                <a:effectLst/>
                <a:latin typeface="Times New Roman" panose="02020603050405020304" pitchFamily="18" charset="0"/>
                <a:cs typeface="Times New Roman" panose="02020603050405020304" pitchFamily="18" charset="0"/>
              </a:rPr>
              <a:t>Jigsaw Server</a:t>
            </a:r>
            <a:br>
              <a:rPr lang="en-GB" sz="2200" i="0" dirty="0">
                <a:solidFill>
                  <a:srgbClr val="000000"/>
                </a:solidFill>
                <a:effectLst/>
                <a:latin typeface="Times New Roman" panose="02020603050405020304" pitchFamily="18" charset="0"/>
                <a:cs typeface="Times New Roman" panose="02020603050405020304" pitchFamily="18" charset="0"/>
              </a:rPr>
            </a:br>
            <a:r>
              <a:rPr lang="en-GB" sz="2200" i="0" dirty="0">
                <a:solidFill>
                  <a:srgbClr val="000000"/>
                </a:solidFill>
                <a:effectLst/>
                <a:latin typeface="Times New Roman" panose="02020603050405020304" pitchFamily="18" charset="0"/>
                <a:cs typeface="Times New Roman" panose="02020603050405020304" pitchFamily="18" charset="0"/>
              </a:rPr>
              <a:t>Jigsaw (W3C's Server) comes from the World Wide Web Consortium. It is open source and free and can run on various platforms like Linux, Unix, Windows, Mac OS X Free BSD etc.</a:t>
            </a:r>
          </a:p>
          <a:p>
            <a:endParaRPr lang="en-BD"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522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11469-9821-279D-A19D-BAABAF152343}"/>
              </a:ext>
            </a:extLst>
          </p:cNvPr>
          <p:cNvSpPr>
            <a:spLocks noGrp="1"/>
          </p:cNvSpPr>
          <p:nvPr>
            <p:ph type="title"/>
          </p:nvPr>
        </p:nvSpPr>
        <p:spPr/>
        <p:txBody>
          <a:bodyPr/>
          <a:lstStyle/>
          <a:p>
            <a:r>
              <a:rPr lang="en-BD" dirty="0"/>
              <a:t>Remote Procedure Call in servers</a:t>
            </a:r>
          </a:p>
        </p:txBody>
      </p:sp>
      <p:sp>
        <p:nvSpPr>
          <p:cNvPr id="3" name="Content Placeholder 2">
            <a:extLst>
              <a:ext uri="{FF2B5EF4-FFF2-40B4-BE49-F238E27FC236}">
                <a16:creationId xmlns:a16="http://schemas.microsoft.com/office/drawing/2014/main" id="{B7C0625D-C253-C34A-3D52-6D01BA7DD427}"/>
              </a:ext>
            </a:extLst>
          </p:cNvPr>
          <p:cNvSpPr>
            <a:spLocks noGrp="1"/>
          </p:cNvSpPr>
          <p:nvPr>
            <p:ph idx="1"/>
          </p:nvPr>
        </p:nvSpPr>
        <p:spPr/>
        <p:txBody>
          <a:bodyPr/>
          <a:lstStyle/>
          <a:p>
            <a:r>
              <a:rPr lang="en-GB" dirty="0">
                <a:latin typeface="Times New Roman" panose="02020603050405020304" pitchFamily="18" charset="0"/>
                <a:cs typeface="Times New Roman" panose="02020603050405020304" pitchFamily="18" charset="0"/>
              </a:rPr>
              <a:t>Remote Procedure Call is a software communication protocol that one program can use to request a service from a program located in another computer on a network without having to understand the network's details</a:t>
            </a:r>
          </a:p>
          <a:p>
            <a:r>
              <a:rPr lang="en-GB" dirty="0">
                <a:latin typeface="Times New Roman" panose="02020603050405020304" pitchFamily="18" charset="0"/>
                <a:cs typeface="Times New Roman" panose="02020603050405020304" pitchFamily="18" charset="0"/>
              </a:rPr>
              <a:t>In hypertext transfer protocol (http), the remote procedure calls are known as REQUESTS. </a:t>
            </a:r>
          </a:p>
          <a:p>
            <a:r>
              <a:rPr lang="en-GB" dirty="0">
                <a:latin typeface="Times New Roman" panose="02020603050405020304" pitchFamily="18" charset="0"/>
                <a:cs typeface="Times New Roman" panose="02020603050405020304" pitchFamily="18" charset="0"/>
              </a:rPr>
              <a:t>The most common types of request methods are GET and POST but there are many others, including HEAD, PUT, DELETE, CONNECT, and OPTIONS.</a:t>
            </a:r>
            <a:endParaRPr lang="en-BD"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732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51AF7-8049-0C73-1DE6-76472EC3C8B8}"/>
              </a:ext>
            </a:extLst>
          </p:cNvPr>
          <p:cNvSpPr>
            <a:spLocks noGrp="1"/>
          </p:cNvSpPr>
          <p:nvPr>
            <p:ph type="title"/>
          </p:nvPr>
        </p:nvSpPr>
        <p:spPr/>
        <p:txBody>
          <a:bodyPr/>
          <a:lstStyle/>
          <a:p>
            <a:r>
              <a:rPr lang="en-BD" dirty="0"/>
              <a:t>Http Request Types</a:t>
            </a:r>
          </a:p>
        </p:txBody>
      </p:sp>
      <p:sp>
        <p:nvSpPr>
          <p:cNvPr id="3" name="Content Placeholder 2">
            <a:extLst>
              <a:ext uri="{FF2B5EF4-FFF2-40B4-BE49-F238E27FC236}">
                <a16:creationId xmlns:a16="http://schemas.microsoft.com/office/drawing/2014/main" id="{084905C5-89D3-8C5F-2DE0-C3B4AEC5FFEB}"/>
              </a:ext>
            </a:extLst>
          </p:cNvPr>
          <p:cNvSpPr>
            <a:spLocks noGrp="1"/>
          </p:cNvSpPr>
          <p:nvPr>
            <p:ph idx="1"/>
          </p:nvPr>
        </p:nvSpPr>
        <p:spPr/>
        <p:txBody>
          <a:bodyPr>
            <a:normAutofit/>
          </a:bodyPr>
          <a:lstStyle/>
          <a:p>
            <a:pPr marL="0" indent="0">
              <a:buNone/>
            </a:pPr>
            <a:r>
              <a:rPr lang="en-GB" b="1" dirty="0">
                <a:latin typeface="Times New Roman" panose="02020603050405020304" pitchFamily="18" charset="0"/>
                <a:cs typeface="Times New Roman" panose="02020603050405020304" pitchFamily="18" charset="0"/>
              </a:rPr>
              <a:t>GET requests </a:t>
            </a:r>
          </a:p>
          <a:p>
            <a:r>
              <a:rPr lang="en-GB" dirty="0">
                <a:latin typeface="Times New Roman" panose="02020603050405020304" pitchFamily="18" charset="0"/>
                <a:cs typeface="Times New Roman" panose="02020603050405020304" pitchFamily="18" charset="0"/>
              </a:rPr>
              <a:t>Sent when URL is submitted in the browser location bar or a user clicks a link </a:t>
            </a:r>
          </a:p>
          <a:p>
            <a:r>
              <a:rPr lang="en-GB" dirty="0">
                <a:latin typeface="Times New Roman" panose="02020603050405020304" pitchFamily="18" charset="0"/>
                <a:cs typeface="Times New Roman" panose="02020603050405020304" pitchFamily="18" charset="0"/>
              </a:rPr>
              <a:t>Send data in the URL and query string </a:t>
            </a:r>
          </a:p>
          <a:p>
            <a:r>
              <a:rPr lang="en-GB" dirty="0">
                <a:latin typeface="Times New Roman" panose="02020603050405020304" pitchFamily="18" charset="0"/>
                <a:cs typeface="Times New Roman" panose="02020603050405020304" pitchFamily="18" charset="0"/>
              </a:rPr>
              <a:t>Reloadable </a:t>
            </a:r>
          </a:p>
          <a:p>
            <a:r>
              <a:rPr lang="en-GB" dirty="0">
                <a:latin typeface="Times New Roman" panose="02020603050405020304" pitchFamily="18" charset="0"/>
                <a:cs typeface="Times New Roman" panose="02020603050405020304" pitchFamily="18" charset="0"/>
              </a:rPr>
              <a:t>Can bookmark </a:t>
            </a:r>
          </a:p>
          <a:p>
            <a:r>
              <a:rPr lang="en-GB" dirty="0">
                <a:latin typeface="Times New Roman" panose="02020603050405020304" pitchFamily="18" charset="0"/>
                <a:cs typeface="Times New Roman" panose="02020603050405020304" pitchFamily="18" charset="0"/>
              </a:rPr>
              <a:t>Used for read-only operations </a:t>
            </a:r>
          </a:p>
          <a:p>
            <a:pPr lvl="1"/>
            <a:r>
              <a:rPr lang="en-GB" dirty="0">
                <a:latin typeface="Times New Roman" panose="02020603050405020304" pitchFamily="18" charset="0"/>
                <a:cs typeface="Times New Roman" panose="02020603050405020304" pitchFamily="18" charset="0"/>
              </a:rPr>
              <a:t>View, search, sort, or filter data </a:t>
            </a:r>
          </a:p>
          <a:p>
            <a:pPr lvl="1"/>
            <a:r>
              <a:rPr lang="en-GB" dirty="0">
                <a:latin typeface="Times New Roman" panose="02020603050405020304" pitchFamily="18" charset="0"/>
                <a:cs typeface="Times New Roman" panose="02020603050405020304" pitchFamily="18" charset="0"/>
              </a:rPr>
              <a:t>Data does not change</a:t>
            </a:r>
            <a:endParaRPr lang="en-BD"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7419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51AF7-8049-0C73-1DE6-76472EC3C8B8}"/>
              </a:ext>
            </a:extLst>
          </p:cNvPr>
          <p:cNvSpPr>
            <a:spLocks noGrp="1"/>
          </p:cNvSpPr>
          <p:nvPr>
            <p:ph type="title"/>
          </p:nvPr>
        </p:nvSpPr>
        <p:spPr/>
        <p:txBody>
          <a:bodyPr/>
          <a:lstStyle/>
          <a:p>
            <a:r>
              <a:rPr lang="en-BD" dirty="0"/>
              <a:t>Http Request Types</a:t>
            </a:r>
          </a:p>
        </p:txBody>
      </p:sp>
      <p:sp>
        <p:nvSpPr>
          <p:cNvPr id="3" name="Content Placeholder 2">
            <a:extLst>
              <a:ext uri="{FF2B5EF4-FFF2-40B4-BE49-F238E27FC236}">
                <a16:creationId xmlns:a16="http://schemas.microsoft.com/office/drawing/2014/main" id="{084905C5-89D3-8C5F-2DE0-C3B4AEC5FFEB}"/>
              </a:ext>
            </a:extLst>
          </p:cNvPr>
          <p:cNvSpPr>
            <a:spLocks noGrp="1"/>
          </p:cNvSpPr>
          <p:nvPr>
            <p:ph idx="1"/>
          </p:nvPr>
        </p:nvSpPr>
        <p:spPr/>
        <p:txBody>
          <a:bodyPr>
            <a:normAutofit/>
          </a:bodyPr>
          <a:lstStyle/>
          <a:p>
            <a:pPr marL="0" indent="0" algn="l">
              <a:buNone/>
            </a:pPr>
            <a:r>
              <a:rPr lang="en-GB" b="1" i="0" dirty="0">
                <a:solidFill>
                  <a:srgbClr val="333333"/>
                </a:solidFill>
                <a:effectLst/>
                <a:latin typeface="Times New Roman" panose="02020603050405020304" pitchFamily="18" charset="0"/>
                <a:cs typeface="Times New Roman" panose="02020603050405020304" pitchFamily="18" charset="0"/>
              </a:rPr>
              <a:t>POST requests</a:t>
            </a:r>
          </a:p>
          <a:p>
            <a:pPr algn="l">
              <a:buFont typeface="Arial" panose="020B0604020202020204" pitchFamily="34" charset="0"/>
              <a:buChar char="•"/>
            </a:pPr>
            <a:r>
              <a:rPr lang="en-GB" b="0" i="0" dirty="0">
                <a:solidFill>
                  <a:srgbClr val="333333"/>
                </a:solidFill>
                <a:effectLst/>
                <a:latin typeface="Times New Roman" panose="02020603050405020304" pitchFamily="18" charset="0"/>
                <a:cs typeface="Times New Roman" panose="02020603050405020304" pitchFamily="18" charset="0"/>
              </a:rPr>
              <a:t>Sent when web form is submitted</a:t>
            </a:r>
          </a:p>
          <a:p>
            <a:pPr algn="l">
              <a:buFont typeface="Arial" panose="020B0604020202020204" pitchFamily="34" charset="0"/>
              <a:buChar char="•"/>
            </a:pPr>
            <a:r>
              <a:rPr lang="en-GB" b="0" i="0" dirty="0">
                <a:solidFill>
                  <a:srgbClr val="333333"/>
                </a:solidFill>
                <a:effectLst/>
                <a:latin typeface="Times New Roman" panose="02020603050405020304" pitchFamily="18" charset="0"/>
                <a:cs typeface="Times New Roman" panose="02020603050405020304" pitchFamily="18" charset="0"/>
              </a:rPr>
              <a:t>Send data in the URL and as an attachment</a:t>
            </a:r>
          </a:p>
          <a:p>
            <a:pPr algn="l">
              <a:buFont typeface="Arial" panose="020B0604020202020204" pitchFamily="34" charset="0"/>
              <a:buChar char="•"/>
            </a:pPr>
            <a:r>
              <a:rPr lang="en-GB" b="0" i="0" dirty="0">
                <a:solidFill>
                  <a:srgbClr val="333333"/>
                </a:solidFill>
                <a:effectLst/>
                <a:latin typeface="Times New Roman" panose="02020603050405020304" pitchFamily="18" charset="0"/>
                <a:cs typeface="Times New Roman" panose="02020603050405020304" pitchFamily="18" charset="0"/>
              </a:rPr>
              <a:t>Semi-reloadable (prompt to send data again)</a:t>
            </a:r>
          </a:p>
          <a:p>
            <a:pPr algn="l">
              <a:buFont typeface="Arial" panose="020B0604020202020204" pitchFamily="34" charset="0"/>
              <a:buChar char="•"/>
            </a:pPr>
            <a:r>
              <a:rPr lang="en-GB" b="0" i="0" dirty="0">
                <a:solidFill>
                  <a:srgbClr val="333333"/>
                </a:solidFill>
                <a:effectLst/>
                <a:latin typeface="Times New Roman" panose="02020603050405020304" pitchFamily="18" charset="0"/>
                <a:cs typeface="Times New Roman" panose="02020603050405020304" pitchFamily="18" charset="0"/>
              </a:rPr>
              <a:t>Can not bookmark</a:t>
            </a:r>
          </a:p>
          <a:p>
            <a:pPr algn="l">
              <a:buFont typeface="Arial" panose="020B0604020202020204" pitchFamily="34" charset="0"/>
              <a:buChar char="•"/>
            </a:pPr>
            <a:r>
              <a:rPr lang="en-GB" b="0" i="0" dirty="0">
                <a:solidFill>
                  <a:srgbClr val="333333"/>
                </a:solidFill>
                <a:effectLst/>
                <a:latin typeface="Times New Roman" panose="02020603050405020304" pitchFamily="18" charset="0"/>
                <a:cs typeface="Times New Roman" panose="02020603050405020304" pitchFamily="18" charset="0"/>
              </a:rPr>
              <a:t>Used for write operations</a:t>
            </a:r>
          </a:p>
          <a:p>
            <a:pPr marL="742950" lvl="1" indent="-285750" algn="l">
              <a:buFont typeface="Arial" panose="020B0604020202020204" pitchFamily="34" charset="0"/>
              <a:buChar char="•"/>
            </a:pPr>
            <a:r>
              <a:rPr lang="en-GB" b="0" i="0" dirty="0">
                <a:solidFill>
                  <a:srgbClr val="333333"/>
                </a:solidFill>
                <a:effectLst/>
                <a:latin typeface="Times New Roman" panose="02020603050405020304" pitchFamily="18" charset="0"/>
                <a:cs typeface="Times New Roman" panose="02020603050405020304" pitchFamily="18" charset="0"/>
              </a:rPr>
              <a:t>Create, update, or delete data</a:t>
            </a:r>
          </a:p>
          <a:p>
            <a:pPr marL="742950" lvl="1" indent="-285750" algn="l">
              <a:buFont typeface="Arial" panose="020B0604020202020204" pitchFamily="34" charset="0"/>
              <a:buChar char="•"/>
            </a:pPr>
            <a:r>
              <a:rPr lang="en-GB" b="0" i="0" dirty="0">
                <a:solidFill>
                  <a:srgbClr val="333333"/>
                </a:solidFill>
                <a:effectLst/>
                <a:latin typeface="Times New Roman" panose="02020603050405020304" pitchFamily="18" charset="0"/>
                <a:cs typeface="Times New Roman" panose="02020603050405020304" pitchFamily="18" charset="0"/>
              </a:rPr>
              <a:t>Data does change</a:t>
            </a:r>
          </a:p>
          <a:p>
            <a:pPr marL="0" indent="0">
              <a:buNone/>
            </a:pPr>
            <a:endParaRPr lang="en-BD"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8110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1E3D0-57CA-C301-9855-EE40FDF50F2E}"/>
              </a:ext>
            </a:extLst>
          </p:cNvPr>
          <p:cNvSpPr>
            <a:spLocks noGrp="1"/>
          </p:cNvSpPr>
          <p:nvPr>
            <p:ph type="title"/>
          </p:nvPr>
        </p:nvSpPr>
        <p:spPr/>
        <p:txBody>
          <a:bodyPr/>
          <a:lstStyle/>
          <a:p>
            <a:r>
              <a:rPr lang="en-BD" dirty="0"/>
              <a:t>Browser and Markup Language </a:t>
            </a:r>
          </a:p>
        </p:txBody>
      </p:sp>
      <p:sp>
        <p:nvSpPr>
          <p:cNvPr id="3" name="Content Placeholder 2">
            <a:extLst>
              <a:ext uri="{FF2B5EF4-FFF2-40B4-BE49-F238E27FC236}">
                <a16:creationId xmlns:a16="http://schemas.microsoft.com/office/drawing/2014/main" id="{C0654110-8176-E0A8-4D8B-640618B28326}"/>
              </a:ext>
            </a:extLst>
          </p:cNvPr>
          <p:cNvSpPr>
            <a:spLocks noGrp="1"/>
          </p:cNvSpPr>
          <p:nvPr>
            <p:ph idx="1"/>
          </p:nvPr>
        </p:nvSpPr>
        <p:spPr>
          <a:xfrm>
            <a:off x="838200" y="1825625"/>
            <a:ext cx="10515600" cy="4667250"/>
          </a:xfrm>
        </p:spPr>
        <p:txBody>
          <a:bodyPr>
            <a:normAutofit/>
          </a:bodyPr>
          <a:lstStyle/>
          <a:p>
            <a:r>
              <a:rPr lang="en-GB" dirty="0">
                <a:latin typeface="Times New Roman" panose="02020603050405020304" pitchFamily="18" charset="0"/>
                <a:cs typeface="Times New Roman" panose="02020603050405020304" pitchFamily="18" charset="0"/>
              </a:rPr>
              <a:t>Markup language is a text-encoding system consisting of a set of symbols inserted in a text document to control its structure, formatting, or the relationship between its parts.</a:t>
            </a:r>
          </a:p>
          <a:p>
            <a:r>
              <a:rPr lang="en-GB" dirty="0">
                <a:latin typeface="Times New Roman" panose="02020603050405020304" pitchFamily="18" charset="0"/>
                <a:cs typeface="Times New Roman" panose="02020603050405020304" pitchFamily="18" charset="0"/>
              </a:rPr>
              <a:t>Markup is often used to control the display of the document or to enrich its content to facilitating automated processing.</a:t>
            </a:r>
          </a:p>
          <a:p>
            <a:r>
              <a:rPr lang="en-GB" dirty="0">
                <a:latin typeface="Times New Roman" panose="02020603050405020304" pitchFamily="18" charset="0"/>
                <a:cs typeface="Times New Roman" panose="02020603050405020304" pitchFamily="18" charset="0"/>
              </a:rPr>
              <a:t>The </a:t>
            </a:r>
            <a:r>
              <a:rPr lang="en-GB" dirty="0" err="1">
                <a:latin typeface="Times New Roman" panose="02020603050405020304" pitchFamily="18" charset="0"/>
                <a:cs typeface="Times New Roman" panose="02020603050405020304" pitchFamily="18" charset="0"/>
              </a:rPr>
              <a:t>HyperText</a:t>
            </a:r>
            <a:r>
              <a:rPr lang="en-GB" dirty="0">
                <a:latin typeface="Times New Roman" panose="02020603050405020304" pitchFamily="18" charset="0"/>
                <a:cs typeface="Times New Roman" panose="02020603050405020304" pitchFamily="18" charset="0"/>
              </a:rPr>
              <a:t> Markup Language or HTML is the standard markup language for documents designed to be displayed in a web browser.</a:t>
            </a:r>
          </a:p>
          <a:p>
            <a:r>
              <a:rPr lang="en-GB" dirty="0">
                <a:latin typeface="Times New Roman" panose="02020603050405020304" pitchFamily="18" charset="0"/>
                <a:cs typeface="Times New Roman" panose="02020603050405020304" pitchFamily="18" charset="0"/>
              </a:rPr>
              <a:t>Web browsers receive HTML documents from a web server or from local storage and render the documents into multimedia web pages. </a:t>
            </a:r>
          </a:p>
        </p:txBody>
      </p:sp>
    </p:spTree>
    <p:extLst>
      <p:ext uri="{BB962C8B-B14F-4D97-AF65-F5344CB8AC3E}">
        <p14:creationId xmlns:p14="http://schemas.microsoft.com/office/powerpoint/2010/main" val="2080632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1E3D0-57CA-C301-9855-EE40FDF50F2E}"/>
              </a:ext>
            </a:extLst>
          </p:cNvPr>
          <p:cNvSpPr>
            <a:spLocks noGrp="1"/>
          </p:cNvSpPr>
          <p:nvPr>
            <p:ph type="title"/>
          </p:nvPr>
        </p:nvSpPr>
        <p:spPr/>
        <p:txBody>
          <a:bodyPr/>
          <a:lstStyle/>
          <a:p>
            <a:r>
              <a:rPr lang="en-BD" dirty="0"/>
              <a:t>Browser and Markup Language </a:t>
            </a:r>
          </a:p>
        </p:txBody>
      </p:sp>
      <p:sp>
        <p:nvSpPr>
          <p:cNvPr id="5" name="Content Placeholder 4">
            <a:extLst>
              <a:ext uri="{FF2B5EF4-FFF2-40B4-BE49-F238E27FC236}">
                <a16:creationId xmlns:a16="http://schemas.microsoft.com/office/drawing/2014/main" id="{C362F751-BE31-594E-85E6-9C609DCC858C}"/>
              </a:ext>
            </a:extLst>
          </p:cNvPr>
          <p:cNvSpPr>
            <a:spLocks noGrp="1"/>
          </p:cNvSpPr>
          <p:nvPr>
            <p:ph idx="1"/>
          </p:nvPr>
        </p:nvSpPr>
        <p:spPr/>
        <p:txBody>
          <a:bodyPr/>
          <a:lstStyle/>
          <a:p>
            <a:pPr marL="0" indent="0">
              <a:buNone/>
            </a:pPr>
            <a:r>
              <a:rPr lang="en-GB" dirty="0">
                <a:latin typeface="Times New Roman" panose="02020603050405020304" pitchFamily="18" charset="0"/>
                <a:cs typeface="Times New Roman" panose="02020603050405020304" pitchFamily="18" charset="0"/>
              </a:rPr>
              <a:t>A browser’s job mainly consists of: </a:t>
            </a:r>
          </a:p>
          <a:p>
            <a:r>
              <a:rPr lang="en-GB" dirty="0">
                <a:latin typeface="Times New Roman" panose="02020603050405020304" pitchFamily="18" charset="0"/>
                <a:cs typeface="Times New Roman" panose="02020603050405020304" pitchFamily="18" charset="0"/>
              </a:rPr>
              <a:t>DNS resolution </a:t>
            </a:r>
          </a:p>
          <a:p>
            <a:r>
              <a:rPr lang="en-GB" dirty="0">
                <a:latin typeface="Times New Roman" panose="02020603050405020304" pitchFamily="18" charset="0"/>
                <a:cs typeface="Times New Roman" panose="02020603050405020304" pitchFamily="18" charset="0"/>
              </a:rPr>
              <a:t>HTTP exchange </a:t>
            </a:r>
          </a:p>
          <a:p>
            <a:r>
              <a:rPr lang="en-GB" dirty="0">
                <a:latin typeface="Times New Roman" panose="02020603050405020304" pitchFamily="18" charset="0"/>
                <a:cs typeface="Times New Roman" panose="02020603050405020304" pitchFamily="18" charset="0"/>
              </a:rPr>
              <a:t>Rendering</a:t>
            </a:r>
            <a:endParaRPr lang="en-BD"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3411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1E3D0-57CA-C301-9855-EE40FDF50F2E}"/>
              </a:ext>
            </a:extLst>
          </p:cNvPr>
          <p:cNvSpPr>
            <a:spLocks noGrp="1"/>
          </p:cNvSpPr>
          <p:nvPr>
            <p:ph type="title"/>
          </p:nvPr>
        </p:nvSpPr>
        <p:spPr/>
        <p:txBody>
          <a:bodyPr/>
          <a:lstStyle/>
          <a:p>
            <a:r>
              <a:rPr lang="en-BD" dirty="0"/>
              <a:t>Browser and Markup Language </a:t>
            </a:r>
          </a:p>
        </p:txBody>
      </p:sp>
      <p:pic>
        <p:nvPicPr>
          <p:cNvPr id="4" name="Content Placeholder 3">
            <a:extLst>
              <a:ext uri="{FF2B5EF4-FFF2-40B4-BE49-F238E27FC236}">
                <a16:creationId xmlns:a16="http://schemas.microsoft.com/office/drawing/2014/main" id="{C627F8DE-F625-BD3B-33D3-360C22C1399F}"/>
              </a:ext>
            </a:extLst>
          </p:cNvPr>
          <p:cNvPicPr>
            <a:picLocks noGrp="1" noChangeAspect="1"/>
          </p:cNvPicPr>
          <p:nvPr>
            <p:ph idx="1"/>
          </p:nvPr>
        </p:nvPicPr>
        <p:blipFill>
          <a:blip r:embed="rId2"/>
          <a:stretch>
            <a:fillRect/>
          </a:stretch>
        </p:blipFill>
        <p:spPr>
          <a:xfrm>
            <a:off x="1307158" y="1825625"/>
            <a:ext cx="9577683" cy="4667250"/>
          </a:xfrm>
          <a:prstGeom prst="rect">
            <a:avLst/>
          </a:prstGeom>
        </p:spPr>
      </p:pic>
    </p:spTree>
    <p:extLst>
      <p:ext uri="{BB962C8B-B14F-4D97-AF65-F5344CB8AC3E}">
        <p14:creationId xmlns:p14="http://schemas.microsoft.com/office/powerpoint/2010/main" val="3233244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B32B3-4494-F34E-A6F8-17C636301663}"/>
              </a:ext>
            </a:extLst>
          </p:cNvPr>
          <p:cNvSpPr>
            <a:spLocks noGrp="1"/>
          </p:cNvSpPr>
          <p:nvPr>
            <p:ph type="title"/>
          </p:nvPr>
        </p:nvSpPr>
        <p:spPr/>
        <p:txBody>
          <a:bodyPr/>
          <a:lstStyle/>
          <a:p>
            <a:r>
              <a:rPr lang="en-BD" dirty="0"/>
              <a:t>API and Server Side Programming</a:t>
            </a:r>
          </a:p>
        </p:txBody>
      </p:sp>
      <p:sp>
        <p:nvSpPr>
          <p:cNvPr id="3" name="Content Placeholder 2">
            <a:extLst>
              <a:ext uri="{FF2B5EF4-FFF2-40B4-BE49-F238E27FC236}">
                <a16:creationId xmlns:a16="http://schemas.microsoft.com/office/drawing/2014/main" id="{1302114F-984A-BFE7-8D52-81C738B9E352}"/>
              </a:ext>
            </a:extLst>
          </p:cNvPr>
          <p:cNvSpPr>
            <a:spLocks noGrp="1"/>
          </p:cNvSpPr>
          <p:nvPr>
            <p:ph idx="1"/>
          </p:nvPr>
        </p:nvSpPr>
        <p:spPr/>
        <p:txBody>
          <a:bodyPr/>
          <a:lstStyle/>
          <a:p>
            <a:r>
              <a:rPr lang="en-GB" dirty="0"/>
              <a:t>APIs are mechanisms that enable two software components to communicate with each other using a set of definitions and protocols.</a:t>
            </a:r>
          </a:p>
          <a:p>
            <a:r>
              <a:rPr lang="en-GB" dirty="0"/>
              <a:t>API stands for Application Programming Interface.</a:t>
            </a:r>
          </a:p>
          <a:p>
            <a:r>
              <a:rPr lang="en-GB" dirty="0"/>
              <a:t>API architecture is usually explained in terms of client and server. The application sending the request is called the client, and the application sending the response is called the server.</a:t>
            </a:r>
          </a:p>
          <a:p>
            <a:endParaRPr lang="en-BD" dirty="0"/>
          </a:p>
        </p:txBody>
      </p:sp>
    </p:spTree>
    <p:extLst>
      <p:ext uri="{BB962C8B-B14F-4D97-AF65-F5344CB8AC3E}">
        <p14:creationId xmlns:p14="http://schemas.microsoft.com/office/powerpoint/2010/main" val="1945568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B32B3-4494-F34E-A6F8-17C636301663}"/>
              </a:ext>
            </a:extLst>
          </p:cNvPr>
          <p:cNvSpPr>
            <a:spLocks noGrp="1"/>
          </p:cNvSpPr>
          <p:nvPr>
            <p:ph type="title"/>
          </p:nvPr>
        </p:nvSpPr>
        <p:spPr/>
        <p:txBody>
          <a:bodyPr/>
          <a:lstStyle/>
          <a:p>
            <a:r>
              <a:rPr lang="en-BD" dirty="0"/>
              <a:t>API and Server Side Programming</a:t>
            </a:r>
          </a:p>
        </p:txBody>
      </p:sp>
      <p:sp>
        <p:nvSpPr>
          <p:cNvPr id="3" name="Content Placeholder 2">
            <a:extLst>
              <a:ext uri="{FF2B5EF4-FFF2-40B4-BE49-F238E27FC236}">
                <a16:creationId xmlns:a16="http://schemas.microsoft.com/office/drawing/2014/main" id="{1302114F-984A-BFE7-8D52-81C738B9E352}"/>
              </a:ext>
            </a:extLst>
          </p:cNvPr>
          <p:cNvSpPr>
            <a:spLocks noGrp="1"/>
          </p:cNvSpPr>
          <p:nvPr>
            <p:ph idx="1"/>
          </p:nvPr>
        </p:nvSpPr>
        <p:spPr>
          <a:xfrm>
            <a:off x="838200" y="1690688"/>
            <a:ext cx="10515600" cy="5167311"/>
          </a:xfrm>
        </p:spPr>
        <p:txBody>
          <a:bodyPr>
            <a:normAutofit fontScale="85000" lnSpcReduction="10000"/>
          </a:bodyPr>
          <a:lstStyle/>
          <a:p>
            <a:r>
              <a:rPr lang="en-GB" dirty="0">
                <a:solidFill>
                  <a:schemeClr val="accent1">
                    <a:lumMod val="75000"/>
                  </a:schemeClr>
                </a:solidFill>
              </a:rPr>
              <a:t>SOAP APIs </a:t>
            </a:r>
            <a:br>
              <a:rPr lang="en-GB" dirty="0"/>
            </a:br>
            <a:r>
              <a:rPr lang="en-GB" dirty="0"/>
              <a:t>These APIs use Simple Object Access Protocol. Client and server exchange messages using XML. This is a less flexible API that was more popular in the past. </a:t>
            </a:r>
          </a:p>
          <a:p>
            <a:r>
              <a:rPr lang="en-GB" dirty="0">
                <a:solidFill>
                  <a:schemeClr val="accent1">
                    <a:lumMod val="75000"/>
                  </a:schemeClr>
                </a:solidFill>
              </a:rPr>
              <a:t>RPC APIs </a:t>
            </a:r>
            <a:br>
              <a:rPr lang="en-GB" dirty="0"/>
            </a:br>
            <a:r>
              <a:rPr lang="en-GB" dirty="0"/>
              <a:t>These APIs are called Remote Procedure Calls. The client completes a function (or procedure) on the server, and the server sends the output back to the client. </a:t>
            </a:r>
          </a:p>
          <a:p>
            <a:r>
              <a:rPr lang="en-GB" dirty="0" err="1">
                <a:solidFill>
                  <a:schemeClr val="accent1">
                    <a:lumMod val="75000"/>
                  </a:schemeClr>
                </a:solidFill>
              </a:rPr>
              <a:t>Websocket</a:t>
            </a:r>
            <a:r>
              <a:rPr lang="en-GB" dirty="0">
                <a:solidFill>
                  <a:schemeClr val="accent1">
                    <a:lumMod val="75000"/>
                  </a:schemeClr>
                </a:solidFill>
              </a:rPr>
              <a:t> APIs </a:t>
            </a:r>
            <a:br>
              <a:rPr lang="en-GB" dirty="0"/>
            </a:br>
            <a:r>
              <a:rPr lang="en-GB" dirty="0" err="1"/>
              <a:t>Websocket</a:t>
            </a:r>
            <a:r>
              <a:rPr lang="en-GB" dirty="0"/>
              <a:t> API is another modern web API development that uses JSON objects to pass data. A WebSocket API supports two-way communication between client apps and the server. The server can send </a:t>
            </a:r>
            <a:r>
              <a:rPr lang="en-GB" dirty="0" err="1"/>
              <a:t>callback</a:t>
            </a:r>
            <a:r>
              <a:rPr lang="en-GB" dirty="0"/>
              <a:t> messages to connected clients, making it more efficient than </a:t>
            </a:r>
          </a:p>
          <a:p>
            <a:r>
              <a:rPr lang="en-GB" dirty="0">
                <a:solidFill>
                  <a:schemeClr val="accent1">
                    <a:lumMod val="75000"/>
                  </a:schemeClr>
                </a:solidFill>
              </a:rPr>
              <a:t>REST API </a:t>
            </a:r>
            <a:br>
              <a:rPr lang="en-GB" dirty="0"/>
            </a:br>
            <a:r>
              <a:rPr lang="en-GB" dirty="0"/>
              <a:t>REST APIs These are the most popular and flexible APIs found on the web today. The client sends requests to the server as data. The server uses this client input to start internal functions and returns output data back to the client. Let’s look at REST APIs in more detail below.</a:t>
            </a:r>
            <a:endParaRPr lang="en-BD" dirty="0"/>
          </a:p>
        </p:txBody>
      </p:sp>
    </p:spTree>
    <p:extLst>
      <p:ext uri="{BB962C8B-B14F-4D97-AF65-F5344CB8AC3E}">
        <p14:creationId xmlns:p14="http://schemas.microsoft.com/office/powerpoint/2010/main" val="1696096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C9635EC-C64C-3681-503F-077C0A2B2E2E}"/>
              </a:ext>
            </a:extLst>
          </p:cNvPr>
          <p:cNvGraphicFramePr>
            <a:graphicFrameLocks noGrp="1"/>
          </p:cNvGraphicFramePr>
          <p:nvPr>
            <p:ph idx="1"/>
            <p:extLst>
              <p:ext uri="{D42A27DB-BD31-4B8C-83A1-F6EECF244321}">
                <p14:modId xmlns:p14="http://schemas.microsoft.com/office/powerpoint/2010/main" val="3875828202"/>
              </p:ext>
            </p:extLst>
          </p:nvPr>
        </p:nvGraphicFramePr>
        <p:xfrm>
          <a:off x="495300" y="140805"/>
          <a:ext cx="11201399" cy="6606870"/>
        </p:xfrm>
        <a:graphic>
          <a:graphicData uri="http://schemas.openxmlformats.org/drawingml/2006/table">
            <a:tbl>
              <a:tblPr firstRow="1" firstCol="1" bandRow="1">
                <a:tableStyleId>{5202B0CA-FC54-4496-8BCA-5EF66A818D29}</a:tableStyleId>
              </a:tblPr>
              <a:tblGrid>
                <a:gridCol w="5378824">
                  <a:extLst>
                    <a:ext uri="{9D8B030D-6E8A-4147-A177-3AD203B41FA5}">
                      <a16:colId xmlns:a16="http://schemas.microsoft.com/office/drawing/2014/main" val="1498841526"/>
                    </a:ext>
                  </a:extLst>
                </a:gridCol>
                <a:gridCol w="5822575">
                  <a:extLst>
                    <a:ext uri="{9D8B030D-6E8A-4147-A177-3AD203B41FA5}">
                      <a16:colId xmlns:a16="http://schemas.microsoft.com/office/drawing/2014/main" val="2567447090"/>
                    </a:ext>
                  </a:extLst>
                </a:gridCol>
              </a:tblGrid>
              <a:tr h="377990">
                <a:tc>
                  <a:txBody>
                    <a:bodyPr/>
                    <a:lstStyle/>
                    <a:p>
                      <a:pPr algn="ctr" fontAlgn="base">
                        <a:spcAft>
                          <a:spcPts val="750"/>
                        </a:spcAft>
                      </a:pPr>
                      <a:r>
                        <a:rPr lang="en-BD" sz="2000" spc="10" dirty="0">
                          <a:effectLst/>
                        </a:rPr>
                        <a:t>Client-side scripting</a:t>
                      </a:r>
                      <a:endParaRPr lang="en-BD"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506" marR="25506" marT="63765" marB="63765" anchor="b"/>
                </a:tc>
                <a:tc>
                  <a:txBody>
                    <a:bodyPr/>
                    <a:lstStyle/>
                    <a:p>
                      <a:pPr algn="ctr" fontAlgn="base">
                        <a:spcAft>
                          <a:spcPts val="750"/>
                        </a:spcAft>
                      </a:pPr>
                      <a:r>
                        <a:rPr lang="en-BD" sz="2000" spc="10" dirty="0">
                          <a:effectLst/>
                        </a:rPr>
                        <a:t>Server-side scripting</a:t>
                      </a:r>
                      <a:endParaRPr lang="en-BD"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63765" marB="63765" anchor="b"/>
                </a:tc>
                <a:extLst>
                  <a:ext uri="{0D108BD9-81ED-4DB2-BD59-A6C34878D82A}">
                    <a16:rowId xmlns:a16="http://schemas.microsoft.com/office/drawing/2014/main" val="2071663000"/>
                  </a:ext>
                </a:extLst>
              </a:tr>
              <a:tr h="671135">
                <a:tc>
                  <a:txBody>
                    <a:bodyPr/>
                    <a:lstStyle/>
                    <a:p>
                      <a:r>
                        <a:rPr lang="en-BD" sz="1800" b="0" spc="10" dirty="0">
                          <a:effectLst/>
                        </a:rPr>
                        <a:t>Source code is visible to the user.</a:t>
                      </a:r>
                      <a:endParaRPr lang="en-BD"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tc>
                  <a:txBody>
                    <a:bodyPr/>
                    <a:lstStyle/>
                    <a:p>
                      <a:r>
                        <a:rPr lang="en-BD" sz="1800" spc="10" dirty="0">
                          <a:effectLst/>
                        </a:rPr>
                        <a:t>Source code is not visible to the user because its output </a:t>
                      </a:r>
                      <a:br>
                        <a:rPr lang="en-BD" sz="1800" spc="10" dirty="0">
                          <a:effectLst/>
                        </a:rPr>
                      </a:br>
                      <a:r>
                        <a:rPr lang="en-BD" sz="1800" spc="10" dirty="0">
                          <a:effectLst/>
                        </a:rPr>
                        <a:t>of server-side side is an HTML page. </a:t>
                      </a:r>
                      <a:endParaRPr lang="en-BD"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extLst>
                  <a:ext uri="{0D108BD9-81ED-4DB2-BD59-A6C34878D82A}">
                    <a16:rowId xmlns:a16="http://schemas.microsoft.com/office/drawing/2014/main" val="1202401345"/>
                  </a:ext>
                </a:extLst>
              </a:tr>
              <a:tr h="671135">
                <a:tc>
                  <a:txBody>
                    <a:bodyPr/>
                    <a:lstStyle/>
                    <a:p>
                      <a:r>
                        <a:rPr lang="en-BD" sz="1800" b="0" spc="10" dirty="0">
                          <a:effectLst/>
                        </a:rPr>
                        <a:t>Its main function is to provide the requested output to the end user.</a:t>
                      </a:r>
                      <a:endParaRPr lang="en-BD"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tc>
                  <a:txBody>
                    <a:bodyPr/>
                    <a:lstStyle/>
                    <a:p>
                      <a:r>
                        <a:rPr lang="en-BD" sz="1800" spc="10" dirty="0">
                          <a:effectLst/>
                        </a:rPr>
                        <a:t>Its primary function is to manipulate and provide access to the respective database as per the request.</a:t>
                      </a:r>
                      <a:endParaRPr lang="en-BD"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extLst>
                  <a:ext uri="{0D108BD9-81ED-4DB2-BD59-A6C34878D82A}">
                    <a16:rowId xmlns:a16="http://schemas.microsoft.com/office/drawing/2014/main" val="1185614039"/>
                  </a:ext>
                </a:extLst>
              </a:tr>
              <a:tr h="671135">
                <a:tc>
                  <a:txBody>
                    <a:bodyPr/>
                    <a:lstStyle/>
                    <a:p>
                      <a:r>
                        <a:rPr lang="en-BD" sz="1800" b="0" spc="10" dirty="0">
                          <a:effectLst/>
                        </a:rPr>
                        <a:t>It usually depends on the browser and its version.</a:t>
                      </a:r>
                      <a:endParaRPr lang="en-BD"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tc>
                  <a:txBody>
                    <a:bodyPr/>
                    <a:lstStyle/>
                    <a:p>
                      <a:r>
                        <a:rPr lang="en-BD" sz="1800" spc="10" dirty="0">
                          <a:effectLst/>
                        </a:rPr>
                        <a:t>In this any server-side technology can be used and it does not depend on the client. </a:t>
                      </a:r>
                      <a:endParaRPr lang="en-BD"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extLst>
                  <a:ext uri="{0D108BD9-81ED-4DB2-BD59-A6C34878D82A}">
                    <a16:rowId xmlns:a16="http://schemas.microsoft.com/office/drawing/2014/main" val="3544343234"/>
                  </a:ext>
                </a:extLst>
              </a:tr>
              <a:tr h="434554">
                <a:tc>
                  <a:txBody>
                    <a:bodyPr/>
                    <a:lstStyle/>
                    <a:p>
                      <a:r>
                        <a:rPr lang="en-BD" sz="1800" b="0" spc="10" dirty="0">
                          <a:effectLst/>
                        </a:rPr>
                        <a:t>It runs on the user’s computer.</a:t>
                      </a:r>
                      <a:endParaRPr lang="en-BD"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tc>
                  <a:txBody>
                    <a:bodyPr/>
                    <a:lstStyle/>
                    <a:p>
                      <a:r>
                        <a:rPr lang="en-BD" sz="1800" spc="10">
                          <a:effectLst/>
                        </a:rPr>
                        <a:t>It runs on the webserver.</a:t>
                      </a:r>
                      <a:endParaRPr lang="en-BD"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extLst>
                  <a:ext uri="{0D108BD9-81ED-4DB2-BD59-A6C34878D82A}">
                    <a16:rowId xmlns:a16="http://schemas.microsoft.com/office/drawing/2014/main" val="132164853"/>
                  </a:ext>
                </a:extLst>
              </a:tr>
              <a:tr h="671135">
                <a:tc>
                  <a:txBody>
                    <a:bodyPr/>
                    <a:lstStyle/>
                    <a:p>
                      <a:r>
                        <a:rPr lang="en-BD" sz="1800" b="0" spc="10" dirty="0">
                          <a:effectLst/>
                        </a:rPr>
                        <a:t>There are many advantages linked with this like faster. </a:t>
                      </a:r>
                      <a:br>
                        <a:rPr lang="en-BD" sz="1800" b="0" spc="10" dirty="0">
                          <a:effectLst/>
                        </a:rPr>
                      </a:br>
                      <a:r>
                        <a:rPr lang="en-BD" sz="1800" b="0" spc="10" dirty="0">
                          <a:effectLst/>
                        </a:rPr>
                        <a:t>response times, a more interactive application. </a:t>
                      </a:r>
                      <a:endParaRPr lang="en-BD"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tc>
                  <a:txBody>
                    <a:bodyPr/>
                    <a:lstStyle/>
                    <a:p>
                      <a:r>
                        <a:rPr lang="en-BD" sz="1800" spc="10" dirty="0">
                          <a:effectLst/>
                        </a:rPr>
                        <a:t>The primary advantage is its ability to highly customize, response requirements, access rights based on user. </a:t>
                      </a:r>
                      <a:endParaRPr lang="en-BD"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extLst>
                  <a:ext uri="{0D108BD9-81ED-4DB2-BD59-A6C34878D82A}">
                    <a16:rowId xmlns:a16="http://schemas.microsoft.com/office/drawing/2014/main" val="1267865942"/>
                  </a:ext>
                </a:extLst>
              </a:tr>
              <a:tr h="434554">
                <a:tc>
                  <a:txBody>
                    <a:bodyPr/>
                    <a:lstStyle/>
                    <a:p>
                      <a:r>
                        <a:rPr lang="en-BD" sz="1800" b="0" spc="10" dirty="0">
                          <a:effectLst/>
                        </a:rPr>
                        <a:t>It does not provide security for data.</a:t>
                      </a:r>
                      <a:endParaRPr lang="en-BD"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tc>
                  <a:txBody>
                    <a:bodyPr/>
                    <a:lstStyle/>
                    <a:p>
                      <a:r>
                        <a:rPr lang="en-BD" sz="1800" spc="10">
                          <a:effectLst/>
                        </a:rPr>
                        <a:t>It provides more security for data.</a:t>
                      </a:r>
                      <a:endParaRPr lang="en-BD"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extLst>
                  <a:ext uri="{0D108BD9-81ED-4DB2-BD59-A6C34878D82A}">
                    <a16:rowId xmlns:a16="http://schemas.microsoft.com/office/drawing/2014/main" val="157271843"/>
                  </a:ext>
                </a:extLst>
              </a:tr>
              <a:tr h="671135">
                <a:tc>
                  <a:txBody>
                    <a:bodyPr/>
                    <a:lstStyle/>
                    <a:p>
                      <a:r>
                        <a:rPr lang="en-BD" sz="1800" b="0" spc="10" dirty="0">
                          <a:effectLst/>
                        </a:rPr>
                        <a:t>It is a technique used in web development in which scripts run on the client’s browser.</a:t>
                      </a:r>
                      <a:endParaRPr lang="en-BD"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tc>
                  <a:txBody>
                    <a:bodyPr/>
                    <a:lstStyle/>
                    <a:p>
                      <a:r>
                        <a:rPr lang="en-BD" sz="1800" spc="10">
                          <a:effectLst/>
                        </a:rPr>
                        <a:t>It is a technique that uses scripts on the webserver to produce a response that is customized for each client’s request.</a:t>
                      </a:r>
                      <a:endParaRPr lang="en-BD"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extLst>
                  <a:ext uri="{0D108BD9-81ED-4DB2-BD59-A6C34878D82A}">
                    <a16:rowId xmlns:a16="http://schemas.microsoft.com/office/drawing/2014/main" val="3610097575"/>
                  </a:ext>
                </a:extLst>
              </a:tr>
              <a:tr h="434554">
                <a:tc>
                  <a:txBody>
                    <a:bodyPr/>
                    <a:lstStyle/>
                    <a:p>
                      <a:r>
                        <a:rPr lang="en-BD" sz="1800" b="0" spc="10" dirty="0">
                          <a:effectLst/>
                        </a:rPr>
                        <a:t>HTML, CSS, and javascript are used.</a:t>
                      </a:r>
                      <a:endParaRPr lang="en-BD"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tc>
                  <a:txBody>
                    <a:bodyPr/>
                    <a:lstStyle/>
                    <a:p>
                      <a:r>
                        <a:rPr lang="en-BD" sz="1800" spc="10" dirty="0">
                          <a:effectLst/>
                        </a:rPr>
                        <a:t>PHP, Python, Java, Ruby are used.</a:t>
                      </a:r>
                      <a:endParaRPr lang="en-BD"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extLst>
                  <a:ext uri="{0D108BD9-81ED-4DB2-BD59-A6C34878D82A}">
                    <a16:rowId xmlns:a16="http://schemas.microsoft.com/office/drawing/2014/main" val="2531370205"/>
                  </a:ext>
                </a:extLst>
              </a:tr>
              <a:tr h="434554">
                <a:tc>
                  <a:txBody>
                    <a:bodyPr/>
                    <a:lstStyle/>
                    <a:p>
                      <a:r>
                        <a:rPr lang="en-BD" sz="1800" b="0" spc="10" dirty="0">
                          <a:effectLst/>
                        </a:rPr>
                        <a:t>No need of interaction with the server.</a:t>
                      </a:r>
                      <a:endParaRPr lang="en-BD"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tc>
                  <a:txBody>
                    <a:bodyPr/>
                    <a:lstStyle/>
                    <a:p>
                      <a:r>
                        <a:rPr lang="en-BD" sz="1800" spc="10">
                          <a:effectLst/>
                        </a:rPr>
                        <a:t>It is all about interacting with the servers.</a:t>
                      </a:r>
                      <a:endParaRPr lang="en-BD"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extLst>
                  <a:ext uri="{0D108BD9-81ED-4DB2-BD59-A6C34878D82A}">
                    <a16:rowId xmlns:a16="http://schemas.microsoft.com/office/drawing/2014/main" val="1594404108"/>
                  </a:ext>
                </a:extLst>
              </a:tr>
              <a:tr h="434554">
                <a:tc>
                  <a:txBody>
                    <a:bodyPr/>
                    <a:lstStyle/>
                    <a:p>
                      <a:r>
                        <a:rPr lang="en-BD" sz="1800" b="0" spc="10" dirty="0">
                          <a:effectLst/>
                        </a:rPr>
                        <a:t>It reduces load on processing unit of the server.</a:t>
                      </a:r>
                      <a:endParaRPr lang="en-BD"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tc>
                  <a:txBody>
                    <a:bodyPr/>
                    <a:lstStyle/>
                    <a:p>
                      <a:r>
                        <a:rPr lang="en-BD" sz="1800" spc="10" dirty="0">
                          <a:effectLst/>
                        </a:rPr>
                        <a:t>It surge the processing load on the server.</a:t>
                      </a:r>
                      <a:endParaRPr lang="en-BD"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765" marR="63765" marT="89271" marB="89271" anchor="b"/>
                </a:tc>
                <a:extLst>
                  <a:ext uri="{0D108BD9-81ED-4DB2-BD59-A6C34878D82A}">
                    <a16:rowId xmlns:a16="http://schemas.microsoft.com/office/drawing/2014/main" val="3786748106"/>
                  </a:ext>
                </a:extLst>
              </a:tr>
            </a:tbl>
          </a:graphicData>
        </a:graphic>
      </p:graphicFrame>
    </p:spTree>
    <p:extLst>
      <p:ext uri="{BB962C8B-B14F-4D97-AF65-F5344CB8AC3E}">
        <p14:creationId xmlns:p14="http://schemas.microsoft.com/office/powerpoint/2010/main" val="2849305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A1F78-4D3E-BE0A-B96B-71DFE3702370}"/>
              </a:ext>
            </a:extLst>
          </p:cNvPr>
          <p:cNvSpPr>
            <a:spLocks noGrp="1"/>
          </p:cNvSpPr>
          <p:nvPr>
            <p:ph type="title"/>
          </p:nvPr>
        </p:nvSpPr>
        <p:spPr/>
        <p:txBody>
          <a:bodyPr/>
          <a:lstStyle/>
          <a:p>
            <a:r>
              <a:rPr lang="en-BD" dirty="0"/>
              <a:t>XAMPP</a:t>
            </a:r>
          </a:p>
        </p:txBody>
      </p:sp>
      <p:pic>
        <p:nvPicPr>
          <p:cNvPr id="4" name="Content Placeholder 3">
            <a:extLst>
              <a:ext uri="{FF2B5EF4-FFF2-40B4-BE49-F238E27FC236}">
                <a16:creationId xmlns:a16="http://schemas.microsoft.com/office/drawing/2014/main" id="{FA34AF27-6752-4663-3EFC-ED64EFE6B1C5}"/>
              </a:ext>
            </a:extLst>
          </p:cNvPr>
          <p:cNvPicPr>
            <a:picLocks noGrp="1" noChangeAspect="1"/>
          </p:cNvPicPr>
          <p:nvPr>
            <p:ph idx="1"/>
          </p:nvPr>
        </p:nvPicPr>
        <p:blipFill>
          <a:blip r:embed="rId2"/>
          <a:stretch>
            <a:fillRect/>
          </a:stretch>
        </p:blipFill>
        <p:spPr>
          <a:xfrm>
            <a:off x="1625693" y="1489448"/>
            <a:ext cx="9387448" cy="5176037"/>
          </a:xfrm>
          <a:prstGeom prst="rect">
            <a:avLst/>
          </a:prstGeom>
        </p:spPr>
      </p:pic>
    </p:spTree>
    <p:extLst>
      <p:ext uri="{BB962C8B-B14F-4D97-AF65-F5344CB8AC3E}">
        <p14:creationId xmlns:p14="http://schemas.microsoft.com/office/powerpoint/2010/main" val="4058009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FC8FB-1304-2724-ACFE-E29E3E908A29}"/>
              </a:ext>
            </a:extLst>
          </p:cNvPr>
          <p:cNvSpPr>
            <a:spLocks noGrp="1"/>
          </p:cNvSpPr>
          <p:nvPr>
            <p:ph type="title"/>
          </p:nvPr>
        </p:nvSpPr>
        <p:spPr/>
        <p:txBody>
          <a:bodyPr/>
          <a:lstStyle/>
          <a:p>
            <a:r>
              <a:rPr lang="en-BD" dirty="0"/>
              <a:t>XAMPP</a:t>
            </a:r>
          </a:p>
        </p:txBody>
      </p:sp>
      <p:pic>
        <p:nvPicPr>
          <p:cNvPr id="4" name="Content Placeholder 3">
            <a:extLst>
              <a:ext uri="{FF2B5EF4-FFF2-40B4-BE49-F238E27FC236}">
                <a16:creationId xmlns:a16="http://schemas.microsoft.com/office/drawing/2014/main" id="{CAF1910F-1A70-5135-80BF-1096001AF70D}"/>
              </a:ext>
            </a:extLst>
          </p:cNvPr>
          <p:cNvPicPr>
            <a:picLocks noGrp="1" noChangeAspect="1"/>
          </p:cNvPicPr>
          <p:nvPr>
            <p:ph idx="1"/>
          </p:nvPr>
        </p:nvPicPr>
        <p:blipFill>
          <a:blip r:embed="rId2"/>
          <a:stretch>
            <a:fillRect/>
          </a:stretch>
        </p:blipFill>
        <p:spPr>
          <a:xfrm>
            <a:off x="-216684" y="1631203"/>
            <a:ext cx="5767366" cy="4351338"/>
          </a:xfrm>
          <a:prstGeom prst="rect">
            <a:avLst/>
          </a:prstGeom>
        </p:spPr>
      </p:pic>
      <p:pic>
        <p:nvPicPr>
          <p:cNvPr id="5" name="Picture 4">
            <a:extLst>
              <a:ext uri="{FF2B5EF4-FFF2-40B4-BE49-F238E27FC236}">
                <a16:creationId xmlns:a16="http://schemas.microsoft.com/office/drawing/2014/main" id="{3E02B830-BDCC-C867-595D-E402FD55AF64}"/>
              </a:ext>
            </a:extLst>
          </p:cNvPr>
          <p:cNvPicPr>
            <a:picLocks noChangeAspect="1"/>
          </p:cNvPicPr>
          <p:nvPr/>
        </p:nvPicPr>
        <p:blipFill>
          <a:blip r:embed="rId3"/>
          <a:stretch>
            <a:fillRect/>
          </a:stretch>
        </p:blipFill>
        <p:spPr>
          <a:xfrm>
            <a:off x="3970131" y="365125"/>
            <a:ext cx="8605812" cy="6492875"/>
          </a:xfrm>
          <a:prstGeom prst="rect">
            <a:avLst/>
          </a:prstGeom>
        </p:spPr>
      </p:pic>
    </p:spTree>
    <p:extLst>
      <p:ext uri="{BB962C8B-B14F-4D97-AF65-F5344CB8AC3E}">
        <p14:creationId xmlns:p14="http://schemas.microsoft.com/office/powerpoint/2010/main" val="3566720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F1E2-E017-F527-B343-C49866FE8AF7}"/>
              </a:ext>
            </a:extLst>
          </p:cNvPr>
          <p:cNvSpPr>
            <a:spLocks noGrp="1"/>
          </p:cNvSpPr>
          <p:nvPr>
            <p:ph type="title"/>
          </p:nvPr>
        </p:nvSpPr>
        <p:spPr/>
        <p:txBody>
          <a:bodyPr/>
          <a:lstStyle/>
          <a:p>
            <a:r>
              <a:rPr lang="en-BD" dirty="0"/>
              <a:t>XAMPP</a:t>
            </a:r>
          </a:p>
        </p:txBody>
      </p:sp>
      <p:pic>
        <p:nvPicPr>
          <p:cNvPr id="4" name="Content Placeholder 3">
            <a:extLst>
              <a:ext uri="{FF2B5EF4-FFF2-40B4-BE49-F238E27FC236}">
                <a16:creationId xmlns:a16="http://schemas.microsoft.com/office/drawing/2014/main" id="{DBBD94DE-1355-0D76-8A59-BC6D6D21597C}"/>
              </a:ext>
            </a:extLst>
          </p:cNvPr>
          <p:cNvPicPr>
            <a:picLocks noGrp="1" noChangeAspect="1"/>
          </p:cNvPicPr>
          <p:nvPr>
            <p:ph idx="1"/>
          </p:nvPr>
        </p:nvPicPr>
        <p:blipFill>
          <a:blip r:embed="rId2"/>
          <a:stretch>
            <a:fillRect/>
          </a:stretch>
        </p:blipFill>
        <p:spPr>
          <a:xfrm>
            <a:off x="1980745" y="1529790"/>
            <a:ext cx="8230509" cy="5074892"/>
          </a:xfrm>
          <a:prstGeom prst="rect">
            <a:avLst/>
          </a:prstGeom>
        </p:spPr>
      </p:pic>
    </p:spTree>
    <p:extLst>
      <p:ext uri="{BB962C8B-B14F-4D97-AF65-F5344CB8AC3E}">
        <p14:creationId xmlns:p14="http://schemas.microsoft.com/office/powerpoint/2010/main" val="1440618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EA8C5-0D9C-5452-46DD-AB7480A1CA88}"/>
              </a:ext>
            </a:extLst>
          </p:cNvPr>
          <p:cNvSpPr>
            <a:spLocks noGrp="1"/>
          </p:cNvSpPr>
          <p:nvPr>
            <p:ph type="title"/>
          </p:nvPr>
        </p:nvSpPr>
        <p:spPr>
          <a:xfrm>
            <a:off x="4792756" y="2766218"/>
            <a:ext cx="2606488" cy="1325563"/>
          </a:xfrm>
        </p:spPr>
        <p:txBody>
          <a:bodyPr/>
          <a:lstStyle/>
          <a:p>
            <a:r>
              <a:rPr lang="en-BD" dirty="0"/>
              <a:t>Thank You</a:t>
            </a:r>
          </a:p>
        </p:txBody>
      </p:sp>
    </p:spTree>
    <p:extLst>
      <p:ext uri="{BB962C8B-B14F-4D97-AF65-F5344CB8AC3E}">
        <p14:creationId xmlns:p14="http://schemas.microsoft.com/office/powerpoint/2010/main" val="917943778"/>
      </p:ext>
    </p:extLst>
  </p:cSld>
  <p:clrMapOvr>
    <a:masterClrMapping/>
  </p:clrMapOvr>
</p:sld>
</file>

<file path=ppt/theme/theme1.xml><?xml version="1.0" encoding="utf-8"?>
<a:theme xmlns:a="http://schemas.openxmlformats.org/drawingml/2006/main" name="Office Theme">
  <a:themeElements>
    <a:clrScheme name="Grey">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1037</Words>
  <Application>Microsoft Macintosh PowerPoint</Application>
  <PresentationFormat>Widescreen</PresentationFormat>
  <Paragraphs>86</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Introduction to Web Programming</vt:lpstr>
      <vt:lpstr>Outline</vt:lpstr>
      <vt:lpstr>Client-Server concept</vt:lpstr>
      <vt:lpstr>Client-Server concept</vt:lpstr>
      <vt:lpstr>Server Types</vt:lpstr>
      <vt:lpstr>Remote Procedure Call in servers</vt:lpstr>
      <vt:lpstr>Http Request Types</vt:lpstr>
      <vt:lpstr>Http Request Types</vt:lpstr>
      <vt:lpstr>Browser and Markup Language </vt:lpstr>
      <vt:lpstr>Browser and Markup Language </vt:lpstr>
      <vt:lpstr>Browser and Markup Language </vt:lpstr>
      <vt:lpstr>API and Server Side Programming</vt:lpstr>
      <vt:lpstr>API and Server Side Programming</vt:lpstr>
      <vt:lpstr>PowerPoint Presentation</vt:lpstr>
      <vt:lpstr>XAMPP</vt:lpstr>
      <vt:lpstr>XAMPP</vt:lpstr>
      <vt:lpstr>XAMPP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Web Programming</dc:title>
  <dc:creator>Suhrid Shakhar Ghosh</dc:creator>
  <cp:lastModifiedBy>Suhrid Shakhar Ghosh</cp:lastModifiedBy>
  <cp:revision>8</cp:revision>
  <dcterms:created xsi:type="dcterms:W3CDTF">2023-03-20T04:55:08Z</dcterms:created>
  <dcterms:modified xsi:type="dcterms:W3CDTF">2023-03-20T07:53:28Z</dcterms:modified>
</cp:coreProperties>
</file>