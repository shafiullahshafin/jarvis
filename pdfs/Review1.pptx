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4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78" r:id="rId37"/>
    <p:sldId id="279" r:id="rId38"/>
    <p:sldId id="295" r:id="rId39"/>
    <p:sldId id="306" r:id="rId40"/>
    <p:sldId id="307" r:id="rId41"/>
    <p:sldId id="310" r:id="rId42"/>
    <p:sldId id="311" r:id="rId43"/>
    <p:sldId id="312" r:id="rId44"/>
    <p:sldId id="280" r:id="rId45"/>
    <p:sldId id="296" r:id="rId46"/>
    <p:sldId id="297" r:id="rId47"/>
    <p:sldId id="298" r:id="rId48"/>
    <p:sldId id="299" r:id="rId49"/>
    <p:sldId id="300" r:id="rId50"/>
    <p:sldId id="313" r:id="rId51"/>
    <p:sldId id="314" r:id="rId52"/>
    <p:sldId id="301" r:id="rId53"/>
    <p:sldId id="302" r:id="rId54"/>
    <p:sldId id="303" r:id="rId55"/>
    <p:sldId id="315" r:id="rId56"/>
    <p:sldId id="316" r:id="rId57"/>
    <p:sldId id="317" r:id="rId58"/>
    <p:sldId id="318" r:id="rId59"/>
    <p:sldId id="304" r:id="rId60"/>
    <p:sldId id="305" r:id="rId61"/>
    <p:sldId id="281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-108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interSettings" Target="printerSettings/printerSettings1.bin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57319"/>
            <a:ext cx="8915400" cy="877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034553"/>
            <a:ext cx="8001000" cy="3823447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91440" rIns="274320" bIns="9144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025435"/>
            <a:ext cx="89154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943600"/>
            <a:ext cx="8001000" cy="91440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91440" rIns="274320" bIns="91440" rtlCol="0" anchor="t" anchorCtr="0"/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7988300" cy="3886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399"/>
            <a:ext cx="8915400" cy="2286000"/>
          </a:xfrm>
          <a:solidFill>
            <a:schemeClr val="tx2"/>
          </a:solidFill>
        </p:spPr>
        <p:txBody>
          <a:bodyPr vert="horz" lIns="1188720" tIns="45720" rIns="274320" bIns="45720" rtlCol="0" anchor="b" anchorCtr="0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5484607"/>
            <a:ext cx="8001000" cy="77724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91440" rIns="274320" bIns="9144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595563"/>
            <a:ext cx="3566160" cy="36814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7534" y="2595563"/>
            <a:ext cx="3566160" cy="36814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588" y="2017713"/>
            <a:ext cx="3566160" cy="877887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588" y="3065929"/>
            <a:ext cx="3566160" cy="32110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7534" y="2017713"/>
            <a:ext cx="3566160" cy="877887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7534" y="3065929"/>
            <a:ext cx="3566160" cy="32110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20588" y="188259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8915400" cy="914400"/>
          </a:xfr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7534" y="2590800"/>
            <a:ext cx="3566160" cy="3686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2000"/>
            </a:lvl6pPr>
            <a:lvl7pPr marL="2055813" indent="-344488">
              <a:defRPr sz="2000"/>
            </a:lvl7pPr>
            <a:lvl8pPr marL="2055813" indent="-344488">
              <a:defRPr sz="2000"/>
            </a:lvl8pPr>
            <a:lvl9pPr marL="2055813" indent="-344488"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952" y="2039111"/>
            <a:ext cx="356616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274320" rIns="274320" bIns="27432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8915400" cy="914400"/>
          </a:xfr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7987" y="2048256"/>
            <a:ext cx="3427413" cy="420624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039112"/>
            <a:ext cx="457200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274320" rIns="274320" bIns="274320" rtlCol="0" anchor="t" anchorCtr="0">
            <a:normAutofit/>
          </a:bodyPr>
          <a:lstStyle>
            <a:lvl1pPr marL="0" indent="0"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7988300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3986784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928616" y="1129553"/>
            <a:ext cx="3986784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6601968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7543800" y="1129553"/>
            <a:ext cx="1371600" cy="14813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543800" y="2629169"/>
            <a:ext cx="1371600" cy="14813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7553" y="1129554"/>
            <a:ext cx="914400" cy="5533278"/>
          </a:xfrm>
        </p:spPr>
        <p:txBody>
          <a:bodyPr vert="eaVert" lIns="274320" tIns="685800" bIns="68580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1734671"/>
            <a:ext cx="6426200" cy="4542304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123856"/>
            <a:ext cx="8913813" cy="914400"/>
          </a:xfrm>
          <a:prstGeom prst="rect">
            <a:avLst/>
          </a:prstGeo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4424" y="2595562"/>
            <a:ext cx="7610476" cy="3670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80094" y="18825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2A50F25-69D3-414D-9044-BC976775DBD6}" type="datetimeFigureOut">
              <a:rPr lang="en-US" smtClean="0"/>
              <a:t>4/7/18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0588" y="18825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9894" y="65690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DDB5BFB-398E-6A49-8957-E6974B8A39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0"/>
            <a:ext cx="7999413" cy="1828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6675120"/>
            <a:ext cx="7999413" cy="18288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marL="0" indent="0"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accent1"/>
        </a:buClr>
        <a:buFont typeface="Wingdings 2" pitchFamily="18" charset="2"/>
        <a:buChar char="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/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/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Let 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775208"/>
            <a:ext cx="8001000" cy="3082792"/>
          </a:xfrm>
        </p:spPr>
        <p:txBody>
          <a:bodyPr/>
          <a:lstStyle/>
          <a:p>
            <a:r>
              <a:rPr lang="en-US" dirty="0" smtClean="0"/>
              <a:t>Review class 1</a:t>
            </a:r>
          </a:p>
          <a:p>
            <a:endParaRPr lang="en-US" dirty="0"/>
          </a:p>
          <a:p>
            <a:r>
              <a:rPr lang="en-US" dirty="0" smtClean="0"/>
              <a:t>Dr. Md. Al </a:t>
            </a:r>
            <a:r>
              <a:rPr lang="en-US" dirty="0" err="1" smtClean="0"/>
              <a:t>Mamun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106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C Basic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• </a:t>
            </a:r>
            <a:r>
              <a:rPr lang="en-US" dirty="0">
                <a:solidFill>
                  <a:srgbClr val="000000"/>
                </a:solidFill>
              </a:rPr>
              <a:t>Variable declarations: </a:t>
            </a:r>
            <a:r>
              <a:rPr lang="en-US" b="1" dirty="0" err="1">
                <a:solidFill>
                  <a:srgbClr val="00000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; </a:t>
            </a:r>
            <a:r>
              <a:rPr lang="en-US" b="1" dirty="0">
                <a:solidFill>
                  <a:srgbClr val="000000"/>
                </a:solidFill>
              </a:rPr>
              <a:t>float </a:t>
            </a:r>
            <a:r>
              <a:rPr lang="en-US" dirty="0">
                <a:solidFill>
                  <a:srgbClr val="000000"/>
                </a:solidFill>
              </a:rPr>
              <a:t>f 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• </a:t>
            </a:r>
            <a:r>
              <a:rPr lang="en-US" dirty="0" err="1">
                <a:solidFill>
                  <a:srgbClr val="000000"/>
                </a:solidFill>
              </a:rPr>
              <a:t>Intialization</a:t>
            </a:r>
            <a:r>
              <a:rPr lang="en-US" dirty="0">
                <a:solidFill>
                  <a:srgbClr val="000000"/>
                </a:solidFill>
              </a:rPr>
              <a:t>: </a:t>
            </a:r>
            <a:r>
              <a:rPr lang="en-US" b="1" dirty="0">
                <a:solidFill>
                  <a:srgbClr val="000000"/>
                </a:solidFill>
              </a:rPr>
              <a:t>char </a:t>
            </a:r>
            <a:r>
              <a:rPr lang="en-US" dirty="0">
                <a:solidFill>
                  <a:srgbClr val="000000"/>
                </a:solidFill>
              </a:rPr>
              <a:t>c=’A’; </a:t>
            </a:r>
            <a:r>
              <a:rPr lang="en-US" b="1" dirty="0" err="1">
                <a:solidFill>
                  <a:srgbClr val="00000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x=y=10</a:t>
            </a:r>
            <a:r>
              <a:rPr lang="en-US" dirty="0" smtClean="0">
                <a:solidFill>
                  <a:srgbClr val="000000"/>
                </a:solidFill>
              </a:rPr>
              <a:t>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• </a:t>
            </a:r>
            <a:r>
              <a:rPr lang="en-US" dirty="0">
                <a:solidFill>
                  <a:srgbClr val="000000"/>
                </a:solidFill>
              </a:rPr>
              <a:t>Operators: +,−,∗,/,</a:t>
            </a:r>
            <a:r>
              <a:rPr lang="en-US" dirty="0" smtClean="0">
                <a:solidFill>
                  <a:srgbClr val="000000"/>
                </a:solidFill>
              </a:rPr>
              <a:t>%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• </a:t>
            </a:r>
            <a:r>
              <a:rPr lang="en-US" dirty="0">
                <a:solidFill>
                  <a:srgbClr val="000000"/>
                </a:solidFill>
              </a:rPr>
              <a:t>Expressions: </a:t>
            </a:r>
            <a:r>
              <a:rPr lang="en-US" b="1" dirty="0" err="1">
                <a:solidFill>
                  <a:srgbClr val="00000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x,y,z</a:t>
            </a:r>
            <a:r>
              <a:rPr lang="en-US" dirty="0">
                <a:solidFill>
                  <a:srgbClr val="000000"/>
                </a:solidFill>
              </a:rPr>
              <a:t>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 </a:t>
            </a:r>
            <a:r>
              <a:rPr lang="en-US" dirty="0" smtClean="0">
                <a:solidFill>
                  <a:srgbClr val="000000"/>
                </a:solidFill>
              </a:rPr>
              <a:t>         x</a:t>
            </a:r>
            <a:r>
              <a:rPr lang="en-US" dirty="0">
                <a:solidFill>
                  <a:srgbClr val="000000"/>
                </a:solidFill>
              </a:rPr>
              <a:t>=y∗2+z∗3;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• Function: </a:t>
            </a:r>
            <a:r>
              <a:rPr lang="en-US" b="1" dirty="0" err="1">
                <a:solidFill>
                  <a:srgbClr val="00000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factorial (</a:t>
            </a:r>
            <a:r>
              <a:rPr lang="en-US" b="1" dirty="0" err="1">
                <a:solidFill>
                  <a:srgbClr val="000000"/>
                </a:solidFill>
              </a:rPr>
              <a:t>int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n); /∗function takes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, returns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∗/ 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18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Integer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tandard </a:t>
            </a:r>
            <a:r>
              <a:rPr lang="en-US" dirty="0">
                <a:solidFill>
                  <a:srgbClr val="000000"/>
                </a:solidFill>
              </a:rPr>
              <a:t>integer types with its storage sizes and value ranges</a:t>
            </a:r>
            <a:r>
              <a:rPr lang="en-US" dirty="0" smtClean="0">
                <a:solidFill>
                  <a:srgbClr val="000000"/>
                </a:solidFill>
              </a:rPr>
              <a:t>:</a:t>
            </a:r>
            <a:endParaRPr lang="en-US" sz="2400" baseline="30000" dirty="0" smtClean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92213" y="1985963"/>
          <a:ext cx="7159625" cy="424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954"/>
                <a:gridCol w="1615251"/>
                <a:gridCol w="3520420"/>
              </a:tblGrid>
              <a:tr h="370802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45" marR="91445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Storage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</a:rPr>
                        <a:t> Size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45" marR="91445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Value Range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45" marR="91445" marT="45716" marB="45716"/>
                </a:tc>
              </a:tr>
              <a:tr h="370802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</a:rPr>
                        <a:t>char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</a:rPr>
                        <a:t>1 byte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-128 to 127 or 0 to 255 </a:t>
                      </a:r>
                      <a:endParaRPr lang="en-US" sz="1800" dirty="0" smtClean="0">
                        <a:effectLst/>
                      </a:endParaRPr>
                    </a:p>
                  </a:txBody>
                  <a:tcPr marL="91445" marR="91445" marT="45716" marB="45716" anchor="ctr"/>
                </a:tc>
              </a:tr>
              <a:tr h="370802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</a:rPr>
                        <a:t>Unsigned char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</a:rPr>
                        <a:t>1 byte 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255 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</a:tr>
              <a:tr h="370802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</a:rPr>
                        <a:t>signed char </a:t>
                      </a: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</a:rPr>
                        <a:t>1 byte </a:t>
                      </a: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</a:rPr>
                        <a:t>-128 to 127 </a:t>
                      </a:r>
                    </a:p>
                  </a:txBody>
                  <a:tcPr marL="91445" marR="91445" marT="45716" marB="45716" anchor="ctr"/>
                </a:tc>
              </a:tr>
              <a:tr h="640071">
                <a:tc>
                  <a:txBody>
                    <a:bodyPr/>
                    <a:lstStyle/>
                    <a:p>
                      <a:r>
                        <a:rPr lang="fr-FR" sz="1800" dirty="0" err="1">
                          <a:effectLst/>
                          <a:latin typeface="+mn-lt"/>
                        </a:rPr>
                        <a:t>i</a:t>
                      </a:r>
                      <a:r>
                        <a:rPr lang="fr-FR" sz="1800" dirty="0" err="1" smtClean="0">
                          <a:effectLst/>
                          <a:latin typeface="+mn-lt"/>
                        </a:rPr>
                        <a:t>nt</a:t>
                      </a:r>
                      <a:r>
                        <a:rPr lang="fr-FR" sz="1800" dirty="0" smtClean="0">
                          <a:effectLst/>
                          <a:latin typeface="+mn-lt"/>
                        </a:rPr>
                        <a:t> </a:t>
                      </a:r>
                      <a:endParaRPr lang="fr-FR" sz="1800" dirty="0">
                        <a:effectLst/>
                        <a:latin typeface="+mn-lt"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</a:rPr>
                        <a:t>2 or 4 bytes </a:t>
                      </a: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</a:rPr>
                        <a:t>-32,768 to 32,767 or -2,147,483,648 to 2,147,483,647 </a:t>
                      </a:r>
                    </a:p>
                  </a:txBody>
                  <a:tcPr marL="91445" marR="91445" marT="45716" marB="45716" anchor="ctr"/>
                </a:tc>
              </a:tr>
              <a:tr h="640071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</a:rPr>
                        <a:t>unsigned </a:t>
                      </a:r>
                      <a:r>
                        <a:rPr lang="en-US" sz="1800" dirty="0" err="1" smtClean="0">
                          <a:effectLst/>
                        </a:rPr>
                        <a:t>int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effectLst/>
                          <a:latin typeface="+mn-lt"/>
                        </a:rPr>
                        <a:t>2 or 4 bytes </a:t>
                      </a:r>
                    </a:p>
                    <a:p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65,535 or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4,294,967,295 </a:t>
                      </a:r>
                      <a:endParaRPr lang="en-US" sz="1800" dirty="0" smtClean="0">
                        <a:effectLst/>
                      </a:endParaRPr>
                    </a:p>
                  </a:txBody>
                  <a:tcPr marL="91445" marR="91445" marT="45716" marB="45716" anchor="ctr"/>
                </a:tc>
              </a:tr>
              <a:tr h="370802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</a:rPr>
                        <a:t>short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</a:rPr>
                        <a:t>2 bytes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  <a:latin typeface="+mn-lt"/>
                        </a:rPr>
                        <a:t>-32,768 to 32,767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6" marB="45716" anchor="ctr"/>
                </a:tc>
              </a:tr>
              <a:tr h="3708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unsigned short</a:t>
                      </a:r>
                      <a:endParaRPr lang="en-US" sz="1800" dirty="0"/>
                    </a:p>
                  </a:txBody>
                  <a:tcPr marL="91445" marR="91445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effectLst/>
                        </a:rPr>
                        <a:t>2 bytes</a:t>
                      </a:r>
                    </a:p>
                  </a:txBody>
                  <a:tcPr marL="91445" marR="91445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65,535 </a:t>
                      </a:r>
                    </a:p>
                  </a:txBody>
                  <a:tcPr marL="91445" marR="91445" marT="45716" marB="45716"/>
                </a:tc>
              </a:tr>
              <a:tr h="3708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long</a:t>
                      </a:r>
                      <a:endParaRPr lang="en-US" sz="1800" dirty="0"/>
                    </a:p>
                  </a:txBody>
                  <a:tcPr marL="91445" marR="91445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effectLst/>
                        </a:rPr>
                        <a:t>4 byte</a:t>
                      </a:r>
                    </a:p>
                  </a:txBody>
                  <a:tcPr marL="91445" marR="91445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effectLst/>
                          <a:latin typeface="+mn-lt"/>
                        </a:rPr>
                        <a:t>-2,147,483,648 to 2,147,483,647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16" marB="45716"/>
                </a:tc>
              </a:tr>
              <a:tr h="3708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unsigned</a:t>
                      </a:r>
                      <a:r>
                        <a:rPr lang="en-US" sz="1800" baseline="0" dirty="0" smtClean="0"/>
                        <a:t> long</a:t>
                      </a:r>
                      <a:endParaRPr lang="en-US" sz="1800" dirty="0"/>
                    </a:p>
                  </a:txBody>
                  <a:tcPr marL="91445" marR="91445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effectLst/>
                        </a:rPr>
                        <a:t>4 bytes</a:t>
                      </a:r>
                    </a:p>
                  </a:txBody>
                  <a:tcPr marL="91445" marR="91445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4,294,967,295 </a:t>
                      </a:r>
                      <a:endParaRPr lang="en-US" sz="1800" dirty="0" smtClean="0">
                        <a:effectLst/>
                      </a:endParaRPr>
                    </a:p>
                  </a:txBody>
                  <a:tcPr marL="91445" marR="91445" marT="45716" marB="45716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546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Floating-Point Types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#</a:t>
            </a:r>
            <a:r>
              <a:rPr lang="en-US" dirty="0">
                <a:solidFill>
                  <a:srgbClr val="000000"/>
                </a:solidFill>
              </a:rPr>
              <a:t>include &lt;</a:t>
            </a:r>
            <a:r>
              <a:rPr lang="en-US" dirty="0" err="1">
                <a:solidFill>
                  <a:srgbClr val="000000"/>
                </a:solidFill>
              </a:rPr>
              <a:t>float.h</a:t>
            </a:r>
            <a:r>
              <a:rPr lang="en-US" dirty="0">
                <a:solidFill>
                  <a:srgbClr val="000000"/>
                </a:solidFill>
              </a:rPr>
              <a:t>&gt;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main()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{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("Storage size for float : %d \n", </a:t>
            </a:r>
            <a:r>
              <a:rPr lang="en-US" dirty="0" err="1">
                <a:solidFill>
                  <a:srgbClr val="000000"/>
                </a:solidFill>
              </a:rPr>
              <a:t>sizeof</a:t>
            </a:r>
            <a:r>
              <a:rPr lang="en-US" dirty="0">
                <a:solidFill>
                  <a:srgbClr val="000000"/>
                </a:solidFill>
              </a:rPr>
              <a:t>(float));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("Minimum float positive value: %E\n", FLT_MIN ); </a:t>
            </a: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("Maximum float positive value: %E\n", FLT_MAX ); </a:t>
            </a: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("Precision value: %d\n", FLT_DIG );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return </a:t>
            </a:r>
            <a:r>
              <a:rPr lang="en-US" dirty="0">
                <a:solidFill>
                  <a:srgbClr val="000000"/>
                </a:solidFill>
              </a:rPr>
              <a:t>0;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} </a:t>
            </a:r>
            <a:endParaRPr lang="en-US" dirty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62113" y="5191125"/>
          <a:ext cx="6413500" cy="146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3500"/>
              </a:tblGrid>
              <a:tr h="1463675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Storage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size for float : 4 </a:t>
                      </a:r>
                    </a:p>
                    <a:p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Minimum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float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positive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value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: 1.175494E-38 </a:t>
                      </a:r>
                      <a:endParaRPr lang="fi-FI" sz="1800" dirty="0" smtClean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r>
                        <a:rPr lang="fi-FI" sz="18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Maximum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float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po</a:t>
                      </a:r>
                      <a:r>
                        <a:rPr lang="fi-FI" sz="1800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sitive</a:t>
                      </a:r>
                      <a:r>
                        <a:rPr lang="fi-FI" sz="18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value</a:t>
                      </a:r>
                      <a:r>
                        <a:rPr lang="fi-FI" sz="18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: 3.402823E+38 </a:t>
                      </a:r>
                      <a:endParaRPr lang="fi-FI" sz="1800" dirty="0" smtClean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  <a:p>
                      <a:r>
                        <a:rPr lang="fi-FI" sz="1800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Precision </a:t>
                      </a:r>
                      <a:r>
                        <a:rPr lang="fi-FI" sz="1800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value</a:t>
                      </a:r>
                      <a:r>
                        <a:rPr lang="fi-FI" sz="18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: 6 </a:t>
                      </a:r>
                    </a:p>
                  </a:txBody>
                  <a:tcPr marL="91436" marR="91436" marT="45712" marB="45712" anchor="ctr"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143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Defining Constant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1339850"/>
            <a:ext cx="8001000" cy="551815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#</a:t>
            </a:r>
            <a:r>
              <a:rPr lang="en-US" dirty="0">
                <a:solidFill>
                  <a:srgbClr val="000000"/>
                </a:solidFill>
              </a:rPr>
              <a:t>define LENGTH 10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#</a:t>
            </a:r>
            <a:r>
              <a:rPr lang="en-US" dirty="0">
                <a:solidFill>
                  <a:srgbClr val="000000"/>
                </a:solidFill>
              </a:rPr>
              <a:t>define WIDTH 5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#</a:t>
            </a:r>
            <a:r>
              <a:rPr lang="en-US" dirty="0">
                <a:solidFill>
                  <a:srgbClr val="000000"/>
                </a:solidFill>
              </a:rPr>
              <a:t>define NEWLINE '\</a:t>
            </a:r>
            <a:r>
              <a:rPr lang="en-US" dirty="0" smtClean="0">
                <a:solidFill>
                  <a:srgbClr val="000000"/>
                </a:solidFill>
              </a:rPr>
              <a:t>n’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main() {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area;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area </a:t>
            </a:r>
            <a:r>
              <a:rPr lang="en-US" dirty="0">
                <a:solidFill>
                  <a:srgbClr val="000000"/>
                </a:solidFill>
              </a:rPr>
              <a:t>= LENGTH * WIDTH;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("value of area : %d", area)</a:t>
            </a:r>
            <a:r>
              <a:rPr lang="en-US" dirty="0" smtClean="0">
                <a:solidFill>
                  <a:srgbClr val="000000"/>
                </a:solidFill>
              </a:rPr>
              <a:t>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("%c", NEWLINE);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return </a:t>
            </a:r>
            <a:r>
              <a:rPr lang="en-US" dirty="0">
                <a:solidFill>
                  <a:srgbClr val="000000"/>
                </a:solidFill>
              </a:rPr>
              <a:t>0;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} </a:t>
            </a:r>
            <a:endParaRPr lang="en-US" dirty="0">
              <a:solidFill>
                <a:srgbClr val="000000"/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3260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Defining Constant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main() {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const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LENGTH = 10;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const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WIDTH = 5;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const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char NEWLINE = '\n';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area;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area </a:t>
            </a:r>
            <a:r>
              <a:rPr lang="en-US" dirty="0">
                <a:solidFill>
                  <a:srgbClr val="000000"/>
                </a:solidFill>
              </a:rPr>
              <a:t>= LENGTH * WIDTH;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("value of area : %d", area);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("%c", NEWLINE);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return </a:t>
            </a:r>
            <a:r>
              <a:rPr lang="en-US" dirty="0">
                <a:solidFill>
                  <a:srgbClr val="000000"/>
                </a:solidFill>
              </a:rPr>
              <a:t>0;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} </a:t>
            </a:r>
            <a:endParaRPr lang="en-US" dirty="0">
              <a:solidFill>
                <a:srgbClr val="000000"/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934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C Operators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>
                <a:solidFill>
                  <a:srgbClr val="000000"/>
                </a:solidFill>
              </a:rPr>
              <a:t>Operator performs mathematical or logical operations on the variables</a:t>
            </a:r>
            <a:endParaRPr lang="en-US" dirty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	 </a:t>
            </a:r>
            <a:r>
              <a:rPr lang="en-US" dirty="0"/>
              <a:t> </a:t>
            </a:r>
            <a:r>
              <a:rPr lang="en-US" dirty="0">
                <a:solidFill>
                  <a:srgbClr val="000000"/>
                </a:solidFill>
              </a:rPr>
              <a:t>Arithmetic Operators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 </a:t>
            </a:r>
            <a:r>
              <a:rPr lang="en-US" dirty="0">
                <a:solidFill>
                  <a:srgbClr val="000000"/>
                </a:solidFill>
              </a:rPr>
              <a:t> Relational Operators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 </a:t>
            </a:r>
            <a:r>
              <a:rPr lang="en-US" dirty="0">
                <a:solidFill>
                  <a:srgbClr val="000000"/>
                </a:solidFill>
              </a:rPr>
              <a:t> Logical Operators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 </a:t>
            </a:r>
            <a:r>
              <a:rPr lang="en-US" dirty="0">
                <a:solidFill>
                  <a:srgbClr val="000000"/>
                </a:solidFill>
              </a:rPr>
              <a:t> Bitwise Operators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 </a:t>
            </a:r>
            <a:r>
              <a:rPr lang="en-US" dirty="0">
                <a:solidFill>
                  <a:srgbClr val="000000"/>
                </a:solidFill>
              </a:rPr>
              <a:t> Assignment Operators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 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 err="1">
                <a:solidFill>
                  <a:srgbClr val="000000"/>
                </a:solidFill>
              </a:rPr>
              <a:t>Misc</a:t>
            </a:r>
            <a:r>
              <a:rPr lang="en-US" dirty="0">
                <a:solidFill>
                  <a:srgbClr val="000000"/>
                </a:solidFill>
              </a:rPr>
              <a:t> Operators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0869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Arithmetic Operators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#include &lt;</a:t>
            </a:r>
            <a:r>
              <a:rPr lang="en-US" dirty="0" err="1">
                <a:solidFill>
                  <a:schemeClr val="tx1"/>
                </a:solidFill>
              </a:rPr>
              <a:t>stdio.h</a:t>
            </a:r>
            <a:r>
              <a:rPr lang="en-US" dirty="0">
                <a:solidFill>
                  <a:schemeClr val="tx1"/>
                </a:solidFill>
              </a:rPr>
              <a:t>&gt;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main</a:t>
            </a:r>
            <a:r>
              <a:rPr lang="en-US" dirty="0">
                <a:solidFill>
                  <a:schemeClr val="tx1"/>
                </a:solidFill>
              </a:rPr>
              <a:t>() {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int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 = 21; 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b = 10; 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c 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c </a:t>
            </a:r>
            <a:r>
              <a:rPr lang="en-US" dirty="0">
                <a:solidFill>
                  <a:schemeClr val="tx1"/>
                </a:solidFill>
              </a:rPr>
              <a:t>= a + b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1 - Value of c is %d\n", c );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c </a:t>
            </a:r>
            <a:r>
              <a:rPr lang="en-US" dirty="0">
                <a:solidFill>
                  <a:schemeClr val="tx1"/>
                </a:solidFill>
              </a:rPr>
              <a:t>= a - b;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2 - Value of c is %d\n", c );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c </a:t>
            </a:r>
            <a:r>
              <a:rPr lang="en-US" dirty="0">
                <a:solidFill>
                  <a:schemeClr val="tx1"/>
                </a:solidFill>
              </a:rPr>
              <a:t>= a * b;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3 - Value of c is %d\n", c );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c </a:t>
            </a:r>
            <a:r>
              <a:rPr lang="en-US" dirty="0">
                <a:solidFill>
                  <a:schemeClr val="tx1"/>
                </a:solidFill>
              </a:rPr>
              <a:t>= a / b; 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4 - Value of c is %d\n", c );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c </a:t>
            </a:r>
            <a:r>
              <a:rPr lang="en-US" dirty="0">
                <a:solidFill>
                  <a:schemeClr val="tx1"/>
                </a:solidFill>
              </a:rPr>
              <a:t>= a % b;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5 - Value of c is %d\n", c );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c </a:t>
            </a:r>
            <a:r>
              <a:rPr lang="en-US" dirty="0">
                <a:solidFill>
                  <a:schemeClr val="tx1"/>
                </a:solidFill>
              </a:rPr>
              <a:t>= a++;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6 - Value of c is %d\n", c );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c </a:t>
            </a:r>
            <a:r>
              <a:rPr lang="en-US" dirty="0">
                <a:solidFill>
                  <a:schemeClr val="tx1"/>
                </a:solidFill>
              </a:rPr>
              <a:t>= a--;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7 - Value of c is %d\n", c ); </a:t>
            </a:r>
            <a:endParaRPr lang="en-US" dirty="0" smtClean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             } </a:t>
            </a:r>
            <a:endParaRPr lang="en-US" dirty="0">
              <a:solidFill>
                <a:schemeClr val="tx1"/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6103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Relational Operators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v</a:t>
            </a:r>
            <a:r>
              <a:rPr lang="en-US" dirty="0" smtClean="0">
                <a:solidFill>
                  <a:srgbClr val="000000"/>
                </a:solidFill>
              </a:rPr>
              <a:t>oid main</a:t>
            </a:r>
            <a:r>
              <a:rPr lang="en-US" dirty="0">
                <a:solidFill>
                  <a:srgbClr val="000000"/>
                </a:solidFill>
              </a:rPr>
              <a:t>() {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a = 21;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b = 10</a:t>
            </a:r>
            <a:r>
              <a:rPr lang="en-US" dirty="0" smtClean="0">
                <a:solidFill>
                  <a:srgbClr val="000000"/>
                </a:solidFill>
              </a:rPr>
              <a:t>;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c 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if</a:t>
            </a:r>
            <a:r>
              <a:rPr lang="en-US" dirty="0">
                <a:solidFill>
                  <a:srgbClr val="000000"/>
                </a:solidFill>
              </a:rPr>
              <a:t>( a == b )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1 - a is equal to b\n" );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else 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1 - a is not equal to b\n" )</a:t>
            </a:r>
            <a:r>
              <a:rPr lang="en-US" dirty="0" smtClean="0">
                <a:solidFill>
                  <a:srgbClr val="000000"/>
                </a:solidFill>
              </a:rPr>
              <a:t>;</a:t>
            </a:r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	if </a:t>
            </a:r>
            <a:r>
              <a:rPr lang="en-US" dirty="0">
                <a:solidFill>
                  <a:srgbClr val="000000"/>
                </a:solidFill>
              </a:rPr>
              <a:t>( a &lt; b )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2 - a is less than b\n" ); 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else 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 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2 - a is not less than b\n" );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	if </a:t>
            </a:r>
            <a:r>
              <a:rPr lang="en-US" dirty="0">
                <a:solidFill>
                  <a:srgbClr val="000000"/>
                </a:solidFill>
              </a:rPr>
              <a:t>( a &gt; b )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a is greater than b\n"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else 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a is not greater than b\n" ); 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/</a:t>
            </a:r>
            <a:r>
              <a:rPr lang="en-US" dirty="0">
                <a:solidFill>
                  <a:srgbClr val="000000"/>
                </a:solidFill>
              </a:rPr>
              <a:t>* Lets change value of a and b */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a </a:t>
            </a:r>
            <a:r>
              <a:rPr lang="en-US" dirty="0">
                <a:solidFill>
                  <a:srgbClr val="000000"/>
                </a:solidFill>
              </a:rPr>
              <a:t>= 5; b = 20;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if </a:t>
            </a:r>
            <a:r>
              <a:rPr lang="en-US" dirty="0">
                <a:solidFill>
                  <a:srgbClr val="000000"/>
                </a:solidFill>
              </a:rPr>
              <a:t>( a &lt;= b )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	 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4 - a is either less than or equal to b\n" );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	if </a:t>
            </a:r>
            <a:r>
              <a:rPr lang="en-US" dirty="0">
                <a:solidFill>
                  <a:srgbClr val="000000"/>
                </a:solidFill>
              </a:rPr>
              <a:t>( b &gt;= a )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  	</a:t>
            </a:r>
            <a:r>
              <a:rPr lang="en-US" sz="1700" dirty="0" err="1" smtClean="0">
                <a:solidFill>
                  <a:srgbClr val="000000"/>
                </a:solidFill>
              </a:rPr>
              <a:t>printf</a:t>
            </a:r>
            <a:r>
              <a:rPr lang="en-US" sz="1700" dirty="0">
                <a:solidFill>
                  <a:srgbClr val="000000"/>
                </a:solidFill>
              </a:rPr>
              <a:t>("Line 5 - b is either greater than or equal to </a:t>
            </a:r>
            <a:r>
              <a:rPr lang="en-US" sz="1700" dirty="0" smtClean="0">
                <a:solidFill>
                  <a:srgbClr val="000000"/>
                </a:solidFill>
              </a:rPr>
              <a:t>b\</a:t>
            </a:r>
            <a:r>
              <a:rPr lang="en-US" sz="1700" dirty="0">
                <a:solidFill>
                  <a:srgbClr val="000000"/>
                </a:solidFill>
              </a:rPr>
              <a:t>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} 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5862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Logical Operators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main()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{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a = 5;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b = 20;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c 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if </a:t>
            </a:r>
            <a:r>
              <a:rPr lang="en-US" dirty="0">
                <a:solidFill>
                  <a:srgbClr val="000000"/>
                </a:solidFill>
              </a:rPr>
              <a:t>( a &amp;&amp; b )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1 - Condition is true\n" ); 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if </a:t>
            </a:r>
            <a:r>
              <a:rPr lang="en-US" dirty="0">
                <a:solidFill>
                  <a:srgbClr val="000000"/>
                </a:solidFill>
              </a:rPr>
              <a:t>( a || b )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2 - Condition is true\n" ); 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/</a:t>
            </a:r>
            <a:r>
              <a:rPr lang="en-US" dirty="0">
                <a:solidFill>
                  <a:srgbClr val="000000"/>
                </a:solidFill>
              </a:rPr>
              <a:t>* lets change the value of a and b */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a </a:t>
            </a:r>
            <a:r>
              <a:rPr lang="en-US" dirty="0">
                <a:solidFill>
                  <a:srgbClr val="000000"/>
                </a:solidFill>
              </a:rPr>
              <a:t>= 0; b = 10;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if </a:t>
            </a:r>
            <a:r>
              <a:rPr lang="en-US" dirty="0">
                <a:solidFill>
                  <a:srgbClr val="000000"/>
                </a:solidFill>
              </a:rPr>
              <a:t>( a &amp;&amp; b )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Condition is true\n"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else 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 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Condition is not true\n" ); 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if </a:t>
            </a:r>
            <a:r>
              <a:rPr lang="en-US" dirty="0">
                <a:solidFill>
                  <a:srgbClr val="000000"/>
                </a:solidFill>
              </a:rPr>
              <a:t>( !(a &amp;&amp; b) )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4 - Condition is true\n"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} 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177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ctrTitle"/>
          </p:nvPr>
        </p:nvSpPr>
        <p:spPr>
          <a:xfrm>
            <a:off x="1270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Bitwise Operators (Example)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 = </a:t>
            </a:r>
            <a:r>
              <a:rPr lang="en-US" dirty="0" smtClean="0">
                <a:solidFill>
                  <a:srgbClr val="000000"/>
                </a:solidFill>
              </a:rPr>
              <a:t>00111100     (60)</a:t>
            </a:r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B = </a:t>
            </a:r>
            <a:r>
              <a:rPr lang="en-US" dirty="0" smtClean="0">
                <a:solidFill>
                  <a:srgbClr val="000000"/>
                </a:solidFill>
              </a:rPr>
              <a:t>00001101      (13)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(A &amp; B) will give 12, which is 0000 1100 </a:t>
            </a:r>
            <a:endParaRPr lang="en-US" dirty="0" smtClean="0">
              <a:solidFill>
                <a:srgbClr val="000000"/>
              </a:solidFill>
            </a:endParaRP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(A | B) will give 61, which is 0011 1101 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(A ^ B) will give 49, which is 0011 0001 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(~A ) will give -60, which is 1100 0011 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A &lt;&lt; 2 will give 240, which is 1111 0000 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A &gt;&gt; 2 will give 15, which is 0000 1111 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fontAlgn="auto">
              <a:spcAft>
                <a:spcPts val="0"/>
              </a:spcAft>
              <a:defRPr/>
            </a:pPr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1118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ctrTitle"/>
          </p:nvPr>
        </p:nvSpPr>
        <p:spPr>
          <a:xfrm>
            <a:off x="1270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Bitwise Operators (Example)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Void main</a:t>
            </a:r>
            <a:r>
              <a:rPr lang="en-US" dirty="0">
                <a:solidFill>
                  <a:srgbClr val="000000"/>
                </a:solidFill>
              </a:rPr>
              <a:t>() {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unsigned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a = 60;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unsigned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b = 13;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int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c = 0;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/</a:t>
            </a:r>
            <a:r>
              <a:rPr lang="en-US" dirty="0">
                <a:solidFill>
                  <a:srgbClr val="000000"/>
                </a:solidFill>
              </a:rPr>
              <a:t>* 60 = 0011 1100 */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/</a:t>
            </a:r>
            <a:r>
              <a:rPr lang="en-US" dirty="0">
                <a:solidFill>
                  <a:srgbClr val="000000"/>
                </a:solidFill>
              </a:rPr>
              <a:t>* 13 = 0000 1101 */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c </a:t>
            </a:r>
            <a:r>
              <a:rPr lang="en-US" dirty="0">
                <a:solidFill>
                  <a:srgbClr val="000000"/>
                </a:solidFill>
              </a:rPr>
              <a:t>= a &amp; b; </a:t>
            </a:r>
            <a:r>
              <a:rPr lang="en-US" dirty="0" smtClean="0">
                <a:solidFill>
                  <a:srgbClr val="000000"/>
                </a:solidFill>
              </a:rPr>
              <a:t>	/</a:t>
            </a:r>
            <a:r>
              <a:rPr lang="en-US" dirty="0">
                <a:solidFill>
                  <a:srgbClr val="000000"/>
                </a:solidFill>
              </a:rPr>
              <a:t>* 12 = 0000 1100 */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1 - Value of c is %d\n", c );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c </a:t>
            </a:r>
            <a:r>
              <a:rPr lang="en-US" dirty="0">
                <a:solidFill>
                  <a:srgbClr val="000000"/>
                </a:solidFill>
              </a:rPr>
              <a:t>= a | b; /* 61 = 0011 1101 */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2 - Value of c is %d\n", c ); </a:t>
            </a: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c </a:t>
            </a:r>
            <a:r>
              <a:rPr lang="en-US" dirty="0">
                <a:solidFill>
                  <a:srgbClr val="000000"/>
                </a:solidFill>
              </a:rPr>
              <a:t>= a ^ b; </a:t>
            </a:r>
            <a:r>
              <a:rPr lang="en-US" dirty="0" smtClean="0">
                <a:solidFill>
                  <a:srgbClr val="000000"/>
                </a:solidFill>
              </a:rPr>
              <a:t>	/</a:t>
            </a:r>
            <a:r>
              <a:rPr lang="en-US" dirty="0">
                <a:solidFill>
                  <a:srgbClr val="000000"/>
                </a:solidFill>
              </a:rPr>
              <a:t>* 49 = 0011 0001 */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Value of c is %d\n", c );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c </a:t>
            </a:r>
            <a:r>
              <a:rPr lang="en-US" dirty="0">
                <a:solidFill>
                  <a:srgbClr val="000000"/>
                </a:solidFill>
              </a:rPr>
              <a:t>= ~a; /*-61 = 1100 0011 */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4 - Value of c is %d\n", c );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c </a:t>
            </a:r>
            <a:r>
              <a:rPr lang="en-US" dirty="0">
                <a:solidFill>
                  <a:srgbClr val="000000"/>
                </a:solidFill>
              </a:rPr>
              <a:t>= a &lt;&lt; 2; /* 240 = 1111 0000 */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5 - Value of c is %d\n", c ); 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en-US" dirty="0" smtClean="0">
                <a:solidFill>
                  <a:srgbClr val="000000"/>
                </a:solidFill>
              </a:rPr>
              <a:t>	c </a:t>
            </a:r>
            <a:r>
              <a:rPr lang="en-US" dirty="0">
                <a:solidFill>
                  <a:srgbClr val="000000"/>
                </a:solidFill>
              </a:rPr>
              <a:t>= a &gt;&gt; 2; /* 15 = 0000 1111 */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	</a:t>
            </a:r>
            <a:r>
              <a:rPr lang="en-US" dirty="0" err="1" smtClean="0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6 - Value of c is %d\n", c ); </a:t>
            </a:r>
            <a:endParaRPr lang="en-US" dirty="0" smtClean="0">
              <a:solidFill>
                <a:srgbClr val="00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}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727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Assignment Operators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 smtClean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57313"/>
          <a:ext cx="7900988" cy="483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74"/>
                <a:gridCol w="6161014"/>
              </a:tblGrid>
              <a:tr h="365844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Operator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</a:tr>
              <a:tr h="397189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+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= A + B will assign value of A + B in C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</a:tr>
              <a:tr h="365844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+=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+= A is equivalent to C = C +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</a:tr>
              <a:tr h="44364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-=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-= A is equivalent to C = C -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</a:tr>
              <a:tr h="365844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*=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*= A is equivalent to C = C *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</a:tr>
              <a:tr h="37841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/=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/= A is equivalent to C = C /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%=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%= A is equivalent to C = C %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&lt;&lt;=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&lt;&lt;= 2 is same as C = C &lt;&lt; 2 </a:t>
                      </a:r>
                      <a:endParaRPr lang="en-US" sz="1800" dirty="0" smtClean="0"/>
                    </a:p>
                  </a:txBody>
                  <a:tcPr marL="91430" marR="91430" marT="45736" marB="45736"/>
                </a:tc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&gt;&gt;=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&gt;&gt;= 2 is same as C = C &gt;&gt; 2 </a:t>
                      </a:r>
                      <a:endParaRPr lang="en-US" sz="1800" dirty="0" smtClean="0"/>
                    </a:p>
                  </a:txBody>
                  <a:tcPr marL="91430" marR="91430" marT="45736" marB="45736"/>
                </a:tc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&amp;=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&amp;= 2 is same as C = C &amp; 2 </a:t>
                      </a:r>
                      <a:endParaRPr lang="en-US" sz="1800" dirty="0" smtClean="0"/>
                    </a:p>
                  </a:txBody>
                  <a:tcPr marL="91430" marR="91430" marT="45736" marB="45736"/>
                </a:tc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^=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^= 2 is same as C = C ^ 2 </a:t>
                      </a:r>
                      <a:endParaRPr lang="en-US" sz="1800" dirty="0" smtClean="0"/>
                    </a:p>
                  </a:txBody>
                  <a:tcPr marL="91430" marR="91430" marT="45736" marB="45736"/>
                </a:tc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|=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|= 2 is same as C = C | 2 </a:t>
                      </a:r>
                      <a:endParaRPr lang="en-US" sz="1800" dirty="0" smtClean="0"/>
                    </a:p>
                  </a:txBody>
                  <a:tcPr marL="91430" marR="91430" marT="45736" marB="45736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8713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Misc Operators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 smtClean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689225"/>
          <a:ext cx="787876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289"/>
                <a:gridCol w="4582904"/>
                <a:gridCol w="20015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Operator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Example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000000"/>
                          </a:solidFill>
                        </a:rPr>
                        <a:t>sizeof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size of an variable. </a:t>
                      </a:r>
                      <a:endParaRPr lang="en-US" sz="1800" smtClean="0">
                        <a:effectLst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&amp;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address of an variable.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*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Pointer to a variable.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?: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Conditional Expression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(a&gt;b)?1:0</a:t>
                      </a:r>
                      <a:endParaRPr lang="en-US" sz="1800" dirty="0"/>
                    </a:p>
                  </a:txBody>
                  <a:tcPr marL="91434" marR="91434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3766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>
                <a:latin typeface="Century Gothic" charset="0"/>
              </a:rPr>
              <a:t>Operators Precedence in C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 smtClean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303592"/>
              </p:ext>
            </p:extLst>
          </p:nvPr>
        </p:nvGraphicFramePr>
        <p:xfrm>
          <a:off x="1066082" y="1339850"/>
          <a:ext cx="7321470" cy="5338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772"/>
                <a:gridCol w="3744706"/>
                <a:gridCol w="1859992"/>
              </a:tblGrid>
              <a:tr h="316967">
                <a:tc>
                  <a:txBody>
                    <a:bodyPr/>
                    <a:lstStyle/>
                    <a:p>
                      <a:r>
                        <a:rPr lang="pl-PL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Category</a:t>
                      </a:r>
                      <a:r>
                        <a:rPr lang="pl-PL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it-IT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Operator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Associativity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ro-RO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Postfix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() [] -&gt; . ++ - -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Unary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- ! ~ ++ - - (type)* &amp; sizeof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Right to left </a:t>
                      </a:r>
                    </a:p>
                  </a:txBody>
                  <a:tcPr marT="45717" marB="45717" anchor="ctr"/>
                </a:tc>
              </a:tr>
              <a:tr h="34590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Multiplicative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*/ %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Additive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+-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  <a:latin typeface="+mn-lt"/>
                        </a:rPr>
                        <a:t>Shift</a:t>
                      </a:r>
                      <a:endParaRPr lang="en-US" sz="1400" dirty="0">
                        <a:effectLst/>
                        <a:latin typeface="+mn-lt"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  <a:latin typeface="+mn-lt"/>
                        </a:rPr>
                        <a:t>&lt;&lt; &gt;&gt;</a:t>
                      </a:r>
                      <a:endParaRPr lang="en-US" sz="1400" dirty="0">
                        <a:effectLst/>
                        <a:latin typeface="+mn-lt"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Relational</a:t>
                      </a:r>
                      <a:endParaRPr lang="en-US" sz="1400" dirty="0"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&lt;&lt;=  &gt;&gt;=</a:t>
                      </a:r>
                      <a:endParaRPr lang="en-US" sz="1400" dirty="0"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Equality</a:t>
                      </a:r>
                      <a:endParaRPr lang="en-US" sz="1400" dirty="0"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==  !=</a:t>
                      </a:r>
                      <a:endParaRPr lang="en-US" sz="1400" dirty="0"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Bitwise AND</a:t>
                      </a:r>
                      <a:endParaRPr lang="en-US" sz="1400" dirty="0"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effectLst/>
                        </a:rPr>
                        <a:t>&amp;</a:t>
                      </a:r>
                      <a:endParaRPr lang="en-US" sz="1400" dirty="0"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ro-RO" sz="1400" dirty="0" smtClean="0">
                          <a:solidFill>
                            <a:srgbClr val="000000"/>
                          </a:solidFill>
                          <a:effectLst/>
                        </a:rPr>
                        <a:t>Bitwise XOR</a:t>
                      </a:r>
                      <a:endParaRPr lang="ro-RO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</a:rPr>
                        <a:t>^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ro-RO" sz="1400" dirty="0" smtClean="0">
                          <a:solidFill>
                            <a:srgbClr val="000000"/>
                          </a:solidFill>
                          <a:effectLst/>
                        </a:rPr>
                        <a:t>Bitwise OR</a:t>
                      </a:r>
                      <a:endParaRPr lang="ro-RO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</a:rPr>
                        <a:t>|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ro-RO" sz="1400" dirty="0" smtClean="0">
                          <a:solidFill>
                            <a:srgbClr val="000000"/>
                          </a:solidFill>
                          <a:effectLst/>
                        </a:rPr>
                        <a:t>Logical AND</a:t>
                      </a:r>
                      <a:endParaRPr lang="ro-RO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</a:rPr>
                        <a:t>&amp;&amp;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ro-RO" sz="1400" dirty="0" smtClean="0">
                          <a:solidFill>
                            <a:srgbClr val="000000"/>
                          </a:solidFill>
                          <a:effectLst/>
                        </a:rPr>
                        <a:t>Logical</a:t>
                      </a:r>
                      <a:r>
                        <a:rPr lang="ro-RO" sz="14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OR</a:t>
                      </a:r>
                      <a:endParaRPr lang="ro-RO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</a:rPr>
                        <a:t>||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ro-RO" sz="1400" dirty="0" smtClean="0">
                          <a:solidFill>
                            <a:srgbClr val="000000"/>
                          </a:solidFill>
                          <a:effectLst/>
                        </a:rPr>
                        <a:t>Conditional</a:t>
                      </a:r>
                      <a:endParaRPr lang="ro-RO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</a:rPr>
                        <a:t>?: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Right to left </a:t>
                      </a:r>
                    </a:p>
                  </a:txBody>
                  <a:tcPr marT="45717" marB="45717" anchor="ctr"/>
                </a:tc>
              </a:tr>
              <a:tr h="554696">
                <a:tc>
                  <a:txBody>
                    <a:bodyPr/>
                    <a:lstStyle/>
                    <a:p>
                      <a:r>
                        <a:rPr lang="ro-RO" sz="1400" dirty="0" smtClean="0">
                          <a:solidFill>
                            <a:srgbClr val="000000"/>
                          </a:solidFill>
                          <a:effectLst/>
                        </a:rPr>
                        <a:t>Assignment</a:t>
                      </a:r>
                      <a:endParaRPr lang="ro-RO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</a:rPr>
                        <a:t>= += -=</a:t>
                      </a:r>
                      <a:r>
                        <a:rPr lang="en-US" sz="14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*= /= %= &gt;&gt;= &lt;&lt;= &amp;= ^= |=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Right to left </a:t>
                      </a:r>
                    </a:p>
                  </a:txBody>
                  <a:tcPr marT="45717" marB="45717" anchor="ctr"/>
                </a:tc>
              </a:tr>
              <a:tr h="316967">
                <a:tc>
                  <a:txBody>
                    <a:bodyPr/>
                    <a:lstStyle/>
                    <a:p>
                      <a:r>
                        <a:rPr lang="ro-RO" sz="1400" dirty="0" smtClean="0">
                          <a:solidFill>
                            <a:srgbClr val="000000"/>
                          </a:solidFill>
                          <a:effectLst/>
                        </a:rPr>
                        <a:t>Comma</a:t>
                      </a:r>
                      <a:endParaRPr lang="ro-RO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2904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 Shot 2018-04-06 at 9.23.3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2" y="2582749"/>
            <a:ext cx="9144000" cy="1385455"/>
          </a:xfrm>
          <a:prstGeom prst="rect">
            <a:avLst/>
          </a:prstGeom>
        </p:spPr>
      </p:pic>
      <p:pic>
        <p:nvPicPr>
          <p:cNvPr id="5" name="Picture 4" descr="Screen Shot 2018-04-06 at 9.23.4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5724"/>
            <a:ext cx="9144000" cy="306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778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</p:spPr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ind the simple interest</a:t>
            </a:r>
            <a:endParaRPr lang="en-US" dirty="0"/>
          </a:p>
        </p:txBody>
      </p:sp>
      <p:pic>
        <p:nvPicPr>
          <p:cNvPr id="4" name="Picture 3" descr="Screen Shot 2018-04-06 at 9.27.3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34874"/>
            <a:ext cx="7620000" cy="53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623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</p:spPr>
        <p:txBody>
          <a:bodyPr>
            <a:noAutofit/>
          </a:bodyPr>
          <a:lstStyle/>
          <a:p>
            <a:r>
              <a:rPr lang="en-US" sz="3000" dirty="0" smtClean="0"/>
              <a:t>Swap two variable without 3</a:t>
            </a:r>
            <a:r>
              <a:rPr lang="en-US" sz="3000" baseline="30000" dirty="0" smtClean="0"/>
              <a:t>rd</a:t>
            </a:r>
            <a:r>
              <a:rPr lang="en-US" sz="3000" dirty="0" smtClean="0"/>
              <a:t> Variable</a:t>
            </a:r>
            <a:endParaRPr lang="en-US" sz="3000" dirty="0"/>
          </a:p>
        </p:txBody>
      </p:sp>
      <p:pic>
        <p:nvPicPr>
          <p:cNvPr id="3" name="Picture 2" descr="Screen Shot 2018-04-06 at 9.30.4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88" y="1129091"/>
            <a:ext cx="1943100" cy="698500"/>
          </a:xfrm>
          <a:prstGeom prst="rect">
            <a:avLst/>
          </a:prstGeom>
        </p:spPr>
      </p:pic>
      <p:pic>
        <p:nvPicPr>
          <p:cNvPr id="5" name="Picture 4" descr="Screen Shot 2018-04-06 at 9.30.3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69" y="1755936"/>
            <a:ext cx="53594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</p:spPr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ind the reverse of a number</a:t>
            </a:r>
            <a:endParaRPr lang="en-US" dirty="0"/>
          </a:p>
        </p:txBody>
      </p:sp>
      <p:pic>
        <p:nvPicPr>
          <p:cNvPr id="3" name="Picture 2" descr="Screen Shot 2018-04-06 at 9.33.4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96" y="952500"/>
            <a:ext cx="4922777" cy="550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</p:spPr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ind the gross salary</a:t>
            </a:r>
            <a:endParaRPr lang="en-US" dirty="0"/>
          </a:p>
        </p:txBody>
      </p:sp>
      <p:pic>
        <p:nvPicPr>
          <p:cNvPr id="3" name="Picture 2" descr="Screen Shot 2018-04-06 at 9.35.4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38" y="914400"/>
            <a:ext cx="40259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F</a:t>
            </a:r>
            <a:r>
              <a:rPr lang="en-US" dirty="0" smtClean="0"/>
              <a:t>ind the biggest among 3 numbers</a:t>
            </a:r>
            <a:endParaRPr lang="en-US" dirty="0"/>
          </a:p>
        </p:txBody>
      </p:sp>
      <p:pic>
        <p:nvPicPr>
          <p:cNvPr id="3" name="Picture 2" descr="Screen Shot 2018-04-06 at 9.38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20" y="1039839"/>
            <a:ext cx="4530846" cy="565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</p:spPr>
        <p:txBody>
          <a:bodyPr/>
          <a:lstStyle/>
          <a:p>
            <a:r>
              <a:rPr lang="en-US" dirty="0" smtClean="0"/>
              <a:t>Use of ?:</a:t>
            </a:r>
            <a:endParaRPr lang="en-US" dirty="0"/>
          </a:p>
        </p:txBody>
      </p:sp>
      <p:pic>
        <p:nvPicPr>
          <p:cNvPr id="3" name="Picture 2" descr="Screen Shot 2018-04-06 at 9.40.2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51" y="1284827"/>
            <a:ext cx="3225800" cy="1892300"/>
          </a:xfrm>
          <a:prstGeom prst="rect">
            <a:avLst/>
          </a:prstGeom>
        </p:spPr>
      </p:pic>
      <p:pic>
        <p:nvPicPr>
          <p:cNvPr id="5" name="Picture 4" descr="Screen Shot 2018-04-06 at 9.40.3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51" y="3051687"/>
            <a:ext cx="5029200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165" y="188158"/>
            <a:ext cx="8678648" cy="726241"/>
          </a:xfrm>
        </p:spPr>
        <p:txBody>
          <a:bodyPr>
            <a:normAutofit/>
          </a:bodyPr>
          <a:lstStyle/>
          <a:p>
            <a:r>
              <a:rPr lang="en-US" sz="3000" dirty="0" smtClean="0"/>
              <a:t>Shift the given data by 2 bits to the left</a:t>
            </a:r>
            <a:endParaRPr lang="en-US" sz="3000" dirty="0"/>
          </a:p>
        </p:txBody>
      </p:sp>
      <p:pic>
        <p:nvPicPr>
          <p:cNvPr id="4" name="Picture 3" descr="Screen Shot 2018-04-06 at 10.12.4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65" y="914399"/>
            <a:ext cx="5880100" cy="549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46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843" y="925115"/>
            <a:ext cx="8005745" cy="2555825"/>
          </a:xfrm>
        </p:spPr>
        <p:txBody>
          <a:bodyPr>
            <a:noAutofit/>
          </a:bodyPr>
          <a:lstStyle/>
          <a:p>
            <a:r>
              <a:rPr lang="en-US" sz="3600" dirty="0" smtClean="0"/>
              <a:t>Let C Decision Making and Branching</a:t>
            </a:r>
            <a:endParaRPr lang="en-US" sz="6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50843" y="4045416"/>
            <a:ext cx="8664557" cy="281258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59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1997"/>
            <a:ext cx="8229600" cy="909435"/>
          </a:xfrm>
        </p:spPr>
        <p:txBody>
          <a:bodyPr/>
          <a:lstStyle/>
          <a:p>
            <a:r>
              <a:rPr lang="en-US" dirty="0" smtClean="0"/>
              <a:t>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</a:t>
            </a:r>
          </a:p>
          <a:p>
            <a:endParaRPr lang="en-US" dirty="0"/>
          </a:p>
          <a:p>
            <a:pPr marL="2743200" lvl="8" indent="0">
              <a:buNone/>
            </a:pPr>
            <a:r>
              <a:rPr lang="en-US" dirty="0" smtClean="0"/>
              <a:t>                           </a:t>
            </a:r>
            <a:r>
              <a:rPr lang="en-US" sz="2400" dirty="0" smtClean="0">
                <a:solidFill>
                  <a:srgbClr val="000000"/>
                </a:solidFill>
              </a:rPr>
              <a:t>False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</a:t>
            </a:r>
            <a:r>
              <a:rPr lang="en-US" dirty="0" smtClean="0">
                <a:solidFill>
                  <a:schemeClr val="tx1"/>
                </a:solidFill>
              </a:rPr>
              <a:t>True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>
            <a:stCxn id="3" idx="0"/>
          </p:cNvCxnSpPr>
          <p:nvPr/>
        </p:nvCxnSpPr>
        <p:spPr>
          <a:xfrm>
            <a:off x="4572000" y="1600200"/>
            <a:ext cx="0" cy="782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2994435" y="2389401"/>
            <a:ext cx="2842315" cy="1534552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Condition</a:t>
            </a:r>
            <a:endParaRPr lang="en-US" dirty="0"/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>
            <a:off x="4415593" y="3923953"/>
            <a:ext cx="0" cy="6563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/>
          <p:cNvSpPr/>
          <p:nvPr/>
        </p:nvSpPr>
        <p:spPr>
          <a:xfrm>
            <a:off x="3422369" y="4580322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466525" y="5232142"/>
            <a:ext cx="0" cy="6278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3"/>
          </p:cNvCxnSpPr>
          <p:nvPr/>
        </p:nvCxnSpPr>
        <p:spPr>
          <a:xfrm>
            <a:off x="5836750" y="3156677"/>
            <a:ext cx="8847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721536" y="3156677"/>
            <a:ext cx="0" cy="13951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721536" y="4551786"/>
            <a:ext cx="0" cy="1013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4493610" y="5564879"/>
            <a:ext cx="219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6015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5199"/>
            <a:ext cx="8229600" cy="920584"/>
          </a:xfrm>
        </p:spPr>
        <p:txBody>
          <a:bodyPr/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648" y="1513648"/>
            <a:ext cx="7610476" cy="3670767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sz="2800" dirty="0" smtClean="0">
                <a:solidFill>
                  <a:srgbClr val="000000"/>
                </a:solidFill>
              </a:rPr>
              <a:t>if</a:t>
            </a:r>
            <a:r>
              <a:rPr lang="en-US" sz="2800" dirty="0">
                <a:solidFill>
                  <a:srgbClr val="000000"/>
                </a:solidFill>
              </a:rPr>
              <a:t>(</a:t>
            </a:r>
            <a:r>
              <a:rPr lang="en-US" sz="2800" dirty="0" err="1">
                <a:solidFill>
                  <a:srgbClr val="000000"/>
                </a:solidFill>
              </a:rPr>
              <a:t>boolean_expression</a:t>
            </a:r>
            <a:r>
              <a:rPr lang="en-US" sz="2800" dirty="0">
                <a:solidFill>
                  <a:srgbClr val="000000"/>
                </a:solidFill>
              </a:rPr>
              <a:t>) 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r>
              <a:rPr lang="en-US" sz="2800" dirty="0" smtClean="0">
                <a:solidFill>
                  <a:srgbClr val="000000"/>
                </a:solidFill>
              </a:rPr>
              <a:t>{ </a:t>
            </a:r>
          </a:p>
          <a:p>
            <a:pPr marL="457200" lvl="1" indent="0">
              <a:buNone/>
            </a:pPr>
            <a:r>
              <a:rPr lang="en-US" sz="2800" dirty="0" smtClean="0">
                <a:solidFill>
                  <a:srgbClr val="000000"/>
                </a:solidFill>
              </a:rPr>
              <a:t>/</a:t>
            </a:r>
            <a:r>
              <a:rPr lang="en-US" sz="2800" dirty="0">
                <a:solidFill>
                  <a:srgbClr val="000000"/>
                </a:solidFill>
              </a:rPr>
              <a:t>* statement(s) will execute if the </a:t>
            </a:r>
            <a:r>
              <a:rPr lang="en-US" sz="2800" dirty="0" err="1">
                <a:solidFill>
                  <a:srgbClr val="000000"/>
                </a:solidFill>
              </a:rPr>
              <a:t>boolean</a:t>
            </a:r>
            <a:r>
              <a:rPr lang="en-US" sz="2800" dirty="0">
                <a:solidFill>
                  <a:srgbClr val="000000"/>
                </a:solidFill>
              </a:rPr>
              <a:t> expression is true */ 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000000"/>
                </a:solidFill>
              </a:rPr>
              <a:t>     } </a:t>
            </a:r>
            <a:endParaRPr lang="en-US" sz="28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229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1998"/>
            <a:ext cx="8229600" cy="954021"/>
          </a:xfrm>
        </p:spPr>
        <p:txBody>
          <a:bodyPr/>
          <a:lstStyle/>
          <a:p>
            <a:r>
              <a:rPr lang="en-US" dirty="0" smtClean="0"/>
              <a:t>If else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</a:t>
            </a:r>
          </a:p>
          <a:p>
            <a:endParaRPr lang="en-US" dirty="0"/>
          </a:p>
          <a:p>
            <a:pPr marL="2743200" lvl="8" indent="0">
              <a:buNone/>
            </a:pPr>
            <a:r>
              <a:rPr lang="en-US" dirty="0" smtClean="0"/>
              <a:t>                           </a:t>
            </a:r>
            <a:r>
              <a:rPr lang="en-US" sz="2400" dirty="0" smtClean="0">
                <a:solidFill>
                  <a:srgbClr val="000000"/>
                </a:solidFill>
              </a:rPr>
              <a:t>False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</a:t>
            </a:r>
            <a:r>
              <a:rPr lang="en-US" dirty="0" smtClean="0">
                <a:solidFill>
                  <a:schemeClr val="tx1"/>
                </a:solidFill>
              </a:rPr>
              <a:t>True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>
            <a:stCxn id="3" idx="0"/>
          </p:cNvCxnSpPr>
          <p:nvPr/>
        </p:nvCxnSpPr>
        <p:spPr>
          <a:xfrm>
            <a:off x="4572000" y="1600200"/>
            <a:ext cx="0" cy="782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3324953" y="2389401"/>
            <a:ext cx="2511797" cy="1534552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Condition</a:t>
            </a:r>
            <a:endParaRPr lang="en-US" sz="1600" dirty="0"/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>
            <a:off x="4580852" y="3923953"/>
            <a:ext cx="0" cy="6278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/>
          <p:cNvSpPr/>
          <p:nvPr/>
        </p:nvSpPr>
        <p:spPr>
          <a:xfrm>
            <a:off x="3610505" y="4580322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576271" y="5232142"/>
            <a:ext cx="0" cy="6278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3"/>
          </p:cNvCxnSpPr>
          <p:nvPr/>
        </p:nvCxnSpPr>
        <p:spPr>
          <a:xfrm>
            <a:off x="5836750" y="3156677"/>
            <a:ext cx="8847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721536" y="3156677"/>
            <a:ext cx="0" cy="13951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721536" y="4551786"/>
            <a:ext cx="0" cy="1013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4572000" y="5564879"/>
            <a:ext cx="21495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/>
          <p:cNvSpPr/>
          <p:nvPr/>
        </p:nvSpPr>
        <p:spPr>
          <a:xfrm>
            <a:off x="5760845" y="4575763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707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5198"/>
            <a:ext cx="8229600" cy="949121"/>
          </a:xfrm>
        </p:spPr>
        <p:txBody>
          <a:bodyPr/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582" y="1842927"/>
            <a:ext cx="7610476" cy="36707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	if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boolean_expression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	{ </a:t>
            </a:r>
            <a:r>
              <a:rPr lang="en-US" dirty="0">
                <a:solidFill>
                  <a:srgbClr val="000000"/>
                </a:solidFill>
              </a:rPr>
              <a:t>/* statement(s) will execute if the </a:t>
            </a:r>
            <a:r>
              <a:rPr lang="en-US" dirty="0" smtClean="0">
                <a:solidFill>
                  <a:srgbClr val="000000"/>
                </a:solidFill>
              </a:rPr>
              <a:t>				</a:t>
            </a:r>
            <a:r>
              <a:rPr lang="en-US" dirty="0" err="1" smtClean="0">
                <a:solidFill>
                  <a:srgbClr val="000000"/>
                </a:solidFill>
              </a:rPr>
              <a:t>boolean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expression is true */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		} 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	else 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		{ /</a:t>
            </a:r>
            <a:r>
              <a:rPr lang="en-US" dirty="0">
                <a:solidFill>
                  <a:srgbClr val="000000"/>
                </a:solidFill>
              </a:rPr>
              <a:t>* statement(s) will execute if the </a:t>
            </a:r>
            <a:r>
              <a:rPr lang="en-US" dirty="0" smtClean="0">
                <a:solidFill>
                  <a:srgbClr val="000000"/>
                </a:solidFill>
              </a:rPr>
              <a:t>				</a:t>
            </a:r>
            <a:r>
              <a:rPr lang="en-US" dirty="0" err="1" smtClean="0">
                <a:solidFill>
                  <a:srgbClr val="000000"/>
                </a:solidFill>
              </a:rPr>
              <a:t>boolean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expression is false *</a:t>
            </a:r>
            <a:r>
              <a:rPr lang="en-US" dirty="0" smtClean="0">
                <a:solidFill>
                  <a:srgbClr val="000000"/>
                </a:solidFill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	} 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7921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31" y="188159"/>
            <a:ext cx="8791917" cy="812903"/>
          </a:xfrm>
        </p:spPr>
        <p:txBody>
          <a:bodyPr/>
          <a:lstStyle/>
          <a:p>
            <a:r>
              <a:rPr lang="da-DK" dirty="0">
                <a:effectLst/>
              </a:rPr>
              <a:t>The if...</a:t>
            </a:r>
            <a:r>
              <a:rPr lang="da-DK" dirty="0" err="1">
                <a:effectLst/>
              </a:rPr>
              <a:t>else</a:t>
            </a:r>
            <a:r>
              <a:rPr lang="da-DK" dirty="0">
                <a:effectLst/>
              </a:rPr>
              <a:t> if...</a:t>
            </a:r>
            <a:r>
              <a:rPr lang="da-DK" dirty="0" err="1">
                <a:effectLst/>
              </a:rPr>
              <a:t>else</a:t>
            </a:r>
            <a:r>
              <a:rPr lang="da-DK" dirty="0">
                <a:effectLst/>
              </a:rPr>
              <a:t> Statement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424" y="1536630"/>
            <a:ext cx="7610476" cy="47296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                                     </a:t>
            </a:r>
            <a:r>
              <a:rPr lang="en-US" dirty="0" smtClean="0">
                <a:solidFill>
                  <a:srgbClr val="000000"/>
                </a:solidFill>
              </a:rPr>
              <a:t>T</a:t>
            </a:r>
          </a:p>
          <a:p>
            <a:pPr marL="3657600" lvl="8" indent="0">
              <a:buNone/>
            </a:pPr>
            <a:r>
              <a:rPr lang="en-US" dirty="0" smtClean="0"/>
              <a:t>                       </a:t>
            </a:r>
            <a:endParaRPr lang="en-US" dirty="0"/>
          </a:p>
          <a:p>
            <a:pPr marL="3657600" lvl="8" indent="0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F</a:t>
            </a:r>
            <a:r>
              <a:rPr lang="en-US" dirty="0" smtClean="0"/>
              <a:t>                    </a:t>
            </a:r>
            <a:endParaRPr 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 </a:t>
            </a:r>
            <a:r>
              <a:rPr lang="en-US" dirty="0" smtClean="0">
                <a:solidFill>
                  <a:srgbClr val="000000"/>
                </a:solidFill>
              </a:rPr>
              <a:t>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  F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</a:t>
            </a:r>
            <a:r>
              <a:rPr lang="en-US" dirty="0" smtClean="0">
                <a:solidFill>
                  <a:srgbClr val="000000"/>
                </a:solidFill>
              </a:rPr>
              <a:t>F             T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                                                    F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572000" y="1222981"/>
            <a:ext cx="0" cy="4423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3670075" y="1691845"/>
            <a:ext cx="1812391" cy="767276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572000" y="2459121"/>
            <a:ext cx="0" cy="4235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/>
          <p:cNvSpPr/>
          <p:nvPr/>
        </p:nvSpPr>
        <p:spPr>
          <a:xfrm>
            <a:off x="6157842" y="1684207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453926" y="4198194"/>
            <a:ext cx="7039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572000" y="4886892"/>
            <a:ext cx="0" cy="7776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85977" y="4575763"/>
            <a:ext cx="0" cy="3111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686800" y="4886892"/>
            <a:ext cx="0" cy="1550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4572000" y="6437292"/>
            <a:ext cx="4114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/>
          <p:cNvSpPr/>
          <p:nvPr/>
        </p:nvSpPr>
        <p:spPr>
          <a:xfrm>
            <a:off x="6157842" y="2874330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sp>
        <p:nvSpPr>
          <p:cNvPr id="20" name="Decision 19"/>
          <p:cNvSpPr/>
          <p:nvPr/>
        </p:nvSpPr>
        <p:spPr>
          <a:xfrm>
            <a:off x="3665804" y="3808487"/>
            <a:ext cx="1812391" cy="767276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sp>
        <p:nvSpPr>
          <p:cNvPr id="22" name="Decision 21"/>
          <p:cNvSpPr/>
          <p:nvPr/>
        </p:nvSpPr>
        <p:spPr>
          <a:xfrm>
            <a:off x="3670075" y="2797016"/>
            <a:ext cx="1812391" cy="767276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sp>
        <p:nvSpPr>
          <p:cNvPr id="24" name="Process 23"/>
          <p:cNvSpPr/>
          <p:nvPr/>
        </p:nvSpPr>
        <p:spPr>
          <a:xfrm>
            <a:off x="6157842" y="3963115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85977" y="3486978"/>
            <a:ext cx="0" cy="3111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453926" y="3166274"/>
            <a:ext cx="7039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478195" y="2063009"/>
            <a:ext cx="7039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8686800" y="1954842"/>
            <a:ext cx="0" cy="30103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rocess 40"/>
          <p:cNvSpPr/>
          <p:nvPr/>
        </p:nvSpPr>
        <p:spPr>
          <a:xfrm>
            <a:off x="3598720" y="5499032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572000" y="6126163"/>
            <a:ext cx="0" cy="3111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8112931" y="3201963"/>
            <a:ext cx="5738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8112931" y="4338919"/>
            <a:ext cx="5738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8112931" y="1970278"/>
            <a:ext cx="5738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4585977" y="6437292"/>
            <a:ext cx="0" cy="3111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417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0879"/>
            <a:ext cx="8229600" cy="63395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831"/>
            <a:ext cx="5845223" cy="615544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if(</a:t>
            </a:r>
            <a:r>
              <a:rPr lang="en-US" sz="4000" dirty="0" err="1">
                <a:solidFill>
                  <a:srgbClr val="000000"/>
                </a:solidFill>
              </a:rPr>
              <a:t>boolean_expression</a:t>
            </a:r>
            <a:r>
              <a:rPr lang="en-US" sz="4000" dirty="0">
                <a:solidFill>
                  <a:srgbClr val="000000"/>
                </a:solidFill>
              </a:rPr>
              <a:t> 1) </a:t>
            </a:r>
            <a:endParaRPr lang="en-US" sz="40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{ </a:t>
            </a:r>
            <a:endParaRPr lang="en-US" sz="4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/</a:t>
            </a:r>
            <a:r>
              <a:rPr lang="en-US" sz="4000" dirty="0">
                <a:solidFill>
                  <a:srgbClr val="000000"/>
                </a:solidFill>
              </a:rPr>
              <a:t>* Executes when the </a:t>
            </a:r>
            <a:r>
              <a:rPr lang="en-US" sz="4000" dirty="0" err="1">
                <a:solidFill>
                  <a:srgbClr val="000000"/>
                </a:solidFill>
              </a:rPr>
              <a:t>boolean</a:t>
            </a:r>
            <a:r>
              <a:rPr lang="en-US" sz="4000" dirty="0">
                <a:solidFill>
                  <a:srgbClr val="000000"/>
                </a:solidFill>
              </a:rPr>
              <a:t> expression 1 is true */ </a:t>
            </a:r>
            <a:endParaRPr lang="en-US" sz="40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}</a:t>
            </a:r>
            <a:r>
              <a:rPr lang="en-US" sz="4000" dirty="0">
                <a:solidFill>
                  <a:srgbClr val="000000"/>
                </a:solidFill>
              </a:rPr>
              <a:t/>
            </a:r>
            <a:br>
              <a:rPr lang="en-US" sz="4000" dirty="0">
                <a:solidFill>
                  <a:srgbClr val="000000"/>
                </a:solidFill>
              </a:rPr>
            </a:br>
            <a:r>
              <a:rPr lang="en-US" sz="4000" dirty="0">
                <a:solidFill>
                  <a:srgbClr val="000000"/>
                </a:solidFill>
              </a:rPr>
              <a:t>else if( </a:t>
            </a:r>
            <a:r>
              <a:rPr lang="en-US" sz="4000" dirty="0" err="1">
                <a:solidFill>
                  <a:srgbClr val="000000"/>
                </a:solidFill>
              </a:rPr>
              <a:t>boolean_expression</a:t>
            </a:r>
            <a:r>
              <a:rPr lang="en-US" sz="4000" dirty="0">
                <a:solidFill>
                  <a:srgbClr val="000000"/>
                </a:solidFill>
              </a:rPr>
              <a:t> 2) </a:t>
            </a:r>
            <a:endParaRPr lang="en-US" sz="40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	</a:t>
            </a:r>
            <a:r>
              <a:rPr lang="en-US" sz="4000" dirty="0" smtClean="0">
                <a:solidFill>
                  <a:srgbClr val="000000"/>
                </a:solidFill>
              </a:rPr>
              <a:t>{ </a:t>
            </a:r>
            <a:endParaRPr lang="en-US" sz="4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/</a:t>
            </a:r>
            <a:r>
              <a:rPr lang="en-US" sz="4000" dirty="0">
                <a:solidFill>
                  <a:srgbClr val="000000"/>
                </a:solidFill>
              </a:rPr>
              <a:t>* Executes when the </a:t>
            </a:r>
            <a:r>
              <a:rPr lang="en-US" sz="4000" dirty="0" err="1">
                <a:solidFill>
                  <a:srgbClr val="000000"/>
                </a:solidFill>
              </a:rPr>
              <a:t>boolean</a:t>
            </a:r>
            <a:r>
              <a:rPr lang="en-US" sz="4000" dirty="0">
                <a:solidFill>
                  <a:srgbClr val="000000"/>
                </a:solidFill>
              </a:rPr>
              <a:t> expression 2 is true */ </a:t>
            </a:r>
            <a:endParaRPr lang="en-US" sz="40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	</a:t>
            </a:r>
            <a:r>
              <a:rPr lang="en-US" sz="4000" dirty="0" smtClean="0">
                <a:solidFill>
                  <a:srgbClr val="000000"/>
                </a:solidFill>
              </a:rPr>
              <a:t>}</a:t>
            </a:r>
            <a:r>
              <a:rPr lang="en-US" sz="4000" dirty="0">
                <a:solidFill>
                  <a:srgbClr val="000000"/>
                </a:solidFill>
              </a:rPr>
              <a:t/>
            </a:r>
            <a:br>
              <a:rPr lang="en-US" sz="4000" dirty="0">
                <a:solidFill>
                  <a:srgbClr val="000000"/>
                </a:solidFill>
              </a:rPr>
            </a:br>
            <a:r>
              <a:rPr lang="en-US" sz="4000" dirty="0">
                <a:solidFill>
                  <a:srgbClr val="000000"/>
                </a:solidFill>
              </a:rPr>
              <a:t>else if( </a:t>
            </a:r>
            <a:r>
              <a:rPr lang="en-US" sz="4000" dirty="0" err="1">
                <a:solidFill>
                  <a:srgbClr val="000000"/>
                </a:solidFill>
              </a:rPr>
              <a:t>boolean_expression</a:t>
            </a:r>
            <a:r>
              <a:rPr lang="en-US" sz="4000" dirty="0">
                <a:solidFill>
                  <a:srgbClr val="000000"/>
                </a:solidFill>
              </a:rPr>
              <a:t> 3) </a:t>
            </a:r>
            <a:endParaRPr lang="en-US" sz="40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	</a:t>
            </a:r>
            <a:r>
              <a:rPr lang="en-US" sz="4000" dirty="0" smtClean="0">
                <a:solidFill>
                  <a:srgbClr val="000000"/>
                </a:solidFill>
              </a:rPr>
              <a:t>{ </a:t>
            </a:r>
            <a:endParaRPr lang="en-US" sz="4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/</a:t>
            </a:r>
            <a:r>
              <a:rPr lang="en-US" sz="4000" dirty="0">
                <a:solidFill>
                  <a:srgbClr val="000000"/>
                </a:solidFill>
              </a:rPr>
              <a:t>* Executes when the </a:t>
            </a:r>
            <a:r>
              <a:rPr lang="en-US" sz="4000" dirty="0" err="1">
                <a:solidFill>
                  <a:srgbClr val="000000"/>
                </a:solidFill>
              </a:rPr>
              <a:t>boolean</a:t>
            </a:r>
            <a:r>
              <a:rPr lang="en-US" sz="4000" dirty="0">
                <a:solidFill>
                  <a:srgbClr val="000000"/>
                </a:solidFill>
              </a:rPr>
              <a:t> expression 3 is true */ </a:t>
            </a:r>
            <a:endParaRPr lang="en-US" sz="40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} </a:t>
            </a:r>
            <a:endParaRPr lang="en-US" sz="4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else 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{ 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/</a:t>
            </a:r>
            <a:r>
              <a:rPr lang="en-US" sz="4000" dirty="0">
                <a:solidFill>
                  <a:srgbClr val="000000"/>
                </a:solidFill>
              </a:rPr>
              <a:t>* executes when the none of the above condition is true */ </a:t>
            </a:r>
          </a:p>
          <a:p>
            <a:pPr marL="0" indent="0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	} </a:t>
            </a:r>
            <a:endParaRPr lang="en-US" sz="40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077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580156"/>
            <a:ext cx="8229600" cy="802603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Nested </a:t>
            </a:r>
            <a:r>
              <a:rPr lang="en-US" dirty="0"/>
              <a:t>if statements </a:t>
            </a: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 smtClean="0">
                <a:effectLst/>
              </a:rPr>
              <a:t>Nested </a:t>
            </a:r>
            <a:r>
              <a:rPr lang="en-US" dirty="0">
                <a:effectLst/>
              </a:rPr>
              <a:t>if statements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15032"/>
            <a:ext cx="8229600" cy="46512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You </a:t>
            </a:r>
            <a:r>
              <a:rPr lang="en-US" dirty="0">
                <a:solidFill>
                  <a:srgbClr val="000000"/>
                </a:solidFill>
              </a:rPr>
              <a:t>can use one if or else if statement inside another if or else if statement(s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0000"/>
                </a:solidFill>
              </a:rPr>
              <a:t>Syntax:</a:t>
            </a:r>
            <a:endParaRPr lang="en-US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if( </a:t>
            </a:r>
            <a:r>
              <a:rPr lang="en-US" dirty="0" err="1">
                <a:solidFill>
                  <a:srgbClr val="000000"/>
                </a:solidFill>
              </a:rPr>
              <a:t>boolean_expression</a:t>
            </a:r>
            <a:r>
              <a:rPr lang="en-US" dirty="0">
                <a:solidFill>
                  <a:srgbClr val="000000"/>
                </a:solidFill>
              </a:rPr>
              <a:t> 1)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{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/</a:t>
            </a:r>
            <a:r>
              <a:rPr lang="en-US" dirty="0">
                <a:solidFill>
                  <a:srgbClr val="000000"/>
                </a:solidFill>
              </a:rPr>
              <a:t>* Executes when the </a:t>
            </a:r>
            <a:r>
              <a:rPr lang="en-US" dirty="0" err="1">
                <a:solidFill>
                  <a:srgbClr val="000000"/>
                </a:solidFill>
              </a:rPr>
              <a:t>boolean</a:t>
            </a:r>
            <a:r>
              <a:rPr lang="en-US" dirty="0">
                <a:solidFill>
                  <a:srgbClr val="000000"/>
                </a:solidFill>
              </a:rPr>
              <a:t> expression 1 is true */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if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boolean_expression</a:t>
            </a:r>
            <a:r>
              <a:rPr lang="en-US" dirty="0">
                <a:solidFill>
                  <a:srgbClr val="000000"/>
                </a:solidFill>
              </a:rPr>
              <a:t> 2)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{ 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	</a:t>
            </a:r>
            <a:r>
              <a:rPr lang="en-US" sz="2200" dirty="0" smtClean="0">
                <a:solidFill>
                  <a:srgbClr val="000000"/>
                </a:solidFill>
              </a:rPr>
              <a:t>/</a:t>
            </a:r>
            <a:r>
              <a:rPr lang="en-US" sz="2200" dirty="0">
                <a:solidFill>
                  <a:srgbClr val="000000"/>
                </a:solidFill>
              </a:rPr>
              <a:t>* Executes when the </a:t>
            </a:r>
            <a:r>
              <a:rPr lang="en-US" sz="2200" dirty="0" err="1">
                <a:solidFill>
                  <a:srgbClr val="000000"/>
                </a:solidFill>
              </a:rPr>
              <a:t>boolean</a:t>
            </a:r>
            <a:r>
              <a:rPr lang="en-US" sz="2200" dirty="0">
                <a:solidFill>
                  <a:srgbClr val="000000"/>
                </a:solidFill>
              </a:rPr>
              <a:t> expression 2 </a:t>
            </a:r>
            <a:r>
              <a:rPr lang="en-US" sz="2200" dirty="0" smtClean="0">
                <a:solidFill>
                  <a:srgbClr val="000000"/>
                </a:solidFill>
              </a:rPr>
              <a:t>is true </a:t>
            </a:r>
            <a:r>
              <a:rPr lang="en-US" sz="2200" dirty="0">
                <a:solidFill>
                  <a:srgbClr val="000000"/>
                </a:solidFill>
              </a:rPr>
              <a:t>*/ </a:t>
            </a:r>
            <a:endParaRPr lang="en-US" sz="22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}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} 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5258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60638"/>
            <a:ext cx="8944393" cy="797222"/>
          </a:xfrm>
        </p:spPr>
        <p:txBody>
          <a:bodyPr/>
          <a:lstStyle/>
          <a:p>
            <a:r>
              <a:rPr lang="en-US" dirty="0">
                <a:effectLst/>
              </a:rPr>
              <a:t>Nested if statements 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496608" y="1157861"/>
            <a:ext cx="0" cy="4423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1594683" y="1691845"/>
            <a:ext cx="1812391" cy="767276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496608" y="2459121"/>
            <a:ext cx="0" cy="4235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182111" y="2063009"/>
            <a:ext cx="47723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96608" y="2882628"/>
            <a:ext cx="0" cy="1550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496608" y="3211091"/>
            <a:ext cx="4114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/>
          <p:cNvSpPr/>
          <p:nvPr/>
        </p:nvSpPr>
        <p:spPr>
          <a:xfrm>
            <a:off x="6157842" y="2874330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sp>
        <p:nvSpPr>
          <p:cNvPr id="20" name="Decision 19"/>
          <p:cNvSpPr/>
          <p:nvPr/>
        </p:nvSpPr>
        <p:spPr>
          <a:xfrm>
            <a:off x="6659349" y="1679371"/>
            <a:ext cx="1812391" cy="767276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sp>
        <p:nvSpPr>
          <p:cNvPr id="22" name="Decision 21"/>
          <p:cNvSpPr/>
          <p:nvPr/>
        </p:nvSpPr>
        <p:spPr>
          <a:xfrm>
            <a:off x="3670075" y="1681736"/>
            <a:ext cx="1812391" cy="767276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478195" y="2063009"/>
            <a:ext cx="7039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8686800" y="2063009"/>
            <a:ext cx="0" cy="11389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8112931" y="3201963"/>
            <a:ext cx="5738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20" idx="3"/>
          </p:cNvCxnSpPr>
          <p:nvPr/>
        </p:nvCxnSpPr>
        <p:spPr>
          <a:xfrm>
            <a:off x="8471740" y="2063009"/>
            <a:ext cx="21506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1333916" y="1545002"/>
            <a:ext cx="7610476" cy="367076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    </a:t>
            </a:r>
            <a:r>
              <a:rPr lang="en-US" dirty="0" smtClean="0">
                <a:solidFill>
                  <a:schemeClr val="tx1"/>
                </a:solidFill>
              </a:rPr>
              <a:t>T                          T                                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F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3407074" y="2078499"/>
            <a:ext cx="26300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4681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3068"/>
            <a:ext cx="8229600" cy="71055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 smtClean="0"/>
              <a:t>switch </a:t>
            </a:r>
            <a:r>
              <a:rPr lang="en-US" dirty="0"/>
              <a:t>statement </a:t>
            </a: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 smtClean="0">
                <a:effectLst/>
              </a:rPr>
              <a:t>switch </a:t>
            </a:r>
            <a:r>
              <a:rPr lang="en-US" dirty="0">
                <a:effectLst/>
              </a:rPr>
              <a:t>statement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3624"/>
            <a:ext cx="8229600" cy="56239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 switch statement allows a variable to be tested for equality against a list of values. 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</a:rPr>
              <a:t>Syntax: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switch(expression</a:t>
            </a:r>
            <a:r>
              <a:rPr lang="en-US" dirty="0" smtClean="0">
                <a:solidFill>
                  <a:srgbClr val="000000"/>
                </a:solidFill>
              </a:rPr>
              <a:t>){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case </a:t>
            </a:r>
            <a:r>
              <a:rPr lang="en-US" dirty="0">
                <a:solidFill>
                  <a:srgbClr val="000000"/>
                </a:solidFill>
              </a:rPr>
              <a:t>constant-expression :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	statement</a:t>
            </a:r>
            <a:r>
              <a:rPr lang="en-US" dirty="0">
                <a:solidFill>
                  <a:srgbClr val="000000"/>
                </a:solidFill>
              </a:rPr>
              <a:t>(s); </a:t>
            </a:r>
            <a:r>
              <a:rPr lang="en-US" dirty="0" smtClean="0">
                <a:solidFill>
                  <a:srgbClr val="000000"/>
                </a:solidFill>
              </a:rPr>
              <a:t>break</a:t>
            </a:r>
            <a:r>
              <a:rPr lang="en-US" dirty="0">
                <a:solidFill>
                  <a:srgbClr val="000000"/>
                </a:solidFill>
              </a:rPr>
              <a:t>; /* optional */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case </a:t>
            </a:r>
            <a:r>
              <a:rPr lang="en-US" dirty="0">
                <a:solidFill>
                  <a:srgbClr val="000000"/>
                </a:solidFill>
              </a:rPr>
              <a:t>constant-expression :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statement</a:t>
            </a:r>
            <a:r>
              <a:rPr lang="en-US" dirty="0">
                <a:solidFill>
                  <a:srgbClr val="000000"/>
                </a:solidFill>
              </a:rPr>
              <a:t>(s); break; /* optional */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            ……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/</a:t>
            </a:r>
            <a:r>
              <a:rPr lang="en-US" dirty="0">
                <a:solidFill>
                  <a:srgbClr val="000000"/>
                </a:solidFill>
              </a:rPr>
              <a:t>* you can have any number of case statements */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default </a:t>
            </a:r>
            <a:r>
              <a:rPr lang="en-US" dirty="0">
                <a:solidFill>
                  <a:srgbClr val="000000"/>
                </a:solidFill>
              </a:rPr>
              <a:t>: /* Optional */ 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statement</a:t>
            </a:r>
            <a:r>
              <a:rPr lang="en-US" dirty="0">
                <a:solidFill>
                  <a:srgbClr val="000000"/>
                </a:solidFill>
              </a:rPr>
              <a:t>(s);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5444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54" y="100268"/>
            <a:ext cx="8799091" cy="1085215"/>
          </a:xfrm>
        </p:spPr>
        <p:txBody>
          <a:bodyPr/>
          <a:lstStyle/>
          <a:p>
            <a:r>
              <a:rPr lang="en-US" dirty="0">
                <a:effectLst/>
              </a:rPr>
              <a:t>switch statement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                </a:t>
            </a:r>
            <a:endParaRPr lang="en-US" dirty="0" smtClean="0">
              <a:solidFill>
                <a:srgbClr val="000000"/>
              </a:solidFill>
            </a:endParaRPr>
          </a:p>
          <a:p>
            <a:pPr marL="3657600" lvl="8" indent="0">
              <a:buNone/>
            </a:pPr>
            <a:r>
              <a:rPr lang="en-US" dirty="0" smtClean="0"/>
              <a:t>                       </a:t>
            </a:r>
            <a:endParaRPr lang="en-US" dirty="0"/>
          </a:p>
          <a:p>
            <a:pPr marL="3657600" lvl="8" indent="0">
              <a:buNone/>
            </a:pPr>
            <a:r>
              <a:rPr lang="en-US" dirty="0" smtClean="0"/>
              <a:t>                    </a:t>
            </a:r>
            <a:endParaRPr 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/>
              <a:t> </a:t>
            </a:r>
            <a:r>
              <a:rPr lang="en-US" dirty="0" smtClean="0"/>
              <a:t>                  </a:t>
            </a:r>
            <a:r>
              <a:rPr lang="en-US" dirty="0" smtClean="0">
                <a:solidFill>
                  <a:srgbClr val="000000"/>
                </a:solidFill>
              </a:rPr>
              <a:t>Case 1  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     </a:t>
            </a:r>
            <a:r>
              <a:rPr lang="en-US" dirty="0" smtClean="0">
                <a:solidFill>
                  <a:srgbClr val="000000"/>
                </a:solidFill>
              </a:rPr>
              <a:t>                                Case 2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</a:rPr>
              <a:t>				       Default</a:t>
            </a:r>
          </a:p>
        </p:txBody>
      </p:sp>
      <p:cxnSp>
        <p:nvCxnSpPr>
          <p:cNvPr id="5" name="Straight Arrow Connector 4"/>
          <p:cNvCxnSpPr>
            <a:endCxn id="3" idx="0"/>
          </p:cNvCxnSpPr>
          <p:nvPr/>
        </p:nvCxnSpPr>
        <p:spPr>
          <a:xfrm>
            <a:off x="4572000" y="1157861"/>
            <a:ext cx="0" cy="4423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3670075" y="1691845"/>
            <a:ext cx="1812391" cy="767276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572000" y="2459121"/>
            <a:ext cx="0" cy="4235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585977" y="4198194"/>
            <a:ext cx="15718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572000" y="4886892"/>
            <a:ext cx="0" cy="7776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85977" y="3798107"/>
            <a:ext cx="0" cy="10887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686800" y="4886892"/>
            <a:ext cx="0" cy="1550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4572000" y="6437292"/>
            <a:ext cx="4114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/>
          <p:cNvSpPr/>
          <p:nvPr/>
        </p:nvSpPr>
        <p:spPr>
          <a:xfrm>
            <a:off x="6157842" y="2874330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sp>
        <p:nvSpPr>
          <p:cNvPr id="24" name="Process 23"/>
          <p:cNvSpPr/>
          <p:nvPr/>
        </p:nvSpPr>
        <p:spPr>
          <a:xfrm>
            <a:off x="6157842" y="3963115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72000" y="2874330"/>
            <a:ext cx="13977" cy="9237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4572000" y="3166274"/>
            <a:ext cx="1585842" cy="35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8686800" y="3166274"/>
            <a:ext cx="0" cy="17988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rocess 40"/>
          <p:cNvSpPr/>
          <p:nvPr/>
        </p:nvSpPr>
        <p:spPr>
          <a:xfrm>
            <a:off x="6157842" y="5499032"/>
            <a:ext cx="1955089" cy="612648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572000" y="5664548"/>
            <a:ext cx="0" cy="7727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8112931" y="3201963"/>
            <a:ext cx="5738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8112931" y="4338919"/>
            <a:ext cx="5738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4585977" y="6437292"/>
            <a:ext cx="0" cy="3111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572000" y="5877533"/>
            <a:ext cx="158584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8112931" y="5863624"/>
            <a:ext cx="5738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499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918"/>
            <a:ext cx="8229600" cy="833624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1542"/>
            <a:ext cx="8229600" cy="481114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#include &lt;</a:t>
            </a:r>
            <a:r>
              <a:rPr lang="en-US" sz="1400" dirty="0" err="1">
                <a:solidFill>
                  <a:srgbClr val="000000"/>
                </a:solidFill>
              </a:rPr>
              <a:t>stdio.h</a:t>
            </a:r>
            <a:r>
              <a:rPr lang="en-US" sz="1400" dirty="0">
                <a:solidFill>
                  <a:srgbClr val="000000"/>
                </a:solidFill>
              </a:rPr>
              <a:t>&gt;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 smtClean="0">
                <a:solidFill>
                  <a:srgbClr val="000000"/>
                </a:solidFill>
              </a:rPr>
              <a:t>int</a:t>
            </a:r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main ()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/* local variable definition */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char </a:t>
            </a:r>
            <a:r>
              <a:rPr lang="en-US" sz="1400" dirty="0">
                <a:solidFill>
                  <a:srgbClr val="000000"/>
                </a:solidFill>
              </a:rPr>
              <a:t>grade = 'B';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switch</a:t>
            </a:r>
            <a:r>
              <a:rPr lang="en-US" sz="1400" dirty="0">
                <a:solidFill>
                  <a:srgbClr val="000000"/>
                </a:solidFill>
              </a:rPr>
              <a:t>(grade) {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case </a:t>
            </a:r>
            <a:r>
              <a:rPr lang="en-US" sz="1400" dirty="0">
                <a:solidFill>
                  <a:srgbClr val="000000"/>
                </a:solidFill>
              </a:rPr>
              <a:t>'A' 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smtClean="0">
                <a:solidFill>
                  <a:srgbClr val="000000"/>
                </a:solidFill>
              </a:rPr>
              <a:t>		</a:t>
            </a:r>
            <a:r>
              <a:rPr lang="en-US" sz="1400" dirty="0" err="1" smtClean="0">
                <a:solidFill>
                  <a:srgbClr val="000000"/>
                </a:solidFill>
              </a:rPr>
              <a:t>printf</a:t>
            </a:r>
            <a:r>
              <a:rPr lang="en-US" sz="1400" dirty="0">
                <a:solidFill>
                  <a:srgbClr val="000000"/>
                </a:solidFill>
              </a:rPr>
              <a:t>("Excellent!\n" );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break</a:t>
            </a:r>
            <a:r>
              <a:rPr lang="en-US" sz="1400" dirty="0">
                <a:solidFill>
                  <a:srgbClr val="000000"/>
                </a:solidFill>
              </a:rPr>
              <a:t>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case </a:t>
            </a:r>
            <a:r>
              <a:rPr lang="en-US" sz="1400" dirty="0">
                <a:solidFill>
                  <a:srgbClr val="000000"/>
                </a:solidFill>
              </a:rPr>
              <a:t>'B' :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case </a:t>
            </a:r>
            <a:r>
              <a:rPr lang="en-US" sz="1400" dirty="0">
                <a:solidFill>
                  <a:srgbClr val="000000"/>
                </a:solidFill>
              </a:rPr>
              <a:t>'C' :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</a:t>
            </a:r>
            <a:r>
              <a:rPr lang="en-US" sz="1400" dirty="0" err="1" smtClean="0">
                <a:solidFill>
                  <a:srgbClr val="000000"/>
                </a:solidFill>
              </a:rPr>
              <a:t>printf</a:t>
            </a:r>
            <a:r>
              <a:rPr lang="en-US" sz="1400" dirty="0">
                <a:solidFill>
                  <a:srgbClr val="000000"/>
                </a:solidFill>
              </a:rPr>
              <a:t>("Well done\n" );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break</a:t>
            </a:r>
            <a:r>
              <a:rPr lang="en-US" sz="1400" dirty="0">
                <a:solidFill>
                  <a:srgbClr val="000000"/>
                </a:solidFill>
              </a:rPr>
              <a:t>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case </a:t>
            </a:r>
            <a:r>
              <a:rPr lang="en-US" sz="1400" dirty="0">
                <a:solidFill>
                  <a:srgbClr val="000000"/>
                </a:solidFill>
              </a:rPr>
              <a:t>'D' :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</a:t>
            </a:r>
            <a:r>
              <a:rPr lang="en-US" sz="1400" dirty="0" err="1" smtClean="0">
                <a:solidFill>
                  <a:srgbClr val="000000"/>
                </a:solidFill>
              </a:rPr>
              <a:t>printf</a:t>
            </a:r>
            <a:r>
              <a:rPr lang="en-US" sz="1400" dirty="0">
                <a:solidFill>
                  <a:srgbClr val="000000"/>
                </a:solidFill>
              </a:rPr>
              <a:t>("You passed\n" );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break</a:t>
            </a:r>
            <a:r>
              <a:rPr lang="en-US" sz="1400" dirty="0">
                <a:solidFill>
                  <a:srgbClr val="000000"/>
                </a:solidFill>
              </a:rPr>
              <a:t>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case </a:t>
            </a:r>
            <a:r>
              <a:rPr lang="en-US" sz="1400" dirty="0">
                <a:solidFill>
                  <a:srgbClr val="000000"/>
                </a:solidFill>
              </a:rPr>
              <a:t>'F' :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</a:t>
            </a:r>
            <a:r>
              <a:rPr lang="en-US" sz="1400" dirty="0" err="1" smtClean="0">
                <a:solidFill>
                  <a:srgbClr val="000000"/>
                </a:solidFill>
              </a:rPr>
              <a:t>printf</a:t>
            </a:r>
            <a:r>
              <a:rPr lang="en-US" sz="1400" dirty="0">
                <a:solidFill>
                  <a:srgbClr val="000000"/>
                </a:solidFill>
              </a:rPr>
              <a:t>("Better try again\n" );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break</a:t>
            </a:r>
            <a:r>
              <a:rPr lang="en-US" sz="1400" dirty="0">
                <a:solidFill>
                  <a:srgbClr val="000000"/>
                </a:solidFill>
              </a:rPr>
              <a:t>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default </a:t>
            </a:r>
            <a:r>
              <a:rPr lang="en-US" sz="1400" dirty="0">
                <a:solidFill>
                  <a:srgbClr val="000000"/>
                </a:solidFill>
              </a:rPr>
              <a:t>: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</a:t>
            </a:r>
            <a:r>
              <a:rPr lang="en-US" sz="1400" dirty="0" err="1" smtClean="0">
                <a:solidFill>
                  <a:srgbClr val="000000"/>
                </a:solidFill>
              </a:rPr>
              <a:t>printf</a:t>
            </a:r>
            <a:r>
              <a:rPr lang="en-US" sz="1400" dirty="0">
                <a:solidFill>
                  <a:srgbClr val="000000"/>
                </a:solidFill>
              </a:rPr>
              <a:t>("Invalid grade\n" ); </a:t>
            </a: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	</a:t>
            </a:r>
            <a:r>
              <a:rPr lang="en-US" sz="1400" dirty="0" smtClean="0">
                <a:solidFill>
                  <a:srgbClr val="000000"/>
                </a:solidFill>
              </a:rPr>
              <a:t>	} </a:t>
            </a:r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 smtClean="0">
                <a:solidFill>
                  <a:srgbClr val="000000"/>
                </a:solidFill>
              </a:rPr>
              <a:t>printf</a:t>
            </a:r>
            <a:r>
              <a:rPr lang="en-US" sz="1400" dirty="0">
                <a:solidFill>
                  <a:srgbClr val="000000"/>
                </a:solidFill>
              </a:rPr>
              <a:t>("Your grade is %c\n", grade 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</a:rPr>
              <a:t>return 0; } </a:t>
            </a:r>
          </a:p>
          <a:p>
            <a:pPr>
              <a:spcBef>
                <a:spcPts val="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188472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F</a:t>
            </a:r>
            <a:r>
              <a:rPr lang="en-US" dirty="0" smtClean="0"/>
              <a:t>ind the given year is leap year or not</a:t>
            </a:r>
            <a:endParaRPr lang="en-US" dirty="0"/>
          </a:p>
        </p:txBody>
      </p:sp>
      <p:pic>
        <p:nvPicPr>
          <p:cNvPr id="3" name="Picture 2" descr="Screen Shot 2018-04-06 at 10.04.2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42" y="1039698"/>
            <a:ext cx="64389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2478"/>
            <a:ext cx="8913813" cy="741921"/>
          </a:xfrm>
        </p:spPr>
        <p:txBody>
          <a:bodyPr>
            <a:noAutofit/>
          </a:bodyPr>
          <a:lstStyle/>
          <a:p>
            <a:r>
              <a:rPr lang="en-US" sz="2200" dirty="0" smtClean="0"/>
              <a:t>Use switch statement to display Monday to </a:t>
            </a:r>
            <a:r>
              <a:rPr lang="en-US" sz="2200" dirty="0" err="1" smtClean="0"/>
              <a:t>sunday</a:t>
            </a:r>
            <a:endParaRPr lang="en-US" sz="2200" dirty="0"/>
          </a:p>
        </p:txBody>
      </p:sp>
      <p:pic>
        <p:nvPicPr>
          <p:cNvPr id="3" name="Picture 2" descr="Screen Shot 2018-04-06 at 10.15.3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" y="1047729"/>
            <a:ext cx="83947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8-04-06 at 10.15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999" y="0"/>
            <a:ext cx="4762183" cy="6858000"/>
          </a:xfrm>
          <a:prstGeom prst="rect">
            <a:avLst/>
          </a:prstGeom>
        </p:spPr>
      </p:pic>
      <p:pic>
        <p:nvPicPr>
          <p:cNvPr id="5" name="Picture 4" descr="Screen Shot 2018-04-06 at 10.17.5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122" y="4946221"/>
            <a:ext cx="16637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375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37755"/>
            <a:ext cx="8229600" cy="841630"/>
          </a:xfrm>
        </p:spPr>
        <p:txBody>
          <a:bodyPr/>
          <a:lstStyle/>
          <a:p>
            <a:r>
              <a:rPr lang="en-US" dirty="0" smtClean="0"/>
              <a:t>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</a:t>
            </a:r>
            <a:endParaRPr 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                            </a:t>
            </a:r>
            <a:r>
              <a:rPr lang="en-US" dirty="0" smtClean="0"/>
              <a:t>                                   </a:t>
            </a:r>
            <a:r>
              <a:rPr lang="en-US" dirty="0" smtClean="0"/>
              <a:t>False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/>
              <a:t>True 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>
            <a:stCxn id="3" idx="0"/>
          </p:cNvCxnSpPr>
          <p:nvPr/>
        </p:nvCxnSpPr>
        <p:spPr>
          <a:xfrm>
            <a:off x="4572000" y="1600200"/>
            <a:ext cx="0" cy="78271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3324953" y="2389401"/>
            <a:ext cx="2511797" cy="1534552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Condition</a:t>
            </a:r>
            <a:endParaRPr lang="en-US" sz="1600" dirty="0"/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>
            <a:off x="4580852" y="3923953"/>
            <a:ext cx="0" cy="627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/>
          <p:cNvSpPr/>
          <p:nvPr/>
        </p:nvSpPr>
        <p:spPr>
          <a:xfrm>
            <a:off x="3594455" y="4539435"/>
            <a:ext cx="1955089" cy="612648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572000" y="972367"/>
            <a:ext cx="0" cy="627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31317" y="3199954"/>
            <a:ext cx="88478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431317" y="3199954"/>
            <a:ext cx="0" cy="16458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1"/>
          </p:cNvCxnSpPr>
          <p:nvPr/>
        </p:nvCxnSpPr>
        <p:spPr>
          <a:xfrm flipH="1">
            <a:off x="2431317" y="4845759"/>
            <a:ext cx="116313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817950" y="3199954"/>
            <a:ext cx="14277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230675" y="3199954"/>
            <a:ext cx="0" cy="2422754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572000" y="5622708"/>
            <a:ext cx="265867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596760" y="5622708"/>
            <a:ext cx="0" cy="78271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877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617"/>
            <a:ext cx="8229600" cy="61216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</a:t>
            </a:r>
            <a:endParaRPr 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                         </a:t>
            </a:r>
            <a:r>
              <a:rPr lang="en-US" dirty="0" smtClean="0"/>
              <a:t>                                      </a:t>
            </a:r>
            <a:r>
              <a:rPr lang="en-US" dirty="0" smtClean="0"/>
              <a:t>False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</a:t>
            </a:r>
            <a:r>
              <a:rPr lang="en-US" dirty="0"/>
              <a:t> </a:t>
            </a:r>
            <a:r>
              <a:rPr lang="en-US" dirty="0" smtClean="0"/>
              <a:t>True 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>
            <a:stCxn id="3" idx="0"/>
          </p:cNvCxnSpPr>
          <p:nvPr/>
        </p:nvCxnSpPr>
        <p:spPr>
          <a:xfrm>
            <a:off x="4572000" y="1600200"/>
            <a:ext cx="0" cy="78271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3324953" y="2389401"/>
            <a:ext cx="2511797" cy="1534552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Condition</a:t>
            </a:r>
            <a:endParaRPr lang="en-US" sz="1600" dirty="0"/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>
            <a:off x="4580852" y="3923953"/>
            <a:ext cx="0" cy="627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/>
          <p:cNvSpPr/>
          <p:nvPr/>
        </p:nvSpPr>
        <p:spPr>
          <a:xfrm>
            <a:off x="3594455" y="4539435"/>
            <a:ext cx="1955089" cy="612648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572000" y="876782"/>
            <a:ext cx="0" cy="627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31317" y="3199954"/>
            <a:ext cx="88478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431317" y="3199954"/>
            <a:ext cx="0" cy="253335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426206" y="5733305"/>
            <a:ext cx="116313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817950" y="3199954"/>
            <a:ext cx="14277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230675" y="3199954"/>
            <a:ext cx="15069" cy="295200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572000" y="6127943"/>
            <a:ext cx="265867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566889" y="6103876"/>
            <a:ext cx="0" cy="86098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rocess 20"/>
          <p:cNvSpPr/>
          <p:nvPr/>
        </p:nvSpPr>
        <p:spPr>
          <a:xfrm>
            <a:off x="3619215" y="1522476"/>
            <a:ext cx="1955089" cy="612648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Initialization</a:t>
            </a:r>
            <a:endParaRPr lang="en-US" dirty="0"/>
          </a:p>
        </p:txBody>
      </p:sp>
      <p:sp>
        <p:nvSpPr>
          <p:cNvPr id="22" name="Process 21"/>
          <p:cNvSpPr/>
          <p:nvPr/>
        </p:nvSpPr>
        <p:spPr>
          <a:xfrm>
            <a:off x="3589344" y="5351963"/>
            <a:ext cx="1955089" cy="612648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Update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566890" y="5152084"/>
            <a:ext cx="13962" cy="21599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1360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for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for ( </a:t>
            </a:r>
            <a:r>
              <a:rPr lang="en-US" dirty="0" err="1"/>
              <a:t>init</a:t>
            </a:r>
            <a:r>
              <a:rPr lang="en-US" dirty="0"/>
              <a:t>; condition; increment 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 </a:t>
            </a:r>
            <a:r>
              <a:rPr lang="en-US" dirty="0"/>
              <a:t>( </a:t>
            </a:r>
            <a:r>
              <a:rPr lang="en-US" dirty="0" err="1"/>
              <a:t>init</a:t>
            </a:r>
            <a:r>
              <a:rPr lang="en-US" dirty="0"/>
              <a:t>; condition; increment 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statement</a:t>
            </a:r>
            <a:r>
              <a:rPr lang="en-US" dirty="0"/>
              <a:t>(s); </a:t>
            </a:r>
          </a:p>
          <a:p>
            <a:pPr marL="0" indent="0">
              <a:buNone/>
            </a:pPr>
            <a:r>
              <a:rPr lang="en-US" dirty="0" smtClean="0"/>
              <a:t>		} </a:t>
            </a:r>
          </a:p>
          <a:p>
            <a:pPr marL="0" indent="0">
              <a:buNone/>
            </a:pPr>
            <a:r>
              <a:rPr lang="en-US" dirty="0" smtClean="0"/>
              <a:t>	statement</a:t>
            </a:r>
            <a:r>
              <a:rPr lang="en-US" dirty="0"/>
              <a:t>(s);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99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while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while(condition)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while</a:t>
            </a:r>
            <a:r>
              <a:rPr lang="en-US" dirty="0"/>
              <a:t>(condition)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statement</a:t>
            </a:r>
            <a:r>
              <a:rPr lang="en-US" dirty="0"/>
              <a:t>(s);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statement</a:t>
            </a:r>
            <a:r>
              <a:rPr lang="en-US" dirty="0"/>
              <a:t>(s);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5636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do…..while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 </a:t>
            </a:r>
          </a:p>
          <a:p>
            <a:pPr marL="0" indent="0">
              <a:buNone/>
            </a:pPr>
            <a:r>
              <a:rPr lang="en-US" dirty="0"/>
              <a:t>{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statement</a:t>
            </a:r>
            <a:r>
              <a:rPr lang="en-US" dirty="0"/>
              <a:t>(s);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do </a:t>
            </a:r>
            <a:r>
              <a:rPr lang="en-US" dirty="0"/>
              <a:t>{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statement</a:t>
            </a:r>
            <a:r>
              <a:rPr lang="en-US" dirty="0"/>
              <a:t>(s);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  <a:r>
              <a:rPr lang="en-US" dirty="0"/>
              <a:t>while( condition 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  <a:r>
              <a:rPr lang="en-US" dirty="0"/>
              <a:t>while( condition 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4531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Display the first 10 natural number and their sum</a:t>
            </a:r>
            <a:endParaRPr lang="en-US" dirty="0"/>
          </a:p>
        </p:txBody>
      </p:sp>
      <p:pic>
        <p:nvPicPr>
          <p:cNvPr id="3" name="Picture 2" descr="Screen Shot 2018-04-06 at 10.20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35" y="914400"/>
            <a:ext cx="3594100" cy="5676900"/>
          </a:xfrm>
          <a:prstGeom prst="rect">
            <a:avLst/>
          </a:prstGeom>
        </p:spPr>
      </p:pic>
      <p:pic>
        <p:nvPicPr>
          <p:cNvPr id="5" name="Picture 4" descr="Screen Shot 2018-04-06 at 10.20.2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650" y="4695039"/>
            <a:ext cx="16637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/>
          <a:lstStyle/>
          <a:p>
            <a:r>
              <a:rPr lang="en-US" dirty="0" smtClean="0"/>
              <a:t>Print Square sequence 1</a:t>
            </a:r>
            <a:endParaRPr lang="en-US" dirty="0"/>
          </a:p>
        </p:txBody>
      </p:sp>
      <p:pic>
        <p:nvPicPr>
          <p:cNvPr id="4" name="Picture 3" descr="Screen Shot 2018-04-06 at 11.18.0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151020"/>
            <a:ext cx="43180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750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/>
          <a:lstStyle/>
          <a:p>
            <a:r>
              <a:rPr lang="en-US" dirty="0" smtClean="0"/>
              <a:t>Print Square sequence 2</a:t>
            </a:r>
            <a:endParaRPr lang="en-US" dirty="0"/>
          </a:p>
        </p:txBody>
      </p:sp>
      <p:pic>
        <p:nvPicPr>
          <p:cNvPr id="3" name="Picture 2" descr="Screen Shot 2018-04-06 at 11.19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0" y="1151020"/>
            <a:ext cx="3467100" cy="2235200"/>
          </a:xfrm>
          <a:prstGeom prst="rect">
            <a:avLst/>
          </a:prstGeom>
        </p:spPr>
      </p:pic>
      <p:pic>
        <p:nvPicPr>
          <p:cNvPr id="5" name="Picture 4" descr="Screen Shot 2018-04-06 at 11.19.1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7286"/>
            <a:ext cx="3924300" cy="385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8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/>
          <a:lstStyle/>
          <a:p>
            <a:r>
              <a:rPr lang="en-US" dirty="0" smtClean="0"/>
              <a:t>Print Square sequence 3</a:t>
            </a:r>
            <a:endParaRPr lang="en-US" dirty="0"/>
          </a:p>
        </p:txBody>
      </p:sp>
      <p:pic>
        <p:nvPicPr>
          <p:cNvPr id="3" name="Picture 2" descr="Screen Shot 2018-04-06 at 11.20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42" y="1362714"/>
            <a:ext cx="3447662" cy="5217438"/>
          </a:xfrm>
          <a:prstGeom prst="rect">
            <a:avLst/>
          </a:prstGeom>
        </p:spPr>
      </p:pic>
      <p:pic>
        <p:nvPicPr>
          <p:cNvPr id="5" name="Picture 4" descr="Screen Shot 2018-04-06 at 11.20.4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29000"/>
            <a:ext cx="25908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8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Print the Fibonacci series up to 100</a:t>
            </a:r>
            <a:endParaRPr lang="en-US" dirty="0"/>
          </a:p>
        </p:txBody>
      </p:sp>
      <p:pic>
        <p:nvPicPr>
          <p:cNvPr id="3" name="Picture 2" descr="Screen Shot 2018-04-06 at 11.23.0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0" y="1151020"/>
            <a:ext cx="4673600" cy="566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8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/>
          <a:lstStyle/>
          <a:p>
            <a:r>
              <a:rPr lang="en-US" dirty="0" smtClean="0"/>
              <a:t>Find the factorial of a number</a:t>
            </a:r>
            <a:endParaRPr lang="en-US" dirty="0"/>
          </a:p>
        </p:txBody>
      </p:sp>
      <p:pic>
        <p:nvPicPr>
          <p:cNvPr id="3" name="Picture 2" descr="Screen Shot 2018-04-06 at 11.24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98" y="1315736"/>
            <a:ext cx="3390900" cy="2596802"/>
          </a:xfrm>
          <a:prstGeom prst="rect">
            <a:avLst/>
          </a:prstGeom>
        </p:spPr>
      </p:pic>
      <p:pic>
        <p:nvPicPr>
          <p:cNvPr id="5" name="Picture 4" descr="Screen Shot 2018-04-06 at 11.24.4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18" y="3912538"/>
            <a:ext cx="35433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8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5993"/>
            <a:ext cx="8913813" cy="659306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287805"/>
            <a:ext cx="7583487" cy="52527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dirty="0"/>
              <a:t>#include &lt;</a:t>
            </a:r>
            <a:r>
              <a:rPr lang="en-US" sz="2300" dirty="0" err="1"/>
              <a:t>stdio.h</a:t>
            </a:r>
            <a:r>
              <a:rPr lang="en-US" sz="2300" dirty="0"/>
              <a:t>&gt; 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err="1" smtClean="0"/>
              <a:t>int</a:t>
            </a:r>
            <a:r>
              <a:rPr lang="en-US" sz="2300" dirty="0" smtClean="0"/>
              <a:t> </a:t>
            </a:r>
            <a:r>
              <a:rPr lang="en-US" sz="2300" dirty="0"/>
              <a:t>main () { </a:t>
            </a:r>
          </a:p>
          <a:p>
            <a:pPr marL="0" indent="0">
              <a:buNone/>
            </a:pPr>
            <a:r>
              <a:rPr lang="en-US" sz="2300" dirty="0"/>
              <a:t>/* local variable definition */ 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err="1" smtClean="0"/>
              <a:t>int</a:t>
            </a:r>
            <a:r>
              <a:rPr lang="en-US" sz="2300" dirty="0" smtClean="0"/>
              <a:t> </a:t>
            </a:r>
            <a:r>
              <a:rPr lang="en-US" sz="2300" dirty="0" err="1"/>
              <a:t>i</a:t>
            </a:r>
            <a:r>
              <a:rPr lang="en-US" sz="2300" dirty="0"/>
              <a:t>, j; </a:t>
            </a:r>
          </a:p>
          <a:p>
            <a:pPr marL="0" indent="0">
              <a:buNone/>
            </a:pPr>
            <a:r>
              <a:rPr lang="en-US" sz="2300" dirty="0"/>
              <a:t>for(</a:t>
            </a:r>
            <a:r>
              <a:rPr lang="en-US" sz="2300" dirty="0" err="1"/>
              <a:t>i</a:t>
            </a:r>
            <a:r>
              <a:rPr lang="en-US" sz="2300" dirty="0"/>
              <a:t>=2; </a:t>
            </a:r>
            <a:r>
              <a:rPr lang="en-US" sz="2300" dirty="0" err="1"/>
              <a:t>i</a:t>
            </a:r>
            <a:r>
              <a:rPr lang="en-US" sz="2300" dirty="0"/>
              <a:t>&lt;100; </a:t>
            </a:r>
            <a:r>
              <a:rPr lang="en-US" sz="2300" dirty="0" err="1"/>
              <a:t>i</a:t>
            </a:r>
            <a:r>
              <a:rPr lang="en-US" sz="2300" dirty="0"/>
              <a:t>++) 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/>
              <a:t>	</a:t>
            </a:r>
            <a:r>
              <a:rPr lang="en-US" sz="2300" dirty="0" smtClean="0"/>
              <a:t>{ </a:t>
            </a:r>
            <a:r>
              <a:rPr lang="en-US" sz="2300" dirty="0"/>
              <a:t>for(j=2; j &lt;= (</a:t>
            </a:r>
            <a:r>
              <a:rPr lang="en-US" sz="2300" dirty="0" err="1"/>
              <a:t>i</a:t>
            </a:r>
            <a:r>
              <a:rPr lang="en-US" sz="2300" dirty="0"/>
              <a:t>/j); j++) </a:t>
            </a:r>
          </a:p>
          <a:p>
            <a:pPr marL="0" indent="0">
              <a:buNone/>
            </a:pPr>
            <a:r>
              <a:rPr lang="en-US" sz="2300" dirty="0" smtClean="0"/>
              <a:t>	if</a:t>
            </a:r>
            <a:r>
              <a:rPr lang="en-US" sz="2300" dirty="0"/>
              <a:t>(!(</a:t>
            </a:r>
            <a:r>
              <a:rPr lang="en-US" sz="2300" dirty="0" err="1"/>
              <a:t>i%j</a:t>
            </a:r>
            <a:r>
              <a:rPr lang="en-US" sz="2300" dirty="0"/>
              <a:t>)) break; // if factor found, not prime 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/>
              <a:t>	</a:t>
            </a:r>
            <a:r>
              <a:rPr lang="en-US" sz="2300" dirty="0" smtClean="0"/>
              <a:t>if</a:t>
            </a:r>
            <a:r>
              <a:rPr lang="en-US" sz="2300" dirty="0"/>
              <a:t>(j &gt; (</a:t>
            </a:r>
            <a:r>
              <a:rPr lang="en-US" sz="2300" dirty="0" err="1"/>
              <a:t>i</a:t>
            </a:r>
            <a:r>
              <a:rPr lang="en-US" sz="2300" dirty="0"/>
              <a:t>/j)) 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/>
              <a:t>	</a:t>
            </a:r>
            <a:r>
              <a:rPr lang="en-US" sz="2300" dirty="0" err="1" smtClean="0"/>
              <a:t>printf</a:t>
            </a:r>
            <a:r>
              <a:rPr lang="en-US" sz="2300" dirty="0"/>
              <a:t>("%d is prime\n", </a:t>
            </a:r>
            <a:r>
              <a:rPr lang="en-US" sz="2300" dirty="0" err="1"/>
              <a:t>i</a:t>
            </a:r>
            <a:r>
              <a:rPr lang="en-US" sz="2300" dirty="0"/>
              <a:t>); 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smtClean="0"/>
              <a:t>	} </a:t>
            </a:r>
          </a:p>
          <a:p>
            <a:pPr marL="0" indent="0">
              <a:buNone/>
            </a:pPr>
            <a:r>
              <a:rPr lang="en-US" sz="2300" dirty="0" smtClean="0"/>
              <a:t>return </a:t>
            </a:r>
            <a:r>
              <a:rPr lang="en-US" sz="2300" dirty="0"/>
              <a:t>0; 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251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18210"/>
            <a:ext cx="8913813" cy="781389"/>
          </a:xfrm>
        </p:spPr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2 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3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5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7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11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13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17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19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23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29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31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37 </a:t>
            </a:r>
            <a:r>
              <a:rPr lang="en-US" dirty="0"/>
              <a:t>is prime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41 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43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47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53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59 </a:t>
            </a:r>
            <a:r>
              <a:rPr lang="en-US" dirty="0"/>
              <a:t>is prime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61 </a:t>
            </a:r>
            <a:r>
              <a:rPr lang="en-US" dirty="0"/>
              <a:t>is prime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192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Find a given number is prime or not</a:t>
            </a:r>
            <a:endParaRPr lang="en-US" dirty="0"/>
          </a:p>
        </p:txBody>
      </p:sp>
      <p:pic>
        <p:nvPicPr>
          <p:cNvPr id="3" name="Picture 2" descr="Screen Shot 2018-04-06 at 11.26.0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10" y="1151020"/>
            <a:ext cx="3860800" cy="557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8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Print sum of series 1+1/2+1/3+…1/n</a:t>
            </a:r>
            <a:endParaRPr lang="en-US" dirty="0"/>
          </a:p>
        </p:txBody>
      </p:sp>
      <p:pic>
        <p:nvPicPr>
          <p:cNvPr id="3" name="Picture 2" descr="Screen Shot 2018-04-06 at 11.27.2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41" y="1151020"/>
            <a:ext cx="46101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8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/>
          <a:lstStyle/>
          <a:p>
            <a:r>
              <a:rPr lang="en-US" dirty="0" smtClean="0"/>
              <a:t>Display sum of 1+3+5+…..+n</a:t>
            </a:r>
            <a:endParaRPr lang="en-US" dirty="0"/>
          </a:p>
        </p:txBody>
      </p:sp>
      <p:pic>
        <p:nvPicPr>
          <p:cNvPr id="3" name="Picture 2" descr="Screen Shot 2018-04-06 at 11.30.3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86" y="1151020"/>
            <a:ext cx="3949700" cy="3530600"/>
          </a:xfrm>
          <a:prstGeom prst="rect">
            <a:avLst/>
          </a:prstGeom>
        </p:spPr>
      </p:pic>
      <p:pic>
        <p:nvPicPr>
          <p:cNvPr id="5" name="Picture 4" descr="Screen Shot 2018-04-06 at 11.30.4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86" y="4394200"/>
            <a:ext cx="33147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8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2259"/>
            <a:ext cx="8229600" cy="875602"/>
          </a:xfrm>
        </p:spPr>
        <p:txBody>
          <a:bodyPr/>
          <a:lstStyle/>
          <a:p>
            <a:r>
              <a:rPr lang="en-US" dirty="0"/>
              <a:t>b</a:t>
            </a:r>
            <a:r>
              <a:rPr lang="en-US" dirty="0" smtClean="0"/>
              <a:t>reak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</a:t>
            </a:r>
            <a:endParaRPr 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                        True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</a:t>
            </a:r>
            <a:r>
              <a:rPr lang="en-US" dirty="0"/>
              <a:t> </a:t>
            </a:r>
            <a:r>
              <a:rPr lang="en-US" dirty="0" smtClean="0"/>
              <a:t>     False 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>
            <a:stCxn id="3" idx="0"/>
          </p:cNvCxnSpPr>
          <p:nvPr/>
        </p:nvCxnSpPr>
        <p:spPr>
          <a:xfrm>
            <a:off x="4572000" y="1600200"/>
            <a:ext cx="0" cy="78271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3324953" y="2389401"/>
            <a:ext cx="2511797" cy="1534552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Condition</a:t>
            </a:r>
            <a:endParaRPr lang="en-US" sz="1600" dirty="0"/>
          </a:p>
        </p:txBody>
      </p:sp>
      <p:sp>
        <p:nvSpPr>
          <p:cNvPr id="11" name="Process 10"/>
          <p:cNvSpPr/>
          <p:nvPr/>
        </p:nvSpPr>
        <p:spPr>
          <a:xfrm>
            <a:off x="3619215" y="1522476"/>
            <a:ext cx="1955089" cy="612648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572000" y="904092"/>
            <a:ext cx="0" cy="627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31317" y="3172644"/>
            <a:ext cx="88478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443077" y="1829715"/>
            <a:ext cx="0" cy="13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1"/>
          </p:cNvCxnSpPr>
          <p:nvPr/>
        </p:nvCxnSpPr>
        <p:spPr>
          <a:xfrm flipH="1">
            <a:off x="2456077" y="1828800"/>
            <a:ext cx="116313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596760" y="3923954"/>
            <a:ext cx="0" cy="104399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574304" y="1829715"/>
            <a:ext cx="88478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456169" y="1844024"/>
            <a:ext cx="2921" cy="181745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4"/>
          <p:cNvSpPr/>
          <p:nvPr/>
        </p:nvSpPr>
        <p:spPr>
          <a:xfrm>
            <a:off x="5671516" y="3675129"/>
            <a:ext cx="1575147" cy="953765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break</a:t>
            </a:r>
            <a:endParaRPr lang="en-US" sz="160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6456169" y="4628894"/>
            <a:ext cx="0" cy="5326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4820355" y="5158940"/>
            <a:ext cx="1619998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410689" y="4967952"/>
            <a:ext cx="366136" cy="38463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89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2945"/>
            <a:ext cx="8913813" cy="9144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542965"/>
            <a:ext cx="7583487" cy="51068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 ()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/* local variable definition */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a = 10;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/* while loop execution */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while</a:t>
            </a:r>
            <a:r>
              <a:rPr lang="en-US" dirty="0"/>
              <a:t>( a &lt; 20 )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("value of a: %d\n", a);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smtClean="0"/>
              <a:t>a</a:t>
            </a:r>
            <a:r>
              <a:rPr lang="en-US" dirty="0"/>
              <a:t>++;</a:t>
            </a:r>
            <a:br>
              <a:rPr lang="en-US" dirty="0"/>
            </a:br>
            <a:r>
              <a:rPr lang="en-US" dirty="0" smtClean="0"/>
              <a:t>	if</a:t>
            </a:r>
            <a:r>
              <a:rPr lang="en-US" dirty="0"/>
              <a:t>( a &gt; 15)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		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		/</a:t>
            </a:r>
            <a:r>
              <a:rPr lang="en-US" dirty="0"/>
              <a:t>* terminate the loop using break statement */ 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		break</a:t>
            </a:r>
            <a:r>
              <a:rPr lang="en-US" dirty="0"/>
              <a:t>;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smtClean="0"/>
              <a:t>	} 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		} 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return 0; </a:t>
            </a: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/>
              <a:t>}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2051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617"/>
            <a:ext cx="8229600" cy="893244"/>
          </a:xfrm>
        </p:spPr>
        <p:txBody>
          <a:bodyPr/>
          <a:lstStyle/>
          <a:p>
            <a:r>
              <a:rPr lang="en-US" dirty="0" smtClean="0"/>
              <a:t>continue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</a:t>
            </a:r>
            <a:endParaRPr 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                        True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</a:t>
            </a:r>
            <a:r>
              <a:rPr lang="en-US" dirty="0"/>
              <a:t> </a:t>
            </a:r>
            <a:r>
              <a:rPr lang="en-US" dirty="0" smtClean="0"/>
              <a:t>     False 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>
            <a:stCxn id="3" idx="0"/>
          </p:cNvCxnSpPr>
          <p:nvPr/>
        </p:nvCxnSpPr>
        <p:spPr>
          <a:xfrm>
            <a:off x="4572000" y="1600200"/>
            <a:ext cx="0" cy="78271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ecision 6"/>
          <p:cNvSpPr/>
          <p:nvPr/>
        </p:nvSpPr>
        <p:spPr>
          <a:xfrm>
            <a:off x="3324953" y="2389401"/>
            <a:ext cx="2511797" cy="1534552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Condition</a:t>
            </a:r>
            <a:endParaRPr lang="en-US" dirty="0"/>
          </a:p>
        </p:txBody>
      </p:sp>
      <p:sp>
        <p:nvSpPr>
          <p:cNvPr id="11" name="Process 10"/>
          <p:cNvSpPr/>
          <p:nvPr/>
        </p:nvSpPr>
        <p:spPr>
          <a:xfrm>
            <a:off x="3619215" y="1522476"/>
            <a:ext cx="1955089" cy="612648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 Expression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572000" y="904092"/>
            <a:ext cx="0" cy="627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31317" y="3172644"/>
            <a:ext cx="88478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443077" y="1829715"/>
            <a:ext cx="0" cy="13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1"/>
          </p:cNvCxnSpPr>
          <p:nvPr/>
        </p:nvCxnSpPr>
        <p:spPr>
          <a:xfrm flipH="1">
            <a:off x="2456077" y="1828800"/>
            <a:ext cx="116313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596760" y="3923954"/>
            <a:ext cx="0" cy="104399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574302" y="1829715"/>
            <a:ext cx="19311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505474" y="1829715"/>
            <a:ext cx="0" cy="86604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4"/>
          <p:cNvSpPr/>
          <p:nvPr/>
        </p:nvSpPr>
        <p:spPr>
          <a:xfrm>
            <a:off x="6435354" y="2695761"/>
            <a:ext cx="2140240" cy="953765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continue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836750" y="3172644"/>
            <a:ext cx="611995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410689" y="4967952"/>
            <a:ext cx="366136" cy="38463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597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8227"/>
            <a:ext cx="8913813" cy="778449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472" y="1446576"/>
            <a:ext cx="8160428" cy="48197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 </a:t>
            </a:r>
            <a:r>
              <a:rPr lang="en-US" dirty="0" err="1"/>
              <a:t>int</a:t>
            </a:r>
            <a:r>
              <a:rPr lang="en-US" dirty="0"/>
              <a:t> main () { </a:t>
            </a:r>
          </a:p>
          <a:p>
            <a:pPr marL="0" indent="0">
              <a:buNone/>
            </a:pPr>
            <a:r>
              <a:rPr lang="en-US" dirty="0"/>
              <a:t>/* local variable definition */ </a:t>
            </a:r>
            <a:r>
              <a:rPr lang="en-US" dirty="0" err="1"/>
              <a:t>int</a:t>
            </a:r>
            <a:r>
              <a:rPr lang="en-US" dirty="0"/>
              <a:t> a = 10; </a:t>
            </a:r>
          </a:p>
          <a:p>
            <a:pPr marL="0" indent="0">
              <a:buNone/>
            </a:pPr>
            <a:r>
              <a:rPr lang="en-US" dirty="0"/>
              <a:t>/* do loop execution */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do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smtClean="0"/>
              <a:t>if</a:t>
            </a:r>
            <a:r>
              <a:rPr lang="en-US" dirty="0"/>
              <a:t>( a == 15) { </a:t>
            </a:r>
          </a:p>
          <a:p>
            <a:pPr marL="0" indent="0">
              <a:buNone/>
            </a:pPr>
            <a:r>
              <a:rPr lang="en-US" dirty="0" smtClean="0"/>
              <a:t>	/</a:t>
            </a:r>
            <a:r>
              <a:rPr lang="en-US" dirty="0"/>
              <a:t>* skip the iteration */ a = a + 1; </a:t>
            </a:r>
          </a:p>
          <a:p>
            <a:pPr marL="0" indent="0">
              <a:buNone/>
            </a:pPr>
            <a:r>
              <a:rPr lang="en-US" dirty="0" smtClean="0"/>
              <a:t>	continue</a:t>
            </a:r>
            <a:r>
              <a:rPr lang="en-US" dirty="0"/>
              <a:t>; } </a:t>
            </a:r>
          </a:p>
          <a:p>
            <a:pPr marL="0" indent="0">
              <a:buNone/>
            </a:pPr>
            <a:r>
              <a:rPr lang="en-US" dirty="0" smtClean="0"/>
              <a:t>           </a:t>
            </a:r>
            <a:r>
              <a:rPr lang="en-US" dirty="0" err="1" smtClean="0"/>
              <a:t>printf</a:t>
            </a:r>
            <a:r>
              <a:rPr lang="en-US" dirty="0"/>
              <a:t>("value of a: %d\n", a); </a:t>
            </a:r>
            <a:r>
              <a:rPr lang="en-US" dirty="0" smtClean="0"/>
              <a:t>a</a:t>
            </a:r>
            <a:r>
              <a:rPr lang="en-US" dirty="0"/>
              <a:t>++; </a:t>
            </a:r>
          </a:p>
          <a:p>
            <a:pPr marL="0" indent="0">
              <a:buNone/>
            </a:pPr>
            <a:r>
              <a:rPr lang="en-US" dirty="0"/>
              <a:t>}while( a &lt; 20 );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0;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13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0" y="236620"/>
            <a:ext cx="8913813" cy="914400"/>
          </a:xfrm>
        </p:spPr>
        <p:txBody>
          <a:bodyPr/>
          <a:lstStyle/>
          <a:p>
            <a:r>
              <a:rPr lang="en-US" dirty="0" smtClean="0"/>
              <a:t>Add two numbers using pointer</a:t>
            </a:r>
            <a:endParaRPr lang="en-US" dirty="0"/>
          </a:p>
        </p:txBody>
      </p:sp>
      <p:pic>
        <p:nvPicPr>
          <p:cNvPr id="3" name="Picture 2" descr="Screen Shot 2018-04-06 at 11.34.5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95400"/>
            <a:ext cx="4458646" cy="486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8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424" y="458670"/>
            <a:ext cx="7610476" cy="580765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Evaluate the equation y=</a:t>
            </a:r>
            <a:r>
              <a:rPr lang="en-US" dirty="0" err="1" smtClean="0"/>
              <a:t>xn</a:t>
            </a:r>
            <a:r>
              <a:rPr lang="en-US" dirty="0" smtClean="0"/>
              <a:t> when n is a non-negative integer.</a:t>
            </a:r>
          </a:p>
          <a:p>
            <a:pPr marL="0" indent="0">
              <a:buNone/>
            </a:pPr>
            <a:r>
              <a:rPr lang="en-US" dirty="0" smtClean="0"/>
              <a:t> Print the multiplication table from 1*1 to 12*10 like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Screen Shot 2018-04-07 at 10.01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384" y="1693609"/>
            <a:ext cx="3311128" cy="199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696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 Shot 2018-04-06 at 9.26.3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" y="0"/>
            <a:ext cx="7332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398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erception">
  <a:themeElements>
    <a:clrScheme name="Perception">
      <a:dk1>
        <a:sysClr val="windowText" lastClr="000000"/>
      </a:dk1>
      <a:lt1>
        <a:sysClr val="window" lastClr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Perception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erception">
      <a:fillStyleLst>
        <a:solidFill>
          <a:schemeClr val="phClr"/>
        </a:solidFill>
        <a:solidFill>
          <a:schemeClr val="phClr">
            <a:shade val="90000"/>
          </a:schemeClr>
        </a:solidFill>
        <a:solidFill>
          <a:schemeClr val="phClr">
            <a:shade val="80000"/>
          </a:schemeClr>
        </a:soli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>
              <a:alpha val="8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bliqueTopRight"/>
            <a:lightRig rig="threePt" dir="tl"/>
          </a:scene3d>
          <a:sp3d>
            <a:bevelT w="25400" h="25400"/>
          </a:sp3d>
        </a:effectStyle>
        <a:effectStyle>
          <a:effectLst/>
          <a:scene3d>
            <a:camera prst="perspectiveFront" fov="4200000"/>
            <a:lightRig rig="balanced" dir="tl">
              <a:rot lat="0" lon="0" rev="18600000"/>
            </a:lightRig>
          </a:scene3d>
          <a:sp3d prstMaterial="metal">
            <a:bevelT w="63500" h="50800" prst="angle"/>
          </a:sp3d>
        </a:effectStyle>
      </a:effectStyleLst>
      <a:bgFillStyleLst>
        <a:solidFill>
          <a:schemeClr val="phClr">
            <a:tint val="90000"/>
          </a:schemeClr>
        </a:solidFill>
        <a:solidFill>
          <a:schemeClr val="phClr">
            <a:tint val="50000"/>
          </a:schemeClr>
        </a:solidFill>
        <a:solidFill>
          <a:schemeClr val="phClr">
            <a:shade val="60000"/>
          </a:schemeClr>
        </a:soli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Perception.thmx</Template>
  <TotalTime>254</TotalTime>
  <Words>1266</Words>
  <Application>Microsoft Macintosh PowerPoint</Application>
  <PresentationFormat>On-screen Show (4:3)</PresentationFormat>
  <Paragraphs>554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Perception</vt:lpstr>
      <vt:lpstr>Let C</vt:lpstr>
      <vt:lpstr>C Basic</vt:lpstr>
      <vt:lpstr>Integer Types</vt:lpstr>
      <vt:lpstr>Floating-Point Types </vt:lpstr>
      <vt:lpstr>Defining Constant</vt:lpstr>
      <vt:lpstr>Defining Constant</vt:lpstr>
      <vt:lpstr>C Operators</vt:lpstr>
      <vt:lpstr>Arithmetic Operators </vt:lpstr>
      <vt:lpstr>Relational Operators </vt:lpstr>
      <vt:lpstr>Logical Operators </vt:lpstr>
      <vt:lpstr>Bitwise Operators (Example) </vt:lpstr>
      <vt:lpstr>Bitwise Operators (Example) </vt:lpstr>
      <vt:lpstr>Assignment Operators </vt:lpstr>
      <vt:lpstr>Misc Operators </vt:lpstr>
      <vt:lpstr>Operators Precedence in C </vt:lpstr>
      <vt:lpstr>PowerPoint Presentation</vt:lpstr>
      <vt:lpstr>Find the simple interest</vt:lpstr>
      <vt:lpstr>Swap two variable without 3rd Variable</vt:lpstr>
      <vt:lpstr>Find the reverse of a number</vt:lpstr>
      <vt:lpstr>Find the gross salary</vt:lpstr>
      <vt:lpstr>Find the biggest among 3 numbers</vt:lpstr>
      <vt:lpstr>Use of ?:</vt:lpstr>
      <vt:lpstr>Shift the given data by 2 bits to the left</vt:lpstr>
      <vt:lpstr>Let C Decision Making and Branching</vt:lpstr>
      <vt:lpstr>If statement</vt:lpstr>
      <vt:lpstr>Syntax</vt:lpstr>
      <vt:lpstr>If else statement</vt:lpstr>
      <vt:lpstr>Syntax</vt:lpstr>
      <vt:lpstr>The if...else if...else Statement </vt:lpstr>
      <vt:lpstr>Syntax</vt:lpstr>
      <vt:lpstr>      Nested if statements       Nested if statements </vt:lpstr>
      <vt:lpstr>Nested if statements </vt:lpstr>
      <vt:lpstr>  switch statement   switch statement </vt:lpstr>
      <vt:lpstr>switch statement </vt:lpstr>
      <vt:lpstr>Example</vt:lpstr>
      <vt:lpstr>Find the given year is leap year or not</vt:lpstr>
      <vt:lpstr>Use switch statement to display Monday to sunday</vt:lpstr>
      <vt:lpstr>PowerPoint Presentation</vt:lpstr>
      <vt:lpstr>While Loop</vt:lpstr>
      <vt:lpstr>For Loop</vt:lpstr>
      <vt:lpstr>Nested for</vt:lpstr>
      <vt:lpstr>Nested while</vt:lpstr>
      <vt:lpstr>Nested do…..while</vt:lpstr>
      <vt:lpstr>Display the first 10 natural number and their sum</vt:lpstr>
      <vt:lpstr>Print Square sequence 1</vt:lpstr>
      <vt:lpstr>Print Square sequence 2</vt:lpstr>
      <vt:lpstr>Print Square sequence 3</vt:lpstr>
      <vt:lpstr>Print the Fibonacci series up to 100</vt:lpstr>
      <vt:lpstr>Find the factorial of a number</vt:lpstr>
      <vt:lpstr>Example</vt:lpstr>
      <vt:lpstr>Output</vt:lpstr>
      <vt:lpstr>Find a given number is prime or not</vt:lpstr>
      <vt:lpstr>Print sum of series 1+1/2+1/3+…1/n</vt:lpstr>
      <vt:lpstr>Display sum of 1+3+5+…..+n</vt:lpstr>
      <vt:lpstr>break statement</vt:lpstr>
      <vt:lpstr>Example</vt:lpstr>
      <vt:lpstr>continue statement</vt:lpstr>
      <vt:lpstr>Example</vt:lpstr>
      <vt:lpstr>Add two numbers using pointer</vt:lpstr>
      <vt:lpstr>PowerPoint Presentation</vt:lpstr>
      <vt:lpstr>PowerPoint Presentation</vt:lpstr>
    </vt:vector>
  </TitlesOfParts>
  <Company>RUET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MAMUN MAMUN</dc:creator>
  <cp:lastModifiedBy>MAMUN MAMUN</cp:lastModifiedBy>
  <cp:revision>18</cp:revision>
  <dcterms:created xsi:type="dcterms:W3CDTF">2018-04-06T15:08:54Z</dcterms:created>
  <dcterms:modified xsi:type="dcterms:W3CDTF">2018-04-07T17:28:15Z</dcterms:modified>
</cp:coreProperties>
</file>