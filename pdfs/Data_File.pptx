
<file path=[Content_Types].xml><?xml version="1.0" encoding="utf-8"?>
<Types xmlns="http://schemas.openxmlformats.org/package/2006/content-types">
  <Default Extension="xml" ContentType="application/xml"/>
  <Default Extension="doc" ContentType="application/msword"/>
  <Default Extension="jpeg" ContentType="image/jpeg"/>
  <Default Extension="rels" ContentType="application/vnd.openxmlformats-package.relationships+xml"/>
  <Default Extension="emf" ContentType="image/x-emf"/>
  <Default Extension="vml" ContentType="application/vnd.openxmlformats-officedocument.vmlDrawing"/>
  <Default Extension="bin" ContentType="application/vnd.openxmlformats-officedocument.presentationml.printerSettings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8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00" r:id="rId44"/>
    <p:sldId id="301" r:id="rId45"/>
    <p:sldId id="302" r:id="rId46"/>
    <p:sldId id="303" r:id="rId4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7" d="100"/>
          <a:sy n="87" d="100"/>
        </p:scale>
        <p:origin x="-39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50" Type="http://schemas.openxmlformats.org/officeDocument/2006/relationships/presProps" Target="presProps.xml"/><Relationship Id="rId51" Type="http://schemas.openxmlformats.org/officeDocument/2006/relationships/viewProps" Target="viewProps.xml"/><Relationship Id="rId52" Type="http://schemas.openxmlformats.org/officeDocument/2006/relationships/theme" Target="theme/theme1.xml"/><Relationship Id="rId53" Type="http://schemas.openxmlformats.org/officeDocument/2006/relationships/tableStyles" Target="tableStyles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notesMaster" Target="notesMasters/notesMaster1.xml"/><Relationship Id="rId49" Type="http://schemas.openxmlformats.org/officeDocument/2006/relationships/printerSettings" Target="printerSettings/printerSettings1.bin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e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e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e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e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e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e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e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emf"/></Relationships>
</file>

<file path=ppt/drawings/_rels/vmlDrawing2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emf"/></Relationships>
</file>

<file path=ppt/drawings/_rels/vmlDrawing2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18BFB4-4DD1-4A2B-8A6E-3F0C41AC7BCF}" type="datetimeFigureOut">
              <a:rPr lang="en-US" smtClean="0"/>
              <a:pPr/>
              <a:t>4/30/17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379B70-589D-48AA-8A08-AB6736F9FC8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4154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008E027-1D65-4533-A4F5-98B5D554663D}" type="slidenum">
              <a:rPr lang="en-US"/>
              <a:pPr/>
              <a:t>2</a:t>
            </a:fld>
            <a:endParaRPr lang="en-US"/>
          </a:p>
        </p:txBody>
      </p:sp>
      <p:sp>
        <p:nvSpPr>
          <p:cNvPr id="39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0413" cy="342741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0489" tIns="45245" rIns="90489" bIns="45245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3F17C52-25D2-47B9-B5CB-080D0DBC5D5D}" type="slidenum">
              <a:rPr lang="en-US"/>
              <a:pPr/>
              <a:t>3</a:t>
            </a:fld>
            <a:endParaRPr lang="en-US"/>
          </a:p>
        </p:txBody>
      </p:sp>
      <p:sp>
        <p:nvSpPr>
          <p:cNvPr id="41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0413" cy="342741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0489" tIns="45245" rIns="90489" bIns="45245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6B02579-DA96-40DF-9697-6330739B4FD9}" type="slidenum">
              <a:rPr lang="en-US"/>
              <a:pPr/>
              <a:t>4</a:t>
            </a:fld>
            <a:endParaRPr lang="en-US"/>
          </a:p>
        </p:txBody>
      </p:sp>
      <p:sp>
        <p:nvSpPr>
          <p:cNvPr id="44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0413" cy="342741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0489" tIns="45245" rIns="90489" bIns="45245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D29FA0C-E191-474C-B640-BF2DE2A297D8}" type="slidenum">
              <a:rPr lang="en-US"/>
              <a:pPr/>
              <a:t>5</a:t>
            </a:fld>
            <a:endParaRPr lang="en-US"/>
          </a:p>
        </p:txBody>
      </p:sp>
      <p:sp>
        <p:nvSpPr>
          <p:cNvPr id="46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0413" cy="342741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0489" tIns="45245" rIns="90489" bIns="45245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9786487-37DB-41CF-9511-99376B622AEA}" type="slidenum">
              <a:rPr lang="en-US"/>
              <a:pPr/>
              <a:t>6</a:t>
            </a:fld>
            <a:endParaRPr lang="en-US"/>
          </a:p>
        </p:txBody>
      </p:sp>
      <p:sp>
        <p:nvSpPr>
          <p:cNvPr id="481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0413" cy="342741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0489" tIns="45245" rIns="90489" bIns="45245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CB396AB-46F0-4F68-AB33-8D3F21308CEA}" type="slidenum">
              <a:rPr lang="en-US"/>
              <a:pPr/>
              <a:t>7</a:t>
            </a:fld>
            <a:endParaRPr lang="en-US"/>
          </a:p>
        </p:txBody>
      </p:sp>
      <p:sp>
        <p:nvSpPr>
          <p:cNvPr id="50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0413" cy="342741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0489" tIns="45245" rIns="90489" bIns="45245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D14367F-D748-4CB0-A75A-618BBF59AFEE}" type="slidenum">
              <a:rPr lang="en-US"/>
              <a:pPr/>
              <a:t>8</a:t>
            </a:fld>
            <a:endParaRPr lang="en-US"/>
          </a:p>
        </p:txBody>
      </p:sp>
      <p:sp>
        <p:nvSpPr>
          <p:cNvPr id="52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0413" cy="342741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0489" tIns="45245" rIns="90489" bIns="45245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C60AF37-5C2A-4043-840C-AC7B52385998}" type="slidenum">
              <a:rPr lang="en-US"/>
              <a:pPr/>
              <a:t>9</a:t>
            </a:fld>
            <a:endParaRPr lang="en-US"/>
          </a:p>
        </p:txBody>
      </p:sp>
      <p:sp>
        <p:nvSpPr>
          <p:cNvPr id="56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0413" cy="342741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0489" tIns="45245" rIns="90489" bIns="45245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13BFECB-6ADE-4306-9127-13D52072C326}" type="slidenum">
              <a:rPr lang="en-US"/>
              <a:pPr/>
              <a:t>10</a:t>
            </a:fld>
            <a:endParaRPr lang="en-US"/>
          </a:p>
        </p:txBody>
      </p:sp>
      <p:sp>
        <p:nvSpPr>
          <p:cNvPr id="58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0413" cy="342741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0489" tIns="45245" rIns="90489" bIns="45245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4297BD4-8599-4487-8811-0D5869671844}" type="slidenum">
              <a:rPr lang="en-US"/>
              <a:pPr/>
              <a:t>11</a:t>
            </a:fld>
            <a:endParaRPr lang="en-US"/>
          </a:p>
        </p:txBody>
      </p:sp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0413" cy="342741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0489" tIns="45245" rIns="90489" bIns="45245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9A2D16B-ED11-47B9-B24F-516F61696884}" type="slidenum">
              <a:rPr lang="en-US"/>
              <a:pPr/>
              <a:t>12</a:t>
            </a:fld>
            <a:endParaRPr lang="en-US"/>
          </a:p>
        </p:txBody>
      </p:sp>
      <p:sp>
        <p:nvSpPr>
          <p:cNvPr id="62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0413" cy="342741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0489" tIns="45245" rIns="90489" bIns="45245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6E3CE49-A6A0-4DFB-B0E2-2303C5D94196}" type="slidenum">
              <a:rPr lang="en-US"/>
              <a:pPr/>
              <a:t>13</a:t>
            </a:fld>
            <a:endParaRPr lang="en-US"/>
          </a:p>
        </p:txBody>
      </p:sp>
      <p:sp>
        <p:nvSpPr>
          <p:cNvPr id="64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0413" cy="342741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0489" tIns="45245" rIns="90489" bIns="45245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F6DBF38-60BF-44B4-B514-ECE559CBA9BC}" type="slidenum">
              <a:rPr lang="en-US"/>
              <a:pPr/>
              <a:t>14</a:t>
            </a:fld>
            <a:endParaRPr lang="en-US"/>
          </a:p>
        </p:txBody>
      </p:sp>
      <p:sp>
        <p:nvSpPr>
          <p:cNvPr id="66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0413" cy="342741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0489" tIns="45245" rIns="90489" bIns="45245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B478854-AFC0-4DFA-89C9-C30B3B49EC25}" type="slidenum">
              <a:rPr lang="en-US"/>
              <a:pPr/>
              <a:t>15</a:t>
            </a:fld>
            <a:endParaRPr lang="en-US"/>
          </a:p>
        </p:txBody>
      </p:sp>
      <p:sp>
        <p:nvSpPr>
          <p:cNvPr id="68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0413" cy="342741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0489" tIns="45245" rIns="90489" bIns="45245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343E773-4674-4620-B364-D57453C0F4CF}" type="slidenum">
              <a:rPr lang="en-US"/>
              <a:pPr/>
              <a:t>16</a:t>
            </a:fld>
            <a:endParaRPr lang="en-US"/>
          </a:p>
        </p:txBody>
      </p:sp>
      <p:sp>
        <p:nvSpPr>
          <p:cNvPr id="706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0413" cy="342741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0489" tIns="45245" rIns="90489" bIns="45245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28A5F1E-0ED6-4D52-99B5-C631667351EB}" type="slidenum">
              <a:rPr lang="en-US"/>
              <a:pPr/>
              <a:t>17</a:t>
            </a:fld>
            <a:endParaRPr lang="en-US"/>
          </a:p>
        </p:txBody>
      </p:sp>
      <p:sp>
        <p:nvSpPr>
          <p:cNvPr id="72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0413" cy="342741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0489" tIns="45245" rIns="90489" bIns="45245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F2BDDC7-5CC4-4826-9CEE-81EBC82FA6DD}" type="slidenum">
              <a:rPr lang="en-US"/>
              <a:pPr/>
              <a:t>18</a:t>
            </a:fld>
            <a:endParaRPr lang="en-US"/>
          </a:p>
        </p:txBody>
      </p:sp>
      <p:sp>
        <p:nvSpPr>
          <p:cNvPr id="768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0413" cy="342741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680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0489" tIns="45245" rIns="90489" bIns="45245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FA18659-D269-430F-B3BF-36058ABC4274}" type="slidenum">
              <a:rPr lang="en-US"/>
              <a:pPr/>
              <a:t>19</a:t>
            </a:fld>
            <a:endParaRPr lang="en-US"/>
          </a:p>
        </p:txBody>
      </p:sp>
      <p:sp>
        <p:nvSpPr>
          <p:cNvPr id="788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0413" cy="342741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88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0489" tIns="45245" rIns="90489" bIns="45245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E0CB5C8-8322-47A4-B278-D28C7ACB9141}" type="slidenum">
              <a:rPr lang="en-US"/>
              <a:pPr/>
              <a:t>20</a:t>
            </a:fld>
            <a:endParaRPr lang="en-US"/>
          </a:p>
        </p:txBody>
      </p:sp>
      <p:sp>
        <p:nvSpPr>
          <p:cNvPr id="808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0413" cy="342741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089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0489" tIns="45245" rIns="90489" bIns="45245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BAFF79A-0C08-4773-A18D-C24433FA872D}" type="slidenum">
              <a:rPr lang="en-US"/>
              <a:pPr/>
              <a:t>21</a:t>
            </a:fld>
            <a:endParaRPr lang="en-US"/>
          </a:p>
        </p:txBody>
      </p:sp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0413" cy="342741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0489" tIns="45245" rIns="90489" bIns="45245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B296A1D-89D8-4046-8FA4-0D0DD0FB5E84}" type="slidenum">
              <a:rPr lang="en-US"/>
              <a:pPr/>
              <a:t>22</a:t>
            </a:fld>
            <a:endParaRPr lang="en-US"/>
          </a:p>
        </p:txBody>
      </p:sp>
      <p:sp>
        <p:nvSpPr>
          <p:cNvPr id="849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0413" cy="342741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49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0489" tIns="45245" rIns="90489" bIns="45245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40572D-75D7-4EA7-8B6D-1B280415C23D}" type="slidenum">
              <a:rPr lang="en-US"/>
              <a:pPr/>
              <a:t>23</a:t>
            </a:fld>
            <a:endParaRPr lang="en-US"/>
          </a:p>
        </p:txBody>
      </p:sp>
      <p:sp>
        <p:nvSpPr>
          <p:cNvPr id="870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0413" cy="342741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0489" tIns="45245" rIns="90489" bIns="45245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C82599B-0151-442C-80A7-623299309A6F}" type="slidenum">
              <a:rPr lang="en-US"/>
              <a:pPr/>
              <a:t>24</a:t>
            </a:fld>
            <a:endParaRPr lang="en-US"/>
          </a:p>
        </p:txBody>
      </p:sp>
      <p:sp>
        <p:nvSpPr>
          <p:cNvPr id="890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0413" cy="342741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0489" tIns="45245" rIns="90489" bIns="45245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4993EBA-9C62-4CAE-86F7-CE08026A661C}" type="slidenum">
              <a:rPr lang="en-US"/>
              <a:pPr/>
              <a:t>25</a:t>
            </a:fld>
            <a:endParaRPr lang="en-US"/>
          </a:p>
        </p:txBody>
      </p:sp>
      <p:sp>
        <p:nvSpPr>
          <p:cNvPr id="911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0413" cy="342741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113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0489" tIns="45245" rIns="90489" bIns="45245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7BA4095-B90C-4B4B-A646-30D0AF8BF526}" type="slidenum">
              <a:rPr lang="en-US"/>
              <a:pPr/>
              <a:t>26</a:t>
            </a:fld>
            <a:endParaRPr lang="en-US"/>
          </a:p>
        </p:txBody>
      </p:sp>
      <p:sp>
        <p:nvSpPr>
          <p:cNvPr id="931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0413" cy="342741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318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0489" tIns="45245" rIns="90489" bIns="45245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F3A32ED-29D2-4595-A8D8-CD7F13B40FFB}" type="slidenum">
              <a:rPr lang="en-US"/>
              <a:pPr/>
              <a:t>27</a:t>
            </a:fld>
            <a:endParaRPr lang="en-US"/>
          </a:p>
        </p:txBody>
      </p:sp>
      <p:sp>
        <p:nvSpPr>
          <p:cNvPr id="952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0413" cy="342741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523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0489" tIns="45245" rIns="90489" bIns="45245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CF73E7F-7D77-40FF-A05D-C191148379E3}" type="slidenum">
              <a:rPr lang="en-US"/>
              <a:pPr/>
              <a:t>28</a:t>
            </a:fld>
            <a:endParaRPr lang="en-US"/>
          </a:p>
        </p:txBody>
      </p:sp>
      <p:sp>
        <p:nvSpPr>
          <p:cNvPr id="972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0413" cy="342741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0489" tIns="45245" rIns="90489" bIns="45245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CF86053-35A1-49DF-8E8C-9FB8CB5CE1B7}" type="slidenum">
              <a:rPr lang="en-US"/>
              <a:pPr/>
              <a:t>29</a:t>
            </a:fld>
            <a:endParaRPr lang="en-US"/>
          </a:p>
        </p:txBody>
      </p:sp>
      <p:sp>
        <p:nvSpPr>
          <p:cNvPr id="99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0413" cy="342741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0489" tIns="45245" rIns="90489" bIns="45245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0AF9AB-0998-4E90-ACA7-BB40EF948E88}" type="slidenum">
              <a:rPr lang="en-US"/>
              <a:pPr/>
              <a:t>30</a:t>
            </a:fld>
            <a:endParaRPr lang="en-US"/>
          </a:p>
        </p:txBody>
      </p:sp>
      <p:sp>
        <p:nvSpPr>
          <p:cNvPr id="101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0413" cy="342741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137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0489" tIns="45245" rIns="90489" bIns="45245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ED4B7ED-BD14-4331-9818-DEF3F8C78193}" type="slidenum">
              <a:rPr lang="en-US"/>
              <a:pPr/>
              <a:t>31</a:t>
            </a:fld>
            <a:endParaRPr lang="en-US"/>
          </a:p>
        </p:txBody>
      </p:sp>
      <p:sp>
        <p:nvSpPr>
          <p:cNvPr id="1034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0413" cy="342741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34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0489" tIns="45245" rIns="90489" bIns="45245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554D0F3-B21E-485F-BC9F-6239680205EE}" type="slidenum">
              <a:rPr lang="en-US"/>
              <a:pPr/>
              <a:t>32</a:t>
            </a:fld>
            <a:endParaRPr lang="en-US"/>
          </a:p>
        </p:txBody>
      </p:sp>
      <p:sp>
        <p:nvSpPr>
          <p:cNvPr id="1054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0413" cy="342741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54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0489" tIns="45245" rIns="90489" bIns="45245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EB830FF-E3CD-40CF-B662-9E63F0133D4F}" type="slidenum">
              <a:rPr lang="en-US"/>
              <a:pPr/>
              <a:t>33</a:t>
            </a:fld>
            <a:endParaRPr lang="en-US"/>
          </a:p>
        </p:txBody>
      </p:sp>
      <p:sp>
        <p:nvSpPr>
          <p:cNvPr id="1075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0413" cy="342741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752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0489" tIns="45245" rIns="90489" bIns="45245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3993C16-AF3E-4DBC-8495-8DAABD3AC06D}" type="slidenum">
              <a:rPr lang="en-US"/>
              <a:pPr/>
              <a:t>34</a:t>
            </a:fld>
            <a:endParaRPr lang="en-US"/>
          </a:p>
        </p:txBody>
      </p:sp>
      <p:sp>
        <p:nvSpPr>
          <p:cNvPr id="1116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0413" cy="342741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161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0489" tIns="45245" rIns="90489" bIns="45245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BE87D2B-2907-4A01-ACF0-853CFC4D7742}" type="slidenum">
              <a:rPr lang="en-US"/>
              <a:pPr/>
              <a:t>35</a:t>
            </a:fld>
            <a:endParaRPr lang="en-US"/>
          </a:p>
        </p:txBody>
      </p:sp>
      <p:sp>
        <p:nvSpPr>
          <p:cNvPr id="1136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0413" cy="342741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366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0489" tIns="45245" rIns="90489" bIns="45245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4118909-7012-45F6-A638-E73A08ED3560}" type="slidenum">
              <a:rPr lang="en-US"/>
              <a:pPr/>
              <a:t>36</a:t>
            </a:fld>
            <a:endParaRPr lang="en-US"/>
          </a:p>
        </p:txBody>
      </p:sp>
      <p:sp>
        <p:nvSpPr>
          <p:cNvPr id="1157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0413" cy="342741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571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0489" tIns="45245" rIns="90489" bIns="45245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446A235-814B-44BD-A49B-1F97141210CD}" type="slidenum">
              <a:rPr lang="en-US"/>
              <a:pPr/>
              <a:t>37</a:t>
            </a:fld>
            <a:endParaRPr lang="en-US"/>
          </a:p>
        </p:txBody>
      </p:sp>
      <p:sp>
        <p:nvSpPr>
          <p:cNvPr id="1177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0413" cy="342741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776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0489" tIns="45245" rIns="90489" bIns="45245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E4286BB-7491-4C18-8005-828D376FD7D1}" type="slidenum">
              <a:rPr lang="en-US"/>
              <a:pPr/>
              <a:t>38</a:t>
            </a:fld>
            <a:endParaRPr lang="en-US"/>
          </a:p>
        </p:txBody>
      </p:sp>
      <p:sp>
        <p:nvSpPr>
          <p:cNvPr id="1198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0413" cy="342741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981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0489" tIns="45245" rIns="90489" bIns="45245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E734BC0-5893-47E2-B2B4-F84F0958B146}" type="slidenum">
              <a:rPr lang="en-US"/>
              <a:pPr/>
              <a:t>39</a:t>
            </a:fld>
            <a:endParaRPr lang="en-US"/>
          </a:p>
        </p:txBody>
      </p:sp>
      <p:sp>
        <p:nvSpPr>
          <p:cNvPr id="1218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0413" cy="342741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185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0489" tIns="45245" rIns="90489" bIns="45245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0CFD8A1-5529-4236-8EDE-AC399C30C612}" type="slidenum">
              <a:rPr lang="en-US"/>
              <a:pPr/>
              <a:t>40</a:t>
            </a:fld>
            <a:endParaRPr lang="en-US"/>
          </a:p>
        </p:txBody>
      </p:sp>
      <p:sp>
        <p:nvSpPr>
          <p:cNvPr id="1239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0413" cy="342741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390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0489" tIns="45245" rIns="90489" bIns="45245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1868AFC-ACA3-410E-83F3-05A4DE02A4A7}" type="slidenum">
              <a:rPr lang="en-US"/>
              <a:pPr/>
              <a:t>41</a:t>
            </a:fld>
            <a:endParaRPr lang="en-US"/>
          </a:p>
        </p:txBody>
      </p:sp>
      <p:sp>
        <p:nvSpPr>
          <p:cNvPr id="1259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0413" cy="342741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595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0489" tIns="45245" rIns="90489" bIns="45245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56922A8-2CEB-4387-8DBA-7D92A9BCDD1A}" type="slidenum">
              <a:rPr lang="en-US"/>
              <a:pPr/>
              <a:t>42</a:t>
            </a:fld>
            <a:endParaRPr lang="en-US"/>
          </a:p>
        </p:txBody>
      </p:sp>
      <p:sp>
        <p:nvSpPr>
          <p:cNvPr id="1280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0413" cy="342741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800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0489" tIns="45245" rIns="90489" bIns="45245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66BAF40-6211-48CA-9F14-0D86D54BBDDD}" type="slidenum">
              <a:rPr lang="en-US"/>
              <a:pPr/>
              <a:t>43</a:t>
            </a:fld>
            <a:endParaRPr lang="en-US"/>
          </a:p>
        </p:txBody>
      </p:sp>
      <p:sp>
        <p:nvSpPr>
          <p:cNvPr id="1300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0413" cy="342741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0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0489" tIns="45245" rIns="90489" bIns="45245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804A32B-4E54-4872-83BE-86D8D8BE122A}" type="slidenum">
              <a:rPr lang="en-US"/>
              <a:pPr/>
              <a:t>44</a:t>
            </a:fld>
            <a:endParaRPr lang="en-US"/>
          </a:p>
        </p:txBody>
      </p:sp>
      <p:sp>
        <p:nvSpPr>
          <p:cNvPr id="132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0413" cy="342741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209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0489" tIns="45245" rIns="90489" bIns="45245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0E9CC6A-12DF-4FFD-8F36-3AA743794BCE}" type="slidenum">
              <a:rPr lang="en-US"/>
              <a:pPr/>
              <a:t>45</a:t>
            </a:fld>
            <a:endParaRPr lang="en-US"/>
          </a:p>
        </p:txBody>
      </p:sp>
      <p:sp>
        <p:nvSpPr>
          <p:cNvPr id="134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0413" cy="342741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41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0489" tIns="45245" rIns="90489" bIns="45245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6514A4C-DF9D-43BD-924F-9B6E2D86BD66}" type="slidenum">
              <a:rPr lang="en-US"/>
              <a:pPr/>
              <a:t>46</a:t>
            </a:fld>
            <a:endParaRPr lang="en-US"/>
          </a:p>
        </p:txBody>
      </p:sp>
      <p:sp>
        <p:nvSpPr>
          <p:cNvPr id="136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0413" cy="342741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61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0489" tIns="45245" rIns="90489" bIns="45245"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D7259-AAA5-43B3-A74F-A1E21CCF476D}" type="datetime1">
              <a:rPr lang="en-US" smtClean="0"/>
              <a:pPr/>
              <a:t>4/30/17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7F2A5-20F1-4105-A36D-23FC9E43586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915D6-1AE8-448B-8D10-559908C196AE}" type="datetime1">
              <a:rPr lang="en-US" smtClean="0"/>
              <a:pPr/>
              <a:t>4/30/17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7F2A5-20F1-4105-A36D-23FC9E43586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1A711-2223-4C31-9F05-66B83EFD2BC2}" type="datetime1">
              <a:rPr lang="en-US" smtClean="0"/>
              <a:pPr/>
              <a:t>4/30/17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7F2A5-20F1-4105-A36D-23FC9E43586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982B3-84AE-4E07-BA65-A5D127008425}" type="datetime1">
              <a:rPr lang="en-US" smtClean="0"/>
              <a:pPr/>
              <a:t>4/30/17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7F2A5-20F1-4105-A36D-23FC9E43586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E606D-BE67-4830-B1A5-D96D61F91693}" type="datetime1">
              <a:rPr lang="en-US" smtClean="0"/>
              <a:pPr/>
              <a:t>4/30/17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7F2A5-20F1-4105-A36D-23FC9E43586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03451-FF22-41D1-9D26-E88D47D38F50}" type="datetime1">
              <a:rPr lang="en-US" smtClean="0"/>
              <a:pPr/>
              <a:t>4/30/17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7F2A5-20F1-4105-A36D-23FC9E43586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84582-CF5F-47D0-A48C-6DB2FE2444BA}" type="datetime1">
              <a:rPr lang="en-US" smtClean="0"/>
              <a:pPr/>
              <a:t>4/30/17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7F2A5-20F1-4105-A36D-23FC9E43586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53DFE-6E11-45FC-92BE-5F17EDC467BC}" type="datetime1">
              <a:rPr lang="en-US" smtClean="0"/>
              <a:pPr/>
              <a:t>4/30/17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7F2A5-20F1-4105-A36D-23FC9E43586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DC98C-E4FA-4128-9B30-364405763524}" type="datetime1">
              <a:rPr lang="en-US" smtClean="0"/>
              <a:pPr/>
              <a:t>4/30/17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7F2A5-20F1-4105-A36D-23FC9E43586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BEDC8-7D66-4DC0-828D-6266B6C4E425}" type="datetime1">
              <a:rPr lang="en-US" smtClean="0"/>
              <a:pPr/>
              <a:t>4/30/17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7F2A5-20F1-4105-A36D-23FC9E43586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87B09-F220-4121-9865-79AFB03344F5}" type="datetime1">
              <a:rPr lang="en-US" smtClean="0"/>
              <a:pPr/>
              <a:t>4/30/17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7F2A5-20F1-4105-A36D-23FC9E43586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685800" y="609600"/>
            <a:ext cx="7772400" cy="54864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A985A454-4BAC-40D2-A937-204AD60AFFFF}" type="datetime1">
              <a:rPr lang="en-US" smtClean="0"/>
              <a:pPr/>
              <a:t>4/30/17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D3CED72F-20C8-4230-8075-982E6615520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8D110B-ADB5-46CF-8065-E5463C8C12A9}" type="datetime1">
              <a:rPr lang="en-US" smtClean="0"/>
              <a:pPr/>
              <a:t>4/30/17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37F2A5-20F1-4105-A36D-23FC9E435865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4" Type="http://schemas.openxmlformats.org/officeDocument/2006/relationships/oleObject" Target="../embeddings/Microsoft_Word_97_-_2004_Document1.doc"/><Relationship Id="rId5" Type="http://schemas.openxmlformats.org/officeDocument/2006/relationships/image" Target="../media/image2.emf"/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4" Type="http://schemas.openxmlformats.org/officeDocument/2006/relationships/oleObject" Target="../embeddings/Microsoft_Word_97_-_2004_Document2.doc"/><Relationship Id="rId5" Type="http://schemas.openxmlformats.org/officeDocument/2006/relationships/image" Target="../media/image3.emf"/><Relationship Id="rId1" Type="http://schemas.openxmlformats.org/officeDocument/2006/relationships/vmlDrawing" Target="../drawings/vmlDrawing2.vml"/><Relationship Id="rId2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4" Type="http://schemas.openxmlformats.org/officeDocument/2006/relationships/oleObject" Target="../embeddings/Microsoft_Word_97_-_2004_Document3.doc"/><Relationship Id="rId5" Type="http://schemas.openxmlformats.org/officeDocument/2006/relationships/image" Target="../media/image4.emf"/><Relationship Id="rId1" Type="http://schemas.openxmlformats.org/officeDocument/2006/relationships/vmlDrawing" Target="../drawings/vmlDrawing3.vml"/><Relationship Id="rId2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4" Type="http://schemas.openxmlformats.org/officeDocument/2006/relationships/oleObject" Target="../embeddings/Microsoft_Word_97_-_2004_Document4.doc"/><Relationship Id="rId5" Type="http://schemas.openxmlformats.org/officeDocument/2006/relationships/image" Target="../media/image5.emf"/><Relationship Id="rId1" Type="http://schemas.openxmlformats.org/officeDocument/2006/relationships/vmlDrawing" Target="../drawings/vmlDrawing4.vml"/><Relationship Id="rId2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4" Type="http://schemas.openxmlformats.org/officeDocument/2006/relationships/oleObject" Target="../embeddings/Microsoft_Word_97_-_2004_Document5.doc"/><Relationship Id="rId5" Type="http://schemas.openxmlformats.org/officeDocument/2006/relationships/image" Target="../media/image6.emf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1" Type="http://schemas.openxmlformats.org/officeDocument/2006/relationships/vmlDrawing" Target="../drawings/vmlDrawing5.vml"/><Relationship Id="rId2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4" Type="http://schemas.openxmlformats.org/officeDocument/2006/relationships/oleObject" Target="../embeddings/Microsoft_Word_97_-_2004_Document6.doc"/><Relationship Id="rId5" Type="http://schemas.openxmlformats.org/officeDocument/2006/relationships/image" Target="../media/image9.emf"/><Relationship Id="rId1" Type="http://schemas.openxmlformats.org/officeDocument/2006/relationships/vmlDrawing" Target="../drawings/vmlDrawing6.vml"/><Relationship Id="rId2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4" Type="http://schemas.openxmlformats.org/officeDocument/2006/relationships/oleObject" Target="../embeddings/Microsoft_Word_97_-_2004_Document7.doc"/><Relationship Id="rId5" Type="http://schemas.openxmlformats.org/officeDocument/2006/relationships/image" Target="../media/image10.emf"/><Relationship Id="rId1" Type="http://schemas.openxmlformats.org/officeDocument/2006/relationships/vmlDrawing" Target="../drawings/vmlDrawing7.vml"/><Relationship Id="rId2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4" Type="http://schemas.openxmlformats.org/officeDocument/2006/relationships/oleObject" Target="../embeddings/Microsoft_Word_97_-_2004_Document8.doc"/><Relationship Id="rId5" Type="http://schemas.openxmlformats.org/officeDocument/2006/relationships/image" Target="../media/image11.emf"/><Relationship Id="rId1" Type="http://schemas.openxmlformats.org/officeDocument/2006/relationships/vmlDrawing" Target="../drawings/vmlDrawing8.vml"/><Relationship Id="rId2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4" Type="http://schemas.openxmlformats.org/officeDocument/2006/relationships/oleObject" Target="../embeddings/Microsoft_Word_97_-_2004_Document9.doc"/><Relationship Id="rId5" Type="http://schemas.openxmlformats.org/officeDocument/2006/relationships/image" Target="../media/image12.emf"/><Relationship Id="rId1" Type="http://schemas.openxmlformats.org/officeDocument/2006/relationships/vmlDrawing" Target="../drawings/vmlDrawing9.vml"/><Relationship Id="rId2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4" Type="http://schemas.openxmlformats.org/officeDocument/2006/relationships/oleObject" Target="../embeddings/Microsoft_Word_97_-_2004_Document10.doc"/><Relationship Id="rId5" Type="http://schemas.openxmlformats.org/officeDocument/2006/relationships/image" Target="../media/image13.emf"/><Relationship Id="rId1" Type="http://schemas.openxmlformats.org/officeDocument/2006/relationships/vmlDrawing" Target="../drawings/vmlDrawing10.vml"/><Relationship Id="rId2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4" Type="http://schemas.openxmlformats.org/officeDocument/2006/relationships/oleObject" Target="../embeddings/Microsoft_Word_97_-_2004_Document11.doc"/><Relationship Id="rId5" Type="http://schemas.openxmlformats.org/officeDocument/2006/relationships/image" Target="../media/image14.emf"/><Relationship Id="rId1" Type="http://schemas.openxmlformats.org/officeDocument/2006/relationships/vmlDrawing" Target="../drawings/vmlDrawing11.vml"/><Relationship Id="rId2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4" Type="http://schemas.openxmlformats.org/officeDocument/2006/relationships/oleObject" Target="../embeddings/Microsoft_Word_97_-_2004_Document12.doc"/><Relationship Id="rId5" Type="http://schemas.openxmlformats.org/officeDocument/2006/relationships/image" Target="../media/image15.emf"/><Relationship Id="rId1" Type="http://schemas.openxmlformats.org/officeDocument/2006/relationships/vmlDrawing" Target="../drawings/vmlDrawing12.vml"/><Relationship Id="rId2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4" Type="http://schemas.openxmlformats.org/officeDocument/2006/relationships/oleObject" Target="../embeddings/Microsoft_Word_97_-_2004_Document13.doc"/><Relationship Id="rId5" Type="http://schemas.openxmlformats.org/officeDocument/2006/relationships/image" Target="../media/image16.emf"/><Relationship Id="rId1" Type="http://schemas.openxmlformats.org/officeDocument/2006/relationships/vmlDrawing" Target="../drawings/vmlDrawing13.vml"/><Relationship Id="rId2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4" Type="http://schemas.openxmlformats.org/officeDocument/2006/relationships/oleObject" Target="../embeddings/Microsoft_Word_97_-_2004_Document14.doc"/><Relationship Id="rId5" Type="http://schemas.openxmlformats.org/officeDocument/2006/relationships/image" Target="../media/image17.emf"/><Relationship Id="rId1" Type="http://schemas.openxmlformats.org/officeDocument/2006/relationships/vmlDrawing" Target="../drawings/vmlDrawing14.vml"/><Relationship Id="rId2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4" Type="http://schemas.openxmlformats.org/officeDocument/2006/relationships/oleObject" Target="../embeddings/Microsoft_Word_97_-_2004_Document15.doc"/><Relationship Id="rId5" Type="http://schemas.openxmlformats.org/officeDocument/2006/relationships/image" Target="../media/image18.emf"/><Relationship Id="rId1" Type="http://schemas.openxmlformats.org/officeDocument/2006/relationships/vmlDrawing" Target="../drawings/vmlDrawing15.vml"/><Relationship Id="rId2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4" Type="http://schemas.openxmlformats.org/officeDocument/2006/relationships/oleObject" Target="../embeddings/Microsoft_Word_97_-_2004_Document16.doc"/><Relationship Id="rId5" Type="http://schemas.openxmlformats.org/officeDocument/2006/relationships/image" Target="../media/image19.emf"/><Relationship Id="rId1" Type="http://schemas.openxmlformats.org/officeDocument/2006/relationships/vmlDrawing" Target="../drawings/vmlDrawing16.vml"/><Relationship Id="rId2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4" Type="http://schemas.openxmlformats.org/officeDocument/2006/relationships/oleObject" Target="../embeddings/Microsoft_Word_97_-_2004_Document17.doc"/><Relationship Id="rId5" Type="http://schemas.openxmlformats.org/officeDocument/2006/relationships/image" Target="../media/image20.emf"/><Relationship Id="rId1" Type="http://schemas.openxmlformats.org/officeDocument/2006/relationships/vmlDrawing" Target="../drawings/vmlDrawing17.vml"/><Relationship Id="rId2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4" Type="http://schemas.openxmlformats.org/officeDocument/2006/relationships/oleObject" Target="../embeddings/Microsoft_Word_97_-_2004_Document18.doc"/><Relationship Id="rId5" Type="http://schemas.openxmlformats.org/officeDocument/2006/relationships/image" Target="../media/image21.emf"/><Relationship Id="rId1" Type="http://schemas.openxmlformats.org/officeDocument/2006/relationships/vmlDrawing" Target="../drawings/vmlDrawing18.vml"/><Relationship Id="rId2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4" Type="http://schemas.openxmlformats.org/officeDocument/2006/relationships/oleObject" Target="../embeddings/Microsoft_Word_97_-_2004_Document19.doc"/><Relationship Id="rId5" Type="http://schemas.openxmlformats.org/officeDocument/2006/relationships/image" Target="../media/image22.emf"/><Relationship Id="rId1" Type="http://schemas.openxmlformats.org/officeDocument/2006/relationships/vmlDrawing" Target="../drawings/vmlDrawing19.vml"/><Relationship Id="rId2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4" Type="http://schemas.openxmlformats.org/officeDocument/2006/relationships/oleObject" Target="../embeddings/Microsoft_Word_97_-_2004_Document20.doc"/><Relationship Id="rId5" Type="http://schemas.openxmlformats.org/officeDocument/2006/relationships/image" Target="../media/image23.emf"/><Relationship Id="rId1" Type="http://schemas.openxmlformats.org/officeDocument/2006/relationships/vmlDrawing" Target="../drawings/vmlDrawing20.vml"/><Relationship Id="rId2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4" Type="http://schemas.openxmlformats.org/officeDocument/2006/relationships/oleObject" Target="../embeddings/Microsoft_Word_97_-_2004_Document21.doc"/><Relationship Id="rId5" Type="http://schemas.openxmlformats.org/officeDocument/2006/relationships/image" Target="../media/image24.emf"/><Relationship Id="rId1" Type="http://schemas.openxmlformats.org/officeDocument/2006/relationships/vmlDrawing" Target="../drawings/vmlDrawing21.vml"/><Relationship Id="rId2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4" Type="http://schemas.openxmlformats.org/officeDocument/2006/relationships/oleObject" Target="../embeddings/Microsoft_Word_97_-_2004_Document22.doc"/><Relationship Id="rId5" Type="http://schemas.openxmlformats.org/officeDocument/2006/relationships/image" Target="../media/image25.emf"/><Relationship Id="rId1" Type="http://schemas.openxmlformats.org/officeDocument/2006/relationships/vmlDrawing" Target="../drawings/vmlDrawing22.vml"/><Relationship Id="rId2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4" Type="http://schemas.openxmlformats.org/officeDocument/2006/relationships/oleObject" Target="../embeddings/Microsoft_Word_97_-_2004_Document23.doc"/><Relationship Id="rId5" Type="http://schemas.openxmlformats.org/officeDocument/2006/relationships/image" Target="../media/image26.emf"/><Relationship Id="rId1" Type="http://schemas.openxmlformats.org/officeDocument/2006/relationships/vmlDrawing" Target="../drawings/vmlDrawing23.vml"/><Relationship Id="rId2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2.xml"/><Relationship Id="rId4" Type="http://schemas.openxmlformats.org/officeDocument/2006/relationships/oleObject" Target="../embeddings/Microsoft_Word_97_-_2004_Document24.doc"/><Relationship Id="rId5" Type="http://schemas.openxmlformats.org/officeDocument/2006/relationships/image" Target="../media/image27.emf"/><Relationship Id="rId1" Type="http://schemas.openxmlformats.org/officeDocument/2006/relationships/vmlDrawing" Target="../drawings/vmlDrawing24.vml"/><Relationship Id="rId2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3.xml"/><Relationship Id="rId4" Type="http://schemas.openxmlformats.org/officeDocument/2006/relationships/oleObject" Target="../embeddings/Microsoft_Word_97_-_2004_Document25.doc"/><Relationship Id="rId5" Type="http://schemas.openxmlformats.org/officeDocument/2006/relationships/image" Target="../media/image28.emf"/><Relationship Id="rId1" Type="http://schemas.openxmlformats.org/officeDocument/2006/relationships/vmlDrawing" Target="../drawings/vmlDrawing25.vml"/><Relationship Id="rId2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4.xml"/><Relationship Id="rId4" Type="http://schemas.openxmlformats.org/officeDocument/2006/relationships/oleObject" Target="../embeddings/Microsoft_Word_97_-_2004_Document26.doc"/><Relationship Id="rId5" Type="http://schemas.openxmlformats.org/officeDocument/2006/relationships/image" Target="../media/image29.emf"/><Relationship Id="rId1" Type="http://schemas.openxmlformats.org/officeDocument/2006/relationships/vmlDrawing" Target="../drawings/vmlDrawing26.vml"/><Relationship Id="rId2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5.xml"/><Relationship Id="rId4" Type="http://schemas.openxmlformats.org/officeDocument/2006/relationships/oleObject" Target="../embeddings/Microsoft_Word_97_-_2004_Document27.doc"/><Relationship Id="rId5" Type="http://schemas.openxmlformats.org/officeDocument/2006/relationships/image" Target="../media/image30.emf"/><Relationship Id="rId1" Type="http://schemas.openxmlformats.org/officeDocument/2006/relationships/vmlDrawing" Target="../drawings/vmlDrawing27.vml"/><Relationship Id="rId2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mtClean="0"/>
              <a:t>File </a:t>
            </a:r>
            <a:r>
              <a:rPr lang="en-US" dirty="0" smtClean="0"/>
              <a:t>Processing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7F2A5-20F1-4105-A36D-23FC9E435865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OBJECTIVES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772400" cy="3875088"/>
          </a:xfrm>
        </p:spPr>
        <p:txBody>
          <a:bodyPr/>
          <a:lstStyle/>
          <a:p>
            <a:r>
              <a:rPr lang="en-US" b="1">
                <a:cs typeface="Times New Roman" charset="0"/>
              </a:rPr>
              <a:t>In this chapter you will learn: </a:t>
            </a:r>
          </a:p>
          <a:p>
            <a:pPr lvl="1"/>
            <a:r>
              <a:rPr lang="en-US" b="1">
                <a:cs typeface="Times New Roman" charset="0"/>
              </a:rPr>
              <a:t>To create, read, write and update files.</a:t>
            </a:r>
          </a:p>
          <a:p>
            <a:pPr lvl="1"/>
            <a:r>
              <a:rPr lang="en-US" b="1">
                <a:cs typeface="Times New Roman" charset="0"/>
              </a:rPr>
              <a:t>Sequential access file processing.</a:t>
            </a:r>
          </a:p>
          <a:p>
            <a:pPr lvl="1"/>
            <a:r>
              <a:rPr lang="en-US" b="1">
                <a:cs typeface="Times New Roman" charset="0"/>
              </a:rPr>
              <a:t>Random-access file processing.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7F2A5-20F1-4105-A36D-23FC9E435865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/>
              <a:t>Introduction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Data files</a:t>
            </a:r>
          </a:p>
          <a:p>
            <a:pPr lvl="1"/>
            <a:r>
              <a:rPr lang="en-US"/>
              <a:t>Can be created, updated, and processed by C programs </a:t>
            </a:r>
          </a:p>
          <a:p>
            <a:pPr lvl="1"/>
            <a:r>
              <a:rPr lang="en-US"/>
              <a:t>Are used for permanent storage of large amounts of data</a:t>
            </a:r>
          </a:p>
          <a:p>
            <a:pPr lvl="2"/>
            <a:r>
              <a:rPr lang="en-US"/>
              <a:t>Storage of data in variables and arrays is only temporary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7F2A5-20F1-4105-A36D-23FC9E435865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1143000"/>
          </a:xfrm>
        </p:spPr>
        <p:txBody>
          <a:bodyPr/>
          <a:lstStyle/>
          <a:p>
            <a:r>
              <a:rPr lang="en-US"/>
              <a:t>Data Hierarchy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914400"/>
            <a:ext cx="7772400" cy="4114800"/>
          </a:xfrm>
        </p:spPr>
        <p:txBody>
          <a:bodyPr>
            <a:normAutofit fontScale="92500" lnSpcReduction="10000"/>
          </a:bodyPr>
          <a:lstStyle/>
          <a:p>
            <a:pPr marL="228600" indent="-228600">
              <a:lnSpc>
                <a:spcPct val="90000"/>
              </a:lnSpc>
            </a:pPr>
            <a:r>
              <a:rPr lang="en-US" sz="2800"/>
              <a:t>Data Hierarchy:</a:t>
            </a:r>
          </a:p>
          <a:p>
            <a:pPr marL="747713" lvl="1" indent="-290513">
              <a:lnSpc>
                <a:spcPct val="90000"/>
              </a:lnSpc>
            </a:pPr>
            <a:r>
              <a:rPr lang="en-US" sz="2900"/>
              <a:t>Bit </a:t>
            </a:r>
            <a:r>
              <a:rPr lang="en-US" sz="2900">
                <a:cs typeface="Times New Roman" charset="0"/>
              </a:rPr>
              <a:t>–</a:t>
            </a:r>
            <a:r>
              <a:rPr lang="en-US" sz="2900"/>
              <a:t> smallest data item</a:t>
            </a:r>
          </a:p>
          <a:p>
            <a:pPr lvl="2">
              <a:lnSpc>
                <a:spcPct val="90000"/>
              </a:lnSpc>
            </a:pPr>
            <a:r>
              <a:rPr lang="en-US" sz="2000"/>
              <a:t>Value of </a:t>
            </a:r>
            <a:r>
              <a:rPr lang="en-US" sz="1800">
                <a:latin typeface="Lucida Console" pitchFamily="49" charset="0"/>
              </a:rPr>
              <a:t>0</a:t>
            </a:r>
            <a:r>
              <a:rPr lang="en-US" sz="2000"/>
              <a:t> or </a:t>
            </a:r>
            <a:r>
              <a:rPr lang="en-US" sz="1800">
                <a:latin typeface="Lucida Console" pitchFamily="49" charset="0"/>
              </a:rPr>
              <a:t>1</a:t>
            </a:r>
          </a:p>
          <a:p>
            <a:pPr marL="747713" lvl="1" indent="-290513">
              <a:lnSpc>
                <a:spcPct val="90000"/>
              </a:lnSpc>
            </a:pPr>
            <a:r>
              <a:rPr lang="en-US" sz="2900"/>
              <a:t>Byte – 8 bits </a:t>
            </a:r>
          </a:p>
          <a:p>
            <a:pPr lvl="2">
              <a:lnSpc>
                <a:spcPct val="90000"/>
              </a:lnSpc>
            </a:pPr>
            <a:r>
              <a:rPr lang="en-US" sz="2000"/>
              <a:t>Used to store a character</a:t>
            </a:r>
          </a:p>
          <a:p>
            <a:pPr marL="1662113" lvl="3" indent="-290513">
              <a:lnSpc>
                <a:spcPct val="90000"/>
              </a:lnSpc>
            </a:pPr>
            <a:r>
              <a:rPr lang="en-US" sz="1800"/>
              <a:t>Decimal digits, letters, and special symbols</a:t>
            </a:r>
          </a:p>
          <a:p>
            <a:pPr marL="747713" lvl="1" indent="-290513">
              <a:lnSpc>
                <a:spcPct val="90000"/>
              </a:lnSpc>
            </a:pPr>
            <a:r>
              <a:rPr lang="en-US" sz="2900"/>
              <a:t>Field </a:t>
            </a:r>
            <a:r>
              <a:rPr lang="en-US" sz="2900">
                <a:cs typeface="Times New Roman" charset="0"/>
              </a:rPr>
              <a:t>–</a:t>
            </a:r>
            <a:r>
              <a:rPr lang="en-US" sz="2900"/>
              <a:t> group of characters conveying meaning </a:t>
            </a:r>
          </a:p>
          <a:p>
            <a:pPr lvl="2">
              <a:lnSpc>
                <a:spcPct val="90000"/>
              </a:lnSpc>
            </a:pPr>
            <a:r>
              <a:rPr lang="en-US" sz="2000"/>
              <a:t>Example: your name</a:t>
            </a:r>
          </a:p>
          <a:p>
            <a:pPr marL="747713" lvl="1" indent="-290513">
              <a:lnSpc>
                <a:spcPct val="90000"/>
              </a:lnSpc>
            </a:pPr>
            <a:r>
              <a:rPr lang="en-US" sz="2900"/>
              <a:t>Record – group of related fields</a:t>
            </a:r>
          </a:p>
          <a:p>
            <a:pPr lvl="2">
              <a:lnSpc>
                <a:spcPct val="90000"/>
              </a:lnSpc>
            </a:pPr>
            <a:r>
              <a:rPr lang="en-US" sz="2000"/>
              <a:t>Represented by a </a:t>
            </a:r>
            <a:r>
              <a:rPr lang="en-US" sz="1800">
                <a:latin typeface="Lucida Console" pitchFamily="49" charset="0"/>
              </a:rPr>
              <a:t>struct</a:t>
            </a:r>
            <a:r>
              <a:rPr lang="en-US" sz="2000"/>
              <a:t> or a </a:t>
            </a:r>
            <a:r>
              <a:rPr lang="en-US" sz="1800">
                <a:latin typeface="Lucida Console" pitchFamily="49" charset="0"/>
              </a:rPr>
              <a:t>class</a:t>
            </a:r>
          </a:p>
          <a:p>
            <a:pPr lvl="2">
              <a:lnSpc>
                <a:spcPct val="90000"/>
              </a:lnSpc>
            </a:pPr>
            <a:r>
              <a:rPr lang="en-US" sz="2000"/>
              <a:t>Example: In a payroll system, a record for a particular employee that contained his/her identification number, name, address, etc.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7F2A5-20F1-4105-A36D-23FC9E435865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Hierarchy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Data Hierarchy (continued):</a:t>
            </a:r>
          </a:p>
          <a:p>
            <a:pPr lvl="1"/>
            <a:r>
              <a:rPr lang="en-US"/>
              <a:t>File – group of related records</a:t>
            </a:r>
          </a:p>
          <a:p>
            <a:pPr lvl="2"/>
            <a:r>
              <a:rPr lang="en-US"/>
              <a:t>Example: payroll file</a:t>
            </a:r>
          </a:p>
          <a:p>
            <a:pPr lvl="1"/>
            <a:r>
              <a:rPr lang="en-US"/>
              <a:t>Database – group of related files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7F2A5-20F1-4105-A36D-23FC9E435865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ChangeArrowheads="1"/>
          </p:cNvSpPr>
          <p:nvPr/>
        </p:nvSpPr>
        <p:spPr bwMode="auto">
          <a:xfrm>
            <a:off x="227013" y="5638800"/>
            <a:ext cx="8683625" cy="277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tIns="0" anchor="ctr"/>
          <a:lstStyle/>
          <a:p>
            <a:pPr algn="ctr"/>
            <a:r>
              <a:rPr lang="en-US" sz="4400">
                <a:solidFill>
                  <a:schemeClr val="tx2"/>
                </a:solidFill>
              </a:rPr>
              <a:t>Data hierarchy.</a:t>
            </a:r>
          </a:p>
        </p:txBody>
      </p:sp>
      <p:pic>
        <p:nvPicPr>
          <p:cNvPr id="47107" name="Picture 3" descr="AAHBDOZ0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82713" y="854075"/>
            <a:ext cx="6350000" cy="4178300"/>
          </a:xfrm>
          <a:prstGeom prst="rect">
            <a:avLst/>
          </a:prstGeom>
          <a:noFill/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7F2A5-20F1-4105-A36D-23FC9E435865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Hierarchy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files</a:t>
            </a:r>
          </a:p>
          <a:p>
            <a:pPr lvl="1"/>
            <a:r>
              <a:rPr lang="en-US" dirty="0"/>
              <a:t>Record key</a:t>
            </a:r>
          </a:p>
          <a:p>
            <a:pPr lvl="2"/>
            <a:r>
              <a:rPr lang="en-US" dirty="0"/>
              <a:t>Identifies a record to facilitate the retrieval of specific records from a file</a:t>
            </a:r>
          </a:p>
          <a:p>
            <a:pPr lvl="1"/>
            <a:r>
              <a:rPr lang="en-US" dirty="0"/>
              <a:t>Sequential file </a:t>
            </a:r>
          </a:p>
          <a:p>
            <a:pPr lvl="2"/>
            <a:r>
              <a:rPr lang="en-US" dirty="0"/>
              <a:t> Records typically sorted by key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7F2A5-20F1-4105-A36D-23FC9E435865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7772400" cy="1143000"/>
          </a:xfrm>
        </p:spPr>
        <p:txBody>
          <a:bodyPr/>
          <a:lstStyle/>
          <a:p>
            <a:r>
              <a:rPr lang="en-US"/>
              <a:t>Files and Streams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295400"/>
            <a:ext cx="8001000" cy="4648200"/>
          </a:xfrm>
        </p:spPr>
        <p:txBody>
          <a:bodyPr/>
          <a:lstStyle/>
          <a:p>
            <a:r>
              <a:rPr lang="en-US" sz="2800"/>
              <a:t>C views each file as a sequence of bytes</a:t>
            </a:r>
          </a:p>
          <a:p>
            <a:pPr lvl="1"/>
            <a:r>
              <a:rPr lang="en-US" sz="2400"/>
              <a:t>File ends with the </a:t>
            </a:r>
            <a:r>
              <a:rPr lang="en-US" sz="2400" i="1"/>
              <a:t>end-of-file marker</a:t>
            </a:r>
          </a:p>
          <a:p>
            <a:pPr lvl="2"/>
            <a:r>
              <a:rPr lang="en-US" sz="2000"/>
              <a:t>Or, file ends at a specified byte</a:t>
            </a:r>
          </a:p>
          <a:p>
            <a:r>
              <a:rPr lang="en-US" sz="2800"/>
              <a:t>Stream created when a file is opened</a:t>
            </a:r>
          </a:p>
          <a:p>
            <a:pPr lvl="1"/>
            <a:r>
              <a:rPr lang="en-US" sz="2400"/>
              <a:t>Provide communication channel between files and programs</a:t>
            </a:r>
          </a:p>
          <a:p>
            <a:pPr lvl="1"/>
            <a:r>
              <a:rPr lang="en-US" sz="2400"/>
              <a:t>Opening a file returns a pointer to a </a:t>
            </a:r>
            <a:r>
              <a:rPr lang="en-US" sz="2200">
                <a:latin typeface="Lucida Console" pitchFamily="49" charset="0"/>
              </a:rPr>
              <a:t>FILE</a:t>
            </a:r>
            <a:r>
              <a:rPr lang="en-US" sz="2400"/>
              <a:t> structure</a:t>
            </a:r>
          </a:p>
          <a:p>
            <a:pPr lvl="2"/>
            <a:r>
              <a:rPr lang="en-US" sz="2000"/>
              <a:t>Example file pointers:</a:t>
            </a:r>
          </a:p>
          <a:p>
            <a:pPr lvl="2"/>
            <a:r>
              <a:rPr lang="en-US" sz="1800">
                <a:latin typeface="Lucida Console" pitchFamily="49" charset="0"/>
              </a:rPr>
              <a:t>stdin</a:t>
            </a:r>
            <a:r>
              <a:rPr lang="en-US" sz="2000"/>
              <a:t> - standard input (keyboard)</a:t>
            </a:r>
          </a:p>
          <a:p>
            <a:pPr lvl="2"/>
            <a:r>
              <a:rPr lang="en-US" sz="1800">
                <a:latin typeface="Lucida Console" pitchFamily="49" charset="0"/>
              </a:rPr>
              <a:t>stdout</a:t>
            </a:r>
            <a:r>
              <a:rPr lang="en-US" sz="2000"/>
              <a:t> - standard output (screen)</a:t>
            </a:r>
          </a:p>
          <a:p>
            <a:pPr lvl="2"/>
            <a:r>
              <a:rPr lang="en-US" sz="1800">
                <a:latin typeface="Lucida Console" pitchFamily="49" charset="0"/>
              </a:rPr>
              <a:t>stderr</a:t>
            </a:r>
            <a:r>
              <a:rPr lang="en-US" sz="2000"/>
              <a:t> - standard error (screen)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7F2A5-20F1-4105-A36D-23FC9E435865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Files and Streams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600200"/>
            <a:ext cx="7772400" cy="4114800"/>
          </a:xfrm>
        </p:spPr>
        <p:txBody>
          <a:bodyPr>
            <a:normAutofit lnSpcReduction="10000"/>
          </a:bodyPr>
          <a:lstStyle/>
          <a:p>
            <a:pPr>
              <a:lnSpc>
                <a:spcPct val="80000"/>
              </a:lnSpc>
            </a:pPr>
            <a:r>
              <a:rPr lang="en-US" sz="2400"/>
              <a:t>Read/Write functions in standard library</a:t>
            </a:r>
          </a:p>
          <a:p>
            <a:pPr lvl="1">
              <a:lnSpc>
                <a:spcPct val="80000"/>
              </a:lnSpc>
            </a:pPr>
            <a:r>
              <a:rPr lang="en-US" sz="1800">
                <a:latin typeface="Lucida Console" pitchFamily="49" charset="0"/>
              </a:rPr>
              <a:t>fgetc</a:t>
            </a:r>
          </a:p>
          <a:p>
            <a:pPr lvl="2">
              <a:lnSpc>
                <a:spcPct val="80000"/>
              </a:lnSpc>
            </a:pPr>
            <a:r>
              <a:rPr lang="en-US" sz="1800"/>
              <a:t>Reads one character from a file</a:t>
            </a:r>
          </a:p>
          <a:p>
            <a:pPr lvl="2">
              <a:lnSpc>
                <a:spcPct val="80000"/>
              </a:lnSpc>
            </a:pPr>
            <a:r>
              <a:rPr lang="en-US" sz="1800"/>
              <a:t>Takes a </a:t>
            </a:r>
            <a:r>
              <a:rPr lang="en-US" sz="1600">
                <a:latin typeface="Lucida Console" pitchFamily="49" charset="0"/>
              </a:rPr>
              <a:t>FILE</a:t>
            </a:r>
            <a:r>
              <a:rPr lang="en-US" sz="1800"/>
              <a:t> pointer as an argument</a:t>
            </a:r>
          </a:p>
          <a:p>
            <a:pPr lvl="2">
              <a:lnSpc>
                <a:spcPct val="80000"/>
              </a:lnSpc>
            </a:pPr>
            <a:r>
              <a:rPr lang="en-US" sz="1600">
                <a:latin typeface="Lucida Console" pitchFamily="49" charset="0"/>
              </a:rPr>
              <a:t>fgetc( stdin )</a:t>
            </a:r>
            <a:r>
              <a:rPr lang="en-US" sz="1800"/>
              <a:t> equivalent to </a:t>
            </a:r>
            <a:r>
              <a:rPr lang="en-US" sz="1600">
                <a:latin typeface="Lucida Console" pitchFamily="49" charset="0"/>
              </a:rPr>
              <a:t>getchar()</a:t>
            </a:r>
          </a:p>
          <a:p>
            <a:pPr lvl="1">
              <a:lnSpc>
                <a:spcPct val="80000"/>
              </a:lnSpc>
            </a:pPr>
            <a:r>
              <a:rPr lang="en-US" sz="1800">
                <a:latin typeface="Lucida Console" pitchFamily="49" charset="0"/>
              </a:rPr>
              <a:t>fputc</a:t>
            </a:r>
          </a:p>
          <a:p>
            <a:pPr lvl="2">
              <a:lnSpc>
                <a:spcPct val="80000"/>
              </a:lnSpc>
            </a:pPr>
            <a:r>
              <a:rPr lang="en-US" sz="1800"/>
              <a:t>Writes one character to a file</a:t>
            </a:r>
          </a:p>
          <a:p>
            <a:pPr lvl="2">
              <a:lnSpc>
                <a:spcPct val="80000"/>
              </a:lnSpc>
            </a:pPr>
            <a:r>
              <a:rPr lang="en-US" sz="1800"/>
              <a:t>Takes a </a:t>
            </a:r>
            <a:r>
              <a:rPr lang="en-US" sz="1600">
                <a:latin typeface="Lucida Console" pitchFamily="49" charset="0"/>
              </a:rPr>
              <a:t>FILE</a:t>
            </a:r>
            <a:r>
              <a:rPr lang="en-US" sz="1800"/>
              <a:t> pointer and a character to write as an argument</a:t>
            </a:r>
          </a:p>
          <a:p>
            <a:pPr lvl="2">
              <a:lnSpc>
                <a:spcPct val="80000"/>
              </a:lnSpc>
            </a:pPr>
            <a:r>
              <a:rPr lang="en-US" sz="1600">
                <a:latin typeface="Lucida Console" pitchFamily="49" charset="0"/>
              </a:rPr>
              <a:t>fputc( 'a', stdout )</a:t>
            </a:r>
            <a:r>
              <a:rPr lang="en-US" sz="1800"/>
              <a:t> equivalent to </a:t>
            </a:r>
            <a:r>
              <a:rPr lang="en-US" sz="1600">
                <a:latin typeface="Lucida Console" pitchFamily="49" charset="0"/>
              </a:rPr>
              <a:t>putchar( 'a' )</a:t>
            </a:r>
          </a:p>
          <a:p>
            <a:pPr lvl="1">
              <a:lnSpc>
                <a:spcPct val="80000"/>
              </a:lnSpc>
            </a:pPr>
            <a:r>
              <a:rPr lang="en-US" sz="1800">
                <a:latin typeface="Lucida Console" pitchFamily="49" charset="0"/>
              </a:rPr>
              <a:t>fgets</a:t>
            </a:r>
          </a:p>
          <a:p>
            <a:pPr lvl="2">
              <a:lnSpc>
                <a:spcPct val="80000"/>
              </a:lnSpc>
            </a:pPr>
            <a:r>
              <a:rPr lang="en-US" sz="1800"/>
              <a:t>Reads a line from a file</a:t>
            </a:r>
          </a:p>
          <a:p>
            <a:pPr lvl="1">
              <a:lnSpc>
                <a:spcPct val="80000"/>
              </a:lnSpc>
            </a:pPr>
            <a:r>
              <a:rPr lang="en-US" sz="1800">
                <a:latin typeface="Lucida Console" pitchFamily="49" charset="0"/>
              </a:rPr>
              <a:t>fputs</a:t>
            </a:r>
          </a:p>
          <a:p>
            <a:pPr lvl="2">
              <a:lnSpc>
                <a:spcPct val="80000"/>
              </a:lnSpc>
            </a:pPr>
            <a:r>
              <a:rPr lang="en-US" sz="1800"/>
              <a:t>Writes a line to a file</a:t>
            </a:r>
          </a:p>
          <a:p>
            <a:pPr lvl="1">
              <a:lnSpc>
                <a:spcPct val="80000"/>
              </a:lnSpc>
            </a:pPr>
            <a:r>
              <a:rPr lang="en-US" sz="1800">
                <a:latin typeface="Lucida Console" pitchFamily="49" charset="0"/>
              </a:rPr>
              <a:t>fscanf</a:t>
            </a:r>
            <a:r>
              <a:rPr lang="en-US" sz="2200"/>
              <a:t> / </a:t>
            </a:r>
            <a:r>
              <a:rPr lang="en-US" sz="1800">
                <a:latin typeface="Lucida Console" pitchFamily="49" charset="0"/>
              </a:rPr>
              <a:t>fprintf</a:t>
            </a:r>
          </a:p>
          <a:p>
            <a:pPr lvl="2">
              <a:lnSpc>
                <a:spcPct val="80000"/>
              </a:lnSpc>
            </a:pPr>
            <a:r>
              <a:rPr lang="en-US" sz="1800"/>
              <a:t>File processing equivalents of </a:t>
            </a:r>
            <a:r>
              <a:rPr lang="en-US" sz="1600">
                <a:latin typeface="Lucida Console" pitchFamily="49" charset="0"/>
              </a:rPr>
              <a:t>scanf</a:t>
            </a:r>
            <a:r>
              <a:rPr lang="en-US" sz="1800"/>
              <a:t> and </a:t>
            </a:r>
            <a:r>
              <a:rPr lang="en-US" sz="1600">
                <a:latin typeface="Lucida Console" pitchFamily="49" charset="0"/>
              </a:rPr>
              <a:t>printf</a:t>
            </a:r>
            <a:endParaRPr lang="en-US" sz="18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7F2A5-20F1-4105-A36D-23FC9E435865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Creating a Sequential-Access File</a:t>
            </a:r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800" dirty="0" smtClean="0"/>
              <a:t>Creating </a:t>
            </a:r>
            <a:r>
              <a:rPr lang="en-US" sz="2800" dirty="0"/>
              <a:t>a File</a:t>
            </a:r>
          </a:p>
          <a:p>
            <a:pPr lvl="1">
              <a:lnSpc>
                <a:spcPct val="90000"/>
              </a:lnSpc>
            </a:pPr>
            <a:r>
              <a:rPr lang="en-US" sz="2200" dirty="0">
                <a:latin typeface="Lucida Console" pitchFamily="49" charset="0"/>
              </a:rPr>
              <a:t>FILE *</a:t>
            </a:r>
            <a:r>
              <a:rPr lang="en-US" sz="2200" dirty="0" err="1">
                <a:latin typeface="Lucida Console" pitchFamily="49" charset="0"/>
              </a:rPr>
              <a:t>cfPtr</a:t>
            </a:r>
            <a:r>
              <a:rPr lang="en-US" sz="2200" dirty="0">
                <a:latin typeface="Lucida Console" pitchFamily="49" charset="0"/>
              </a:rPr>
              <a:t>;</a:t>
            </a:r>
          </a:p>
          <a:p>
            <a:pPr lvl="2">
              <a:lnSpc>
                <a:spcPct val="90000"/>
              </a:lnSpc>
            </a:pPr>
            <a:r>
              <a:rPr lang="en-US" sz="2000" dirty="0"/>
              <a:t>Creates a </a:t>
            </a:r>
            <a:r>
              <a:rPr lang="en-US" sz="1800" dirty="0">
                <a:latin typeface="Lucida Console" pitchFamily="49" charset="0"/>
              </a:rPr>
              <a:t>FILE</a:t>
            </a:r>
            <a:r>
              <a:rPr lang="en-US" sz="2000" dirty="0"/>
              <a:t> pointer called </a:t>
            </a:r>
            <a:r>
              <a:rPr lang="en-US" sz="1800" dirty="0" err="1">
                <a:latin typeface="Lucida Console" pitchFamily="49" charset="0"/>
              </a:rPr>
              <a:t>cfPtr</a:t>
            </a:r>
            <a:endParaRPr lang="en-US" sz="1800" dirty="0">
              <a:latin typeface="Lucida Console" pitchFamily="49" charset="0"/>
            </a:endParaRPr>
          </a:p>
          <a:p>
            <a:pPr lvl="1">
              <a:lnSpc>
                <a:spcPct val="90000"/>
              </a:lnSpc>
            </a:pPr>
            <a:r>
              <a:rPr lang="en-US" sz="2200" dirty="0" err="1">
                <a:latin typeface="Lucida Console" pitchFamily="49" charset="0"/>
              </a:rPr>
              <a:t>cfPtr</a:t>
            </a:r>
            <a:r>
              <a:rPr lang="en-US" sz="2200" dirty="0">
                <a:latin typeface="Lucida Console" pitchFamily="49" charset="0"/>
              </a:rPr>
              <a:t> = </a:t>
            </a:r>
            <a:r>
              <a:rPr lang="en-US" sz="2200" dirty="0" err="1">
                <a:latin typeface="Lucida Console" pitchFamily="49" charset="0"/>
              </a:rPr>
              <a:t>fopen</a:t>
            </a:r>
            <a:r>
              <a:rPr lang="en-US" sz="2200" dirty="0">
                <a:latin typeface="Lucida Console" pitchFamily="49" charset="0"/>
              </a:rPr>
              <a:t>(“clients.dat", “w”);</a:t>
            </a:r>
          </a:p>
          <a:p>
            <a:pPr lvl="2">
              <a:lnSpc>
                <a:spcPct val="90000"/>
              </a:lnSpc>
            </a:pPr>
            <a:r>
              <a:rPr lang="en-US" sz="2000" dirty="0"/>
              <a:t>Function </a:t>
            </a:r>
            <a:r>
              <a:rPr lang="en-US" sz="1800" dirty="0" err="1">
                <a:latin typeface="Lucida Console" pitchFamily="49" charset="0"/>
              </a:rPr>
              <a:t>fopen</a:t>
            </a:r>
            <a:r>
              <a:rPr lang="en-US" sz="2000" dirty="0"/>
              <a:t> returns a </a:t>
            </a:r>
            <a:r>
              <a:rPr lang="en-US" sz="1800" dirty="0">
                <a:latin typeface="Lucida Console" pitchFamily="49" charset="0"/>
              </a:rPr>
              <a:t>FILE</a:t>
            </a:r>
            <a:r>
              <a:rPr lang="en-US" sz="2000" dirty="0"/>
              <a:t> pointer to file specified</a:t>
            </a:r>
          </a:p>
          <a:p>
            <a:pPr lvl="2">
              <a:lnSpc>
                <a:spcPct val="90000"/>
              </a:lnSpc>
            </a:pPr>
            <a:r>
              <a:rPr lang="en-US" sz="2000" dirty="0"/>
              <a:t>Takes two arguments </a:t>
            </a:r>
            <a:r>
              <a:rPr lang="en-US" sz="2000" dirty="0">
                <a:cs typeface="Times New Roman" charset="0"/>
              </a:rPr>
              <a:t>–</a:t>
            </a:r>
            <a:r>
              <a:rPr lang="en-US" sz="2000" dirty="0"/>
              <a:t> file to open and file open mode</a:t>
            </a:r>
          </a:p>
          <a:p>
            <a:pPr lvl="2">
              <a:lnSpc>
                <a:spcPct val="90000"/>
              </a:lnSpc>
            </a:pPr>
            <a:r>
              <a:rPr lang="en-US" sz="2000" dirty="0"/>
              <a:t>If open fails, </a:t>
            </a:r>
            <a:r>
              <a:rPr lang="en-US" sz="1800" dirty="0">
                <a:latin typeface="Lucida Console" pitchFamily="49" charset="0"/>
              </a:rPr>
              <a:t>NULL</a:t>
            </a:r>
            <a:r>
              <a:rPr lang="en-US" sz="2000" dirty="0"/>
              <a:t> returned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7F2A5-20F1-4105-A36D-23FC9E435865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1143000"/>
          </a:xfrm>
        </p:spPr>
        <p:txBody>
          <a:bodyPr/>
          <a:lstStyle/>
          <a:p>
            <a:r>
              <a:rPr lang="en-US" sz="4000"/>
              <a:t>Creating a Sequential-Access File</a:t>
            </a:r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295400"/>
            <a:ext cx="8001000" cy="4648200"/>
          </a:xfrm>
        </p:spPr>
        <p:txBody>
          <a:bodyPr/>
          <a:lstStyle/>
          <a:p>
            <a:pPr lvl="1">
              <a:lnSpc>
                <a:spcPct val="80000"/>
              </a:lnSpc>
            </a:pPr>
            <a:r>
              <a:rPr lang="en-US" sz="1800">
                <a:latin typeface="Lucida Console" pitchFamily="49" charset="0"/>
              </a:rPr>
              <a:t>fprintf</a:t>
            </a:r>
          </a:p>
          <a:p>
            <a:pPr lvl="2">
              <a:lnSpc>
                <a:spcPct val="80000"/>
              </a:lnSpc>
            </a:pPr>
            <a:r>
              <a:rPr lang="en-US" sz="1800"/>
              <a:t>Used to print to a file</a:t>
            </a:r>
          </a:p>
          <a:p>
            <a:pPr lvl="2">
              <a:lnSpc>
                <a:spcPct val="80000"/>
              </a:lnSpc>
            </a:pPr>
            <a:r>
              <a:rPr lang="en-US" sz="1800"/>
              <a:t>Like </a:t>
            </a:r>
            <a:r>
              <a:rPr lang="en-US" sz="1600">
                <a:latin typeface="Lucida Console" pitchFamily="49" charset="0"/>
              </a:rPr>
              <a:t>printf</a:t>
            </a:r>
            <a:r>
              <a:rPr lang="en-US" sz="1800"/>
              <a:t>, except first argument is a </a:t>
            </a:r>
            <a:r>
              <a:rPr lang="en-US" sz="1600">
                <a:latin typeface="Lucida Console" pitchFamily="49" charset="0"/>
              </a:rPr>
              <a:t>FILE</a:t>
            </a:r>
            <a:r>
              <a:rPr lang="en-US" sz="1800"/>
              <a:t> pointer (pointer to the file you want to print in)</a:t>
            </a:r>
            <a:endParaRPr lang="en-US" sz="1600">
              <a:latin typeface="Lucida Console" pitchFamily="49" charset="0"/>
            </a:endParaRPr>
          </a:p>
          <a:p>
            <a:pPr lvl="1">
              <a:lnSpc>
                <a:spcPct val="80000"/>
              </a:lnSpc>
            </a:pPr>
            <a:r>
              <a:rPr lang="en-US" sz="1800">
                <a:latin typeface="Lucida Console" pitchFamily="49" charset="0"/>
              </a:rPr>
              <a:t>feof( </a:t>
            </a:r>
            <a:r>
              <a:rPr lang="en-US" sz="1800" i="1">
                <a:latin typeface="Lucida Console" pitchFamily="49" charset="0"/>
              </a:rPr>
              <a:t>FILE</a:t>
            </a:r>
            <a:r>
              <a:rPr lang="en-US" sz="2200" i="1"/>
              <a:t> pointer</a:t>
            </a:r>
            <a:r>
              <a:rPr lang="en-US" sz="1800">
                <a:latin typeface="Lucida Console" pitchFamily="49" charset="0"/>
              </a:rPr>
              <a:t> )</a:t>
            </a:r>
          </a:p>
          <a:p>
            <a:pPr lvl="2">
              <a:lnSpc>
                <a:spcPct val="80000"/>
              </a:lnSpc>
            </a:pPr>
            <a:r>
              <a:rPr lang="en-US" sz="1800"/>
              <a:t>Returns true if end-of-file indicator (no more data to process) is set for the specified file</a:t>
            </a:r>
          </a:p>
          <a:p>
            <a:pPr lvl="1">
              <a:lnSpc>
                <a:spcPct val="80000"/>
              </a:lnSpc>
            </a:pPr>
            <a:r>
              <a:rPr lang="en-US" sz="1800">
                <a:latin typeface="Lucida Console" pitchFamily="49" charset="0"/>
              </a:rPr>
              <a:t>fclose(</a:t>
            </a:r>
            <a:r>
              <a:rPr lang="en-US" sz="2200"/>
              <a:t> </a:t>
            </a:r>
            <a:r>
              <a:rPr lang="en-US" sz="1800" i="1">
                <a:latin typeface="Lucida Console" pitchFamily="49" charset="0"/>
              </a:rPr>
              <a:t>FILE</a:t>
            </a:r>
            <a:r>
              <a:rPr lang="en-US" sz="2200" i="1"/>
              <a:t> pointer</a:t>
            </a:r>
            <a:r>
              <a:rPr lang="en-US" sz="1800">
                <a:latin typeface="Lucida Console" pitchFamily="49" charset="0"/>
              </a:rPr>
              <a:t> )</a:t>
            </a:r>
          </a:p>
          <a:p>
            <a:pPr lvl="2">
              <a:lnSpc>
                <a:spcPct val="80000"/>
              </a:lnSpc>
            </a:pPr>
            <a:r>
              <a:rPr lang="en-US" sz="1800"/>
              <a:t>Closes specified file</a:t>
            </a:r>
          </a:p>
          <a:p>
            <a:pPr lvl="2">
              <a:lnSpc>
                <a:spcPct val="80000"/>
              </a:lnSpc>
            </a:pPr>
            <a:r>
              <a:rPr lang="en-US" sz="1800"/>
              <a:t>Performed automatically when program ends</a:t>
            </a:r>
          </a:p>
          <a:p>
            <a:pPr lvl="2">
              <a:lnSpc>
                <a:spcPct val="80000"/>
              </a:lnSpc>
            </a:pPr>
            <a:r>
              <a:rPr lang="en-US" sz="1800"/>
              <a:t>Good practice to close files explicitly</a:t>
            </a:r>
          </a:p>
          <a:p>
            <a:pPr>
              <a:lnSpc>
                <a:spcPct val="80000"/>
              </a:lnSpc>
            </a:pPr>
            <a:r>
              <a:rPr lang="en-US" sz="2400"/>
              <a:t>Details</a:t>
            </a:r>
          </a:p>
          <a:p>
            <a:pPr lvl="1">
              <a:lnSpc>
                <a:spcPct val="80000"/>
              </a:lnSpc>
            </a:pPr>
            <a:r>
              <a:rPr lang="en-US" sz="2200"/>
              <a:t>Programs may process no files, one file, or many files</a:t>
            </a:r>
          </a:p>
          <a:p>
            <a:pPr lvl="1">
              <a:lnSpc>
                <a:spcPct val="80000"/>
              </a:lnSpc>
            </a:pPr>
            <a:r>
              <a:rPr lang="en-US" sz="2200"/>
              <a:t>Each file must have a unique name and should have its own pointer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7F2A5-20F1-4105-A36D-23FC9E435865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442" name="Object 2"/>
          <p:cNvGraphicFramePr>
            <a:graphicFrameLocks noChangeAspect="1"/>
          </p:cNvGraphicFramePr>
          <p:nvPr/>
        </p:nvGraphicFramePr>
        <p:xfrm>
          <a:off x="0" y="0"/>
          <a:ext cx="7061200" cy="4795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621" name="Document" r:id="rId4" imgW="7077310" imgH="4799248" progId="Word.Document.8">
                  <p:embed/>
                </p:oleObj>
              </mc:Choice>
              <mc:Fallback>
                <p:oleObj name="Document" r:id="rId4" imgW="7077310" imgH="4799248" progId="Word.Document.8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7061200" cy="47958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45" name="Text Box 5"/>
          <p:cNvSpPr txBox="1">
            <a:spLocks noChangeArrowheads="1"/>
          </p:cNvSpPr>
          <p:nvPr/>
        </p:nvSpPr>
        <p:spPr bwMode="auto">
          <a:xfrm>
            <a:off x="4114800" y="1295400"/>
            <a:ext cx="2819400" cy="590550"/>
          </a:xfrm>
          <a:prstGeom prst="rect">
            <a:avLst/>
          </a:prstGeom>
          <a:solidFill>
            <a:srgbClr val="F0F7F7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228600" indent="-228600">
              <a:spcBef>
                <a:spcPct val="50000"/>
              </a:spcBef>
              <a:spcAft>
                <a:spcPct val="25000"/>
              </a:spcAft>
              <a:buClr>
                <a:schemeClr val="tx1"/>
              </a:buClr>
            </a:pPr>
            <a:r>
              <a:rPr lang="en-US" sz="1600" b="1">
                <a:latin typeface="Courier New" pitchFamily="49" charset="0"/>
                <a:ea typeface="Times New Roman" charset="0"/>
                <a:cs typeface="Times New Roman" charset="0"/>
              </a:rPr>
              <a:t>FILE</a:t>
            </a:r>
            <a:r>
              <a:rPr lang="en-US" sz="1600">
                <a:ea typeface="Times New Roman" charset="0"/>
                <a:cs typeface="Times New Roman" charset="0"/>
              </a:rPr>
              <a:t> pointer definition creates new file pointer</a:t>
            </a:r>
          </a:p>
        </p:txBody>
      </p:sp>
      <p:sp>
        <p:nvSpPr>
          <p:cNvPr id="61446" name="Line 6"/>
          <p:cNvSpPr>
            <a:spLocks noChangeShapeType="1"/>
          </p:cNvSpPr>
          <p:nvPr/>
        </p:nvSpPr>
        <p:spPr bwMode="auto">
          <a:xfrm flipH="1">
            <a:off x="1447800" y="1828800"/>
            <a:ext cx="2667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1447" name="Text Box 7"/>
          <p:cNvSpPr txBox="1">
            <a:spLocks noChangeArrowheads="1"/>
          </p:cNvSpPr>
          <p:nvPr/>
        </p:nvSpPr>
        <p:spPr bwMode="auto">
          <a:xfrm>
            <a:off x="5181600" y="2971800"/>
            <a:ext cx="3352800" cy="838200"/>
          </a:xfrm>
          <a:prstGeom prst="rect">
            <a:avLst/>
          </a:prstGeom>
          <a:solidFill>
            <a:srgbClr val="F0F7F7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228600" indent="-228600">
              <a:spcBef>
                <a:spcPct val="50000"/>
              </a:spcBef>
              <a:spcAft>
                <a:spcPct val="25000"/>
              </a:spcAft>
              <a:buClr>
                <a:schemeClr val="tx1"/>
              </a:buClr>
            </a:pPr>
            <a:r>
              <a:rPr lang="en-US" sz="1600" b="1" dirty="0" err="1">
                <a:latin typeface="Courier New" pitchFamily="49" charset="0"/>
                <a:ea typeface="Times New Roman" charset="0"/>
                <a:cs typeface="Times New Roman" charset="0"/>
              </a:rPr>
              <a:t>fopen</a:t>
            </a:r>
            <a:r>
              <a:rPr lang="en-US" sz="1600" dirty="0">
                <a:ea typeface="Times New Roman" charset="0"/>
                <a:cs typeface="Times New Roman" charset="0"/>
              </a:rPr>
              <a:t> function opens a file; </a:t>
            </a:r>
            <a:r>
              <a:rPr lang="en-US" sz="1600" b="1" dirty="0">
                <a:latin typeface="Courier New" pitchFamily="49" charset="0"/>
                <a:ea typeface="Times New Roman" charset="0"/>
                <a:cs typeface="Times New Roman" charset="0"/>
              </a:rPr>
              <a:t>w</a:t>
            </a:r>
            <a:r>
              <a:rPr lang="en-US" sz="1600" dirty="0">
                <a:ea typeface="Times New Roman" charset="0"/>
                <a:cs typeface="Times New Roman" charset="0"/>
              </a:rPr>
              <a:t> argument means the file is opened for writing</a:t>
            </a:r>
          </a:p>
        </p:txBody>
      </p:sp>
      <p:sp>
        <p:nvSpPr>
          <p:cNvPr id="61448" name="Line 8"/>
          <p:cNvSpPr>
            <a:spLocks noChangeShapeType="1"/>
          </p:cNvSpPr>
          <p:nvPr/>
        </p:nvSpPr>
        <p:spPr bwMode="auto">
          <a:xfrm flipH="1" flipV="1">
            <a:off x="3810000" y="2895600"/>
            <a:ext cx="13716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square" anchor="ctr">
            <a:spAutoFit/>
          </a:bodyPr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7F2A5-20F1-4105-A36D-23FC9E435865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1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1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45" grpId="0" animBg="1" autoUpdateAnimBg="0"/>
      <p:bldP spid="61447" grpId="0" animBg="1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490" name="Object 2"/>
          <p:cNvGraphicFramePr>
            <a:graphicFrameLocks noChangeAspect="1"/>
          </p:cNvGraphicFramePr>
          <p:nvPr/>
        </p:nvGraphicFramePr>
        <p:xfrm>
          <a:off x="0" y="0"/>
          <a:ext cx="7061200" cy="472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45" name="Document" r:id="rId4" imgW="7077310" imgH="4729240" progId="Word.Document.8">
                  <p:embed/>
                </p:oleObj>
              </mc:Choice>
              <mc:Fallback>
                <p:oleObj name="Document" r:id="rId4" imgW="7077310" imgH="4729240" progId="Word.Document.8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7061200" cy="4727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493" name="Text Box 5"/>
          <p:cNvSpPr txBox="1">
            <a:spLocks noChangeArrowheads="1"/>
          </p:cNvSpPr>
          <p:nvPr/>
        </p:nvSpPr>
        <p:spPr bwMode="auto">
          <a:xfrm>
            <a:off x="4953000" y="685800"/>
            <a:ext cx="3962400" cy="346075"/>
          </a:xfrm>
          <a:prstGeom prst="rect">
            <a:avLst/>
          </a:prstGeom>
          <a:solidFill>
            <a:srgbClr val="F0F7F7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228600" indent="-228600">
              <a:spcBef>
                <a:spcPct val="50000"/>
              </a:spcBef>
              <a:spcAft>
                <a:spcPct val="25000"/>
              </a:spcAft>
              <a:buClr>
                <a:schemeClr val="tx1"/>
              </a:buClr>
            </a:pPr>
            <a:r>
              <a:rPr lang="en-US" sz="1600" b="1">
                <a:latin typeface="Courier New" pitchFamily="49" charset="0"/>
                <a:ea typeface="Times New Roman" charset="0"/>
                <a:cs typeface="Times New Roman" charset="0"/>
              </a:rPr>
              <a:t>feof</a:t>
            </a:r>
            <a:r>
              <a:rPr lang="en-US" sz="1600">
                <a:ea typeface="Times New Roman" charset="0"/>
                <a:cs typeface="Times New Roman" charset="0"/>
              </a:rPr>
              <a:t> returns true when end of file is reached</a:t>
            </a:r>
          </a:p>
        </p:txBody>
      </p:sp>
      <p:sp>
        <p:nvSpPr>
          <p:cNvPr id="63494" name="Line 6"/>
          <p:cNvSpPr>
            <a:spLocks noChangeShapeType="1"/>
          </p:cNvSpPr>
          <p:nvPr/>
        </p:nvSpPr>
        <p:spPr bwMode="auto">
          <a:xfrm flipH="1">
            <a:off x="3048000" y="304800"/>
            <a:ext cx="3352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3495" name="Line 7"/>
          <p:cNvSpPr>
            <a:spLocks noChangeShapeType="1"/>
          </p:cNvSpPr>
          <p:nvPr/>
        </p:nvSpPr>
        <p:spPr bwMode="auto">
          <a:xfrm>
            <a:off x="6400800" y="3048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3496" name="Text Box 8"/>
          <p:cNvSpPr txBox="1">
            <a:spLocks noChangeArrowheads="1"/>
          </p:cNvSpPr>
          <p:nvPr/>
        </p:nvSpPr>
        <p:spPr bwMode="auto">
          <a:xfrm>
            <a:off x="3048000" y="1066800"/>
            <a:ext cx="2971800" cy="346075"/>
          </a:xfrm>
          <a:prstGeom prst="rect">
            <a:avLst/>
          </a:prstGeom>
          <a:solidFill>
            <a:srgbClr val="F0F7F7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228600" indent="-228600">
              <a:spcBef>
                <a:spcPct val="50000"/>
              </a:spcBef>
              <a:spcAft>
                <a:spcPct val="25000"/>
              </a:spcAft>
              <a:buClr>
                <a:schemeClr val="tx1"/>
              </a:buClr>
            </a:pPr>
            <a:r>
              <a:rPr lang="en-US" sz="1600" b="1">
                <a:latin typeface="Courier New" pitchFamily="49" charset="0"/>
                <a:ea typeface="Times New Roman" charset="0"/>
                <a:cs typeface="Times New Roman" charset="0"/>
              </a:rPr>
              <a:t>fprintf</a:t>
            </a:r>
            <a:r>
              <a:rPr lang="en-US" sz="1600">
                <a:ea typeface="Times New Roman" charset="0"/>
                <a:cs typeface="Times New Roman" charset="0"/>
              </a:rPr>
              <a:t> writes a string to a file</a:t>
            </a:r>
          </a:p>
        </p:txBody>
      </p:sp>
      <p:sp>
        <p:nvSpPr>
          <p:cNvPr id="63497" name="Line 9"/>
          <p:cNvSpPr>
            <a:spLocks noChangeShapeType="1"/>
          </p:cNvSpPr>
          <p:nvPr/>
        </p:nvSpPr>
        <p:spPr bwMode="auto">
          <a:xfrm flipH="1" flipV="1">
            <a:off x="2133600" y="609600"/>
            <a:ext cx="27432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3498" name="Line 10"/>
          <p:cNvSpPr>
            <a:spLocks noChangeShapeType="1"/>
          </p:cNvSpPr>
          <p:nvPr/>
        </p:nvSpPr>
        <p:spPr bwMode="auto">
          <a:xfrm>
            <a:off x="4876800" y="8382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3499" name="Text Box 11"/>
          <p:cNvSpPr txBox="1">
            <a:spLocks noChangeArrowheads="1"/>
          </p:cNvSpPr>
          <p:nvPr/>
        </p:nvSpPr>
        <p:spPr bwMode="auto">
          <a:xfrm>
            <a:off x="3124200" y="1752600"/>
            <a:ext cx="1981200" cy="346075"/>
          </a:xfrm>
          <a:prstGeom prst="rect">
            <a:avLst/>
          </a:prstGeom>
          <a:solidFill>
            <a:srgbClr val="F0F7F7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228600" indent="-228600">
              <a:spcBef>
                <a:spcPct val="50000"/>
              </a:spcBef>
              <a:spcAft>
                <a:spcPct val="25000"/>
              </a:spcAft>
              <a:buClr>
                <a:schemeClr val="tx1"/>
              </a:buClr>
            </a:pPr>
            <a:r>
              <a:rPr lang="en-US" sz="1600" b="1">
                <a:latin typeface="Courier New" pitchFamily="49" charset="0"/>
                <a:ea typeface="Times New Roman" charset="0"/>
                <a:cs typeface="Times New Roman" charset="0"/>
              </a:rPr>
              <a:t>fclose</a:t>
            </a:r>
            <a:r>
              <a:rPr lang="en-US" sz="1600">
                <a:ea typeface="Times New Roman" charset="0"/>
                <a:cs typeface="Times New Roman" charset="0"/>
              </a:rPr>
              <a:t> closes a file</a:t>
            </a:r>
          </a:p>
        </p:txBody>
      </p:sp>
      <p:sp>
        <p:nvSpPr>
          <p:cNvPr id="63500" name="Line 12"/>
          <p:cNvSpPr>
            <a:spLocks noChangeShapeType="1"/>
          </p:cNvSpPr>
          <p:nvPr/>
        </p:nvSpPr>
        <p:spPr bwMode="auto">
          <a:xfrm flipH="1" flipV="1">
            <a:off x="1752600" y="1676400"/>
            <a:ext cx="13716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7F2A5-20F1-4105-A36D-23FC9E435865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3" grpId="0" animBg="1" autoUpdateAnimBg="0"/>
      <p:bldP spid="63496" grpId="0" animBg="1" autoUpdateAnimBg="0"/>
      <p:bldP spid="63499" grpId="0" animBg="1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ChangeArrowheads="1"/>
          </p:cNvSpPr>
          <p:nvPr/>
        </p:nvSpPr>
        <p:spPr bwMode="auto">
          <a:xfrm>
            <a:off x="0" y="3505200"/>
            <a:ext cx="8683625" cy="776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tIns="0" anchor="ctr">
            <a:spAutoFit/>
          </a:bodyPr>
          <a:lstStyle/>
          <a:p>
            <a:pPr algn="ctr"/>
            <a:r>
              <a:rPr lang="en-US">
                <a:solidFill>
                  <a:schemeClr val="tx2"/>
                </a:solidFill>
              </a:rPr>
              <a:t>End-of-file key combinations for various popular</a:t>
            </a:r>
            <a:br>
              <a:rPr lang="en-US">
                <a:solidFill>
                  <a:schemeClr val="tx2"/>
                </a:solidFill>
              </a:rPr>
            </a:br>
            <a:r>
              <a:rPr lang="en-US">
                <a:solidFill>
                  <a:schemeClr val="tx2"/>
                </a:solidFill>
              </a:rPr>
              <a:t>operating systems.</a:t>
            </a:r>
          </a:p>
        </p:txBody>
      </p:sp>
      <p:graphicFrame>
        <p:nvGraphicFramePr>
          <p:cNvPr id="65539" name="Object 3"/>
          <p:cNvGraphicFramePr>
            <a:graphicFrameLocks noGrp="1" noChangeAspect="1"/>
          </p:cNvGraphicFramePr>
          <p:nvPr>
            <p:ph/>
          </p:nvPr>
        </p:nvGraphicFramePr>
        <p:xfrm>
          <a:off x="1843088" y="1684338"/>
          <a:ext cx="5472112" cy="1395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669" name="Document" r:id="rId4" imgW="6132423" imgH="1146753" progId="Word.Document.8">
                  <p:embed/>
                </p:oleObj>
              </mc:Choice>
              <mc:Fallback>
                <p:oleObj name="Document" r:id="rId4" imgW="6132423" imgH="1146753" progId="Word.Document.8">
                  <p:embed/>
                  <p:pic>
                    <p:nvPicPr>
                      <p:cNvPr id="0" name="Picture 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3088" y="1684338"/>
                        <a:ext cx="5472112" cy="1395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ED72F-20C8-4230-8075-982E6615520D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ChangeArrowheads="1"/>
          </p:cNvSpPr>
          <p:nvPr/>
        </p:nvSpPr>
        <p:spPr bwMode="auto">
          <a:xfrm>
            <a:off x="227013" y="5572125"/>
            <a:ext cx="8683625" cy="411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tIns="0" anchor="ctr">
            <a:spAutoFit/>
          </a:bodyPr>
          <a:lstStyle/>
          <a:p>
            <a:pPr algn="ctr"/>
            <a:r>
              <a:rPr lang="en-US">
                <a:solidFill>
                  <a:schemeClr val="tx2"/>
                </a:solidFill>
              </a:rPr>
              <a:t>File opening modes.</a:t>
            </a:r>
          </a:p>
        </p:txBody>
      </p:sp>
      <p:graphicFrame>
        <p:nvGraphicFramePr>
          <p:cNvPr id="67587" name="Object 3"/>
          <p:cNvGraphicFramePr>
            <a:graphicFrameLocks noGrp="1" noChangeAspect="1"/>
          </p:cNvGraphicFramePr>
          <p:nvPr>
            <p:ph/>
          </p:nvPr>
        </p:nvGraphicFramePr>
        <p:xfrm>
          <a:off x="1143000" y="625476"/>
          <a:ext cx="7086600" cy="5332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693" name="Document" r:id="rId4" imgW="6091768" imgH="4556418" progId="Word.Document.8">
                  <p:embed/>
                </p:oleObj>
              </mc:Choice>
              <mc:Fallback>
                <p:oleObj name="Document" r:id="rId4" imgW="6091768" imgH="4556418" progId="Word.Document.8">
                  <p:embed/>
                  <p:pic>
                    <p:nvPicPr>
                      <p:cNvPr id="0" name="Picture 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625476"/>
                        <a:ext cx="7086600" cy="5332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ED72F-20C8-4230-8075-982E6615520D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152400"/>
            <a:ext cx="7772400" cy="1143000"/>
          </a:xfrm>
        </p:spPr>
        <p:txBody>
          <a:bodyPr>
            <a:normAutofit fontScale="90000"/>
          </a:bodyPr>
          <a:lstStyle/>
          <a:p>
            <a:r>
              <a:rPr lang="en-US" sz="4000"/>
              <a:t>Reading Data from a Sequential-Access File</a:t>
            </a:r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371600"/>
            <a:ext cx="8153400" cy="4114800"/>
          </a:xfrm>
        </p:spPr>
        <p:txBody>
          <a:bodyPr>
            <a:normAutofit fontScale="92500" lnSpcReduction="20000"/>
          </a:bodyPr>
          <a:lstStyle/>
          <a:p>
            <a:pPr marL="228600" indent="-228600">
              <a:lnSpc>
                <a:spcPct val="90000"/>
              </a:lnSpc>
            </a:pPr>
            <a:r>
              <a:rPr lang="en-US" sz="2800" dirty="0"/>
              <a:t>Reading a sequential access file</a:t>
            </a:r>
          </a:p>
          <a:p>
            <a:pPr marL="747713" lvl="1" indent="-290513">
              <a:lnSpc>
                <a:spcPct val="90000"/>
              </a:lnSpc>
            </a:pPr>
            <a:r>
              <a:rPr lang="en-US" sz="2900" dirty="0"/>
              <a:t>Create a </a:t>
            </a:r>
            <a:r>
              <a:rPr lang="en-US" sz="2000" dirty="0">
                <a:latin typeface="Lucida Console" pitchFamily="49" charset="0"/>
              </a:rPr>
              <a:t>FILE</a:t>
            </a:r>
            <a:r>
              <a:rPr lang="en-US" sz="2900" dirty="0"/>
              <a:t> pointer, link it to the file to read</a:t>
            </a:r>
          </a:p>
          <a:p>
            <a:pPr lvl="2">
              <a:lnSpc>
                <a:spcPct val="90000"/>
              </a:lnSpc>
            </a:pPr>
            <a:r>
              <a:rPr lang="en-US" sz="1800" dirty="0" err="1">
                <a:latin typeface="Lucida Console" pitchFamily="49" charset="0"/>
              </a:rPr>
              <a:t>cfPtr</a:t>
            </a:r>
            <a:r>
              <a:rPr lang="en-US" sz="1800" dirty="0">
                <a:latin typeface="Lucida Console" pitchFamily="49" charset="0"/>
              </a:rPr>
              <a:t> = </a:t>
            </a:r>
            <a:r>
              <a:rPr lang="en-US" sz="1800" dirty="0" err="1">
                <a:latin typeface="Lucida Console" pitchFamily="49" charset="0"/>
              </a:rPr>
              <a:t>fopen</a:t>
            </a:r>
            <a:r>
              <a:rPr lang="en-US" sz="1800" dirty="0">
                <a:latin typeface="Lucida Console" pitchFamily="49" charset="0"/>
              </a:rPr>
              <a:t>( “clients.dat", "r" );</a:t>
            </a:r>
          </a:p>
          <a:p>
            <a:pPr marL="747713" lvl="1" indent="-290513">
              <a:lnSpc>
                <a:spcPct val="90000"/>
              </a:lnSpc>
            </a:pPr>
            <a:r>
              <a:rPr lang="en-US" sz="2900" dirty="0"/>
              <a:t>Use </a:t>
            </a:r>
            <a:r>
              <a:rPr lang="en-US" sz="2000" dirty="0" err="1">
                <a:latin typeface="Lucida Console" pitchFamily="49" charset="0"/>
              </a:rPr>
              <a:t>fscanf</a:t>
            </a:r>
            <a:r>
              <a:rPr lang="en-US" sz="2900" dirty="0"/>
              <a:t> to read from the file</a:t>
            </a:r>
          </a:p>
          <a:p>
            <a:pPr lvl="2">
              <a:lnSpc>
                <a:spcPct val="90000"/>
              </a:lnSpc>
            </a:pPr>
            <a:r>
              <a:rPr lang="en-US" sz="2000" dirty="0"/>
              <a:t>Like </a:t>
            </a:r>
            <a:r>
              <a:rPr lang="en-US" sz="1800" dirty="0" err="1">
                <a:latin typeface="Lucida Console" pitchFamily="49" charset="0"/>
              </a:rPr>
              <a:t>scanf</a:t>
            </a:r>
            <a:r>
              <a:rPr lang="en-US" sz="2000" dirty="0"/>
              <a:t>, except first argument is a </a:t>
            </a:r>
            <a:r>
              <a:rPr lang="en-US" sz="1800" dirty="0">
                <a:latin typeface="Lucida Console" pitchFamily="49" charset="0"/>
              </a:rPr>
              <a:t>FILE</a:t>
            </a:r>
            <a:r>
              <a:rPr lang="en-US" sz="2000" dirty="0"/>
              <a:t> pointer</a:t>
            </a:r>
          </a:p>
          <a:p>
            <a:pPr lvl="2">
              <a:lnSpc>
                <a:spcPct val="90000"/>
              </a:lnSpc>
            </a:pPr>
            <a:r>
              <a:rPr lang="en-US" sz="1600" dirty="0" err="1">
                <a:latin typeface="Lucida Console" pitchFamily="49" charset="0"/>
              </a:rPr>
              <a:t>fscanf</a:t>
            </a:r>
            <a:r>
              <a:rPr lang="en-US" sz="1600" dirty="0">
                <a:latin typeface="Lucida Console" pitchFamily="49" charset="0"/>
              </a:rPr>
              <a:t>( </a:t>
            </a:r>
            <a:r>
              <a:rPr lang="en-US" sz="1600" dirty="0" err="1">
                <a:latin typeface="Lucida Console" pitchFamily="49" charset="0"/>
              </a:rPr>
              <a:t>cfPtr</a:t>
            </a:r>
            <a:r>
              <a:rPr lang="en-US" sz="1600" dirty="0">
                <a:latin typeface="Lucida Console" pitchFamily="49" charset="0"/>
              </a:rPr>
              <a:t>, "%</a:t>
            </a:r>
            <a:r>
              <a:rPr lang="en-US" sz="1600" dirty="0" err="1">
                <a:latin typeface="Lucida Console" pitchFamily="49" charset="0"/>
              </a:rPr>
              <a:t>d%s%f</a:t>
            </a:r>
            <a:r>
              <a:rPr lang="en-US" sz="1600" dirty="0">
                <a:latin typeface="Lucida Console" pitchFamily="49" charset="0"/>
              </a:rPr>
              <a:t>", &amp;</a:t>
            </a:r>
            <a:r>
              <a:rPr lang="en-US" sz="1600" dirty="0" err="1">
                <a:latin typeface="Lucida Console" pitchFamily="49" charset="0"/>
              </a:rPr>
              <a:t>accounnt</a:t>
            </a:r>
            <a:r>
              <a:rPr lang="en-US" sz="1600" dirty="0">
                <a:latin typeface="Lucida Console" pitchFamily="49" charset="0"/>
              </a:rPr>
              <a:t>, name, &amp;balance );</a:t>
            </a:r>
          </a:p>
          <a:p>
            <a:pPr marL="747713" lvl="1" indent="-290513">
              <a:lnSpc>
                <a:spcPct val="90000"/>
              </a:lnSpc>
            </a:pPr>
            <a:r>
              <a:rPr lang="en-US" sz="2900" dirty="0"/>
              <a:t>Data read from beginning to </a:t>
            </a:r>
            <a:r>
              <a:rPr lang="en-US" sz="2900" dirty="0" smtClean="0"/>
              <a:t>end</a:t>
            </a:r>
          </a:p>
          <a:p>
            <a:pPr marL="747713" lvl="1" indent="-290513">
              <a:lnSpc>
                <a:spcPct val="90000"/>
              </a:lnSpc>
            </a:pPr>
            <a:r>
              <a:rPr lang="en-US" sz="2000" dirty="0" smtClean="0">
                <a:latin typeface="Lucida Console" pitchFamily="49" charset="0"/>
              </a:rPr>
              <a:t>rewind( </a:t>
            </a:r>
            <a:r>
              <a:rPr lang="en-US" sz="2000" dirty="0" err="1" smtClean="0">
                <a:latin typeface="Lucida Console" pitchFamily="49" charset="0"/>
              </a:rPr>
              <a:t>cfPtr</a:t>
            </a:r>
            <a:r>
              <a:rPr lang="en-US" sz="2000" dirty="0" smtClean="0">
                <a:latin typeface="Lucida Console" pitchFamily="49" charset="0"/>
              </a:rPr>
              <a:t> )</a:t>
            </a:r>
          </a:p>
          <a:p>
            <a:pPr lvl="2">
              <a:lnSpc>
                <a:spcPct val="90000"/>
              </a:lnSpc>
            </a:pPr>
            <a:r>
              <a:rPr lang="en-US" sz="2000" dirty="0" smtClean="0"/>
              <a:t>Repositions file position pointer to beginning of file (byte </a:t>
            </a:r>
            <a:r>
              <a:rPr lang="en-US" sz="1800" dirty="0" smtClean="0">
                <a:latin typeface="Lucida Console" pitchFamily="49" charset="0"/>
              </a:rPr>
              <a:t>0</a:t>
            </a:r>
            <a:r>
              <a:rPr lang="en-US" sz="2000" dirty="0" smtClean="0"/>
              <a:t>)</a:t>
            </a:r>
          </a:p>
          <a:p>
            <a:pPr marL="747713" lvl="1" indent="-290513">
              <a:lnSpc>
                <a:spcPct val="90000"/>
              </a:lnSpc>
            </a:pPr>
            <a:r>
              <a:rPr lang="en-US" sz="2900" dirty="0" smtClean="0"/>
              <a:t>File </a:t>
            </a:r>
            <a:r>
              <a:rPr lang="en-US" sz="2900" dirty="0"/>
              <a:t>position pointer</a:t>
            </a:r>
          </a:p>
          <a:p>
            <a:pPr lvl="2">
              <a:lnSpc>
                <a:spcPct val="90000"/>
              </a:lnSpc>
            </a:pPr>
            <a:r>
              <a:rPr lang="en-US" sz="2000" dirty="0"/>
              <a:t>Indicates number of next byte to be read / written</a:t>
            </a:r>
          </a:p>
          <a:p>
            <a:pPr lvl="2">
              <a:lnSpc>
                <a:spcPct val="90000"/>
              </a:lnSpc>
            </a:pPr>
            <a:r>
              <a:rPr lang="en-US" sz="2000" dirty="0"/>
              <a:t>Not really a pointer, but an integer value (specifies byte location)</a:t>
            </a:r>
          </a:p>
          <a:p>
            <a:pPr lvl="2">
              <a:lnSpc>
                <a:spcPct val="90000"/>
              </a:lnSpc>
            </a:pPr>
            <a:r>
              <a:rPr lang="en-US" sz="2000" dirty="0"/>
              <a:t>Also called byte </a:t>
            </a:r>
            <a:r>
              <a:rPr lang="en-US" sz="2000" dirty="0" smtClean="0"/>
              <a:t>offset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7F2A5-20F1-4105-A36D-23FC9E435865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1682" name="Object 2"/>
          <p:cNvGraphicFramePr>
            <a:graphicFrameLocks noChangeAspect="1"/>
          </p:cNvGraphicFramePr>
          <p:nvPr/>
        </p:nvGraphicFramePr>
        <p:xfrm>
          <a:off x="0" y="0"/>
          <a:ext cx="7061200" cy="441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717" name="Document" r:id="rId4" imgW="7079738" imgH="4668962" progId="Word.Document.8">
                  <p:embed/>
                </p:oleObj>
              </mc:Choice>
              <mc:Fallback>
                <p:oleObj name="Document" r:id="rId4" imgW="7079738" imgH="4668962" progId="Word.Document.8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7061200" cy="4419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685" name="Text Box 5"/>
          <p:cNvSpPr txBox="1">
            <a:spLocks noChangeArrowheads="1"/>
          </p:cNvSpPr>
          <p:nvPr/>
        </p:nvSpPr>
        <p:spPr bwMode="auto">
          <a:xfrm>
            <a:off x="5562600" y="3124200"/>
            <a:ext cx="3352800" cy="838200"/>
          </a:xfrm>
          <a:prstGeom prst="rect">
            <a:avLst/>
          </a:prstGeom>
          <a:solidFill>
            <a:srgbClr val="F0F7F7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228600" indent="-228600">
              <a:spcBef>
                <a:spcPct val="50000"/>
              </a:spcBef>
              <a:spcAft>
                <a:spcPct val="25000"/>
              </a:spcAft>
              <a:buClr>
                <a:schemeClr val="tx1"/>
              </a:buClr>
            </a:pPr>
            <a:r>
              <a:rPr lang="en-US" sz="1600" b="1" dirty="0" err="1">
                <a:latin typeface="Courier New" pitchFamily="49" charset="0"/>
                <a:ea typeface="Times New Roman" charset="0"/>
                <a:cs typeface="Times New Roman" charset="0"/>
              </a:rPr>
              <a:t>fopen</a:t>
            </a:r>
            <a:r>
              <a:rPr lang="en-US" sz="1600" dirty="0">
                <a:ea typeface="Times New Roman" charset="0"/>
                <a:cs typeface="Times New Roman" charset="0"/>
              </a:rPr>
              <a:t> function opens a file; </a:t>
            </a:r>
            <a:r>
              <a:rPr lang="en-US" sz="1600" b="1" dirty="0">
                <a:latin typeface="Courier New" pitchFamily="49" charset="0"/>
                <a:ea typeface="Times New Roman" charset="0"/>
                <a:cs typeface="Times New Roman" charset="0"/>
              </a:rPr>
              <a:t>r</a:t>
            </a:r>
            <a:r>
              <a:rPr lang="en-US" sz="1600" dirty="0">
                <a:ea typeface="Times New Roman" charset="0"/>
                <a:cs typeface="Times New Roman" charset="0"/>
              </a:rPr>
              <a:t> argument means the file is opened for reading</a:t>
            </a:r>
          </a:p>
        </p:txBody>
      </p:sp>
      <p:sp>
        <p:nvSpPr>
          <p:cNvPr id="71686" name="Line 6"/>
          <p:cNvSpPr>
            <a:spLocks noChangeShapeType="1"/>
          </p:cNvSpPr>
          <p:nvPr/>
        </p:nvSpPr>
        <p:spPr bwMode="auto">
          <a:xfrm flipH="1" flipV="1">
            <a:off x="3810000" y="3048000"/>
            <a:ext cx="17526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square" anchor="ctr">
            <a:spAutoFit/>
          </a:bodyPr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7F2A5-20F1-4105-A36D-23FC9E435865}" type="slidenum">
              <a:rPr lang="en-US" smtClean="0"/>
              <a:pPr/>
              <a:t>17</a:t>
            </a:fld>
            <a:endParaRPr lang="en-US"/>
          </a:p>
        </p:txBody>
      </p:sp>
      <p:pic>
        <p:nvPicPr>
          <p:cNvPr id="115716" name="Picture 4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0" y="4114800"/>
            <a:ext cx="7191375" cy="2609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5717" name="Picture 5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400800" y="5457825"/>
            <a:ext cx="2705100" cy="1247775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</p:spPr>
      </p:pic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5181600" y="4038600"/>
            <a:ext cx="3733800" cy="346075"/>
          </a:xfrm>
          <a:prstGeom prst="rect">
            <a:avLst/>
          </a:prstGeom>
          <a:solidFill>
            <a:srgbClr val="F0F7F7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228600" indent="-228600">
              <a:spcBef>
                <a:spcPct val="50000"/>
              </a:spcBef>
              <a:spcAft>
                <a:spcPct val="25000"/>
              </a:spcAft>
              <a:buClr>
                <a:schemeClr val="tx1"/>
              </a:buClr>
            </a:pPr>
            <a:r>
              <a:rPr lang="en-US" sz="1600" b="1" dirty="0" err="1">
                <a:latin typeface="Courier New" pitchFamily="49" charset="0"/>
                <a:ea typeface="Times New Roman" charset="0"/>
                <a:cs typeface="Times New Roman" charset="0"/>
              </a:rPr>
              <a:t>fscanf</a:t>
            </a:r>
            <a:r>
              <a:rPr lang="en-US" sz="1600" dirty="0">
                <a:ea typeface="Times New Roman" charset="0"/>
                <a:cs typeface="Times New Roman" charset="0"/>
              </a:rPr>
              <a:t> function reads a string from a file</a:t>
            </a:r>
          </a:p>
        </p:txBody>
      </p:sp>
      <p:sp>
        <p:nvSpPr>
          <p:cNvPr id="10" name="Line 6"/>
          <p:cNvSpPr>
            <a:spLocks noChangeShapeType="1"/>
          </p:cNvSpPr>
          <p:nvPr/>
        </p:nvSpPr>
        <p:spPr bwMode="auto">
          <a:xfrm flipH="1" flipV="1">
            <a:off x="3962400" y="3962400"/>
            <a:ext cx="12192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1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85" grpId="0" animBg="1" autoUpdateAnimBg="0"/>
      <p:bldP spid="9" grpId="0" animBg="1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5778" name="Object 2"/>
          <p:cNvGraphicFramePr>
            <a:graphicFrameLocks noChangeAspect="1"/>
          </p:cNvGraphicFramePr>
          <p:nvPr/>
        </p:nvGraphicFramePr>
        <p:xfrm>
          <a:off x="0" y="0"/>
          <a:ext cx="7061200" cy="5848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765" name="Document" r:id="rId4" imgW="7062810" imgH="5850025" progId="Word.Document.8">
                  <p:embed/>
                </p:oleObj>
              </mc:Choice>
              <mc:Fallback>
                <p:oleObj name="Document" r:id="rId4" imgW="7062810" imgH="5850025" progId="Word.Document.8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7061200" cy="5848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7F2A5-20F1-4105-A36D-23FC9E435865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7826" name="Object 2"/>
          <p:cNvGraphicFramePr>
            <a:graphicFrameLocks noChangeAspect="1"/>
          </p:cNvGraphicFramePr>
          <p:nvPr/>
        </p:nvGraphicFramePr>
        <p:xfrm>
          <a:off x="0" y="0"/>
          <a:ext cx="7061200" cy="563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789" name="Document" r:id="rId4" imgW="7062810" imgH="5640543" progId="Word.Document.8">
                  <p:embed/>
                </p:oleObj>
              </mc:Choice>
              <mc:Fallback>
                <p:oleObj name="Document" r:id="rId4" imgW="7062810" imgH="5640543" progId="Word.Document.8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7061200" cy="5638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7F2A5-20F1-4105-A36D-23FC9E435865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9874" name="Object 2"/>
          <p:cNvGraphicFramePr>
            <a:graphicFrameLocks noChangeAspect="1"/>
          </p:cNvGraphicFramePr>
          <p:nvPr/>
        </p:nvGraphicFramePr>
        <p:xfrm>
          <a:off x="0" y="0"/>
          <a:ext cx="7061200" cy="6270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813" name="Document" r:id="rId4" imgW="7062810" imgH="6272229" progId="Word.Document.8">
                  <p:embed/>
                </p:oleObj>
              </mc:Choice>
              <mc:Fallback>
                <p:oleObj name="Document" r:id="rId4" imgW="7062810" imgH="6272229" progId="Word.Document.8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7061200" cy="6270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7F2A5-20F1-4105-A36D-23FC9E435865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1922" name="Object 2"/>
          <p:cNvGraphicFramePr>
            <a:graphicFrameLocks noChangeAspect="1"/>
          </p:cNvGraphicFramePr>
          <p:nvPr/>
        </p:nvGraphicFramePr>
        <p:xfrm>
          <a:off x="0" y="0"/>
          <a:ext cx="7061200" cy="479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837" name="Document" r:id="rId4" imgW="7062810" imgH="4799375" progId="Word.Document.8">
                  <p:embed/>
                </p:oleObj>
              </mc:Choice>
              <mc:Fallback>
                <p:oleObj name="Document" r:id="rId4" imgW="7062810" imgH="4799375" progId="Word.Document.8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7061200" cy="4797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5" name="Text Box 5"/>
          <p:cNvSpPr txBox="1">
            <a:spLocks noChangeArrowheads="1"/>
          </p:cNvSpPr>
          <p:nvPr/>
        </p:nvSpPr>
        <p:spPr bwMode="auto">
          <a:xfrm>
            <a:off x="3581400" y="2209800"/>
            <a:ext cx="3505200" cy="590550"/>
          </a:xfrm>
          <a:prstGeom prst="rect">
            <a:avLst/>
          </a:prstGeom>
          <a:solidFill>
            <a:srgbClr val="F0F7F7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228600" indent="-228600">
              <a:spcBef>
                <a:spcPct val="50000"/>
              </a:spcBef>
              <a:spcAft>
                <a:spcPct val="25000"/>
              </a:spcAft>
              <a:buClr>
                <a:schemeClr val="tx1"/>
              </a:buClr>
            </a:pPr>
            <a:r>
              <a:rPr lang="en-US" sz="1600" b="1">
                <a:latin typeface="Courier New" pitchFamily="49" charset="0"/>
                <a:ea typeface="Times New Roman" charset="0"/>
                <a:cs typeface="Times New Roman" charset="0"/>
              </a:rPr>
              <a:t>rewind</a:t>
            </a:r>
            <a:r>
              <a:rPr lang="en-US" sz="1600">
                <a:ea typeface="Times New Roman" charset="0"/>
                <a:cs typeface="Times New Roman" charset="0"/>
              </a:rPr>
              <a:t> function moves the file pointer back to the beginning of the file</a:t>
            </a:r>
          </a:p>
        </p:txBody>
      </p:sp>
      <p:sp>
        <p:nvSpPr>
          <p:cNvPr id="81926" name="Line 6"/>
          <p:cNvSpPr>
            <a:spLocks noChangeShapeType="1"/>
          </p:cNvSpPr>
          <p:nvPr/>
        </p:nvSpPr>
        <p:spPr bwMode="auto">
          <a:xfrm flipH="1" flipV="1">
            <a:off x="1447800" y="2057400"/>
            <a:ext cx="2133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7F2A5-20F1-4105-A36D-23FC9E435865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1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25" grpId="0" animBg="1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3971" name="Object 3"/>
          <p:cNvGraphicFramePr>
            <a:graphicFrameLocks noChangeAspect="1"/>
          </p:cNvGraphicFramePr>
          <p:nvPr/>
        </p:nvGraphicFramePr>
        <p:xfrm>
          <a:off x="0" y="0"/>
          <a:ext cx="7051675" cy="443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861" name="Document" r:id="rId4" imgW="7053456" imgH="4440159" progId="Word.Document.8">
                  <p:embed/>
                </p:oleObj>
              </mc:Choice>
              <mc:Fallback>
                <p:oleObj name="Document" r:id="rId4" imgW="7053456" imgH="4440159" progId="Word.Document.8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7051675" cy="4438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7F2A5-20F1-4105-A36D-23FC9E435865}" type="slidenum">
              <a:rPr lang="en-US" smtClean="0"/>
              <a:pPr/>
              <a:t>22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/>
              <a:t>Reading Data from a Sequential-Access File</a:t>
            </a:r>
          </a:p>
        </p:txBody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Sequential access file </a:t>
            </a:r>
          </a:p>
          <a:p>
            <a:pPr lvl="1"/>
            <a:r>
              <a:rPr lang="en-US"/>
              <a:t>Cannot be modified without the risk of destroying other data</a:t>
            </a:r>
          </a:p>
          <a:p>
            <a:pPr lvl="1"/>
            <a:r>
              <a:rPr lang="en-US"/>
              <a:t>Fields can vary in size</a:t>
            </a:r>
          </a:p>
          <a:p>
            <a:pPr lvl="2"/>
            <a:r>
              <a:rPr lang="en-US"/>
              <a:t>Different representation in files and screen than internal representation</a:t>
            </a:r>
          </a:p>
          <a:p>
            <a:pPr lvl="2"/>
            <a:r>
              <a:rPr lang="en-US" sz="2000">
                <a:latin typeface="Lucida Console" pitchFamily="49" charset="0"/>
              </a:rPr>
              <a:t>1</a:t>
            </a:r>
            <a:r>
              <a:rPr lang="en-US"/>
              <a:t>, </a:t>
            </a:r>
            <a:r>
              <a:rPr lang="en-US" sz="2000">
                <a:latin typeface="Lucida Console" pitchFamily="49" charset="0"/>
              </a:rPr>
              <a:t>34</a:t>
            </a:r>
            <a:r>
              <a:rPr lang="en-US"/>
              <a:t>, </a:t>
            </a:r>
            <a:r>
              <a:rPr lang="en-US" sz="2000">
                <a:latin typeface="Lucida Console" pitchFamily="49" charset="0"/>
              </a:rPr>
              <a:t>-890</a:t>
            </a:r>
            <a:r>
              <a:rPr lang="en-US"/>
              <a:t> are all </a:t>
            </a:r>
            <a:r>
              <a:rPr lang="en-US" sz="2000">
                <a:latin typeface="Lucida Console" pitchFamily="49" charset="0"/>
              </a:rPr>
              <a:t>int</a:t>
            </a:r>
            <a:r>
              <a:rPr lang="en-US"/>
              <a:t>s, but have different sizes on disk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7F2A5-20F1-4105-A36D-23FC9E435865}" type="slidenum">
              <a:rPr lang="en-US" smtClean="0"/>
              <a:pPr/>
              <a:t>23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Random-Access Files</a:t>
            </a:r>
          </a:p>
        </p:txBody>
      </p:sp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800"/>
              <a:t>Random access files </a:t>
            </a:r>
          </a:p>
          <a:p>
            <a:pPr lvl="1"/>
            <a:r>
              <a:rPr lang="en-US" sz="2400"/>
              <a:t>Access individual records without searching through other records</a:t>
            </a:r>
          </a:p>
          <a:p>
            <a:pPr lvl="1"/>
            <a:r>
              <a:rPr lang="en-US" sz="2400"/>
              <a:t>Instant access to records in a file</a:t>
            </a:r>
          </a:p>
          <a:p>
            <a:pPr lvl="1"/>
            <a:r>
              <a:rPr lang="en-US" sz="2400"/>
              <a:t>Data can be inserted without destroying other data</a:t>
            </a:r>
          </a:p>
          <a:p>
            <a:pPr lvl="1"/>
            <a:r>
              <a:rPr lang="en-US" sz="2400"/>
              <a:t>Data previously stored can be updated or deleted without overwriting</a:t>
            </a:r>
          </a:p>
          <a:p>
            <a:r>
              <a:rPr lang="en-US" sz="2800"/>
              <a:t>Implemented using fixed length records</a:t>
            </a:r>
          </a:p>
          <a:p>
            <a:pPr lvl="1"/>
            <a:r>
              <a:rPr lang="en-US" sz="2400"/>
              <a:t>Sequential files do not have fixed length records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7F2A5-20F1-4105-A36D-23FC9E435865}" type="slidenum">
              <a:rPr lang="en-US" smtClean="0"/>
              <a:pPr/>
              <a:t>24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Creating a Random-Access File</a:t>
            </a:r>
          </a:p>
        </p:txBody>
      </p:sp>
      <p:sp>
        <p:nvSpPr>
          <p:cNvPr id="901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Data in random access files</a:t>
            </a:r>
          </a:p>
          <a:p>
            <a:pPr lvl="1"/>
            <a:r>
              <a:rPr lang="en-US"/>
              <a:t>Unformatted (stored as "raw bytes")</a:t>
            </a:r>
          </a:p>
          <a:p>
            <a:pPr lvl="2"/>
            <a:r>
              <a:rPr lang="en-US"/>
              <a:t>All data of the same type (</a:t>
            </a:r>
            <a:r>
              <a:rPr lang="en-US" b="1">
                <a:latin typeface="Lucida Console" pitchFamily="49" charset="0"/>
              </a:rPr>
              <a:t>int</a:t>
            </a:r>
            <a:r>
              <a:rPr lang="en-US"/>
              <a:t>s, for example) uses the same amount of memory</a:t>
            </a:r>
          </a:p>
          <a:p>
            <a:pPr lvl="2"/>
            <a:r>
              <a:rPr lang="en-US"/>
              <a:t>All records of the same type have a fixed length</a:t>
            </a:r>
          </a:p>
          <a:p>
            <a:pPr lvl="2"/>
            <a:r>
              <a:rPr lang="en-US"/>
              <a:t>Data not human readable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7F2A5-20F1-4105-A36D-23FC9E435865}" type="slidenum">
              <a:rPr lang="en-US" smtClean="0"/>
              <a:pPr/>
              <a:t>25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Creating a Random-Access File</a:t>
            </a:r>
          </a:p>
        </p:txBody>
      </p:sp>
      <p:sp>
        <p:nvSpPr>
          <p:cNvPr id="921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lnSpc>
                <a:spcPct val="90000"/>
              </a:lnSpc>
            </a:pPr>
            <a:r>
              <a:rPr lang="en-US" sz="2800"/>
              <a:t>Unformatted I/O functions</a:t>
            </a:r>
          </a:p>
          <a:p>
            <a:pPr marL="747713" lvl="1" indent="-290513">
              <a:lnSpc>
                <a:spcPct val="90000"/>
              </a:lnSpc>
            </a:pPr>
            <a:r>
              <a:rPr lang="en-US" sz="2200">
                <a:latin typeface="Lucida Console" pitchFamily="49" charset="0"/>
              </a:rPr>
              <a:t>fwrite</a:t>
            </a:r>
          </a:p>
          <a:p>
            <a:pPr lvl="2">
              <a:lnSpc>
                <a:spcPct val="90000"/>
              </a:lnSpc>
            </a:pPr>
            <a:r>
              <a:rPr lang="en-US" sz="2000"/>
              <a:t>Transfer bytes from a location in memory to a file</a:t>
            </a:r>
          </a:p>
          <a:p>
            <a:pPr marL="747713" lvl="1" indent="-290513">
              <a:lnSpc>
                <a:spcPct val="90000"/>
              </a:lnSpc>
            </a:pPr>
            <a:r>
              <a:rPr lang="en-US" sz="2200">
                <a:latin typeface="Lucida Console" pitchFamily="49" charset="0"/>
              </a:rPr>
              <a:t>fread</a:t>
            </a:r>
          </a:p>
          <a:p>
            <a:pPr lvl="2">
              <a:lnSpc>
                <a:spcPct val="90000"/>
              </a:lnSpc>
            </a:pPr>
            <a:r>
              <a:rPr lang="en-US" sz="2000"/>
              <a:t>Transfer bytes from a file to a location in memory</a:t>
            </a:r>
          </a:p>
          <a:p>
            <a:pPr marL="747713" lvl="1" indent="-290513">
              <a:lnSpc>
                <a:spcPct val="90000"/>
              </a:lnSpc>
            </a:pPr>
            <a:r>
              <a:rPr lang="en-US" sz="2400"/>
              <a:t>Example:</a:t>
            </a:r>
          </a:p>
          <a:p>
            <a:pPr lvl="2">
              <a:lnSpc>
                <a:spcPct val="90000"/>
              </a:lnSpc>
            </a:pPr>
            <a:r>
              <a:rPr lang="en-US" sz="1800">
                <a:latin typeface="Lucida Console" pitchFamily="49" charset="0"/>
              </a:rPr>
              <a:t>fwrite( &amp;number, sizeof( int ), 1, myPtr );</a:t>
            </a:r>
            <a:r>
              <a:rPr lang="en-US" sz="2000"/>
              <a:t> </a:t>
            </a:r>
          </a:p>
          <a:p>
            <a:pPr lvl="2">
              <a:lnSpc>
                <a:spcPct val="90000"/>
              </a:lnSpc>
            </a:pPr>
            <a:r>
              <a:rPr lang="en-US" sz="1800">
                <a:latin typeface="Lucida Console" pitchFamily="49" charset="0"/>
              </a:rPr>
              <a:t>&amp;number</a:t>
            </a:r>
            <a:r>
              <a:rPr lang="en-US" sz="2000"/>
              <a:t> – Location to transfer bytes from</a:t>
            </a:r>
          </a:p>
          <a:p>
            <a:pPr lvl="2">
              <a:lnSpc>
                <a:spcPct val="90000"/>
              </a:lnSpc>
            </a:pPr>
            <a:r>
              <a:rPr lang="en-US" sz="1800">
                <a:latin typeface="Lucida Console" pitchFamily="49" charset="0"/>
              </a:rPr>
              <a:t>sizeof( int )</a:t>
            </a:r>
            <a:r>
              <a:rPr lang="en-US" sz="2000"/>
              <a:t> – Number of bytes to transfer</a:t>
            </a:r>
          </a:p>
          <a:p>
            <a:pPr lvl="2">
              <a:lnSpc>
                <a:spcPct val="90000"/>
              </a:lnSpc>
            </a:pPr>
            <a:r>
              <a:rPr lang="en-US" sz="1800">
                <a:latin typeface="Lucida Console" pitchFamily="49" charset="0"/>
              </a:rPr>
              <a:t>1</a:t>
            </a:r>
            <a:r>
              <a:rPr lang="en-US" sz="2000"/>
              <a:t> – For arrays, number of elements to transfer</a:t>
            </a:r>
          </a:p>
          <a:p>
            <a:pPr marL="1662113" lvl="3" indent="-290513">
              <a:lnSpc>
                <a:spcPct val="90000"/>
              </a:lnSpc>
            </a:pPr>
            <a:r>
              <a:rPr lang="en-US" sz="1800"/>
              <a:t>In this case, "one element" of an array is being transferred</a:t>
            </a:r>
          </a:p>
          <a:p>
            <a:pPr lvl="2">
              <a:lnSpc>
                <a:spcPct val="90000"/>
              </a:lnSpc>
            </a:pPr>
            <a:r>
              <a:rPr lang="en-US" sz="1800">
                <a:latin typeface="Lucida Console" pitchFamily="49" charset="0"/>
              </a:rPr>
              <a:t>myPtr</a:t>
            </a:r>
            <a:r>
              <a:rPr lang="en-US" sz="2000"/>
              <a:t> – File to transfer to or from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7F2A5-20F1-4105-A36D-23FC9E435865}" type="slidenum">
              <a:rPr lang="en-US" smtClean="0"/>
              <a:pPr/>
              <a:t>26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Creating a Random-Access File</a:t>
            </a:r>
          </a:p>
        </p:txBody>
      </p:sp>
      <p:sp>
        <p:nvSpPr>
          <p:cNvPr id="942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Writing </a:t>
            </a:r>
            <a:r>
              <a:rPr lang="en-US" sz="3000" dirty="0" err="1">
                <a:latin typeface="Lucida Console" pitchFamily="49" charset="0"/>
              </a:rPr>
              <a:t>struct</a:t>
            </a:r>
            <a:r>
              <a:rPr lang="en-US" dirty="0" err="1"/>
              <a:t>s</a:t>
            </a:r>
            <a:endParaRPr lang="en-US" dirty="0"/>
          </a:p>
          <a:p>
            <a:pPr lvl="1"/>
            <a:r>
              <a:rPr lang="en-US" sz="2200" dirty="0" err="1">
                <a:latin typeface="Lucida Console" pitchFamily="49" charset="0"/>
              </a:rPr>
              <a:t>fwrite</a:t>
            </a:r>
            <a:r>
              <a:rPr lang="en-US" sz="2200" dirty="0">
                <a:latin typeface="Lucida Console" pitchFamily="49" charset="0"/>
              </a:rPr>
              <a:t>( &amp;</a:t>
            </a:r>
            <a:r>
              <a:rPr lang="en-US" sz="2200" dirty="0" err="1">
                <a:latin typeface="Lucida Console" pitchFamily="49" charset="0"/>
              </a:rPr>
              <a:t>myObject</a:t>
            </a:r>
            <a:r>
              <a:rPr lang="en-US" sz="2200" dirty="0">
                <a:latin typeface="Lucida Console" pitchFamily="49" charset="0"/>
              </a:rPr>
              <a:t>, </a:t>
            </a:r>
            <a:r>
              <a:rPr lang="en-US" sz="2200" dirty="0" err="1">
                <a:latin typeface="Lucida Console" pitchFamily="49" charset="0"/>
              </a:rPr>
              <a:t>sizeof</a:t>
            </a:r>
            <a:r>
              <a:rPr lang="en-US" sz="2200" dirty="0">
                <a:latin typeface="Lucida Console" pitchFamily="49" charset="0"/>
              </a:rPr>
              <a:t> (</a:t>
            </a:r>
            <a:r>
              <a:rPr lang="en-US" sz="2200" dirty="0" err="1">
                <a:latin typeface="Lucida Console" pitchFamily="49" charset="0"/>
              </a:rPr>
              <a:t>struct</a:t>
            </a:r>
            <a:r>
              <a:rPr lang="en-US" sz="2200" dirty="0">
                <a:latin typeface="Lucida Console" pitchFamily="49" charset="0"/>
              </a:rPr>
              <a:t> </a:t>
            </a:r>
            <a:r>
              <a:rPr lang="en-US" sz="2200" dirty="0" err="1">
                <a:latin typeface="Lucida Console" pitchFamily="49" charset="0"/>
              </a:rPr>
              <a:t>myStruct</a:t>
            </a:r>
            <a:r>
              <a:rPr lang="en-US" sz="2200" dirty="0">
                <a:latin typeface="Lucida Console" pitchFamily="49" charset="0"/>
              </a:rPr>
              <a:t>), 1, </a:t>
            </a:r>
            <a:r>
              <a:rPr lang="en-US" sz="2200" dirty="0" err="1">
                <a:latin typeface="Lucida Console" pitchFamily="49" charset="0"/>
              </a:rPr>
              <a:t>myPtr</a:t>
            </a:r>
            <a:r>
              <a:rPr lang="en-US" sz="2200" dirty="0">
                <a:latin typeface="Lucida Console" pitchFamily="49" charset="0"/>
              </a:rPr>
              <a:t> );</a:t>
            </a:r>
          </a:p>
          <a:p>
            <a:pPr lvl="1"/>
            <a:r>
              <a:rPr lang="en-US" sz="2500" dirty="0" err="1">
                <a:latin typeface="Lucida Console" pitchFamily="49" charset="0"/>
              </a:rPr>
              <a:t>sizeof</a:t>
            </a:r>
            <a:r>
              <a:rPr lang="en-US" dirty="0"/>
              <a:t> </a:t>
            </a:r>
            <a:r>
              <a:rPr lang="en-US" dirty="0">
                <a:cs typeface="Times New Roman" charset="0"/>
              </a:rPr>
              <a:t>–</a:t>
            </a:r>
            <a:r>
              <a:rPr lang="en-US" dirty="0"/>
              <a:t> returns size in bytes of object in parentheses</a:t>
            </a:r>
          </a:p>
          <a:p>
            <a:r>
              <a:rPr lang="en-US" dirty="0"/>
              <a:t>To write several array elements</a:t>
            </a:r>
          </a:p>
          <a:p>
            <a:pPr lvl="1"/>
            <a:r>
              <a:rPr lang="en-US" dirty="0"/>
              <a:t>Pointer to array as first argument</a:t>
            </a:r>
          </a:p>
          <a:p>
            <a:pPr lvl="1"/>
            <a:r>
              <a:rPr lang="en-US" dirty="0"/>
              <a:t>Number of elements to write as third argument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7F2A5-20F1-4105-A36D-23FC9E435865}" type="slidenum">
              <a:rPr lang="en-US" smtClean="0"/>
              <a:pPr/>
              <a:t>27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6258" name="Object 2"/>
          <p:cNvGraphicFramePr>
            <a:graphicFrameLocks noChangeAspect="1"/>
          </p:cNvGraphicFramePr>
          <p:nvPr/>
        </p:nvGraphicFramePr>
        <p:xfrm>
          <a:off x="0" y="0"/>
          <a:ext cx="7061200" cy="434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885" name="Document" r:id="rId4" imgW="7062810" imgH="4348736" progId="Word.Document.8">
                  <p:embed/>
                </p:oleObj>
              </mc:Choice>
              <mc:Fallback>
                <p:oleObj name="Document" r:id="rId4" imgW="7062810" imgH="4348736" progId="Word.Document.8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7061200" cy="4346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7F2A5-20F1-4105-A36D-23FC9E435865}" type="slidenum">
              <a:rPr lang="en-US" smtClean="0"/>
              <a:pPr/>
              <a:t>28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8306" name="Object 2"/>
          <p:cNvGraphicFramePr>
            <a:graphicFrameLocks noChangeAspect="1"/>
          </p:cNvGraphicFramePr>
          <p:nvPr/>
        </p:nvGraphicFramePr>
        <p:xfrm>
          <a:off x="0" y="0"/>
          <a:ext cx="7061200" cy="434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909" name="Document" r:id="rId4" imgW="7062810" imgH="4348736" progId="Word.Document.8">
                  <p:embed/>
                </p:oleObj>
              </mc:Choice>
              <mc:Fallback>
                <p:oleObj name="Document" r:id="rId4" imgW="7062810" imgH="4348736" progId="Word.Document.8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7061200" cy="4346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8309" name="Text Box 5"/>
          <p:cNvSpPr txBox="1">
            <a:spLocks noChangeArrowheads="1"/>
          </p:cNvSpPr>
          <p:nvPr/>
        </p:nvSpPr>
        <p:spPr bwMode="auto">
          <a:xfrm>
            <a:off x="2438400" y="1066800"/>
            <a:ext cx="4343400" cy="590550"/>
          </a:xfrm>
          <a:prstGeom prst="rect">
            <a:avLst/>
          </a:prstGeom>
          <a:solidFill>
            <a:srgbClr val="F0F7F7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228600" indent="-228600">
              <a:spcBef>
                <a:spcPct val="50000"/>
              </a:spcBef>
              <a:spcAft>
                <a:spcPct val="25000"/>
              </a:spcAft>
              <a:buClr>
                <a:schemeClr val="tx1"/>
              </a:buClr>
            </a:pPr>
            <a:r>
              <a:rPr lang="en-US" sz="1600" b="1">
                <a:latin typeface="Courier New" pitchFamily="49" charset="0"/>
                <a:ea typeface="Times New Roman" charset="0"/>
                <a:cs typeface="Times New Roman" charset="0"/>
              </a:rPr>
              <a:t>fopen</a:t>
            </a:r>
            <a:r>
              <a:rPr lang="en-US" sz="1600">
                <a:ea typeface="Times New Roman" charset="0"/>
                <a:cs typeface="Times New Roman" charset="0"/>
              </a:rPr>
              <a:t> function opens a file; </a:t>
            </a:r>
            <a:r>
              <a:rPr lang="en-US" sz="1600" b="1">
                <a:latin typeface="Courier New" pitchFamily="49" charset="0"/>
                <a:ea typeface="Times New Roman" charset="0"/>
                <a:cs typeface="Times New Roman" charset="0"/>
              </a:rPr>
              <a:t>wb</a:t>
            </a:r>
            <a:r>
              <a:rPr lang="en-US" sz="1600">
                <a:ea typeface="Times New Roman" charset="0"/>
                <a:cs typeface="Times New Roman" charset="0"/>
              </a:rPr>
              <a:t> argument means the file is opened for writing in binary mode</a:t>
            </a:r>
          </a:p>
        </p:txBody>
      </p:sp>
      <p:sp>
        <p:nvSpPr>
          <p:cNvPr id="98310" name="Line 6"/>
          <p:cNvSpPr>
            <a:spLocks noChangeShapeType="1"/>
          </p:cNvSpPr>
          <p:nvPr/>
        </p:nvSpPr>
        <p:spPr bwMode="auto">
          <a:xfrm flipH="1" flipV="1">
            <a:off x="3886200" y="838200"/>
            <a:ext cx="6858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98311" name="Text Box 7"/>
          <p:cNvSpPr txBox="1">
            <a:spLocks noChangeArrowheads="1"/>
          </p:cNvSpPr>
          <p:nvPr/>
        </p:nvSpPr>
        <p:spPr bwMode="auto">
          <a:xfrm>
            <a:off x="5029200" y="2590800"/>
            <a:ext cx="2514600" cy="590550"/>
          </a:xfrm>
          <a:prstGeom prst="rect">
            <a:avLst/>
          </a:prstGeom>
          <a:solidFill>
            <a:srgbClr val="F0F7F7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228600" indent="-228600">
              <a:spcBef>
                <a:spcPct val="50000"/>
              </a:spcBef>
              <a:spcAft>
                <a:spcPct val="25000"/>
              </a:spcAft>
              <a:buClr>
                <a:schemeClr val="tx1"/>
              </a:buClr>
            </a:pPr>
            <a:r>
              <a:rPr lang="en-US" sz="1600" b="1">
                <a:latin typeface="Courier New" pitchFamily="49" charset="0"/>
                <a:ea typeface="Times New Roman" charset="0"/>
                <a:cs typeface="Times New Roman" charset="0"/>
              </a:rPr>
              <a:t>fwrite</a:t>
            </a:r>
            <a:r>
              <a:rPr lang="en-US" sz="1600">
                <a:ea typeface="Times New Roman" charset="0"/>
                <a:cs typeface="Times New Roman" charset="0"/>
              </a:rPr>
              <a:t> transfers bytes into a random-access file</a:t>
            </a:r>
          </a:p>
        </p:txBody>
      </p:sp>
      <p:sp>
        <p:nvSpPr>
          <p:cNvPr id="98312" name="Line 8"/>
          <p:cNvSpPr>
            <a:spLocks noChangeShapeType="1"/>
          </p:cNvSpPr>
          <p:nvPr/>
        </p:nvSpPr>
        <p:spPr bwMode="auto">
          <a:xfrm flipH="1" flipV="1">
            <a:off x="2209800" y="2362200"/>
            <a:ext cx="28194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7F2A5-20F1-4105-A36D-23FC9E435865}" type="slidenum">
              <a:rPr lang="en-US" smtClean="0"/>
              <a:pPr/>
              <a:t>29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8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8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309" grpId="0" animBg="1" autoUpdateAnimBg="0"/>
      <p:bldP spid="98311" grpId="0" animBg="1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/>
              <a:t>Writing Data Randomly to a Random-Access File</a:t>
            </a:r>
          </a:p>
        </p:txBody>
      </p:sp>
      <p:sp>
        <p:nvSpPr>
          <p:cNvPr id="100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600">
                <a:latin typeface="Lucida Console" pitchFamily="49" charset="0"/>
              </a:rPr>
              <a:t>fseek</a:t>
            </a:r>
          </a:p>
          <a:p>
            <a:pPr lvl="1"/>
            <a:r>
              <a:rPr lang="en-US" sz="2400"/>
              <a:t>Sets file position pointer to a specific position</a:t>
            </a:r>
          </a:p>
          <a:p>
            <a:pPr lvl="1"/>
            <a:r>
              <a:rPr lang="en-US" sz="2200">
                <a:latin typeface="Lucida Console" pitchFamily="49" charset="0"/>
              </a:rPr>
              <a:t>fseek(</a:t>
            </a:r>
            <a:r>
              <a:rPr lang="en-US" sz="2400">
                <a:latin typeface="Courier New" pitchFamily="49" charset="0"/>
              </a:rPr>
              <a:t> </a:t>
            </a:r>
            <a:r>
              <a:rPr lang="en-US" sz="2400" i="1"/>
              <a:t>pointer, offset, symbolic_constant</a:t>
            </a:r>
            <a:r>
              <a:rPr lang="en-US" sz="2200">
                <a:latin typeface="Lucida Console" pitchFamily="49" charset="0"/>
              </a:rPr>
              <a:t> );</a:t>
            </a:r>
          </a:p>
          <a:p>
            <a:pPr lvl="2"/>
            <a:r>
              <a:rPr lang="en-US" sz="2000" i="1"/>
              <a:t>pointer</a:t>
            </a:r>
            <a:r>
              <a:rPr lang="en-US" sz="2000"/>
              <a:t> </a:t>
            </a:r>
            <a:r>
              <a:rPr lang="en-US" sz="2000">
                <a:cs typeface="Times New Roman" charset="0"/>
              </a:rPr>
              <a:t>–</a:t>
            </a:r>
            <a:r>
              <a:rPr lang="en-US" sz="2000"/>
              <a:t> pointer to file</a:t>
            </a:r>
          </a:p>
          <a:p>
            <a:pPr lvl="2"/>
            <a:r>
              <a:rPr lang="en-US" sz="2000" i="1"/>
              <a:t>offset</a:t>
            </a:r>
            <a:r>
              <a:rPr lang="en-US" sz="2000"/>
              <a:t> </a:t>
            </a:r>
            <a:r>
              <a:rPr lang="en-US" sz="2000">
                <a:cs typeface="Times New Roman" charset="0"/>
              </a:rPr>
              <a:t>–</a:t>
            </a:r>
            <a:r>
              <a:rPr lang="en-US" sz="2000"/>
              <a:t> file position pointer (0 is first location)</a:t>
            </a:r>
          </a:p>
          <a:p>
            <a:pPr lvl="2"/>
            <a:r>
              <a:rPr lang="en-US" sz="2000" i="1"/>
              <a:t>symbolic_constant</a:t>
            </a:r>
            <a:r>
              <a:rPr lang="en-US" sz="2000"/>
              <a:t> </a:t>
            </a:r>
            <a:r>
              <a:rPr lang="en-US" sz="2000">
                <a:cs typeface="Times New Roman" charset="0"/>
              </a:rPr>
              <a:t>–</a:t>
            </a:r>
            <a:r>
              <a:rPr lang="en-US" sz="2000"/>
              <a:t> specifies where in file we are reading from</a:t>
            </a:r>
          </a:p>
          <a:p>
            <a:pPr lvl="2"/>
            <a:r>
              <a:rPr lang="en-US" sz="1800">
                <a:latin typeface="Lucida Console" pitchFamily="49" charset="0"/>
              </a:rPr>
              <a:t>SEEK_SET</a:t>
            </a:r>
            <a:r>
              <a:rPr lang="en-US" sz="2000"/>
              <a:t> </a:t>
            </a:r>
            <a:r>
              <a:rPr lang="en-US" sz="2000">
                <a:cs typeface="Times New Roman" charset="0"/>
              </a:rPr>
              <a:t>–</a:t>
            </a:r>
            <a:r>
              <a:rPr lang="en-US" sz="2000"/>
              <a:t> seek starts at beginning of file</a:t>
            </a:r>
          </a:p>
          <a:p>
            <a:pPr lvl="2"/>
            <a:r>
              <a:rPr lang="en-US" sz="1800">
                <a:latin typeface="Lucida Console" pitchFamily="49" charset="0"/>
              </a:rPr>
              <a:t>SEEK_CUR</a:t>
            </a:r>
            <a:r>
              <a:rPr lang="en-US" sz="2000"/>
              <a:t> </a:t>
            </a:r>
            <a:r>
              <a:rPr lang="en-US" sz="2000">
                <a:cs typeface="Times New Roman" charset="0"/>
              </a:rPr>
              <a:t>–</a:t>
            </a:r>
            <a:r>
              <a:rPr lang="en-US" sz="2000"/>
              <a:t> seek starts at current location in file</a:t>
            </a:r>
          </a:p>
          <a:p>
            <a:pPr lvl="2"/>
            <a:r>
              <a:rPr lang="en-US" sz="1800">
                <a:latin typeface="Lucida Console" pitchFamily="49" charset="0"/>
              </a:rPr>
              <a:t>SEEK_END</a:t>
            </a:r>
            <a:r>
              <a:rPr lang="en-US" sz="2000"/>
              <a:t> </a:t>
            </a:r>
            <a:r>
              <a:rPr lang="en-US" sz="2000">
                <a:cs typeface="Times New Roman" charset="0"/>
              </a:rPr>
              <a:t>–</a:t>
            </a:r>
            <a:r>
              <a:rPr lang="en-US" sz="2000"/>
              <a:t> seek starts at end of file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7F2A5-20F1-4105-A36D-23FC9E435865}" type="slidenum">
              <a:rPr lang="en-US" smtClean="0"/>
              <a:pPr/>
              <a:t>30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402" name="Object 2"/>
          <p:cNvGraphicFramePr>
            <a:graphicFrameLocks noChangeAspect="1"/>
          </p:cNvGraphicFramePr>
          <p:nvPr/>
        </p:nvGraphicFramePr>
        <p:xfrm>
          <a:off x="0" y="0"/>
          <a:ext cx="7061200" cy="6481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933" name="Document" r:id="rId4" imgW="7062810" imgH="6483511" progId="Word.Document.8">
                  <p:embed/>
                </p:oleObj>
              </mc:Choice>
              <mc:Fallback>
                <p:oleObj name="Document" r:id="rId4" imgW="7062810" imgH="6483511" progId="Word.Document.8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7061200" cy="64817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7F2A5-20F1-4105-A36D-23FC9E435865}" type="slidenum">
              <a:rPr lang="en-US" smtClean="0"/>
              <a:pPr/>
              <a:t>31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4450" name="Object 2"/>
          <p:cNvGraphicFramePr>
            <a:graphicFrameLocks noChangeAspect="1"/>
          </p:cNvGraphicFramePr>
          <p:nvPr/>
        </p:nvGraphicFramePr>
        <p:xfrm>
          <a:off x="0" y="0"/>
          <a:ext cx="7061200" cy="6061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957" name="Document" r:id="rId4" imgW="7062810" imgH="6062747" progId="Word.Document.8">
                  <p:embed/>
                </p:oleObj>
              </mc:Choice>
              <mc:Fallback>
                <p:oleObj name="Document" r:id="rId4" imgW="7062810" imgH="6062747" progId="Word.Document.8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7061200" cy="6061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453" name="Text Box 5"/>
          <p:cNvSpPr txBox="1">
            <a:spLocks noChangeArrowheads="1"/>
          </p:cNvSpPr>
          <p:nvPr/>
        </p:nvSpPr>
        <p:spPr bwMode="auto">
          <a:xfrm>
            <a:off x="4953000" y="1752600"/>
            <a:ext cx="3200400" cy="590550"/>
          </a:xfrm>
          <a:prstGeom prst="rect">
            <a:avLst/>
          </a:prstGeom>
          <a:solidFill>
            <a:srgbClr val="F0F7F7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228600" indent="-228600">
              <a:spcBef>
                <a:spcPct val="50000"/>
              </a:spcBef>
              <a:spcAft>
                <a:spcPct val="25000"/>
              </a:spcAft>
              <a:buClr>
                <a:schemeClr val="tx1"/>
              </a:buClr>
            </a:pPr>
            <a:r>
              <a:rPr lang="en-US" sz="1600" b="1">
                <a:latin typeface="Courier New" pitchFamily="49" charset="0"/>
                <a:ea typeface="Times New Roman" charset="0"/>
                <a:cs typeface="Times New Roman" charset="0"/>
              </a:rPr>
              <a:t>fseek</a:t>
            </a:r>
            <a:r>
              <a:rPr lang="en-US" sz="1600">
                <a:ea typeface="Times New Roman" charset="0"/>
                <a:cs typeface="Times New Roman" charset="0"/>
              </a:rPr>
              <a:t> searches for a specific location in the random-access file</a:t>
            </a:r>
          </a:p>
        </p:txBody>
      </p:sp>
      <p:sp>
        <p:nvSpPr>
          <p:cNvPr id="104454" name="Line 6"/>
          <p:cNvSpPr>
            <a:spLocks noChangeShapeType="1"/>
          </p:cNvSpPr>
          <p:nvPr/>
        </p:nvSpPr>
        <p:spPr bwMode="auto">
          <a:xfrm flipH="1">
            <a:off x="1371600" y="1905000"/>
            <a:ext cx="35814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7F2A5-20F1-4105-A36D-23FC9E435865}" type="slidenum">
              <a:rPr lang="en-US" smtClean="0"/>
              <a:pPr/>
              <a:t>32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4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453" grpId="0" animBg="1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6499" name="Object 3"/>
          <p:cNvGraphicFramePr>
            <a:graphicFrameLocks noChangeAspect="1"/>
          </p:cNvGraphicFramePr>
          <p:nvPr/>
        </p:nvGraphicFramePr>
        <p:xfrm>
          <a:off x="0" y="0"/>
          <a:ext cx="7051675" cy="427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981" name="Document" r:id="rId4" imgW="7053456" imgH="4274949" progId="Word.Document.8">
                  <p:embed/>
                </p:oleObj>
              </mc:Choice>
              <mc:Fallback>
                <p:oleObj name="Document" r:id="rId4" imgW="7053456" imgH="4274949" progId="Word.Document.8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7051675" cy="4273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7F2A5-20F1-4105-A36D-23FC9E435865}" type="slidenum">
              <a:rPr lang="en-US" smtClean="0"/>
              <a:pPr/>
              <a:t>33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/>
              <a:t>Reading Data from a Random-Access File</a:t>
            </a:r>
          </a:p>
        </p:txBody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3000">
                <a:latin typeface="Lucida Console" pitchFamily="49" charset="0"/>
              </a:rPr>
              <a:t>fread</a:t>
            </a:r>
          </a:p>
          <a:p>
            <a:pPr lvl="1">
              <a:lnSpc>
                <a:spcPct val="90000"/>
              </a:lnSpc>
            </a:pPr>
            <a:r>
              <a:rPr lang="en-US"/>
              <a:t>Reads a specified number of bytes from a file into memory</a:t>
            </a:r>
          </a:p>
          <a:p>
            <a:pPr lvl="2">
              <a:lnSpc>
                <a:spcPct val="90000"/>
              </a:lnSpc>
            </a:pPr>
            <a:r>
              <a:rPr lang="en-US" sz="2000">
                <a:latin typeface="Lucida Console" pitchFamily="49" charset="0"/>
              </a:rPr>
              <a:t>fread( &amp;client, sizeof (struct clientData), 1, myPtr );</a:t>
            </a:r>
          </a:p>
          <a:p>
            <a:pPr lvl="1">
              <a:lnSpc>
                <a:spcPct val="90000"/>
              </a:lnSpc>
            </a:pPr>
            <a:r>
              <a:rPr lang="en-US"/>
              <a:t>Can read several fixed-size array elements</a:t>
            </a:r>
          </a:p>
          <a:p>
            <a:pPr lvl="2">
              <a:lnSpc>
                <a:spcPct val="90000"/>
              </a:lnSpc>
            </a:pPr>
            <a:r>
              <a:rPr lang="en-US"/>
              <a:t>Provide pointer to array</a:t>
            </a:r>
          </a:p>
          <a:p>
            <a:pPr lvl="2">
              <a:lnSpc>
                <a:spcPct val="90000"/>
              </a:lnSpc>
            </a:pPr>
            <a:r>
              <a:rPr lang="en-US"/>
              <a:t>Indicate number of elements to read</a:t>
            </a:r>
          </a:p>
          <a:p>
            <a:pPr lvl="1">
              <a:lnSpc>
                <a:spcPct val="90000"/>
              </a:lnSpc>
            </a:pPr>
            <a:r>
              <a:rPr lang="en-US"/>
              <a:t>To read multiple elements, specify in third argument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7F2A5-20F1-4105-A36D-23FC9E435865}" type="slidenum">
              <a:rPr lang="en-US" smtClean="0"/>
              <a:pPr/>
              <a:t>34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2642" name="Object 2"/>
          <p:cNvGraphicFramePr>
            <a:graphicFrameLocks noChangeAspect="1"/>
          </p:cNvGraphicFramePr>
          <p:nvPr/>
        </p:nvGraphicFramePr>
        <p:xfrm>
          <a:off x="0" y="0"/>
          <a:ext cx="7061200" cy="5008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005" name="Document" r:id="rId4" imgW="7062810" imgH="5010297" progId="Word.Document.8">
                  <p:embed/>
                </p:oleObj>
              </mc:Choice>
              <mc:Fallback>
                <p:oleObj name="Document" r:id="rId4" imgW="7062810" imgH="5010297" progId="Word.Document.8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7061200" cy="50085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7F2A5-20F1-4105-A36D-23FC9E435865}" type="slidenum">
              <a:rPr lang="en-US" smtClean="0"/>
              <a:pPr/>
              <a:t>35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4690" name="Object 2"/>
          <p:cNvGraphicFramePr>
            <a:graphicFrameLocks noChangeAspect="1"/>
          </p:cNvGraphicFramePr>
          <p:nvPr/>
        </p:nvGraphicFramePr>
        <p:xfrm>
          <a:off x="0" y="0"/>
          <a:ext cx="7061200" cy="6300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029" name="Document" r:id="rId4" imgW="7062810" imgH="6302104" progId="Word.Document.8">
                  <p:embed/>
                </p:oleObj>
              </mc:Choice>
              <mc:Fallback>
                <p:oleObj name="Document" r:id="rId4" imgW="7062810" imgH="6302104" progId="Word.Document.8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7061200" cy="63007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4693" name="Text Box 5"/>
          <p:cNvSpPr txBox="1">
            <a:spLocks noChangeArrowheads="1"/>
          </p:cNvSpPr>
          <p:nvPr/>
        </p:nvSpPr>
        <p:spPr bwMode="auto">
          <a:xfrm>
            <a:off x="4953000" y="1752600"/>
            <a:ext cx="3276600" cy="590550"/>
          </a:xfrm>
          <a:prstGeom prst="rect">
            <a:avLst/>
          </a:prstGeom>
          <a:solidFill>
            <a:srgbClr val="F0F7F7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228600" indent="-228600">
              <a:spcBef>
                <a:spcPct val="50000"/>
              </a:spcBef>
              <a:spcAft>
                <a:spcPct val="25000"/>
              </a:spcAft>
              <a:buClr>
                <a:schemeClr val="tx1"/>
              </a:buClr>
            </a:pPr>
            <a:r>
              <a:rPr lang="en-US" sz="1600" b="1">
                <a:latin typeface="Courier New" pitchFamily="49" charset="0"/>
                <a:ea typeface="Times New Roman" charset="0"/>
                <a:cs typeface="Times New Roman" charset="0"/>
              </a:rPr>
              <a:t>fread</a:t>
            </a:r>
            <a:r>
              <a:rPr lang="en-US" sz="1600">
                <a:ea typeface="Times New Roman" charset="0"/>
                <a:cs typeface="Times New Roman" charset="0"/>
              </a:rPr>
              <a:t> reads bytes from a random-access file to a location in memory</a:t>
            </a:r>
          </a:p>
        </p:txBody>
      </p:sp>
      <p:sp>
        <p:nvSpPr>
          <p:cNvPr id="114694" name="Line 6"/>
          <p:cNvSpPr>
            <a:spLocks noChangeShapeType="1"/>
          </p:cNvSpPr>
          <p:nvPr/>
        </p:nvSpPr>
        <p:spPr bwMode="auto">
          <a:xfrm flipH="1" flipV="1">
            <a:off x="1371600" y="1447800"/>
            <a:ext cx="3581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7F2A5-20F1-4105-A36D-23FC9E435865}" type="slidenum">
              <a:rPr lang="en-US" smtClean="0"/>
              <a:pPr/>
              <a:t>36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4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4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693" grpId="0" animBg="1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6738" name="Object 2"/>
          <p:cNvGraphicFramePr>
            <a:graphicFrameLocks noChangeAspect="1"/>
          </p:cNvGraphicFramePr>
          <p:nvPr/>
        </p:nvGraphicFramePr>
        <p:xfrm>
          <a:off x="0" y="0"/>
          <a:ext cx="7061200" cy="6480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053" name="Document" r:id="rId4" imgW="7062810" imgH="6481711" progId="Word.Document.8">
                  <p:embed/>
                </p:oleObj>
              </mc:Choice>
              <mc:Fallback>
                <p:oleObj name="Document" r:id="rId4" imgW="7062810" imgH="6481711" progId="Word.Document.8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7061200" cy="64801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7F2A5-20F1-4105-A36D-23FC9E435865}" type="slidenum">
              <a:rPr lang="en-US" smtClean="0"/>
              <a:pPr/>
              <a:t>37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8786" name="Object 2"/>
          <p:cNvGraphicFramePr>
            <a:graphicFrameLocks noChangeAspect="1"/>
          </p:cNvGraphicFramePr>
          <p:nvPr/>
        </p:nvGraphicFramePr>
        <p:xfrm>
          <a:off x="0" y="0"/>
          <a:ext cx="7061200" cy="5849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077" name="Document" r:id="rId4" imgW="7062810" imgH="5851825" progId="Word.Document.8">
                  <p:embed/>
                </p:oleObj>
              </mc:Choice>
              <mc:Fallback>
                <p:oleObj name="Document" r:id="rId4" imgW="7062810" imgH="5851825" progId="Word.Document.8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7061200" cy="58499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7F2A5-20F1-4105-A36D-23FC9E435865}" type="slidenum">
              <a:rPr lang="en-US" smtClean="0"/>
              <a:pPr/>
              <a:t>38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0834" name="Object 2"/>
          <p:cNvGraphicFramePr>
            <a:graphicFrameLocks noChangeAspect="1"/>
          </p:cNvGraphicFramePr>
          <p:nvPr/>
        </p:nvGraphicFramePr>
        <p:xfrm>
          <a:off x="0" y="0"/>
          <a:ext cx="7053263" cy="6062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2101" name="Document" r:id="rId4" imgW="7056048" imgH="6063913" progId="Word.Document.8">
                  <p:embed/>
                </p:oleObj>
              </mc:Choice>
              <mc:Fallback>
                <p:oleObj name="Document" r:id="rId4" imgW="7056048" imgH="6063913" progId="Word.Document.8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7053263" cy="60626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0837" name="Text Box 5"/>
          <p:cNvSpPr txBox="1">
            <a:spLocks noChangeArrowheads="1"/>
          </p:cNvSpPr>
          <p:nvPr/>
        </p:nvSpPr>
        <p:spPr bwMode="auto">
          <a:xfrm>
            <a:off x="4876800" y="3505200"/>
            <a:ext cx="3200400" cy="590550"/>
          </a:xfrm>
          <a:prstGeom prst="rect">
            <a:avLst/>
          </a:prstGeom>
          <a:solidFill>
            <a:srgbClr val="F0F7F7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228600" indent="-228600">
              <a:spcBef>
                <a:spcPct val="50000"/>
              </a:spcBef>
              <a:spcAft>
                <a:spcPct val="25000"/>
              </a:spcAft>
              <a:buClr>
                <a:schemeClr val="tx1"/>
              </a:buClr>
            </a:pPr>
            <a:r>
              <a:rPr lang="en-US" sz="1600">
                <a:ea typeface="Times New Roman" charset="0"/>
                <a:cs typeface="Times New Roman" charset="0"/>
              </a:rPr>
              <a:t>Function </a:t>
            </a:r>
            <a:r>
              <a:rPr lang="en-US" sz="1600" b="1">
                <a:latin typeface="Courier New" pitchFamily="49" charset="0"/>
                <a:ea typeface="Times New Roman" charset="0"/>
                <a:cs typeface="Times New Roman" charset="0"/>
              </a:rPr>
              <a:t>textFile</a:t>
            </a:r>
            <a:r>
              <a:rPr lang="en-US" sz="1600">
                <a:ea typeface="Times New Roman" charset="0"/>
                <a:cs typeface="Times New Roman" charset="0"/>
              </a:rPr>
              <a:t> creates a text file containing all account data</a:t>
            </a:r>
          </a:p>
        </p:txBody>
      </p:sp>
      <p:sp>
        <p:nvSpPr>
          <p:cNvPr id="120838" name="Line 6"/>
          <p:cNvSpPr>
            <a:spLocks noChangeShapeType="1"/>
          </p:cNvSpPr>
          <p:nvPr/>
        </p:nvSpPr>
        <p:spPr bwMode="auto">
          <a:xfrm flipH="1">
            <a:off x="2819400" y="365760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7F2A5-20F1-4105-A36D-23FC9E435865}" type="slidenum">
              <a:rPr lang="en-US" smtClean="0"/>
              <a:pPr/>
              <a:t>39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0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0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837" grpId="0" animBg="1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2882" name="Object 2"/>
          <p:cNvGraphicFramePr>
            <a:graphicFrameLocks noChangeAspect="1"/>
          </p:cNvGraphicFramePr>
          <p:nvPr/>
        </p:nvGraphicFramePr>
        <p:xfrm>
          <a:off x="0" y="0"/>
          <a:ext cx="7029450" cy="6251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25" name="Document" r:id="rId4" imgW="7056048" imgH="6273920" progId="Word.Document.8">
                  <p:embed/>
                </p:oleObj>
              </mc:Choice>
              <mc:Fallback>
                <p:oleObj name="Document" r:id="rId4" imgW="7056048" imgH="6273920" progId="Word.Document.8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7029450" cy="6251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885" name="Text Box 5"/>
          <p:cNvSpPr txBox="1">
            <a:spLocks noChangeArrowheads="1"/>
          </p:cNvSpPr>
          <p:nvPr/>
        </p:nvSpPr>
        <p:spPr bwMode="auto">
          <a:xfrm>
            <a:off x="4495800" y="4800600"/>
            <a:ext cx="3200400" cy="590550"/>
          </a:xfrm>
          <a:prstGeom prst="rect">
            <a:avLst/>
          </a:prstGeom>
          <a:solidFill>
            <a:srgbClr val="F0F7F7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228600" indent="-228600">
              <a:spcBef>
                <a:spcPct val="50000"/>
              </a:spcBef>
              <a:spcAft>
                <a:spcPct val="25000"/>
              </a:spcAft>
              <a:buClr>
                <a:schemeClr val="tx1"/>
              </a:buClr>
            </a:pPr>
            <a:r>
              <a:rPr lang="en-US" sz="1600">
                <a:ea typeface="Times New Roman" charset="0"/>
                <a:cs typeface="Times New Roman" charset="0"/>
              </a:rPr>
              <a:t>Function </a:t>
            </a:r>
            <a:r>
              <a:rPr lang="en-US" sz="1600" b="1">
                <a:latin typeface="Courier New" pitchFamily="49" charset="0"/>
                <a:ea typeface="Times New Roman" charset="0"/>
                <a:cs typeface="Times New Roman" charset="0"/>
              </a:rPr>
              <a:t>updateRecord</a:t>
            </a:r>
            <a:r>
              <a:rPr lang="en-US" sz="1600">
                <a:ea typeface="Times New Roman" charset="0"/>
                <a:cs typeface="Times New Roman" charset="0"/>
              </a:rPr>
              <a:t> changes the balance of a specified account</a:t>
            </a:r>
          </a:p>
        </p:txBody>
      </p:sp>
      <p:sp>
        <p:nvSpPr>
          <p:cNvPr id="122886" name="Line 6"/>
          <p:cNvSpPr>
            <a:spLocks noChangeShapeType="1"/>
          </p:cNvSpPr>
          <p:nvPr/>
        </p:nvSpPr>
        <p:spPr bwMode="auto">
          <a:xfrm flipH="1">
            <a:off x="3124200" y="5105400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7F2A5-20F1-4105-A36D-23FC9E435865}" type="slidenum">
              <a:rPr lang="en-US" smtClean="0"/>
              <a:pPr/>
              <a:t>40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2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885" grpId="0" animBg="1" autoUpdateAnimBg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4930" name="Object 2"/>
          <p:cNvGraphicFramePr>
            <a:graphicFrameLocks noChangeAspect="1"/>
          </p:cNvGraphicFramePr>
          <p:nvPr/>
        </p:nvGraphicFramePr>
        <p:xfrm>
          <a:off x="0" y="0"/>
          <a:ext cx="7061200" cy="6061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149" name="Document" r:id="rId4" imgW="7062810" imgH="6062747" progId="Word.Document.8">
                  <p:embed/>
                </p:oleObj>
              </mc:Choice>
              <mc:Fallback>
                <p:oleObj name="Document" r:id="rId4" imgW="7062810" imgH="6062747" progId="Word.Document.8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7061200" cy="6061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7F2A5-20F1-4105-A36D-23FC9E435865}" type="slidenum">
              <a:rPr lang="en-US" smtClean="0"/>
              <a:pPr/>
              <a:t>41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6978" name="Object 2"/>
          <p:cNvGraphicFramePr>
            <a:graphicFrameLocks noChangeAspect="1"/>
          </p:cNvGraphicFramePr>
          <p:nvPr/>
        </p:nvGraphicFramePr>
        <p:xfrm>
          <a:off x="0" y="0"/>
          <a:ext cx="7061200" cy="5846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173" name="Document" r:id="rId4" imgW="7062810" imgH="5848945" progId="Word.Document.8">
                  <p:embed/>
                </p:oleObj>
              </mc:Choice>
              <mc:Fallback>
                <p:oleObj name="Document" r:id="rId4" imgW="7062810" imgH="5848945" progId="Word.Document.8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7061200" cy="58467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6981" name="Text Box 5"/>
          <p:cNvSpPr txBox="1">
            <a:spLocks noChangeArrowheads="1"/>
          </p:cNvSpPr>
          <p:nvPr/>
        </p:nvSpPr>
        <p:spPr bwMode="auto">
          <a:xfrm>
            <a:off x="3962400" y="2971800"/>
            <a:ext cx="3200400" cy="590550"/>
          </a:xfrm>
          <a:prstGeom prst="rect">
            <a:avLst/>
          </a:prstGeom>
          <a:solidFill>
            <a:srgbClr val="F0F7F7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228600" indent="-228600">
              <a:spcBef>
                <a:spcPct val="50000"/>
              </a:spcBef>
              <a:spcAft>
                <a:spcPct val="25000"/>
              </a:spcAft>
              <a:buClr>
                <a:schemeClr val="tx1"/>
              </a:buClr>
            </a:pPr>
            <a:r>
              <a:rPr lang="en-US" sz="1600">
                <a:ea typeface="Times New Roman" charset="0"/>
                <a:cs typeface="Times New Roman" charset="0"/>
              </a:rPr>
              <a:t>Function </a:t>
            </a:r>
            <a:r>
              <a:rPr lang="en-US" sz="1600" b="1">
                <a:latin typeface="Courier New" pitchFamily="49" charset="0"/>
                <a:ea typeface="Times New Roman" charset="0"/>
                <a:cs typeface="Times New Roman" charset="0"/>
              </a:rPr>
              <a:t>deleteRecord</a:t>
            </a:r>
            <a:r>
              <a:rPr lang="en-US" sz="1600">
                <a:ea typeface="Times New Roman" charset="0"/>
                <a:cs typeface="Times New Roman" charset="0"/>
              </a:rPr>
              <a:t> removes an existing account from the file</a:t>
            </a:r>
          </a:p>
        </p:txBody>
      </p:sp>
      <p:sp>
        <p:nvSpPr>
          <p:cNvPr id="126982" name="Line 6"/>
          <p:cNvSpPr>
            <a:spLocks noChangeShapeType="1"/>
          </p:cNvSpPr>
          <p:nvPr/>
        </p:nvSpPr>
        <p:spPr bwMode="auto">
          <a:xfrm flipH="1" flipV="1">
            <a:off x="3124200" y="32004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7F2A5-20F1-4105-A36D-23FC9E435865}" type="slidenum">
              <a:rPr lang="en-US" smtClean="0"/>
              <a:pPr/>
              <a:t>42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6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6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6981" grpId="0" animBg="1" autoUpdateAnimBg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9026" name="Object 2"/>
          <p:cNvGraphicFramePr>
            <a:graphicFrameLocks noChangeAspect="1"/>
          </p:cNvGraphicFramePr>
          <p:nvPr/>
        </p:nvGraphicFramePr>
        <p:xfrm>
          <a:off x="0" y="0"/>
          <a:ext cx="7061200" cy="5216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197" name="Document" r:id="rId4" imgW="7062810" imgH="5218339" progId="Word.Document.8">
                  <p:embed/>
                </p:oleObj>
              </mc:Choice>
              <mc:Fallback>
                <p:oleObj name="Document" r:id="rId4" imgW="7062810" imgH="5218339" progId="Word.Document.8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7061200" cy="5216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7F2A5-20F1-4105-A36D-23FC9E435865}" type="slidenum">
              <a:rPr lang="en-US" smtClean="0"/>
              <a:pPr/>
              <a:t>43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1074" name="Object 2"/>
          <p:cNvGraphicFramePr>
            <a:graphicFrameLocks noChangeAspect="1"/>
          </p:cNvGraphicFramePr>
          <p:nvPr/>
        </p:nvGraphicFramePr>
        <p:xfrm>
          <a:off x="0" y="0"/>
          <a:ext cx="7061200" cy="5218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221" name="Document" r:id="rId4" imgW="7062810" imgH="5220139" progId="Word.Document.8">
                  <p:embed/>
                </p:oleObj>
              </mc:Choice>
              <mc:Fallback>
                <p:oleObj name="Document" r:id="rId4" imgW="7062810" imgH="5220139" progId="Word.Document.8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7061200" cy="5218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1077" name="Text Box 5"/>
          <p:cNvSpPr txBox="1">
            <a:spLocks noChangeArrowheads="1"/>
          </p:cNvSpPr>
          <p:nvPr/>
        </p:nvSpPr>
        <p:spPr bwMode="auto">
          <a:xfrm>
            <a:off x="5257800" y="533400"/>
            <a:ext cx="2514600" cy="590550"/>
          </a:xfrm>
          <a:prstGeom prst="rect">
            <a:avLst/>
          </a:prstGeom>
          <a:solidFill>
            <a:srgbClr val="F0F7F7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228600" indent="-228600">
              <a:spcBef>
                <a:spcPct val="50000"/>
              </a:spcBef>
              <a:spcAft>
                <a:spcPct val="25000"/>
              </a:spcAft>
              <a:buClr>
                <a:schemeClr val="tx1"/>
              </a:buClr>
            </a:pPr>
            <a:r>
              <a:rPr lang="en-US" sz="1600">
                <a:ea typeface="Times New Roman" charset="0"/>
                <a:cs typeface="Times New Roman" charset="0"/>
              </a:rPr>
              <a:t>Function </a:t>
            </a:r>
            <a:r>
              <a:rPr lang="en-US" sz="1600" b="1">
                <a:latin typeface="Courier New" pitchFamily="49" charset="0"/>
                <a:ea typeface="Times New Roman" charset="0"/>
                <a:cs typeface="Times New Roman" charset="0"/>
              </a:rPr>
              <a:t>newRecord</a:t>
            </a:r>
            <a:r>
              <a:rPr lang="en-US" sz="1600">
                <a:ea typeface="Times New Roman" charset="0"/>
                <a:cs typeface="Times New Roman" charset="0"/>
              </a:rPr>
              <a:t> adds a new account to the file</a:t>
            </a:r>
          </a:p>
        </p:txBody>
      </p:sp>
      <p:sp>
        <p:nvSpPr>
          <p:cNvPr id="131078" name="Line 6"/>
          <p:cNvSpPr>
            <a:spLocks noChangeShapeType="1"/>
          </p:cNvSpPr>
          <p:nvPr/>
        </p:nvSpPr>
        <p:spPr bwMode="auto">
          <a:xfrm flipH="1" flipV="1">
            <a:off x="2819400" y="304800"/>
            <a:ext cx="24384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7F2A5-20F1-4105-A36D-23FC9E435865}" type="slidenum">
              <a:rPr lang="en-US" smtClean="0"/>
              <a:pPr/>
              <a:t>44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1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1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077" grpId="0" animBg="1" autoUpdateAnimBg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122" name="Object 2"/>
          <p:cNvGraphicFramePr>
            <a:graphicFrameLocks noChangeAspect="1"/>
          </p:cNvGraphicFramePr>
          <p:nvPr/>
        </p:nvGraphicFramePr>
        <p:xfrm>
          <a:off x="0" y="0"/>
          <a:ext cx="7061200" cy="4376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245" name="Document" r:id="rId4" imgW="7062810" imgH="4377891" progId="Word.Document.8">
                  <p:embed/>
                </p:oleObj>
              </mc:Choice>
              <mc:Fallback>
                <p:oleObj name="Document" r:id="rId4" imgW="7062810" imgH="4377891" progId="Word.Document.8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7061200" cy="43767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7F2A5-20F1-4105-A36D-23FC9E435865}" type="slidenum">
              <a:rPr lang="en-US" smtClean="0"/>
              <a:pPr/>
              <a:t>45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5170" name="Object 2"/>
          <p:cNvGraphicFramePr>
            <a:graphicFrameLocks noChangeAspect="1"/>
          </p:cNvGraphicFramePr>
          <p:nvPr/>
        </p:nvGraphicFramePr>
        <p:xfrm>
          <a:off x="0" y="0"/>
          <a:ext cx="7061200" cy="434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269" name="Document" r:id="rId4" imgW="7062810" imgH="4348736" progId="Word.Document.8">
                  <p:embed/>
                </p:oleObj>
              </mc:Choice>
              <mc:Fallback>
                <p:oleObj name="Document" r:id="rId4" imgW="7062810" imgH="4348736" progId="Word.Document.8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7061200" cy="4346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7F2A5-20F1-4105-A36D-23FC9E435865}" type="slidenum">
              <a:rPr lang="en-US" smtClean="0"/>
              <a:pPr/>
              <a:t>46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7741</TotalTime>
  <Words>1390</Words>
  <Application>Microsoft Macintosh PowerPoint</Application>
  <PresentationFormat>On-screen Show (4:3)</PresentationFormat>
  <Paragraphs>264</Paragraphs>
  <Slides>46</Slides>
  <Notes>45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8" baseType="lpstr">
      <vt:lpstr>Office Theme</vt:lpstr>
      <vt:lpstr>Document</vt:lpstr>
      <vt:lpstr>PowerPoint Presentation</vt:lpstr>
      <vt:lpstr>OBJECTIVES</vt:lpstr>
      <vt:lpstr>Introduction</vt:lpstr>
      <vt:lpstr>Data Hierarchy</vt:lpstr>
      <vt:lpstr>Data Hierarchy</vt:lpstr>
      <vt:lpstr>PowerPoint Presentation</vt:lpstr>
      <vt:lpstr>Data Hierarchy</vt:lpstr>
      <vt:lpstr>Files and Streams</vt:lpstr>
      <vt:lpstr>Files and Streams</vt:lpstr>
      <vt:lpstr>Creating a Sequential-Access File</vt:lpstr>
      <vt:lpstr>Creating a Sequential-Access File</vt:lpstr>
      <vt:lpstr>PowerPoint Presentation</vt:lpstr>
      <vt:lpstr>PowerPoint Presentation</vt:lpstr>
      <vt:lpstr>PowerPoint Presentation</vt:lpstr>
      <vt:lpstr>PowerPoint Presentation</vt:lpstr>
      <vt:lpstr>Reading Data from a Sequential-Access File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Reading Data from a Sequential-Access File</vt:lpstr>
      <vt:lpstr>Random-Access Files</vt:lpstr>
      <vt:lpstr>Creating a Random-Access File</vt:lpstr>
      <vt:lpstr>Creating a Random-Access File</vt:lpstr>
      <vt:lpstr>Creating a Random-Access File</vt:lpstr>
      <vt:lpstr>PowerPoint Presentation</vt:lpstr>
      <vt:lpstr>PowerPoint Presentation</vt:lpstr>
      <vt:lpstr>Writing Data Randomly to a Random-Access File</vt:lpstr>
      <vt:lpstr>PowerPoint Presentation</vt:lpstr>
      <vt:lpstr>PowerPoint Presentation</vt:lpstr>
      <vt:lpstr>PowerPoint Presentation</vt:lpstr>
      <vt:lpstr>Reading Data from a Random-Access File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TMC1413  Introduction to Programming</dc:title>
  <dc:creator>Lee Jun Choi</dc:creator>
  <cp:lastModifiedBy>MAMUN MAMUN</cp:lastModifiedBy>
  <cp:revision>767</cp:revision>
  <dcterms:created xsi:type="dcterms:W3CDTF">2009-10-06T07:11:33Z</dcterms:created>
  <dcterms:modified xsi:type="dcterms:W3CDTF">2017-04-29T18:53:22Z</dcterms:modified>
</cp:coreProperties>
</file>