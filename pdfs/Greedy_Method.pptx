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9" r:id="rId1"/>
  </p:sldMasterIdLst>
  <p:notesMasterIdLst>
    <p:notesMasterId r:id="rId64"/>
  </p:notesMasterIdLst>
  <p:sldIdLst>
    <p:sldId id="302" r:id="rId2"/>
    <p:sldId id="297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46" r:id="rId19"/>
    <p:sldId id="342" r:id="rId20"/>
    <p:sldId id="343" r:id="rId21"/>
    <p:sldId id="344" r:id="rId22"/>
    <p:sldId id="322" r:id="rId23"/>
    <p:sldId id="324" r:id="rId24"/>
    <p:sldId id="262" r:id="rId25"/>
    <p:sldId id="332" r:id="rId26"/>
    <p:sldId id="325" r:id="rId27"/>
    <p:sldId id="333" r:id="rId28"/>
    <p:sldId id="334" r:id="rId29"/>
    <p:sldId id="335" r:id="rId30"/>
    <p:sldId id="327" r:id="rId31"/>
    <p:sldId id="263" r:id="rId32"/>
    <p:sldId id="348" r:id="rId33"/>
    <p:sldId id="264" r:id="rId34"/>
    <p:sldId id="341" r:id="rId35"/>
    <p:sldId id="347" r:id="rId36"/>
    <p:sldId id="265" r:id="rId37"/>
    <p:sldId id="336" r:id="rId38"/>
    <p:sldId id="337" r:id="rId39"/>
    <p:sldId id="338" r:id="rId40"/>
    <p:sldId id="339" r:id="rId41"/>
    <p:sldId id="267" r:id="rId42"/>
    <p:sldId id="268" r:id="rId43"/>
    <p:sldId id="275" r:id="rId44"/>
    <p:sldId id="276" r:id="rId45"/>
    <p:sldId id="277" r:id="rId46"/>
    <p:sldId id="278" r:id="rId47"/>
    <p:sldId id="279" r:id="rId48"/>
    <p:sldId id="280" r:id="rId49"/>
    <p:sldId id="281" r:id="rId50"/>
    <p:sldId id="282" r:id="rId51"/>
    <p:sldId id="283" r:id="rId52"/>
    <p:sldId id="284" r:id="rId53"/>
    <p:sldId id="285" r:id="rId54"/>
    <p:sldId id="286" r:id="rId55"/>
    <p:sldId id="288" r:id="rId56"/>
    <p:sldId id="298" r:id="rId57"/>
    <p:sldId id="291" r:id="rId58"/>
    <p:sldId id="292" r:id="rId59"/>
    <p:sldId id="293" r:id="rId60"/>
    <p:sldId id="294" r:id="rId61"/>
    <p:sldId id="299" r:id="rId62"/>
    <p:sldId id="301" r:id="rId6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PMingLiU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PMingLiU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PMingLiU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PMingLiU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PMingLiU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PMingLiU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PMingLiU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PMingLiU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PMingLiU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2109" autoAdjust="0"/>
  </p:normalViewPr>
  <p:slideViewPr>
    <p:cSldViewPr>
      <p:cViewPr varScale="1">
        <p:scale>
          <a:sx n="117" d="100"/>
          <a:sy n="117" d="100"/>
        </p:scale>
        <p:origin x="152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5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6.xml"/><Relationship Id="rId13" Type="http://schemas.openxmlformats.org/officeDocument/2006/relationships/slide" Target="slides/slide42.xml"/><Relationship Id="rId18" Type="http://schemas.openxmlformats.org/officeDocument/2006/relationships/slide" Target="slides/slide47.xml"/><Relationship Id="rId26" Type="http://schemas.openxmlformats.org/officeDocument/2006/relationships/slide" Target="slides/slide55.xml"/><Relationship Id="rId3" Type="http://schemas.openxmlformats.org/officeDocument/2006/relationships/slide" Target="slides/slide12.xml"/><Relationship Id="rId21" Type="http://schemas.openxmlformats.org/officeDocument/2006/relationships/slide" Target="slides/slide50.xml"/><Relationship Id="rId7" Type="http://schemas.openxmlformats.org/officeDocument/2006/relationships/slide" Target="slides/slide34.xml"/><Relationship Id="rId12" Type="http://schemas.openxmlformats.org/officeDocument/2006/relationships/slide" Target="slides/slide41.xml"/><Relationship Id="rId17" Type="http://schemas.openxmlformats.org/officeDocument/2006/relationships/slide" Target="slides/slide46.xml"/><Relationship Id="rId25" Type="http://schemas.openxmlformats.org/officeDocument/2006/relationships/slide" Target="slides/slide54.xml"/><Relationship Id="rId2" Type="http://schemas.openxmlformats.org/officeDocument/2006/relationships/slide" Target="slides/slide11.xml"/><Relationship Id="rId16" Type="http://schemas.openxmlformats.org/officeDocument/2006/relationships/slide" Target="slides/slide45.xml"/><Relationship Id="rId20" Type="http://schemas.openxmlformats.org/officeDocument/2006/relationships/slide" Target="slides/slide49.xml"/><Relationship Id="rId29" Type="http://schemas.openxmlformats.org/officeDocument/2006/relationships/slide" Target="slides/slide59.xml"/><Relationship Id="rId1" Type="http://schemas.openxmlformats.org/officeDocument/2006/relationships/slide" Target="slides/slide2.xml"/><Relationship Id="rId6" Type="http://schemas.openxmlformats.org/officeDocument/2006/relationships/slide" Target="slides/slide31.xml"/><Relationship Id="rId11" Type="http://schemas.openxmlformats.org/officeDocument/2006/relationships/slide" Target="slides/slide40.xml"/><Relationship Id="rId24" Type="http://schemas.openxmlformats.org/officeDocument/2006/relationships/slide" Target="slides/slide53.xml"/><Relationship Id="rId32" Type="http://schemas.openxmlformats.org/officeDocument/2006/relationships/slide" Target="slides/slide62.xml"/><Relationship Id="rId5" Type="http://schemas.openxmlformats.org/officeDocument/2006/relationships/slide" Target="slides/slide24.xml"/><Relationship Id="rId15" Type="http://schemas.openxmlformats.org/officeDocument/2006/relationships/slide" Target="slides/slide44.xml"/><Relationship Id="rId23" Type="http://schemas.openxmlformats.org/officeDocument/2006/relationships/slide" Target="slides/slide52.xml"/><Relationship Id="rId28" Type="http://schemas.openxmlformats.org/officeDocument/2006/relationships/slide" Target="slides/slide58.xml"/><Relationship Id="rId10" Type="http://schemas.openxmlformats.org/officeDocument/2006/relationships/slide" Target="slides/slide39.xml"/><Relationship Id="rId19" Type="http://schemas.openxmlformats.org/officeDocument/2006/relationships/slide" Target="slides/slide48.xml"/><Relationship Id="rId31" Type="http://schemas.openxmlformats.org/officeDocument/2006/relationships/slide" Target="slides/slide61.xml"/><Relationship Id="rId4" Type="http://schemas.openxmlformats.org/officeDocument/2006/relationships/slide" Target="slides/slide23.xml"/><Relationship Id="rId9" Type="http://schemas.openxmlformats.org/officeDocument/2006/relationships/slide" Target="slides/slide37.xml"/><Relationship Id="rId14" Type="http://schemas.openxmlformats.org/officeDocument/2006/relationships/slide" Target="slides/slide43.xml"/><Relationship Id="rId22" Type="http://schemas.openxmlformats.org/officeDocument/2006/relationships/slide" Target="slides/slide51.xml"/><Relationship Id="rId27" Type="http://schemas.openxmlformats.org/officeDocument/2006/relationships/slide" Target="slides/slide56.xml"/><Relationship Id="rId30" Type="http://schemas.openxmlformats.org/officeDocument/2006/relationships/slide" Target="slides/slide6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906257A6-267C-26FA-2848-437240D7A5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7C2F9EB7-37E5-2B2E-AF92-8E9811F04E2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D10A67E-B231-D6FE-D45F-4F90EE3D18E4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C63B0BDD-814E-2335-461C-E717B48B6B1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62FCC296-2E06-9BCB-14F0-499399C2A5A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F0754CBC-1593-262A-68FE-2A87D7D37C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FE8E038-0E8E-1C4F-855A-846D561758E3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PMingLiU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PMingLiU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PMingLiU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PMingLiU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PMingLiU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446F3C48-F433-EDFF-2A92-6751D30638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085717C-5ACE-744E-A4A2-D103F930D3C1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B6A0EA11-457D-A9FE-83D7-3192357F3C7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2AB4043C-5708-B598-D275-5EA1A32333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A548B454-9A9C-62FA-FDBF-CCE63360C8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4BAC59F-234B-2941-95F9-08F150A08788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0FC5EECE-D4DB-35B6-D78B-7191125F880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64E8539E-746C-746C-C5A3-87D9F893BC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578946A9-D895-16D9-2E70-120EB7746D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5C300FC-1317-2C48-A272-6AF9235E81A2}" type="slidenum">
              <a:rPr lang="zh-CN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US" altLang="zh-CN">
              <a:latin typeface="Tahoma" panose="020B060403050404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F065A8B2-EAC8-8099-9AB9-DCCC3BF9F7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EF3E1187-10F8-8E46-1C60-3311B10E59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8DBEF237-98C6-C550-D980-3002400340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7E38C7F-80DF-5C4F-A59D-CFB12D2C5A08}" type="slidenum">
              <a:rPr lang="zh-CN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US" altLang="zh-CN">
              <a:latin typeface="Tahoma" panose="020B060403050404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1E10A6F4-7426-FC38-AC59-B457794926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FB589CFC-E5B6-C718-4B35-F38B1477EA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CD995748-7C9D-A486-ACD1-D9B3FB8A18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65DBDC5-7267-AB40-B7DB-2BEE411318A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23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FE17AC63-FBD5-9017-5F18-389971C4388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73B81BC8-C41C-0876-2447-04F403A38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ED29F772-AB95-72B6-3DDF-C7639AEBA2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18B4A98-02D8-8148-94C6-4987BEAAB621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24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B229522-0AFA-594C-2584-CF64B101F44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DB346F9D-6739-59D9-8869-71E548D2A5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F1EEF55F-D357-68B8-EADB-B7244F82E6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44BE890-22DF-4D45-9BFB-52371ECB80F2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30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40963" name="Rectangle 1026">
            <a:extLst>
              <a:ext uri="{FF2B5EF4-FFF2-40B4-BE49-F238E27FC236}">
                <a16:creationId xmlns:a16="http://schemas.microsoft.com/office/drawing/2014/main" id="{03F25806-C5EF-D5AA-D5FA-E2BC2C94F04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1027">
            <a:extLst>
              <a:ext uri="{FF2B5EF4-FFF2-40B4-BE49-F238E27FC236}">
                <a16:creationId xmlns:a16="http://schemas.microsoft.com/office/drawing/2014/main" id="{6604498C-B179-1809-E3C7-DE698DEE64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79A84D1F-0A71-5E01-9438-7A55FDEC41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A2B1AAA-A7D6-EC4E-8029-A8D27E887843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31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5B1373D6-A501-32C8-4995-E36E2E0A10F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11486A58-09D3-399F-CCC8-D4487216D1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CE3CA683-AA5B-0DA4-861B-A756575315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2045AC1-2C9D-754E-9B21-BC4F9BA4FEA0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33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0DA54F6C-1B05-6FF3-50B5-108A1D7BDFF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0043B01-24DC-6847-B7E4-C70979A0AC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A6FE5262-15EB-8383-1826-F6A27D7C3E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8BAE24C-F98B-E94D-941F-B9AE0939CFE7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34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BFE681A0-2BEC-EC5A-173B-5B06B223767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D6260186-7055-4EDF-083E-A3C172A524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4841D63C-E131-571C-4EB7-AADB3C0E35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A24B318-6E9A-2A4A-98D2-4FD890B25033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36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E89ED7A5-6B0F-F402-B891-91B6BB38324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BE9725FE-3585-1FD2-1978-E940EE8F46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E1DE5A96-96B4-66B2-EA8A-CB058DA652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2DA1D73-5416-A242-9B86-1D468BEB8435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37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A00192D7-8C44-984D-C41B-B3F8570DA45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F7121F90-BAA6-C247-8803-8A9D4CF984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BF1EBAFF-20E2-9021-BC9D-A26617EB5A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F09F6FE-C57D-BA47-8436-2D271660375A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38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B68D0BD5-6EEE-EA7E-144C-84E0D619C04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290FDA42-A95F-0DD3-F471-24EFF5C522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086C6533-4D6E-529F-06EC-DF2DB15166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5D419CD-4E5F-3744-AC35-FFF44CDD3AA9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39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A9DF0901-7F1A-EED7-33F5-E021D969191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B911B32C-1601-B0C8-3A93-8B5D0B751B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B9FE291E-2E79-8898-BA79-D34292DCAF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AA86840-98E9-D941-ADF9-48C1B3EF5F9B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40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BD8BD424-9132-BFC3-90D0-E7F74DD43BE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4C2AB68E-EC32-61E1-B5DB-7A81F0AF85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A951FF9A-06F6-5A9E-16FE-83736AA3A5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343B2E3-EE42-CF4D-A02D-FBD2C32BF3E9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41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E3F4A5A0-AF7F-F827-4B55-34556620610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51DF2142-8305-3167-3FC2-AB31FF7BEB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D4396391-3AAA-C9F4-4396-0EF11785CC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A69E285-FE04-B648-BD0A-29BD3246D22C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42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63491" name="Rectangle 1026">
            <a:extLst>
              <a:ext uri="{FF2B5EF4-FFF2-40B4-BE49-F238E27FC236}">
                <a16:creationId xmlns:a16="http://schemas.microsoft.com/office/drawing/2014/main" id="{3CD84C3F-05E6-8C4C-8166-2657AAA94F1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1027">
            <a:extLst>
              <a:ext uri="{FF2B5EF4-FFF2-40B4-BE49-F238E27FC236}">
                <a16:creationId xmlns:a16="http://schemas.microsoft.com/office/drawing/2014/main" id="{BA2C17F6-F3A6-87A7-D9C8-77118AB1B6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14D1026A-B5ED-32CB-AE09-6C690E2B95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FC93365-6CFA-584E-A8F9-C2F95A2D78E7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43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71FC54E3-701C-D059-733C-1DDDCE0AF00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BE6E4067-4773-F0E7-3AA7-30529090E3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910BE1C9-2C79-E73A-8847-F2C063127C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69662C7-0906-F346-8D70-6342528142B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44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845FB771-6417-DE68-6E28-33BB85AAF90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ECCF9F5D-CDE7-4678-468A-84FCCD1941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2B81EB83-D5A1-0E68-CDE0-30DF215724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16D423F-968D-CE4C-B95F-48C4C2AF0F4D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45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E302E18F-8BB1-A3CA-B39B-D4015EF448B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A209FC93-A066-652C-D784-6EFC67F123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78DBAADA-C1FB-2A20-7447-013D5A2059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2429B07-5744-EA46-9AE2-9E2A54EBFA27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46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00290549-8B6E-53B2-FD7A-4AD4DE492C8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6C300B2C-0101-5855-3234-0B13286591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D7777DB7-C3D3-74D6-0700-4CAAAD20B7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B3DD85F-676C-D849-A43F-7651FD3CABF6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47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73731" name="Rectangle 2050">
            <a:extLst>
              <a:ext uri="{FF2B5EF4-FFF2-40B4-BE49-F238E27FC236}">
                <a16:creationId xmlns:a16="http://schemas.microsoft.com/office/drawing/2014/main" id="{45876E03-41DF-35BB-9656-B88883CB8F2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2051">
            <a:extLst>
              <a:ext uri="{FF2B5EF4-FFF2-40B4-BE49-F238E27FC236}">
                <a16:creationId xmlns:a16="http://schemas.microsoft.com/office/drawing/2014/main" id="{4AF75D4A-4073-DD44-B93C-7B43BEE932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1857A4EA-1BCD-3955-1F8E-703C418639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FED9FA4-C350-A148-AB37-A0AE773319C8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48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E85DFA21-41E1-C171-C843-F3167BF0B89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830CC60B-CE8E-62D0-0705-357E703A7C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9E9B92DA-9110-6B8B-EC74-AEF0A7BDD8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237CC06-374E-C349-8DAE-21A043912872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49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B3E90C6B-56B7-4F78-32CF-BAA4C03773C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06986FC7-8CB6-2AED-1A3C-4CC92625E3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0A7FEC23-9FAD-4A0F-B96F-856B03FBDD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9567A6A-DF4E-5646-9CFD-4F2639E23E3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50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8C686D71-4CA4-03C5-E8DE-CD2FE98ACCA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9DC1C64F-746E-0492-24FA-37EB7C6C24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877E1C9D-AD6C-A1B4-75D9-F1F791D204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5CB88A1-3691-CE4A-9E34-BA9882F847D3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51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44701D32-5F85-4050-BC84-15C509418C6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B3FDCBCB-00B1-A4FE-7508-B3A0F2F3F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34CAA171-06EE-549E-4200-6918C37A2C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4A02D3B-B947-F74A-85E2-B7200D2BD706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52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5A347B60-A7E6-3C46-3304-B6439CA1C86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CED399B-3AA9-FE8C-C7CD-757CBFE37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1D0701C2-0A0C-0CA4-BD87-A6B2CE392E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F694306-9608-4244-AF00-7DF1BE53CB60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53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00EF282D-BBDE-9DB5-D2CE-3659A55922A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842CF2E5-0848-E8DC-0783-C7DF512119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46A4AE03-1BB7-E554-89FB-01350E78DB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3883123-E920-A84F-A0A0-566F491858CC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54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D5A61107-A5DD-1737-B346-67277E95431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D3138844-D196-4AE2-837D-E6B6EC468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F17E716D-81BB-B5F2-7B72-AB695B3C6C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DBB55E9-041C-1442-88FE-CFF5539B676B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55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F413305D-83A7-BEC3-A099-4CBDE92C72E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005F56F1-7048-5D37-0A1A-0E1FBD7B27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2F3EBC30-9371-F267-9C3C-964031F6C5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5D1A457-E3F0-8E41-9D48-D1D69249CF47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56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E3A22178-B5A0-9199-89BE-696E6AF4AD3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28D0A8C8-906D-75BA-43B8-5A03312097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495AC043-494D-1274-B058-3AC2D65B50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9F42356-C7DB-7D40-B3BD-EC5DE832A922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57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5D82A6DE-244B-130A-CB06-ED7C9363B47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AB483863-3697-E00B-FF34-719E6C428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B669E081-2969-45B1-CC4D-6762B8CC7E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0C8F79A-27FC-B444-AD9F-C72617D5820B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58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9B1A1BFF-305D-D0F7-4A60-59DAEE5CA64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919CB3B7-0DD8-9F46-817B-BE0413631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E74E7CB-833B-C2FD-D322-5ECCBC4D4D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D9F0EBA-4046-2241-8932-58040B781D6B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59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AB0B161D-B2C1-40B8-8CBB-05E263BF2F4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7D45CBC4-71C2-F4F9-62E7-D4663DDE17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4E18ED16-09FF-E23B-D92D-9F37F85229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FC65FD6-CCAD-5D47-BC3E-8E6E1D05076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60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08A56490-0592-AC21-5285-7205221CEE4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CAE2CF98-FD25-CC25-47B3-06E1A5E6E6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A124C236-C632-9142-2B2C-626348E913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AD0C726-3334-FA46-95C2-6BC8DE0CD02A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61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8A5281E5-3F79-72D3-7D02-9335F4B4CA2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B0CD0AB8-3B20-5529-E240-E5DB071E08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411FA0CA-7CC1-6D62-ABA8-5FC0F94593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78B0891-A5C6-0544-AD68-C99E54E22FCC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62</a:t>
            </a:fld>
            <a:endParaRPr lang="zh-TW" altLang="en-US">
              <a:latin typeface="Tahoma" panose="020B060403050404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7C42DC60-A8B4-E005-C0AF-90FD61D6B78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A74A98F1-7CCA-FE75-46C3-1DC7A7798E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C2D37F3-88B0-05EA-16C8-C81409FE999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43FEB7F-E3C6-B8EB-869B-3B20AD585D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6BEB5D78-A558-9539-F2B9-B6934BC8AF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88E8AE17-6EA2-D48D-992B-9E44F9DC7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E5D3B655-A1B2-EC23-9748-54B5322A94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B1BF3D1-150D-6FE0-79FF-6BEC071F28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6A28CD9-014A-102A-ED8E-BEDAE50CD7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PMingLiU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/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B14D2E7-49BD-68C9-8DB4-50732876B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84B1B6-D124-3BC0-245E-E1DEAE5AC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BB10367-98EC-91D5-91FF-2B0A500BDFD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/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35ECD513-FA55-7A9A-9ECD-D5FBE136EB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ABADBC-1DF9-8342-AA45-5428A92C3AB8}" type="datetime1">
              <a:rPr lang="zh-TW" altLang="en-US"/>
              <a:pPr>
                <a:defRPr/>
              </a:pPr>
              <a:t>2025/12/9</a:t>
            </a:fld>
            <a:endParaRPr lang="zh-TW" alt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C38CC0C9-E7E7-DF22-E8A0-CC120A06B3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362200" y="6248400"/>
            <a:ext cx="4953000" cy="457200"/>
          </a:xfrm>
        </p:spPr>
        <p:txBody>
          <a:bodyPr/>
          <a:lstStyle>
            <a:lvl1pPr>
              <a:defRPr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zh-TW" altLang="en-US"/>
              <a:t>3</a:t>
            </a: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5A717013-EB0B-30F6-A2E2-355ED1EC42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FB537BC-35A1-924C-95B1-C1E8D799332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4467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EC05DBA-C276-690C-B8A1-564698486D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F40623-844C-D246-A5BB-1B5BCA499C7B}" type="datetime1">
              <a:rPr lang="zh-TW" altLang="en-US"/>
              <a:pPr>
                <a:defRPr/>
              </a:pPr>
              <a:t>2025/12/9</a:t>
            </a:fld>
            <a:endParaRPr lang="zh-TW" alt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5F95BDF-85B5-FADA-7909-319B25F7A8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1611EEE-6C9D-4C67-080A-0ED0EF37CA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3 -</a:t>
            </a:r>
            <a:fld id="{3F799D52-7E88-254F-841E-69B18751EBC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6809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06842D5-DD4C-A4B5-9421-C95947DDED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63E804-0AF8-4242-A778-8F6829FDF902}" type="datetime1">
              <a:rPr lang="zh-TW" altLang="en-US"/>
              <a:pPr>
                <a:defRPr/>
              </a:pPr>
              <a:t>2025/12/9</a:t>
            </a:fld>
            <a:endParaRPr lang="zh-TW" alt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21D2AC2-9456-C6C9-1F89-DDD5FE5414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BCF4ADC-42F6-D618-F2E2-2560DF6CAB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3 -</a:t>
            </a:r>
            <a:fld id="{75AB8953-BED1-C14C-8707-A41C49B9EB9E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815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620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8E6C7654-637C-FBC7-F1C4-BDE6B02E82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8AE33-35DE-CF46-9E31-188B29946D6E}" type="datetime1">
              <a:rPr lang="zh-TW" altLang="en-US"/>
              <a:pPr>
                <a:defRPr/>
              </a:pPr>
              <a:t>2025/12/9</a:t>
            </a:fld>
            <a:endParaRPr lang="zh-TW" alt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FCAC5AC-1ED0-6AC3-188B-E078102DB9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ABA94DA-CD40-E0DD-BEB2-5D05154D6F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3 -</a:t>
            </a:r>
            <a:fld id="{FBB7A84C-6681-1241-8DF8-4601E29408ED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7841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F4F5C342-E0C1-3E89-FEC0-67957828CC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A9598-38BD-744C-BC23-FC78ABD37AAE}" type="datetime1">
              <a:rPr lang="zh-TW" altLang="en-US"/>
              <a:pPr>
                <a:defRPr/>
              </a:pPr>
              <a:t>2025/12/9</a:t>
            </a:fld>
            <a:endParaRPr lang="zh-TW" alt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2E639195-5AEC-300A-B465-0BBBF4C109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BE6E299E-6484-4FF7-994B-ED1D8C96C1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3 -</a:t>
            </a:r>
            <a:fld id="{60541721-0862-3E4D-B9B5-39FEB4D3FA7A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492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5FAA1A2-E9F8-CF3B-A26D-3C409C7DC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5EB3B-FB06-3149-89E1-A89285B8930F}" type="datetime1">
              <a:rPr lang="zh-TW" altLang="en-US"/>
              <a:pPr>
                <a:defRPr/>
              </a:pPr>
              <a:t>2025/12/9</a:t>
            </a:fld>
            <a:endParaRPr lang="zh-TW" altLang="en-US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F3B57680-68D8-2326-DE07-C580B9EEE9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CCF8DE7-B1D3-BCE2-A75E-23BC15B46B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3 -</a:t>
            </a:r>
            <a:fld id="{3DDF5443-FCCE-DB43-9DD2-40421E1B822A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702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FF243C62-96D5-7CA2-79F1-2C1A3A04D4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17D880-7B04-7840-A397-E2BBC221E448}" type="datetime1">
              <a:rPr lang="zh-TW" altLang="en-US"/>
              <a:pPr>
                <a:defRPr/>
              </a:pPr>
              <a:t>2025/12/9</a:t>
            </a:fld>
            <a:endParaRPr lang="zh-TW" altLang="en-US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A571F373-715B-12E0-41D3-89BED1A56C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14969451-F927-2696-01AC-6B675A0A2A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3 -</a:t>
            </a:r>
            <a:fld id="{D6D174BD-DBF9-E94B-ACC4-37E802F6FA53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9604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553760B-610E-7D3C-9639-D3987EA69A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50359-80A3-354E-AA03-C17F96D6E402}" type="datetime1">
              <a:rPr lang="zh-TW" altLang="en-US"/>
              <a:pPr>
                <a:defRPr/>
              </a:pPr>
              <a:t>2025/12/9</a:t>
            </a:fld>
            <a:endParaRPr lang="zh-TW" alt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62C3F0C-8BB5-A18F-F66A-9A2D269776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C33398D-40F5-6954-5C79-B995DC88DA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3 -</a:t>
            </a:r>
            <a:fld id="{AC26FA01-C097-9C4B-A3EF-EA974ABA6AA1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9264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79F901A-7363-8762-50C6-2BE2141252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968FB-1889-5044-B8BB-E39EE50AD3C5}" type="datetime1">
              <a:rPr lang="zh-TW" altLang="en-US"/>
              <a:pPr>
                <a:defRPr/>
              </a:pPr>
              <a:t>2025/12/9</a:t>
            </a:fld>
            <a:endParaRPr lang="zh-TW" alt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93B4CEC-B3AD-D985-E83F-60C2851743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0938BAE-0F5F-1955-0534-31ED9E7951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3 -</a:t>
            </a:r>
            <a:fld id="{95DCC7C4-9274-F046-BBBA-EBCDCADF893D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009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B542F76-3AF2-9713-2EFB-B398701BBE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17D653-9F2D-5C42-9598-849A0D2DFFD9}" type="datetime1">
              <a:rPr lang="zh-TW" altLang="en-US"/>
              <a:pPr>
                <a:defRPr/>
              </a:pPr>
              <a:t>2025/12/9</a:t>
            </a:fld>
            <a:endParaRPr lang="zh-TW" alt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BF6B7AD-29AD-E346-EB16-3176AEC6C1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9004413-FA3B-0987-FE67-47158E0331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3 -</a:t>
            </a:r>
            <a:fld id="{FB788F54-8FD4-BE4E-8503-21B5EB2CF43F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8026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07175" y="381000"/>
            <a:ext cx="1947863" cy="5791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5692775" cy="5791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BD8BA65-1417-5BD4-0D7B-1D61ACF386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19408-981B-4A4C-8BCC-8E4D811AA2B9}" type="datetime1">
              <a:rPr lang="zh-TW" altLang="en-US"/>
              <a:pPr>
                <a:defRPr/>
              </a:pPr>
              <a:t>2025/12/9</a:t>
            </a:fld>
            <a:endParaRPr lang="zh-TW" alt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92EEEC2-707D-0EED-3FC0-D369822C65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FFE84AB-708B-88F0-347D-C8DE1D72A6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3 -</a:t>
            </a:r>
            <a:fld id="{FB6A18D3-ED61-5143-85B4-E8A0356E3E45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5411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>
            <a:extLst>
              <a:ext uri="{FF2B5EF4-FFF2-40B4-BE49-F238E27FC236}">
                <a16:creationId xmlns:a16="http://schemas.microsoft.com/office/drawing/2014/main" id="{EF5BBEC9-AA6B-D4BA-1A18-7476BC31B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10">
            <a:extLst>
              <a:ext uri="{FF2B5EF4-FFF2-40B4-BE49-F238E27FC236}">
                <a16:creationId xmlns:a16="http://schemas.microsoft.com/office/drawing/2014/main" id="{E62602AC-B35B-33C1-2190-C955C50A8D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86375FA9-5B59-4802-77E7-91FAAA2FA75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FA903A32-C574-1C49-929B-0C48260C59E9}" type="datetime1">
              <a:rPr lang="zh-TW" altLang="en-US"/>
              <a:pPr>
                <a:defRPr/>
              </a:pPr>
              <a:t>2025/12/9</a:t>
            </a:fld>
            <a:endParaRPr lang="zh-TW" altLang="en-US"/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FEC033F6-19BF-CDDB-71DB-23BCD7FC4E8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33827653-04D8-2C6B-AA27-0473447AC95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3 -</a:t>
            </a:r>
            <a:fld id="{82871105-96D3-9941-A82F-CD06FD954C2A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PMingLiU" pitchFamily="18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PMingLiU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PMingLiU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PMingLiU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PMingLiU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PMingLiU" pitchFamily="18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PMingLiU" pitchFamily="18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PMingLiU" pitchFamily="18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PMingLiU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PMingLiU" pitchFamily="18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9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7" Type="http://schemas.openxmlformats.org/officeDocument/2006/relationships/image" Target="../media/image10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11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13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14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33.e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48.png"/><Relationship Id="rId7" Type="http://schemas.openxmlformats.org/officeDocument/2006/relationships/image" Target="../media/image50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49.e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51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5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59.em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7C946981-C1D5-B93D-EA91-5400FC49C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8025" y="1428750"/>
            <a:ext cx="7793038" cy="1143000"/>
          </a:xfrm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zh-TW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Greedy Method</a:t>
            </a:r>
            <a:endParaRPr lang="en-US" altLang="zh-TW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TextBox 3">
            <a:extLst>
              <a:ext uri="{FF2B5EF4-FFF2-40B4-BE49-F238E27FC236}">
                <a16:creationId xmlns:a16="http://schemas.microsoft.com/office/drawing/2014/main" id="{3D8068B6-5004-7D8A-72FE-0909D1055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4786313"/>
            <a:ext cx="4011612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Dr. Md. Ali Hossain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Email. Ali.Hossain@ruet.ac.bd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編號版面配置區 5">
            <a:extLst>
              <a:ext uri="{FF2B5EF4-FFF2-40B4-BE49-F238E27FC236}">
                <a16:creationId xmlns:a16="http://schemas.microsoft.com/office/drawing/2014/main" id="{DE73E5D1-18FE-1CAB-4CD2-F0EAA77D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8B3DFF92-C745-FE45-A0F9-D524ABA12B19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323516E7-28E9-F945-6747-18E2A9AB1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93038" cy="914400"/>
          </a:xfrm>
        </p:spPr>
        <p:txBody>
          <a:bodyPr/>
          <a:lstStyle/>
          <a:p>
            <a:pPr eaLnBrk="1" hangingPunct="1"/>
            <a:r>
              <a:rPr lang="en-US" altLang="zh-TW" b="1">
                <a:solidFill>
                  <a:srgbClr val="572314"/>
                </a:solidFill>
                <a:latin typeface="Times New Roman" panose="02020603050405020304" pitchFamily="18" charset="0"/>
              </a:rPr>
              <a:t>Greedy Method</a:t>
            </a:r>
            <a:endParaRPr lang="zh-TW" altLang="en-US" b="1">
              <a:solidFill>
                <a:srgbClr val="572314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D02CD82C-8D45-E6E9-0A3F-2B0199C1B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214438"/>
            <a:ext cx="8786812" cy="5429250"/>
          </a:xfrm>
        </p:spPr>
        <p:txBody>
          <a:bodyPr/>
          <a:lstStyle/>
          <a:p>
            <a:pPr algn="just" eaLnBrk="1" hangingPunct="1"/>
            <a:r>
              <a:rPr lang="en-US" altLang="zh-TW" sz="3000">
                <a:latin typeface="Times New Roman" panose="02020603050405020304" pitchFamily="18" charset="0"/>
                <a:cs typeface="Times New Roman" panose="02020603050405020304" pitchFamily="18" charset="0"/>
              </a:rPr>
              <a:t>It is a design technique applied to those problems having </a:t>
            </a:r>
            <a:r>
              <a:rPr lang="en-US" altLang="zh-TW" sz="30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000">
                <a:latin typeface="Times New Roman" panose="02020603050405020304" pitchFamily="18" charset="0"/>
                <a:cs typeface="Times New Roman" panose="02020603050405020304" pitchFamily="18" charset="0"/>
              </a:rPr>
              <a:t>inputs and requires us to obtain a subset that satisfies some constraints.</a:t>
            </a:r>
          </a:p>
          <a:p>
            <a:pPr algn="just" eaLnBrk="1" hangingPunct="1"/>
            <a:endParaRPr lang="en-US" altLang="zh-TW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Any subset that satisfies these constraints is called a </a:t>
            </a:r>
            <a:r>
              <a:rPr lang="en-US" altLang="en-US" sz="3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feasible solution</a:t>
            </a:r>
            <a:r>
              <a:rPr lang="en-US" alt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en-US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3000">
                <a:latin typeface="Times New Roman" panose="02020603050405020304" pitchFamily="18" charset="0"/>
                <a:cs typeface="Times New Roman" panose="02020603050405020304" pitchFamily="18" charset="0"/>
              </a:rPr>
              <a:t>Ultimate goal is to find a feasible solution that </a:t>
            </a:r>
            <a:r>
              <a:rPr lang="en-US" altLang="zh-TW" sz="3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minimizes</a:t>
            </a:r>
            <a:r>
              <a:rPr lang="en-US" altLang="zh-TW" sz="300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zh-TW" sz="3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maximizes</a:t>
            </a:r>
            <a:r>
              <a:rPr lang="en-US" altLang="zh-TW" sz="3000">
                <a:latin typeface="Times New Roman" panose="02020603050405020304" pitchFamily="18" charset="0"/>
                <a:cs typeface="Times New Roman" panose="02020603050405020304" pitchFamily="18" charset="0"/>
              </a:rPr>
              <a:t> an objective function; this solution is known as optimal solution.</a:t>
            </a:r>
            <a:endParaRPr lang="zh-TW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49" name="Straight Connector 5">
            <a:extLst>
              <a:ext uri="{FF2B5EF4-FFF2-40B4-BE49-F238E27FC236}">
                <a16:creationId xmlns:a16="http://schemas.microsoft.com/office/drawing/2014/main" id="{57906607-8A0F-A5C2-C5B6-E314F345DB6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D2B75A50-6A48-D627-BAD6-B4A98711D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0"/>
            <a:ext cx="7793037" cy="914400"/>
          </a:xfrm>
        </p:spPr>
        <p:txBody>
          <a:bodyPr/>
          <a:lstStyle/>
          <a:p>
            <a:r>
              <a:rPr lang="en-US" altLang="zh-TW" b="1">
                <a:solidFill>
                  <a:srgbClr val="572314"/>
                </a:solidFill>
                <a:latin typeface="Times New Roman" panose="02020603050405020304" pitchFamily="18" charset="0"/>
              </a:rPr>
              <a:t>Greedy Algorithm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1C6EBF9C-95B7-7F3A-F312-DB3B94877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813" y="1143000"/>
            <a:ext cx="7772400" cy="5500688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// a[1:n] contains the </a:t>
            </a:r>
            <a:r>
              <a:rPr lang="en-US" altLang="en-US" sz="25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inputs</a:t>
            </a:r>
          </a:p>
          <a:p>
            <a:pPr>
              <a:buFont typeface="Wingdings" pitchFamily="2" charset="2"/>
              <a:buNone/>
            </a:pPr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#Algorithm</a:t>
            </a: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Greedy</a:t>
            </a: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( a, n )</a:t>
            </a:r>
          </a:p>
          <a:p>
            <a:pPr>
              <a:buFont typeface="Wingdings" pitchFamily="2" charset="2"/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solution = Ø; // Initialize the solution</a:t>
            </a:r>
          </a:p>
          <a:p>
            <a:pPr>
              <a:buFont typeface="Wingdings" pitchFamily="2" charset="2"/>
              <a:buNone/>
            </a:pPr>
            <a:r>
              <a:rPr lang="nn-NO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for i = 1 to n do</a:t>
            </a:r>
          </a:p>
          <a:p>
            <a:pPr>
              <a:buFont typeface="Wingdings" pitchFamily="2" charset="2"/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( a );</a:t>
            </a:r>
          </a:p>
          <a:p>
            <a:pPr>
              <a:buFont typeface="Wingdings" pitchFamily="2" charset="2"/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if  </a:t>
            </a:r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Feasible</a:t>
            </a: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( solution, x ) ) </a:t>
            </a:r>
            <a:r>
              <a:rPr lang="en-US" altLang="en-US" sz="2500" i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</a:p>
          <a:p>
            <a:pPr>
              <a:buFont typeface="Wingdings" pitchFamily="2" charset="2"/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solution = </a:t>
            </a:r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Union</a:t>
            </a: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( solution, x)</a:t>
            </a: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buFont typeface="Wingdings" pitchFamily="2" charset="2"/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return ( solution );</a:t>
            </a:r>
          </a:p>
          <a:p>
            <a:pPr>
              <a:buFont typeface="Wingdings" pitchFamily="2" charset="2"/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3DC20591-AEEE-9DCA-092D-844E8FA0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0E4C3B7C-1B1D-E444-9811-C701F912D82C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cxnSp>
        <p:nvCxnSpPr>
          <p:cNvPr id="8197" name="Straight Connector 4">
            <a:extLst>
              <a:ext uri="{FF2B5EF4-FFF2-40B4-BE49-F238E27FC236}">
                <a16:creationId xmlns:a16="http://schemas.microsoft.com/office/drawing/2014/main" id="{F0760A0E-591C-3A60-D68A-905C866A10C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52E1EA6C-13D8-1F42-884D-BC27ACF9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7793038" cy="914400"/>
          </a:xfrm>
        </p:spPr>
        <p:txBody>
          <a:bodyPr/>
          <a:lstStyle/>
          <a:p>
            <a:r>
              <a:rPr lang="en-US" altLang="zh-TW" b="1">
                <a:solidFill>
                  <a:srgbClr val="572314"/>
                </a:solidFill>
                <a:latin typeface="Times New Roman" panose="02020603050405020304" pitchFamily="18" charset="0"/>
              </a:rPr>
              <a:t>Knapsack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993E3110-BDCE-28E6-E84C-484E5AB7B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8" y="1524000"/>
            <a:ext cx="8177212" cy="3333750"/>
          </a:xfrm>
        </p:spPr>
        <p:txBody>
          <a:bodyPr/>
          <a:lstStyle/>
          <a:p>
            <a:pPr algn="just"/>
            <a:r>
              <a:rPr lang="en-US" altLang="en-US">
                <a:latin typeface="Times New Roman" panose="02020603050405020304" pitchFamily="18" charset="0"/>
              </a:rPr>
              <a:t>A 1998 study of the Stony Brook University Algorithm Repository showed that, out of 75 algorithmic problems, the knapsack problem was the </a:t>
            </a:r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</a:rPr>
              <a:t>18</a:t>
            </a:r>
            <a:r>
              <a:rPr lang="en-US" altLang="en-US" baseline="30000">
                <a:solidFill>
                  <a:srgbClr val="C00000"/>
                </a:solidFill>
                <a:latin typeface="Times New Roman" panose="02020603050405020304" pitchFamily="18" charset="0"/>
              </a:rPr>
              <a:t>th</a:t>
            </a:r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</a:rPr>
              <a:t> most popular </a:t>
            </a:r>
            <a:r>
              <a:rPr lang="en-US" altLang="en-US">
                <a:latin typeface="Times New Roman" panose="02020603050405020304" pitchFamily="18" charset="0"/>
              </a:rPr>
              <a:t>and the </a:t>
            </a:r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baseline="30000">
                <a:solidFill>
                  <a:srgbClr val="C00000"/>
                </a:solidFill>
                <a:latin typeface="Times New Roman" panose="02020603050405020304" pitchFamily="18" charset="0"/>
              </a:rPr>
              <a:t>th</a:t>
            </a:r>
            <a:r>
              <a:rPr lang="en-US" altLang="en-US">
                <a:latin typeface="Times New Roman" panose="02020603050405020304" pitchFamily="18" charset="0"/>
              </a:rPr>
              <a:t> most needed after kd-trees, suffix trees, and the bin packing problem</a:t>
            </a:r>
            <a:endParaRPr lang="en-US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BED8156D-C57C-313E-C05A-F63F216C3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C6CACC19-A54C-6842-B694-7E19F94C1701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cxnSp>
        <p:nvCxnSpPr>
          <p:cNvPr id="9221" name="Straight Connector 4">
            <a:extLst>
              <a:ext uri="{FF2B5EF4-FFF2-40B4-BE49-F238E27FC236}">
                <a16:creationId xmlns:a16="http://schemas.microsoft.com/office/drawing/2014/main" id="{EDB4A35C-6A19-44BC-4622-420A596F78E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2C69B25E-A5FD-B8F9-B10F-FC4AC806D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7793038" cy="914400"/>
          </a:xfrm>
        </p:spPr>
        <p:txBody>
          <a:bodyPr/>
          <a:lstStyle/>
          <a:p>
            <a:r>
              <a:rPr lang="en-US" altLang="zh-TW" b="1">
                <a:solidFill>
                  <a:srgbClr val="572314"/>
                </a:solidFill>
                <a:latin typeface="Times New Roman" panose="02020603050405020304" pitchFamily="18" charset="0"/>
              </a:rPr>
              <a:t>Knapsack problem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580149EA-8B6B-9FFB-144E-D0AE4895F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8" y="1524000"/>
            <a:ext cx="8177212" cy="4905375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Given a set of items, each with a mass and a value, determine the number of each item to include in a collection so that the total weight is less than or equal to a given limit and the total value is as 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large</a:t>
            </a:r>
            <a:r>
              <a:rPr lang="en-US" altLang="en-US">
                <a:latin typeface="Times New Roman" panose="02020603050405020304" pitchFamily="18" charset="0"/>
              </a:rPr>
              <a:t> as possible</a:t>
            </a:r>
          </a:p>
          <a:p>
            <a:endParaRPr lang="en-US" altLang="en-US" sz="1600">
              <a:latin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</a:rPr>
              <a:t>It derives its name from the problem faced by someone who is 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constrained by a fixed-size knapsack</a:t>
            </a:r>
            <a:r>
              <a:rPr lang="en-US" altLang="en-US">
                <a:latin typeface="Times New Roman" panose="02020603050405020304" pitchFamily="18" charset="0"/>
              </a:rPr>
              <a:t> and must fill it with the most valuable items</a:t>
            </a:r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F7A6E114-BB74-D947-B35D-C0E0F5631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3604A200-E254-EC45-B611-4ADE423EBD90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cxnSp>
        <p:nvCxnSpPr>
          <p:cNvPr id="10245" name="Straight Connector 4">
            <a:extLst>
              <a:ext uri="{FF2B5EF4-FFF2-40B4-BE49-F238E27FC236}">
                <a16:creationId xmlns:a16="http://schemas.microsoft.com/office/drawing/2014/main" id="{718A824F-D12B-FE16-F839-1696BFC7EBD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640083FA-B2E2-95F3-51DC-5727862C4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0"/>
            <a:ext cx="7793038" cy="928688"/>
          </a:xfrm>
        </p:spPr>
        <p:txBody>
          <a:bodyPr/>
          <a:lstStyle/>
          <a:p>
            <a:r>
              <a:rPr lang="en-US" altLang="zh-TW" sz="3200" b="1">
                <a:solidFill>
                  <a:srgbClr val="572314"/>
                </a:solidFill>
                <a:latin typeface="Times New Roman" panose="02020603050405020304" pitchFamily="18" charset="0"/>
              </a:rPr>
              <a:t>Fill Your Shopping Bag: Save Money!!!</a:t>
            </a:r>
          </a:p>
        </p:txBody>
      </p:sp>
      <p:sp>
        <p:nvSpPr>
          <p:cNvPr id="11267" name="Slide Number Placeholder 3">
            <a:extLst>
              <a:ext uri="{FF2B5EF4-FFF2-40B4-BE49-F238E27FC236}">
                <a16:creationId xmlns:a16="http://schemas.microsoft.com/office/drawing/2014/main" id="{F92277EC-33F3-76BD-6D2A-0DA3DBBB3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92750F61-AB62-0D4E-969F-C9A398F99B82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A6C6A8D-BA00-6679-CFF5-397507B34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4953000"/>
            <a:ext cx="8572500" cy="1690688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which boxes should be chosen to maximize the amount of money while still keeping the overall weight under or equal to 15 kg?</a:t>
            </a:r>
            <a:endParaRPr lang="en-US" altLang="en-US"/>
          </a:p>
        </p:txBody>
      </p:sp>
      <p:pic>
        <p:nvPicPr>
          <p:cNvPr id="11269" name="Picture 11" descr="Pages from knapsack-140923125527-phpapp01.jpg">
            <a:extLst>
              <a:ext uri="{FF2B5EF4-FFF2-40B4-BE49-F238E27FC236}">
                <a16:creationId xmlns:a16="http://schemas.microsoft.com/office/drawing/2014/main" id="{BA2E7718-5ABB-B273-B2F1-9FB4A18BB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0" y="1162050"/>
            <a:ext cx="4165600" cy="362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48C2148-DFAA-90DD-F2FE-A8510BD83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4522788"/>
            <a:ext cx="77866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Answer: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 yellow boxes and 3 grey boxes 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271" name="Straight Connector 6">
            <a:extLst>
              <a:ext uri="{FF2B5EF4-FFF2-40B4-BE49-F238E27FC236}">
                <a16:creationId xmlns:a16="http://schemas.microsoft.com/office/drawing/2014/main" id="{0BCCEDC4-83BF-48C9-5593-B6CEC10D2BF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06C7A5DF-652C-C372-705B-F68206726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0"/>
            <a:ext cx="7793038" cy="914400"/>
          </a:xfrm>
        </p:spPr>
        <p:txBody>
          <a:bodyPr/>
          <a:lstStyle/>
          <a:p>
            <a:r>
              <a:rPr lang="en-US" altLang="zh-TW" b="1">
                <a:solidFill>
                  <a:srgbClr val="572314"/>
                </a:solidFill>
                <a:latin typeface="Times New Roman" panose="02020603050405020304" pitchFamily="18" charset="0"/>
              </a:rPr>
              <a:t>Knapsack Problem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06FB89FC-FD3F-E115-A9A9-38EF003A3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1285875"/>
            <a:ext cx="8786812" cy="4862513"/>
          </a:xfrm>
        </p:spPr>
        <p:txBody>
          <a:bodyPr/>
          <a:lstStyle/>
          <a:p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To get maximum profit, such that weight in the knapsack do not exceed its capacity.</a:t>
            </a:r>
          </a:p>
          <a:p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Given </a:t>
            </a:r>
            <a:r>
              <a:rPr lang="en-US" altLang="en-US" sz="2800" b="1">
                <a:solidFill>
                  <a:srgbClr val="C00000"/>
                </a:solidFill>
                <a:latin typeface="Times New Roman,Bold"/>
              </a:rPr>
              <a:t>‘n’ </a:t>
            </a: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objects and a knapsack(bag).</a:t>
            </a:r>
          </a:p>
          <a:p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Object </a:t>
            </a:r>
            <a:r>
              <a:rPr lang="en-US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have a weight </a:t>
            </a:r>
            <a:r>
              <a:rPr lang="en-US" altLang="en-US" sz="2800" b="1" i="1">
                <a:solidFill>
                  <a:srgbClr val="C000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2800" b="1" i="1" baseline="-25000">
                <a:solidFill>
                  <a:srgbClr val="C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800" i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and the knapsack has a capacity </a:t>
            </a:r>
            <a:r>
              <a:rPr lang="en-US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  <a:p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if object </a:t>
            </a:r>
            <a:r>
              <a:rPr lang="en-US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 is placed into knapsack then a profit of </a:t>
            </a:r>
            <a:r>
              <a:rPr lang="en-US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 sz="2800" b="1" baseline="-25000">
                <a:solidFill>
                  <a:srgbClr val="C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is earned.</a:t>
            </a:r>
          </a:p>
          <a:p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Since the knapsack capacity is </a:t>
            </a:r>
            <a:r>
              <a:rPr lang="en-US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, we require the total weight of all chosen objects to be at most </a:t>
            </a:r>
            <a:r>
              <a:rPr lang="en-US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US" altLang="en-US" sz="3000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336C8178-06F2-BC8A-8632-521E30753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954AA8B3-D43F-2A4B-8FEB-5DAC4DB81A44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cxnSp>
        <p:nvCxnSpPr>
          <p:cNvPr id="12293" name="Straight Connector 4">
            <a:extLst>
              <a:ext uri="{FF2B5EF4-FFF2-40B4-BE49-F238E27FC236}">
                <a16:creationId xmlns:a16="http://schemas.microsoft.com/office/drawing/2014/main" id="{C0D98757-0DD9-FCCF-22BC-7B172E57902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30BA331D-0C5A-CDCD-DBD1-0E9DAB5DB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71438"/>
            <a:ext cx="7793038" cy="914401"/>
          </a:xfrm>
        </p:spPr>
        <p:txBody>
          <a:bodyPr/>
          <a:lstStyle/>
          <a:p>
            <a:r>
              <a:rPr lang="en-US" altLang="en-US" b="1">
                <a:solidFill>
                  <a:srgbClr val="572314"/>
                </a:solidFill>
                <a:latin typeface="Times New Roman" panose="02020603050405020304" pitchFamily="18" charset="0"/>
              </a:rPr>
              <a:t>Knapsack Problem Contd..</a:t>
            </a:r>
            <a:endParaRPr lang="en-US" altLang="en-US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4F7EF0A7-02AB-405C-387C-6E1E4956F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2714625"/>
            <a:ext cx="8501063" cy="1785938"/>
          </a:xfrm>
        </p:spPr>
        <p:txBody>
          <a:bodyPr/>
          <a:lstStyle/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&gt; m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problem!!!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. Bag is full already)</a:t>
            </a: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,Bold"/>
              </a:rPr>
              <a:t>≤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m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(item placed such that not to exceed the weight of bag)</a:t>
            </a:r>
            <a:endParaRPr lang="en-US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B87301A3-0DD3-0B31-0762-EA33E4D77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BF482E78-C120-2B4B-A363-184F0356BBB5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cxnSp>
        <p:nvCxnSpPr>
          <p:cNvPr id="13317" name="Straight Connector 4">
            <a:extLst>
              <a:ext uri="{FF2B5EF4-FFF2-40B4-BE49-F238E27FC236}">
                <a16:creationId xmlns:a16="http://schemas.microsoft.com/office/drawing/2014/main" id="{C69F95FB-56CA-0FF0-C0C9-624E8607A60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4E187977-373B-6F39-C357-FEE9BE48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71438"/>
            <a:ext cx="7793038" cy="914401"/>
          </a:xfrm>
        </p:spPr>
        <p:txBody>
          <a:bodyPr/>
          <a:lstStyle/>
          <a:p>
            <a:r>
              <a:rPr lang="en-US" altLang="en-US" b="1">
                <a:solidFill>
                  <a:srgbClr val="572314"/>
                </a:solidFill>
                <a:latin typeface="Times New Roman" panose="02020603050405020304" pitchFamily="18" charset="0"/>
              </a:rPr>
              <a:t>Knapsack Problem Contd..</a:t>
            </a:r>
            <a:endParaRPr lang="en-US" altLang="en-US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21B17AB2-EB2F-79CC-43B4-2A4DEAE72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1524000"/>
            <a:ext cx="8715375" cy="1190625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Knapsack problem can be summarize as follows:</a:t>
            </a: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515E3BB3-DBD0-9FF2-83D8-B2D8B837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A3ABF486-818D-204C-A017-B5CC365379D1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graphicFrame>
        <p:nvGraphicFramePr>
          <p:cNvPr id="1026" name="Object 4">
            <a:extLst>
              <a:ext uri="{FF2B5EF4-FFF2-40B4-BE49-F238E27FC236}">
                <a16:creationId xmlns:a16="http://schemas.microsoft.com/office/drawing/2014/main" id="{E912B5EA-DA0E-024D-AFB3-82608D2D9E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9338" y="2643188"/>
          <a:ext cx="5108575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059600" imgH="8191500" progId="Equation.3">
                  <p:embed/>
                </p:oleObj>
              </mc:Choice>
              <mc:Fallback>
                <p:oleObj name="Equation" r:id="rId2" imgW="45059600" imgH="8191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2643188"/>
                        <a:ext cx="5108575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">
            <a:extLst>
              <a:ext uri="{FF2B5EF4-FFF2-40B4-BE49-F238E27FC236}">
                <a16:creationId xmlns:a16="http://schemas.microsoft.com/office/drawing/2014/main" id="{884AAAFA-0800-B23B-5B7C-A61AB5A04D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8788" y="3571875"/>
          <a:ext cx="57721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901600" imgH="8191500" progId="Equation.3">
                  <p:embed/>
                </p:oleObj>
              </mc:Choice>
              <mc:Fallback>
                <p:oleObj name="Equation" r:id="rId4" imgW="50901600" imgH="8191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788" y="3571875"/>
                        <a:ext cx="577215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>
            <a:extLst>
              <a:ext uri="{FF2B5EF4-FFF2-40B4-BE49-F238E27FC236}">
                <a16:creationId xmlns:a16="http://schemas.microsoft.com/office/drawing/2014/main" id="{481A7D07-026C-C1C2-5827-E32F60487D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4438" y="4859338"/>
          <a:ext cx="630237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587900" imgH="4394200" progId="Equation.3">
                  <p:embed/>
                </p:oleObj>
              </mc:Choice>
              <mc:Fallback>
                <p:oleObj name="Equation" r:id="rId6" imgW="55587900" imgH="4394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4859338"/>
                        <a:ext cx="6302375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344" name="Straight Connector 7">
            <a:extLst>
              <a:ext uri="{FF2B5EF4-FFF2-40B4-BE49-F238E27FC236}">
                <a16:creationId xmlns:a16="http://schemas.microsoft.com/office/drawing/2014/main" id="{8AC627BD-AF8C-71E9-BA46-18358019016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47569848-2AB2-C0BD-2D93-F8F0DAC7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7793038" cy="914400"/>
          </a:xfrm>
        </p:spPr>
        <p:txBody>
          <a:bodyPr/>
          <a:lstStyle/>
          <a:p>
            <a:r>
              <a:rPr lang="en-US" altLang="zh-TW" b="1">
                <a:solidFill>
                  <a:srgbClr val="572314"/>
                </a:solidFill>
                <a:latin typeface="Times New Roman" panose="02020603050405020304" pitchFamily="18" charset="0"/>
              </a:rPr>
              <a:t>Types of Knapsack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73E0E-C8A7-B5E4-38D7-FFD75B81E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Clr>
                <a:srgbClr val="0033CC"/>
              </a:buClr>
              <a:buSzPct val="75000"/>
              <a:buFont typeface="Wingdings" pitchFamily="2" charset="2"/>
              <a:buNone/>
              <a:defRPr/>
            </a:pPr>
            <a:r>
              <a:rPr kumimoji="0" lang="en-US" altLang="zh-CN" sz="3000" dirty="0">
                <a:solidFill>
                  <a:srgbClr val="000000"/>
                </a:solidFill>
                <a:latin typeface="Times New Roman"/>
                <a:ea typeface="SimSun" pitchFamily="2" charset="-122"/>
              </a:rPr>
              <a:t>There are two versions of the problem:</a:t>
            </a:r>
          </a:p>
          <a:p>
            <a:pPr marL="609600" indent="-609600">
              <a:buClr>
                <a:srgbClr val="002060"/>
              </a:buClr>
              <a:buSzPct val="150000"/>
              <a:buFont typeface="Wingdings" pitchFamily="2" charset="2"/>
              <a:buChar char="§"/>
              <a:defRPr/>
            </a:pPr>
            <a:r>
              <a:rPr lang="en-US" altLang="zh-CN" sz="2600" b="1" dirty="0">
                <a:solidFill>
                  <a:srgbClr val="572314"/>
                </a:solidFill>
                <a:latin typeface="Times New Roman"/>
                <a:cs typeface="+mj-cs"/>
              </a:rPr>
              <a:t>“0-1 knapsack problem”</a:t>
            </a:r>
          </a:p>
          <a:p>
            <a:pPr marL="1200150" lvl="2" indent="-342900">
              <a:spcBef>
                <a:spcPct val="0"/>
              </a:spcBef>
              <a:buClrTx/>
              <a:buSzTx/>
              <a:buFont typeface="Wingdings" pitchFamily="2" charset="2"/>
              <a:buChar char="§"/>
              <a:defRPr/>
            </a:pPr>
            <a:r>
              <a:rPr kumimoji="0" lang="en-US" altLang="zh-CN" sz="2200" dirty="0">
                <a:solidFill>
                  <a:srgbClr val="000000"/>
                </a:solidFill>
                <a:latin typeface="Times New Roman"/>
                <a:ea typeface="SimSun" pitchFamily="2" charset="-122"/>
              </a:rPr>
              <a:t>Items are indivisible; you either take an item or not. Some special instances can be solved with </a:t>
            </a:r>
            <a:r>
              <a:rPr kumimoji="0" lang="en-US" altLang="zh-CN" sz="2200" i="1" dirty="0">
                <a:solidFill>
                  <a:srgbClr val="C00000"/>
                </a:solidFill>
                <a:latin typeface="Times New Roman"/>
                <a:ea typeface="SimSun" pitchFamily="2" charset="-122"/>
              </a:rPr>
              <a:t>dynamic programming</a:t>
            </a:r>
          </a:p>
          <a:p>
            <a:pPr marL="1200150" lvl="2" indent="-342900">
              <a:spcBef>
                <a:spcPct val="0"/>
              </a:spcBef>
              <a:buClrTx/>
              <a:buSzTx/>
              <a:buFont typeface="Wingdings" pitchFamily="2" charset="2"/>
              <a:buNone/>
              <a:defRPr/>
            </a:pPr>
            <a:endParaRPr kumimoji="0" lang="en-US" altLang="zh-CN" sz="2200" i="1" dirty="0">
              <a:solidFill>
                <a:srgbClr val="C00000"/>
              </a:solidFill>
              <a:latin typeface="Times New Roman"/>
              <a:ea typeface="SimSun" pitchFamily="2" charset="-122"/>
            </a:endParaRPr>
          </a:p>
          <a:p>
            <a:pPr marL="609600" indent="-609600">
              <a:buClr>
                <a:srgbClr val="002060"/>
              </a:buClr>
              <a:buSzPct val="150000"/>
              <a:buFont typeface="Wingdings" pitchFamily="2" charset="2"/>
              <a:buChar char="§"/>
              <a:defRPr/>
            </a:pPr>
            <a:r>
              <a:rPr lang="en-US" altLang="zh-CN" sz="2600" b="1" dirty="0">
                <a:solidFill>
                  <a:srgbClr val="572314"/>
                </a:solidFill>
                <a:latin typeface="Times New Roman"/>
                <a:cs typeface="+mj-cs"/>
              </a:rPr>
              <a:t>“Fractional knapsack problem”</a:t>
            </a:r>
          </a:p>
          <a:p>
            <a:pPr marL="1200150" lvl="2" indent="-342900">
              <a:spcBef>
                <a:spcPct val="0"/>
              </a:spcBef>
              <a:buClr>
                <a:srgbClr val="000000"/>
              </a:buClr>
              <a:buSzPct val="100000"/>
              <a:buFont typeface="Wingdings" pitchFamily="2" charset="2"/>
              <a:buChar char="§"/>
              <a:defRPr/>
            </a:pPr>
            <a:r>
              <a:rPr kumimoji="0" lang="en-US" altLang="zh-CN" sz="2200" dirty="0">
                <a:solidFill>
                  <a:srgbClr val="000000"/>
                </a:solidFill>
                <a:latin typeface="Times New Roman"/>
                <a:ea typeface="SimSun" pitchFamily="2" charset="-122"/>
              </a:rPr>
              <a:t>Items are divisible: you can take any fraction of an item </a:t>
            </a:r>
            <a:endParaRPr kumimoji="0" lang="en-US" altLang="zh-CN" sz="2200" dirty="0">
              <a:solidFill>
                <a:srgbClr val="0033CC"/>
              </a:solidFill>
              <a:latin typeface="Times New Roman"/>
              <a:ea typeface="SimSun" pitchFamily="2" charset="-122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844D4FC1-5730-CA68-91A2-1C2080B2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8061EDCF-AFEA-3748-80EC-22FF620958C9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cxnSp>
        <p:nvCxnSpPr>
          <p:cNvPr id="15365" name="Straight Connector 4">
            <a:extLst>
              <a:ext uri="{FF2B5EF4-FFF2-40B4-BE49-F238E27FC236}">
                <a16:creationId xmlns:a16="http://schemas.microsoft.com/office/drawing/2014/main" id="{1289D755-23B0-A164-3540-97EABE711C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8">
            <a:extLst>
              <a:ext uri="{FF2B5EF4-FFF2-40B4-BE49-F238E27FC236}">
                <a16:creationId xmlns:a16="http://schemas.microsoft.com/office/drawing/2014/main" id="{5E606AD8-6820-290C-DB0C-5F852BF58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1570038"/>
            <a:ext cx="5524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387" name="Text Box 19">
            <a:extLst>
              <a:ext uri="{FF2B5EF4-FFF2-40B4-BE49-F238E27FC236}">
                <a16:creationId xmlns:a16="http://schemas.microsoft.com/office/drawing/2014/main" id="{F87BC26E-9CDC-E756-F091-720E3ECF0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1570038"/>
            <a:ext cx="5524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388" name="Text Box 20">
            <a:extLst>
              <a:ext uri="{FF2B5EF4-FFF2-40B4-BE49-F238E27FC236}">
                <a16:creationId xmlns:a16="http://schemas.microsoft.com/office/drawing/2014/main" id="{EBFACD74-590B-F300-4B6C-7523423FC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43894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6389" name="Text Box 21">
            <a:extLst>
              <a:ext uri="{FF2B5EF4-FFF2-40B4-BE49-F238E27FC236}">
                <a16:creationId xmlns:a16="http://schemas.microsoft.com/office/drawing/2014/main" id="{BF96C4F8-A2F4-EC2B-35B5-5903709A3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3352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6390" name="Text Box 22">
            <a:extLst>
              <a:ext uri="{FF2B5EF4-FFF2-40B4-BE49-F238E27FC236}">
                <a16:creationId xmlns:a16="http://schemas.microsoft.com/office/drawing/2014/main" id="{6A481827-0252-CB35-2BD7-16157CB57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3352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6391" name="Text Box 23">
            <a:extLst>
              <a:ext uri="{FF2B5EF4-FFF2-40B4-BE49-F238E27FC236}">
                <a16:creationId xmlns:a16="http://schemas.microsoft.com/office/drawing/2014/main" id="{394938DC-230D-5F66-F8AD-32A052A50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2819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6392" name="Text Box 24">
            <a:extLst>
              <a:ext uri="{FF2B5EF4-FFF2-40B4-BE49-F238E27FC236}">
                <a16:creationId xmlns:a16="http://schemas.microsoft.com/office/drawing/2014/main" id="{8C0692D9-F1FB-8A38-C616-0DF42A28C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2819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393" name="Text Box 25">
            <a:extLst>
              <a:ext uri="{FF2B5EF4-FFF2-40B4-BE49-F238E27FC236}">
                <a16:creationId xmlns:a16="http://schemas.microsoft.com/office/drawing/2014/main" id="{455BD7C3-4212-D9BD-BAE5-FF090E49B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3886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394" name="Text Box 26">
            <a:extLst>
              <a:ext uri="{FF2B5EF4-FFF2-40B4-BE49-F238E27FC236}">
                <a16:creationId xmlns:a16="http://schemas.microsoft.com/office/drawing/2014/main" id="{5288A992-10BF-46BC-0987-A0F69B3A2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3886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395" name="Text Box 27">
            <a:extLst>
              <a:ext uri="{FF2B5EF4-FFF2-40B4-BE49-F238E27FC236}">
                <a16:creationId xmlns:a16="http://schemas.microsoft.com/office/drawing/2014/main" id="{971148F3-939D-97A9-75A3-90C8C9A10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22558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396" name="Text Box 28">
            <a:extLst>
              <a:ext uri="{FF2B5EF4-FFF2-40B4-BE49-F238E27FC236}">
                <a16:creationId xmlns:a16="http://schemas.microsoft.com/office/drawing/2014/main" id="{8BCD65B3-6B23-002C-5531-883FBDAE6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22558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6397" name="Text Box 29">
            <a:extLst>
              <a:ext uri="{FF2B5EF4-FFF2-40B4-BE49-F238E27FC236}">
                <a16:creationId xmlns:a16="http://schemas.microsoft.com/office/drawing/2014/main" id="{B532473A-68AC-A712-AC58-892E4210F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1316038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Weight</a:t>
            </a:r>
          </a:p>
        </p:txBody>
      </p:sp>
      <p:sp>
        <p:nvSpPr>
          <p:cNvPr id="16398" name="Text Box 30">
            <a:extLst>
              <a:ext uri="{FF2B5EF4-FFF2-40B4-BE49-F238E27FC236}">
                <a16:creationId xmlns:a16="http://schemas.microsoft.com/office/drawing/2014/main" id="{C309BC1C-6B49-EDC4-B9FE-F207E6559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5275" y="1316038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Benefit</a:t>
            </a:r>
          </a:p>
        </p:txBody>
      </p:sp>
      <p:sp>
        <p:nvSpPr>
          <p:cNvPr id="16399" name="Text Box 31">
            <a:extLst>
              <a:ext uri="{FF2B5EF4-FFF2-40B4-BE49-F238E27FC236}">
                <a16:creationId xmlns:a16="http://schemas.microsoft.com/office/drawing/2014/main" id="{525B0A17-DD53-CD2F-319B-38A37136B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3894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6400" name="Line 32">
            <a:extLst>
              <a:ext uri="{FF2B5EF4-FFF2-40B4-BE49-F238E27FC236}">
                <a16:creationId xmlns:a16="http://schemas.microsoft.com/office/drawing/2014/main" id="{1F2D4E32-E2D3-2D78-AB20-3EB45B127A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1189038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BD"/>
          </a:p>
        </p:txBody>
      </p:sp>
      <p:sp>
        <p:nvSpPr>
          <p:cNvPr id="16401" name="Line 33">
            <a:extLst>
              <a:ext uri="{FF2B5EF4-FFF2-40B4-BE49-F238E27FC236}">
                <a16:creationId xmlns:a16="http://schemas.microsoft.com/office/drawing/2014/main" id="{1001213D-8354-D0A1-874F-E97949E0361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1189038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BD"/>
          </a:p>
        </p:txBody>
      </p:sp>
      <p:sp>
        <p:nvSpPr>
          <p:cNvPr id="16402" name="Text Box 34">
            <a:extLst>
              <a:ext uri="{FF2B5EF4-FFF2-40B4-BE49-F238E27FC236}">
                <a16:creationId xmlns:a16="http://schemas.microsoft.com/office/drawing/2014/main" id="{E5D633F1-DE12-C1D6-C6F7-7429B5515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325" y="16113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403" name="Text Box 36">
            <a:extLst>
              <a:ext uri="{FF2B5EF4-FFF2-40B4-BE49-F238E27FC236}">
                <a16:creationId xmlns:a16="http://schemas.microsoft.com/office/drawing/2014/main" id="{BE4267AE-6863-FC4D-A6C9-520083D04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695450"/>
            <a:ext cx="6477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Item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#</a:t>
            </a:r>
          </a:p>
        </p:txBody>
      </p:sp>
      <p:sp>
        <p:nvSpPr>
          <p:cNvPr id="16404" name="Text Box 37">
            <a:extLst>
              <a:ext uri="{FF2B5EF4-FFF2-40B4-BE49-F238E27FC236}">
                <a16:creationId xmlns:a16="http://schemas.microsoft.com/office/drawing/2014/main" id="{55FF24A9-2D35-4DA2-B750-229521273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8560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405" name="Text Box 38">
            <a:extLst>
              <a:ext uri="{FF2B5EF4-FFF2-40B4-BE49-F238E27FC236}">
                <a16:creationId xmlns:a16="http://schemas.microsoft.com/office/drawing/2014/main" id="{DA42AA51-6263-1A23-CF00-987424C91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322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406" name="Text Box 39">
            <a:extLst>
              <a:ext uri="{FF2B5EF4-FFF2-40B4-BE49-F238E27FC236}">
                <a16:creationId xmlns:a16="http://schemas.microsoft.com/office/drawing/2014/main" id="{684CFFB2-3AE8-0272-9F40-DB45C4BCB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819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6407" name="Text Box 40">
            <a:extLst>
              <a:ext uri="{FF2B5EF4-FFF2-40B4-BE49-F238E27FC236}">
                <a16:creationId xmlns:a16="http://schemas.microsoft.com/office/drawing/2014/main" id="{C586604F-4F48-9068-2560-6CF52C1B4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2558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408" name="Text Box 41">
            <a:extLst>
              <a:ext uri="{FF2B5EF4-FFF2-40B4-BE49-F238E27FC236}">
                <a16:creationId xmlns:a16="http://schemas.microsoft.com/office/drawing/2014/main" id="{71FC1531-98CF-942C-A342-6A255D5E3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3894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6409" name="Freeform 44">
            <a:extLst>
              <a:ext uri="{FF2B5EF4-FFF2-40B4-BE49-F238E27FC236}">
                <a16:creationId xmlns:a16="http://schemas.microsoft.com/office/drawing/2014/main" id="{3BAE114D-6FA1-DF54-4E73-C42997A1BB99}"/>
              </a:ext>
            </a:extLst>
          </p:cNvPr>
          <p:cNvSpPr>
            <a:spLocks/>
          </p:cNvSpPr>
          <p:nvPr/>
        </p:nvSpPr>
        <p:spPr bwMode="auto">
          <a:xfrm>
            <a:off x="5562600" y="2332038"/>
            <a:ext cx="1066800" cy="2641600"/>
          </a:xfrm>
          <a:custGeom>
            <a:avLst/>
            <a:gdLst>
              <a:gd name="T0" fmla="*/ 2147483646 w 672"/>
              <a:gd name="T1" fmla="*/ 0 h 1664"/>
              <a:gd name="T2" fmla="*/ 2147483646 w 672"/>
              <a:gd name="T3" fmla="*/ 2147483646 h 1664"/>
              <a:gd name="T4" fmla="*/ 2147483646 w 672"/>
              <a:gd name="T5" fmla="*/ 2147483646 h 1664"/>
              <a:gd name="T6" fmla="*/ 2147483646 w 672"/>
              <a:gd name="T7" fmla="*/ 2147483646 h 1664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1664"/>
              <a:gd name="T14" fmla="*/ 672 w 672"/>
              <a:gd name="T15" fmla="*/ 1664 h 16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1664">
                <a:moveTo>
                  <a:pt x="480" y="0"/>
                </a:moveTo>
                <a:cubicBezTo>
                  <a:pt x="320" y="0"/>
                  <a:pt x="160" y="0"/>
                  <a:pt x="96" y="240"/>
                </a:cubicBezTo>
                <a:cubicBezTo>
                  <a:pt x="32" y="480"/>
                  <a:pt x="0" y="1216"/>
                  <a:pt x="96" y="1440"/>
                </a:cubicBezTo>
                <a:cubicBezTo>
                  <a:pt x="192" y="1664"/>
                  <a:pt x="592" y="1592"/>
                  <a:pt x="672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BD"/>
          </a:p>
        </p:txBody>
      </p:sp>
      <p:sp>
        <p:nvSpPr>
          <p:cNvPr id="16410" name="Text Box 45">
            <a:extLst>
              <a:ext uri="{FF2B5EF4-FFF2-40B4-BE49-F238E27FC236}">
                <a16:creationId xmlns:a16="http://schemas.microsoft.com/office/drawing/2014/main" id="{CF1C8B42-2B2D-9413-B75E-D6704EF5F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170238"/>
            <a:ext cx="35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grpSp>
        <p:nvGrpSpPr>
          <p:cNvPr id="2" name="Group 61">
            <a:extLst>
              <a:ext uri="{FF2B5EF4-FFF2-40B4-BE49-F238E27FC236}">
                <a16:creationId xmlns:a16="http://schemas.microsoft.com/office/drawing/2014/main" id="{77AE7593-B0EE-B142-E8B9-335647EB12F0}"/>
              </a:ext>
            </a:extLst>
          </p:cNvPr>
          <p:cNvGrpSpPr>
            <a:grpSpLocks/>
          </p:cNvGrpSpPr>
          <p:nvPr/>
        </p:nvGrpSpPr>
        <p:grpSpPr bwMode="auto">
          <a:xfrm>
            <a:off x="500063" y="2714625"/>
            <a:ext cx="4343400" cy="1066800"/>
            <a:chOff x="672" y="2688"/>
            <a:chExt cx="2736" cy="672"/>
          </a:xfrm>
        </p:grpSpPr>
        <p:sp>
          <p:nvSpPr>
            <p:cNvPr id="16417" name="Rectangle 46">
              <a:extLst>
                <a:ext uri="{FF2B5EF4-FFF2-40B4-BE49-F238E27FC236}">
                  <a16:creationId xmlns:a16="http://schemas.microsoft.com/office/drawing/2014/main" id="{9E5FAB7B-B456-261E-3D45-5AD914CCF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688"/>
              <a:ext cx="2688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18" name="Rectangle 47">
              <a:extLst>
                <a:ext uri="{FF2B5EF4-FFF2-40B4-BE49-F238E27FC236}">
                  <a16:creationId xmlns:a16="http://schemas.microsoft.com/office/drawing/2014/main" id="{1FD7572F-D9C9-1F44-B3CD-A2718FFFB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688"/>
              <a:ext cx="384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19" name="Rectangle 48">
              <a:extLst>
                <a:ext uri="{FF2B5EF4-FFF2-40B4-BE49-F238E27FC236}">
                  <a16:creationId xmlns:a16="http://schemas.microsoft.com/office/drawing/2014/main" id="{2378CB2A-FDE9-02A6-8DA3-C47D45517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688"/>
              <a:ext cx="576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20" name="Rectangle 49">
              <a:extLst>
                <a:ext uri="{FF2B5EF4-FFF2-40B4-BE49-F238E27FC236}">
                  <a16:creationId xmlns:a16="http://schemas.microsoft.com/office/drawing/2014/main" id="{E4532C70-0258-1E28-078B-5359CE567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688"/>
              <a:ext cx="576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21" name="Text Box 51">
              <a:extLst>
                <a:ext uri="{FF2B5EF4-FFF2-40B4-BE49-F238E27FC236}">
                  <a16:creationId xmlns:a16="http://schemas.microsoft.com/office/drawing/2014/main" id="{4B4670AA-69BC-044B-F8A4-044BE8585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736"/>
              <a:ext cx="53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1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=2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1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=3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22" name="Text Box 52">
              <a:extLst>
                <a:ext uri="{FF2B5EF4-FFF2-40B4-BE49-F238E27FC236}">
                  <a16:creationId xmlns:a16="http://schemas.microsoft.com/office/drawing/2014/main" id="{6E4178F8-7B5F-F808-8511-7C55849C1D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736"/>
              <a:ext cx="52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2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=4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2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=5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23" name="Text Box 53">
              <a:extLst>
                <a:ext uri="{FF2B5EF4-FFF2-40B4-BE49-F238E27FC236}">
                  <a16:creationId xmlns:a16="http://schemas.microsoft.com/office/drawing/2014/main" id="{57B8ABC3-B0BD-8499-4F28-2DEBC21CF7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736"/>
              <a:ext cx="52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3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=5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3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=8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24" name="Text Box 54">
              <a:extLst>
                <a:ext uri="{FF2B5EF4-FFF2-40B4-BE49-F238E27FC236}">
                  <a16:creationId xmlns:a16="http://schemas.microsoft.com/office/drawing/2014/main" id="{0AE3AEF2-5514-6E4A-3254-B65B6DDE7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736"/>
              <a:ext cx="576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5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=9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5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=10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6412" name="Line 55">
            <a:extLst>
              <a:ext uri="{FF2B5EF4-FFF2-40B4-BE49-F238E27FC236}">
                <a16:creationId xmlns:a16="http://schemas.microsoft.com/office/drawing/2014/main" id="{E6F31DAD-113F-D965-A3BD-6BA487833C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4999038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BD"/>
          </a:p>
        </p:txBody>
      </p:sp>
      <p:sp>
        <p:nvSpPr>
          <p:cNvPr id="113720" name="Text Box 56">
            <a:extLst>
              <a:ext uri="{FF2B5EF4-FFF2-40B4-BE49-F238E27FC236}">
                <a16:creationId xmlns:a16="http://schemas.microsoft.com/office/drawing/2014/main" id="{0739022E-3351-448D-92D7-0EE875DD8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4214813"/>
            <a:ext cx="28654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For 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Total weight: 20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Maximum benefit: 26</a:t>
            </a:r>
          </a:p>
        </p:txBody>
      </p:sp>
      <p:sp>
        <p:nvSpPr>
          <p:cNvPr id="16414" name="Rectangle 63">
            <a:extLst>
              <a:ext uri="{FF2B5EF4-FFF2-40B4-BE49-F238E27FC236}">
                <a16:creationId xmlns:a16="http://schemas.microsoft.com/office/drawing/2014/main" id="{525CA336-51B8-CEF9-BD13-9A2CFF1C14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93038" cy="914400"/>
          </a:xfrm>
        </p:spPr>
        <p:txBody>
          <a:bodyPr/>
          <a:lstStyle/>
          <a:p>
            <a:r>
              <a:rPr lang="en-US" altLang="zh-CN" b="1">
                <a:solidFill>
                  <a:srgbClr val="572314"/>
                </a:solidFill>
                <a:latin typeface="Times New Roman" panose="02020603050405020304" pitchFamily="18" charset="0"/>
              </a:rPr>
              <a:t>Example #1</a:t>
            </a:r>
          </a:p>
        </p:txBody>
      </p:sp>
      <p:cxnSp>
        <p:nvCxnSpPr>
          <p:cNvPr id="16415" name="Straight Connector 38">
            <a:extLst>
              <a:ext uri="{FF2B5EF4-FFF2-40B4-BE49-F238E27FC236}">
                <a16:creationId xmlns:a16="http://schemas.microsoft.com/office/drawing/2014/main" id="{50D64494-29D6-3974-E059-21AD779A431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16" name="Slide Number Placeholder 3">
            <a:extLst>
              <a:ext uri="{FF2B5EF4-FFF2-40B4-BE49-F238E27FC236}">
                <a16:creationId xmlns:a16="http://schemas.microsoft.com/office/drawing/2014/main" id="{B20C10F9-34C4-C360-FB22-318A3F4C4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B98B9335-5ED4-7A4D-B748-DF03917D5A74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72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73" name="Text Box 9">
            <a:extLst>
              <a:ext uri="{FF2B5EF4-FFF2-40B4-BE49-F238E27FC236}">
                <a16:creationId xmlns:a16="http://schemas.microsoft.com/office/drawing/2014/main" id="{59956B75-60D0-84EE-B33E-9C1A83701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560638"/>
            <a:ext cx="2865438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Max weight: W = 20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For S</a:t>
            </a:r>
            <a:r>
              <a:rPr lang="en-US" altLang="zh-CN" sz="2400" baseline="-250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Total weight: 14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Maximum benefit: 20</a:t>
            </a:r>
          </a:p>
        </p:txBody>
      </p:sp>
      <p:grpSp>
        <p:nvGrpSpPr>
          <p:cNvPr id="2" name="Group 60">
            <a:extLst>
              <a:ext uri="{FF2B5EF4-FFF2-40B4-BE49-F238E27FC236}">
                <a16:creationId xmlns:a16="http://schemas.microsoft.com/office/drawing/2014/main" id="{25299DD7-B368-F244-8948-C6F4F2FEE5AC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341438"/>
            <a:ext cx="4343400" cy="1066800"/>
            <a:chOff x="624" y="672"/>
            <a:chExt cx="2736" cy="672"/>
          </a:xfrm>
        </p:grpSpPr>
        <p:sp>
          <p:nvSpPr>
            <p:cNvPr id="18479" name="Rectangle 4">
              <a:extLst>
                <a:ext uri="{FF2B5EF4-FFF2-40B4-BE49-F238E27FC236}">
                  <a16:creationId xmlns:a16="http://schemas.microsoft.com/office/drawing/2014/main" id="{B7B72A51-63D4-EBBB-D25C-C2F956F24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672"/>
              <a:ext cx="2688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80" name="Rectangle 5">
              <a:extLst>
                <a:ext uri="{FF2B5EF4-FFF2-40B4-BE49-F238E27FC236}">
                  <a16:creationId xmlns:a16="http://schemas.microsoft.com/office/drawing/2014/main" id="{A30E9111-9938-77A9-D8F2-BDF946EC4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672"/>
              <a:ext cx="384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81" name="Rectangle 10">
              <a:extLst>
                <a:ext uri="{FF2B5EF4-FFF2-40B4-BE49-F238E27FC236}">
                  <a16:creationId xmlns:a16="http://schemas.microsoft.com/office/drawing/2014/main" id="{DA93B426-69A4-4CDE-2C77-5229A5E62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672"/>
              <a:ext cx="576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82" name="Rectangle 11">
              <a:extLst>
                <a:ext uri="{FF2B5EF4-FFF2-40B4-BE49-F238E27FC236}">
                  <a16:creationId xmlns:a16="http://schemas.microsoft.com/office/drawing/2014/main" id="{6E31CCED-B577-0C7C-00E2-768D919C5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672"/>
              <a:ext cx="576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83" name="Rectangle 12">
              <a:extLst>
                <a:ext uri="{FF2B5EF4-FFF2-40B4-BE49-F238E27FC236}">
                  <a16:creationId xmlns:a16="http://schemas.microsoft.com/office/drawing/2014/main" id="{F5E56BB3-3DF4-8D01-4E87-B7F357A69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672"/>
              <a:ext cx="480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84" name="Text Box 13">
              <a:extLst>
                <a:ext uri="{FF2B5EF4-FFF2-40B4-BE49-F238E27FC236}">
                  <a16:creationId xmlns:a16="http://schemas.microsoft.com/office/drawing/2014/main" id="{016AFA96-16FA-32EE-1D9C-A4D030E13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720"/>
              <a:ext cx="53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1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=2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1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=3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85" name="Text Box 15">
              <a:extLst>
                <a:ext uri="{FF2B5EF4-FFF2-40B4-BE49-F238E27FC236}">
                  <a16:creationId xmlns:a16="http://schemas.microsoft.com/office/drawing/2014/main" id="{2D256AA6-A8EF-5C69-4BFC-D168D293EE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720"/>
              <a:ext cx="52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2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=4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2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=5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86" name="Text Box 16">
              <a:extLst>
                <a:ext uri="{FF2B5EF4-FFF2-40B4-BE49-F238E27FC236}">
                  <a16:creationId xmlns:a16="http://schemas.microsoft.com/office/drawing/2014/main" id="{1ECDF1CA-929E-9722-D454-2EA64EE931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720"/>
              <a:ext cx="52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3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=5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3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=8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87" name="Text Box 17">
              <a:extLst>
                <a:ext uri="{FF2B5EF4-FFF2-40B4-BE49-F238E27FC236}">
                  <a16:creationId xmlns:a16="http://schemas.microsoft.com/office/drawing/2014/main" id="{16D447ED-1EC5-23BF-EFBF-D03E4F673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720"/>
              <a:ext cx="576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4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=3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4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=4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8436" name="Text Box 18">
            <a:extLst>
              <a:ext uri="{FF2B5EF4-FFF2-40B4-BE49-F238E27FC236}">
                <a16:creationId xmlns:a16="http://schemas.microsoft.com/office/drawing/2014/main" id="{99792874-E877-AD48-D5CC-E8E5656BF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1570038"/>
            <a:ext cx="5524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37" name="Text Box 19">
            <a:extLst>
              <a:ext uri="{FF2B5EF4-FFF2-40B4-BE49-F238E27FC236}">
                <a16:creationId xmlns:a16="http://schemas.microsoft.com/office/drawing/2014/main" id="{75110C8F-B7B8-07F3-BDE9-3AD259B5A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1570038"/>
            <a:ext cx="5524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38" name="Text Box 20">
            <a:extLst>
              <a:ext uri="{FF2B5EF4-FFF2-40B4-BE49-F238E27FC236}">
                <a16:creationId xmlns:a16="http://schemas.microsoft.com/office/drawing/2014/main" id="{B3C0A361-DF51-4C67-F11A-0F7F9E0E1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43894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8439" name="Text Box 21">
            <a:extLst>
              <a:ext uri="{FF2B5EF4-FFF2-40B4-BE49-F238E27FC236}">
                <a16:creationId xmlns:a16="http://schemas.microsoft.com/office/drawing/2014/main" id="{E3EBEF66-25D4-32BB-3D7B-8A00F68D2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3352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8440" name="Text Box 22">
            <a:extLst>
              <a:ext uri="{FF2B5EF4-FFF2-40B4-BE49-F238E27FC236}">
                <a16:creationId xmlns:a16="http://schemas.microsoft.com/office/drawing/2014/main" id="{41D4CF0A-02E6-B703-487E-49C124166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3352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8441" name="Text Box 23">
            <a:extLst>
              <a:ext uri="{FF2B5EF4-FFF2-40B4-BE49-F238E27FC236}">
                <a16:creationId xmlns:a16="http://schemas.microsoft.com/office/drawing/2014/main" id="{8717402A-F349-7B72-6414-8786F1E71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2819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8442" name="Text Box 24">
            <a:extLst>
              <a:ext uri="{FF2B5EF4-FFF2-40B4-BE49-F238E27FC236}">
                <a16:creationId xmlns:a16="http://schemas.microsoft.com/office/drawing/2014/main" id="{86E0233A-9F8E-5B77-CEC7-30E1EF604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2819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443" name="Text Box 25">
            <a:extLst>
              <a:ext uri="{FF2B5EF4-FFF2-40B4-BE49-F238E27FC236}">
                <a16:creationId xmlns:a16="http://schemas.microsoft.com/office/drawing/2014/main" id="{3CC0D9CF-76E9-2AB0-E2FC-C587108FF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3886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444" name="Text Box 26">
            <a:extLst>
              <a:ext uri="{FF2B5EF4-FFF2-40B4-BE49-F238E27FC236}">
                <a16:creationId xmlns:a16="http://schemas.microsoft.com/office/drawing/2014/main" id="{256876BA-B692-7ECC-CE7B-7FDB35E6A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3886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8445" name="Text Box 27">
            <a:extLst>
              <a:ext uri="{FF2B5EF4-FFF2-40B4-BE49-F238E27FC236}">
                <a16:creationId xmlns:a16="http://schemas.microsoft.com/office/drawing/2014/main" id="{04AA080E-0323-7458-CF10-0E87ABCB3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22558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8446" name="Text Box 28">
            <a:extLst>
              <a:ext uri="{FF2B5EF4-FFF2-40B4-BE49-F238E27FC236}">
                <a16:creationId xmlns:a16="http://schemas.microsoft.com/office/drawing/2014/main" id="{69348F48-2178-D6AB-21B5-7A976AED9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22558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8447" name="Text Box 29">
            <a:extLst>
              <a:ext uri="{FF2B5EF4-FFF2-40B4-BE49-F238E27FC236}">
                <a16:creationId xmlns:a16="http://schemas.microsoft.com/office/drawing/2014/main" id="{4B4E0636-3A11-88AB-3808-C2D6F05EC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1316038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Weight</a:t>
            </a:r>
          </a:p>
        </p:txBody>
      </p:sp>
      <p:sp>
        <p:nvSpPr>
          <p:cNvPr id="18448" name="Text Box 30">
            <a:extLst>
              <a:ext uri="{FF2B5EF4-FFF2-40B4-BE49-F238E27FC236}">
                <a16:creationId xmlns:a16="http://schemas.microsoft.com/office/drawing/2014/main" id="{DC1D7375-9AC1-B2EC-71D7-5FCE50646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5275" y="1316038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Benefit</a:t>
            </a:r>
          </a:p>
        </p:txBody>
      </p:sp>
      <p:sp>
        <p:nvSpPr>
          <p:cNvPr id="18449" name="Text Box 31">
            <a:extLst>
              <a:ext uri="{FF2B5EF4-FFF2-40B4-BE49-F238E27FC236}">
                <a16:creationId xmlns:a16="http://schemas.microsoft.com/office/drawing/2014/main" id="{25EA6D03-07E6-3671-1CFE-43484FB45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3894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8450" name="Line 32">
            <a:extLst>
              <a:ext uri="{FF2B5EF4-FFF2-40B4-BE49-F238E27FC236}">
                <a16:creationId xmlns:a16="http://schemas.microsoft.com/office/drawing/2014/main" id="{9BD93C12-9A66-6571-4D09-962B55882E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1189038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BD"/>
          </a:p>
        </p:txBody>
      </p:sp>
      <p:sp>
        <p:nvSpPr>
          <p:cNvPr id="18451" name="Line 33">
            <a:extLst>
              <a:ext uri="{FF2B5EF4-FFF2-40B4-BE49-F238E27FC236}">
                <a16:creationId xmlns:a16="http://schemas.microsoft.com/office/drawing/2014/main" id="{4AAD7910-928E-A326-0E48-BC288549C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1189038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BD"/>
          </a:p>
        </p:txBody>
      </p:sp>
      <p:sp>
        <p:nvSpPr>
          <p:cNvPr id="18452" name="Text Box 34">
            <a:extLst>
              <a:ext uri="{FF2B5EF4-FFF2-40B4-BE49-F238E27FC236}">
                <a16:creationId xmlns:a16="http://schemas.microsoft.com/office/drawing/2014/main" id="{9A6D8C67-751A-52C3-0190-54D5B76B4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325" y="16113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53" name="Text Box 36">
            <a:extLst>
              <a:ext uri="{FF2B5EF4-FFF2-40B4-BE49-F238E27FC236}">
                <a16:creationId xmlns:a16="http://schemas.microsoft.com/office/drawing/2014/main" id="{D875FB9B-6242-AD34-85C1-14E819700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695450"/>
            <a:ext cx="6477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Item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#</a:t>
            </a:r>
          </a:p>
        </p:txBody>
      </p:sp>
      <p:sp>
        <p:nvSpPr>
          <p:cNvPr id="18454" name="Text Box 37">
            <a:extLst>
              <a:ext uri="{FF2B5EF4-FFF2-40B4-BE49-F238E27FC236}">
                <a16:creationId xmlns:a16="http://schemas.microsoft.com/office/drawing/2014/main" id="{3CB252BD-DFB9-A4CB-7761-686D5F1E8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8560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455" name="Text Box 38">
            <a:extLst>
              <a:ext uri="{FF2B5EF4-FFF2-40B4-BE49-F238E27FC236}">
                <a16:creationId xmlns:a16="http://schemas.microsoft.com/office/drawing/2014/main" id="{378A2D5B-0FF3-0112-CB43-C4379D4C5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3226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8456" name="Text Box 39">
            <a:extLst>
              <a:ext uri="{FF2B5EF4-FFF2-40B4-BE49-F238E27FC236}">
                <a16:creationId xmlns:a16="http://schemas.microsoft.com/office/drawing/2014/main" id="{40B36828-5F78-A9B4-0B98-E54B630AC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819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8457" name="Text Box 40">
            <a:extLst>
              <a:ext uri="{FF2B5EF4-FFF2-40B4-BE49-F238E27FC236}">
                <a16:creationId xmlns:a16="http://schemas.microsoft.com/office/drawing/2014/main" id="{B8AD763F-D7E0-CB8E-7707-19F1EC887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2558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458" name="Text Box 41">
            <a:extLst>
              <a:ext uri="{FF2B5EF4-FFF2-40B4-BE49-F238E27FC236}">
                <a16:creationId xmlns:a16="http://schemas.microsoft.com/office/drawing/2014/main" id="{3E011473-DDD3-9B29-0831-8EA010E84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3894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8459" name="Freeform 42">
            <a:extLst>
              <a:ext uri="{FF2B5EF4-FFF2-40B4-BE49-F238E27FC236}">
                <a16:creationId xmlns:a16="http://schemas.microsoft.com/office/drawing/2014/main" id="{0AFE26E3-87A9-4C37-DC6C-5E6DC77FF0E8}"/>
              </a:ext>
            </a:extLst>
          </p:cNvPr>
          <p:cNvSpPr>
            <a:spLocks/>
          </p:cNvSpPr>
          <p:nvPr/>
        </p:nvSpPr>
        <p:spPr bwMode="auto">
          <a:xfrm>
            <a:off x="6032500" y="2319338"/>
            <a:ext cx="520700" cy="2197100"/>
          </a:xfrm>
          <a:custGeom>
            <a:avLst/>
            <a:gdLst>
              <a:gd name="T0" fmla="*/ 2147483646 w 328"/>
              <a:gd name="T1" fmla="*/ 2147483646 h 1384"/>
              <a:gd name="T2" fmla="*/ 2147483646 w 328"/>
              <a:gd name="T3" fmla="*/ 2147483646 h 1384"/>
              <a:gd name="T4" fmla="*/ 2147483646 w 328"/>
              <a:gd name="T5" fmla="*/ 2147483646 h 1384"/>
              <a:gd name="T6" fmla="*/ 2147483646 w 328"/>
              <a:gd name="T7" fmla="*/ 2147483646 h 1384"/>
              <a:gd name="T8" fmla="*/ 0 60000 65536"/>
              <a:gd name="T9" fmla="*/ 0 60000 65536"/>
              <a:gd name="T10" fmla="*/ 0 60000 65536"/>
              <a:gd name="T11" fmla="*/ 0 60000 65536"/>
              <a:gd name="T12" fmla="*/ 0 w 328"/>
              <a:gd name="T13" fmla="*/ 0 h 1384"/>
              <a:gd name="T14" fmla="*/ 328 w 328"/>
              <a:gd name="T15" fmla="*/ 1384 h 1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28" h="1384">
                <a:moveTo>
                  <a:pt x="280" y="8"/>
                </a:moveTo>
                <a:cubicBezTo>
                  <a:pt x="204" y="4"/>
                  <a:pt x="128" y="0"/>
                  <a:pt x="88" y="200"/>
                </a:cubicBezTo>
                <a:cubicBezTo>
                  <a:pt x="48" y="400"/>
                  <a:pt x="0" y="1032"/>
                  <a:pt x="40" y="1208"/>
                </a:cubicBezTo>
                <a:cubicBezTo>
                  <a:pt x="80" y="1384"/>
                  <a:pt x="264" y="1288"/>
                  <a:pt x="328" y="125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BD"/>
          </a:p>
        </p:txBody>
      </p:sp>
      <p:sp>
        <p:nvSpPr>
          <p:cNvPr id="18460" name="Text Box 43">
            <a:extLst>
              <a:ext uri="{FF2B5EF4-FFF2-40B4-BE49-F238E27FC236}">
                <a16:creationId xmlns:a16="http://schemas.microsoft.com/office/drawing/2014/main" id="{52C233DC-3ABB-9838-2778-DE18F70AD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713038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400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61" name="Freeform 44">
            <a:extLst>
              <a:ext uri="{FF2B5EF4-FFF2-40B4-BE49-F238E27FC236}">
                <a16:creationId xmlns:a16="http://schemas.microsoft.com/office/drawing/2014/main" id="{BAE86476-F266-F90B-0A28-B0ACD165FF5C}"/>
              </a:ext>
            </a:extLst>
          </p:cNvPr>
          <p:cNvSpPr>
            <a:spLocks/>
          </p:cNvSpPr>
          <p:nvPr/>
        </p:nvSpPr>
        <p:spPr bwMode="auto">
          <a:xfrm>
            <a:off x="5562600" y="2332038"/>
            <a:ext cx="1066800" cy="2641600"/>
          </a:xfrm>
          <a:custGeom>
            <a:avLst/>
            <a:gdLst>
              <a:gd name="T0" fmla="*/ 2147483646 w 672"/>
              <a:gd name="T1" fmla="*/ 0 h 1664"/>
              <a:gd name="T2" fmla="*/ 2147483646 w 672"/>
              <a:gd name="T3" fmla="*/ 2147483646 h 1664"/>
              <a:gd name="T4" fmla="*/ 2147483646 w 672"/>
              <a:gd name="T5" fmla="*/ 2147483646 h 1664"/>
              <a:gd name="T6" fmla="*/ 2147483646 w 672"/>
              <a:gd name="T7" fmla="*/ 2147483646 h 1664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1664"/>
              <a:gd name="T14" fmla="*/ 672 w 672"/>
              <a:gd name="T15" fmla="*/ 1664 h 16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1664">
                <a:moveTo>
                  <a:pt x="480" y="0"/>
                </a:moveTo>
                <a:cubicBezTo>
                  <a:pt x="320" y="0"/>
                  <a:pt x="160" y="0"/>
                  <a:pt x="96" y="240"/>
                </a:cubicBezTo>
                <a:cubicBezTo>
                  <a:pt x="32" y="480"/>
                  <a:pt x="0" y="1216"/>
                  <a:pt x="96" y="1440"/>
                </a:cubicBezTo>
                <a:cubicBezTo>
                  <a:pt x="192" y="1664"/>
                  <a:pt x="592" y="1592"/>
                  <a:pt x="672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BD"/>
          </a:p>
        </p:txBody>
      </p:sp>
      <p:sp>
        <p:nvSpPr>
          <p:cNvPr id="18462" name="Text Box 45">
            <a:extLst>
              <a:ext uri="{FF2B5EF4-FFF2-40B4-BE49-F238E27FC236}">
                <a16:creationId xmlns:a16="http://schemas.microsoft.com/office/drawing/2014/main" id="{4CE7E6C3-6036-20EE-C09D-C17F514DC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170238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400" baseline="-25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" name="Group 61">
            <a:extLst>
              <a:ext uri="{FF2B5EF4-FFF2-40B4-BE49-F238E27FC236}">
                <a16:creationId xmlns:a16="http://schemas.microsoft.com/office/drawing/2014/main" id="{8C89A18D-ECBF-2B5A-718D-D26764CAA1BF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541838"/>
            <a:ext cx="4343400" cy="1066800"/>
            <a:chOff x="672" y="2688"/>
            <a:chExt cx="2736" cy="672"/>
          </a:xfrm>
        </p:grpSpPr>
        <p:sp>
          <p:nvSpPr>
            <p:cNvPr id="18471" name="Rectangle 46">
              <a:extLst>
                <a:ext uri="{FF2B5EF4-FFF2-40B4-BE49-F238E27FC236}">
                  <a16:creationId xmlns:a16="http://schemas.microsoft.com/office/drawing/2014/main" id="{792F6DCD-5F85-7E77-E905-FC3D64709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688"/>
              <a:ext cx="2688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72" name="Rectangle 47">
              <a:extLst>
                <a:ext uri="{FF2B5EF4-FFF2-40B4-BE49-F238E27FC236}">
                  <a16:creationId xmlns:a16="http://schemas.microsoft.com/office/drawing/2014/main" id="{3A95F537-75D9-D2DD-A0ED-D034CE2AE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688"/>
              <a:ext cx="384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73" name="Rectangle 48">
              <a:extLst>
                <a:ext uri="{FF2B5EF4-FFF2-40B4-BE49-F238E27FC236}">
                  <a16:creationId xmlns:a16="http://schemas.microsoft.com/office/drawing/2014/main" id="{9C87FD21-B7A5-A4E3-C775-BD828ECD8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688"/>
              <a:ext cx="576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74" name="Rectangle 49">
              <a:extLst>
                <a:ext uri="{FF2B5EF4-FFF2-40B4-BE49-F238E27FC236}">
                  <a16:creationId xmlns:a16="http://schemas.microsoft.com/office/drawing/2014/main" id="{6EFB925A-BEA2-761D-B625-060B59869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688"/>
              <a:ext cx="576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75" name="Text Box 51">
              <a:extLst>
                <a:ext uri="{FF2B5EF4-FFF2-40B4-BE49-F238E27FC236}">
                  <a16:creationId xmlns:a16="http://schemas.microsoft.com/office/drawing/2014/main" id="{4CC9B28B-01D0-9D7F-EDB0-2CEE9A2F0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736"/>
              <a:ext cx="53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1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=2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1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=3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76" name="Text Box 52">
              <a:extLst>
                <a:ext uri="{FF2B5EF4-FFF2-40B4-BE49-F238E27FC236}">
                  <a16:creationId xmlns:a16="http://schemas.microsoft.com/office/drawing/2014/main" id="{C27175BC-E9E6-00A4-230D-35B793C971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736"/>
              <a:ext cx="52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2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=4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2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=5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77" name="Text Box 53">
              <a:extLst>
                <a:ext uri="{FF2B5EF4-FFF2-40B4-BE49-F238E27FC236}">
                  <a16:creationId xmlns:a16="http://schemas.microsoft.com/office/drawing/2014/main" id="{E9C4EB26-BF60-C729-F792-1BD1D75F4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736"/>
              <a:ext cx="52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3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=5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3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=8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78" name="Text Box 54">
              <a:extLst>
                <a:ext uri="{FF2B5EF4-FFF2-40B4-BE49-F238E27FC236}">
                  <a16:creationId xmlns:a16="http://schemas.microsoft.com/office/drawing/2014/main" id="{E6D67832-5209-C1AC-9C6E-5DD53FB60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736"/>
              <a:ext cx="576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5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=9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5 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=10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8464" name="Line 55">
            <a:extLst>
              <a:ext uri="{FF2B5EF4-FFF2-40B4-BE49-F238E27FC236}">
                <a16:creationId xmlns:a16="http://schemas.microsoft.com/office/drawing/2014/main" id="{77987030-604B-F233-7023-146E71E49D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4999038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BD"/>
          </a:p>
        </p:txBody>
      </p:sp>
      <p:sp>
        <p:nvSpPr>
          <p:cNvPr id="113720" name="Text Box 56">
            <a:extLst>
              <a:ext uri="{FF2B5EF4-FFF2-40B4-BE49-F238E27FC236}">
                <a16:creationId xmlns:a16="http://schemas.microsoft.com/office/drawing/2014/main" id="{0B33D5A1-A2BA-284C-4184-384D7D505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580063"/>
            <a:ext cx="28654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For S</a:t>
            </a:r>
            <a:r>
              <a:rPr lang="en-US" altLang="zh-CN" sz="2400" baseline="-250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Total weight: 20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Maximum benefit: 26</a:t>
            </a:r>
          </a:p>
        </p:txBody>
      </p:sp>
      <p:sp>
        <p:nvSpPr>
          <p:cNvPr id="113721" name="Text Box 57">
            <a:extLst>
              <a:ext uri="{FF2B5EF4-FFF2-40B4-BE49-F238E27FC236}">
                <a16:creationId xmlns:a16="http://schemas.microsoft.com/office/drawing/2014/main" id="{3FCDBAB0-53E9-D42E-FBF1-C832EEBDA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303838"/>
            <a:ext cx="31242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Solution for S</a:t>
            </a:r>
            <a:r>
              <a:rPr lang="en-US" altLang="zh-CN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is not part of the solution for S</a:t>
            </a:r>
            <a:r>
              <a:rPr lang="en-US" altLang="zh-CN" baseline="-250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!!!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3723" name="Text Box 59">
            <a:extLst>
              <a:ext uri="{FF2B5EF4-FFF2-40B4-BE49-F238E27FC236}">
                <a16:creationId xmlns:a16="http://schemas.microsoft.com/office/drawing/2014/main" id="{4A9DB710-1B9D-9557-BCBA-EF61D148A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951038"/>
            <a:ext cx="4572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80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?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68" name="Rectangle 63">
            <a:extLst>
              <a:ext uri="{FF2B5EF4-FFF2-40B4-BE49-F238E27FC236}">
                <a16:creationId xmlns:a16="http://schemas.microsoft.com/office/drawing/2014/main" id="{AAEE6240-AE93-A45C-822E-BA587F519A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14288"/>
            <a:ext cx="7793038" cy="914400"/>
          </a:xfrm>
        </p:spPr>
        <p:txBody>
          <a:bodyPr/>
          <a:lstStyle/>
          <a:p>
            <a:r>
              <a:rPr lang="en-US" altLang="zh-CN" b="1">
                <a:solidFill>
                  <a:srgbClr val="572314"/>
                </a:solidFill>
                <a:latin typeface="Times New Roman" panose="02020603050405020304" pitchFamily="18" charset="0"/>
              </a:rPr>
              <a:t>Example #2</a:t>
            </a:r>
          </a:p>
        </p:txBody>
      </p:sp>
      <p:cxnSp>
        <p:nvCxnSpPr>
          <p:cNvPr id="18469" name="Straight Connector 53">
            <a:extLst>
              <a:ext uri="{FF2B5EF4-FFF2-40B4-BE49-F238E27FC236}">
                <a16:creationId xmlns:a16="http://schemas.microsoft.com/office/drawing/2014/main" id="{9FD4C335-B909-D97A-CA93-E2E61F5731A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70" name="Slide Number Placeholder 3">
            <a:extLst>
              <a:ext uri="{FF2B5EF4-FFF2-40B4-BE49-F238E27FC236}">
                <a16:creationId xmlns:a16="http://schemas.microsoft.com/office/drawing/2014/main" id="{5B0F3104-8D02-9298-21C0-32DDACD1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67563" y="63246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D56209F8-C121-A845-8013-BA70B6035192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3" grpId="0" autoUpdateAnimBg="0"/>
      <p:bldP spid="113720" grpId="0" autoUpdateAnimBg="0"/>
      <p:bldP spid="113721" grpId="0" autoUpdateAnimBg="0"/>
      <p:bldP spid="113723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5C7EEF7-5CF7-0184-DDF7-859F6C3A9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0"/>
            <a:ext cx="8001000" cy="914400"/>
          </a:xfrm>
        </p:spPr>
        <p:txBody>
          <a:bodyPr/>
          <a:lstStyle/>
          <a:p>
            <a:r>
              <a:rPr lang="en-US" altLang="zh-CN" b="1">
                <a:solidFill>
                  <a:srgbClr val="572314"/>
                </a:solidFill>
                <a:latin typeface="Times New Roman" panose="02020603050405020304" pitchFamily="18" charset="0"/>
              </a:rPr>
              <a:t>Analyze the Algorithm in Depth</a:t>
            </a:r>
          </a:p>
        </p:txBody>
      </p:sp>
      <p:pic>
        <p:nvPicPr>
          <p:cNvPr id="20483" name="Content Placeholder 5" descr="Pages from horowitz-and-sahani-fundamentals-of-computer-algorithms-2nd-edition.jpg">
            <a:extLst>
              <a:ext uri="{FF2B5EF4-FFF2-40B4-BE49-F238E27FC236}">
                <a16:creationId xmlns:a16="http://schemas.microsoft.com/office/drawing/2014/main" id="{80CAADFE-B385-C397-4093-D8F8A0BA6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750" y="1785938"/>
            <a:ext cx="8531225" cy="2546350"/>
          </a:xfrm>
        </p:spPr>
      </p:pic>
      <p:sp>
        <p:nvSpPr>
          <p:cNvPr id="20484" name="TextBox 6">
            <a:extLst>
              <a:ext uri="{FF2B5EF4-FFF2-40B4-BE49-F238E27FC236}">
                <a16:creationId xmlns:a16="http://schemas.microsoft.com/office/drawing/2014/main" id="{032E1A74-3762-44D8-C802-94FEB6374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5286375"/>
            <a:ext cx="85010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Find out the optimal solution (i.e., maximize profit  in capacity of 20)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BB4287-F083-38DD-118D-B499DF0CF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2288" y="3000375"/>
            <a:ext cx="15001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1936D2-9A30-D8AA-84AF-421B51191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438" y="3371850"/>
            <a:ext cx="4357687" cy="273050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CF5A82-519E-C746-4998-979A47390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2675" y="3656013"/>
            <a:ext cx="4357688" cy="273050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F78BBA-6976-3612-33F8-48AC80C2A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438" y="3927475"/>
            <a:ext cx="4357687" cy="273050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C9B59-73D5-AF82-6A84-7A27CC910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438" y="3109913"/>
            <a:ext cx="4357687" cy="273050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A7D218-19CA-F0AB-8C23-DB767FEFA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2288" y="3259138"/>
            <a:ext cx="15001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FFA856-D5FD-FAB3-36B5-0F8D210D5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463" y="3571875"/>
            <a:ext cx="15001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F118B0-BC83-3F47-19BA-D566F404C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816350"/>
            <a:ext cx="150018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4</a:t>
            </a:r>
          </a:p>
        </p:txBody>
      </p:sp>
      <p:cxnSp>
        <p:nvCxnSpPr>
          <p:cNvPr id="20493" name="Straight Connector 16">
            <a:extLst>
              <a:ext uri="{FF2B5EF4-FFF2-40B4-BE49-F238E27FC236}">
                <a16:creationId xmlns:a16="http://schemas.microsoft.com/office/drawing/2014/main" id="{2DB51085-1935-E566-ADA5-A88FAE3569D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4" name="Slide Number Placeholder 3">
            <a:extLst>
              <a:ext uri="{FF2B5EF4-FFF2-40B4-BE49-F238E27FC236}">
                <a16:creationId xmlns:a16="http://schemas.microsoft.com/office/drawing/2014/main" id="{F42DEC3A-5038-ED47-36B0-D4169D4D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24688" y="63246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E32B1F09-C169-0442-9126-306A87062A74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2" grpId="0" animBg="1"/>
      <p:bldP spid="14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DD510AD9-B503-906A-7D90-17FD0A148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438"/>
            <a:ext cx="7793038" cy="914400"/>
          </a:xfrm>
        </p:spPr>
        <p:txBody>
          <a:bodyPr/>
          <a:lstStyle/>
          <a:p>
            <a:r>
              <a:rPr lang="en-US" altLang="zh-CN" b="1">
                <a:solidFill>
                  <a:srgbClr val="572314"/>
                </a:solidFill>
                <a:latin typeface="Times New Roman" panose="02020603050405020304" pitchFamily="18" charset="0"/>
              </a:rPr>
              <a:t>Solution 1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15E0B9EC-6207-B533-3FFF-2223272B6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1524000"/>
            <a:ext cx="8929687" cy="4648200"/>
          </a:xfrm>
        </p:spPr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Maximize the total profit</a:t>
            </a: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Strategy 1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Take the objects with </a:t>
            </a:r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Solution 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ECEB88-78D7-8515-538D-748F4B5122B3}"/>
              </a:ext>
            </a:extLst>
          </p:cNvPr>
          <p:cNvGraphicFramePr>
            <a:graphicFrameLocks noGrp="1"/>
          </p:cNvGraphicFramePr>
          <p:nvPr/>
        </p:nvGraphicFramePr>
        <p:xfrm>
          <a:off x="1571625" y="4572000"/>
          <a:ext cx="4929188" cy="104140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071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Solution vector: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X=[1, 2/15, 0]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28.2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522" name="Object 2">
            <a:extLst>
              <a:ext uri="{FF2B5EF4-FFF2-40B4-BE49-F238E27FC236}">
                <a16:creationId xmlns:a16="http://schemas.microsoft.com/office/drawing/2014/main" id="{F74427C6-50ED-8B8C-AB17-22AB9FA106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4750" y="4643438"/>
          <a:ext cx="11430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28300" imgH="5562600" progId="Equation.3">
                  <p:embed/>
                </p:oleObj>
              </mc:Choice>
              <mc:Fallback>
                <p:oleObj name="Equation" r:id="rId2" imgW="10528300" imgH="5562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4643438"/>
                        <a:ext cx="114300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3" name="Object 3">
            <a:extLst>
              <a:ext uri="{FF2B5EF4-FFF2-40B4-BE49-F238E27FC236}">
                <a16:creationId xmlns:a16="http://schemas.microsoft.com/office/drawing/2014/main" id="{90D8E347-1458-0EA6-7240-EE2A933E93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46688" y="4572000"/>
          <a:ext cx="11112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36200" imgH="5562600" progId="Equation.3">
                  <p:embed/>
                </p:oleObj>
              </mc:Choice>
              <mc:Fallback>
                <p:oleObj name="Equation" r:id="rId4" imgW="10236200" imgH="556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6688" y="4572000"/>
                        <a:ext cx="111125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524" name="Straight Connector 7">
            <a:extLst>
              <a:ext uri="{FF2B5EF4-FFF2-40B4-BE49-F238E27FC236}">
                <a16:creationId xmlns:a16="http://schemas.microsoft.com/office/drawing/2014/main" id="{B39AB9F8-4877-4E25-E1E5-11C12501F11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5" name="Slide Number Placeholder 3">
            <a:extLst>
              <a:ext uri="{FF2B5EF4-FFF2-40B4-BE49-F238E27FC236}">
                <a16:creationId xmlns:a16="http://schemas.microsoft.com/office/drawing/2014/main" id="{E7206117-691D-91DE-C9F9-911B710EB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906819B9-E6ED-1A46-B877-A275B26D7B6B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3EE2D5AE-CE2E-7084-5685-5EC93161E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7793038" cy="914400"/>
          </a:xfrm>
        </p:spPr>
        <p:txBody>
          <a:bodyPr/>
          <a:lstStyle/>
          <a:p>
            <a:r>
              <a:rPr lang="en-US" altLang="zh-CN" b="1">
                <a:solidFill>
                  <a:srgbClr val="572314"/>
                </a:solidFill>
                <a:latin typeface="Times New Roman" panose="02020603050405020304" pitchFamily="18" charset="0"/>
              </a:rPr>
              <a:t>Solution 2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A81B636C-F921-C02D-AF82-9B5B94E9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8" y="1214438"/>
            <a:ext cx="8572500" cy="3714750"/>
          </a:xfrm>
        </p:spPr>
        <p:txBody>
          <a:bodyPr/>
          <a:lstStyle/>
          <a:p>
            <a:pPr algn="just"/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result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Considering objects in </a:t>
            </a:r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decreasing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of profit will not yield the optimal solution</a:t>
            </a:r>
            <a:endParaRPr lang="en-US" altLang="en-US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Strategy 2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Take the objects with minimum weight.</a:t>
            </a:r>
          </a:p>
          <a:p>
            <a:pPr algn="just"/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01B9225E-BD86-4CCD-5C24-ADE42343B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E46DD617-854C-0F42-8C35-A15D9483143C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F97A9D-4EB7-FFB3-DB3B-50F63C1A7BFF}"/>
              </a:ext>
            </a:extLst>
          </p:cNvPr>
          <p:cNvGraphicFramePr>
            <a:graphicFrameLocks noGrp="1"/>
          </p:cNvGraphicFramePr>
          <p:nvPr/>
        </p:nvGraphicFramePr>
        <p:xfrm>
          <a:off x="1571625" y="5072063"/>
          <a:ext cx="4929188" cy="104140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071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Solution vector: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X=[0, 2/3, 1]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31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547" name="Object 2">
            <a:extLst>
              <a:ext uri="{FF2B5EF4-FFF2-40B4-BE49-F238E27FC236}">
                <a16:creationId xmlns:a16="http://schemas.microsoft.com/office/drawing/2014/main" id="{A6C33FCB-8BE0-6D0B-DFCF-13BFCDE6DF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6188" y="5072063"/>
          <a:ext cx="11430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28300" imgH="5562600" progId="Equation.3">
                  <p:embed/>
                </p:oleObj>
              </mc:Choice>
              <mc:Fallback>
                <p:oleObj name="Equation" r:id="rId2" imgW="10528300" imgH="5562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5072063"/>
                        <a:ext cx="114300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8" name="Object 3">
            <a:extLst>
              <a:ext uri="{FF2B5EF4-FFF2-40B4-BE49-F238E27FC236}">
                <a16:creationId xmlns:a16="http://schemas.microsoft.com/office/drawing/2014/main" id="{DCAB34FA-BF07-3FEC-05D3-2998D09BEB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3500" y="5072063"/>
          <a:ext cx="111125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36200" imgH="5562600" progId="Equation.3">
                  <p:embed/>
                </p:oleObj>
              </mc:Choice>
              <mc:Fallback>
                <p:oleObj name="Equation" r:id="rId4" imgW="10236200" imgH="556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5072063"/>
                        <a:ext cx="111125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549" name="Straight Connector 7">
            <a:extLst>
              <a:ext uri="{FF2B5EF4-FFF2-40B4-BE49-F238E27FC236}">
                <a16:creationId xmlns:a16="http://schemas.microsoft.com/office/drawing/2014/main" id="{7E5E132B-9536-C135-E433-1E4B999F58B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36E87F5C-7A5D-6712-41BF-97F62F392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7793038" cy="914400"/>
          </a:xfrm>
        </p:spPr>
        <p:txBody>
          <a:bodyPr/>
          <a:lstStyle/>
          <a:p>
            <a:r>
              <a:rPr lang="en-US" altLang="zh-CN" b="1">
                <a:solidFill>
                  <a:srgbClr val="572314"/>
                </a:solidFill>
                <a:latin typeface="Times New Roman" panose="02020603050405020304" pitchFamily="18" charset="0"/>
              </a:rPr>
              <a:t>Solution 3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88A14994-4B7B-1D54-FE98-BC125085A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8" y="785813"/>
            <a:ext cx="8572500" cy="6072187"/>
          </a:xfrm>
        </p:spPr>
        <p:txBody>
          <a:bodyPr/>
          <a:lstStyle/>
          <a:p>
            <a:pPr algn="just"/>
            <a:endParaRPr lang="en-US" altLang="en-US" sz="70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result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Considering objects in </a:t>
            </a:r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decreasing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of weight will also yield the suboptimal solution</a:t>
            </a:r>
            <a:endParaRPr lang="en-US" altLang="en-US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Strategy 3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Take the objects with maximum profit per unit of capacity used.</a:t>
            </a:r>
          </a:p>
          <a:p>
            <a:pPr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Order the weights and profit according to the ratio of </a:t>
            </a:r>
            <a:r>
              <a:rPr lang="en-US" alt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/w</a:t>
            </a:r>
            <a:r>
              <a:rPr lang="en-US" altLang="en-US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pPr algn="just"/>
            <a:endParaRPr lang="en-US" altLang="en-US" sz="1800" b="1" baseline="-2500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E31ACC-5A0D-42B0-858D-2969E1BA7384}"/>
              </a:ext>
            </a:extLst>
          </p:cNvPr>
          <p:cNvGraphicFramePr>
            <a:graphicFrameLocks noGrp="1"/>
          </p:cNvGraphicFramePr>
          <p:nvPr/>
        </p:nvGraphicFramePr>
        <p:xfrm>
          <a:off x="571500" y="5500688"/>
          <a:ext cx="4929188" cy="104140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071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Solution vector: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X=[0, 1, 1/2]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31.5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570" name="Object 2">
            <a:extLst>
              <a:ext uri="{FF2B5EF4-FFF2-40B4-BE49-F238E27FC236}">
                <a16:creationId xmlns:a16="http://schemas.microsoft.com/office/drawing/2014/main" id="{FC14B902-7511-83E1-619A-B728B7B638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6063" y="5500688"/>
          <a:ext cx="11430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28300" imgH="5562600" progId="Equation.3">
                  <p:embed/>
                </p:oleObj>
              </mc:Choice>
              <mc:Fallback>
                <p:oleObj name="Equation" r:id="rId2" imgW="10528300" imgH="5562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63" y="5500688"/>
                        <a:ext cx="114300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1" name="Object 3">
            <a:extLst>
              <a:ext uri="{FF2B5EF4-FFF2-40B4-BE49-F238E27FC236}">
                <a16:creationId xmlns:a16="http://schemas.microsoft.com/office/drawing/2014/main" id="{3C59C1EF-B620-9CEF-2454-07FACCD6A9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3375" y="5500688"/>
          <a:ext cx="111125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36200" imgH="5562600" progId="Equation.3">
                  <p:embed/>
                </p:oleObj>
              </mc:Choice>
              <mc:Fallback>
                <p:oleObj name="Equation" r:id="rId4" imgW="10236200" imgH="556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5500688"/>
                        <a:ext cx="111125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6420BA4-9AF9-7471-3879-6CB93A91F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6072188"/>
            <a:ext cx="28575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Bravo: Optimal solution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reached.</a:t>
            </a:r>
          </a:p>
        </p:txBody>
      </p:sp>
      <p:cxnSp>
        <p:nvCxnSpPr>
          <p:cNvPr id="23573" name="Straight Connector 8">
            <a:extLst>
              <a:ext uri="{FF2B5EF4-FFF2-40B4-BE49-F238E27FC236}">
                <a16:creationId xmlns:a16="http://schemas.microsoft.com/office/drawing/2014/main" id="{F82F5EB8-7115-1C5D-F959-F5E0A58CD2F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4" name="Slide Number Placeholder 3">
            <a:extLst>
              <a:ext uri="{FF2B5EF4-FFF2-40B4-BE49-F238E27FC236}">
                <a16:creationId xmlns:a16="http://schemas.microsoft.com/office/drawing/2014/main" id="{16456A4E-38D9-C771-DC2B-DFA597B8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96125" y="63246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3794C48C-358E-A045-84F0-7DA5D606F95C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EC98CF7A-EC11-A094-5394-48CFE5C91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7793038" cy="914400"/>
          </a:xfrm>
        </p:spPr>
        <p:txBody>
          <a:bodyPr/>
          <a:lstStyle/>
          <a:p>
            <a:r>
              <a:rPr lang="en-US" altLang="zh-CN" b="1">
                <a:solidFill>
                  <a:srgbClr val="572314"/>
                </a:solidFill>
                <a:latin typeface="Times New Roman" panose="02020603050405020304" pitchFamily="18" charset="0"/>
              </a:rPr>
              <a:t>Greedy Knapsack algorithm</a:t>
            </a:r>
          </a:p>
        </p:txBody>
      </p:sp>
      <p:sp>
        <p:nvSpPr>
          <p:cNvPr id="24579" name="Slide Number Placeholder 3">
            <a:extLst>
              <a:ext uri="{FF2B5EF4-FFF2-40B4-BE49-F238E27FC236}">
                <a16:creationId xmlns:a16="http://schemas.microsoft.com/office/drawing/2014/main" id="{663BF09D-38FA-BB8D-BB3F-36315258F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8C7DCC51-2DC4-2F40-B3E3-DFC677A3D6C3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CC5E8B-6A56-3E8C-4234-1473F131A90F}"/>
              </a:ext>
            </a:extLst>
          </p:cNvPr>
          <p:cNvSpPr txBox="1">
            <a:spLocks/>
          </p:cNvSpPr>
          <p:nvPr/>
        </p:nvSpPr>
        <p:spPr bwMode="auto">
          <a:xfrm>
            <a:off x="785813" y="1071563"/>
            <a:ext cx="7772400" cy="550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b="1" kern="0" dirty="0">
                <a:latin typeface="Times New Roman" pitchFamily="18" charset="0"/>
                <a:cs typeface="Times New Roman" pitchFamily="18" charset="0"/>
              </a:rPr>
              <a:t>#Algorithm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GreedyKnapsack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b="1" i="1" kern="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i="1" kern="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 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en-US" sz="1800" kern="0" dirty="0">
                <a:latin typeface="Times New Roman" pitchFamily="18" charset="0"/>
                <a:cs typeface="Times New Roman" pitchFamily="18" charset="0"/>
              </a:rPr>
              <a:t>P[1:n] and w[1:n] contains the profit and weight respectively in decreasing order // of </a:t>
            </a:r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18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1800" b="1" baseline="-250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800" kern="0" dirty="0">
                <a:latin typeface="Times New Roman" pitchFamily="18" charset="0"/>
                <a:cs typeface="Times New Roman" pitchFamily="18" charset="0"/>
              </a:rPr>
              <a:t> m=knapsack size.</a:t>
            </a:r>
            <a:endParaRPr lang="en-US" kern="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nn-NO" kern="0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nn-NO" b="1" i="1" kern="0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nn-NO" kern="0" dirty="0">
                <a:latin typeface="Times New Roman" pitchFamily="18" charset="0"/>
                <a:cs typeface="Times New Roman" pitchFamily="18" charset="0"/>
              </a:rPr>
              <a:t>= 1 to </a:t>
            </a:r>
            <a:r>
              <a:rPr lang="nn-NO" b="1" i="1" kern="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nn-NO" kern="0" dirty="0"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nn-NO" b="1" kern="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nn-NO" kern="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nn-NO" i="1" kern="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nn-NO" kern="0" dirty="0">
                <a:latin typeface="Times New Roman" pitchFamily="18" charset="0"/>
                <a:cs typeface="Times New Roman" pitchFamily="18" charset="0"/>
              </a:rPr>
              <a:t>]=0.0 //initialize the solution vector</a:t>
            </a:r>
            <a:endParaRPr lang="nn-NO" sz="3200" kern="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b="1" kern="0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b="1" i="1" kern="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nn-NO" kern="0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nn-NO" b="1" i="1" kern="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nn-NO" kern="0" dirty="0">
                <a:latin typeface="Times New Roman" pitchFamily="18" charset="0"/>
                <a:cs typeface="Times New Roman" pitchFamily="18" charset="0"/>
              </a:rPr>
              <a:t> = 1 to </a:t>
            </a:r>
            <a:r>
              <a:rPr lang="nn-NO" b="1" i="1" kern="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nn-NO" kern="0" dirty="0">
                <a:latin typeface="Times New Roman" pitchFamily="18" charset="0"/>
                <a:cs typeface="Times New Roman" pitchFamily="18" charset="0"/>
              </a:rPr>
              <a:t> do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if  (</a:t>
            </a:r>
            <a:r>
              <a:rPr lang="en-US" b="1" kern="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i="1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]&gt;</a:t>
            </a:r>
            <a:r>
              <a:rPr lang="en-US" b="1" kern="0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) Then </a:t>
            </a:r>
            <a:r>
              <a:rPr lang="en-US" b="1" i="1" kern="0" dirty="0"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b="1" kern="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i="1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] = 1.0; </a:t>
            </a:r>
            <a:r>
              <a:rPr lang="en-US" b="1" kern="0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b="1" kern="0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b="1" kern="0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i="1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];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if(</a:t>
            </a:r>
            <a:r>
              <a:rPr lang="en-US" i="1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&lt;=</a:t>
            </a:r>
            <a:r>
              <a:rPr lang="en-US" b="1" i="1" kern="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) then </a:t>
            </a:r>
            <a:r>
              <a:rPr lang="en-US" b="1" kern="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i="1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]=</a:t>
            </a:r>
            <a:r>
              <a:rPr lang="en-US" b="1" kern="0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b="1" kern="0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i="1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];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cxnSp>
        <p:nvCxnSpPr>
          <p:cNvPr id="24581" name="Straight Connector 6">
            <a:extLst>
              <a:ext uri="{FF2B5EF4-FFF2-40B4-BE49-F238E27FC236}">
                <a16:creationId xmlns:a16="http://schemas.microsoft.com/office/drawing/2014/main" id="{2FF832E8-B4D2-D8F9-AE77-A4DB673EFBA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5327B65E-C5B3-08B1-053C-6627B8B4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ABA8D-5650-23FD-3A1E-D02776915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813" y="2000250"/>
            <a:ext cx="7772400" cy="762000"/>
          </a:xfrm>
        </p:spPr>
        <p:txBody>
          <a:bodyPr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zh-CN" sz="4000" b="1" dirty="0">
                <a:solidFill>
                  <a:srgbClr val="572314"/>
                </a:solidFill>
                <a:latin typeface="Times New Roman" pitchFamily="18" charset="0"/>
                <a:cs typeface="+mj-cs"/>
              </a:rPr>
              <a:t>Job Sequencing with Deadlines</a:t>
            </a:r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CC7371B3-CF8F-7B6D-4B1B-19CF9BAC3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31C56F54-84ED-8E41-AB5E-A29BB2D757B3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25605" name="TextBox 3">
            <a:extLst>
              <a:ext uri="{FF2B5EF4-FFF2-40B4-BE49-F238E27FC236}">
                <a16:creationId xmlns:a16="http://schemas.microsoft.com/office/drawing/2014/main" id="{48918D07-2BEF-F5D0-50CC-6C78315A3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8075" y="4786313"/>
            <a:ext cx="4011613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Dr. Md. Ali Hossain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Email. Ali.Hossain@ruet.ac.bd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16B4F976-C91D-0D69-65AC-F8A88DFD7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14313"/>
            <a:ext cx="7793038" cy="557212"/>
          </a:xfrm>
        </p:spPr>
        <p:txBody>
          <a:bodyPr/>
          <a:lstStyle/>
          <a:p>
            <a:r>
              <a:rPr lang="en-US" altLang="ko-KR" sz="3600" b="1">
                <a:solidFill>
                  <a:srgbClr val="572314"/>
                </a:solidFill>
                <a:latin typeface="Times New Roman" panose="02020603050405020304" pitchFamily="18" charset="0"/>
              </a:rPr>
              <a:t>Job Sequencing with Deadlines</a:t>
            </a:r>
            <a:r>
              <a:rPr lang="ko-KR" altLang="en-US" sz="3600" b="1">
                <a:solidFill>
                  <a:srgbClr val="572314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6627" name="Rectangle 1027">
            <a:extLst>
              <a:ext uri="{FF2B5EF4-FFF2-40B4-BE49-F238E27FC236}">
                <a16:creationId xmlns:a16="http://schemas.microsoft.com/office/drawing/2014/main" id="{280D9A73-C01C-7442-6DEE-EB90B33968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000125"/>
            <a:ext cx="7772400" cy="5143500"/>
          </a:xfrm>
        </p:spPr>
        <p:txBody>
          <a:bodyPr/>
          <a:lstStyle/>
          <a:p>
            <a:r>
              <a:rPr lang="en-US" altLang="ko-KR" sz="280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altLang="ko-K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2800">
                <a:latin typeface="Times New Roman" panose="02020603050405020304" pitchFamily="18" charset="0"/>
                <a:cs typeface="Times New Roman" panose="02020603050405020304" pitchFamily="18" charset="0"/>
              </a:rPr>
              <a:t>=4, (p</a:t>
            </a:r>
            <a:r>
              <a:rPr lang="en-US" altLang="ko-KR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2800">
                <a:latin typeface="Times New Roman" panose="02020603050405020304" pitchFamily="18" charset="0"/>
                <a:cs typeface="Times New Roman" panose="02020603050405020304" pitchFamily="18" charset="0"/>
              </a:rPr>
              <a:t>,p</a:t>
            </a:r>
            <a:r>
              <a:rPr lang="en-US" altLang="ko-KR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ko-KR" sz="2800">
                <a:latin typeface="Times New Roman" panose="02020603050405020304" pitchFamily="18" charset="0"/>
                <a:cs typeface="Times New Roman" panose="02020603050405020304" pitchFamily="18" charset="0"/>
              </a:rPr>
              <a:t>,p</a:t>
            </a:r>
            <a:r>
              <a:rPr lang="en-US" altLang="ko-KR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ko-KR" sz="2800">
                <a:latin typeface="Times New Roman" panose="02020603050405020304" pitchFamily="18" charset="0"/>
                <a:cs typeface="Times New Roman" panose="02020603050405020304" pitchFamily="18" charset="0"/>
              </a:rPr>
              <a:t>,p</a:t>
            </a:r>
            <a:r>
              <a:rPr lang="en-US" altLang="ko-KR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ko-KR" sz="2800">
                <a:latin typeface="Times New Roman" panose="02020603050405020304" pitchFamily="18" charset="0"/>
                <a:cs typeface="Times New Roman" panose="02020603050405020304" pitchFamily="18" charset="0"/>
              </a:rPr>
              <a:t>)=(100,10,15,27), (d</a:t>
            </a:r>
            <a:r>
              <a:rPr lang="en-US" altLang="ko-KR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2800">
                <a:latin typeface="Times New Roman" panose="02020603050405020304" pitchFamily="18" charset="0"/>
                <a:cs typeface="Times New Roman" panose="02020603050405020304" pitchFamily="18" charset="0"/>
              </a:rPr>
              <a:t>,d</a:t>
            </a:r>
            <a:r>
              <a:rPr lang="en-US" altLang="ko-KR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ko-KR" sz="2800">
                <a:latin typeface="Times New Roman" panose="02020603050405020304" pitchFamily="18" charset="0"/>
                <a:cs typeface="Times New Roman" panose="02020603050405020304" pitchFamily="18" charset="0"/>
              </a:rPr>
              <a:t>,d</a:t>
            </a:r>
            <a:r>
              <a:rPr lang="en-US" altLang="ko-KR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ko-KR" sz="2800">
                <a:latin typeface="Times New Roman" panose="02020603050405020304" pitchFamily="18" charset="0"/>
                <a:cs typeface="Times New Roman" panose="02020603050405020304" pitchFamily="18" charset="0"/>
              </a:rPr>
              <a:t>,d</a:t>
            </a:r>
            <a:r>
              <a:rPr lang="en-US" altLang="ko-KR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ko-KR" sz="2800">
                <a:latin typeface="Times New Roman" panose="02020603050405020304" pitchFamily="18" charset="0"/>
                <a:cs typeface="Times New Roman" panose="02020603050405020304" pitchFamily="18" charset="0"/>
              </a:rPr>
              <a:t>)=(2,1,2,1)</a:t>
            </a:r>
          </a:p>
          <a:p>
            <a:pPr lvl="3">
              <a:lnSpc>
                <a:spcPct val="80000"/>
              </a:lnSpc>
              <a:buFontTx/>
              <a:buNone/>
            </a:pPr>
            <a:endParaRPr lang="en-US" altLang="ko-K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altLang="ko-KR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Feasible        Processing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altLang="ko-KR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       sequence             Value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  1.   (1, 2)          2, 1               110 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  2.   (1, 3)          1, 3 or 3, 1    115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  3.   (1, 4)          4, 1               </a:t>
            </a:r>
            <a:r>
              <a:rPr lang="en-US" altLang="ko-KR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127</a:t>
            </a:r>
            <a:endParaRPr lang="ko-KR" altLang="en-US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  4.   (2, 3)          2, 3                25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  5.   (3, 4)          4, 3                42 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  6.     (1)            1                   100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  7.     (2)            2                   10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  8.     (3)            3                   15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  9.     (4)            4                   27</a:t>
            </a:r>
          </a:p>
          <a:p>
            <a:pPr lvl="2">
              <a:buFontTx/>
              <a:buNone/>
            </a:pPr>
            <a:endParaRPr lang="en-US" altLang="ko-K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628" name="Straight Connector 8">
            <a:extLst>
              <a:ext uri="{FF2B5EF4-FFF2-40B4-BE49-F238E27FC236}">
                <a16:creationId xmlns:a16="http://schemas.microsoft.com/office/drawing/2014/main" id="{5FBEB6F3-4DA2-E762-90C0-038477D2CB4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29" name="Slide Number Placeholder 3">
            <a:extLst>
              <a:ext uri="{FF2B5EF4-FFF2-40B4-BE49-F238E27FC236}">
                <a16:creationId xmlns:a16="http://schemas.microsoft.com/office/drawing/2014/main" id="{EF680A2B-ABAA-2EC2-4C81-777877E1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96125" y="63246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A2C8E282-3B8D-084A-9BAD-6F5A5D32B28D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FE7889D3-46A2-B644-CB1C-E9FAC5C32B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93038" cy="557213"/>
          </a:xfrm>
        </p:spPr>
        <p:txBody>
          <a:bodyPr/>
          <a:lstStyle/>
          <a:p>
            <a:r>
              <a:rPr lang="en-US" altLang="ko-KR" sz="3200" b="1">
                <a:solidFill>
                  <a:srgbClr val="572314"/>
                </a:solidFill>
                <a:latin typeface="Times New Roman" panose="02020603050405020304" pitchFamily="18" charset="0"/>
              </a:rPr>
              <a:t>Job Sequencing with Deadlines Contd..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320C5BF-53BD-292C-9449-3D058866C5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143000"/>
            <a:ext cx="7772400" cy="53578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</a:rPr>
              <a:t>Greedy strategy using </a:t>
            </a:r>
            <a:r>
              <a:rPr lang="en-US" altLang="ko-KR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</a:t>
            </a:r>
            <a:r>
              <a:rPr lang="en-US" altLang="ko-KR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</a:rPr>
              <a:t>as optimization function </a:t>
            </a:r>
          </a:p>
          <a:p>
            <a:pPr lvl="1">
              <a:lnSpc>
                <a:spcPct val="90000"/>
              </a:lnSpc>
            </a:pP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</a:rPr>
              <a:t>Applying to previous example</a:t>
            </a:r>
          </a:p>
          <a:p>
            <a:pPr lvl="2">
              <a:lnSpc>
                <a:spcPct val="90000"/>
              </a:lnSpc>
            </a:pP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</a:rPr>
              <a:t>Begin with </a:t>
            </a:r>
            <a:r>
              <a:rPr lang="en-US" altLang="ko-KR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J=</a:t>
            </a:r>
            <a:r>
              <a:rPr lang="en-US" altLang="ko-KR" sz="1800" b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</a:t>
            </a:r>
          </a:p>
          <a:p>
            <a:pPr lvl="2">
              <a:lnSpc>
                <a:spcPct val="90000"/>
              </a:lnSpc>
            </a:pP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Job 1 considered, and added to </a:t>
            </a:r>
            <a:r>
              <a:rPr lang="en-US" altLang="ko-KR" sz="1800" b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J </a:t>
            </a:r>
            <a:r>
              <a:rPr lang="en-US" altLang="ko-KR" sz="1800" b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J={1}</a:t>
            </a:r>
          </a:p>
          <a:p>
            <a:pPr lvl="2">
              <a:lnSpc>
                <a:spcPct val="90000"/>
              </a:lnSpc>
            </a:pP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Job 4 considered, and added to J </a:t>
            </a: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altLang="ko-KR" sz="1800" b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J={1,4}</a:t>
            </a:r>
          </a:p>
          <a:p>
            <a:pPr lvl="2">
              <a:lnSpc>
                <a:spcPct val="90000"/>
              </a:lnSpc>
            </a:pP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Job 3 considered, but </a:t>
            </a:r>
            <a:r>
              <a:rPr lang="en-US" altLang="ko-KR" sz="1800" b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discarded</a:t>
            </a: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because not feasible </a:t>
            </a: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altLang="ko-KR" sz="1800" b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J={1,4}</a:t>
            </a:r>
            <a:endParaRPr lang="en-US" altLang="ko-KR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90000"/>
              </a:lnSpc>
            </a:pP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Job 2 considered, but </a:t>
            </a:r>
            <a:r>
              <a:rPr lang="en-US" altLang="ko-KR" sz="1800" b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discarded</a:t>
            </a: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because not feasible </a:t>
            </a: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altLang="ko-KR" sz="1800" b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J={1,4}</a:t>
            </a:r>
          </a:p>
          <a:p>
            <a:pPr lvl="2">
              <a:lnSpc>
                <a:spcPct val="90000"/>
              </a:lnSpc>
            </a:pP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Final solution is </a:t>
            </a:r>
            <a:r>
              <a:rPr lang="en-US" altLang="ko-KR" sz="1800" b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J={1,4} </a:t>
            </a: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with total profit </a:t>
            </a:r>
            <a:r>
              <a:rPr lang="en-US" altLang="ko-KR" sz="1800" b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127</a:t>
            </a:r>
          </a:p>
          <a:p>
            <a:pPr lvl="1">
              <a:lnSpc>
                <a:spcPct val="90000"/>
              </a:lnSpc>
            </a:pP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It is optimal</a:t>
            </a:r>
          </a:p>
          <a:p>
            <a:pPr>
              <a:lnSpc>
                <a:spcPct val="90000"/>
              </a:lnSpc>
            </a:pP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How to determine the feasibility of J ?</a:t>
            </a:r>
          </a:p>
          <a:p>
            <a:pPr lvl="1">
              <a:lnSpc>
                <a:spcPct val="90000"/>
              </a:lnSpc>
            </a:pP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Trying out all the permutations </a:t>
            </a:r>
          </a:p>
          <a:p>
            <a:pPr lvl="2">
              <a:lnSpc>
                <a:spcPct val="90000"/>
              </a:lnSpc>
            </a:pP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Computational explosion since there are </a:t>
            </a:r>
            <a:r>
              <a:rPr lang="en-US" altLang="ko-KR" sz="1800" b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n! </a:t>
            </a: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permutations</a:t>
            </a:r>
          </a:p>
          <a:p>
            <a:pPr lvl="1">
              <a:lnSpc>
                <a:spcPct val="90000"/>
              </a:lnSpc>
            </a:pP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Possible by checking only one permutation</a:t>
            </a:r>
          </a:p>
          <a:p>
            <a:pPr lvl="2">
              <a:lnSpc>
                <a:spcPct val="90000"/>
              </a:lnSpc>
            </a:pP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By Theorem 4.3</a:t>
            </a:r>
          </a:p>
          <a:p>
            <a:pPr>
              <a:lnSpc>
                <a:spcPct val="90000"/>
              </a:lnSpc>
            </a:pP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Theorem 4.3 Let </a:t>
            </a:r>
            <a:r>
              <a:rPr lang="en-US" altLang="ko-KR" sz="1800" i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J</a:t>
            </a: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be a set of </a:t>
            </a:r>
            <a:r>
              <a:rPr lang="en-US" altLang="ko-KR" sz="1800" i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k</a:t>
            </a: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jobs and                                 a permutation of jobs in </a:t>
            </a:r>
            <a:r>
              <a:rPr lang="en-US" altLang="ko-KR" sz="1800" i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J</a:t>
            </a: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such that                                    Then </a:t>
            </a:r>
            <a:r>
              <a:rPr lang="en-US" altLang="ko-KR" sz="1800" i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J</a:t>
            </a: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is a feasible solution iff the jobs in </a:t>
            </a:r>
            <a:r>
              <a:rPr lang="en-US" altLang="ko-KR" sz="1800" i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J</a:t>
            </a:r>
            <a:r>
              <a:rPr lang="en-US" altLang="ko-K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can be processed in the order      without violating any deadline.        </a:t>
            </a:r>
            <a:endParaRPr lang="ko-KR" altLang="en-US" sz="180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endParaRPr lang="ko-KR" altLang="en-US" sz="180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</p:txBody>
      </p:sp>
      <p:graphicFrame>
        <p:nvGraphicFramePr>
          <p:cNvPr id="27652" name="Object 2">
            <a:extLst>
              <a:ext uri="{FF2B5EF4-FFF2-40B4-BE49-F238E27FC236}">
                <a16:creationId xmlns:a16="http://schemas.microsoft.com/office/drawing/2014/main" id="{5DB00BCF-1D63-25D2-CB84-52A5A9DA77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0" y="5613400"/>
          <a:ext cx="19621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19200" imgH="5270500" progId="Equation.3">
                  <p:embed/>
                </p:oleObj>
              </mc:Choice>
              <mc:Fallback>
                <p:oleObj name="Equation" r:id="rId2" imgW="26619200" imgH="5270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5613400"/>
                        <a:ext cx="19621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3">
            <a:extLst>
              <a:ext uri="{FF2B5EF4-FFF2-40B4-BE49-F238E27FC236}">
                <a16:creationId xmlns:a16="http://schemas.microsoft.com/office/drawing/2014/main" id="{AFAC87F2-3B86-799B-6907-266A8D6994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97438" y="5360988"/>
          <a:ext cx="178276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304000" imgH="5270500" progId="Equation.3">
                  <p:embed/>
                </p:oleObj>
              </mc:Choice>
              <mc:Fallback>
                <p:oleObj name="Equation" r:id="rId4" imgW="19304000" imgH="5270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438" y="5360988"/>
                        <a:ext cx="1782762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4">
            <a:extLst>
              <a:ext uri="{FF2B5EF4-FFF2-40B4-BE49-F238E27FC236}">
                <a16:creationId xmlns:a16="http://schemas.microsoft.com/office/drawing/2014/main" id="{8A67DBDD-7DEC-4678-6CFD-EC8F86ECDE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9475" y="5921375"/>
          <a:ext cx="338138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05200" imgH="3213100" progId="Equation.3">
                  <p:embed/>
                </p:oleObj>
              </mc:Choice>
              <mc:Fallback>
                <p:oleObj name="Equation" r:id="rId6" imgW="3505200" imgH="3213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9475" y="5921375"/>
                        <a:ext cx="338138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655" name="Straight Connector 8">
            <a:extLst>
              <a:ext uri="{FF2B5EF4-FFF2-40B4-BE49-F238E27FC236}">
                <a16:creationId xmlns:a16="http://schemas.microsoft.com/office/drawing/2014/main" id="{A66A156A-3AF1-AB70-A497-BBF8F128DB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56" name="Slide Number Placeholder 3">
            <a:extLst>
              <a:ext uri="{FF2B5EF4-FFF2-40B4-BE49-F238E27FC236}">
                <a16:creationId xmlns:a16="http://schemas.microsoft.com/office/drawing/2014/main" id="{83349D68-F67B-1BE5-30C4-3D2E85D4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67563" y="63246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6B3CA5DB-C50A-5F46-9E4E-771503D38368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CEEB611-45AA-345E-2BDC-E2B1DAF058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157163"/>
            <a:ext cx="8096250" cy="557212"/>
          </a:xfrm>
        </p:spPr>
        <p:txBody>
          <a:bodyPr/>
          <a:lstStyle/>
          <a:p>
            <a:r>
              <a:rPr lang="en-US" altLang="ko-KR" sz="3200" b="1">
                <a:solidFill>
                  <a:srgbClr val="572314"/>
                </a:solidFill>
                <a:latin typeface="Times New Roman" panose="02020603050405020304" pitchFamily="18" charset="0"/>
              </a:rPr>
              <a:t>Job Sequencing with Deadlines Contd..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A1E3AC08-D2C5-2281-B42A-FBC7B3746C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923925"/>
            <a:ext cx="8643937" cy="4648200"/>
          </a:xfrm>
        </p:spPr>
        <p:txBody>
          <a:bodyPr/>
          <a:lstStyle/>
          <a:p>
            <a:r>
              <a:rPr lang="en-US" altLang="ko-KR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The greedy method described above always obtains an optimal solution to the job sequencing problem.</a:t>
            </a:r>
            <a:endParaRPr lang="ko-KR" altLang="en-US" sz="240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r>
              <a:rPr lang="en-US" altLang="ko-KR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High level description of job sequencing algorithm</a:t>
            </a:r>
          </a:p>
          <a:p>
            <a:pPr lvl="1"/>
            <a:r>
              <a:rPr lang="en-US" altLang="ko-KR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Assuming the jobs are ordered such that p[1]</a:t>
            </a:r>
            <a:r>
              <a:rPr lang="en-US" altLang="ko-KR" sz="24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p[2]…p[n]</a:t>
            </a:r>
            <a:endParaRPr lang="en-US" altLang="ko-KR" sz="240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endParaRPr lang="ko-KR" altLang="en-US" sz="280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4F4EFF7F-F0A3-5B37-6FB9-2CCB55098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313" y="3132138"/>
            <a:ext cx="5257800" cy="286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2000">
                <a:latin typeface="Times New Roman" panose="02020603050405020304" pitchFamily="18" charset="0"/>
              </a:rPr>
              <a:t>GreedyJob(int a[], set J, int n)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2000">
                <a:latin typeface="Times New Roman" panose="02020603050405020304" pitchFamily="18" charset="0"/>
              </a:rPr>
              <a:t>// J is a set of jobs that can be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2000">
                <a:latin typeface="Times New Roman" panose="02020603050405020304" pitchFamily="18" charset="0"/>
              </a:rPr>
              <a:t>// completed by their deadlines.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200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2000">
                <a:latin typeface="Times New Roman" panose="02020603050405020304" pitchFamily="18" charset="0"/>
              </a:rPr>
              <a:t>       J = {1};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2000">
                <a:latin typeface="Times New Roman" panose="02020603050405020304" pitchFamily="18" charset="0"/>
              </a:rPr>
              <a:t>       for (int i=2; i&lt;=n; i++) {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2000">
                <a:latin typeface="Times New Roman" panose="02020603050405020304" pitchFamily="18" charset="0"/>
              </a:rPr>
              <a:t>           if (all jobs in J ∪{i} can be completed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2000">
                <a:latin typeface="Times New Roman" panose="02020603050405020304" pitchFamily="18" charset="0"/>
              </a:rPr>
              <a:t>           by their deadlines)  J = J ∪{i};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2000">
                <a:latin typeface="Times New Roman" panose="02020603050405020304" pitchFamily="18" charset="0"/>
              </a:rPr>
              <a:t>       }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2000">
                <a:latin typeface="Times New Roman" panose="02020603050405020304" pitchFamily="18" charset="0"/>
              </a:rPr>
              <a:t>} </a:t>
            </a: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3D1A74DD-687B-9C98-BCC6-2B5B92402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4600" y="3117850"/>
            <a:ext cx="5638800" cy="288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cxnSp>
        <p:nvCxnSpPr>
          <p:cNvPr id="28678" name="Straight Connector 8">
            <a:extLst>
              <a:ext uri="{FF2B5EF4-FFF2-40B4-BE49-F238E27FC236}">
                <a16:creationId xmlns:a16="http://schemas.microsoft.com/office/drawing/2014/main" id="{2F92288C-DAFF-F6C8-767B-9CFE308E5DD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79" name="Slide Number Placeholder 3">
            <a:extLst>
              <a:ext uri="{FF2B5EF4-FFF2-40B4-BE49-F238E27FC236}">
                <a16:creationId xmlns:a16="http://schemas.microsoft.com/office/drawing/2014/main" id="{BEDF572E-688C-7516-9A02-0C407248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96125" y="63246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10281E30-3D90-6544-B069-5D0A639D1B4F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B2AE651F-8E03-62B7-29DC-3AE502CCA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EEE79C6C-33EE-2B31-1950-C2ECF364B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23A5148F-6BBA-2679-2471-B73571BF6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3487FD7B-CCC0-B74F-92F4-5B95CAE1807F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68B583-D597-7200-FC35-E18D9C431953}"/>
              </a:ext>
            </a:extLst>
          </p:cNvPr>
          <p:cNvSpPr/>
          <p:nvPr/>
        </p:nvSpPr>
        <p:spPr>
          <a:xfrm>
            <a:off x="2643188" y="3214688"/>
            <a:ext cx="4043362" cy="7699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4400" b="1" dirty="0">
                <a:solidFill>
                  <a:srgbClr val="572314"/>
                </a:solidFill>
                <a:latin typeface="Times New Roman" pitchFamily="18" charset="0"/>
                <a:cs typeface="+mj-cs"/>
              </a:rPr>
              <a:t>Spanning Trees </a:t>
            </a:r>
            <a:endParaRPr lang="en-US" altLang="zh-CN" sz="4400" b="1" dirty="0">
              <a:solidFill>
                <a:srgbClr val="572314"/>
              </a:solidFill>
              <a:latin typeface="Times New Roman" pitchFamily="18" charset="0"/>
              <a:cs typeface="+mj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投影片編號版面配置區 5">
            <a:extLst>
              <a:ext uri="{FF2B5EF4-FFF2-40B4-BE49-F238E27FC236}">
                <a16:creationId xmlns:a16="http://schemas.microsoft.com/office/drawing/2014/main" id="{F12D9C72-D198-4411-5EB2-C0241845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6EECA290-63C3-0D45-8013-E8FB2427B49E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2CA8EF0-666F-0FDF-96D8-CB1BA470C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2938" y="0"/>
            <a:ext cx="7793037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b="1" kern="1200" dirty="0">
                <a:solidFill>
                  <a:srgbClr val="572314"/>
                </a:solidFill>
                <a:latin typeface="Times New Roman" pitchFamily="18" charset="0"/>
              </a:rPr>
              <a:t>Minimum Spanning Trees </a:t>
            </a:r>
            <a:endParaRPr lang="zh-TW" altLang="en-US" b="1" kern="1200" dirty="0">
              <a:solidFill>
                <a:srgbClr val="572314"/>
              </a:solidFill>
              <a:latin typeface="Times New Roman" pitchFamily="18" charset="0"/>
            </a:endParaRP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C1103AF9-8512-A427-860F-53F655A09E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5750" y="1524000"/>
            <a:ext cx="85725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Let 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G = (V, E)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be an undirected connected graph.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subgraph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t = (V, E</a:t>
            </a:r>
            <a:r>
              <a:rPr lang="en-US" altLang="zh-TW" b="1" dirty="0">
                <a:latin typeface="+mj-lt"/>
                <a:cs typeface="Times New Roman" pitchFamily="18" charset="0"/>
              </a:rPr>
              <a:t>’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is a spanning tree of 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iff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is a tree.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altLang="zh-TW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Spanning tree</a:t>
            </a:r>
            <a:r>
              <a:rPr lang="en-US" altLang="zh-TW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a minimal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subgraph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b="1" dirty="0">
                <a:latin typeface="+mj-lt"/>
                <a:cs typeface="Times New Roman" pitchFamily="18" charset="0"/>
              </a:rPr>
              <a:t>’</a:t>
            </a:r>
            <a:r>
              <a:rPr lang="en-US" dirty="0">
                <a:latin typeface="+mj-lt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a graph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such that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V (G</a:t>
            </a:r>
            <a:r>
              <a:rPr lang="en-US" b="1" dirty="0">
                <a:latin typeface="+mj-lt"/>
                <a:cs typeface="Times New Roman" pitchFamily="18" charset="0"/>
              </a:rPr>
              <a:t>’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V (G)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b="1" dirty="0">
                <a:latin typeface="+mj-lt"/>
                <a:cs typeface="Times New Roman" pitchFamily="18" charset="0"/>
              </a:rPr>
              <a:t>’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connected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connected graph with </a:t>
            </a:r>
            <a:r>
              <a:rPr lang="en-US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vertices and </a:t>
            </a:r>
            <a:r>
              <a:rPr lang="en-US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n-1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edges is a trees</a:t>
            </a:r>
            <a:endParaRPr lang="en-US" altLang="zh-TW" u="sng" dirty="0">
              <a:solidFill>
                <a:schemeClr val="hlink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Minimum spanning tree(MST)</a:t>
            </a:r>
            <a:r>
              <a:rPr lang="en-US" altLang="zh-TW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: a spanning tree with the smallest total weight/cost.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0725" name="Straight Connector 8">
            <a:extLst>
              <a:ext uri="{FF2B5EF4-FFF2-40B4-BE49-F238E27FC236}">
                <a16:creationId xmlns:a16="http://schemas.microsoft.com/office/drawing/2014/main" id="{072D17EA-7252-1E10-47F3-5302C252A94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投影片編號版面配置區 5">
            <a:extLst>
              <a:ext uri="{FF2B5EF4-FFF2-40B4-BE49-F238E27FC236}">
                <a16:creationId xmlns:a16="http://schemas.microsoft.com/office/drawing/2014/main" id="{C68AC8DA-A5C1-810F-97F3-583D3323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8994E577-C595-A549-AA06-A56ADFF93B07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CC4A73FA-ACFE-7618-B3DD-5BC298578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93038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b="1" kern="1200" dirty="0">
                <a:solidFill>
                  <a:srgbClr val="572314"/>
                </a:solidFill>
                <a:latin typeface="Times New Roman" pitchFamily="18" charset="0"/>
              </a:rPr>
              <a:t>An Example of MST</a:t>
            </a:r>
            <a:endParaRPr lang="zh-TW" altLang="en-US" b="1" kern="1200" dirty="0">
              <a:solidFill>
                <a:srgbClr val="572314"/>
              </a:solidFill>
              <a:latin typeface="Times New Roman" pitchFamily="18" charset="0"/>
            </a:endParaRP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AC49B054-63E9-69AB-D8FD-52E9D06DBD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7772400" cy="1333500"/>
          </a:xfrm>
        </p:spPr>
        <p:txBody>
          <a:bodyPr/>
          <a:lstStyle/>
          <a:p>
            <a:pPr eaLnBrk="1" hangingPunct="1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A graph and one of its minimum costs spanning tree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9094AF7E-1FD3-6C2E-7AB1-BFBA28CE2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2586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32774" name="Picture 8">
            <a:extLst>
              <a:ext uri="{FF2B5EF4-FFF2-40B4-BE49-F238E27FC236}">
                <a16:creationId xmlns:a16="http://schemas.microsoft.com/office/drawing/2014/main" id="{195EDD2E-6EF6-5E1A-A846-50F9418F9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2736850"/>
            <a:ext cx="2640012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5" name="Picture 9">
            <a:extLst>
              <a:ext uri="{FF2B5EF4-FFF2-40B4-BE49-F238E27FC236}">
                <a16:creationId xmlns:a16="http://schemas.microsoft.com/office/drawing/2014/main" id="{CECAAE85-FEB9-7BB1-6C2E-B7B0A21ED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3" y="2711450"/>
            <a:ext cx="2751137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776" name="Straight Connector 8">
            <a:extLst>
              <a:ext uri="{FF2B5EF4-FFF2-40B4-BE49-F238E27FC236}">
                <a16:creationId xmlns:a16="http://schemas.microsoft.com/office/drawing/2014/main" id="{C5E36B6E-5705-6982-D67F-50D9B4A25AB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C78B0-B220-ADF6-69FF-038DEB2A1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0"/>
            <a:ext cx="7793037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b="1" kern="1200" dirty="0">
                <a:solidFill>
                  <a:srgbClr val="572314"/>
                </a:solidFill>
                <a:latin typeface="Times New Roman" pitchFamily="18" charset="0"/>
              </a:rPr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5772D-7D4E-86B9-BAD1-7155069F1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524000"/>
            <a:ext cx="8248650" cy="46482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 Prim’s algorithm, grow the tree one edge at a time</a:t>
            </a:r>
          </a:p>
          <a:p>
            <a:pPr marL="800100" indent="-400050">
              <a:buFont typeface="Arial" pitchFamily="34" charset="0"/>
              <a:buChar char="•"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edge is chosen based on some optimization criterion</a:t>
            </a:r>
          </a:p>
          <a:p>
            <a:pPr marL="800100" indent="-400050">
              <a:buFont typeface="Arial" pitchFamily="34" charset="0"/>
              <a:buChar char="•"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Select an edge that increases the overall weight of the tree by a minimum amount</a:t>
            </a:r>
          </a:p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Set of edges A selected thus far forms a tree</a:t>
            </a:r>
          </a:p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The next edge (u, v) to be included in A is a minimum cost edge not in A with the property that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AU(u, v) is also a tree</a:t>
            </a: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B7EB4870-5D3B-6134-1BC7-42B16BDB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FE8C50C7-3050-504F-9858-B022D0FF1F98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cxnSp>
        <p:nvCxnSpPr>
          <p:cNvPr id="34821" name="Straight Connector 8">
            <a:extLst>
              <a:ext uri="{FF2B5EF4-FFF2-40B4-BE49-F238E27FC236}">
                <a16:creationId xmlns:a16="http://schemas.microsoft.com/office/drawing/2014/main" id="{F55F6B0F-25B9-2543-DF3F-749E4E6963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2AD49-80B9-5905-FC30-916BC06F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0"/>
            <a:ext cx="7793037" cy="914400"/>
          </a:xfrm>
        </p:spPr>
        <p:txBody>
          <a:bodyPr/>
          <a:lstStyle/>
          <a:p>
            <a:pPr>
              <a:defRPr/>
            </a:pPr>
            <a:r>
              <a:rPr lang="en-US" altLang="zh-TW" b="1" kern="1200" dirty="0">
                <a:solidFill>
                  <a:srgbClr val="572314"/>
                </a:solidFill>
                <a:latin typeface="Times New Roman" pitchFamily="18" charset="0"/>
              </a:rPr>
              <a:t>Growing MST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C0969-8E81-397F-1546-C75944753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813" y="1285875"/>
            <a:ext cx="7772400" cy="5072063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Manage a set 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that is always a subset of some minimum spanning tree</a:t>
            </a:r>
          </a:p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At each step, an edge (u, v) is determined such that </a:t>
            </a:r>
            <a:r>
              <a:rPr 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AU (u, v)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is also a subset of a minimum spanning tree</a:t>
            </a:r>
          </a:p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(u, v) is called a safe edge</a:t>
            </a:r>
          </a:p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Two popular algorithms used to implement minimum spanning tree</a:t>
            </a:r>
          </a:p>
          <a:p>
            <a:pPr marL="742950">
              <a:buFont typeface="Arial" pitchFamily="34" charset="0"/>
              <a:buChar char="•"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Prims algorithm</a:t>
            </a:r>
          </a:p>
          <a:p>
            <a:pPr marL="742950">
              <a:buFont typeface="Arial" pitchFamily="34" charset="0"/>
              <a:buChar char="•"/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Kruskal’s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algorithm</a:t>
            </a:r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A284A6DE-E52F-5358-F0C5-0D3D932D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6C500B74-A90E-C443-80E0-D89FC02832FF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cxnSp>
        <p:nvCxnSpPr>
          <p:cNvPr id="35845" name="Straight Connector 8">
            <a:extLst>
              <a:ext uri="{FF2B5EF4-FFF2-40B4-BE49-F238E27FC236}">
                <a16:creationId xmlns:a16="http://schemas.microsoft.com/office/drawing/2014/main" id="{97BBFA98-1D4B-9808-1A97-DB97CE36DB7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E72FB-D6CF-5752-1D03-E058B4A6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0"/>
            <a:ext cx="7793038" cy="914400"/>
          </a:xfrm>
        </p:spPr>
        <p:txBody>
          <a:bodyPr/>
          <a:lstStyle/>
          <a:p>
            <a:pPr>
              <a:defRPr/>
            </a:pPr>
            <a:r>
              <a:rPr lang="en-US" altLang="zh-TW" b="1" kern="1200" dirty="0">
                <a:solidFill>
                  <a:srgbClr val="572314"/>
                </a:solidFill>
                <a:latin typeface="Times New Roman" pitchFamily="18" charset="0"/>
              </a:rPr>
              <a:t>Prim’s Algorithm</a:t>
            </a:r>
            <a:endParaRPr lang="en-US" dirty="0"/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4E7F554B-01E9-C37C-F9DD-266EABA93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285875"/>
            <a:ext cx="8572500" cy="4857750"/>
          </a:xfrm>
        </p:spPr>
        <p:txBody>
          <a:bodyPr/>
          <a:lstStyle/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any arbitrarily selected vertex</a:t>
            </a:r>
          </a:p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 way to select the starting point is to start with the </a:t>
            </a:r>
            <a:r>
              <a:rPr lang="en-US" altLang="en-US" sz="2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vertices of the minimum cost edge</a:t>
            </a:r>
          </a:p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set </a:t>
            </a:r>
            <a:r>
              <a:rPr lang="en-US" altLang="en-US" sz="2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of edges so far selected form a tree</a:t>
            </a:r>
          </a:p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next edge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(u, v)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to be included in A is a minimum cost edge not in A such that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 U (u, v)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is also a tree</a:t>
            </a:r>
          </a:p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With each vertex, associate a value called </a:t>
            </a:r>
            <a:r>
              <a:rPr lang="en-US" altLang="en-US" sz="2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near[j]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with each vertex </a:t>
            </a:r>
            <a:r>
              <a:rPr lang="en-US" altLang="en-US" sz="2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that is not yet included in the tree</a:t>
            </a:r>
          </a:p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near[j]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the vertex in the tree such that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cost(j, near[j])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is minimum for all choices for near[j]</a:t>
            </a:r>
          </a:p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050D459B-4F1F-9F27-33FA-69B91BC31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BF5F30BC-BF5F-1B49-8E1C-E56B212FE3AE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cxnSp>
        <p:nvCxnSpPr>
          <p:cNvPr id="36869" name="Straight Connector 8">
            <a:extLst>
              <a:ext uri="{FF2B5EF4-FFF2-40B4-BE49-F238E27FC236}">
                <a16:creationId xmlns:a16="http://schemas.microsoft.com/office/drawing/2014/main" id="{766A449B-717F-BBE9-97BC-BF9101A58E8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48FE0-FD10-B249-E8D7-A3F6ED54E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0"/>
            <a:ext cx="7793037" cy="914400"/>
          </a:xfrm>
        </p:spPr>
        <p:txBody>
          <a:bodyPr/>
          <a:lstStyle/>
          <a:p>
            <a:pPr>
              <a:defRPr/>
            </a:pPr>
            <a:r>
              <a:rPr lang="en-US" altLang="zh-TW" sz="4000" b="1" kern="1200" dirty="0">
                <a:solidFill>
                  <a:srgbClr val="572314"/>
                </a:solidFill>
                <a:latin typeface="Times New Roman" pitchFamily="18" charset="0"/>
              </a:rPr>
              <a:t>Prim’s Algorithm Contd..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B068F432-1A91-FAE0-7B3E-67875FB94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Change near[j] to </a:t>
            </a:r>
            <a:r>
              <a:rPr lang="el-G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for all vertices j that are already in the tree</a:t>
            </a: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Add a vertex to the set by looking for the closest vertex to the current tree</a:t>
            </a: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time complexity of Prims algorithm is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</a:t>
            </a:r>
            <a:r>
              <a:rPr lang="en-US" altLang="en-US" baseline="30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where n is the number of vertices.</a:t>
            </a:r>
          </a:p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90E3A75C-9E1C-EB45-96E1-ED408A52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BAD940E3-4911-F647-8FB8-3E35DF8EF027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cxnSp>
        <p:nvCxnSpPr>
          <p:cNvPr id="37893" name="Straight Connector 8">
            <a:extLst>
              <a:ext uri="{FF2B5EF4-FFF2-40B4-BE49-F238E27FC236}">
                <a16:creationId xmlns:a16="http://schemas.microsoft.com/office/drawing/2014/main" id="{A59101D6-C1D9-7528-F196-28454DCC6F2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DFEC9-38F3-49FC-28F3-3D93BE7FB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0"/>
            <a:ext cx="7793038" cy="914400"/>
          </a:xfrm>
        </p:spPr>
        <p:txBody>
          <a:bodyPr/>
          <a:lstStyle/>
          <a:p>
            <a:pPr>
              <a:defRPr/>
            </a:pPr>
            <a:r>
              <a:rPr lang="en-US" altLang="zh-TW" sz="4000" b="1" kern="1200" dirty="0">
                <a:solidFill>
                  <a:srgbClr val="572314"/>
                </a:solidFill>
                <a:latin typeface="Times New Roman" pitchFamily="18" charset="0"/>
              </a:rPr>
              <a:t>Example # for Prim’s Algorithm</a:t>
            </a:r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533552F1-7301-FB36-89CE-8549AD888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2D159588-B637-5E4B-ADCB-4A5269761C26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B01B68E1-BB96-802A-BD6C-D25ACC4134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8625" y="1428750"/>
            <a:ext cx="1508125" cy="1946275"/>
          </a:xfrm>
          <a:noFill/>
        </p:spPr>
      </p:pic>
      <p:pic>
        <p:nvPicPr>
          <p:cNvPr id="118786" name="Picture 2">
            <a:extLst>
              <a:ext uri="{FF2B5EF4-FFF2-40B4-BE49-F238E27FC236}">
                <a16:creationId xmlns:a16="http://schemas.microsoft.com/office/drawing/2014/main" id="{B14DB8F1-2B25-9BF7-1823-34B210B65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428750"/>
            <a:ext cx="1560512" cy="194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787" name="Picture 3">
            <a:extLst>
              <a:ext uri="{FF2B5EF4-FFF2-40B4-BE49-F238E27FC236}">
                <a16:creationId xmlns:a16="http://schemas.microsoft.com/office/drawing/2014/main" id="{F9C85867-6701-E849-26A3-15C31863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263" y="1428750"/>
            <a:ext cx="1535112" cy="194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788" name="Picture 4">
            <a:extLst>
              <a:ext uri="{FF2B5EF4-FFF2-40B4-BE49-F238E27FC236}">
                <a16:creationId xmlns:a16="http://schemas.microsoft.com/office/drawing/2014/main" id="{7F0EB0FC-900A-962D-F343-9A57CAD70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8038" y="1428750"/>
            <a:ext cx="1557337" cy="194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789" name="Picture 5">
            <a:extLst>
              <a:ext uri="{FF2B5EF4-FFF2-40B4-BE49-F238E27FC236}">
                <a16:creationId xmlns:a16="http://schemas.microsoft.com/office/drawing/2014/main" id="{7ADB705A-DC76-85AE-9FC7-011220BF9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3929063"/>
            <a:ext cx="1508125" cy="194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790" name="Picture 6">
            <a:extLst>
              <a:ext uri="{FF2B5EF4-FFF2-40B4-BE49-F238E27FC236}">
                <a16:creationId xmlns:a16="http://schemas.microsoft.com/office/drawing/2014/main" id="{C7C1E71C-4EF1-D71E-0D11-19344333A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4071938"/>
            <a:ext cx="1501775" cy="194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791" name="Picture 7">
            <a:extLst>
              <a:ext uri="{FF2B5EF4-FFF2-40B4-BE49-F238E27FC236}">
                <a16:creationId xmlns:a16="http://schemas.microsoft.com/office/drawing/2014/main" id="{A141FABA-567E-F38E-BFA2-F4E0F1725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063" y="4071938"/>
            <a:ext cx="1560512" cy="194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8923" name="Straight Connector 8">
            <a:extLst>
              <a:ext uri="{FF2B5EF4-FFF2-40B4-BE49-F238E27FC236}">
                <a16:creationId xmlns:a16="http://schemas.microsoft.com/office/drawing/2014/main" id="{7E86E46D-8968-1FE9-E60B-9FC84C84E1F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1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投影片編號版面配置區 5">
            <a:extLst>
              <a:ext uri="{FF2B5EF4-FFF2-40B4-BE49-F238E27FC236}">
                <a16:creationId xmlns:a16="http://schemas.microsoft.com/office/drawing/2014/main" id="{857C1ADF-E181-7ED4-72E0-C27CAAF5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45BC699B-A36E-924D-BEC4-E5E5D80150CF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73BD9D51-12F4-A1CE-73CE-906AE128F4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4375" y="0"/>
            <a:ext cx="7793038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4000" b="1" kern="1200" dirty="0">
                <a:solidFill>
                  <a:srgbClr val="572314"/>
                </a:solidFill>
                <a:latin typeface="Times New Roman" pitchFamily="18" charset="0"/>
              </a:rPr>
              <a:t>Example #2 for Prim’s Algorithm</a:t>
            </a:r>
            <a:endParaRPr lang="zh-TW" altLang="en-US" sz="4000" b="1" kern="1200" dirty="0">
              <a:solidFill>
                <a:srgbClr val="572314"/>
              </a:solidFill>
              <a:latin typeface="Times New Roman" pitchFamily="18" charset="0"/>
            </a:endParaRPr>
          </a:p>
        </p:txBody>
      </p:sp>
      <p:pic>
        <p:nvPicPr>
          <p:cNvPr id="39940" name="Picture 4">
            <a:extLst>
              <a:ext uri="{FF2B5EF4-FFF2-40B4-BE49-F238E27FC236}">
                <a16:creationId xmlns:a16="http://schemas.microsoft.com/office/drawing/2014/main" id="{467A7B42-9FE6-B0AB-EA6B-EC0150821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447800"/>
            <a:ext cx="4873625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6">
            <a:extLst>
              <a:ext uri="{FF2B5EF4-FFF2-40B4-BE49-F238E27FC236}">
                <a16:creationId xmlns:a16="http://schemas.microsoft.com/office/drawing/2014/main" id="{78AC6C9C-BA96-3482-14EE-C6103908C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00200"/>
            <a:ext cx="3581400" cy="279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942" name="Straight Connector 8">
            <a:extLst>
              <a:ext uri="{FF2B5EF4-FFF2-40B4-BE49-F238E27FC236}">
                <a16:creationId xmlns:a16="http://schemas.microsoft.com/office/drawing/2014/main" id="{D5884137-0334-C1C1-331D-0CC3E7FE7D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投影片編號版面配置區 5">
            <a:extLst>
              <a:ext uri="{FF2B5EF4-FFF2-40B4-BE49-F238E27FC236}">
                <a16:creationId xmlns:a16="http://schemas.microsoft.com/office/drawing/2014/main" id="{687150B7-1483-806C-94B7-5FF854CA8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D72AC16F-74A6-E549-B1B5-E9B873F069AC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F73BDF39-0272-E008-2E03-9EF769DEBC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4375" y="0"/>
            <a:ext cx="73914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4000" b="1" kern="1200" dirty="0" err="1">
                <a:solidFill>
                  <a:srgbClr val="572314"/>
                </a:solidFill>
                <a:latin typeface="Times New Roman" pitchFamily="18" charset="0"/>
              </a:rPr>
              <a:t>Kruskal’s</a:t>
            </a:r>
            <a:r>
              <a:rPr lang="en-US" altLang="zh-TW" sz="4000" b="1" kern="1200" dirty="0">
                <a:solidFill>
                  <a:srgbClr val="572314"/>
                </a:solidFill>
                <a:latin typeface="Times New Roman" pitchFamily="18" charset="0"/>
              </a:rPr>
              <a:t> Algorithm (MST)</a:t>
            </a:r>
            <a:endParaRPr lang="zh-TW" altLang="en-US" sz="4000" b="1" kern="1200" dirty="0">
              <a:solidFill>
                <a:srgbClr val="572314"/>
              </a:solidFill>
              <a:latin typeface="Times New Roman" pitchFamily="18" charset="0"/>
            </a:endParaRP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6B6ADBD0-DCE3-8994-F0BA-FC8E57DB14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2938" y="1357313"/>
            <a:ext cx="8001000" cy="3810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2800" u="sng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r>
              <a:rPr lang="en-US" altLang="zh-TW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800" u="sng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US" altLang="zh-TW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all edges into </a:t>
            </a:r>
            <a:r>
              <a:rPr lang="en-US" altLang="zh-TW" sz="2800" u="sng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nondecreasing</a:t>
            </a:r>
            <a:r>
              <a:rPr lang="en-US" altLang="zh-TW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order of cost. </a:t>
            </a:r>
            <a:endParaRPr lang="en-US" altLang="zh-TW" sz="2800" u="sng">
              <a:solidFill>
                <a:schemeClr val="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800" u="sng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r>
              <a:rPr lang="en-US" altLang="zh-TW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Add the </a:t>
            </a:r>
            <a:r>
              <a:rPr lang="en-US" altLang="zh-TW" sz="2800" u="sng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smallest</a:t>
            </a:r>
            <a:r>
              <a:rPr lang="en-US" altLang="zh-TW" sz="2800">
                <a:latin typeface="Times New Roman" panose="02020603050405020304" pitchFamily="18" charset="0"/>
                <a:cs typeface="Times New Roman" panose="02020603050405020304" pitchFamily="18" charset="0"/>
              </a:rPr>
              <a:t> weight edge to the forest if it will not create a </a:t>
            </a:r>
            <a:r>
              <a:rPr lang="en-US" altLang="zh-TW" sz="2800" u="sng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en-US" altLang="zh-TW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sz="2800" u="sng">
              <a:solidFill>
                <a:schemeClr val="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800" u="sng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r>
              <a:rPr lang="en-US" altLang="zh-TW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Stop if n-1 edges. Otherwise, go to Step2.</a:t>
            </a:r>
            <a:endParaRPr lang="zh-TW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989" name="Straight Connector 8">
            <a:extLst>
              <a:ext uri="{FF2B5EF4-FFF2-40B4-BE49-F238E27FC236}">
                <a16:creationId xmlns:a16="http://schemas.microsoft.com/office/drawing/2014/main" id="{DD54B2DE-CAE7-E836-3F1D-E36FDF4D62C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AD179-90C5-E29E-58B9-9C39142A2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0"/>
            <a:ext cx="7793038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4000" b="1" kern="1200" dirty="0">
                <a:solidFill>
                  <a:srgbClr val="572314"/>
                </a:solidFill>
                <a:latin typeface="Times New Roman" pitchFamily="18" charset="0"/>
              </a:rPr>
              <a:t>Example#1 of </a:t>
            </a:r>
            <a:r>
              <a:rPr lang="en-US" altLang="zh-TW" sz="4000" b="1" kern="1200" dirty="0" err="1">
                <a:solidFill>
                  <a:srgbClr val="572314"/>
                </a:solidFill>
                <a:latin typeface="Times New Roman" pitchFamily="18" charset="0"/>
              </a:rPr>
              <a:t>Kruskal’s</a:t>
            </a:r>
            <a:r>
              <a:rPr lang="en-US" altLang="zh-TW" sz="4000" b="1" kern="1200" dirty="0">
                <a:solidFill>
                  <a:srgbClr val="572314"/>
                </a:solidFill>
                <a:latin typeface="Times New Roman" pitchFamily="18" charset="0"/>
              </a:rPr>
              <a:t> Algorithm</a:t>
            </a:r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312AB5CB-E40A-5D83-C31C-6204535C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680B0FCD-6AF0-A84D-B0B5-C91269844B94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E6712F4-5A9F-6BB2-CA0B-942AB9749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428750"/>
            <a:ext cx="1508125" cy="194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858" name="Picture 2">
            <a:extLst>
              <a:ext uri="{FF2B5EF4-FFF2-40B4-BE49-F238E27FC236}">
                <a16:creationId xmlns:a16="http://schemas.microsoft.com/office/drawing/2014/main" id="{AB0A7782-593E-E541-93A6-F2AF13002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1371600"/>
            <a:ext cx="1419225" cy="194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859" name="Picture 3">
            <a:extLst>
              <a:ext uri="{FF2B5EF4-FFF2-40B4-BE49-F238E27FC236}">
                <a16:creationId xmlns:a16="http://schemas.microsoft.com/office/drawing/2014/main" id="{59C417A9-E2FF-48E6-B47E-40AD92BDE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688" y="1428750"/>
            <a:ext cx="1438275" cy="194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860" name="Picture 4">
            <a:extLst>
              <a:ext uri="{FF2B5EF4-FFF2-40B4-BE49-F238E27FC236}">
                <a16:creationId xmlns:a16="http://schemas.microsoft.com/office/drawing/2014/main" id="{09A10851-7E99-6415-D9D8-7F1F9AB9F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4071938"/>
            <a:ext cx="1431925" cy="194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861" name="Picture 5">
            <a:extLst>
              <a:ext uri="{FF2B5EF4-FFF2-40B4-BE49-F238E27FC236}">
                <a16:creationId xmlns:a16="http://schemas.microsoft.com/office/drawing/2014/main" id="{9FFF4DDF-C3CF-8285-902D-0F73B531F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4014788"/>
            <a:ext cx="1436688" cy="194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862" name="Picture 6">
            <a:extLst>
              <a:ext uri="{FF2B5EF4-FFF2-40B4-BE49-F238E27FC236}">
                <a16:creationId xmlns:a16="http://schemas.microsoft.com/office/drawing/2014/main" id="{3019031D-361C-8CCF-DF17-3A7C4B5F5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563" y="4024313"/>
            <a:ext cx="1403350" cy="194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863" name="Picture 7">
            <a:extLst>
              <a:ext uri="{FF2B5EF4-FFF2-40B4-BE49-F238E27FC236}">
                <a16:creationId xmlns:a16="http://schemas.microsoft.com/office/drawing/2014/main" id="{AF9FAD81-8242-2604-6D1C-455BF6219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1409700"/>
            <a:ext cx="1408113" cy="194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75933E9-F812-F96F-A3C4-BEA1F850F096}"/>
              </a:ext>
            </a:extLst>
          </p:cNvPr>
          <p:cNvGraphicFramePr>
            <a:graphicFrameLocks noGrp="1"/>
          </p:cNvGraphicFramePr>
          <p:nvPr/>
        </p:nvGraphicFramePr>
        <p:xfrm>
          <a:off x="6858000" y="3071813"/>
          <a:ext cx="2262188" cy="37084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31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(1,2)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(3,4)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(2,7)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(2, 3)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(4,</a:t>
                      </a:r>
                      <a:r>
                        <a:rPr lang="en-US" baseline="0" dirty="0"/>
                        <a:t> 7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(4, 5)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(5, 7)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(5, 6)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(1, 2)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633C9A22-40F5-D415-138B-01696CEDB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429000"/>
            <a:ext cx="2286000" cy="357188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94A859-A467-05BE-35BD-CD95EE510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786188"/>
            <a:ext cx="2286000" cy="357187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835AAA-EC7A-0A15-2067-4C86267F3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186238"/>
            <a:ext cx="2286000" cy="357187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31D61D-418E-72DB-EE0A-A691EADDA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572000"/>
            <a:ext cx="2286000" cy="357188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277A1C-C931-4B0C-F804-51F2AEB55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929188"/>
            <a:ext cx="2286000" cy="357187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2E3B9D-34F0-C9B2-500B-29662211E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286375"/>
            <a:ext cx="2286000" cy="357188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AAE763-A019-086C-7625-BB6A75EB9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657850"/>
            <a:ext cx="2286000" cy="357188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1266D9-3259-9365-E501-D021B7D96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2288" y="6015038"/>
            <a:ext cx="2286000" cy="357187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869915-7ADD-CDFF-64DD-D51A17460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2288" y="6357938"/>
            <a:ext cx="2286000" cy="357187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22" name="Picture 7">
            <a:extLst>
              <a:ext uri="{FF2B5EF4-FFF2-40B4-BE49-F238E27FC236}">
                <a16:creationId xmlns:a16="http://schemas.microsoft.com/office/drawing/2014/main" id="{915F1367-A219-390A-0834-4DFF4AC06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4071938"/>
            <a:ext cx="1560513" cy="194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781619D-EAF8-43E2-BC67-E1A4C9E4E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6286500"/>
            <a:ext cx="2286000" cy="571500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Total cost: 99</a:t>
            </a:r>
          </a:p>
        </p:txBody>
      </p:sp>
      <p:cxnSp>
        <p:nvCxnSpPr>
          <p:cNvPr id="44078" name="Straight Connector 8">
            <a:extLst>
              <a:ext uri="{FF2B5EF4-FFF2-40B4-BE49-F238E27FC236}">
                <a16:creationId xmlns:a16="http://schemas.microsoft.com/office/drawing/2014/main" id="{14726AF6-54EA-761B-95A9-84C522EEA87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2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2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2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2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投影片編號版面配置區 6">
            <a:extLst>
              <a:ext uri="{FF2B5EF4-FFF2-40B4-BE49-F238E27FC236}">
                <a16:creationId xmlns:a16="http://schemas.microsoft.com/office/drawing/2014/main" id="{68846703-71A4-E1A6-A92E-B8A1F29B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565F1EB2-18CB-1C45-BFB4-8525E16583AC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46C00301-613A-05DE-36BA-EBA29B7A61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5750" y="0"/>
            <a:ext cx="83820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4000" b="1" kern="1200" dirty="0">
                <a:solidFill>
                  <a:srgbClr val="572314"/>
                </a:solidFill>
                <a:latin typeface="Times New Roman" pitchFamily="18" charset="0"/>
              </a:rPr>
              <a:t>Example#2 for </a:t>
            </a:r>
            <a:r>
              <a:rPr lang="en-US" altLang="zh-TW" sz="4000" b="1" kern="1200" dirty="0" err="1">
                <a:solidFill>
                  <a:srgbClr val="572314"/>
                </a:solidFill>
                <a:latin typeface="Times New Roman" pitchFamily="18" charset="0"/>
              </a:rPr>
              <a:t>Kruskal’s</a:t>
            </a:r>
            <a:r>
              <a:rPr lang="en-US" altLang="zh-TW" sz="4000" b="1" kern="1200" dirty="0">
                <a:solidFill>
                  <a:srgbClr val="572314"/>
                </a:solidFill>
                <a:latin typeface="Times New Roman" pitchFamily="18" charset="0"/>
              </a:rPr>
              <a:t> Algorithm</a:t>
            </a:r>
            <a:endParaRPr lang="zh-TW" altLang="en-US" sz="4000" b="1" kern="1200" dirty="0">
              <a:solidFill>
                <a:srgbClr val="572314"/>
              </a:solidFill>
              <a:latin typeface="Times New Roman" pitchFamily="18" charset="0"/>
            </a:endParaRPr>
          </a:p>
        </p:txBody>
      </p:sp>
      <p:sp>
        <p:nvSpPr>
          <p:cNvPr id="45060" name="Rectangle 6">
            <a:extLst>
              <a:ext uri="{FF2B5EF4-FFF2-40B4-BE49-F238E27FC236}">
                <a16:creationId xmlns:a16="http://schemas.microsoft.com/office/drawing/2014/main" id="{E4643675-5A4F-C2A8-4BB3-181E4C1BB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45061" name="Picture 5">
            <a:extLst>
              <a:ext uri="{FF2B5EF4-FFF2-40B4-BE49-F238E27FC236}">
                <a16:creationId xmlns:a16="http://schemas.microsoft.com/office/drawing/2014/main" id="{33A7294F-C103-83A4-7886-03EE93D75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3581400" cy="279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Rectangle 8">
            <a:extLst>
              <a:ext uri="{FF2B5EF4-FFF2-40B4-BE49-F238E27FC236}">
                <a16:creationId xmlns:a16="http://schemas.microsoft.com/office/drawing/2014/main" id="{C55E7CA2-87BA-2CF8-3C18-60FF066FF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050" y="976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45063" name="Picture 7">
            <a:extLst>
              <a:ext uri="{FF2B5EF4-FFF2-40B4-BE49-F238E27FC236}">
                <a16:creationId xmlns:a16="http://schemas.microsoft.com/office/drawing/2014/main" id="{E5031A77-6478-71D2-F417-F328810E4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447800"/>
            <a:ext cx="5486400" cy="507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5064" name="Straight Connector 8">
            <a:extLst>
              <a:ext uri="{FF2B5EF4-FFF2-40B4-BE49-F238E27FC236}">
                <a16:creationId xmlns:a16="http://schemas.microsoft.com/office/drawing/2014/main" id="{42753DFF-0C7D-C6A2-501F-1A4D90BCC1A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投影片編號版面配置區 5">
            <a:extLst>
              <a:ext uri="{FF2B5EF4-FFF2-40B4-BE49-F238E27FC236}">
                <a16:creationId xmlns:a16="http://schemas.microsoft.com/office/drawing/2014/main" id="{DA835279-D129-2F0E-E8CD-3C8D7316C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472F9BEC-0D6D-5B43-B629-DEB75AA5EEB1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F6951893-279C-B764-4FBB-9C5FDA07A8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2938" y="0"/>
            <a:ext cx="7793037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4000" b="1" kern="1200" dirty="0">
                <a:solidFill>
                  <a:srgbClr val="572314"/>
                </a:solidFill>
                <a:latin typeface="Times New Roman" pitchFamily="18" charset="0"/>
              </a:rPr>
              <a:t>Time Complexity</a:t>
            </a:r>
            <a:endParaRPr lang="zh-TW" altLang="en-US" sz="4000" b="1" kern="1200" dirty="0">
              <a:solidFill>
                <a:srgbClr val="572314"/>
              </a:solidFill>
              <a:latin typeface="Times New Roman" pitchFamily="18" charset="0"/>
            </a:endParaRP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F3965189-D39C-F543-634A-E618798F2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O(|E| log|E|)</a:t>
            </a:r>
            <a:endParaRPr lang="en-US" altLang="zh-TW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/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|E| is the number of edges</a:t>
            </a:r>
          </a:p>
        </p:txBody>
      </p:sp>
      <p:sp>
        <p:nvSpPr>
          <p:cNvPr id="47109" name="Rectangle 27">
            <a:extLst>
              <a:ext uri="{FF2B5EF4-FFF2-40B4-BE49-F238E27FC236}">
                <a16:creationId xmlns:a16="http://schemas.microsoft.com/office/drawing/2014/main" id="{859DDD37-4B73-65ED-A5B3-8F2AB5F05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2930525"/>
            <a:ext cx="2571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5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TW" altLang="en-US" sz="2400"/>
          </a:p>
        </p:txBody>
      </p:sp>
      <p:sp>
        <p:nvSpPr>
          <p:cNvPr id="47110" name="Rectangle 28">
            <a:extLst>
              <a:ext uri="{FF2B5EF4-FFF2-40B4-BE49-F238E27FC236}">
                <a16:creationId xmlns:a16="http://schemas.microsoft.com/office/drawing/2014/main" id="{9E3A21D4-413C-77E8-2D8E-3BBAB394D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2930525"/>
            <a:ext cx="2571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5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TW" altLang="en-US" sz="2400"/>
          </a:p>
        </p:txBody>
      </p:sp>
      <p:sp>
        <p:nvSpPr>
          <p:cNvPr id="47111" name="Rectangle 30">
            <a:extLst>
              <a:ext uri="{FF2B5EF4-FFF2-40B4-BE49-F238E27FC236}">
                <a16:creationId xmlns:a16="http://schemas.microsoft.com/office/drawing/2014/main" id="{F1ED8E5F-B711-3D35-10F2-0B69D78E2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575" y="2930525"/>
            <a:ext cx="2571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5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TW" altLang="en-US" sz="2400"/>
          </a:p>
        </p:txBody>
      </p:sp>
      <p:sp>
        <p:nvSpPr>
          <p:cNvPr id="47112" name="Rectangle 32">
            <a:extLst>
              <a:ext uri="{FF2B5EF4-FFF2-40B4-BE49-F238E27FC236}">
                <a16:creationId xmlns:a16="http://schemas.microsoft.com/office/drawing/2014/main" id="{0F1A4FD8-5504-771B-8AE9-ED23C70E1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3489325"/>
            <a:ext cx="2571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5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TW" altLang="en-US" sz="2400"/>
          </a:p>
        </p:txBody>
      </p:sp>
      <p:sp>
        <p:nvSpPr>
          <p:cNvPr id="47113" name="Rectangle 34">
            <a:extLst>
              <a:ext uri="{FF2B5EF4-FFF2-40B4-BE49-F238E27FC236}">
                <a16:creationId xmlns:a16="http://schemas.microsoft.com/office/drawing/2014/main" id="{60229CAE-C8A6-CE64-2315-A0FE402B8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4048125"/>
            <a:ext cx="2571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5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TW" altLang="en-US" sz="2400"/>
          </a:p>
        </p:txBody>
      </p:sp>
      <p:sp>
        <p:nvSpPr>
          <p:cNvPr id="47114" name="Rectangle 39">
            <a:extLst>
              <a:ext uri="{FF2B5EF4-FFF2-40B4-BE49-F238E27FC236}">
                <a16:creationId xmlns:a16="http://schemas.microsoft.com/office/drawing/2014/main" id="{EB13BC61-1B9D-09CB-4493-66364554B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013" y="3727450"/>
            <a:ext cx="2571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5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TW" altLang="en-US" sz="2400"/>
          </a:p>
        </p:txBody>
      </p:sp>
      <p:sp>
        <p:nvSpPr>
          <p:cNvPr id="47115" name="Rectangle 43">
            <a:extLst>
              <a:ext uri="{FF2B5EF4-FFF2-40B4-BE49-F238E27FC236}">
                <a16:creationId xmlns:a16="http://schemas.microsoft.com/office/drawing/2014/main" id="{6AB1D527-EE09-9116-2D0A-73FDB2226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9638" y="3778250"/>
            <a:ext cx="2571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5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TW" altLang="en-US" sz="2400"/>
          </a:p>
        </p:txBody>
      </p:sp>
      <p:sp>
        <p:nvSpPr>
          <p:cNvPr id="47116" name="Rectangle 44">
            <a:extLst>
              <a:ext uri="{FF2B5EF4-FFF2-40B4-BE49-F238E27FC236}">
                <a16:creationId xmlns:a16="http://schemas.microsoft.com/office/drawing/2014/main" id="{9D343D6C-E404-89CC-CFE0-91938D1B8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925" y="4532313"/>
            <a:ext cx="15398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15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TW" altLang="en-US" sz="2400"/>
          </a:p>
        </p:txBody>
      </p:sp>
      <p:cxnSp>
        <p:nvCxnSpPr>
          <p:cNvPr id="47117" name="Straight Connector 8">
            <a:extLst>
              <a:ext uri="{FF2B5EF4-FFF2-40B4-BE49-F238E27FC236}">
                <a16:creationId xmlns:a16="http://schemas.microsoft.com/office/drawing/2014/main" id="{BA493488-E2C6-D8B7-C44F-BEFC241EC30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429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5D10D67B-F471-EAEA-C201-5A090C1E8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D1C3E-693B-FF68-40A9-50A8235C9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143000"/>
            <a:ext cx="7772400" cy="762000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altLang="zh-TW" sz="4000" b="1" kern="1200" dirty="0">
                <a:solidFill>
                  <a:srgbClr val="572314"/>
                </a:solidFill>
                <a:latin typeface="Times New Roman" pitchFamily="18" charset="0"/>
                <a:cs typeface="+mj-cs"/>
              </a:rPr>
              <a:t>Thanks for the attention</a:t>
            </a: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B98524AE-B1F0-534E-CB2E-0B6D08622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AE0C9D6D-6E06-AC4E-ADF7-402A9A387CB2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c 0.004 -0.01066  0.018 -0.02132  0.023 -0.02132  c 0.031 0  0.063 0.16655  0.063 0.3331  c 0 -0.08394  0.016 -0.16655  0.031 -0.16655  c 0.016 0  0.031 0.08394  0.031 0.16655  c 0 -0.0413  0.008 -0.08394  0.016 -0.08394  c 0.008 0  0.016 0.0413  0.016 0.08394  c 0 -0.02132  0.004 -0.0413  0.008 -0.0413  c 0.004 0  0.008 0.02132  0.008 0.0413  c 0 -0.01066  0.002 -0.02132  0.004 -0.02132  c 0.001 0  0.004 0.01066  0.004 0.02132  c 0 -0.00533  0.001 -0.01066  0.002 -0.01066  c 0 0.00133  0.002 0.00533  0.002 0.01066  c 0 -0.00266  0 -0.00533  0.001 -0.00533  c 0 0.00133  0.001 0.00266  0.001 0.00533  c 0 -0.00133  0 -0.00266  0 -0.004  c 0.001 0  0.001 0.00133  0.001 0.00266  c 0.001 0  0.001 -0.00133  0.001 -0.00266  c 0.001 0  0.001 0.00133  0.001 0.00266  E" pathEditMode="relative" ptsTypes="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投影片編號版面配置區 5">
            <a:extLst>
              <a:ext uri="{FF2B5EF4-FFF2-40B4-BE49-F238E27FC236}">
                <a16:creationId xmlns:a16="http://schemas.microsoft.com/office/drawing/2014/main" id="{0260A795-7B3F-EFBB-1371-C76032A5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BEFCA022-9ADD-3446-8F36-F1F31862DD1A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2C27CC8A-8223-D747-901A-ABDB131A0D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The details for constructing MST</a:t>
            </a:r>
            <a:endParaRPr lang="zh-TW" altLang="en-US" sz="4000"/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5D752979-80B3-7CE0-DCFB-8A1770C2D5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How do we check if a cycle is formed when a new edge is added?</a:t>
            </a:r>
          </a:p>
          <a:p>
            <a:pPr lvl="1" eaLnBrk="1" hangingPunct="1"/>
            <a:r>
              <a:rPr lang="en-US" altLang="zh-TW"/>
              <a:t>By the </a:t>
            </a:r>
            <a:r>
              <a:rPr lang="en-US" altLang="zh-TW" u="sng">
                <a:solidFill>
                  <a:schemeClr val="hlink"/>
                </a:solidFill>
              </a:rPr>
              <a:t>SET and UNION</a:t>
            </a:r>
            <a:r>
              <a:rPr lang="en-US" altLang="zh-TW"/>
              <a:t> method.</a:t>
            </a:r>
          </a:p>
          <a:p>
            <a:pPr eaLnBrk="1" hangingPunct="1"/>
            <a:r>
              <a:rPr lang="en-US" altLang="zh-TW"/>
              <a:t>Each tree in the spanning forest is  represented by a </a:t>
            </a:r>
            <a:r>
              <a:rPr lang="en-US" altLang="zh-TW" u="sng">
                <a:solidFill>
                  <a:schemeClr val="hlink"/>
                </a:solidFill>
              </a:rPr>
              <a:t>SET</a:t>
            </a:r>
            <a:r>
              <a:rPr lang="en-US" altLang="zh-TW"/>
              <a:t>.</a:t>
            </a:r>
          </a:p>
          <a:p>
            <a:pPr lvl="1" eaLnBrk="1" hangingPunct="1"/>
            <a:r>
              <a:rPr lang="en-US" altLang="zh-TW"/>
              <a:t>If (u, v) </a:t>
            </a:r>
            <a:r>
              <a:rPr lang="en-US" altLang="zh-TW">
                <a:latin typeface="Times New Roman" panose="02020603050405020304" pitchFamily="18" charset="0"/>
                <a:sym typeface="Symbol" pitchFamily="2" charset="2"/>
              </a:rPr>
              <a:t> </a:t>
            </a:r>
            <a:r>
              <a:rPr lang="en-US" altLang="zh-TW"/>
              <a:t>E and u, v are in the </a:t>
            </a:r>
            <a:r>
              <a:rPr lang="en-US" altLang="zh-TW" u="sng">
                <a:solidFill>
                  <a:schemeClr val="hlink"/>
                </a:solidFill>
              </a:rPr>
              <a:t>same set</a:t>
            </a:r>
            <a:r>
              <a:rPr lang="en-US" altLang="zh-TW"/>
              <a:t>, then the addition of (u, v) will form a </a:t>
            </a:r>
            <a:r>
              <a:rPr lang="en-US" altLang="zh-TW" u="sng">
                <a:solidFill>
                  <a:schemeClr val="hlink"/>
                </a:solidFill>
              </a:rPr>
              <a:t>cycle</a:t>
            </a:r>
            <a:r>
              <a:rPr lang="en-US" altLang="zh-TW"/>
              <a:t>.</a:t>
            </a:r>
          </a:p>
          <a:p>
            <a:pPr lvl="1" eaLnBrk="1" hangingPunct="1"/>
            <a:r>
              <a:rPr lang="en-US" altLang="zh-TW"/>
              <a:t>If (u, v) </a:t>
            </a:r>
            <a:r>
              <a:rPr lang="zh-TW" altLang="en-US">
                <a:latin typeface="Times New Roman" panose="02020603050405020304" pitchFamily="18" charset="0"/>
                <a:sym typeface="Symbol" pitchFamily="2" charset="2"/>
              </a:rPr>
              <a:t></a:t>
            </a:r>
            <a:r>
              <a:rPr lang="zh-TW" altLang="en-US"/>
              <a:t> </a:t>
            </a:r>
            <a:r>
              <a:rPr lang="en-US" altLang="zh-TW"/>
              <a:t>E and u</a:t>
            </a:r>
            <a:r>
              <a:rPr lang="zh-TW" altLang="en-US">
                <a:latin typeface="Times New Roman" panose="02020603050405020304" pitchFamily="18" charset="0"/>
                <a:sym typeface="Symbol" pitchFamily="2" charset="2"/>
              </a:rPr>
              <a:t></a:t>
            </a:r>
            <a:r>
              <a:rPr lang="en-US" altLang="zh-TW"/>
              <a:t>S</a:t>
            </a:r>
            <a:r>
              <a:rPr lang="en-US" altLang="zh-TW" baseline="-30000"/>
              <a:t>1</a:t>
            </a:r>
            <a:r>
              <a:rPr lang="en-US" altLang="zh-TW"/>
              <a:t> , v</a:t>
            </a:r>
            <a:r>
              <a:rPr lang="zh-TW" altLang="en-US">
                <a:latin typeface="Times New Roman" panose="02020603050405020304" pitchFamily="18" charset="0"/>
                <a:sym typeface="Symbol" pitchFamily="2" charset="2"/>
              </a:rPr>
              <a:t></a:t>
            </a:r>
            <a:r>
              <a:rPr lang="en-US" altLang="zh-TW"/>
              <a:t>S</a:t>
            </a:r>
            <a:r>
              <a:rPr lang="en-US" altLang="zh-TW" baseline="-30000"/>
              <a:t>2</a:t>
            </a:r>
            <a:r>
              <a:rPr lang="en-US" altLang="zh-TW"/>
              <a:t> , then perform </a:t>
            </a:r>
            <a:r>
              <a:rPr lang="en-US" altLang="zh-TW" u="sng">
                <a:solidFill>
                  <a:schemeClr val="hlink"/>
                </a:solidFill>
              </a:rPr>
              <a:t>UNION</a:t>
            </a:r>
            <a:r>
              <a:rPr lang="en-US" altLang="zh-TW"/>
              <a:t> of S</a:t>
            </a:r>
            <a:r>
              <a:rPr lang="en-US" altLang="zh-TW" baseline="-30000"/>
              <a:t>1</a:t>
            </a:r>
            <a:r>
              <a:rPr lang="en-US" altLang="zh-TW"/>
              <a:t>  and S</a:t>
            </a:r>
            <a:r>
              <a:rPr lang="en-US" altLang="zh-TW" baseline="-30000"/>
              <a:t>2</a:t>
            </a:r>
            <a:r>
              <a:rPr lang="en-US" altLang="zh-TW"/>
              <a:t> .</a:t>
            </a:r>
            <a:endParaRPr lang="zh-TW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投影片編號版面配置區 5">
            <a:extLst>
              <a:ext uri="{FF2B5EF4-FFF2-40B4-BE49-F238E27FC236}">
                <a16:creationId xmlns:a16="http://schemas.microsoft.com/office/drawing/2014/main" id="{CDD9BE3F-6BC9-2250-24D5-31EB92E21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058E68CF-32A2-1F46-A813-D15681770328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CC3F1242-E782-FBD3-E1A9-1AE408EE4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7793038" cy="914400"/>
          </a:xfrm>
        </p:spPr>
        <p:txBody>
          <a:bodyPr/>
          <a:lstStyle/>
          <a:p>
            <a:pPr eaLnBrk="1" hangingPunct="1"/>
            <a:r>
              <a:rPr lang="en-US" altLang="zh-TW"/>
              <a:t>The single-source shortest path problem </a:t>
            </a:r>
            <a:endParaRPr lang="zh-TW" altLang="en-US"/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066E3521-E3D7-1888-7BFD-2CCFF5413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/>
              <a:t>shortest paths from v</a:t>
            </a:r>
            <a:r>
              <a:rPr lang="en-US" altLang="zh-TW" sz="2800" baseline="-30000"/>
              <a:t>0</a:t>
            </a:r>
            <a:r>
              <a:rPr lang="en-US" altLang="zh-TW" sz="2800"/>
              <a:t> to </a:t>
            </a:r>
            <a:r>
              <a:rPr lang="en-US" altLang="zh-TW" sz="2800" u="sng">
                <a:solidFill>
                  <a:schemeClr val="hlink"/>
                </a:solidFill>
              </a:rPr>
              <a:t>all destinations</a:t>
            </a:r>
          </a:p>
          <a:p>
            <a:pPr eaLnBrk="1" hangingPunct="1"/>
            <a:endParaRPr lang="zh-TW" altLang="en-US"/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CA75757D-AB76-DFAD-10EB-30120E4B8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2281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52230" name="Picture 4">
            <a:extLst>
              <a:ext uri="{FF2B5EF4-FFF2-40B4-BE49-F238E27FC236}">
                <a16:creationId xmlns:a16="http://schemas.microsoft.com/office/drawing/2014/main" id="{330A01F4-44DF-D331-96AC-D08809596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86000"/>
            <a:ext cx="8153400" cy="355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投影片編號版面配置區 5">
            <a:extLst>
              <a:ext uri="{FF2B5EF4-FFF2-40B4-BE49-F238E27FC236}">
                <a16:creationId xmlns:a16="http://schemas.microsoft.com/office/drawing/2014/main" id="{151E783C-B749-30F0-7C98-924C0183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BAC413CB-C9E8-5241-8910-1B665D4A1AB0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26A4972D-7B29-236E-1E4C-310DED3B7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93038" cy="914400"/>
          </a:xfrm>
        </p:spPr>
        <p:txBody>
          <a:bodyPr/>
          <a:lstStyle/>
          <a:p>
            <a:pPr eaLnBrk="1" hangingPunct="1"/>
            <a:r>
              <a:rPr lang="en-US" altLang="zh-TW"/>
              <a:t>Dijkstra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s algorithm</a:t>
            </a:r>
            <a:endParaRPr lang="zh-TW" altLang="en-US"/>
          </a:p>
        </p:txBody>
      </p:sp>
      <p:sp>
        <p:nvSpPr>
          <p:cNvPr id="54276" name="Rectangle 5">
            <a:extLst>
              <a:ext uri="{FF2B5EF4-FFF2-40B4-BE49-F238E27FC236}">
                <a16:creationId xmlns:a16="http://schemas.microsoft.com/office/drawing/2014/main" id="{A9CF4FFF-F449-E5FD-762A-95873FE05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575" y="2062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54277" name="Picture 4">
            <a:extLst>
              <a:ext uri="{FF2B5EF4-FFF2-40B4-BE49-F238E27FC236}">
                <a16:creationId xmlns:a16="http://schemas.microsoft.com/office/drawing/2014/main" id="{94895414-382D-6EBB-67BA-F96A6E1AF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295400"/>
            <a:ext cx="64008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4278" name="Object 6">
            <a:extLst>
              <a:ext uri="{FF2B5EF4-FFF2-40B4-BE49-F238E27FC236}">
                <a16:creationId xmlns:a16="http://schemas.microsoft.com/office/drawing/2014/main" id="{26415EB2-5D8A-8559-B58C-13C79A7CAE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951288"/>
          <a:ext cx="5867400" cy="290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件" r:id="rId4" imgW="33248600" imgH="16078200" progId="Word.Document.8">
                  <p:embed/>
                </p:oleObj>
              </mc:Choice>
              <mc:Fallback>
                <p:oleObj name="文件" r:id="rId4" imgW="33248600" imgH="160782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951288"/>
                        <a:ext cx="5867400" cy="290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9" name="Text Box 7">
            <a:extLst>
              <a:ext uri="{FF2B5EF4-FFF2-40B4-BE49-F238E27FC236}">
                <a16:creationId xmlns:a16="http://schemas.microsoft.com/office/drawing/2014/main" id="{64A66713-B367-97E9-CEE6-D3539B4E4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667000"/>
            <a:ext cx="3048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In the </a:t>
            </a:r>
            <a:r>
              <a:rPr lang="en-US" altLang="zh-TW" sz="2400" u="sng">
                <a:solidFill>
                  <a:schemeClr val="hlink"/>
                </a:solidFill>
                <a:latin typeface="Times New Roman" panose="02020603050405020304" pitchFamily="18" charset="0"/>
              </a:rPr>
              <a:t>cost adjacency matrix</a:t>
            </a:r>
            <a:r>
              <a:rPr lang="en-US" altLang="zh-TW" sz="2400">
                <a:latin typeface="Times New Roman" panose="02020603050405020304" pitchFamily="18" charset="0"/>
              </a:rPr>
              <a:t>, all entries not shown are +</a:t>
            </a:r>
            <a:r>
              <a:rPr lang="en-US" altLang="zh-TW" sz="2400">
                <a:latin typeface="Times New Roman" panose="02020603050405020304" pitchFamily="18" charset="0"/>
                <a:sym typeface="Symbol" pitchFamily="2" charset="2"/>
              </a:rPr>
              <a:t></a:t>
            </a:r>
            <a:r>
              <a:rPr lang="en-US" altLang="zh-TW" sz="2400">
                <a:latin typeface="Times New Roman" panose="02020603050405020304" pitchFamily="18" charset="0"/>
              </a:rPr>
              <a:t>. </a:t>
            </a:r>
            <a:endParaRPr lang="zh-TW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編號版面配置區 5">
            <a:extLst>
              <a:ext uri="{FF2B5EF4-FFF2-40B4-BE49-F238E27FC236}">
                <a16:creationId xmlns:a16="http://schemas.microsoft.com/office/drawing/2014/main" id="{C02F389C-EE24-6458-A422-27D78D19C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7672F651-9AF0-164C-9577-6E6205C6E52B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2DE68A9E-88E6-0BCB-88E5-07DDAE6935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2209800"/>
            <a:ext cx="7772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zh-TW" altLang="en-US" sz="2800"/>
          </a:p>
          <a:p>
            <a:pPr eaLnBrk="1" hangingPunct="1">
              <a:lnSpc>
                <a:spcPct val="90000"/>
              </a:lnSpc>
            </a:pPr>
            <a:endParaRPr lang="zh-TW" altLang="en-US" sz="2800"/>
          </a:p>
          <a:p>
            <a:pPr eaLnBrk="1" hangingPunct="1">
              <a:lnSpc>
                <a:spcPct val="90000"/>
              </a:lnSpc>
            </a:pPr>
            <a:endParaRPr lang="zh-TW" altLang="en-US" sz="2800"/>
          </a:p>
          <a:p>
            <a:pPr eaLnBrk="1" hangingPunct="1">
              <a:lnSpc>
                <a:spcPct val="90000"/>
              </a:lnSpc>
            </a:pPr>
            <a:endParaRPr lang="zh-TW" altLang="en-US" sz="2800"/>
          </a:p>
          <a:p>
            <a:pPr eaLnBrk="1" hangingPunct="1">
              <a:lnSpc>
                <a:spcPct val="90000"/>
              </a:lnSpc>
            </a:pPr>
            <a:endParaRPr lang="zh-TW" altLang="en-US" sz="2800"/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/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/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/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/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/>
          </a:p>
          <a:p>
            <a:pPr algn="just" eaLnBrk="1" hangingPunct="1">
              <a:lnSpc>
                <a:spcPct val="90000"/>
              </a:lnSpc>
            </a:pPr>
            <a:r>
              <a:rPr lang="en-US" altLang="zh-TW" sz="2800" u="sng">
                <a:solidFill>
                  <a:schemeClr val="hlink"/>
                </a:solidFill>
              </a:rPr>
              <a:t>Time complexity : O(n</a:t>
            </a:r>
            <a:r>
              <a:rPr lang="en-US" altLang="zh-TW" sz="2800" u="sng" baseline="30000">
                <a:solidFill>
                  <a:schemeClr val="hlink"/>
                </a:solidFill>
              </a:rPr>
              <a:t>2</a:t>
            </a:r>
            <a:r>
              <a:rPr lang="en-US" altLang="zh-TW" sz="2800" u="sng">
                <a:solidFill>
                  <a:schemeClr val="hlink"/>
                </a:solidFill>
              </a:rPr>
              <a:t>)</a:t>
            </a:r>
            <a:r>
              <a:rPr lang="en-US" altLang="zh-TW" sz="2800"/>
              <a:t>, n = |V|.</a:t>
            </a:r>
          </a:p>
        </p:txBody>
      </p:sp>
      <p:pic>
        <p:nvPicPr>
          <p:cNvPr id="56324" name="Picture 7">
            <a:extLst>
              <a:ext uri="{FF2B5EF4-FFF2-40B4-BE49-F238E27FC236}">
                <a16:creationId xmlns:a16="http://schemas.microsoft.com/office/drawing/2014/main" id="{8FF98162-BC5F-28C5-4F41-163D7165B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04800"/>
            <a:ext cx="53340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6325" name="Object 5">
            <a:extLst>
              <a:ext uri="{FF2B5EF4-FFF2-40B4-BE49-F238E27FC236}">
                <a16:creationId xmlns:a16="http://schemas.microsoft.com/office/drawing/2014/main" id="{38BD3C29-9161-4FA1-2282-D4ED928B24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2514600"/>
          <a:ext cx="7715250" cy="393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件" r:id="rId4" imgW="32753300" imgH="15265400" progId="Word.Document.8">
                  <p:embed/>
                </p:oleObj>
              </mc:Choice>
              <mc:Fallback>
                <p:oleObj name="文件" r:id="rId4" imgW="32753300" imgH="152654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514600"/>
                        <a:ext cx="7715250" cy="393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投影片編號版面配置區 5">
            <a:extLst>
              <a:ext uri="{FF2B5EF4-FFF2-40B4-BE49-F238E27FC236}">
                <a16:creationId xmlns:a16="http://schemas.microsoft.com/office/drawing/2014/main" id="{F651E0BC-A36E-5F12-3A92-6DDBCB9FF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0B0BC801-0AA3-1E4E-9DBD-FDED70746C1C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4CDC41DC-0E58-D0A6-EDA1-CA90DE10D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3810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/>
              <a:t>Can we use Dijkstra</a:t>
            </a:r>
            <a:r>
              <a:rPr lang="en-US" altLang="zh-TW" sz="2800">
                <a:latin typeface="Times New Roman" panose="02020603050405020304" pitchFamily="18" charset="0"/>
              </a:rPr>
              <a:t>’</a:t>
            </a:r>
            <a:r>
              <a:rPr lang="en-US" altLang="zh-TW" sz="2800"/>
              <a:t>s algorithm to find the </a:t>
            </a:r>
            <a:r>
              <a:rPr lang="en-US" altLang="zh-TW" sz="2800" u="sng">
                <a:solidFill>
                  <a:schemeClr val="hlink"/>
                </a:solidFill>
              </a:rPr>
              <a:t>longest path</a:t>
            </a:r>
            <a:r>
              <a:rPr lang="en-US" altLang="zh-TW" sz="2800"/>
              <a:t> from a starting vertex to an ending vertex in an </a:t>
            </a:r>
            <a:r>
              <a:rPr lang="en-US" altLang="zh-TW" sz="2800" u="sng">
                <a:solidFill>
                  <a:schemeClr val="hlink"/>
                </a:solidFill>
              </a:rPr>
              <a:t>acyclic directed graph</a:t>
            </a:r>
            <a:r>
              <a:rPr lang="en-US" altLang="zh-TW" sz="2800"/>
              <a:t>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There are 3 possible ways to apply Dijkstra</a:t>
            </a:r>
            <a:r>
              <a:rPr lang="en-US" altLang="zh-TW" sz="2800">
                <a:latin typeface="Times New Roman" panose="02020603050405020304" pitchFamily="18" charset="0"/>
              </a:rPr>
              <a:t>’</a:t>
            </a:r>
            <a:r>
              <a:rPr lang="en-US" altLang="zh-TW" sz="2800"/>
              <a:t>s algorithm: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/>
              <a:t>Directly use </a:t>
            </a:r>
            <a:r>
              <a:rPr lang="en-US" altLang="zh-TW" sz="2400">
                <a:latin typeface="Times New Roman" panose="02020603050405020304" pitchFamily="18" charset="0"/>
              </a:rPr>
              <a:t>“</a:t>
            </a:r>
            <a:r>
              <a:rPr lang="en-US" altLang="zh-TW" sz="2400" u="sng">
                <a:solidFill>
                  <a:schemeClr val="hlink"/>
                </a:solidFill>
              </a:rPr>
              <a:t>max</a:t>
            </a:r>
            <a:r>
              <a:rPr lang="en-US" altLang="zh-TW" sz="2400">
                <a:latin typeface="Times New Roman" panose="02020603050405020304" pitchFamily="18" charset="0"/>
              </a:rPr>
              <a:t>”</a:t>
            </a:r>
            <a:r>
              <a:rPr lang="en-US" altLang="zh-TW" sz="2400"/>
              <a:t> operations instead of  </a:t>
            </a:r>
            <a:r>
              <a:rPr lang="en-US" altLang="zh-TW" sz="2400">
                <a:latin typeface="Times New Roman" panose="02020603050405020304" pitchFamily="18" charset="0"/>
              </a:rPr>
              <a:t>“</a:t>
            </a:r>
            <a:r>
              <a:rPr lang="en-US" altLang="zh-TW" sz="2400" u="sng">
                <a:solidFill>
                  <a:schemeClr val="hlink"/>
                </a:solidFill>
              </a:rPr>
              <a:t>min</a:t>
            </a:r>
            <a:r>
              <a:rPr lang="en-US" altLang="zh-TW" sz="2400">
                <a:latin typeface="Times New Roman" panose="02020603050405020304" pitchFamily="18" charset="0"/>
              </a:rPr>
              <a:t>”</a:t>
            </a:r>
            <a:r>
              <a:rPr lang="en-US" altLang="zh-TW" sz="2400"/>
              <a:t> operations.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/>
              <a:t>Convert all </a:t>
            </a:r>
            <a:r>
              <a:rPr lang="en-US" altLang="zh-TW" sz="2400" u="sng">
                <a:solidFill>
                  <a:schemeClr val="hlink"/>
                </a:solidFill>
              </a:rPr>
              <a:t>positive</a:t>
            </a:r>
            <a:r>
              <a:rPr lang="en-US" altLang="zh-TW" sz="2400"/>
              <a:t> weights to be </a:t>
            </a:r>
            <a:r>
              <a:rPr lang="en-US" altLang="zh-TW" sz="2400" u="sng">
                <a:solidFill>
                  <a:schemeClr val="hlink"/>
                </a:solidFill>
              </a:rPr>
              <a:t>negative</a:t>
            </a:r>
            <a:r>
              <a:rPr lang="en-US" altLang="zh-TW" sz="2400"/>
              <a:t>.  Then find the shortest path.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/>
              <a:t>Give a very large positive number M.  If the weight of an edge is w, now </a:t>
            </a:r>
            <a:r>
              <a:rPr lang="en-US" altLang="zh-TW" sz="2400" u="sng">
                <a:solidFill>
                  <a:schemeClr val="hlink"/>
                </a:solidFill>
              </a:rPr>
              <a:t>M-w</a:t>
            </a:r>
            <a:r>
              <a:rPr lang="en-US" altLang="zh-TW" sz="2400"/>
              <a:t> is used to replace w.  Then find the shortest path.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All these 3 possible ways would </a:t>
            </a:r>
            <a:r>
              <a:rPr lang="en-US" altLang="zh-TW" sz="2800" u="sng">
                <a:solidFill>
                  <a:schemeClr val="hlink"/>
                </a:solidFill>
              </a:rPr>
              <a:t>not work</a:t>
            </a:r>
            <a:r>
              <a:rPr lang="en-US" altLang="zh-TW" sz="2800"/>
              <a:t>!</a:t>
            </a:r>
          </a:p>
          <a:p>
            <a:pPr eaLnBrk="1" hangingPunct="1">
              <a:lnSpc>
                <a:spcPct val="90000"/>
              </a:lnSpc>
            </a:pPr>
            <a:endParaRPr lang="zh-TW" altLang="en-US" sz="2800"/>
          </a:p>
        </p:txBody>
      </p:sp>
      <p:sp>
        <p:nvSpPr>
          <p:cNvPr id="58372" name="Rectangle 5">
            <a:extLst>
              <a:ext uri="{FF2B5EF4-FFF2-40B4-BE49-F238E27FC236}">
                <a16:creationId xmlns:a16="http://schemas.microsoft.com/office/drawing/2014/main" id="{D1674614-161F-ECAD-A001-B039A8D6EF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93038" cy="914400"/>
          </a:xfrm>
          <a:noFill/>
        </p:spPr>
        <p:txBody>
          <a:bodyPr/>
          <a:lstStyle/>
          <a:p>
            <a:pPr eaLnBrk="1" hangingPunct="1"/>
            <a:r>
              <a:rPr lang="en-US" altLang="zh-TW"/>
              <a:t>The longest path problem</a:t>
            </a:r>
            <a:endParaRPr lang="zh-TW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投影片編號版面配置區 5">
            <a:extLst>
              <a:ext uri="{FF2B5EF4-FFF2-40B4-BE49-F238E27FC236}">
                <a16:creationId xmlns:a16="http://schemas.microsoft.com/office/drawing/2014/main" id="{AC13BC3D-40F6-82CB-CBBF-B991949D7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1C09D18C-A363-3048-B696-488C3E11D146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877BDE69-4C9B-BB48-5768-E6F0120583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Ackermann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s function</a:t>
            </a:r>
            <a:endParaRPr lang="zh-TW" altLang="en-US"/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DCECF2B1-CFD8-68B2-12B5-BDD7FDFAB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r>
              <a:rPr lang="zh-TW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</a:p>
          <a:p>
            <a:pPr eaLnBrk="1" hangingPunct="1"/>
            <a:endParaRPr lang="zh-TW" altLang="en-US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endParaRPr lang="zh-TW" altLang="en-US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TW" altLang="en-US">
                <a:latin typeface="Times New Roman" panose="02020603050405020304" pitchFamily="18" charset="0"/>
                <a:sym typeface="Symbol" pitchFamily="2" charset="2"/>
              </a:rPr>
              <a:t>  </a:t>
            </a:r>
            <a:r>
              <a:rPr lang="zh-TW" altLang="en-US"/>
              <a:t> </a:t>
            </a:r>
            <a:r>
              <a:rPr lang="en-US" altLang="zh-TW" sz="2800"/>
              <a:t>A(p, q+1) &gt; A(p, q),  A(p+1, q) &gt; A(p, q)</a:t>
            </a:r>
            <a:endParaRPr lang="zh-TW" altLang="en-US" sz="2800"/>
          </a:p>
        </p:txBody>
      </p:sp>
      <p:sp>
        <p:nvSpPr>
          <p:cNvPr id="60421" name="Rectangle 6">
            <a:extLst>
              <a:ext uri="{FF2B5EF4-FFF2-40B4-BE49-F238E27FC236}">
                <a16:creationId xmlns:a16="http://schemas.microsoft.com/office/drawing/2014/main" id="{E62EA026-C8C9-598E-91A1-EBC34E6C5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138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0422" name="Rectangle 8">
            <a:extLst>
              <a:ext uri="{FF2B5EF4-FFF2-40B4-BE49-F238E27FC236}">
                <a16:creationId xmlns:a16="http://schemas.microsoft.com/office/drawing/2014/main" id="{C638B4F5-0DF8-58C8-2DA5-8F4F86D41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888" y="3067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grpSp>
        <p:nvGrpSpPr>
          <p:cNvPr id="60423" name="Group 11">
            <a:extLst>
              <a:ext uri="{FF2B5EF4-FFF2-40B4-BE49-F238E27FC236}">
                <a16:creationId xmlns:a16="http://schemas.microsoft.com/office/drawing/2014/main" id="{5DCBB3B6-1F06-6F7E-B849-5D613BC0679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953000"/>
            <a:ext cx="4495800" cy="838200"/>
            <a:chOff x="1056" y="2448"/>
            <a:chExt cx="2832" cy="528"/>
          </a:xfrm>
        </p:grpSpPr>
        <p:graphicFrame>
          <p:nvGraphicFramePr>
            <p:cNvPr id="60425" name="Object 5">
              <a:extLst>
                <a:ext uri="{FF2B5EF4-FFF2-40B4-BE49-F238E27FC236}">
                  <a16:creationId xmlns:a16="http://schemas.microsoft.com/office/drawing/2014/main" id="{2AFC180B-9A59-2EE4-F770-98D3C2A5FA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2448"/>
            <a:ext cx="1248" cy="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35102800" imgH="13462000" progId="Equation.3">
                    <p:embed/>
                  </p:oleObj>
                </mc:Choice>
                <mc:Fallback>
                  <p:oleObj r:id="rId3" imgW="35102800" imgH="134620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448"/>
                          <a:ext cx="1248" cy="4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26" name="Object 7">
              <a:extLst>
                <a:ext uri="{FF2B5EF4-FFF2-40B4-BE49-F238E27FC236}">
                  <a16:creationId xmlns:a16="http://schemas.microsoft.com/office/drawing/2014/main" id="{02B09730-06EE-CE38-8C9F-530BAFE366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6" y="2448"/>
            <a:ext cx="201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6438900" imgH="16675100" progId="Equation.3">
                    <p:embed/>
                  </p:oleObj>
                </mc:Choice>
                <mc:Fallback>
                  <p:oleObj r:id="rId5" imgW="6438900" imgH="166751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2448"/>
                          <a:ext cx="201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27" name="Text Box 9">
              <a:extLst>
                <a:ext uri="{FF2B5EF4-FFF2-40B4-BE49-F238E27FC236}">
                  <a16:creationId xmlns:a16="http://schemas.microsoft.com/office/drawing/2014/main" id="{88316723-8860-BB91-0911-FFB457028E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592"/>
              <a:ext cx="1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TW" altLang="en-US" sz="2400"/>
                <a:t>65536 </a:t>
              </a:r>
              <a:r>
                <a:rPr lang="en-US" altLang="zh-TW" sz="2400"/>
                <a:t>two</a:t>
              </a:r>
              <a:r>
                <a:rPr lang="en-US" altLang="zh-TW" sz="2400">
                  <a:latin typeface="Times New Roman" panose="02020603050405020304" pitchFamily="18" charset="0"/>
                </a:rPr>
                <a:t>’</a:t>
              </a:r>
              <a:r>
                <a:rPr lang="en-US" altLang="zh-TW" sz="2400"/>
                <a:t>s</a:t>
              </a:r>
              <a:endParaRPr lang="zh-TW" altLang="en-US" sz="2400"/>
            </a:p>
          </p:txBody>
        </p:sp>
      </p:grpSp>
      <p:graphicFrame>
        <p:nvGraphicFramePr>
          <p:cNvPr id="60424" name="Object 12">
            <a:extLst>
              <a:ext uri="{FF2B5EF4-FFF2-40B4-BE49-F238E27FC236}">
                <a16:creationId xmlns:a16="http://schemas.microsoft.com/office/drawing/2014/main" id="{5533771C-1773-1B1A-A0E1-061F27CE26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2057400"/>
          <a:ext cx="5373688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5003700" imgH="15798800" progId="Equation.3">
                  <p:embed/>
                </p:oleObj>
              </mc:Choice>
              <mc:Fallback>
                <p:oleObj name="Equation" r:id="rId7" imgW="55003700" imgH="15798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057400"/>
                        <a:ext cx="5373688" cy="154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投影片編號版面配置區 5">
            <a:extLst>
              <a:ext uri="{FF2B5EF4-FFF2-40B4-BE49-F238E27FC236}">
                <a16:creationId xmlns:a16="http://schemas.microsoft.com/office/drawing/2014/main" id="{E7CCA90F-2784-46AE-9824-830A40F8F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8D5C95B9-732E-9E46-B60F-5B4C39783A74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AF6EFF7C-99A3-1E66-2AF6-5FD6385CA5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Inverse of Ackermann</a:t>
            </a:r>
            <a:r>
              <a:rPr lang="en-US" altLang="zh-TW" sz="4000">
                <a:latin typeface="Times New Roman" panose="02020603050405020304" pitchFamily="18" charset="0"/>
              </a:rPr>
              <a:t>’</a:t>
            </a:r>
            <a:r>
              <a:rPr lang="en-US" altLang="zh-TW" sz="4000"/>
              <a:t>s function</a:t>
            </a:r>
            <a:r>
              <a:rPr lang="en-US" altLang="zh-TW"/>
              <a:t> </a:t>
            </a:r>
            <a:endParaRPr lang="zh-TW" altLang="en-US"/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538A901E-277C-EEA8-DDE2-28D75BCCAA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828800"/>
            <a:ext cx="7772400" cy="4648200"/>
          </a:xfrm>
        </p:spPr>
        <p:txBody>
          <a:bodyPr/>
          <a:lstStyle/>
          <a:p>
            <a:pPr algn="just" eaLnBrk="1" hangingPunct="1"/>
            <a:r>
              <a:rPr lang="zh-TW" altLang="en-US" sz="2800">
                <a:latin typeface="Times New Roman" panose="02020603050405020304" pitchFamily="18" charset="0"/>
                <a:sym typeface="Symbol" pitchFamily="2" charset="2"/>
              </a:rPr>
              <a:t></a:t>
            </a:r>
            <a:r>
              <a:rPr lang="zh-TW" altLang="en-US" sz="2800"/>
              <a:t>(</a:t>
            </a:r>
            <a:r>
              <a:rPr lang="en-US" altLang="zh-TW" sz="2800"/>
              <a:t>m, n) = min{i</a:t>
            </a:r>
            <a:r>
              <a:rPr lang="en-US" altLang="zh-TW" sz="2800">
                <a:latin typeface="Times New Roman" panose="02020603050405020304" pitchFamily="18" charset="0"/>
                <a:sym typeface="Symbol" pitchFamily="2" charset="2"/>
              </a:rPr>
              <a:t></a:t>
            </a:r>
            <a:r>
              <a:rPr lang="en-US" altLang="zh-TW" sz="2800"/>
              <a:t>1|A(i, </a:t>
            </a:r>
            <a:r>
              <a:rPr lang="en-US" altLang="zh-TW" sz="2800">
                <a:sym typeface="Symbol" pitchFamily="2" charset="2"/>
              </a:rPr>
              <a:t></a:t>
            </a:r>
            <a:r>
              <a:rPr lang="en-US" altLang="zh-TW" sz="2800"/>
              <a:t>m/n</a:t>
            </a:r>
            <a:r>
              <a:rPr lang="en-US" altLang="zh-TW" sz="2800">
                <a:sym typeface="Symbol" pitchFamily="2" charset="2"/>
              </a:rPr>
              <a:t></a:t>
            </a:r>
            <a:r>
              <a:rPr lang="en-US" altLang="zh-TW" sz="2800"/>
              <a:t>) &gt; log</a:t>
            </a:r>
            <a:r>
              <a:rPr lang="en-US" altLang="zh-TW" sz="2800" baseline="-30000"/>
              <a:t>2</a:t>
            </a:r>
            <a:r>
              <a:rPr lang="en-US" altLang="zh-TW" sz="2800"/>
              <a:t>n}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TW" sz="2800"/>
              <a:t>  Practically, A(3,4) &gt; log</a:t>
            </a:r>
            <a:r>
              <a:rPr lang="en-US" altLang="zh-TW" sz="2800" baseline="-30000"/>
              <a:t>2</a:t>
            </a:r>
            <a:r>
              <a:rPr lang="en-US" altLang="zh-TW" sz="2800"/>
              <a:t>n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TW" sz="2800">
                <a:latin typeface="Times New Roman" panose="02020603050405020304" pitchFamily="18" charset="0"/>
                <a:sym typeface="Symbol" pitchFamily="2" charset="2"/>
              </a:rPr>
              <a:t>   </a:t>
            </a:r>
            <a:r>
              <a:rPr lang="en-US" altLang="zh-TW" sz="2800"/>
              <a:t>(m, n) </a:t>
            </a:r>
            <a:r>
              <a:rPr lang="en-US" altLang="zh-TW" sz="280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zh-TW" sz="2800"/>
              <a:t> 3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TW" sz="2800">
                <a:latin typeface="Times New Roman" panose="02020603050405020304" pitchFamily="18" charset="0"/>
                <a:sym typeface="Symbol" pitchFamily="2" charset="2"/>
              </a:rPr>
              <a:t>   </a:t>
            </a:r>
            <a:r>
              <a:rPr lang="en-US" altLang="zh-TW" sz="2800"/>
              <a:t>(m, n) is almost a </a:t>
            </a:r>
            <a:r>
              <a:rPr lang="en-US" altLang="zh-TW" sz="2800" u="sng">
                <a:solidFill>
                  <a:schemeClr val="hlink"/>
                </a:solidFill>
              </a:rPr>
              <a:t>constant</a:t>
            </a:r>
            <a:r>
              <a:rPr lang="en-US" altLang="zh-TW"/>
              <a:t>.</a:t>
            </a:r>
          </a:p>
          <a:p>
            <a:pPr eaLnBrk="1" hangingPunct="1"/>
            <a:endParaRPr lang="zh-TW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投影片編號版面配置區 5">
            <a:extLst>
              <a:ext uri="{FF2B5EF4-FFF2-40B4-BE49-F238E27FC236}">
                <a16:creationId xmlns:a16="http://schemas.microsoft.com/office/drawing/2014/main" id="{F1D14835-FD7D-6880-CBA6-92695CB56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94CBBA71-022F-E341-A5ED-05E245EB5472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89C77F74-903C-1C47-00C2-4ADAA96112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648200"/>
          </a:xfrm>
        </p:spPr>
        <p:txBody>
          <a:bodyPr/>
          <a:lstStyle/>
          <a:p>
            <a:pPr eaLnBrk="1" hangingPunct="1"/>
            <a:r>
              <a:rPr lang="en-US" altLang="zh-TW"/>
              <a:t>The </a:t>
            </a:r>
            <a:r>
              <a:rPr lang="en-US" altLang="zh-TW" u="sng">
                <a:solidFill>
                  <a:schemeClr val="hlink"/>
                </a:solidFill>
              </a:rPr>
              <a:t>longest path(critical path)</a:t>
            </a:r>
            <a:r>
              <a:rPr lang="en-US" altLang="zh-TW"/>
              <a:t> problem can be solved by the </a:t>
            </a:r>
            <a:r>
              <a:rPr lang="en-US" altLang="zh-TW" u="sng">
                <a:solidFill>
                  <a:schemeClr val="hlink"/>
                </a:solidFill>
              </a:rPr>
              <a:t>critical path method(CPM)</a:t>
            </a:r>
            <a:r>
              <a:rPr lang="en-US" altLang="zh-TW"/>
              <a:t> :</a:t>
            </a:r>
            <a:endParaRPr lang="en-US" altLang="zh-TW" u="sng">
              <a:solidFill>
                <a:schemeClr val="hlink"/>
              </a:solidFill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TW" u="sng">
                <a:solidFill>
                  <a:schemeClr val="hlink"/>
                </a:solidFill>
              </a:rPr>
              <a:t>Step 1</a:t>
            </a:r>
            <a:r>
              <a:rPr lang="en-US" altLang="zh-TW"/>
              <a:t>:Find a topological ordering.</a:t>
            </a:r>
            <a:endParaRPr lang="en-US" altLang="zh-TW" u="sng">
              <a:solidFill>
                <a:schemeClr val="hlink"/>
              </a:solidFill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TW" u="sng">
                <a:solidFill>
                  <a:schemeClr val="hlink"/>
                </a:solidFill>
              </a:rPr>
              <a:t>Step 2</a:t>
            </a:r>
            <a:r>
              <a:rPr lang="en-US" altLang="zh-TW"/>
              <a:t>: Find the critical path.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TW"/>
              <a:t>  (see [Horiwitz 1995].)</a:t>
            </a:r>
          </a:p>
          <a:p>
            <a:pPr lvl="1" eaLnBrk="1" hangingPunct="1"/>
            <a:r>
              <a:rPr lang="en-US" altLang="zh-TW" sz="2400"/>
              <a:t>[[Horowitz 1995] E. Howowitz, S. Sahni and D. Metha, </a:t>
            </a:r>
            <a:r>
              <a:rPr lang="en-US" altLang="zh-TW" sz="2400" i="1"/>
              <a:t>Fundamentals of Data Structures in C++</a:t>
            </a:r>
            <a:r>
              <a:rPr lang="en-US" altLang="zh-TW" sz="2400"/>
              <a:t>, Computer Science Press, New York, 1995</a:t>
            </a:r>
            <a:endParaRPr lang="zh-TW" altLang="en-US"/>
          </a:p>
        </p:txBody>
      </p:sp>
      <p:sp>
        <p:nvSpPr>
          <p:cNvPr id="64516" name="Rectangle 5">
            <a:extLst>
              <a:ext uri="{FF2B5EF4-FFF2-40B4-BE49-F238E27FC236}">
                <a16:creationId xmlns:a16="http://schemas.microsoft.com/office/drawing/2014/main" id="{6E1F9943-D35D-5752-6FDB-D9BC11C663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533400"/>
            <a:ext cx="7010400" cy="914400"/>
          </a:xfrm>
          <a:noFill/>
        </p:spPr>
        <p:txBody>
          <a:bodyPr/>
          <a:lstStyle/>
          <a:p>
            <a:pPr eaLnBrk="1" hangingPunct="1"/>
            <a:r>
              <a:rPr lang="en-US" altLang="zh-TW"/>
              <a:t>CPM for the longest path problem</a:t>
            </a:r>
            <a:endParaRPr lang="zh-TW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投影片編號版面配置區 5">
            <a:extLst>
              <a:ext uri="{FF2B5EF4-FFF2-40B4-BE49-F238E27FC236}">
                <a16:creationId xmlns:a16="http://schemas.microsoft.com/office/drawing/2014/main" id="{27E9DA5C-696A-8693-E108-224D3065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2D69DF76-60A3-8842-80A0-5892E6A11D9A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2D0AC989-7A03-D996-134A-82F404E616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The 2-way merging problem </a:t>
            </a:r>
            <a:endParaRPr lang="zh-TW" altLang="en-US"/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4F4975EE-9247-5755-FDCD-AA6EAB940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/>
              <a:t># of comparisons required for the </a:t>
            </a:r>
            <a:r>
              <a:rPr lang="en-US" altLang="zh-TW" sz="2800" u="sng">
                <a:solidFill>
                  <a:schemeClr val="hlink"/>
                </a:solidFill>
              </a:rPr>
              <a:t>linear 2-way merge algorithm</a:t>
            </a:r>
            <a:r>
              <a:rPr lang="en-US" altLang="zh-TW" sz="2800"/>
              <a:t> is m</a:t>
            </a:r>
            <a:r>
              <a:rPr lang="en-US" altLang="zh-TW" sz="2800" baseline="-30000"/>
              <a:t>1</a:t>
            </a:r>
            <a:r>
              <a:rPr lang="en-US" altLang="zh-TW" sz="2800"/>
              <a:t>+ m</a:t>
            </a:r>
            <a:r>
              <a:rPr lang="en-US" altLang="zh-TW" sz="2800" baseline="-30000"/>
              <a:t>2</a:t>
            </a:r>
            <a:r>
              <a:rPr lang="en-US" altLang="zh-TW" sz="2800"/>
              <a:t> -1 where m</a:t>
            </a:r>
            <a:r>
              <a:rPr lang="en-US" altLang="zh-TW" sz="2800" baseline="-30000"/>
              <a:t>1</a:t>
            </a:r>
            <a:r>
              <a:rPr lang="en-US" altLang="zh-TW" sz="2800"/>
              <a:t> and m</a:t>
            </a:r>
            <a:r>
              <a:rPr lang="en-US" altLang="zh-TW" sz="2800" baseline="-30000"/>
              <a:t>2</a:t>
            </a:r>
            <a:r>
              <a:rPr lang="en-US" altLang="zh-TW" sz="2800"/>
              <a:t> are the lengths of the two sorted lists respectively.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/>
              <a:t>2-way merging example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/>
              <a:t>       </a:t>
            </a:r>
            <a:r>
              <a:rPr lang="en-US" altLang="zh-TW" sz="2400"/>
              <a:t>2    3    5    6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        1    4    7    8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The problem: There are n sorted lists, each of length m</a:t>
            </a:r>
            <a:r>
              <a:rPr lang="en-US" altLang="zh-TW" sz="2800" baseline="-30000"/>
              <a:t>i</a:t>
            </a:r>
            <a:r>
              <a:rPr lang="en-US" altLang="zh-TW" sz="2800"/>
              <a:t>.  What is the </a:t>
            </a:r>
            <a:r>
              <a:rPr lang="en-US" altLang="zh-TW" sz="2800" u="sng">
                <a:solidFill>
                  <a:schemeClr val="hlink"/>
                </a:solidFill>
              </a:rPr>
              <a:t>optimal sequence of merging process</a:t>
            </a:r>
            <a:r>
              <a:rPr lang="en-US" altLang="zh-TW" sz="2800"/>
              <a:t> to merge these n lists into one sorted list ?</a:t>
            </a:r>
          </a:p>
          <a:p>
            <a:pPr eaLnBrk="1" hangingPunct="1">
              <a:lnSpc>
                <a:spcPct val="90000"/>
              </a:lnSpc>
            </a:pPr>
            <a:endParaRPr lang="zh-TW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投影片編號版面配置區 5">
            <a:extLst>
              <a:ext uri="{FF2B5EF4-FFF2-40B4-BE49-F238E27FC236}">
                <a16:creationId xmlns:a16="http://schemas.microsoft.com/office/drawing/2014/main" id="{5E2417F5-5CC8-B95F-4077-5FAC355E7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68AD3E2C-C5AB-0843-AC68-75691EC989A2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C6390669-F1D0-ED28-97DA-3A749ABF7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3505200"/>
          </a:xfrm>
        </p:spPr>
        <p:txBody>
          <a:bodyPr/>
          <a:lstStyle/>
          <a:p>
            <a:pPr eaLnBrk="1" hangingPunct="1"/>
            <a:r>
              <a:rPr lang="en-US" altLang="zh-TW" sz="2800"/>
              <a:t>An extended binary tree representing a 2-way merge</a:t>
            </a:r>
            <a:endParaRPr lang="zh-TW" altLang="en-US" sz="2800"/>
          </a:p>
        </p:txBody>
      </p:sp>
      <p:sp>
        <p:nvSpPr>
          <p:cNvPr id="68612" name="Rectangle 5">
            <a:extLst>
              <a:ext uri="{FF2B5EF4-FFF2-40B4-BE49-F238E27FC236}">
                <a16:creationId xmlns:a16="http://schemas.microsoft.com/office/drawing/2014/main" id="{75149032-E1A3-D9A3-021F-9D559DE02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7025" y="1881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68613" name="Picture 4">
            <a:extLst>
              <a:ext uri="{FF2B5EF4-FFF2-40B4-BE49-F238E27FC236}">
                <a16:creationId xmlns:a16="http://schemas.microsoft.com/office/drawing/2014/main" id="{69AF83AC-B642-AE38-D874-F67924317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438400"/>
            <a:ext cx="4419600" cy="401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4" name="Rectangle 7">
            <a:extLst>
              <a:ext uri="{FF2B5EF4-FFF2-40B4-BE49-F238E27FC236}">
                <a16:creationId xmlns:a16="http://schemas.microsoft.com/office/drawing/2014/main" id="{05A95E91-1814-102F-8912-DD3580A9F6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Extended binary trees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投影片編號版面配置區 5">
            <a:extLst>
              <a:ext uri="{FF2B5EF4-FFF2-40B4-BE49-F238E27FC236}">
                <a16:creationId xmlns:a16="http://schemas.microsoft.com/office/drawing/2014/main" id="{93E36059-74B7-839C-88CB-084D45A6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B21DE638-CFA3-C443-A82C-E225F6DF1B4E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8CB62727-9694-2508-18C5-67C19FAFB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An example of 2-way merging </a:t>
            </a:r>
            <a:endParaRPr lang="zh-TW" altLang="en-US"/>
          </a:p>
        </p:txBody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FEAE9D3D-57A0-8685-3823-75F45C663A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676400"/>
            <a:ext cx="7275512" cy="4114800"/>
          </a:xfrm>
        </p:spPr>
        <p:txBody>
          <a:bodyPr/>
          <a:lstStyle/>
          <a:p>
            <a:pPr eaLnBrk="1" hangingPunct="1"/>
            <a:r>
              <a:rPr lang="en-US" altLang="zh-TW"/>
              <a:t>Example: 6 sorted lists with lengths 2, 3, 5, 7, 11 and 13.</a:t>
            </a:r>
            <a:endParaRPr lang="zh-TW" altLang="en-US"/>
          </a:p>
        </p:txBody>
      </p:sp>
      <p:sp>
        <p:nvSpPr>
          <p:cNvPr id="70661" name="Rectangle 5">
            <a:extLst>
              <a:ext uri="{FF2B5EF4-FFF2-40B4-BE49-F238E27FC236}">
                <a16:creationId xmlns:a16="http://schemas.microsoft.com/office/drawing/2014/main" id="{ECBC1C82-DF6B-1088-C7A1-FD1AF320A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575" y="3190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32772" name="Picture 4">
            <a:extLst>
              <a:ext uri="{FF2B5EF4-FFF2-40B4-BE49-F238E27FC236}">
                <a16:creationId xmlns:a16="http://schemas.microsoft.com/office/drawing/2014/main" id="{30021871-88D2-172E-7F02-4D7B4C2B0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495800"/>
            <a:ext cx="5038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3" name="Rectangle 7">
            <a:extLst>
              <a:ext uri="{FF2B5EF4-FFF2-40B4-BE49-F238E27FC236}">
                <a16:creationId xmlns:a16="http://schemas.microsoft.com/office/drawing/2014/main" id="{CDE2D0F3-17B8-04DA-6C70-DE2478933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575" y="2819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32774" name="Picture 6">
            <a:extLst>
              <a:ext uri="{FF2B5EF4-FFF2-40B4-BE49-F238E27FC236}">
                <a16:creationId xmlns:a16="http://schemas.microsoft.com/office/drawing/2014/main" id="{DE179AFF-1D25-BDA3-8D2D-D87F3FB21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810000"/>
            <a:ext cx="5038725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5" name="Rectangle 9">
            <a:extLst>
              <a:ext uri="{FF2B5EF4-FFF2-40B4-BE49-F238E27FC236}">
                <a16:creationId xmlns:a16="http://schemas.microsoft.com/office/drawing/2014/main" id="{91D4DE76-A85A-CFA5-9366-F9AA31840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2381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32776" name="Picture 8">
            <a:extLst>
              <a:ext uri="{FF2B5EF4-FFF2-40B4-BE49-F238E27FC236}">
                <a16:creationId xmlns:a16="http://schemas.microsoft.com/office/drawing/2014/main" id="{AEF371D9-F758-CFC7-60D3-EDC81E8C6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971800"/>
            <a:ext cx="56388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投影片編號版面配置區 5">
            <a:extLst>
              <a:ext uri="{FF2B5EF4-FFF2-40B4-BE49-F238E27FC236}">
                <a16:creationId xmlns:a16="http://schemas.microsoft.com/office/drawing/2014/main" id="{2B8E47F1-EAAA-8F7C-D499-D0DA9F74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E4EEEC75-BFDA-4443-80EF-F024660FC11F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72707" name="Rectangle 5">
            <a:extLst>
              <a:ext uri="{FF2B5EF4-FFF2-40B4-BE49-F238E27FC236}">
                <a16:creationId xmlns:a16="http://schemas.microsoft.com/office/drawing/2014/main" id="{404D5FCA-5972-D4B7-747B-65505D212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325" y="1762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72708" name="Picture 4">
            <a:extLst>
              <a:ext uri="{FF2B5EF4-FFF2-40B4-BE49-F238E27FC236}">
                <a16:creationId xmlns:a16="http://schemas.microsoft.com/office/drawing/2014/main" id="{B5992338-D047-6E6E-0802-B99895EB4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9600"/>
            <a:ext cx="395287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9" name="Rectangle 7">
            <a:extLst>
              <a:ext uri="{FF2B5EF4-FFF2-40B4-BE49-F238E27FC236}">
                <a16:creationId xmlns:a16="http://schemas.microsoft.com/office/drawing/2014/main" id="{29EDDC22-24EE-CF77-21D3-FCE64F139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325" y="1762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33798" name="Picture 6">
            <a:extLst>
              <a:ext uri="{FF2B5EF4-FFF2-40B4-BE49-F238E27FC236}">
                <a16:creationId xmlns:a16="http://schemas.microsoft.com/office/drawing/2014/main" id="{1A6816F6-59D1-484F-DE76-E82DFD67A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762000"/>
            <a:ext cx="41910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1" name="Rectangle 9">
            <a:extLst>
              <a:ext uri="{FF2B5EF4-FFF2-40B4-BE49-F238E27FC236}">
                <a16:creationId xmlns:a16="http://schemas.microsoft.com/office/drawing/2014/main" id="{1760A8F2-BE51-34F3-E819-B71F38E4F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3625" y="1190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33800" name="Picture 8">
            <a:extLst>
              <a:ext uri="{FF2B5EF4-FFF2-40B4-BE49-F238E27FC236}">
                <a16:creationId xmlns:a16="http://schemas.microsoft.com/office/drawing/2014/main" id="{9600FF99-FDA8-513C-7B3F-554B92EB0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429000"/>
            <a:ext cx="353377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5" name="Text Box 13">
            <a:extLst>
              <a:ext uri="{FF2B5EF4-FFF2-40B4-BE49-F238E27FC236}">
                <a16:creationId xmlns:a16="http://schemas.microsoft.com/office/drawing/2014/main" id="{72DE1DE2-2B8E-0B1E-D86B-2C7C193A5D0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4419600" y="4114800"/>
            <a:ext cx="4343400" cy="16002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  <a:buFont typeface="Wingdings" pitchFamily="2" charset="2"/>
              <a:buChar char="§"/>
            </a:pPr>
            <a:r>
              <a:rPr lang="en-US" altLang="zh-TW" sz="2800"/>
              <a:t>Time complexity for  generating an optimal extended binary tree:O(n log n)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3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5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投影片編號版面配置區 5">
            <a:extLst>
              <a:ext uri="{FF2B5EF4-FFF2-40B4-BE49-F238E27FC236}">
                <a16:creationId xmlns:a16="http://schemas.microsoft.com/office/drawing/2014/main" id="{082CBF1F-7B29-AAB5-CC31-F656515E8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76B734EF-941D-D945-8B72-3E426663E627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BD37A31E-36D8-59A8-4DAB-A680D8F67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Huffman codes </a:t>
            </a:r>
            <a:endParaRPr lang="zh-TW" altLang="en-US"/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45DEEC7-03BF-E5A6-CD81-BA222CADD2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/>
              <a:t>In telecommunication, how do we represent a set of messages, each with an access frequency, by a sequence of 0</a:t>
            </a:r>
            <a:r>
              <a:rPr lang="en-US" altLang="zh-TW" sz="2800">
                <a:latin typeface="Times New Roman" panose="02020603050405020304" pitchFamily="18" charset="0"/>
              </a:rPr>
              <a:t>’</a:t>
            </a:r>
            <a:r>
              <a:rPr lang="en-US" altLang="zh-TW" sz="2800"/>
              <a:t>s and 1</a:t>
            </a:r>
            <a:r>
              <a:rPr lang="en-US" altLang="zh-TW" sz="2800">
                <a:latin typeface="Times New Roman" panose="02020603050405020304" pitchFamily="18" charset="0"/>
              </a:rPr>
              <a:t>’</a:t>
            </a:r>
            <a:r>
              <a:rPr lang="en-US" altLang="zh-TW" sz="2800"/>
              <a:t>s?</a:t>
            </a:r>
          </a:p>
          <a:p>
            <a:pPr eaLnBrk="1" hangingPunct="1"/>
            <a:r>
              <a:rPr lang="en-US" altLang="zh-TW" sz="2800"/>
              <a:t>To minimize the </a:t>
            </a:r>
            <a:r>
              <a:rPr lang="en-US" altLang="zh-TW" sz="2800" u="sng">
                <a:solidFill>
                  <a:schemeClr val="hlink"/>
                </a:solidFill>
              </a:rPr>
              <a:t>transmission and decoding costs</a:t>
            </a:r>
            <a:r>
              <a:rPr lang="en-US" altLang="zh-TW" sz="2800"/>
              <a:t>, we may use short strings to represent more frequently used messages.</a:t>
            </a:r>
          </a:p>
          <a:p>
            <a:pPr eaLnBrk="1" hangingPunct="1"/>
            <a:r>
              <a:rPr lang="en-US" altLang="zh-TW" sz="2800"/>
              <a:t>This problem can by solved by using an extended binary tree which is used in the </a:t>
            </a:r>
            <a:r>
              <a:rPr lang="en-US" altLang="zh-TW" sz="2800" u="sng">
                <a:solidFill>
                  <a:schemeClr val="hlink"/>
                </a:solidFill>
              </a:rPr>
              <a:t>2-way merging</a:t>
            </a:r>
            <a:r>
              <a:rPr lang="en-US" altLang="zh-TW" sz="2800"/>
              <a:t> problem.</a:t>
            </a:r>
            <a:endParaRPr lang="zh-TW" altLang="en-US" sz="2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投影片編號版面配置區 6">
            <a:extLst>
              <a:ext uri="{FF2B5EF4-FFF2-40B4-BE49-F238E27FC236}">
                <a16:creationId xmlns:a16="http://schemas.microsoft.com/office/drawing/2014/main" id="{A1A6FCB5-5FB8-E6BB-7EC9-2B0668A1A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EE2E33FE-1562-5944-900F-2817C61C0D3A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FF80A8CD-0936-9AE5-7A1C-3830D68C40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382000" cy="914400"/>
          </a:xfrm>
        </p:spPr>
        <p:txBody>
          <a:bodyPr/>
          <a:lstStyle/>
          <a:p>
            <a:pPr eaLnBrk="1" hangingPunct="1"/>
            <a:r>
              <a:rPr lang="en-US" altLang="zh-TW" sz="4000"/>
              <a:t>An example of Huffman algorithm</a:t>
            </a:r>
            <a:endParaRPr lang="zh-TW" altLang="en-US" sz="4000"/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6BE86FF8-9706-E29A-1231-D046FB66490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600200"/>
            <a:ext cx="4648200" cy="4114800"/>
          </a:xfrm>
        </p:spPr>
        <p:txBody>
          <a:bodyPr/>
          <a:lstStyle/>
          <a:p>
            <a:pPr eaLnBrk="1" hangingPunct="1"/>
            <a:r>
              <a:rPr lang="en-US" altLang="zh-TW" sz="2400"/>
              <a:t>Symbols: A, B, C, D, E, F, G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/>
              <a:t> 	freq.    : 2, 3, 5, 8, 13, 15, 18</a:t>
            </a:r>
          </a:p>
          <a:p>
            <a:pPr eaLnBrk="1" hangingPunct="1"/>
            <a:endParaRPr lang="en-US" altLang="zh-TW" sz="2400"/>
          </a:p>
          <a:p>
            <a:pPr eaLnBrk="1" hangingPunct="1"/>
            <a:r>
              <a:rPr lang="en-US" altLang="zh-TW" sz="2400"/>
              <a:t>Huffman codes: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/>
              <a:t>	A: 10100	B: 10101 C: 1011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/>
              <a:t>	D: 100	E: 00	    F: 01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/>
              <a:t>	G: 11</a:t>
            </a:r>
            <a:endParaRPr lang="zh-TW" altLang="en-US" sz="2400"/>
          </a:p>
        </p:txBody>
      </p:sp>
      <p:sp>
        <p:nvSpPr>
          <p:cNvPr id="76805" name="Rectangle 6">
            <a:extLst>
              <a:ext uri="{FF2B5EF4-FFF2-40B4-BE49-F238E27FC236}">
                <a16:creationId xmlns:a16="http://schemas.microsoft.com/office/drawing/2014/main" id="{20E19470-ADD2-875D-8237-4E796DF49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2175" y="8477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grpSp>
        <p:nvGrpSpPr>
          <p:cNvPr id="76806" name="Group 9">
            <a:extLst>
              <a:ext uri="{FF2B5EF4-FFF2-40B4-BE49-F238E27FC236}">
                <a16:creationId xmlns:a16="http://schemas.microsoft.com/office/drawing/2014/main" id="{BD2D17E7-D25E-183D-E6FA-FD750C4F7713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371600"/>
            <a:ext cx="4343400" cy="4678363"/>
            <a:chOff x="3154" y="1110"/>
            <a:chExt cx="2558" cy="2851"/>
          </a:xfrm>
        </p:grpSpPr>
        <p:pic>
          <p:nvPicPr>
            <p:cNvPr id="76807" name="Picture 5">
              <a:extLst>
                <a:ext uri="{FF2B5EF4-FFF2-40B4-BE49-F238E27FC236}">
                  <a16:creationId xmlns:a16="http://schemas.microsoft.com/office/drawing/2014/main" id="{BB306BF5-5DC1-4D1A-0E1A-AC41A7F515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4" y="1110"/>
              <a:ext cx="2414" cy="2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08" name="Text Box 8">
              <a:extLst>
                <a:ext uri="{FF2B5EF4-FFF2-40B4-BE49-F238E27FC236}">
                  <a16:creationId xmlns:a16="http://schemas.microsoft.com/office/drawing/2014/main" id="{433F795D-BD00-F546-D54A-3267F1DD09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3648"/>
              <a:ext cx="2400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TW" sz="2400"/>
                <a:t>A Huffman code Tree</a:t>
              </a:r>
              <a:endParaRPr lang="zh-TW" altLang="en-US" sz="2400"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投影片編號版面配置區 5">
            <a:extLst>
              <a:ext uri="{FF2B5EF4-FFF2-40B4-BE49-F238E27FC236}">
                <a16:creationId xmlns:a16="http://schemas.microsoft.com/office/drawing/2014/main" id="{E3128E86-08EC-F420-BA5B-B9863E703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5B664AF2-D8B4-A94B-961A-C0A4506A8FBA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67FD6F5A-DE49-1727-40A7-CD2D6D264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7793038" cy="914400"/>
          </a:xfrm>
        </p:spPr>
        <p:txBody>
          <a:bodyPr/>
          <a:lstStyle/>
          <a:p>
            <a:pPr eaLnBrk="1" hangingPunct="1"/>
            <a:r>
              <a:rPr lang="en-US" altLang="zh-TW"/>
              <a:t>The minimal cycle basis problem</a:t>
            </a:r>
            <a:endParaRPr lang="zh-TW" altLang="en-US"/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F3B23527-E150-0E5F-1E72-C6134FDA75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800"/>
              <a:t>3 </a:t>
            </a:r>
            <a:r>
              <a:rPr lang="en-US" altLang="zh-TW" sz="2800"/>
              <a:t>cycles: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/>
              <a:t>	A</a:t>
            </a:r>
            <a:r>
              <a:rPr lang="en-US" altLang="zh-TW" sz="2800" baseline="-30000"/>
              <a:t>1</a:t>
            </a:r>
            <a:r>
              <a:rPr lang="en-US" altLang="zh-TW" sz="2800"/>
              <a:t> = {ab, bc, ca}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/>
              <a:t>	A</a:t>
            </a:r>
            <a:r>
              <a:rPr lang="en-US" altLang="zh-TW" sz="2800" baseline="-30000"/>
              <a:t>2</a:t>
            </a:r>
            <a:r>
              <a:rPr lang="en-US" altLang="zh-TW" sz="2800"/>
              <a:t> = {ac, cd, da}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/>
              <a:t>	A</a:t>
            </a:r>
            <a:r>
              <a:rPr lang="en-US" altLang="zh-TW" sz="2800" baseline="-30000"/>
              <a:t>3</a:t>
            </a:r>
            <a:r>
              <a:rPr lang="en-US" altLang="zh-TW" sz="2800"/>
              <a:t> = {ab, bc, cd, da}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/>
              <a:t>	where A</a:t>
            </a:r>
            <a:r>
              <a:rPr lang="en-US" altLang="zh-TW" sz="2800" baseline="-30000"/>
              <a:t>3</a:t>
            </a:r>
            <a:r>
              <a:rPr lang="en-US" altLang="zh-TW" sz="2800"/>
              <a:t> = A</a:t>
            </a:r>
            <a:r>
              <a:rPr lang="en-US" altLang="zh-TW" sz="2800" baseline="-30000"/>
              <a:t>1</a:t>
            </a:r>
            <a:r>
              <a:rPr lang="en-US" altLang="zh-TW" sz="2800"/>
              <a:t> </a:t>
            </a:r>
            <a:r>
              <a:rPr lang="en-US" altLang="zh-TW" sz="2800">
                <a:latin typeface="Times New Roman" panose="02020603050405020304" pitchFamily="18" charset="0"/>
                <a:sym typeface="Symbol" pitchFamily="2" charset="2"/>
              </a:rPr>
              <a:t></a:t>
            </a:r>
            <a:r>
              <a:rPr lang="en-US" altLang="zh-TW" sz="2800"/>
              <a:t> A</a:t>
            </a:r>
            <a:r>
              <a:rPr lang="en-US" altLang="zh-TW" sz="2800" baseline="-30000"/>
              <a:t>2</a:t>
            </a:r>
            <a:endParaRPr lang="en-US" altLang="zh-TW" sz="28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/>
              <a:t>	(A </a:t>
            </a:r>
            <a:r>
              <a:rPr lang="en-US" altLang="zh-TW" sz="2800">
                <a:latin typeface="Times New Roman" panose="02020603050405020304" pitchFamily="18" charset="0"/>
                <a:sym typeface="Symbol" pitchFamily="2" charset="2"/>
              </a:rPr>
              <a:t></a:t>
            </a:r>
            <a:r>
              <a:rPr lang="en-US" altLang="zh-TW" sz="2800"/>
              <a:t> B = (A</a:t>
            </a:r>
            <a:r>
              <a:rPr lang="en-US" altLang="zh-TW" sz="2800">
                <a:latin typeface="Times New Roman" panose="02020603050405020304" pitchFamily="18" charset="0"/>
                <a:sym typeface="Symbol" pitchFamily="2" charset="2"/>
              </a:rPr>
              <a:t></a:t>
            </a:r>
            <a:r>
              <a:rPr lang="en-US" altLang="zh-TW" sz="2800"/>
              <a:t>B)-(A</a:t>
            </a:r>
            <a:r>
              <a:rPr lang="en-US" altLang="zh-TW" sz="2800">
                <a:latin typeface="Times New Roman" panose="02020603050405020304" pitchFamily="18" charset="0"/>
                <a:sym typeface="Symbol" pitchFamily="2" charset="2"/>
              </a:rPr>
              <a:t></a:t>
            </a:r>
            <a:r>
              <a:rPr lang="en-US" altLang="zh-TW" sz="2800"/>
              <a:t>B))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/>
              <a:t>	A</a:t>
            </a:r>
            <a:r>
              <a:rPr lang="en-US" altLang="zh-TW" sz="2800" baseline="-30000"/>
              <a:t>2</a:t>
            </a:r>
            <a:r>
              <a:rPr lang="en-US" altLang="zh-TW" sz="2800"/>
              <a:t> = A</a:t>
            </a:r>
            <a:r>
              <a:rPr lang="en-US" altLang="zh-TW" sz="2800" baseline="-30000"/>
              <a:t>1</a:t>
            </a:r>
            <a:r>
              <a:rPr lang="en-US" altLang="zh-TW" sz="2800"/>
              <a:t> </a:t>
            </a:r>
            <a:r>
              <a:rPr lang="en-US" altLang="zh-TW" sz="2800">
                <a:latin typeface="Times New Roman" panose="02020603050405020304" pitchFamily="18" charset="0"/>
                <a:sym typeface="Symbol" pitchFamily="2" charset="2"/>
              </a:rPr>
              <a:t></a:t>
            </a:r>
            <a:r>
              <a:rPr lang="en-US" altLang="zh-TW" sz="2800"/>
              <a:t> A</a:t>
            </a:r>
            <a:r>
              <a:rPr lang="en-US" altLang="zh-TW" sz="2800" baseline="-30000"/>
              <a:t>3</a:t>
            </a:r>
            <a:endParaRPr lang="en-US" altLang="zh-TW" sz="28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/>
              <a:t>	A</a:t>
            </a:r>
            <a:r>
              <a:rPr lang="en-US" altLang="zh-TW" sz="2800" baseline="-30000"/>
              <a:t>1</a:t>
            </a:r>
            <a:r>
              <a:rPr lang="en-US" altLang="zh-TW" sz="2800"/>
              <a:t> = A</a:t>
            </a:r>
            <a:r>
              <a:rPr lang="en-US" altLang="zh-TW" sz="2800" baseline="-30000"/>
              <a:t>2</a:t>
            </a:r>
            <a:r>
              <a:rPr lang="zh-TW" altLang="en-US" sz="2800"/>
              <a:t> </a:t>
            </a:r>
            <a:r>
              <a:rPr lang="zh-TW" altLang="en-US" sz="2800">
                <a:latin typeface="Times New Roman" panose="02020603050405020304" pitchFamily="18" charset="0"/>
                <a:sym typeface="Symbol" pitchFamily="2" charset="2"/>
              </a:rPr>
              <a:t></a:t>
            </a:r>
            <a:r>
              <a:rPr lang="en-US" altLang="zh-TW" sz="2800"/>
              <a:t> A</a:t>
            </a:r>
            <a:r>
              <a:rPr lang="en-US" altLang="zh-TW" sz="2800" baseline="-30000"/>
              <a:t>3</a:t>
            </a:r>
            <a:endParaRPr lang="en-US" altLang="zh-TW" sz="28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>
                <a:solidFill>
                  <a:schemeClr val="hlink"/>
                </a:solidFill>
              </a:rPr>
              <a:t>	</a:t>
            </a:r>
            <a:r>
              <a:rPr lang="en-US" altLang="zh-TW" sz="2800" u="sng">
                <a:solidFill>
                  <a:schemeClr val="hlink"/>
                </a:solidFill>
              </a:rPr>
              <a:t>Cycle basis</a:t>
            </a:r>
            <a:r>
              <a:rPr lang="en-US" altLang="zh-TW" sz="2800">
                <a:solidFill>
                  <a:schemeClr val="hlink"/>
                </a:solidFill>
              </a:rPr>
              <a:t> </a:t>
            </a:r>
            <a:r>
              <a:rPr lang="en-US" altLang="zh-TW" sz="2800"/>
              <a:t>: {A</a:t>
            </a:r>
            <a:r>
              <a:rPr lang="en-US" altLang="zh-TW" sz="2800" baseline="-30000"/>
              <a:t>1</a:t>
            </a:r>
            <a:r>
              <a:rPr lang="en-US" altLang="zh-TW" sz="2800"/>
              <a:t>, A</a:t>
            </a:r>
            <a:r>
              <a:rPr lang="en-US" altLang="zh-TW" sz="2800" baseline="-30000"/>
              <a:t>2</a:t>
            </a:r>
            <a:r>
              <a:rPr lang="en-US" altLang="zh-TW" sz="2800"/>
              <a:t>} or {A</a:t>
            </a:r>
            <a:r>
              <a:rPr lang="en-US" altLang="zh-TW" sz="2800" baseline="-30000"/>
              <a:t>1</a:t>
            </a:r>
            <a:r>
              <a:rPr lang="en-US" altLang="zh-TW" sz="2800"/>
              <a:t>, A</a:t>
            </a:r>
            <a:r>
              <a:rPr lang="en-US" altLang="zh-TW" sz="2800" baseline="-30000"/>
              <a:t>3</a:t>
            </a:r>
            <a:r>
              <a:rPr lang="en-US" altLang="zh-TW" sz="2800"/>
              <a:t>} or {A</a:t>
            </a:r>
            <a:r>
              <a:rPr lang="en-US" altLang="zh-TW" sz="2800" baseline="-30000"/>
              <a:t>2</a:t>
            </a:r>
            <a:r>
              <a:rPr lang="en-US" altLang="zh-TW" sz="2800"/>
              <a:t>, A</a:t>
            </a:r>
            <a:r>
              <a:rPr lang="en-US" altLang="zh-TW" sz="2800" baseline="-30000"/>
              <a:t>3</a:t>
            </a:r>
            <a:r>
              <a:rPr lang="en-US" altLang="zh-TW" sz="2800"/>
              <a:t>}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TW" altLang="en-US" sz="2800"/>
          </a:p>
        </p:txBody>
      </p:sp>
      <p:sp>
        <p:nvSpPr>
          <p:cNvPr id="78853" name="Rectangle 5">
            <a:extLst>
              <a:ext uri="{FF2B5EF4-FFF2-40B4-BE49-F238E27FC236}">
                <a16:creationId xmlns:a16="http://schemas.microsoft.com/office/drawing/2014/main" id="{A50D0DE5-A6D3-9BF4-6BA8-C1BCA7A17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538413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78854" name="Picture 4">
            <a:extLst>
              <a:ext uri="{FF2B5EF4-FFF2-40B4-BE49-F238E27FC236}">
                <a16:creationId xmlns:a16="http://schemas.microsoft.com/office/drawing/2014/main" id="{F444D484-5981-81A7-702D-FDA32DF63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362200"/>
            <a:ext cx="3276600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投影片編號版面配置區 5">
            <a:extLst>
              <a:ext uri="{FF2B5EF4-FFF2-40B4-BE49-F238E27FC236}">
                <a16:creationId xmlns:a16="http://schemas.microsoft.com/office/drawing/2014/main" id="{120D9450-7285-E6EB-F7F4-2D3425ED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BDF0F8EC-A4B9-0048-BF09-5CD35BD96B91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EA2554A3-39CA-E3D3-2557-E3B34EEF7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b="1" u="sng"/>
              <a:t>Def</a:t>
            </a:r>
            <a:r>
              <a:rPr lang="en-US" altLang="zh-TW" b="1"/>
              <a:t> </a:t>
            </a:r>
            <a:r>
              <a:rPr lang="en-US" altLang="zh-TW"/>
              <a:t>: A </a:t>
            </a:r>
            <a:r>
              <a:rPr lang="en-US" altLang="zh-TW" u="sng">
                <a:solidFill>
                  <a:schemeClr val="hlink"/>
                </a:solidFill>
              </a:rPr>
              <a:t>cycle basis</a:t>
            </a:r>
            <a:r>
              <a:rPr lang="en-US" altLang="zh-TW"/>
              <a:t> of a graph is a set of cycles such that every cycle in the graph can be generated by applying </a:t>
            </a:r>
            <a:r>
              <a:rPr lang="zh-TW" altLang="en-US">
                <a:latin typeface="Times New Roman" panose="02020603050405020304" pitchFamily="18" charset="0"/>
                <a:sym typeface="Symbol" pitchFamily="2" charset="2"/>
              </a:rPr>
              <a:t></a:t>
            </a:r>
            <a:r>
              <a:rPr lang="zh-TW" altLang="en-US"/>
              <a:t> </a:t>
            </a:r>
            <a:r>
              <a:rPr lang="en-US" altLang="zh-TW"/>
              <a:t>on some cycles of this basis.</a:t>
            </a:r>
            <a:endParaRPr lang="en-US" altLang="zh-TW" u="sng">
              <a:solidFill>
                <a:schemeClr val="hlink"/>
              </a:solidFill>
            </a:endParaRPr>
          </a:p>
          <a:p>
            <a:pPr eaLnBrk="1" hangingPunct="1"/>
            <a:r>
              <a:rPr lang="en-US" altLang="zh-TW" u="sng">
                <a:solidFill>
                  <a:schemeClr val="hlink"/>
                </a:solidFill>
              </a:rPr>
              <a:t>Minimal cycle basis</a:t>
            </a:r>
            <a:r>
              <a:rPr lang="en-US" altLang="zh-TW">
                <a:solidFill>
                  <a:schemeClr val="hlink"/>
                </a:solidFill>
              </a:rPr>
              <a:t> </a:t>
            </a:r>
            <a:r>
              <a:rPr lang="en-US" altLang="zh-TW"/>
              <a:t>: smallest total weight of all edges in this cycle.</a:t>
            </a:r>
          </a:p>
          <a:p>
            <a:pPr eaLnBrk="1" hangingPunct="1"/>
            <a:r>
              <a:rPr lang="en-US" altLang="zh-TW"/>
              <a:t>e.g. {A</a:t>
            </a:r>
            <a:r>
              <a:rPr lang="en-US" altLang="zh-TW" baseline="-30000"/>
              <a:t>1</a:t>
            </a:r>
            <a:r>
              <a:rPr lang="en-US" altLang="zh-TW"/>
              <a:t>, A</a:t>
            </a:r>
            <a:r>
              <a:rPr lang="en-US" altLang="zh-TW" baseline="-30000"/>
              <a:t>2</a:t>
            </a:r>
            <a:r>
              <a:rPr lang="en-US" altLang="zh-TW"/>
              <a:t>}</a:t>
            </a:r>
          </a:p>
          <a:p>
            <a:pPr eaLnBrk="1" hangingPunct="1"/>
            <a:endParaRPr lang="zh-TW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投影片編號版面配置區 5">
            <a:extLst>
              <a:ext uri="{FF2B5EF4-FFF2-40B4-BE49-F238E27FC236}">
                <a16:creationId xmlns:a16="http://schemas.microsoft.com/office/drawing/2014/main" id="{AE29F0EA-DEA1-1BDB-47F2-BCA958F5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851CA54C-BE2E-724E-82A2-25144C81D7B7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B34EA278-C060-0305-AB9B-11431BEE9F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altLang="zh-TW" sz="2800"/>
              <a:t>Algorithm for finding a minimal cycle basis:</a:t>
            </a:r>
            <a:endParaRPr lang="en-US" altLang="zh-TW" sz="2800" u="sng">
              <a:solidFill>
                <a:schemeClr val="hlink"/>
              </a:solidFill>
            </a:endParaRP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TW" sz="2400" u="sng">
                <a:solidFill>
                  <a:schemeClr val="hlink"/>
                </a:solidFill>
              </a:rPr>
              <a:t>Step 1</a:t>
            </a:r>
            <a:r>
              <a:rPr lang="en-US" altLang="zh-TW" sz="2400"/>
              <a:t>: Determine the size of the minimal cycle basis, demoted as k.</a:t>
            </a:r>
            <a:endParaRPr lang="en-US" altLang="zh-TW" sz="2400" u="sng">
              <a:solidFill>
                <a:schemeClr val="hlink"/>
              </a:solidFill>
            </a:endParaRP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TW" sz="2400" u="sng">
                <a:solidFill>
                  <a:schemeClr val="hlink"/>
                </a:solidFill>
              </a:rPr>
              <a:t>Step 2</a:t>
            </a:r>
            <a:r>
              <a:rPr lang="en-US" altLang="zh-TW" sz="2400"/>
              <a:t>: Find all of the cycles.  Sort all cycles( by weight).</a:t>
            </a:r>
            <a:endParaRPr lang="en-US" altLang="zh-TW" sz="2400" u="sng">
              <a:solidFill>
                <a:schemeClr val="hlink"/>
              </a:solidFill>
            </a:endParaRP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TW" sz="2400" u="sng">
                <a:solidFill>
                  <a:schemeClr val="hlink"/>
                </a:solidFill>
              </a:rPr>
              <a:t>Step 3</a:t>
            </a:r>
            <a:r>
              <a:rPr lang="en-US" altLang="zh-TW" sz="2400"/>
              <a:t>: Add cycles to the cycle basis one by one.  Check if the added cycle is a </a:t>
            </a:r>
            <a:r>
              <a:rPr lang="en-US" altLang="zh-TW" sz="2400" u="sng">
                <a:solidFill>
                  <a:schemeClr val="hlink"/>
                </a:solidFill>
              </a:rPr>
              <a:t>linear combination</a:t>
            </a:r>
            <a:r>
              <a:rPr lang="en-US" altLang="zh-TW" sz="2400"/>
              <a:t> of some cycles already existing in the basis.  If it is, delete this cycle.</a:t>
            </a:r>
            <a:endParaRPr lang="en-US" altLang="zh-TW" sz="2400" u="sng">
              <a:solidFill>
                <a:schemeClr val="hlink"/>
              </a:solidFill>
            </a:endParaRP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TW" sz="2400" u="sng">
                <a:solidFill>
                  <a:schemeClr val="hlink"/>
                </a:solidFill>
              </a:rPr>
              <a:t>Step 4</a:t>
            </a:r>
            <a:r>
              <a:rPr lang="en-US" altLang="zh-TW" sz="2400"/>
              <a:t>: Stop if the cycle basis has k cycles.</a:t>
            </a:r>
            <a:endParaRPr lang="zh-TW" altLang="en-US" sz="24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投影片編號版面配置區 5">
            <a:extLst>
              <a:ext uri="{FF2B5EF4-FFF2-40B4-BE49-F238E27FC236}">
                <a16:creationId xmlns:a16="http://schemas.microsoft.com/office/drawing/2014/main" id="{6B450287-20D2-4938-8A68-AEB9A908A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3D4423A7-FDE7-7B42-B89C-0B6864DB57EE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14F85B62-E7C2-0672-E7A7-71A4971C7D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7793038" cy="914400"/>
          </a:xfrm>
        </p:spPr>
        <p:txBody>
          <a:bodyPr/>
          <a:lstStyle/>
          <a:p>
            <a:pPr eaLnBrk="1" hangingPunct="1"/>
            <a:r>
              <a:rPr lang="en-US" altLang="zh-TW"/>
              <a:t>Detailed steps for the minimal cycle basis problem</a:t>
            </a:r>
            <a:endParaRPr lang="zh-TW" altLang="en-US"/>
          </a:p>
        </p:txBody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C200BE00-32BC-B28E-6098-93A02F1CD9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153400" cy="3352800"/>
          </a:xfrm>
        </p:spPr>
        <p:txBody>
          <a:bodyPr/>
          <a:lstStyle/>
          <a:p>
            <a:pPr eaLnBrk="1" hangingPunct="1"/>
            <a:r>
              <a:rPr lang="en-US" altLang="zh-TW" sz="2400"/>
              <a:t>Step 1 :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/>
              <a:t>   A cycle basis corresponds to the </a:t>
            </a:r>
            <a:r>
              <a:rPr lang="en-US" altLang="zh-TW" sz="2400" u="sng">
                <a:solidFill>
                  <a:schemeClr val="hlink"/>
                </a:solidFill>
              </a:rPr>
              <a:t>fundamental set of cycles</a:t>
            </a:r>
            <a:r>
              <a:rPr lang="en-US" altLang="zh-TW" sz="2400"/>
              <a:t> with respect to a spanning tree.</a:t>
            </a:r>
            <a:endParaRPr lang="zh-TW" altLang="en-US" sz="2400"/>
          </a:p>
        </p:txBody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520A3EBE-00AC-30C6-3A5F-363C725AC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575" y="1905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84998" name="Picture 4">
            <a:extLst>
              <a:ext uri="{FF2B5EF4-FFF2-40B4-BE49-F238E27FC236}">
                <a16:creationId xmlns:a16="http://schemas.microsoft.com/office/drawing/2014/main" id="{9F5A7535-EBCD-871A-FC0E-83655EF7D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86200"/>
            <a:ext cx="48006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9" name="Text Box 6">
            <a:extLst>
              <a:ext uri="{FF2B5EF4-FFF2-40B4-BE49-F238E27FC236}">
                <a16:creationId xmlns:a16="http://schemas.microsoft.com/office/drawing/2014/main" id="{C6CA721E-6E2B-207B-FB6F-39655EE6E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1242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/>
              <a:t>a graph </a:t>
            </a:r>
            <a:endParaRPr lang="zh-TW" altLang="en-US" sz="2400"/>
          </a:p>
        </p:txBody>
      </p:sp>
      <p:sp>
        <p:nvSpPr>
          <p:cNvPr id="85000" name="Text Box 7">
            <a:extLst>
              <a:ext uri="{FF2B5EF4-FFF2-40B4-BE49-F238E27FC236}">
                <a16:creationId xmlns:a16="http://schemas.microsoft.com/office/drawing/2014/main" id="{0CCAD3A8-6FDD-A122-4927-65205B7CC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1242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/>
              <a:t>a spanning tree </a:t>
            </a:r>
            <a:endParaRPr lang="zh-TW" altLang="en-US" sz="2400"/>
          </a:p>
        </p:txBody>
      </p:sp>
      <p:sp>
        <p:nvSpPr>
          <p:cNvPr id="85001" name="Rectangle 10">
            <a:extLst>
              <a:ext uri="{FF2B5EF4-FFF2-40B4-BE49-F238E27FC236}">
                <a16:creationId xmlns:a16="http://schemas.microsoft.com/office/drawing/2014/main" id="{FEBC603C-34B9-701F-FC25-BA7A7A91D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938" y="1771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85002" name="Picture 9">
            <a:extLst>
              <a:ext uri="{FF2B5EF4-FFF2-40B4-BE49-F238E27FC236}">
                <a16:creationId xmlns:a16="http://schemas.microsoft.com/office/drawing/2014/main" id="{61C34C5D-44C2-7A5A-BADD-D64FF9B7A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13" y="3886200"/>
            <a:ext cx="2058987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003" name="Text Box 11">
            <a:extLst>
              <a:ext uri="{FF2B5EF4-FFF2-40B4-BE49-F238E27FC236}">
                <a16:creationId xmlns:a16="http://schemas.microsoft.com/office/drawing/2014/main" id="{7B3279FA-728C-8473-9EBF-35CC636DE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164013"/>
            <a:ext cx="2362200" cy="246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TW" altLang="en-US" sz="2400"/>
              <a:t># </a:t>
            </a:r>
            <a:r>
              <a:rPr lang="en-US" altLang="zh-TW" sz="2400"/>
              <a:t>of cycles in a cycle basis 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/>
              <a:t>= k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/>
              <a:t>= |E| - (|V|- 1)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/>
              <a:t>= |E| - |V| + 1</a:t>
            </a:r>
            <a:endParaRPr lang="zh-TW" altLang="en-US" sz="2400"/>
          </a:p>
        </p:txBody>
      </p:sp>
      <p:sp>
        <p:nvSpPr>
          <p:cNvPr id="85004" name="Text Box 12">
            <a:extLst>
              <a:ext uri="{FF2B5EF4-FFF2-40B4-BE49-F238E27FC236}">
                <a16:creationId xmlns:a16="http://schemas.microsoft.com/office/drawing/2014/main" id="{2CEC8626-41D3-7D7A-3225-0A35986BE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140075"/>
            <a:ext cx="2667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/>
              <a:t>a fundamental set of cycles </a:t>
            </a:r>
            <a:endParaRPr lang="zh-TW" altLang="en-US" sz="24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投影片編號版面配置區 5">
            <a:extLst>
              <a:ext uri="{FF2B5EF4-FFF2-40B4-BE49-F238E27FC236}">
                <a16:creationId xmlns:a16="http://schemas.microsoft.com/office/drawing/2014/main" id="{620CD3DE-77DD-9967-8F43-52FC0F8C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50598F08-0D01-A041-957B-1CC33D9C0DD4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F3CC4F7D-430E-1F38-F78F-F1403018EF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533400"/>
            <a:ext cx="83058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/>
              <a:t>Step 2: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How to find all cycles in a graph?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[Reingold, Nievergelt and Deo 1977]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How many cycles in a graph in the worst case?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In a complete digraph of n vertices and n(n-1) edges: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TW" altLang="en-US" sz="24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TW" altLang="en-US" sz="24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TW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Step 3: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How to check if a cycle is a linear combination of some cycles?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Using </a:t>
            </a:r>
            <a:r>
              <a:rPr lang="en-US" altLang="zh-TW" sz="2400" u="sng">
                <a:solidFill>
                  <a:schemeClr val="hlink"/>
                </a:solidFill>
              </a:rPr>
              <a:t>Gaussian elimination</a:t>
            </a:r>
            <a:r>
              <a:rPr lang="en-US" altLang="zh-TW" sz="2400"/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TW" altLang="en-US" sz="2400"/>
          </a:p>
        </p:txBody>
      </p:sp>
      <p:sp>
        <p:nvSpPr>
          <p:cNvPr id="87044" name="Rectangle 5">
            <a:extLst>
              <a:ext uri="{FF2B5EF4-FFF2-40B4-BE49-F238E27FC236}">
                <a16:creationId xmlns:a16="http://schemas.microsoft.com/office/drawing/2014/main" id="{D729494D-387B-19A5-9189-FAE06E497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9063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graphicFrame>
        <p:nvGraphicFramePr>
          <p:cNvPr id="87045" name="Object 4">
            <a:extLst>
              <a:ext uri="{FF2B5EF4-FFF2-40B4-BE49-F238E27FC236}">
                <a16:creationId xmlns:a16="http://schemas.microsoft.com/office/drawing/2014/main" id="{6B698EEB-8827-7CE6-77F6-00490E4117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3124200"/>
          <a:ext cx="3352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552900" imgH="9944100" progId="Equation.3">
                  <p:embed/>
                </p:oleObj>
              </mc:Choice>
              <mc:Fallback>
                <p:oleObj name="Equation" r:id="rId3" imgW="29552900" imgH="9944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124200"/>
                        <a:ext cx="33528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投影片編號版面配置區 5">
            <a:extLst>
              <a:ext uri="{FF2B5EF4-FFF2-40B4-BE49-F238E27FC236}">
                <a16:creationId xmlns:a16="http://schemas.microsoft.com/office/drawing/2014/main" id="{06F251F3-344B-9643-B9C4-9D3ABF5A2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36A68046-087D-984B-99B5-2DFB6BD3CDA2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186448CA-5EEE-01D3-3B7D-D6A9102D64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7526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TW"/>
              <a:t>E.g.</a:t>
            </a:r>
          </a:p>
        </p:txBody>
      </p:sp>
      <p:pic>
        <p:nvPicPr>
          <p:cNvPr id="89092" name="Picture 4">
            <a:extLst>
              <a:ext uri="{FF2B5EF4-FFF2-40B4-BE49-F238E27FC236}">
                <a16:creationId xmlns:a16="http://schemas.microsoft.com/office/drawing/2014/main" id="{09C91BFD-28DC-E68E-12F4-6962BFAAB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35814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9093" name="Group 13">
            <a:extLst>
              <a:ext uri="{FF2B5EF4-FFF2-40B4-BE49-F238E27FC236}">
                <a16:creationId xmlns:a16="http://schemas.microsoft.com/office/drawing/2014/main" id="{DB893CDB-607F-9D19-5644-EB661783928F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1295400"/>
            <a:ext cx="5334000" cy="2133600"/>
            <a:chOff x="-288" y="2953"/>
            <a:chExt cx="3360" cy="1271"/>
          </a:xfrm>
        </p:grpSpPr>
        <p:graphicFrame>
          <p:nvGraphicFramePr>
            <p:cNvPr id="89102" name="Object 6">
              <a:extLst>
                <a:ext uri="{FF2B5EF4-FFF2-40B4-BE49-F238E27FC236}">
                  <a16:creationId xmlns:a16="http://schemas.microsoft.com/office/drawing/2014/main" id="{156CC9BC-0F66-9C1A-B8DC-80C9E801CA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-288" y="3433"/>
            <a:ext cx="3168" cy="7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文件" r:id="rId4" imgW="33235900" imgH="7061200" progId="Word.Document.8">
                    <p:embed/>
                  </p:oleObj>
                </mc:Choice>
                <mc:Fallback>
                  <p:oleObj name="文件" r:id="rId4" imgW="33235900" imgH="7061200" progId="Word.Document.8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88" y="3433"/>
                          <a:ext cx="3168" cy="7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103" name="Text Box 7">
              <a:extLst>
                <a:ext uri="{FF2B5EF4-FFF2-40B4-BE49-F238E27FC236}">
                  <a16:creationId xmlns:a16="http://schemas.microsoft.com/office/drawing/2014/main" id="{7C22FACF-56B8-486C-1E11-B08372303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953"/>
              <a:ext cx="2976" cy="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 typeface="Wingdings" pitchFamily="2" charset="2"/>
                <a:buChar char="§"/>
              </a:pPr>
              <a:r>
                <a:rPr lang="zh-TW" altLang="en-US" sz="2400"/>
                <a:t> 2 </a:t>
              </a:r>
              <a:r>
                <a:rPr lang="en-US" altLang="zh-TW" sz="2400"/>
                <a:t>cycles C</a:t>
              </a:r>
              <a:r>
                <a:rPr lang="en-US" altLang="zh-TW" sz="2400" baseline="-30000"/>
                <a:t>1</a:t>
              </a:r>
              <a:r>
                <a:rPr lang="en-US" altLang="zh-TW" sz="2400"/>
                <a:t> and C</a:t>
              </a:r>
              <a:r>
                <a:rPr lang="en-US" altLang="zh-TW" sz="2400" baseline="-30000"/>
                <a:t>2</a:t>
              </a:r>
              <a:r>
                <a:rPr lang="en-US" altLang="zh-TW" sz="2400"/>
                <a:t> are represented by a 0/1 matrix </a:t>
              </a:r>
              <a:endParaRPr lang="zh-TW" altLang="en-US" sz="2400"/>
            </a:p>
          </p:txBody>
        </p:sp>
      </p:grpSp>
      <p:grpSp>
        <p:nvGrpSpPr>
          <p:cNvPr id="89094" name="Group 14">
            <a:extLst>
              <a:ext uri="{FF2B5EF4-FFF2-40B4-BE49-F238E27FC236}">
                <a16:creationId xmlns:a16="http://schemas.microsoft.com/office/drawing/2014/main" id="{B43478F8-8650-9422-EDF4-48D4066EF247}"/>
              </a:ext>
            </a:extLst>
          </p:cNvPr>
          <p:cNvGrpSpPr>
            <a:grpSpLocks/>
          </p:cNvGrpSpPr>
          <p:nvPr/>
        </p:nvGrpSpPr>
        <p:grpSpPr bwMode="auto">
          <a:xfrm>
            <a:off x="0" y="4267200"/>
            <a:ext cx="5562600" cy="1981200"/>
            <a:chOff x="2400" y="1061"/>
            <a:chExt cx="3408" cy="1147"/>
          </a:xfrm>
        </p:grpSpPr>
        <p:graphicFrame>
          <p:nvGraphicFramePr>
            <p:cNvPr id="89100" name="Object 8">
              <a:extLst>
                <a:ext uri="{FF2B5EF4-FFF2-40B4-BE49-F238E27FC236}">
                  <a16:creationId xmlns:a16="http://schemas.microsoft.com/office/drawing/2014/main" id="{F7D76212-1C17-EDFE-EBB6-DAEFFD8C59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0" y="1301"/>
            <a:ext cx="3408" cy="9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文件" r:id="rId6" imgW="33235900" imgH="8851900" progId="Word.Document.8">
                    <p:embed/>
                  </p:oleObj>
                </mc:Choice>
                <mc:Fallback>
                  <p:oleObj name="文件" r:id="rId6" imgW="33235900" imgH="8851900" progId="Word.Document.8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301"/>
                          <a:ext cx="3408" cy="9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101" name="Text Box 9">
              <a:extLst>
                <a:ext uri="{FF2B5EF4-FFF2-40B4-BE49-F238E27FC236}">
                  <a16:creationId xmlns:a16="http://schemas.microsoft.com/office/drawing/2014/main" id="{C1E9677E-21B7-FBBC-CE38-0D78084EFD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61"/>
              <a:ext cx="1296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 typeface="Wingdings" pitchFamily="2" charset="2"/>
                <a:buChar char="§"/>
              </a:pPr>
              <a:r>
                <a:rPr lang="en-US" altLang="zh-TW" sz="2400"/>
                <a:t> Add C</a:t>
              </a:r>
              <a:r>
                <a:rPr lang="en-US" altLang="zh-TW" sz="2400" baseline="-30000"/>
                <a:t>3</a:t>
              </a:r>
              <a:r>
                <a:rPr lang="en-US" altLang="zh-TW" sz="2400"/>
                <a:t> </a:t>
              </a:r>
              <a:endParaRPr lang="zh-TW" altLang="en-US" sz="2400"/>
            </a:p>
          </p:txBody>
        </p:sp>
      </p:grpSp>
      <p:grpSp>
        <p:nvGrpSpPr>
          <p:cNvPr id="89095" name="Group 15">
            <a:extLst>
              <a:ext uri="{FF2B5EF4-FFF2-40B4-BE49-F238E27FC236}">
                <a16:creationId xmlns:a16="http://schemas.microsoft.com/office/drawing/2014/main" id="{93C235C6-AFBF-D65F-E9AC-8CD4388442C3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581400"/>
            <a:ext cx="5867400" cy="1905000"/>
            <a:chOff x="2414" y="2112"/>
            <a:chExt cx="3490" cy="1152"/>
          </a:xfrm>
        </p:grpSpPr>
        <p:graphicFrame>
          <p:nvGraphicFramePr>
            <p:cNvPr id="89098" name="Object 10">
              <a:extLst>
                <a:ext uri="{FF2B5EF4-FFF2-40B4-BE49-F238E27FC236}">
                  <a16:creationId xmlns:a16="http://schemas.microsoft.com/office/drawing/2014/main" id="{B10E6FD4-4FE6-28AB-F0A2-C4F816BEBB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14" y="2335"/>
            <a:ext cx="3490" cy="9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文件" r:id="rId8" imgW="33235900" imgH="8851900" progId="Word.Document.8">
                    <p:embed/>
                  </p:oleObj>
                </mc:Choice>
                <mc:Fallback>
                  <p:oleObj name="文件" r:id="rId8" imgW="33235900" imgH="8851900" progId="Word.Document.8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4" y="2335"/>
                          <a:ext cx="3490" cy="9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099" name="Text Box 11">
              <a:extLst>
                <a:ext uri="{FF2B5EF4-FFF2-40B4-BE49-F238E27FC236}">
                  <a16:creationId xmlns:a16="http://schemas.microsoft.com/office/drawing/2014/main" id="{7FED3769-F625-0DCE-A87D-B1A0B3D39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112"/>
              <a:ext cx="1968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PMingLiU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 typeface="Wingdings" pitchFamily="2" charset="2"/>
                <a:buChar char="§"/>
              </a:pPr>
              <a:r>
                <a:rPr lang="zh-TW" altLang="en-US" sz="2400">
                  <a:latin typeface="Times New Roman" panose="02020603050405020304" pitchFamily="18" charset="0"/>
                  <a:sym typeface="Symbol" pitchFamily="2" charset="2"/>
                </a:rPr>
                <a:t> </a:t>
              </a:r>
              <a:r>
                <a:rPr lang="zh-TW" altLang="en-US" sz="2400"/>
                <a:t> </a:t>
              </a:r>
              <a:r>
                <a:rPr lang="en-US" altLang="zh-TW" sz="2400"/>
                <a:t>on rows 1 and 3 </a:t>
              </a:r>
              <a:endParaRPr lang="zh-TW" altLang="en-US" sz="2400"/>
            </a:p>
          </p:txBody>
        </p:sp>
      </p:grpSp>
      <p:sp>
        <p:nvSpPr>
          <p:cNvPr id="89096" name="Text Box 12">
            <a:extLst>
              <a:ext uri="{FF2B5EF4-FFF2-40B4-BE49-F238E27FC236}">
                <a16:creationId xmlns:a16="http://schemas.microsoft.com/office/drawing/2014/main" id="{D37EEF61-B4E8-2317-0FFF-BE1F21E4A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562600"/>
            <a:ext cx="45720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Symbol" pitchFamily="2" charset="2"/>
              <a:buChar char="Å"/>
            </a:pPr>
            <a:r>
              <a:rPr lang="en-US" altLang="zh-TW" sz="2400"/>
              <a:t> on rows 2 and 3 : empty 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r>
              <a:rPr lang="zh-TW" altLang="en-US" sz="2400">
                <a:latin typeface="Times New Roman" panose="02020603050405020304" pitchFamily="18" charset="0"/>
              </a:rPr>
              <a:t>∵</a:t>
            </a:r>
            <a:r>
              <a:rPr lang="en-US" altLang="zh-TW" sz="2400"/>
              <a:t>C</a:t>
            </a:r>
            <a:r>
              <a:rPr lang="en-US" altLang="zh-TW" sz="2400" baseline="-30000"/>
              <a:t>3</a:t>
            </a:r>
            <a:r>
              <a:rPr lang="en-US" altLang="zh-TW" sz="2400"/>
              <a:t> = C</a:t>
            </a:r>
            <a:r>
              <a:rPr lang="en-US" altLang="zh-TW" sz="2400" baseline="-30000"/>
              <a:t>1</a:t>
            </a:r>
            <a:r>
              <a:rPr lang="en-US" altLang="zh-TW" sz="2400"/>
              <a:t> </a:t>
            </a:r>
            <a:r>
              <a:rPr lang="en-US" altLang="zh-TW" sz="2400">
                <a:latin typeface="Times New Roman" panose="02020603050405020304" pitchFamily="18" charset="0"/>
                <a:sym typeface="Symbol" pitchFamily="2" charset="2"/>
              </a:rPr>
              <a:t></a:t>
            </a:r>
            <a:r>
              <a:rPr lang="en-US" altLang="zh-TW" sz="2400"/>
              <a:t> C</a:t>
            </a:r>
            <a:r>
              <a:rPr lang="en-US" altLang="zh-TW" sz="2400" baseline="-30000"/>
              <a:t>2</a:t>
            </a:r>
            <a:r>
              <a:rPr lang="en-US" altLang="zh-TW" sz="2400"/>
              <a:t> </a:t>
            </a:r>
          </a:p>
        </p:txBody>
      </p:sp>
      <p:sp>
        <p:nvSpPr>
          <p:cNvPr id="89097" name="Rectangle 17">
            <a:extLst>
              <a:ext uri="{FF2B5EF4-FFF2-40B4-BE49-F238E27FC236}">
                <a16:creationId xmlns:a16="http://schemas.microsoft.com/office/drawing/2014/main" id="{D70EDA57-EBC4-22BD-161D-EB0D4EAA6D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93038" cy="914400"/>
          </a:xfrm>
          <a:noFill/>
        </p:spPr>
        <p:txBody>
          <a:bodyPr/>
          <a:lstStyle/>
          <a:p>
            <a:pPr eaLnBrk="1" hangingPunct="1"/>
            <a:r>
              <a:rPr lang="en-US" altLang="zh-TW"/>
              <a:t>Gaussian elimination</a:t>
            </a:r>
            <a:endParaRPr lang="zh-TW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投影片編號版面配置區 5">
            <a:extLst>
              <a:ext uri="{FF2B5EF4-FFF2-40B4-BE49-F238E27FC236}">
                <a16:creationId xmlns:a16="http://schemas.microsoft.com/office/drawing/2014/main" id="{07447890-4D9A-55F7-7476-792FB8A3A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33075DCE-3910-FB4B-AA61-20AD05C619CC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3A167BF7-4027-21D0-6C55-B4F00AAE9B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400050"/>
            <a:ext cx="7793037" cy="914400"/>
          </a:xfrm>
        </p:spPr>
        <p:txBody>
          <a:bodyPr/>
          <a:lstStyle/>
          <a:p>
            <a:pPr eaLnBrk="1" hangingPunct="1"/>
            <a:r>
              <a:rPr lang="en-US" altLang="zh-TW" sz="4000"/>
              <a:t>The 2-terminal one to any special channel routing problem</a:t>
            </a:r>
            <a:endParaRPr lang="zh-TW" altLang="en-US" sz="4000"/>
          </a:p>
        </p:txBody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90CC7E52-B60C-4447-E253-4583418A42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648200"/>
          </a:xfrm>
        </p:spPr>
        <p:txBody>
          <a:bodyPr/>
          <a:lstStyle/>
          <a:p>
            <a:pPr eaLnBrk="1" hangingPunct="1"/>
            <a:r>
              <a:rPr lang="en-US" altLang="zh-TW" sz="2400" u="sng"/>
              <a:t>Def:</a:t>
            </a:r>
            <a:r>
              <a:rPr lang="en-US" altLang="zh-TW" sz="2400"/>
              <a:t> Given two sets of terminals on the upper and lower rows, respectively, we have to </a:t>
            </a:r>
            <a:r>
              <a:rPr lang="en-US" altLang="zh-TW" sz="2400" u="sng">
                <a:solidFill>
                  <a:schemeClr val="hlink"/>
                </a:solidFill>
              </a:rPr>
              <a:t>connect each upper terminal to the lower row</a:t>
            </a:r>
            <a:r>
              <a:rPr lang="en-US" altLang="zh-TW" sz="2400"/>
              <a:t> in a one to one fashion. This connection requires that </a:t>
            </a:r>
            <a:r>
              <a:rPr lang="en-US" altLang="zh-TW" sz="2400" u="sng">
                <a:solidFill>
                  <a:schemeClr val="hlink"/>
                </a:solidFill>
              </a:rPr>
              <a:t># of tracks</a:t>
            </a:r>
            <a:r>
              <a:rPr lang="en-US" altLang="zh-TW" sz="2400"/>
              <a:t> used is minimized.</a:t>
            </a:r>
          </a:p>
        </p:txBody>
      </p:sp>
      <p:pic>
        <p:nvPicPr>
          <p:cNvPr id="91141" name="Picture 4">
            <a:extLst>
              <a:ext uri="{FF2B5EF4-FFF2-40B4-BE49-F238E27FC236}">
                <a16:creationId xmlns:a16="http://schemas.microsoft.com/office/drawing/2014/main" id="{989086B9-E02B-5400-34AF-1AC41F071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657600"/>
            <a:ext cx="7696200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投影片編號版面配置區 5">
            <a:extLst>
              <a:ext uri="{FF2B5EF4-FFF2-40B4-BE49-F238E27FC236}">
                <a16:creationId xmlns:a16="http://schemas.microsoft.com/office/drawing/2014/main" id="{1A535E08-5A26-8A83-B13B-A32EB92D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CD7A0B9D-987B-A648-A234-AAF0C4CC8C5A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5DE5E6E-0B95-F677-57DF-570C5A3B33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2 feasible solutions</a:t>
            </a:r>
            <a:endParaRPr lang="zh-TW" altLang="en-US" sz="4000"/>
          </a:p>
        </p:txBody>
      </p:sp>
      <p:sp>
        <p:nvSpPr>
          <p:cNvPr id="93188" name="Rectangle 5">
            <a:extLst>
              <a:ext uri="{FF2B5EF4-FFF2-40B4-BE49-F238E27FC236}">
                <a16:creationId xmlns:a16="http://schemas.microsoft.com/office/drawing/2014/main" id="{EFBD61F1-CB98-D6A7-86E5-30B2FBB01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575" y="2481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93189" name="Rectangle 8">
            <a:extLst>
              <a:ext uri="{FF2B5EF4-FFF2-40B4-BE49-F238E27FC236}">
                <a16:creationId xmlns:a16="http://schemas.microsoft.com/office/drawing/2014/main" id="{A0149ACF-3FD6-930B-FB7F-10A623B6A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2552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93190" name="Picture 7">
            <a:extLst>
              <a:ext uri="{FF2B5EF4-FFF2-40B4-BE49-F238E27FC236}">
                <a16:creationId xmlns:a16="http://schemas.microsoft.com/office/drawing/2014/main" id="{894C4B59-169E-18C6-0E55-2CFFE3230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71600"/>
            <a:ext cx="7543800" cy="250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91" name="Rectangle 10">
            <a:extLst>
              <a:ext uri="{FF2B5EF4-FFF2-40B4-BE49-F238E27FC236}">
                <a16:creationId xmlns:a16="http://schemas.microsoft.com/office/drawing/2014/main" id="{8EC1B136-1F27-1387-6683-C38AB0C1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2552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93192" name="Picture 9">
            <a:extLst>
              <a:ext uri="{FF2B5EF4-FFF2-40B4-BE49-F238E27FC236}">
                <a16:creationId xmlns:a16="http://schemas.microsoft.com/office/drawing/2014/main" id="{634D1617-5CE8-693E-82C7-76DC8C700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038600"/>
            <a:ext cx="7543800" cy="250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93" name="Oval 13">
            <a:extLst>
              <a:ext uri="{FF2B5EF4-FFF2-40B4-BE49-F238E27FC236}">
                <a16:creationId xmlns:a16="http://schemas.microsoft.com/office/drawing/2014/main" id="{D4356100-5C77-D7EF-D02B-40DED9A78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1066800"/>
            <a:ext cx="76200" cy="76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93194" name="Oval 14">
            <a:extLst>
              <a:ext uri="{FF2B5EF4-FFF2-40B4-BE49-F238E27FC236}">
                <a16:creationId xmlns:a16="http://schemas.microsoft.com/office/drawing/2014/main" id="{F2D861AA-4E43-8B1A-B47A-9CF63611D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1066800"/>
            <a:ext cx="76200" cy="76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93195" name="Oval 15">
            <a:extLst>
              <a:ext uri="{FF2B5EF4-FFF2-40B4-BE49-F238E27FC236}">
                <a16:creationId xmlns:a16="http://schemas.microsoft.com/office/drawing/2014/main" id="{B6C1E546-262E-AE55-E6C8-4B452A7AB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1295400"/>
            <a:ext cx="76200" cy="76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93196" name="Oval 16">
            <a:extLst>
              <a:ext uri="{FF2B5EF4-FFF2-40B4-BE49-F238E27FC236}">
                <a16:creationId xmlns:a16="http://schemas.microsoft.com/office/drawing/2014/main" id="{4AB8080B-0A6C-F5DC-7BA9-61FE15041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1295400"/>
            <a:ext cx="76200" cy="76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93197" name="Line 17">
            <a:extLst>
              <a:ext uri="{FF2B5EF4-FFF2-40B4-BE49-F238E27FC236}">
                <a16:creationId xmlns:a16="http://schemas.microsoft.com/office/drawing/2014/main" id="{F1755CF9-EA34-C455-59CF-273945EB4D8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05800" y="762000"/>
            <a:ext cx="0" cy="3048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BD"/>
          </a:p>
        </p:txBody>
      </p:sp>
      <p:sp>
        <p:nvSpPr>
          <p:cNvPr id="93198" name="Line 18">
            <a:extLst>
              <a:ext uri="{FF2B5EF4-FFF2-40B4-BE49-F238E27FC236}">
                <a16:creationId xmlns:a16="http://schemas.microsoft.com/office/drawing/2014/main" id="{1F23F03E-ECDE-4B59-8B3A-6868975E356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1143000"/>
            <a:ext cx="0" cy="6096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BD"/>
          </a:p>
        </p:txBody>
      </p:sp>
      <p:sp>
        <p:nvSpPr>
          <p:cNvPr id="93199" name="Line 19">
            <a:extLst>
              <a:ext uri="{FF2B5EF4-FFF2-40B4-BE49-F238E27FC236}">
                <a16:creationId xmlns:a16="http://schemas.microsoft.com/office/drawing/2014/main" id="{F69A9BC2-1E7B-8CF4-5EBA-6647EA3BB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371600"/>
            <a:ext cx="0" cy="3048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BD"/>
          </a:p>
        </p:txBody>
      </p:sp>
      <p:sp>
        <p:nvSpPr>
          <p:cNvPr id="93200" name="Line 20">
            <a:extLst>
              <a:ext uri="{FF2B5EF4-FFF2-40B4-BE49-F238E27FC236}">
                <a16:creationId xmlns:a16="http://schemas.microsoft.com/office/drawing/2014/main" id="{0340D157-A71A-BD00-71B9-6833E2CA70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838200"/>
            <a:ext cx="0" cy="4572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BD"/>
          </a:p>
        </p:txBody>
      </p:sp>
      <p:sp>
        <p:nvSpPr>
          <p:cNvPr id="93201" name="Line 21">
            <a:extLst>
              <a:ext uri="{FF2B5EF4-FFF2-40B4-BE49-F238E27FC236}">
                <a16:creationId xmlns:a16="http://schemas.microsoft.com/office/drawing/2014/main" id="{F2DCF63B-665B-0B20-2FE8-2FDBF93905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48600" y="1066800"/>
            <a:ext cx="381000" cy="0"/>
          </a:xfrm>
          <a:prstGeom prst="line">
            <a:avLst/>
          </a:prstGeom>
          <a:noFill/>
          <a:ln w="9525">
            <a:solidFill>
              <a:srgbClr val="66FF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BD"/>
          </a:p>
        </p:txBody>
      </p:sp>
      <p:sp>
        <p:nvSpPr>
          <p:cNvPr id="93202" name="Line 22">
            <a:extLst>
              <a:ext uri="{FF2B5EF4-FFF2-40B4-BE49-F238E27FC236}">
                <a16:creationId xmlns:a16="http://schemas.microsoft.com/office/drawing/2014/main" id="{65C31E1A-252D-E592-F5FD-8A946776FE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96200" y="1295400"/>
            <a:ext cx="914400" cy="0"/>
          </a:xfrm>
          <a:prstGeom prst="line">
            <a:avLst/>
          </a:prstGeom>
          <a:noFill/>
          <a:ln w="9525">
            <a:solidFill>
              <a:srgbClr val="66FF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BD"/>
          </a:p>
        </p:txBody>
      </p:sp>
      <p:graphicFrame>
        <p:nvGraphicFramePr>
          <p:cNvPr id="93203" name="Object 23">
            <a:extLst>
              <a:ext uri="{FF2B5EF4-FFF2-40B4-BE49-F238E27FC236}">
                <a16:creationId xmlns:a16="http://schemas.microsoft.com/office/drawing/2014/main" id="{DAC8A855-B1D9-7150-C762-894BDFBEEB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2800" y="1143000"/>
          <a:ext cx="6159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件" r:id="rId5" imgW="3251200" imgH="2743200" progId="Word.Document.8">
                  <p:embed/>
                </p:oleObj>
              </mc:Choice>
              <mc:Fallback>
                <p:oleObj name="文件" r:id="rId5" imgW="3251200" imgH="2743200" progId="Word.Documen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1143000"/>
                        <a:ext cx="61595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投影片編號版面配置區 5">
            <a:extLst>
              <a:ext uri="{FF2B5EF4-FFF2-40B4-BE49-F238E27FC236}">
                <a16:creationId xmlns:a16="http://schemas.microsoft.com/office/drawing/2014/main" id="{82058DEE-E257-852A-BA73-CD75F5568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9B033B1B-1865-E442-AFE2-D018B689646A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227CCC20-1D42-A040-FE0B-AE1108B82A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93038" cy="914400"/>
          </a:xfrm>
        </p:spPr>
        <p:txBody>
          <a:bodyPr/>
          <a:lstStyle/>
          <a:p>
            <a:pPr eaLnBrk="1" hangingPunct="1"/>
            <a:r>
              <a:rPr lang="en-US" altLang="zh-TW" sz="4000"/>
              <a:t>Redrawing solutions</a:t>
            </a:r>
            <a:endParaRPr lang="zh-TW" altLang="en-US" sz="4000"/>
          </a:p>
        </p:txBody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857DBBF3-8871-9206-EC29-2A3F3CBAFD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7772400" cy="4114800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zh-TW" sz="2400"/>
              <a:t>(a) Optimal solution</a:t>
            </a:r>
          </a:p>
          <a:p>
            <a:pPr eaLnBrk="1" hangingPunct="1"/>
            <a:endParaRPr lang="zh-TW" altLang="en-US"/>
          </a:p>
        </p:txBody>
      </p:sp>
      <p:sp>
        <p:nvSpPr>
          <p:cNvPr id="95237" name="Rectangle 5">
            <a:extLst>
              <a:ext uri="{FF2B5EF4-FFF2-40B4-BE49-F238E27FC236}">
                <a16:creationId xmlns:a16="http://schemas.microsoft.com/office/drawing/2014/main" id="{A418DF22-78AB-6EEC-0BCB-A8919A33E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575" y="2481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95238" name="Picture 4">
            <a:extLst>
              <a:ext uri="{FF2B5EF4-FFF2-40B4-BE49-F238E27FC236}">
                <a16:creationId xmlns:a16="http://schemas.microsoft.com/office/drawing/2014/main" id="{08D1CB1A-5C49-95B5-342D-518D1A341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05000"/>
            <a:ext cx="5276850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9" name="Rectangle 7">
            <a:extLst>
              <a:ext uri="{FF2B5EF4-FFF2-40B4-BE49-F238E27FC236}">
                <a16:creationId xmlns:a16="http://schemas.microsoft.com/office/drawing/2014/main" id="{D9D408DB-74F7-2A05-EC66-66C6980C0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575" y="2481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95240" name="Picture 6">
            <a:extLst>
              <a:ext uri="{FF2B5EF4-FFF2-40B4-BE49-F238E27FC236}">
                <a16:creationId xmlns:a16="http://schemas.microsoft.com/office/drawing/2014/main" id="{771B2AC6-C7E4-BDD0-51D1-388384F81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648200"/>
            <a:ext cx="5276850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41" name="Text Box 8">
            <a:extLst>
              <a:ext uri="{FF2B5EF4-FFF2-40B4-BE49-F238E27FC236}">
                <a16:creationId xmlns:a16="http://schemas.microsoft.com/office/drawing/2014/main" id="{F36E5BFB-2147-3574-6CDE-C83C92446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0386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TW" altLang="en-US" sz="2400"/>
              <a:t>(</a:t>
            </a:r>
            <a:r>
              <a:rPr lang="en-US" altLang="zh-TW" sz="2400"/>
              <a:t>b) Another solution </a:t>
            </a:r>
            <a:endParaRPr lang="zh-TW" altLang="en-US" sz="2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投影片編號版面配置區 5">
            <a:extLst>
              <a:ext uri="{FF2B5EF4-FFF2-40B4-BE49-F238E27FC236}">
                <a16:creationId xmlns:a16="http://schemas.microsoft.com/office/drawing/2014/main" id="{BC625B70-2ADA-2555-EE38-39EFE64E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59790DE8-8ABB-8545-9674-985CAC529B47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22C29EDC-FD3A-6CB7-A038-AD9391C10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381000"/>
            <a:ext cx="7772400" cy="4648200"/>
          </a:xfrm>
        </p:spPr>
        <p:txBody>
          <a:bodyPr/>
          <a:lstStyle/>
          <a:p>
            <a:pPr eaLnBrk="1" hangingPunct="1"/>
            <a:r>
              <a:rPr lang="en-US" altLang="zh-TW" sz="2800"/>
              <a:t>At each point, the </a:t>
            </a:r>
            <a:r>
              <a:rPr lang="en-US" altLang="zh-TW" sz="2800" u="sng">
                <a:solidFill>
                  <a:schemeClr val="hlink"/>
                </a:solidFill>
              </a:rPr>
              <a:t>local density</a:t>
            </a:r>
            <a:r>
              <a:rPr lang="en-US" altLang="zh-TW" sz="2800"/>
              <a:t> of the solution is # of lines the vertical line intersects.</a:t>
            </a:r>
          </a:p>
          <a:p>
            <a:pPr eaLnBrk="1" hangingPunct="1"/>
            <a:r>
              <a:rPr lang="en-US" altLang="zh-TW" sz="2800"/>
              <a:t>The problem: to minimize the </a:t>
            </a:r>
            <a:r>
              <a:rPr lang="en-US" altLang="zh-TW" sz="2800" u="sng">
                <a:solidFill>
                  <a:schemeClr val="hlink"/>
                </a:solidFill>
              </a:rPr>
              <a:t>density</a:t>
            </a:r>
            <a:r>
              <a:rPr lang="en-US" altLang="zh-TW" sz="2800"/>
              <a:t>.  The density is a lower bound of # of </a:t>
            </a:r>
            <a:r>
              <a:rPr lang="en-US" altLang="zh-TW" sz="2800" u="sng">
                <a:solidFill>
                  <a:schemeClr val="hlink"/>
                </a:solidFill>
              </a:rPr>
              <a:t>tracks</a:t>
            </a:r>
            <a:r>
              <a:rPr lang="en-US" altLang="zh-TW" sz="2800"/>
              <a:t>.</a:t>
            </a:r>
          </a:p>
          <a:p>
            <a:pPr eaLnBrk="1" hangingPunct="1"/>
            <a:r>
              <a:rPr lang="en-US" altLang="zh-TW" sz="2800"/>
              <a:t>Upper row terminals: P</a:t>
            </a:r>
            <a:r>
              <a:rPr lang="en-US" altLang="zh-TW" sz="2800" baseline="-30000"/>
              <a:t>1</a:t>
            </a:r>
            <a:r>
              <a:rPr lang="en-US" altLang="zh-TW" sz="2800"/>
              <a:t> ,P</a:t>
            </a:r>
            <a:r>
              <a:rPr lang="en-US" altLang="zh-TW" sz="2800" baseline="-30000"/>
              <a:t>2</a:t>
            </a:r>
            <a:r>
              <a:rPr lang="en-US" altLang="zh-TW" sz="2800"/>
              <a:t> ,</a:t>
            </a:r>
            <a:r>
              <a:rPr lang="en-US" altLang="zh-TW" sz="2800">
                <a:latin typeface="Times New Roman" panose="02020603050405020304" pitchFamily="18" charset="0"/>
              </a:rPr>
              <a:t>…</a:t>
            </a:r>
            <a:r>
              <a:rPr lang="en-US" altLang="zh-TW" sz="2800"/>
              <a:t>, P</a:t>
            </a:r>
            <a:r>
              <a:rPr lang="en-US" altLang="zh-TW" sz="2800" baseline="-30000"/>
              <a:t>n</a:t>
            </a:r>
            <a:r>
              <a:rPr lang="en-US" altLang="zh-TW" sz="2800"/>
              <a:t>  from left to right</a:t>
            </a:r>
          </a:p>
          <a:p>
            <a:pPr eaLnBrk="1" hangingPunct="1"/>
            <a:r>
              <a:rPr lang="en-US" altLang="zh-TW" sz="2800"/>
              <a:t>Lower row terminals: Q</a:t>
            </a:r>
            <a:r>
              <a:rPr lang="en-US" altLang="zh-TW" sz="2800" baseline="-30000"/>
              <a:t>1 </a:t>
            </a:r>
            <a:r>
              <a:rPr lang="en-US" altLang="zh-TW" sz="2800"/>
              <a:t>,Q</a:t>
            </a:r>
            <a:r>
              <a:rPr lang="zh-TW" altLang="en-US" sz="2800" baseline="-30000"/>
              <a:t>2</a:t>
            </a:r>
            <a:r>
              <a:rPr lang="zh-TW" altLang="en-US" sz="2800"/>
              <a:t> </a:t>
            </a:r>
            <a:r>
              <a:rPr lang="en-US" altLang="zh-TW" sz="2800"/>
              <a:t>,</a:t>
            </a:r>
            <a:r>
              <a:rPr lang="en-US" altLang="zh-TW" sz="2800">
                <a:latin typeface="Times New Roman" panose="02020603050405020304" pitchFamily="18" charset="0"/>
              </a:rPr>
              <a:t>…</a:t>
            </a:r>
            <a:r>
              <a:rPr lang="en-US" altLang="zh-TW" sz="2800"/>
              <a:t>, Q</a:t>
            </a:r>
            <a:r>
              <a:rPr lang="en-US" altLang="zh-TW" sz="2800" baseline="-30000"/>
              <a:t>m</a:t>
            </a:r>
            <a:r>
              <a:rPr lang="en-US" altLang="zh-TW" sz="2800"/>
              <a:t>  from left to right m &gt; n.</a:t>
            </a:r>
          </a:p>
          <a:p>
            <a:pPr algn="just" eaLnBrk="1" hangingPunct="1"/>
            <a:r>
              <a:rPr lang="en-US" altLang="zh-TW" sz="2800"/>
              <a:t>It would never have a </a:t>
            </a:r>
            <a:r>
              <a:rPr lang="en-US" altLang="zh-TW" sz="2800" u="sng">
                <a:solidFill>
                  <a:schemeClr val="hlink"/>
                </a:solidFill>
              </a:rPr>
              <a:t>crossing connection</a:t>
            </a:r>
            <a:r>
              <a:rPr lang="en-US" altLang="zh-TW" sz="2800"/>
              <a:t>:</a:t>
            </a:r>
            <a:endParaRPr lang="zh-TW" altLang="en-US" sz="2800"/>
          </a:p>
        </p:txBody>
      </p:sp>
      <p:pic>
        <p:nvPicPr>
          <p:cNvPr id="97284" name="Picture 5">
            <a:extLst>
              <a:ext uri="{FF2B5EF4-FFF2-40B4-BE49-F238E27FC236}">
                <a16:creationId xmlns:a16="http://schemas.microsoft.com/office/drawing/2014/main" id="{516DD394-2594-C179-1799-66245C808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724400"/>
            <a:ext cx="5334000" cy="184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投影片編號版面配置區 5">
            <a:extLst>
              <a:ext uri="{FF2B5EF4-FFF2-40B4-BE49-F238E27FC236}">
                <a16:creationId xmlns:a16="http://schemas.microsoft.com/office/drawing/2014/main" id="{91E7B79A-2A15-B6D4-6563-3A7733132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C481F26F-1586-5E45-BB9F-8B4CAFEA2C6E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D7C5D08F-1A46-44A0-3B9B-DFA2F7F3D7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990600"/>
            <a:ext cx="7696200" cy="4876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zh-TW" sz="2800"/>
              <a:t>Suppose that we have a method to determine the minimum density, d, of a problem instance.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TW" sz="2800"/>
              <a:t>The </a:t>
            </a:r>
            <a:r>
              <a:rPr lang="en-US" altLang="zh-TW" sz="2800" u="sng">
                <a:solidFill>
                  <a:schemeClr val="hlink"/>
                </a:solidFill>
              </a:rPr>
              <a:t>greedy algorithm</a:t>
            </a:r>
            <a:r>
              <a:rPr lang="en-US" altLang="zh-TW" sz="2800"/>
              <a:t>: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u="sng">
                <a:solidFill>
                  <a:schemeClr val="hlink"/>
                </a:solidFill>
              </a:rPr>
              <a:t>Step 1</a:t>
            </a:r>
            <a:r>
              <a:rPr lang="en-US" altLang="zh-TW" sz="2800"/>
              <a:t> : P</a:t>
            </a:r>
            <a:r>
              <a:rPr lang="en-US" altLang="zh-TW" sz="2800" baseline="-30000"/>
              <a:t>1</a:t>
            </a:r>
            <a:r>
              <a:rPr lang="en-US" altLang="zh-TW" sz="2800"/>
              <a:t> is connected Q</a:t>
            </a:r>
            <a:r>
              <a:rPr lang="en-US" altLang="zh-TW" sz="2800" baseline="-30000"/>
              <a:t>1</a:t>
            </a:r>
            <a:r>
              <a:rPr lang="en-US" altLang="zh-TW" sz="2800"/>
              <a:t>.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u="sng">
                <a:solidFill>
                  <a:schemeClr val="hlink"/>
                </a:solidFill>
              </a:rPr>
              <a:t>Step 2</a:t>
            </a:r>
            <a:r>
              <a:rPr lang="en-US" altLang="zh-TW" sz="2800"/>
              <a:t> : After P</a:t>
            </a:r>
            <a:r>
              <a:rPr lang="en-US" altLang="zh-TW" sz="2800" baseline="-30000"/>
              <a:t>i</a:t>
            </a:r>
            <a:r>
              <a:rPr lang="en-US" altLang="zh-TW" sz="2800"/>
              <a:t> is connected to Q</a:t>
            </a:r>
            <a:r>
              <a:rPr lang="en-US" altLang="zh-TW" sz="2800" baseline="-30000"/>
              <a:t>j</a:t>
            </a:r>
            <a:r>
              <a:rPr lang="en-US" altLang="zh-TW" sz="2800"/>
              <a:t>, we check whether P</a:t>
            </a:r>
            <a:r>
              <a:rPr lang="en-US" altLang="zh-TW" sz="2800" baseline="-30000"/>
              <a:t>i+1</a:t>
            </a:r>
            <a:r>
              <a:rPr lang="en-US" altLang="zh-TW" sz="2800"/>
              <a:t> can be connected to  Q</a:t>
            </a:r>
            <a:r>
              <a:rPr lang="en-US" altLang="zh-TW" sz="2800" baseline="-30000"/>
              <a:t>j+1</a:t>
            </a:r>
            <a:r>
              <a:rPr lang="en-US" altLang="zh-TW" sz="2800"/>
              <a:t>. If the density is increased to d+1, try to connect P</a:t>
            </a:r>
            <a:r>
              <a:rPr lang="en-US" altLang="zh-TW" sz="2800" baseline="-30000"/>
              <a:t>i+1</a:t>
            </a:r>
            <a:r>
              <a:rPr lang="en-US" altLang="zh-TW" sz="2800"/>
              <a:t> to Q</a:t>
            </a:r>
            <a:r>
              <a:rPr lang="en-US" altLang="zh-TW" sz="2800" baseline="-30000"/>
              <a:t>j+2</a:t>
            </a:r>
            <a:r>
              <a:rPr lang="en-US" altLang="zh-TW" sz="2800"/>
              <a:t>.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u="sng">
                <a:solidFill>
                  <a:schemeClr val="hlink"/>
                </a:solidFill>
              </a:rPr>
              <a:t>Step 3</a:t>
            </a:r>
            <a:r>
              <a:rPr lang="en-US" altLang="zh-TW" sz="2800"/>
              <a:t> : Repeat Step2 until all P</a:t>
            </a:r>
            <a:r>
              <a:rPr lang="en-US" altLang="zh-TW" sz="2800" baseline="-30000"/>
              <a:t>i</a:t>
            </a:r>
            <a:r>
              <a:rPr lang="en-US" altLang="zh-TW" sz="2800">
                <a:latin typeface="Times New Roman" panose="02020603050405020304" pitchFamily="18" charset="0"/>
              </a:rPr>
              <a:t>’</a:t>
            </a:r>
            <a:r>
              <a:rPr lang="en-US" altLang="zh-TW" sz="2800"/>
              <a:t>s are connected</a:t>
            </a:r>
            <a:r>
              <a:rPr lang="en-US" altLang="zh-TW"/>
              <a:t>. </a:t>
            </a:r>
            <a:endParaRPr lang="zh-TW" altLang="en-US"/>
          </a:p>
        </p:txBody>
      </p:sp>
      <p:sp>
        <p:nvSpPr>
          <p:cNvPr id="99332" name="Rectangle 5">
            <a:extLst>
              <a:ext uri="{FF2B5EF4-FFF2-40B4-BE49-F238E27FC236}">
                <a16:creationId xmlns:a16="http://schemas.microsoft.com/office/drawing/2014/main" id="{AB8B983C-AEEE-C71F-037F-C8B2F507F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5" y="2533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投影片編號版面配置區 5">
            <a:extLst>
              <a:ext uri="{FF2B5EF4-FFF2-40B4-BE49-F238E27FC236}">
                <a16:creationId xmlns:a16="http://schemas.microsoft.com/office/drawing/2014/main" id="{589DDE00-5EED-A27E-95F3-8E5FAE9D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6FD38683-A377-2C4F-99EC-D2806B81F42A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E9664D3A-CA75-A5DB-E0EF-ED6ADFE326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The knapsack problem</a:t>
            </a:r>
          </a:p>
        </p:txBody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9A99CCC7-21F4-DA59-305A-388054171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n objects, each with a weight w</a:t>
            </a:r>
            <a:r>
              <a:rPr lang="en-US" altLang="zh-TW" baseline="-30000"/>
              <a:t>i</a:t>
            </a:r>
            <a:r>
              <a:rPr lang="en-US" altLang="zh-TW"/>
              <a:t> &gt; 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/>
              <a:t>					   a profit p</a:t>
            </a:r>
            <a:r>
              <a:rPr lang="en-US" altLang="zh-TW" baseline="-30000"/>
              <a:t>i</a:t>
            </a:r>
            <a:r>
              <a:rPr lang="en-US" altLang="zh-TW"/>
              <a:t> &gt; 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/>
              <a:t>				capacity of knapsack: M </a:t>
            </a:r>
          </a:p>
          <a:p>
            <a:pPr algn="just" eaLnBrk="1" hangingPunct="1">
              <a:buFont typeface="Wingdings" pitchFamily="2" charset="2"/>
              <a:buNone/>
            </a:pPr>
            <a:endParaRPr lang="en-US" altLang="zh-TW"/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TW"/>
              <a:t>Maximize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TW"/>
              <a:t>Subject to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/>
              <a:t>	0 </a:t>
            </a:r>
            <a:r>
              <a:rPr lang="en-US" altLang="zh-TW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zh-TW"/>
              <a:t> x</a:t>
            </a:r>
            <a:r>
              <a:rPr lang="en-US" altLang="zh-TW" baseline="-30000"/>
              <a:t>i</a:t>
            </a:r>
            <a:r>
              <a:rPr lang="en-US" altLang="zh-TW"/>
              <a:t> </a:t>
            </a:r>
            <a:r>
              <a:rPr lang="en-US" altLang="zh-TW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zh-TW"/>
              <a:t> 1, 1 </a:t>
            </a:r>
            <a:r>
              <a:rPr lang="en-US" altLang="zh-TW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zh-TW"/>
              <a:t> i </a:t>
            </a:r>
            <a:r>
              <a:rPr lang="en-US" altLang="zh-TW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zh-TW"/>
              <a:t> n   </a:t>
            </a:r>
          </a:p>
        </p:txBody>
      </p:sp>
      <p:sp>
        <p:nvSpPr>
          <p:cNvPr id="101381" name="Rectangle 5">
            <a:extLst>
              <a:ext uri="{FF2B5EF4-FFF2-40B4-BE49-F238E27FC236}">
                <a16:creationId xmlns:a16="http://schemas.microsoft.com/office/drawing/2014/main" id="{F17C7EF9-325C-A63C-320F-ED9416FA0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138" y="3176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graphicFrame>
        <p:nvGraphicFramePr>
          <p:cNvPr id="101382" name="Object 4">
            <a:extLst>
              <a:ext uri="{FF2B5EF4-FFF2-40B4-BE49-F238E27FC236}">
                <a16:creationId xmlns:a16="http://schemas.microsoft.com/office/drawing/2014/main" id="{3D2655DD-9DBA-AB47-D0C7-C384BFA401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3581400"/>
          <a:ext cx="1295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596100" imgH="11696700" progId="Equation.3">
                  <p:embed/>
                </p:oleObj>
              </mc:Choice>
              <mc:Fallback>
                <p:oleObj r:id="rId3" imgW="19596100" imgH="11696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581400"/>
                        <a:ext cx="12954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3" name="Rectangle 7">
            <a:extLst>
              <a:ext uri="{FF2B5EF4-FFF2-40B4-BE49-F238E27FC236}">
                <a16:creationId xmlns:a16="http://schemas.microsoft.com/office/drawing/2014/main" id="{15042ADD-77DB-5404-A7D4-6F30B326C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7150" y="3181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graphicFrame>
        <p:nvGraphicFramePr>
          <p:cNvPr id="101384" name="Object 6">
            <a:extLst>
              <a:ext uri="{FF2B5EF4-FFF2-40B4-BE49-F238E27FC236}">
                <a16:creationId xmlns:a16="http://schemas.microsoft.com/office/drawing/2014/main" id="{1C5A1ABF-E82C-6F58-805A-C398AC99FD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4419600"/>
          <a:ext cx="18288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2473900" imgH="11404600" progId="Equation.3">
                  <p:embed/>
                </p:oleObj>
              </mc:Choice>
              <mc:Fallback>
                <p:oleObj r:id="rId5" imgW="32473900" imgH="11404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419600"/>
                        <a:ext cx="182880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投影片編號版面配置區 5">
            <a:extLst>
              <a:ext uri="{FF2B5EF4-FFF2-40B4-BE49-F238E27FC236}">
                <a16:creationId xmlns:a16="http://schemas.microsoft.com/office/drawing/2014/main" id="{934A0190-01A5-CF76-452D-BA2C3B164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400">
                <a:solidFill>
                  <a:schemeClr val="accent1"/>
                </a:solidFill>
              </a:rPr>
              <a:t>3 -</a:t>
            </a:r>
            <a:fld id="{F0A7F0E0-10FE-2742-8389-668FFA0EC6C8}" type="slidenum">
              <a:rPr kumimoji="0"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kumimoji="0" lang="zh-TW" altLang="en-US" sz="1400">
              <a:solidFill>
                <a:schemeClr val="accent1"/>
              </a:solidFill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0BE9F4B-D21B-BCDD-587A-192E493A6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93038" cy="914400"/>
          </a:xfrm>
        </p:spPr>
        <p:txBody>
          <a:bodyPr/>
          <a:lstStyle/>
          <a:p>
            <a:pPr eaLnBrk="1" hangingPunct="1"/>
            <a:r>
              <a:rPr lang="en-US" altLang="zh-TW"/>
              <a:t>The knapsack algorithm</a:t>
            </a:r>
            <a:endParaRPr lang="zh-TW" altLang="en-US"/>
          </a:p>
        </p:txBody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C15B5C3E-AC60-8AA3-19CD-F638730D93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7772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u="sng">
                <a:solidFill>
                  <a:schemeClr val="hlink"/>
                </a:solidFill>
              </a:rPr>
              <a:t>The greedy algorithm</a:t>
            </a:r>
            <a:r>
              <a:rPr lang="en-US" altLang="zh-TW" sz="2800"/>
              <a:t>: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Step 1: Sort p</a:t>
            </a:r>
            <a:r>
              <a:rPr lang="en-US" altLang="zh-TW" sz="2400" baseline="-30000"/>
              <a:t>i</a:t>
            </a:r>
            <a:r>
              <a:rPr lang="en-US" altLang="zh-TW" sz="2400"/>
              <a:t>/w</a:t>
            </a:r>
            <a:r>
              <a:rPr lang="en-US" altLang="zh-TW" sz="2400" baseline="-30000"/>
              <a:t>i</a:t>
            </a:r>
            <a:r>
              <a:rPr lang="en-US" altLang="zh-TW" sz="2400"/>
              <a:t> into </a:t>
            </a:r>
            <a:r>
              <a:rPr lang="en-US" altLang="zh-TW" sz="2400" u="sng">
                <a:solidFill>
                  <a:schemeClr val="hlink"/>
                </a:solidFill>
              </a:rPr>
              <a:t>nonincreasing</a:t>
            </a:r>
            <a:r>
              <a:rPr lang="en-US" altLang="zh-TW" sz="2400"/>
              <a:t> order.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Step 2: Put the objects into the knapsack according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             to the sorted sequence as possible as we can.</a:t>
            </a:r>
            <a:r>
              <a:rPr lang="en-US" altLang="zh-TW" sz="280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e. g.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n = 3, M = 20, (p</a:t>
            </a:r>
            <a:r>
              <a:rPr lang="en-US" altLang="zh-TW" sz="2400" baseline="-30000"/>
              <a:t>1</a:t>
            </a:r>
            <a:r>
              <a:rPr lang="en-US" altLang="zh-TW" sz="2400"/>
              <a:t>, p</a:t>
            </a:r>
            <a:r>
              <a:rPr lang="en-US" altLang="zh-TW" sz="2400" baseline="-30000"/>
              <a:t>2</a:t>
            </a:r>
            <a:r>
              <a:rPr lang="en-US" altLang="zh-TW" sz="2400"/>
              <a:t>, p</a:t>
            </a:r>
            <a:r>
              <a:rPr lang="en-US" altLang="zh-TW" sz="2400" baseline="-30000"/>
              <a:t>3</a:t>
            </a:r>
            <a:r>
              <a:rPr lang="en-US" altLang="zh-TW" sz="2400"/>
              <a:t>) = (25, 24, 15)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(w</a:t>
            </a:r>
            <a:r>
              <a:rPr lang="en-US" altLang="zh-TW" sz="2400" baseline="-30000"/>
              <a:t>1</a:t>
            </a:r>
            <a:r>
              <a:rPr lang="en-US" altLang="zh-TW" sz="2400"/>
              <a:t>, w</a:t>
            </a:r>
            <a:r>
              <a:rPr lang="en-US" altLang="zh-TW" sz="2400" baseline="-30000"/>
              <a:t>2</a:t>
            </a:r>
            <a:r>
              <a:rPr lang="en-US" altLang="zh-TW" sz="2400"/>
              <a:t>, w</a:t>
            </a:r>
            <a:r>
              <a:rPr lang="en-US" altLang="zh-TW" sz="2400" baseline="-30000"/>
              <a:t>3</a:t>
            </a:r>
            <a:r>
              <a:rPr lang="en-US" altLang="zh-TW" sz="2400"/>
              <a:t>) = (18, 15, 10)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Sol: p</a:t>
            </a:r>
            <a:r>
              <a:rPr lang="en-US" altLang="zh-TW" sz="2400" baseline="-30000"/>
              <a:t>1</a:t>
            </a:r>
            <a:r>
              <a:rPr lang="en-US" altLang="zh-TW" sz="2400"/>
              <a:t>/w</a:t>
            </a:r>
            <a:r>
              <a:rPr lang="en-US" altLang="zh-TW" sz="2400" baseline="-30000"/>
              <a:t>1</a:t>
            </a:r>
            <a:r>
              <a:rPr lang="en-US" altLang="zh-TW" sz="2400"/>
              <a:t> = 25/18 = 1.39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	  p</a:t>
            </a:r>
            <a:r>
              <a:rPr lang="en-US" altLang="zh-TW" sz="2400" baseline="-30000"/>
              <a:t>2</a:t>
            </a:r>
            <a:r>
              <a:rPr lang="en-US" altLang="zh-TW" sz="2400"/>
              <a:t>/w</a:t>
            </a:r>
            <a:r>
              <a:rPr lang="en-US" altLang="zh-TW" sz="2400" baseline="-30000"/>
              <a:t>2</a:t>
            </a:r>
            <a:r>
              <a:rPr lang="en-US" altLang="zh-TW" sz="2400"/>
              <a:t> = 24/15 = 1.6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	  p</a:t>
            </a:r>
            <a:r>
              <a:rPr lang="en-US" altLang="zh-TW" sz="2400" baseline="-30000"/>
              <a:t>3</a:t>
            </a:r>
            <a:r>
              <a:rPr lang="en-US" altLang="zh-TW" sz="2400"/>
              <a:t>/w</a:t>
            </a:r>
            <a:r>
              <a:rPr lang="en-US" altLang="zh-TW" sz="2400" baseline="-30000"/>
              <a:t>3</a:t>
            </a:r>
            <a:r>
              <a:rPr lang="en-US" altLang="zh-TW" sz="2400"/>
              <a:t> = 15/10 = 1.5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Optimal solution: x</a:t>
            </a:r>
            <a:r>
              <a:rPr lang="en-US" altLang="zh-TW" sz="2400" baseline="-30000"/>
              <a:t>1</a:t>
            </a:r>
            <a:r>
              <a:rPr lang="en-US" altLang="zh-TW" sz="2400"/>
              <a:t> = 0, x</a:t>
            </a:r>
            <a:r>
              <a:rPr lang="en-US" altLang="zh-TW" sz="2400" baseline="-30000"/>
              <a:t>2</a:t>
            </a:r>
            <a:r>
              <a:rPr lang="en-US" altLang="zh-TW" sz="2400"/>
              <a:t> = 1, x</a:t>
            </a:r>
            <a:r>
              <a:rPr lang="en-US" altLang="zh-TW" sz="2400" baseline="-30000"/>
              <a:t>3</a:t>
            </a:r>
            <a:r>
              <a:rPr lang="en-US" altLang="zh-TW" sz="2400"/>
              <a:t> = 1/2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5037</TotalTime>
  <Words>3779</Words>
  <Application>Microsoft Macintosh PowerPoint</Application>
  <PresentationFormat>On-screen Show (4:3)</PresentationFormat>
  <Paragraphs>562</Paragraphs>
  <Slides>62</Slides>
  <Notes>37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62</vt:i4>
      </vt:variant>
    </vt:vector>
  </HeadingPairs>
  <TitlesOfParts>
    <vt:vector size="74" baseType="lpstr">
      <vt:lpstr>Tahoma</vt:lpstr>
      <vt:lpstr>PMingLiU</vt:lpstr>
      <vt:lpstr>Arial</vt:lpstr>
      <vt:lpstr>Wingdings</vt:lpstr>
      <vt:lpstr>Times New Roman</vt:lpstr>
      <vt:lpstr>Times New Roman,Bold</vt:lpstr>
      <vt:lpstr>SimSun</vt:lpstr>
      <vt:lpstr>Symbol</vt:lpstr>
      <vt:lpstr>Blends</vt:lpstr>
      <vt:lpstr>Microsoft Equation 3.0</vt:lpstr>
      <vt:lpstr>Microsoft Word 文件</vt:lpstr>
      <vt:lpstr>Microsoft 方程式編輯器 3.0</vt:lpstr>
      <vt:lpstr>Greedy Method</vt:lpstr>
      <vt:lpstr>Greedy Method</vt:lpstr>
      <vt:lpstr>Greedy Algorithm</vt:lpstr>
      <vt:lpstr>Knapsack</vt:lpstr>
      <vt:lpstr>Knapsack problem</vt:lpstr>
      <vt:lpstr>Fill Your Shopping Bag: Save Money!!!</vt:lpstr>
      <vt:lpstr>Knapsack Problem</vt:lpstr>
      <vt:lpstr>Knapsack Problem Contd..</vt:lpstr>
      <vt:lpstr>Knapsack Problem Contd..</vt:lpstr>
      <vt:lpstr>Types of Knapsack Problem</vt:lpstr>
      <vt:lpstr>Example #1</vt:lpstr>
      <vt:lpstr>Example #2</vt:lpstr>
      <vt:lpstr>Analyze the Algorithm in Depth</vt:lpstr>
      <vt:lpstr>Solution 1</vt:lpstr>
      <vt:lpstr>Solution 2</vt:lpstr>
      <vt:lpstr>Solution 3</vt:lpstr>
      <vt:lpstr>Greedy Knapsack algorithm</vt:lpstr>
      <vt:lpstr>PowerPoint Presentation</vt:lpstr>
      <vt:lpstr>Job Sequencing with Deadlines </vt:lpstr>
      <vt:lpstr>Job Sequencing with Deadlines Contd..</vt:lpstr>
      <vt:lpstr>Job Sequencing with Deadlines Contd..</vt:lpstr>
      <vt:lpstr>PowerPoint Presentation</vt:lpstr>
      <vt:lpstr>Minimum Spanning Trees </vt:lpstr>
      <vt:lpstr>An Example of MST</vt:lpstr>
      <vt:lpstr>Prim’s Algorithm</vt:lpstr>
      <vt:lpstr>Growing MST</vt:lpstr>
      <vt:lpstr>Prim’s Algorithm</vt:lpstr>
      <vt:lpstr>Prim’s Algorithm Contd..</vt:lpstr>
      <vt:lpstr>Example # for Prim’s Algorithm</vt:lpstr>
      <vt:lpstr>Example #2 for Prim’s Algorithm</vt:lpstr>
      <vt:lpstr>Kruskal’s Algorithm (MST)</vt:lpstr>
      <vt:lpstr>Example#1 of Kruskal’s Algorithm</vt:lpstr>
      <vt:lpstr>Example#2 for Kruskal’s Algorithm</vt:lpstr>
      <vt:lpstr>Time Complexity</vt:lpstr>
      <vt:lpstr>PowerPoint Presentation</vt:lpstr>
      <vt:lpstr>The details for constructing MST</vt:lpstr>
      <vt:lpstr>The single-source shortest path problem </vt:lpstr>
      <vt:lpstr>Dijkstra’s algorithm</vt:lpstr>
      <vt:lpstr>PowerPoint Presentation</vt:lpstr>
      <vt:lpstr>The longest path problem</vt:lpstr>
      <vt:lpstr>Ackermann’s function</vt:lpstr>
      <vt:lpstr>Inverse of Ackermann’s function </vt:lpstr>
      <vt:lpstr>CPM for the longest path problem</vt:lpstr>
      <vt:lpstr>The 2-way merging problem </vt:lpstr>
      <vt:lpstr>Extended binary trees</vt:lpstr>
      <vt:lpstr>An example of 2-way merging </vt:lpstr>
      <vt:lpstr>PowerPoint Presentation</vt:lpstr>
      <vt:lpstr>Huffman codes </vt:lpstr>
      <vt:lpstr>An example of Huffman algorithm</vt:lpstr>
      <vt:lpstr>The minimal cycle basis problem</vt:lpstr>
      <vt:lpstr>PowerPoint Presentation</vt:lpstr>
      <vt:lpstr>PowerPoint Presentation</vt:lpstr>
      <vt:lpstr>Detailed steps for the minimal cycle basis problem</vt:lpstr>
      <vt:lpstr>PowerPoint Presentation</vt:lpstr>
      <vt:lpstr>Gaussian elimination</vt:lpstr>
      <vt:lpstr>The 2-terminal one to any special channel routing problem</vt:lpstr>
      <vt:lpstr>2 feasible solutions</vt:lpstr>
      <vt:lpstr>Redrawing solutions</vt:lpstr>
      <vt:lpstr>PowerPoint Presentation</vt:lpstr>
      <vt:lpstr>PowerPoint Presentation</vt:lpstr>
      <vt:lpstr>The knapsack problem</vt:lpstr>
      <vt:lpstr>The knapsack algorithm</vt:lpstr>
    </vt:vector>
  </TitlesOfParts>
  <Company>nsysu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3 Greedy methods</dc:title>
  <dc:creator>cby</dc:creator>
  <cp:lastModifiedBy>Shafiullah Shafin</cp:lastModifiedBy>
  <cp:revision>276</cp:revision>
  <dcterms:created xsi:type="dcterms:W3CDTF">1601-01-01T00:00:00Z</dcterms:created>
  <dcterms:modified xsi:type="dcterms:W3CDTF">2025-12-08T18:53:04Z</dcterms:modified>
</cp:coreProperties>
</file>