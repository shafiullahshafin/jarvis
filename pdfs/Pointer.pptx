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1" r:id="rId6"/>
    <p:sldId id="264" r:id="rId7"/>
    <p:sldId id="265" r:id="rId8"/>
    <p:sldId id="268" r:id="rId9"/>
    <p:sldId id="269" r:id="rId10"/>
    <p:sldId id="270" r:id="rId11"/>
    <p:sldId id="271" r:id="rId12"/>
    <p:sldId id="267" r:id="rId13"/>
    <p:sldId id="272" r:id="rId14"/>
    <p:sldId id="273" r:id="rId15"/>
    <p:sldId id="275" r:id="rId16"/>
    <p:sldId id="274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95" r:id="rId25"/>
    <p:sldId id="296" r:id="rId26"/>
    <p:sldId id="286" r:id="rId27"/>
    <p:sldId id="287" r:id="rId28"/>
    <p:sldId id="288" r:id="rId29"/>
    <p:sldId id="289" r:id="rId30"/>
    <p:sldId id="294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1432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printerSettings" Target="printerSettings/printerSettings1.bin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F62198-C740-4F02-8249-B4593D2BD512}" type="datetimeFigureOut">
              <a:rPr lang="en-US" smtClean="0"/>
              <a:pPr/>
              <a:t>6/2/14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71D067-F962-4B49-AB43-ED4B48029E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581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Engineering H192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Winter 2005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Lecture 14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CDC1514-944A-4524-B241-C083B2CD0E5C}" type="slidenum">
              <a:rPr lang="en-US"/>
              <a:pPr/>
              <a:t>10</a:t>
            </a:fld>
            <a:endParaRPr lang="en-US"/>
          </a:p>
        </p:txBody>
      </p:sp>
      <p:sp>
        <p:nvSpPr>
          <p:cNvPr id="115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Instructor:</a:t>
            </a:r>
          </a:p>
          <a:p>
            <a:r>
              <a:rPr lang="en-US"/>
              <a:t>Use the &amp; when you wish to know the address of a variable.</a:t>
            </a:r>
          </a:p>
          <a:p>
            <a:r>
              <a:rPr lang="en-US"/>
              <a:t>Use the * when you wish to return the value stored in the variable </a:t>
            </a:r>
            <a:r>
              <a:rPr lang="en-US" b="1"/>
              <a:t>as an address</a:t>
            </a:r>
            <a:r>
              <a:rPr lang="en-US"/>
              <a:t>, then look in </a:t>
            </a:r>
            <a:r>
              <a:rPr lang="en-US" b="1"/>
              <a:t>that address</a:t>
            </a:r>
            <a:r>
              <a:rPr lang="en-US"/>
              <a:t> and return </a:t>
            </a:r>
            <a:r>
              <a:rPr lang="en-US" b="1"/>
              <a:t>its data</a:t>
            </a:r>
          </a:p>
          <a:p>
            <a:endParaRPr lang="en-US" b="1"/>
          </a:p>
          <a:p>
            <a:r>
              <a:rPr lang="en-US"/>
              <a:t>Narrator:</a:t>
            </a:r>
          </a:p>
          <a:p>
            <a:r>
              <a:rPr lang="en-US"/>
              <a:t>With the introduction of pointers, we now have the &amp; and the * being used for various operations.  The &amp; is used when you wish to know the address of a variable.  This is known as the address operator.  The *, or dereferencing operator, provides the contents of the memory location specified by a pointer.  This operation takes the value stored in the pointer as an address, looks in that address and returns the data stored there.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C2EB33-6784-47EE-A615-A1D563B46948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6434E64-4230-4CBB-ACB5-72AF282F0489}" type="datetime1">
              <a:rPr lang="en-US" smtClean="0"/>
              <a:pPr/>
              <a:t>6/2/14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929E04A-45C7-4348-BCC9-0D79932833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CB6337D-0199-4A2F-94EE-7029AB431184}" type="datetime1">
              <a:rPr lang="en-US" smtClean="0"/>
              <a:pPr/>
              <a:t>6/2/14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929E04A-45C7-4348-BCC9-0D79932833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E480C15-DD8D-4602-84FD-2097992C8287}" type="datetime1">
              <a:rPr lang="en-US" smtClean="0"/>
              <a:pPr/>
              <a:t>6/2/14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929E04A-45C7-4348-BCC9-0D79932833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618140F-3D1A-4BF8-9A0B-6CDFE6742DDF}" type="datetime1">
              <a:rPr lang="en-US" smtClean="0"/>
              <a:pPr/>
              <a:t>6/2/14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929E04A-45C7-4348-BCC9-0D79932833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10E3C59-F8B3-40F8-8760-5506D45BFFE0}" type="datetime1">
              <a:rPr lang="en-US" smtClean="0"/>
              <a:pPr/>
              <a:t>6/2/14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929E04A-45C7-4348-BCC9-0D79932833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0B76EAB-C160-4187-9050-EC3A3F922739}" type="datetime1">
              <a:rPr lang="en-US" smtClean="0"/>
              <a:pPr/>
              <a:t>6/2/14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929E04A-45C7-4348-BCC9-0D79932833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3FE2073-1B06-493E-A4E1-55E3EC354BE9}" type="datetime1">
              <a:rPr lang="en-US" smtClean="0"/>
              <a:pPr/>
              <a:t>6/2/14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929E04A-45C7-4348-BCC9-0D79932833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943CB89-4ACA-47A0-B939-4F7CD3330B25}" type="datetime1">
              <a:rPr lang="en-US" smtClean="0"/>
              <a:pPr/>
              <a:t>6/2/14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929E04A-45C7-4348-BCC9-0D79932833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F90C796-5C3D-4DA5-8B33-E12DB8047DAB}" type="datetime1">
              <a:rPr lang="en-US" smtClean="0"/>
              <a:pPr/>
              <a:t>6/2/14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929E04A-45C7-4348-BCC9-0D79932833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E461279-96D1-4498-A229-27E943844A36}" type="datetime1">
              <a:rPr lang="en-US" smtClean="0"/>
              <a:pPr/>
              <a:t>6/2/14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929E04A-45C7-4348-BCC9-0D79932833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F9D6DE0-19D3-4108-B695-01F0E2DF4965}" type="datetime1">
              <a:rPr lang="en-US" smtClean="0"/>
              <a:pPr/>
              <a:t>6/2/14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929E04A-45C7-4348-BCC9-0D79932833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CA13E222-5C5F-43D5-974A-02C2ABA5C1D2}" type="datetime1">
              <a:rPr lang="en-US" smtClean="0"/>
              <a:pPr/>
              <a:t>6/2/14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1929E04A-45C7-4348-BCC9-0D79932833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124200"/>
            <a:ext cx="7406640" cy="1088064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 smtClean="0"/>
              <a:t>Pointers</a:t>
            </a:r>
            <a:endParaRPr lang="en-US" sz="54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9E04A-45C7-4348-BCC9-0D799328330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What is pointer?</a:t>
            </a:r>
          </a:p>
          <a:p>
            <a:r>
              <a:rPr lang="en-US" dirty="0" smtClean="0"/>
              <a:t>Pointer Declaration</a:t>
            </a:r>
          </a:p>
          <a:p>
            <a:r>
              <a:rPr lang="en-US" dirty="0" smtClean="0"/>
              <a:t>Passing Pointer to Function</a:t>
            </a:r>
          </a:p>
          <a:p>
            <a:r>
              <a:rPr lang="en-US" dirty="0" smtClean="0"/>
              <a:t>Operations in Pointers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9E04A-45C7-4348-BCC9-0D799328330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pointer?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Pointers are variables that contain </a:t>
            </a:r>
            <a:r>
              <a:rPr lang="en-US" i="1" dirty="0" smtClean="0">
                <a:solidFill>
                  <a:srgbClr val="FF0000"/>
                </a:solidFill>
              </a:rPr>
              <a:t>memory</a:t>
            </a:r>
            <a:r>
              <a:rPr lang="en-US" i="1" dirty="0" smtClean="0"/>
              <a:t> </a:t>
            </a:r>
            <a:r>
              <a:rPr lang="en-US" i="1" dirty="0" smtClean="0">
                <a:solidFill>
                  <a:srgbClr val="FF0000"/>
                </a:solidFill>
              </a:rPr>
              <a:t>addresses</a:t>
            </a:r>
            <a:r>
              <a:rPr lang="en-US" dirty="0" smtClean="0"/>
              <a:t> as their values.</a:t>
            </a:r>
          </a:p>
          <a:p>
            <a:endParaRPr lang="en-US" sz="1000" dirty="0" smtClean="0"/>
          </a:p>
          <a:p>
            <a:r>
              <a:rPr lang="en-US" dirty="0" smtClean="0"/>
              <a:t>A variable name </a:t>
            </a:r>
            <a:r>
              <a:rPr lang="en-US" i="1" dirty="0" smtClean="0">
                <a:solidFill>
                  <a:srgbClr val="FF0000"/>
                </a:solidFill>
              </a:rPr>
              <a:t>directly</a:t>
            </a:r>
            <a:r>
              <a:rPr lang="en-US" dirty="0" smtClean="0"/>
              <a:t> references a value.</a:t>
            </a:r>
          </a:p>
          <a:p>
            <a:endParaRPr lang="en-US" sz="1000" dirty="0" smtClean="0"/>
          </a:p>
          <a:p>
            <a:r>
              <a:rPr lang="en-US" dirty="0" smtClean="0"/>
              <a:t>A pointer </a:t>
            </a:r>
            <a:r>
              <a:rPr lang="en-US" i="1" dirty="0" smtClean="0">
                <a:solidFill>
                  <a:srgbClr val="FF0000"/>
                </a:solidFill>
              </a:rPr>
              <a:t>indirectly</a:t>
            </a:r>
            <a:r>
              <a:rPr lang="en-US" dirty="0" smtClean="0"/>
              <a:t> references a value.  Referencing a value through a pointer is called </a:t>
            </a:r>
            <a:r>
              <a:rPr lang="en-US" i="1" dirty="0" smtClean="0">
                <a:solidFill>
                  <a:srgbClr val="FF0000"/>
                </a:solidFill>
              </a:rPr>
              <a:t>indirection</a:t>
            </a:r>
            <a:r>
              <a:rPr lang="en-US" dirty="0" smtClean="0"/>
              <a:t>.</a:t>
            </a:r>
          </a:p>
          <a:p>
            <a:endParaRPr lang="en-US" sz="1000" dirty="0" smtClean="0"/>
          </a:p>
          <a:p>
            <a:r>
              <a:rPr lang="en-US" dirty="0" smtClean="0"/>
              <a:t>A pointer variable must be declared before it can be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9E04A-45C7-4348-BCC9-0D799328330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066800" y="533400"/>
            <a:ext cx="7772400" cy="457200"/>
          </a:xfrm>
        </p:spPr>
        <p:txBody>
          <a:bodyPr>
            <a:normAutofit fontScale="90000"/>
          </a:bodyPr>
          <a:lstStyle/>
          <a:p>
            <a:r>
              <a:rPr lang="en-US" dirty="0"/>
              <a:t>Concept of Address and Pointers</a:t>
            </a:r>
          </a:p>
        </p:txBody>
      </p:sp>
      <p:sp>
        <p:nvSpPr>
          <p:cNvPr id="5" name="Rectangle 1027"/>
          <p:cNvSpPr txBox="1">
            <a:spLocks noChangeArrowheads="1"/>
          </p:cNvSpPr>
          <p:nvPr/>
        </p:nvSpPr>
        <p:spPr>
          <a:xfrm>
            <a:off x="1066800" y="1371600"/>
            <a:ext cx="38862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Memory can be conceptualized as a linear set of data locations.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Variables reference the contents of a locations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Pointers have a value of the address of a given location</a:t>
            </a:r>
          </a:p>
        </p:txBody>
      </p:sp>
      <p:sp>
        <p:nvSpPr>
          <p:cNvPr id="6" name="Rectangle 1030"/>
          <p:cNvSpPr>
            <a:spLocks noChangeArrowheads="1"/>
          </p:cNvSpPr>
          <p:nvPr/>
        </p:nvSpPr>
        <p:spPr bwMode="auto">
          <a:xfrm>
            <a:off x="6791325" y="1271587"/>
            <a:ext cx="1352550" cy="2571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/>
              <a:t>Contents1</a:t>
            </a:r>
          </a:p>
        </p:txBody>
      </p:sp>
      <p:sp>
        <p:nvSpPr>
          <p:cNvPr id="7" name="Rectangle 1031"/>
          <p:cNvSpPr>
            <a:spLocks noChangeArrowheads="1"/>
          </p:cNvSpPr>
          <p:nvPr/>
        </p:nvSpPr>
        <p:spPr bwMode="auto">
          <a:xfrm>
            <a:off x="6791325" y="1528762"/>
            <a:ext cx="1352550" cy="2571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1032"/>
          <p:cNvSpPr>
            <a:spLocks noChangeArrowheads="1"/>
          </p:cNvSpPr>
          <p:nvPr/>
        </p:nvSpPr>
        <p:spPr bwMode="auto">
          <a:xfrm>
            <a:off x="6791325" y="1785937"/>
            <a:ext cx="1352550" cy="2571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Rectangle 1033"/>
          <p:cNvSpPr>
            <a:spLocks noChangeArrowheads="1"/>
          </p:cNvSpPr>
          <p:nvPr/>
        </p:nvSpPr>
        <p:spPr bwMode="auto">
          <a:xfrm>
            <a:off x="6791325" y="2043112"/>
            <a:ext cx="1352550" cy="2571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Rectangle 1034"/>
          <p:cNvSpPr>
            <a:spLocks noChangeArrowheads="1"/>
          </p:cNvSpPr>
          <p:nvPr/>
        </p:nvSpPr>
        <p:spPr bwMode="auto">
          <a:xfrm>
            <a:off x="6791325" y="2300287"/>
            <a:ext cx="1352550" cy="2571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Rectangle 1035"/>
          <p:cNvSpPr>
            <a:spLocks noChangeArrowheads="1"/>
          </p:cNvSpPr>
          <p:nvPr/>
        </p:nvSpPr>
        <p:spPr bwMode="auto">
          <a:xfrm>
            <a:off x="6791325" y="2557462"/>
            <a:ext cx="1352550" cy="2571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Rectangle 1036"/>
          <p:cNvSpPr>
            <a:spLocks noChangeArrowheads="1"/>
          </p:cNvSpPr>
          <p:nvPr/>
        </p:nvSpPr>
        <p:spPr bwMode="auto">
          <a:xfrm>
            <a:off x="6791325" y="2814637"/>
            <a:ext cx="1352550" cy="2571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Rectangle 1037"/>
          <p:cNvSpPr>
            <a:spLocks noChangeArrowheads="1"/>
          </p:cNvSpPr>
          <p:nvPr/>
        </p:nvSpPr>
        <p:spPr bwMode="auto">
          <a:xfrm>
            <a:off x="6791325" y="3071812"/>
            <a:ext cx="1352550" cy="2571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Rectangle 1038"/>
          <p:cNvSpPr>
            <a:spLocks noChangeArrowheads="1"/>
          </p:cNvSpPr>
          <p:nvPr/>
        </p:nvSpPr>
        <p:spPr bwMode="auto">
          <a:xfrm>
            <a:off x="6791325" y="3328987"/>
            <a:ext cx="1352550" cy="2571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Rectangle 1039"/>
          <p:cNvSpPr>
            <a:spLocks noChangeArrowheads="1"/>
          </p:cNvSpPr>
          <p:nvPr/>
        </p:nvSpPr>
        <p:spPr bwMode="auto">
          <a:xfrm>
            <a:off x="6791325" y="3586162"/>
            <a:ext cx="1352550" cy="2571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Rectangle 1040"/>
          <p:cNvSpPr>
            <a:spLocks noChangeArrowheads="1"/>
          </p:cNvSpPr>
          <p:nvPr/>
        </p:nvSpPr>
        <p:spPr bwMode="auto">
          <a:xfrm>
            <a:off x="6791325" y="3843337"/>
            <a:ext cx="1352550" cy="2571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/>
              <a:t>Contents11</a:t>
            </a:r>
          </a:p>
        </p:txBody>
      </p:sp>
      <p:sp>
        <p:nvSpPr>
          <p:cNvPr id="17" name="Rectangle 1041"/>
          <p:cNvSpPr>
            <a:spLocks noChangeArrowheads="1"/>
          </p:cNvSpPr>
          <p:nvPr/>
        </p:nvSpPr>
        <p:spPr bwMode="auto">
          <a:xfrm>
            <a:off x="6791325" y="4100512"/>
            <a:ext cx="1352550" cy="2571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Rectangle 1042"/>
          <p:cNvSpPr>
            <a:spLocks noChangeArrowheads="1"/>
          </p:cNvSpPr>
          <p:nvPr/>
        </p:nvSpPr>
        <p:spPr bwMode="auto">
          <a:xfrm>
            <a:off x="6791325" y="4357687"/>
            <a:ext cx="1352550" cy="2571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Rectangle 1043"/>
          <p:cNvSpPr>
            <a:spLocks noChangeArrowheads="1"/>
          </p:cNvSpPr>
          <p:nvPr/>
        </p:nvSpPr>
        <p:spPr bwMode="auto">
          <a:xfrm>
            <a:off x="6791325" y="4614862"/>
            <a:ext cx="1352550" cy="2571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Rectangle 1044"/>
          <p:cNvSpPr>
            <a:spLocks noChangeArrowheads="1"/>
          </p:cNvSpPr>
          <p:nvPr/>
        </p:nvSpPr>
        <p:spPr bwMode="auto">
          <a:xfrm>
            <a:off x="6791325" y="4872037"/>
            <a:ext cx="1352550" cy="2571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Rectangle 1045"/>
          <p:cNvSpPr>
            <a:spLocks noChangeArrowheads="1"/>
          </p:cNvSpPr>
          <p:nvPr/>
        </p:nvSpPr>
        <p:spPr bwMode="auto">
          <a:xfrm>
            <a:off x="6791325" y="5129212"/>
            <a:ext cx="1352550" cy="2571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/>
              <a:t>Contents16</a:t>
            </a:r>
          </a:p>
        </p:txBody>
      </p:sp>
      <p:sp>
        <p:nvSpPr>
          <p:cNvPr id="22" name="Rectangle 1048"/>
          <p:cNvSpPr>
            <a:spLocks noChangeArrowheads="1"/>
          </p:cNvSpPr>
          <p:nvPr/>
        </p:nvSpPr>
        <p:spPr bwMode="auto">
          <a:xfrm>
            <a:off x="5438775" y="1295400"/>
            <a:ext cx="1352550" cy="2571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/>
              <a:t>ADDR1</a:t>
            </a:r>
          </a:p>
        </p:txBody>
      </p:sp>
      <p:sp>
        <p:nvSpPr>
          <p:cNvPr id="23" name="Rectangle 1049"/>
          <p:cNvSpPr>
            <a:spLocks noChangeArrowheads="1"/>
          </p:cNvSpPr>
          <p:nvPr/>
        </p:nvSpPr>
        <p:spPr bwMode="auto">
          <a:xfrm>
            <a:off x="5438775" y="1552575"/>
            <a:ext cx="1352550" cy="2571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/>
              <a:t>ADDR2</a:t>
            </a:r>
          </a:p>
        </p:txBody>
      </p:sp>
      <p:sp>
        <p:nvSpPr>
          <p:cNvPr id="24" name="Rectangle 1050"/>
          <p:cNvSpPr>
            <a:spLocks noChangeArrowheads="1"/>
          </p:cNvSpPr>
          <p:nvPr/>
        </p:nvSpPr>
        <p:spPr bwMode="auto">
          <a:xfrm>
            <a:off x="5438775" y="1809750"/>
            <a:ext cx="1352550" cy="2571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/>
              <a:t>ADDR3</a:t>
            </a:r>
          </a:p>
        </p:txBody>
      </p:sp>
      <p:sp>
        <p:nvSpPr>
          <p:cNvPr id="25" name="Rectangle 1051"/>
          <p:cNvSpPr>
            <a:spLocks noChangeArrowheads="1"/>
          </p:cNvSpPr>
          <p:nvPr/>
        </p:nvSpPr>
        <p:spPr bwMode="auto">
          <a:xfrm>
            <a:off x="5438775" y="2066925"/>
            <a:ext cx="1352550" cy="2571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/>
              <a:t>ADDR4</a:t>
            </a:r>
          </a:p>
        </p:txBody>
      </p:sp>
      <p:sp>
        <p:nvSpPr>
          <p:cNvPr id="26" name="Rectangle 1052"/>
          <p:cNvSpPr>
            <a:spLocks noChangeArrowheads="1"/>
          </p:cNvSpPr>
          <p:nvPr/>
        </p:nvSpPr>
        <p:spPr bwMode="auto">
          <a:xfrm>
            <a:off x="5438775" y="2324100"/>
            <a:ext cx="1352550" cy="2571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 dirty="0"/>
              <a:t>ADDR5</a:t>
            </a:r>
          </a:p>
        </p:txBody>
      </p:sp>
      <p:sp>
        <p:nvSpPr>
          <p:cNvPr id="27" name="Rectangle 1053"/>
          <p:cNvSpPr>
            <a:spLocks noChangeArrowheads="1"/>
          </p:cNvSpPr>
          <p:nvPr/>
        </p:nvSpPr>
        <p:spPr bwMode="auto">
          <a:xfrm>
            <a:off x="5438775" y="2581275"/>
            <a:ext cx="1352550" cy="2571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/>
              <a:t>ADDR6</a:t>
            </a:r>
          </a:p>
        </p:txBody>
      </p:sp>
      <p:sp>
        <p:nvSpPr>
          <p:cNvPr id="28" name="Rectangle 1054"/>
          <p:cNvSpPr>
            <a:spLocks noChangeArrowheads="1"/>
          </p:cNvSpPr>
          <p:nvPr/>
        </p:nvSpPr>
        <p:spPr bwMode="auto">
          <a:xfrm>
            <a:off x="5438775" y="2838450"/>
            <a:ext cx="1352550" cy="2571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*</a:t>
            </a:r>
          </a:p>
        </p:txBody>
      </p:sp>
      <p:sp>
        <p:nvSpPr>
          <p:cNvPr id="29" name="Rectangle 1055"/>
          <p:cNvSpPr>
            <a:spLocks noChangeArrowheads="1"/>
          </p:cNvSpPr>
          <p:nvPr/>
        </p:nvSpPr>
        <p:spPr bwMode="auto">
          <a:xfrm>
            <a:off x="5438775" y="3095625"/>
            <a:ext cx="1352550" cy="2571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*</a:t>
            </a:r>
          </a:p>
        </p:txBody>
      </p:sp>
      <p:sp>
        <p:nvSpPr>
          <p:cNvPr id="30" name="Rectangle 1056"/>
          <p:cNvSpPr>
            <a:spLocks noChangeArrowheads="1"/>
          </p:cNvSpPr>
          <p:nvPr/>
        </p:nvSpPr>
        <p:spPr bwMode="auto">
          <a:xfrm>
            <a:off x="5438775" y="3352800"/>
            <a:ext cx="1352550" cy="2571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*</a:t>
            </a:r>
          </a:p>
        </p:txBody>
      </p:sp>
      <p:sp>
        <p:nvSpPr>
          <p:cNvPr id="31" name="Rectangle 1057"/>
          <p:cNvSpPr>
            <a:spLocks noChangeArrowheads="1"/>
          </p:cNvSpPr>
          <p:nvPr/>
        </p:nvSpPr>
        <p:spPr bwMode="auto">
          <a:xfrm>
            <a:off x="5438775" y="3609975"/>
            <a:ext cx="1352550" cy="2571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" name="Rectangle 1058"/>
          <p:cNvSpPr>
            <a:spLocks noChangeArrowheads="1"/>
          </p:cNvSpPr>
          <p:nvPr/>
        </p:nvSpPr>
        <p:spPr bwMode="auto">
          <a:xfrm>
            <a:off x="5438775" y="3867150"/>
            <a:ext cx="1352550" cy="2571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/>
              <a:t>ADDR11</a:t>
            </a:r>
          </a:p>
        </p:txBody>
      </p:sp>
      <p:sp>
        <p:nvSpPr>
          <p:cNvPr id="33" name="Rectangle 1059"/>
          <p:cNvSpPr>
            <a:spLocks noChangeArrowheads="1"/>
          </p:cNvSpPr>
          <p:nvPr/>
        </p:nvSpPr>
        <p:spPr bwMode="auto">
          <a:xfrm>
            <a:off x="5438775" y="4124325"/>
            <a:ext cx="1352550" cy="2571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" name="Rectangle 1060"/>
          <p:cNvSpPr>
            <a:spLocks noChangeArrowheads="1"/>
          </p:cNvSpPr>
          <p:nvPr/>
        </p:nvSpPr>
        <p:spPr bwMode="auto">
          <a:xfrm>
            <a:off x="5438775" y="4381500"/>
            <a:ext cx="1352550" cy="2571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*</a:t>
            </a:r>
          </a:p>
        </p:txBody>
      </p:sp>
      <p:sp>
        <p:nvSpPr>
          <p:cNvPr id="35" name="Rectangle 1061"/>
          <p:cNvSpPr>
            <a:spLocks noChangeArrowheads="1"/>
          </p:cNvSpPr>
          <p:nvPr/>
        </p:nvSpPr>
        <p:spPr bwMode="auto">
          <a:xfrm>
            <a:off x="5438775" y="4638675"/>
            <a:ext cx="1352550" cy="2571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*</a:t>
            </a:r>
          </a:p>
        </p:txBody>
      </p:sp>
      <p:sp>
        <p:nvSpPr>
          <p:cNvPr id="36" name="Rectangle 1062"/>
          <p:cNvSpPr>
            <a:spLocks noChangeArrowheads="1"/>
          </p:cNvSpPr>
          <p:nvPr/>
        </p:nvSpPr>
        <p:spPr bwMode="auto">
          <a:xfrm>
            <a:off x="5438775" y="4895850"/>
            <a:ext cx="1352550" cy="2571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" name="Rectangle 1063"/>
          <p:cNvSpPr>
            <a:spLocks noChangeArrowheads="1"/>
          </p:cNvSpPr>
          <p:nvPr/>
        </p:nvSpPr>
        <p:spPr bwMode="auto">
          <a:xfrm>
            <a:off x="5438775" y="5153025"/>
            <a:ext cx="1352550" cy="2571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/>
              <a:t>ADDR16</a:t>
            </a:r>
          </a:p>
        </p:txBody>
      </p:sp>
      <p:sp>
        <p:nvSpPr>
          <p:cNvPr id="38" name="Slide Number Placeholder 3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9E04A-45C7-4348-BCC9-0D799328330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9" name="Footer Placeholder 3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Text Box 5"/>
          <p:cNvSpPr txBox="1">
            <a:spLocks noChangeArrowheads="1"/>
          </p:cNvSpPr>
          <p:nvPr/>
        </p:nvSpPr>
        <p:spPr bwMode="auto">
          <a:xfrm>
            <a:off x="381000" y="304800"/>
            <a:ext cx="441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u="sng"/>
              <a:t>EXAMPLE FOR POINTER:</a:t>
            </a:r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3200400" y="1143000"/>
            <a:ext cx="2286000" cy="461665"/>
          </a:xfrm>
          <a:prstGeom prst="rect">
            <a:avLst/>
          </a:prstGeom>
          <a:noFill/>
          <a:ln w="28575">
            <a:solidFill>
              <a:srgbClr val="FF0066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 err="1" smtClean="0"/>
              <a:t>int</a:t>
            </a:r>
            <a:r>
              <a:rPr lang="en-US" sz="2400" b="1" dirty="0" smtClean="0"/>
              <a:t> </a:t>
            </a:r>
            <a:r>
              <a:rPr lang="en-US" sz="2400" b="1" dirty="0"/>
              <a:t>X = 547;</a:t>
            </a:r>
          </a:p>
        </p:txBody>
      </p:sp>
      <p:sp>
        <p:nvSpPr>
          <p:cNvPr id="5127" name="Text Box 7"/>
          <p:cNvSpPr txBox="1">
            <a:spLocks noChangeArrowheads="1"/>
          </p:cNvSpPr>
          <p:nvPr/>
        </p:nvSpPr>
        <p:spPr bwMode="auto">
          <a:xfrm>
            <a:off x="457200" y="1981200"/>
            <a:ext cx="914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u="sng"/>
              <a:t>HERE:</a:t>
            </a:r>
          </a:p>
        </p:txBody>
      </p:sp>
      <p:sp>
        <p:nvSpPr>
          <p:cNvPr id="5128" name="Text Box 8"/>
          <p:cNvSpPr txBox="1">
            <a:spLocks noChangeArrowheads="1"/>
          </p:cNvSpPr>
          <p:nvPr/>
        </p:nvSpPr>
        <p:spPr bwMode="auto">
          <a:xfrm>
            <a:off x="914400" y="2590800"/>
            <a:ext cx="1981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 smtClean="0"/>
              <a:t>Variable </a:t>
            </a:r>
            <a:r>
              <a:rPr lang="en-US" b="1" dirty="0"/>
              <a:t>name</a:t>
            </a:r>
          </a:p>
        </p:txBody>
      </p:sp>
      <p:sp>
        <p:nvSpPr>
          <p:cNvPr id="5129" name="Text Box 9"/>
          <p:cNvSpPr txBox="1">
            <a:spLocks noChangeArrowheads="1"/>
          </p:cNvSpPr>
          <p:nvPr/>
        </p:nvSpPr>
        <p:spPr bwMode="auto">
          <a:xfrm>
            <a:off x="3733800" y="2590800"/>
            <a:ext cx="1219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/>
              <a:t>Contents</a:t>
            </a:r>
          </a:p>
        </p:txBody>
      </p:sp>
      <p:sp>
        <p:nvSpPr>
          <p:cNvPr id="5130" name="Text Box 10"/>
          <p:cNvSpPr txBox="1">
            <a:spLocks noChangeArrowheads="1"/>
          </p:cNvSpPr>
          <p:nvPr/>
        </p:nvSpPr>
        <p:spPr bwMode="auto">
          <a:xfrm>
            <a:off x="6400800" y="2590800"/>
            <a:ext cx="1219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/>
              <a:t>Location</a:t>
            </a:r>
          </a:p>
        </p:txBody>
      </p:sp>
      <p:sp>
        <p:nvSpPr>
          <p:cNvPr id="5131" name="Text Box 11"/>
          <p:cNvSpPr txBox="1">
            <a:spLocks noChangeArrowheads="1"/>
          </p:cNvSpPr>
          <p:nvPr/>
        </p:nvSpPr>
        <p:spPr bwMode="auto">
          <a:xfrm>
            <a:off x="1447800" y="3276600"/>
            <a:ext cx="533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/>
              <a:t>X</a:t>
            </a:r>
          </a:p>
        </p:txBody>
      </p:sp>
      <p:sp>
        <p:nvSpPr>
          <p:cNvPr id="5132" name="Text Box 12"/>
          <p:cNvSpPr txBox="1">
            <a:spLocks noChangeArrowheads="1"/>
          </p:cNvSpPr>
          <p:nvPr/>
        </p:nvSpPr>
        <p:spPr bwMode="auto">
          <a:xfrm>
            <a:off x="3810000" y="3276600"/>
            <a:ext cx="1219200" cy="46166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/>
              <a:t>   547</a:t>
            </a:r>
          </a:p>
        </p:txBody>
      </p:sp>
      <p:sp>
        <p:nvSpPr>
          <p:cNvPr id="5134" name="Text Box 14"/>
          <p:cNvSpPr txBox="1">
            <a:spLocks noChangeArrowheads="1"/>
          </p:cNvSpPr>
          <p:nvPr/>
        </p:nvSpPr>
        <p:spPr bwMode="auto">
          <a:xfrm>
            <a:off x="6553200" y="3276600"/>
            <a:ext cx="1143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/>
              <a:t>4000</a:t>
            </a:r>
          </a:p>
        </p:txBody>
      </p:sp>
      <p:sp>
        <p:nvSpPr>
          <p:cNvPr id="5135" name="Text Box 15"/>
          <p:cNvSpPr txBox="1">
            <a:spLocks noChangeArrowheads="1"/>
          </p:cNvSpPr>
          <p:nvPr/>
        </p:nvSpPr>
        <p:spPr bwMode="auto">
          <a:xfrm>
            <a:off x="1219200" y="4419600"/>
            <a:ext cx="106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/>
              <a:t>  ptr</a:t>
            </a:r>
          </a:p>
        </p:txBody>
      </p:sp>
      <p:sp>
        <p:nvSpPr>
          <p:cNvPr id="5136" name="Text Box 16"/>
          <p:cNvSpPr txBox="1">
            <a:spLocks noChangeArrowheads="1"/>
          </p:cNvSpPr>
          <p:nvPr/>
        </p:nvSpPr>
        <p:spPr bwMode="auto">
          <a:xfrm>
            <a:off x="3810000" y="4495800"/>
            <a:ext cx="1295400" cy="46166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/>
              <a:t>  4000</a:t>
            </a:r>
          </a:p>
        </p:txBody>
      </p:sp>
      <p:sp>
        <p:nvSpPr>
          <p:cNvPr id="5138" name="Text Box 18"/>
          <p:cNvSpPr txBox="1">
            <a:spLocks noChangeArrowheads="1"/>
          </p:cNvSpPr>
          <p:nvPr/>
        </p:nvSpPr>
        <p:spPr bwMode="auto">
          <a:xfrm>
            <a:off x="6400800" y="4419600"/>
            <a:ext cx="1219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/>
              <a:t>  4036</a:t>
            </a:r>
          </a:p>
        </p:txBody>
      </p:sp>
      <p:sp>
        <p:nvSpPr>
          <p:cNvPr id="5139" name="Line 19"/>
          <p:cNvSpPr>
            <a:spLocks noChangeShapeType="1"/>
          </p:cNvSpPr>
          <p:nvPr/>
        </p:nvSpPr>
        <p:spPr bwMode="auto">
          <a:xfrm>
            <a:off x="5105400" y="4800600"/>
            <a:ext cx="3048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40" name="Line 20"/>
          <p:cNvSpPr>
            <a:spLocks noChangeShapeType="1"/>
          </p:cNvSpPr>
          <p:nvPr/>
        </p:nvSpPr>
        <p:spPr bwMode="auto">
          <a:xfrm flipV="1">
            <a:off x="5410200" y="3505200"/>
            <a:ext cx="0" cy="1295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41" name="Line 21"/>
          <p:cNvSpPr>
            <a:spLocks noChangeShapeType="1"/>
          </p:cNvSpPr>
          <p:nvPr/>
        </p:nvSpPr>
        <p:spPr bwMode="auto">
          <a:xfrm flipH="1">
            <a:off x="5105400" y="3505200"/>
            <a:ext cx="3048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46" name="Line 26"/>
          <p:cNvSpPr>
            <a:spLocks noChangeShapeType="1"/>
          </p:cNvSpPr>
          <p:nvPr/>
        </p:nvSpPr>
        <p:spPr bwMode="auto">
          <a:xfrm>
            <a:off x="304800" y="5638800"/>
            <a:ext cx="86106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47" name="Line 27"/>
          <p:cNvSpPr>
            <a:spLocks noChangeShapeType="1"/>
          </p:cNvSpPr>
          <p:nvPr/>
        </p:nvSpPr>
        <p:spPr bwMode="auto">
          <a:xfrm flipV="1">
            <a:off x="304800" y="1981200"/>
            <a:ext cx="0" cy="36576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48" name="Line 28"/>
          <p:cNvSpPr>
            <a:spLocks noChangeShapeType="1"/>
          </p:cNvSpPr>
          <p:nvPr/>
        </p:nvSpPr>
        <p:spPr bwMode="auto">
          <a:xfrm>
            <a:off x="304800" y="1981200"/>
            <a:ext cx="86106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49" name="Line 29"/>
          <p:cNvSpPr>
            <a:spLocks noChangeShapeType="1"/>
          </p:cNvSpPr>
          <p:nvPr/>
        </p:nvSpPr>
        <p:spPr bwMode="auto">
          <a:xfrm>
            <a:off x="8915400" y="1981200"/>
            <a:ext cx="0" cy="36576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50" name="Text Box 30"/>
          <p:cNvSpPr txBox="1">
            <a:spLocks noChangeArrowheads="1"/>
          </p:cNvSpPr>
          <p:nvPr/>
        </p:nvSpPr>
        <p:spPr bwMode="auto">
          <a:xfrm>
            <a:off x="228600" y="5715000"/>
            <a:ext cx="89154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/>
              <a:t>According to above figure, By the help of  </a:t>
            </a:r>
            <a:r>
              <a:rPr lang="en-US" sz="2000" b="1" dirty="0" err="1"/>
              <a:t>ptr</a:t>
            </a:r>
            <a:r>
              <a:rPr lang="en-US" sz="2000" b="1" dirty="0"/>
              <a:t> variable we stored the address of variable X in address 4036</a:t>
            </a: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9E04A-45C7-4348-BCC9-0D799328330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4" dur="20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9" dur="2000"/>
                                        <p:tgtEl>
                                          <p:spTgt spid="5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5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5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5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3" dur="500"/>
                                        <p:tgtEl>
                                          <p:spTgt spid="5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6" dur="5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61" dur="2000"/>
                                        <p:tgtEl>
                                          <p:spTgt spid="5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64" dur="2000"/>
                                        <p:tgtEl>
                                          <p:spTgt spid="5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1000" fill="hold"/>
                                        <p:tgtEl>
                                          <p:spTgt spid="5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1000" fill="hold"/>
                                        <p:tgtEl>
                                          <p:spTgt spid="5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1000" fill="hold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1000" fill="hold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000" fill="hold"/>
                                        <p:tgtEl>
                                          <p:spTgt spid="5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1000" fill="hold"/>
                                        <p:tgtEl>
                                          <p:spTgt spid="5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83" dur="2000"/>
                                        <p:tgtEl>
                                          <p:spTgt spid="5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86" dur="20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5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5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5" grpId="0"/>
      <p:bldP spid="5126" grpId="1" animBg="1"/>
      <p:bldP spid="5127" grpId="0"/>
      <p:bldP spid="5128" grpId="0"/>
      <p:bldP spid="5129" grpId="0"/>
      <p:bldP spid="5130" grpId="0"/>
      <p:bldP spid="5131" grpId="0"/>
      <p:bldP spid="5132" grpId="0" animBg="1"/>
      <p:bldP spid="5134" grpId="0"/>
      <p:bldP spid="5135" grpId="0"/>
      <p:bldP spid="5136" grpId="0" animBg="1"/>
      <p:bldP spid="5138" grpId="0"/>
      <p:bldP spid="5139" grpId="0" animBg="1"/>
      <p:bldP spid="5140" grpId="0" animBg="1"/>
      <p:bldP spid="5141" grpId="0" animBg="1"/>
      <p:bldP spid="5146" grpId="0" animBg="1"/>
      <p:bldP spid="5147" grpId="0" animBg="1"/>
      <p:bldP spid="5148" grpId="0" animBg="1"/>
      <p:bldP spid="5149" grpId="0" animBg="1"/>
      <p:bldP spid="515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sz="2800" b="1" u="sng" dirty="0"/>
              <a:t>Pointers are used in following variables</a:t>
            </a:r>
          </a:p>
        </p:txBody>
      </p:sp>
      <p:sp>
        <p:nvSpPr>
          <p:cNvPr id="8197" name="Rectangle 5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r>
              <a:rPr lang="en-US" sz="2400" b="1" dirty="0"/>
              <a:t>Variables of any basic data type</a:t>
            </a:r>
          </a:p>
          <a:p>
            <a:endParaRPr lang="en-US" sz="2400" b="1" dirty="0"/>
          </a:p>
          <a:p>
            <a:r>
              <a:rPr lang="en-US" sz="2400" b="1" dirty="0"/>
              <a:t>An Array</a:t>
            </a:r>
          </a:p>
          <a:p>
            <a:endParaRPr lang="en-US" sz="2400" b="1" dirty="0"/>
          </a:p>
          <a:p>
            <a:r>
              <a:rPr lang="en-US" sz="2400" b="1" dirty="0"/>
              <a:t>Functions</a:t>
            </a:r>
          </a:p>
          <a:p>
            <a:endParaRPr lang="en-US" sz="2400" b="1" dirty="0"/>
          </a:p>
          <a:p>
            <a:r>
              <a:rPr lang="en-US" sz="2400" b="1" dirty="0"/>
              <a:t>Structures, and</a:t>
            </a:r>
          </a:p>
          <a:p>
            <a:endParaRPr lang="en-US" sz="2400" b="1" dirty="0"/>
          </a:p>
          <a:p>
            <a:r>
              <a:rPr lang="en-US" sz="2400" b="1" dirty="0"/>
              <a:t>Unions</a:t>
            </a:r>
          </a:p>
          <a:p>
            <a:endParaRPr lang="en-US" sz="24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9E04A-45C7-4348-BCC9-0D799328330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30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1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1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1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1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1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1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81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1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1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1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1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1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6" grpId="0" animBg="1"/>
      <p:bldP spid="8197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/>
          </a:bodyPr>
          <a:lstStyle/>
          <a:p>
            <a:r>
              <a:rPr lang="en-US" u="sng"/>
              <a:t>Advantages of Pointers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r>
              <a:rPr lang="en-US" sz="2000" b="1" dirty="0"/>
              <a:t>To point to different data structures</a:t>
            </a:r>
          </a:p>
          <a:p>
            <a:pPr>
              <a:buFontTx/>
              <a:buNone/>
            </a:pPr>
            <a:endParaRPr lang="en-US" sz="2000" b="1" dirty="0"/>
          </a:p>
          <a:p>
            <a:r>
              <a:rPr lang="en-US" sz="2000" b="1" dirty="0"/>
              <a:t>To achieve clarity and simplicity</a:t>
            </a:r>
          </a:p>
          <a:p>
            <a:endParaRPr lang="en-US" sz="2000" b="1" dirty="0"/>
          </a:p>
          <a:p>
            <a:r>
              <a:rPr lang="en-US" sz="2000" b="1" dirty="0"/>
              <a:t>More compact and efficient coding</a:t>
            </a:r>
          </a:p>
          <a:p>
            <a:endParaRPr lang="en-US" sz="2000" b="1" dirty="0"/>
          </a:p>
          <a:p>
            <a:r>
              <a:rPr lang="en-US" sz="2000" b="1" dirty="0"/>
              <a:t>To return multiple values via functions</a:t>
            </a:r>
          </a:p>
          <a:p>
            <a:pPr>
              <a:buFontTx/>
              <a:buNone/>
            </a:pPr>
            <a:endParaRPr lang="en-US" sz="2000" b="1" dirty="0"/>
          </a:p>
          <a:p>
            <a:r>
              <a:rPr lang="en-US" sz="2000" b="1" dirty="0"/>
              <a:t>Dynamic memory Allocation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9E04A-45C7-4348-BCC9-0D799328330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10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9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9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9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9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9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2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92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33" presetClass="emph" presetSubtype="0" fill="remove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" dur="1500" accel="50000" autoRev="1" fill="hold" tmFilter="0, 0; .33333, 1; 1, 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40" dur="1500" accel="50000" autoRev="1" fill="hold" tmFilter="0, 0; .33333, 1; 1, 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1" dur="3000" fill="hold"/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" dur="3000" fill="hold"/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Scale>
                                      <p:cBhvr>
                                        <p:cTn id="43" dur="1500" accel="50000" autoRev="1" fill="hold" tmFilter="0, 0; .33333, 1; 1, 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100000" y="14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 animBg="1"/>
      <p:bldP spid="9221" grpId="0" build="p"/>
      <p:bldP spid="9221" grpId="1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Declaring a Pointer Variable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 previous example, </a:t>
            </a:r>
            <a:r>
              <a:rPr lang="en-US">
                <a:solidFill>
                  <a:srgbClr val="0000FF"/>
                </a:solidFill>
              </a:rPr>
              <a:t>ptr</a:t>
            </a:r>
            <a:r>
              <a:rPr lang="en-US"/>
              <a:t> points to the variable </a:t>
            </a:r>
            <a:r>
              <a:rPr lang="en-US">
                <a:solidFill>
                  <a:srgbClr val="0000FF"/>
                </a:solidFill>
              </a:rPr>
              <a:t>x</a:t>
            </a:r>
            <a:r>
              <a:rPr lang="en-US"/>
              <a:t>.  We say that </a:t>
            </a:r>
            <a:r>
              <a:rPr lang="en-US">
                <a:solidFill>
                  <a:srgbClr val="0000FF"/>
                </a:solidFill>
              </a:rPr>
              <a:t>ptr</a:t>
            </a:r>
            <a:r>
              <a:rPr lang="en-US"/>
              <a:t> is an </a:t>
            </a:r>
            <a:r>
              <a:rPr lang="en-US" b="1">
                <a:solidFill>
                  <a:srgbClr val="008000"/>
                </a:solidFill>
              </a:rPr>
              <a:t>integer pointer</a:t>
            </a:r>
            <a:r>
              <a:rPr lang="en-US"/>
              <a:t>. </a:t>
            </a:r>
          </a:p>
          <a:p>
            <a:r>
              <a:rPr lang="en-US"/>
              <a:t>Similarly, we have character pointer, floating pointer, long pointer, … .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9E04A-45C7-4348-BCC9-0D799328330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Declaring a Pointer Variable</a:t>
            </a:r>
          </a:p>
        </p:txBody>
      </p:sp>
      <p:sp>
        <p:nvSpPr>
          <p:cNvPr id="14340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To declare ptr as an integer pointer:</a:t>
            </a:r>
          </a:p>
          <a:p>
            <a:pPr lvl="1">
              <a:buFontTx/>
              <a:buNone/>
            </a:pPr>
            <a:r>
              <a:rPr lang="en-US"/>
              <a:t>	</a:t>
            </a:r>
            <a:r>
              <a:rPr lang="en-US">
                <a:solidFill>
                  <a:srgbClr val="0000FF"/>
                </a:solidFill>
                <a:latin typeface="Lucida Console" pitchFamily="49" charset="0"/>
              </a:rPr>
              <a:t>int *ptr</a:t>
            </a:r>
            <a:r>
              <a:rPr lang="en-US">
                <a:latin typeface="Lucida Console" pitchFamily="49" charset="0"/>
              </a:rPr>
              <a:t>;</a:t>
            </a:r>
            <a:endParaRPr lang="en-US"/>
          </a:p>
          <a:p>
            <a:r>
              <a:rPr lang="en-US"/>
              <a:t>To declare ptr as a character pointer:</a:t>
            </a:r>
          </a:p>
          <a:p>
            <a:pPr lvl="1">
              <a:buFontTx/>
              <a:buNone/>
            </a:pPr>
            <a:r>
              <a:rPr lang="en-US"/>
              <a:t>	</a:t>
            </a:r>
            <a:r>
              <a:rPr lang="en-US">
                <a:solidFill>
                  <a:srgbClr val="0000FF"/>
                </a:solidFill>
                <a:latin typeface="Lucida Console" pitchFamily="49" charset="0"/>
              </a:rPr>
              <a:t>char *ptr</a:t>
            </a:r>
            <a:r>
              <a:rPr lang="en-US">
                <a:latin typeface="Lucida Console" pitchFamily="49" charset="0"/>
              </a:rPr>
              <a:t>;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9E04A-45C7-4348-BCC9-0D799328330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Use of &amp; and *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When is &amp; used?</a:t>
            </a:r>
          </a:p>
          <a:p>
            <a:endParaRPr lang="en-US"/>
          </a:p>
          <a:p>
            <a:r>
              <a:rPr lang="en-US"/>
              <a:t>When is * used?</a:t>
            </a:r>
          </a:p>
          <a:p>
            <a:endParaRPr lang="en-US"/>
          </a:p>
          <a:p>
            <a:r>
              <a:rPr lang="en-US"/>
              <a:t>&amp; -- "address operator" which gives or produces the memory address of a data variable</a:t>
            </a:r>
          </a:p>
          <a:p>
            <a:r>
              <a:rPr lang="en-US"/>
              <a:t>* -- "dereferencing operator" which provides the contents in the memory location specified by a pointer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9E04A-45C7-4348-BCC9-0D799328330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457200" y="685800"/>
            <a:ext cx="4038600" cy="452596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800" dirty="0"/>
              <a:t>#include &lt;</a:t>
            </a:r>
            <a:r>
              <a:rPr lang="en-US" sz="1800" dirty="0" err="1"/>
              <a:t>stdio.h</a:t>
            </a:r>
            <a:r>
              <a:rPr lang="en-US" sz="1800" dirty="0"/>
              <a:t>&gt;</a:t>
            </a:r>
          </a:p>
          <a:p>
            <a:pPr>
              <a:buNone/>
            </a:pPr>
            <a:r>
              <a:rPr lang="en-US" sz="1800" dirty="0"/>
              <a:t>#include &lt;</a:t>
            </a:r>
            <a:r>
              <a:rPr lang="en-US" sz="1800" dirty="0" err="1"/>
              <a:t>stdlib.h</a:t>
            </a:r>
            <a:r>
              <a:rPr lang="en-US" sz="1800" dirty="0"/>
              <a:t>&gt;</a:t>
            </a:r>
          </a:p>
          <a:p>
            <a:pPr>
              <a:buNone/>
            </a:pPr>
            <a:endParaRPr lang="en-US" sz="1800" dirty="0"/>
          </a:p>
          <a:p>
            <a:pPr>
              <a:buNone/>
            </a:pPr>
            <a:r>
              <a:rPr lang="en-US" sz="1800" dirty="0" err="1"/>
              <a:t>int</a:t>
            </a:r>
            <a:r>
              <a:rPr lang="en-US" sz="1800" dirty="0"/>
              <a:t> main()</a:t>
            </a:r>
          </a:p>
          <a:p>
            <a:pPr>
              <a:buNone/>
            </a:pPr>
            <a:r>
              <a:rPr lang="en-US" sz="1800" dirty="0"/>
              <a:t>{</a:t>
            </a:r>
          </a:p>
          <a:p>
            <a:pPr>
              <a:buNone/>
            </a:pPr>
            <a:r>
              <a:rPr lang="en-US" sz="1800" dirty="0"/>
              <a:t>	</a:t>
            </a:r>
            <a:r>
              <a:rPr lang="en-US" sz="1800" dirty="0" err="1"/>
              <a:t>int</a:t>
            </a:r>
            <a:r>
              <a:rPr lang="en-US" sz="1800" dirty="0"/>
              <a:t> x;</a:t>
            </a:r>
          </a:p>
          <a:p>
            <a:pPr>
              <a:buNone/>
            </a:pPr>
            <a:r>
              <a:rPr lang="en-US" sz="1800" dirty="0"/>
              <a:t>	</a:t>
            </a:r>
            <a:r>
              <a:rPr lang="en-US" sz="1800" dirty="0" err="1"/>
              <a:t>int</a:t>
            </a:r>
            <a:r>
              <a:rPr lang="en-US" sz="1800" dirty="0"/>
              <a:t> *</a:t>
            </a:r>
            <a:r>
              <a:rPr lang="en-US" sz="1800" dirty="0" err="1"/>
              <a:t>ptr</a:t>
            </a:r>
            <a:r>
              <a:rPr lang="en-US" sz="1800" dirty="0"/>
              <a:t>;</a:t>
            </a:r>
          </a:p>
          <a:p>
            <a:pPr>
              <a:buNone/>
            </a:pPr>
            <a:endParaRPr lang="en-US" sz="1800" dirty="0"/>
          </a:p>
          <a:p>
            <a:pPr>
              <a:buNone/>
            </a:pPr>
            <a:r>
              <a:rPr lang="en-US" sz="1800" dirty="0"/>
              <a:t>	x = 10;</a:t>
            </a:r>
          </a:p>
          <a:p>
            <a:pPr>
              <a:buNone/>
            </a:pPr>
            <a:endParaRPr lang="en-US" sz="1800" dirty="0"/>
          </a:p>
          <a:p>
            <a:pPr>
              <a:buNone/>
            </a:pPr>
            <a:r>
              <a:rPr lang="en-US" sz="1800" dirty="0"/>
              <a:t>	</a:t>
            </a:r>
            <a:r>
              <a:rPr lang="en-US" sz="1800" dirty="0" err="1"/>
              <a:t>ptr</a:t>
            </a:r>
            <a:r>
              <a:rPr lang="en-US" sz="1800" dirty="0"/>
              <a:t> = &amp;x;</a:t>
            </a:r>
          </a:p>
          <a:p>
            <a:pPr>
              <a:buNone/>
            </a:pPr>
            <a:endParaRPr lang="en-US" sz="1800" dirty="0"/>
          </a:p>
          <a:p>
            <a:pPr>
              <a:buNone/>
            </a:pPr>
            <a:r>
              <a:rPr lang="en-US" sz="1800" dirty="0"/>
              <a:t>	*</a:t>
            </a:r>
            <a:r>
              <a:rPr lang="en-US" sz="1800" dirty="0" err="1"/>
              <a:t>ptr</a:t>
            </a:r>
            <a:r>
              <a:rPr lang="en-US" sz="1800" dirty="0"/>
              <a:t> = *</a:t>
            </a:r>
            <a:r>
              <a:rPr lang="en-US" sz="1800" dirty="0" err="1"/>
              <a:t>ptr</a:t>
            </a:r>
            <a:r>
              <a:rPr lang="en-US" sz="1800" dirty="0"/>
              <a:t> + 1;</a:t>
            </a:r>
          </a:p>
          <a:p>
            <a:pPr>
              <a:buNone/>
            </a:pPr>
            <a:endParaRPr lang="en-US" sz="1800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495800" y="762000"/>
            <a:ext cx="4038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800" dirty="0" smtClean="0"/>
              <a:t>	</a:t>
            </a:r>
            <a:r>
              <a:rPr lang="en-US" sz="1800" dirty="0" err="1" smtClean="0"/>
              <a:t>printf</a:t>
            </a:r>
            <a:r>
              <a:rPr lang="en-US" sz="1800" dirty="0" smtClean="0"/>
              <a:t>("x = %d\n", x);</a:t>
            </a:r>
          </a:p>
          <a:p>
            <a:pPr>
              <a:buNone/>
            </a:pPr>
            <a:r>
              <a:rPr lang="en-US" sz="1800" dirty="0" smtClean="0"/>
              <a:t>	</a:t>
            </a:r>
            <a:r>
              <a:rPr lang="en-US" sz="1800" dirty="0" err="1" smtClean="0"/>
              <a:t>printf</a:t>
            </a:r>
            <a:r>
              <a:rPr lang="en-US" sz="1800" dirty="0" smtClean="0"/>
              <a:t>("&amp;x = %d\n", &amp;x);</a:t>
            </a:r>
          </a:p>
          <a:p>
            <a:pPr>
              <a:buNone/>
            </a:pPr>
            <a:r>
              <a:rPr lang="en-US" sz="1800" dirty="0" smtClean="0"/>
              <a:t>	</a:t>
            </a:r>
            <a:r>
              <a:rPr lang="en-US" sz="1800" dirty="0" err="1" smtClean="0"/>
              <a:t>printf</a:t>
            </a:r>
            <a:r>
              <a:rPr lang="en-US" sz="1800" dirty="0" smtClean="0"/>
              <a:t>("</a:t>
            </a:r>
            <a:r>
              <a:rPr lang="en-US" sz="1800" dirty="0" err="1" smtClean="0"/>
              <a:t>ptr</a:t>
            </a:r>
            <a:r>
              <a:rPr lang="en-US" sz="1800" dirty="0" smtClean="0"/>
              <a:t> = %d\n", </a:t>
            </a:r>
            <a:r>
              <a:rPr lang="en-US" sz="1800" dirty="0" err="1" smtClean="0"/>
              <a:t>ptr</a:t>
            </a:r>
            <a:r>
              <a:rPr lang="en-US" sz="1800" dirty="0" smtClean="0"/>
              <a:t>);</a:t>
            </a:r>
          </a:p>
          <a:p>
            <a:pPr>
              <a:buNone/>
            </a:pPr>
            <a:r>
              <a:rPr lang="en-US" sz="1800" dirty="0" smtClean="0"/>
              <a:t>	</a:t>
            </a:r>
            <a:r>
              <a:rPr lang="en-US" sz="1800" dirty="0" err="1" smtClean="0"/>
              <a:t>printf</a:t>
            </a:r>
            <a:r>
              <a:rPr lang="en-US" sz="1800" dirty="0" smtClean="0"/>
              <a:t>("*</a:t>
            </a:r>
            <a:r>
              <a:rPr lang="en-US" sz="1800" dirty="0" err="1" smtClean="0"/>
              <a:t>ptr</a:t>
            </a:r>
            <a:r>
              <a:rPr lang="en-US" sz="1800" dirty="0" smtClean="0"/>
              <a:t> = %d\n", *</a:t>
            </a:r>
            <a:r>
              <a:rPr lang="en-US" sz="1800" dirty="0" err="1" smtClean="0"/>
              <a:t>ptr</a:t>
            </a:r>
            <a:r>
              <a:rPr lang="en-US" sz="1800" dirty="0" smtClean="0"/>
              <a:t>);</a:t>
            </a:r>
          </a:p>
          <a:p>
            <a:pPr>
              <a:buNone/>
            </a:pPr>
            <a:r>
              <a:rPr lang="en-US" sz="1800" dirty="0" smtClean="0"/>
              <a:t>	</a:t>
            </a:r>
            <a:r>
              <a:rPr lang="en-US" sz="1800" dirty="0" err="1" smtClean="0"/>
              <a:t>printf</a:t>
            </a:r>
            <a:r>
              <a:rPr lang="en-US" sz="1800" dirty="0" smtClean="0"/>
              <a:t>("&amp;*</a:t>
            </a:r>
            <a:r>
              <a:rPr lang="en-US" sz="1800" dirty="0" err="1" smtClean="0"/>
              <a:t>ptr</a:t>
            </a:r>
            <a:r>
              <a:rPr lang="en-US" sz="1800" dirty="0" smtClean="0"/>
              <a:t> = %d\n", &amp;*</a:t>
            </a:r>
            <a:r>
              <a:rPr lang="en-US" sz="1800" dirty="0" err="1" smtClean="0"/>
              <a:t>ptr</a:t>
            </a:r>
            <a:r>
              <a:rPr lang="en-US" sz="1800" dirty="0" smtClean="0"/>
              <a:t>);</a:t>
            </a:r>
          </a:p>
          <a:p>
            <a:pPr>
              <a:buNone/>
            </a:pPr>
            <a:r>
              <a:rPr lang="en-US" sz="1800" dirty="0" smtClean="0"/>
              <a:t>	system("PAUSE");</a:t>
            </a:r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r>
              <a:rPr lang="en-US" sz="1800" dirty="0" smtClean="0"/>
              <a:t>	return 0;</a:t>
            </a:r>
          </a:p>
          <a:p>
            <a:pPr>
              <a:buNone/>
            </a:pPr>
            <a:r>
              <a:rPr lang="en-US" sz="1800" dirty="0" smtClean="0"/>
              <a:t>}</a:t>
            </a:r>
          </a:p>
          <a:p>
            <a:endParaRPr lang="en-US" sz="1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14800" y="3962400"/>
            <a:ext cx="481584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9E04A-45C7-4348-BCC9-0D799328330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Pointers in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84237"/>
            <a:ext cx="8229600" cy="4525963"/>
          </a:xfrm>
        </p:spPr>
        <p:txBody>
          <a:bodyPr/>
          <a:lstStyle/>
          <a:p>
            <a:r>
              <a:rPr lang="en-US" dirty="0" smtClean="0"/>
              <a:t>Previously in function, we learn to pass value to function by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976120"/>
          <a:ext cx="3657600" cy="457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Passing/call by Value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i="0" dirty="0" smtClean="0">
                          <a:latin typeface="Arabic Typesetting" pitchFamily="66" charset="-78"/>
                          <a:cs typeface="Arabic Typesetting" pitchFamily="66" charset="-78"/>
                        </a:rPr>
                        <a:t>1. </a:t>
                      </a:r>
                      <a:r>
                        <a:rPr lang="en-US" sz="1800" i="0" dirty="0" smtClean="0">
                          <a:latin typeface="Agency FB" pitchFamily="34" charset="0"/>
                        </a:rPr>
                        <a:t>    </a:t>
                      </a:r>
                      <a:r>
                        <a:rPr lang="en-US" sz="1800" dirty="0" err="1" smtClean="0"/>
                        <a:t>int</a:t>
                      </a:r>
                      <a:r>
                        <a:rPr lang="en-US" sz="1800" dirty="0" smtClean="0"/>
                        <a:t> </a:t>
                      </a:r>
                      <a:r>
                        <a:rPr lang="en-US" sz="1800" dirty="0" err="1" smtClean="0"/>
                        <a:t>cubebyvalue</a:t>
                      </a:r>
                      <a:r>
                        <a:rPr lang="en-US" sz="1800" dirty="0" smtClean="0"/>
                        <a:t>(</a:t>
                      </a:r>
                      <a:r>
                        <a:rPr lang="en-US" sz="1800" dirty="0" err="1" smtClean="0"/>
                        <a:t>int</a:t>
                      </a:r>
                      <a:r>
                        <a:rPr lang="en-US" sz="1800" dirty="0" smtClean="0"/>
                        <a:t>);</a:t>
                      </a:r>
                    </a:p>
                    <a:p>
                      <a:r>
                        <a:rPr lang="en-US" sz="1800" dirty="0" smtClean="0">
                          <a:latin typeface="Arabic Typesetting" pitchFamily="66" charset="-78"/>
                          <a:cs typeface="Arabic Typesetting" pitchFamily="66" charset="-78"/>
                        </a:rPr>
                        <a:t>2. </a:t>
                      </a:r>
                      <a:r>
                        <a:rPr lang="en-US" sz="1800" dirty="0" smtClean="0"/>
                        <a:t>  main(){</a:t>
                      </a:r>
                    </a:p>
                    <a:p>
                      <a:r>
                        <a:rPr lang="en-US" sz="1800" dirty="0" smtClean="0">
                          <a:latin typeface="Arabic Typesetting" pitchFamily="66" charset="-78"/>
                          <a:cs typeface="Arabic Typesetting" pitchFamily="66" charset="-78"/>
                        </a:rPr>
                        <a:t>3.</a:t>
                      </a:r>
                      <a:r>
                        <a:rPr lang="en-US" sz="1800" dirty="0" smtClean="0"/>
                        <a:t>	</a:t>
                      </a:r>
                      <a:r>
                        <a:rPr lang="en-US" sz="1800" dirty="0" err="1" smtClean="0"/>
                        <a:t>int</a:t>
                      </a:r>
                      <a:r>
                        <a:rPr lang="en-US" sz="1800" dirty="0" smtClean="0"/>
                        <a:t> </a:t>
                      </a:r>
                      <a:r>
                        <a:rPr lang="en-US" sz="1800" dirty="0" err="1" smtClean="0"/>
                        <a:t>a,d</a:t>
                      </a:r>
                      <a:r>
                        <a:rPr lang="en-US" sz="1800" dirty="0" smtClean="0"/>
                        <a:t>;</a:t>
                      </a:r>
                    </a:p>
                    <a:p>
                      <a:r>
                        <a:rPr lang="en-US" sz="1800" dirty="0" smtClean="0">
                          <a:latin typeface="Arabic Typesetting" pitchFamily="66" charset="-78"/>
                          <a:cs typeface="Arabic Typesetting" pitchFamily="66" charset="-78"/>
                        </a:rPr>
                        <a:t>4.</a:t>
                      </a:r>
                      <a:r>
                        <a:rPr lang="en-US" sz="1800" dirty="0" smtClean="0"/>
                        <a:t>	</a:t>
                      </a:r>
                      <a:r>
                        <a:rPr lang="en-US" sz="1800" dirty="0" err="1" smtClean="0"/>
                        <a:t>printf</a:t>
                      </a:r>
                      <a:r>
                        <a:rPr lang="en-US" sz="1800" dirty="0" smtClean="0"/>
                        <a:t>("\</a:t>
                      </a:r>
                      <a:r>
                        <a:rPr lang="en-US" sz="1800" dirty="0" err="1" smtClean="0"/>
                        <a:t>na</a:t>
                      </a:r>
                      <a:r>
                        <a:rPr lang="en-US" sz="1800" dirty="0" smtClean="0"/>
                        <a:t> = ");</a:t>
                      </a:r>
                    </a:p>
                    <a:p>
                      <a:r>
                        <a:rPr lang="en-US" sz="1800" dirty="0" smtClean="0">
                          <a:latin typeface="Arabic Typesetting" pitchFamily="66" charset="-78"/>
                          <a:cs typeface="Arabic Typesetting" pitchFamily="66" charset="-78"/>
                        </a:rPr>
                        <a:t>5.</a:t>
                      </a:r>
                      <a:r>
                        <a:rPr lang="en-US" sz="1800" dirty="0" smtClean="0"/>
                        <a:t>	</a:t>
                      </a:r>
                      <a:r>
                        <a:rPr lang="en-US" sz="1800" dirty="0" err="1" smtClean="0"/>
                        <a:t>scanf</a:t>
                      </a:r>
                      <a:r>
                        <a:rPr lang="en-US" sz="1800" dirty="0" smtClean="0"/>
                        <a:t>("%d", &amp;a);</a:t>
                      </a:r>
                    </a:p>
                    <a:p>
                      <a:r>
                        <a:rPr lang="en-US" sz="1800" dirty="0" smtClean="0">
                          <a:latin typeface="Arabic Typesetting" pitchFamily="66" charset="-78"/>
                          <a:cs typeface="Arabic Typesetting" pitchFamily="66" charset="-78"/>
                        </a:rPr>
                        <a:t>6.</a:t>
                      </a:r>
                      <a:r>
                        <a:rPr lang="en-US" sz="1800" dirty="0" smtClean="0"/>
                        <a:t>		</a:t>
                      </a:r>
                    </a:p>
                    <a:p>
                      <a:r>
                        <a:rPr lang="en-US" sz="1800" dirty="0" smtClean="0">
                          <a:latin typeface="Arabic Typesetting" pitchFamily="66" charset="-78"/>
                          <a:cs typeface="Arabic Typesetting" pitchFamily="66" charset="-78"/>
                        </a:rPr>
                        <a:t>7.</a:t>
                      </a:r>
                      <a:r>
                        <a:rPr lang="en-US" sz="1800" dirty="0" smtClean="0"/>
                        <a:t>	d = </a:t>
                      </a:r>
                      <a:r>
                        <a:rPr lang="en-US" sz="1800" dirty="0" err="1" smtClean="0"/>
                        <a:t>cubebyvalue</a:t>
                      </a:r>
                      <a:r>
                        <a:rPr lang="en-US" sz="1800" dirty="0" smtClean="0"/>
                        <a:t>(a);</a:t>
                      </a:r>
                    </a:p>
                    <a:p>
                      <a:r>
                        <a:rPr lang="pt-BR" sz="1800" dirty="0" smtClean="0">
                          <a:latin typeface="Arabic Typesetting" pitchFamily="66" charset="-78"/>
                          <a:cs typeface="Arabic Typesetting" pitchFamily="66" charset="-78"/>
                        </a:rPr>
                        <a:t>8.</a:t>
                      </a:r>
                      <a:r>
                        <a:rPr lang="pt-BR" sz="1800" dirty="0" smtClean="0"/>
                        <a:t>	printf("\n\n%d,%d", a,d);</a:t>
                      </a:r>
                    </a:p>
                    <a:p>
                      <a:r>
                        <a:rPr lang="en-US" sz="1800" dirty="0" smtClean="0">
                          <a:latin typeface="Arabic Typesetting" pitchFamily="66" charset="-78"/>
                          <a:cs typeface="Arabic Typesetting" pitchFamily="66" charset="-78"/>
                        </a:rPr>
                        <a:t>9.</a:t>
                      </a:r>
                    </a:p>
                    <a:p>
                      <a:r>
                        <a:rPr lang="en-US" sz="1800" dirty="0" smtClean="0">
                          <a:latin typeface="Arabic Typesetting" pitchFamily="66" charset="-78"/>
                          <a:cs typeface="Arabic Typesetting" pitchFamily="66" charset="-78"/>
                        </a:rPr>
                        <a:t>10.</a:t>
                      </a:r>
                      <a:r>
                        <a:rPr lang="en-US" sz="1800" dirty="0" smtClean="0"/>
                        <a:t>	return 0;</a:t>
                      </a:r>
                    </a:p>
                    <a:p>
                      <a:r>
                        <a:rPr lang="en-US" sz="1800" dirty="0" smtClean="0">
                          <a:latin typeface="Arabic Typesetting" pitchFamily="66" charset="-78"/>
                          <a:cs typeface="Arabic Typesetting" pitchFamily="66" charset="-78"/>
                        </a:rPr>
                        <a:t>11. </a:t>
                      </a:r>
                      <a:r>
                        <a:rPr lang="en-US" sz="1800" dirty="0" smtClean="0"/>
                        <a:t>  }</a:t>
                      </a:r>
                    </a:p>
                    <a:p>
                      <a:r>
                        <a:rPr lang="en-US" sz="1800" dirty="0" smtClean="0">
                          <a:latin typeface="Arabic Typesetting" pitchFamily="66" charset="-78"/>
                          <a:cs typeface="Arabic Typesetting" pitchFamily="66" charset="-78"/>
                        </a:rPr>
                        <a:t>12. </a:t>
                      </a:r>
                      <a:r>
                        <a:rPr lang="en-US" sz="1800" dirty="0" smtClean="0"/>
                        <a:t>  </a:t>
                      </a:r>
                      <a:r>
                        <a:rPr lang="en-US" sz="1800" dirty="0" err="1" smtClean="0"/>
                        <a:t>int</a:t>
                      </a:r>
                      <a:r>
                        <a:rPr lang="en-US" sz="1800" dirty="0" smtClean="0"/>
                        <a:t> </a:t>
                      </a:r>
                      <a:r>
                        <a:rPr lang="en-US" sz="1800" dirty="0" err="1" smtClean="0"/>
                        <a:t>cubebyvalue</a:t>
                      </a:r>
                      <a:r>
                        <a:rPr lang="en-US" sz="1800" dirty="0" smtClean="0"/>
                        <a:t>(</a:t>
                      </a:r>
                      <a:r>
                        <a:rPr lang="en-US" sz="1800" dirty="0" err="1" smtClean="0"/>
                        <a:t>int</a:t>
                      </a:r>
                      <a:r>
                        <a:rPr lang="en-US" sz="1800" dirty="0" smtClean="0"/>
                        <a:t> x)</a:t>
                      </a:r>
                    </a:p>
                    <a:p>
                      <a:r>
                        <a:rPr lang="en-US" sz="1800" dirty="0" smtClean="0">
                          <a:latin typeface="Arabic Typesetting" pitchFamily="66" charset="-78"/>
                          <a:cs typeface="Arabic Typesetting" pitchFamily="66" charset="-78"/>
                        </a:rPr>
                        <a:t>13. </a:t>
                      </a:r>
                      <a:r>
                        <a:rPr lang="en-US" sz="1800" dirty="0" smtClean="0"/>
                        <a:t>  {</a:t>
                      </a:r>
                    </a:p>
                    <a:p>
                      <a:r>
                        <a:rPr lang="en-US" sz="1800" dirty="0" smtClean="0">
                          <a:latin typeface="Arabic Typesetting" pitchFamily="66" charset="-78"/>
                          <a:cs typeface="Arabic Typesetting" pitchFamily="66" charset="-78"/>
                        </a:rPr>
                        <a:t>14.</a:t>
                      </a:r>
                      <a:r>
                        <a:rPr lang="en-US" sz="1800" dirty="0" smtClean="0"/>
                        <a:t>	return(x * x * x);</a:t>
                      </a:r>
                    </a:p>
                    <a:p>
                      <a:r>
                        <a:rPr lang="en-US" sz="1800" dirty="0" smtClean="0">
                          <a:latin typeface="Arabic Typesetting" pitchFamily="66" charset="-78"/>
                          <a:cs typeface="Arabic Typesetting" pitchFamily="66" charset="-78"/>
                        </a:rPr>
                        <a:t>15. </a:t>
                      </a:r>
                      <a:r>
                        <a:rPr lang="en-US" sz="1800" dirty="0" smtClean="0"/>
                        <a:t>   }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495800" y="1981200"/>
          <a:ext cx="4572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</a:tblGrid>
              <a:tr h="218440">
                <a:tc>
                  <a:txBody>
                    <a:bodyPr/>
                    <a:lstStyle/>
                    <a:p>
                      <a:r>
                        <a:rPr lang="en-US" dirty="0" smtClean="0"/>
                        <a:t>Passing/call</a:t>
                      </a:r>
                      <a:r>
                        <a:rPr lang="en-US" baseline="0" dirty="0" smtClean="0"/>
                        <a:t> by reference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i="0" dirty="0" smtClean="0">
                          <a:latin typeface="Arabic Typesetting" pitchFamily="66" charset="-78"/>
                          <a:cs typeface="Arabic Typesetting" pitchFamily="66" charset="-78"/>
                        </a:rPr>
                        <a:t>1.   </a:t>
                      </a:r>
                      <a:r>
                        <a:rPr lang="en-US" sz="1800" dirty="0" err="1" smtClean="0"/>
                        <a:t>int</a:t>
                      </a:r>
                      <a:r>
                        <a:rPr lang="en-US" sz="1800" dirty="0" smtClean="0"/>
                        <a:t> </a:t>
                      </a:r>
                      <a:r>
                        <a:rPr lang="en-US" sz="1800" dirty="0" err="1" smtClean="0"/>
                        <a:t>cubebyreference</a:t>
                      </a:r>
                      <a:r>
                        <a:rPr lang="en-US" sz="1800" dirty="0" smtClean="0"/>
                        <a:t>(</a:t>
                      </a:r>
                      <a:r>
                        <a:rPr lang="en-US" sz="1800" dirty="0" err="1" smtClean="0"/>
                        <a:t>int</a:t>
                      </a:r>
                      <a:r>
                        <a:rPr lang="en-US" sz="1800" dirty="0" smtClean="0"/>
                        <a:t>*);</a:t>
                      </a:r>
                    </a:p>
                    <a:p>
                      <a:r>
                        <a:rPr lang="en-US" sz="1800" i="0" dirty="0" smtClean="0">
                          <a:latin typeface="Arabic Typesetting" pitchFamily="66" charset="-78"/>
                          <a:cs typeface="Arabic Typesetting" pitchFamily="66" charset="-78"/>
                        </a:rPr>
                        <a:t>2.</a:t>
                      </a:r>
                      <a:r>
                        <a:rPr lang="en-US" sz="1800" i="0" baseline="0" dirty="0" smtClean="0">
                          <a:latin typeface="Arabic Typesetting" pitchFamily="66" charset="-78"/>
                          <a:cs typeface="Arabic Typesetting" pitchFamily="66" charset="-78"/>
                        </a:rPr>
                        <a:t>   </a:t>
                      </a:r>
                      <a:r>
                        <a:rPr lang="en-US" sz="1800" dirty="0" smtClean="0"/>
                        <a:t>main(){</a:t>
                      </a:r>
                    </a:p>
                    <a:p>
                      <a:r>
                        <a:rPr lang="en-US" sz="1800" i="0" dirty="0" smtClean="0">
                          <a:latin typeface="Arabic Typesetting" pitchFamily="66" charset="-78"/>
                          <a:cs typeface="Arabic Typesetting" pitchFamily="66" charset="-78"/>
                        </a:rPr>
                        <a:t>3.</a:t>
                      </a:r>
                      <a:r>
                        <a:rPr lang="en-US" sz="1800" dirty="0" smtClean="0"/>
                        <a:t>	</a:t>
                      </a:r>
                      <a:r>
                        <a:rPr lang="en-US" sz="1800" dirty="0" err="1" smtClean="0"/>
                        <a:t>int</a:t>
                      </a:r>
                      <a:r>
                        <a:rPr lang="en-US" sz="1800" dirty="0" smtClean="0"/>
                        <a:t> </a:t>
                      </a:r>
                      <a:r>
                        <a:rPr lang="en-US" sz="1800" dirty="0" err="1" smtClean="0"/>
                        <a:t>a,d</a:t>
                      </a:r>
                      <a:r>
                        <a:rPr lang="en-US" sz="1800" dirty="0" smtClean="0"/>
                        <a:t>;</a:t>
                      </a:r>
                    </a:p>
                    <a:p>
                      <a:r>
                        <a:rPr lang="en-US" sz="1800" i="0" dirty="0" smtClean="0">
                          <a:latin typeface="Arabic Typesetting" pitchFamily="66" charset="-78"/>
                          <a:cs typeface="Arabic Typesetting" pitchFamily="66" charset="-78"/>
                        </a:rPr>
                        <a:t>4.</a:t>
                      </a:r>
                      <a:r>
                        <a:rPr lang="en-US" sz="1800" dirty="0" smtClean="0"/>
                        <a:t>	</a:t>
                      </a:r>
                      <a:r>
                        <a:rPr lang="en-US" sz="1800" dirty="0" err="1" smtClean="0"/>
                        <a:t>printf</a:t>
                      </a:r>
                      <a:r>
                        <a:rPr lang="en-US" sz="1800" dirty="0" smtClean="0"/>
                        <a:t>("\</a:t>
                      </a:r>
                      <a:r>
                        <a:rPr lang="en-US" sz="1800" dirty="0" err="1" smtClean="0"/>
                        <a:t>na</a:t>
                      </a:r>
                      <a:r>
                        <a:rPr lang="en-US" sz="1800" dirty="0" smtClean="0"/>
                        <a:t> = ");</a:t>
                      </a:r>
                    </a:p>
                    <a:p>
                      <a:r>
                        <a:rPr lang="en-US" sz="1800" i="0" dirty="0" smtClean="0">
                          <a:latin typeface="Arabic Typesetting" pitchFamily="66" charset="-78"/>
                          <a:cs typeface="Arabic Typesetting" pitchFamily="66" charset="-78"/>
                        </a:rPr>
                        <a:t>5.</a:t>
                      </a:r>
                      <a:r>
                        <a:rPr lang="en-US" sz="1800" dirty="0" smtClean="0"/>
                        <a:t>	</a:t>
                      </a:r>
                      <a:r>
                        <a:rPr lang="en-US" sz="1800" dirty="0" err="1" smtClean="0"/>
                        <a:t>scanf</a:t>
                      </a:r>
                      <a:r>
                        <a:rPr lang="en-US" sz="1800" dirty="0" smtClean="0"/>
                        <a:t>("%d", &amp;a);</a:t>
                      </a:r>
                    </a:p>
                    <a:p>
                      <a:r>
                        <a:rPr lang="en-US" sz="1800" i="0" dirty="0" smtClean="0">
                          <a:latin typeface="Arabic Typesetting" pitchFamily="66" charset="-78"/>
                          <a:cs typeface="Arabic Typesetting" pitchFamily="66" charset="-78"/>
                        </a:rPr>
                        <a:t>6.</a:t>
                      </a:r>
                      <a:r>
                        <a:rPr lang="en-US" sz="1800" dirty="0" smtClean="0"/>
                        <a:t>		</a:t>
                      </a:r>
                    </a:p>
                    <a:p>
                      <a:r>
                        <a:rPr lang="en-US" sz="1800" i="0" dirty="0" smtClean="0">
                          <a:latin typeface="Arabic Typesetting" pitchFamily="66" charset="-78"/>
                          <a:cs typeface="Arabic Typesetting" pitchFamily="66" charset="-78"/>
                        </a:rPr>
                        <a:t>7.</a:t>
                      </a:r>
                      <a:r>
                        <a:rPr lang="en-US" sz="1800" dirty="0" smtClean="0"/>
                        <a:t>	d=</a:t>
                      </a:r>
                      <a:r>
                        <a:rPr lang="en-US" sz="1800" dirty="0" err="1" smtClean="0"/>
                        <a:t>cubebyreference</a:t>
                      </a:r>
                      <a:r>
                        <a:rPr lang="en-US" sz="1800" dirty="0" smtClean="0"/>
                        <a:t>(&amp;a);</a:t>
                      </a:r>
                    </a:p>
                    <a:p>
                      <a:r>
                        <a:rPr lang="en-US" sz="1800" i="0" dirty="0" smtClean="0">
                          <a:latin typeface="Arabic Typesetting" pitchFamily="66" charset="-78"/>
                          <a:cs typeface="Arabic Typesetting" pitchFamily="66" charset="-78"/>
                        </a:rPr>
                        <a:t>8.</a:t>
                      </a:r>
                      <a:endParaRPr lang="en-US" sz="1800" dirty="0" smtClean="0"/>
                    </a:p>
                    <a:p>
                      <a:r>
                        <a:rPr lang="en-US" sz="1800" i="0" dirty="0" smtClean="0">
                          <a:latin typeface="Arabic Typesetting" pitchFamily="66" charset="-78"/>
                          <a:cs typeface="Arabic Typesetting" pitchFamily="66" charset="-78"/>
                        </a:rPr>
                        <a:t>9.</a:t>
                      </a:r>
                      <a:r>
                        <a:rPr lang="pt-BR" sz="1800" dirty="0" smtClean="0"/>
                        <a:t>	printf("\n\n %d,%d", a,d);</a:t>
                      </a:r>
                    </a:p>
                    <a:p>
                      <a:r>
                        <a:rPr lang="en-US" sz="1800" i="0" dirty="0" smtClean="0">
                          <a:latin typeface="Arabic Typesetting" pitchFamily="66" charset="-78"/>
                          <a:cs typeface="Arabic Typesetting" pitchFamily="66" charset="-78"/>
                        </a:rPr>
                        <a:t>10.</a:t>
                      </a:r>
                      <a:endParaRPr lang="en-US" sz="1800" dirty="0" smtClean="0"/>
                    </a:p>
                    <a:p>
                      <a:r>
                        <a:rPr lang="en-US" sz="1800" i="0" dirty="0" smtClean="0">
                          <a:latin typeface="Arabic Typesetting" pitchFamily="66" charset="-78"/>
                          <a:cs typeface="Arabic Typesetting" pitchFamily="66" charset="-78"/>
                        </a:rPr>
                        <a:t>11.</a:t>
                      </a:r>
                      <a:r>
                        <a:rPr lang="en-US" sz="1800" dirty="0" smtClean="0"/>
                        <a:t>	return 0;</a:t>
                      </a:r>
                    </a:p>
                    <a:p>
                      <a:r>
                        <a:rPr lang="en-US" sz="1800" i="0" dirty="0" smtClean="0">
                          <a:latin typeface="Arabic Typesetting" pitchFamily="66" charset="-78"/>
                          <a:cs typeface="Arabic Typesetting" pitchFamily="66" charset="-78"/>
                        </a:rPr>
                        <a:t>12.   </a:t>
                      </a:r>
                      <a:r>
                        <a:rPr lang="en-US" sz="1800" dirty="0" smtClean="0"/>
                        <a:t>}</a:t>
                      </a:r>
                    </a:p>
                    <a:p>
                      <a:r>
                        <a:rPr lang="en-US" sz="1800" i="0" dirty="0" smtClean="0">
                          <a:latin typeface="Arabic Typesetting" pitchFamily="66" charset="-78"/>
                          <a:cs typeface="Arabic Typesetting" pitchFamily="66" charset="-78"/>
                        </a:rPr>
                        <a:t>13.   </a:t>
                      </a:r>
                      <a:r>
                        <a:rPr lang="en-US" sz="1800" dirty="0" smtClean="0"/>
                        <a:t>void </a:t>
                      </a:r>
                      <a:r>
                        <a:rPr lang="en-US" sz="1800" dirty="0" err="1" smtClean="0"/>
                        <a:t>cubebyreference</a:t>
                      </a:r>
                      <a:r>
                        <a:rPr lang="en-US" sz="1800" dirty="0" smtClean="0"/>
                        <a:t>(</a:t>
                      </a:r>
                      <a:r>
                        <a:rPr lang="en-US" sz="1800" dirty="0" err="1" smtClean="0"/>
                        <a:t>int</a:t>
                      </a:r>
                      <a:r>
                        <a:rPr lang="en-US" sz="1800" dirty="0" smtClean="0"/>
                        <a:t> *</a:t>
                      </a:r>
                      <a:r>
                        <a:rPr lang="en-US" sz="1800" dirty="0" err="1" smtClean="0"/>
                        <a:t>xPtr</a:t>
                      </a:r>
                      <a:r>
                        <a:rPr lang="en-US" sz="1800" dirty="0" smtClean="0"/>
                        <a:t>){</a:t>
                      </a:r>
                    </a:p>
                    <a:p>
                      <a:r>
                        <a:rPr lang="en-US" sz="1800" i="0" dirty="0" smtClean="0">
                          <a:latin typeface="Arabic Typesetting" pitchFamily="66" charset="-78"/>
                          <a:cs typeface="Arabic Typesetting" pitchFamily="66" charset="-78"/>
                        </a:rPr>
                        <a:t>14.</a:t>
                      </a:r>
                      <a:r>
                        <a:rPr lang="en-US" sz="1800" dirty="0" smtClean="0"/>
                        <a:t>	return(*</a:t>
                      </a:r>
                      <a:r>
                        <a:rPr lang="en-US" sz="1800" dirty="0" err="1" smtClean="0"/>
                        <a:t>xPtr</a:t>
                      </a:r>
                      <a:r>
                        <a:rPr lang="en-US" sz="1800" dirty="0" smtClean="0"/>
                        <a:t> =*</a:t>
                      </a:r>
                      <a:r>
                        <a:rPr lang="en-US" sz="1800" dirty="0" err="1" smtClean="0"/>
                        <a:t>xPtr</a:t>
                      </a:r>
                      <a:r>
                        <a:rPr lang="en-US" sz="1800" dirty="0" smtClean="0"/>
                        <a:t> * *</a:t>
                      </a:r>
                      <a:r>
                        <a:rPr lang="en-US" sz="1800" dirty="0" err="1" smtClean="0"/>
                        <a:t>xPtr</a:t>
                      </a:r>
                      <a:r>
                        <a:rPr lang="en-US" sz="1800" dirty="0" smtClean="0"/>
                        <a:t> * *</a:t>
                      </a:r>
                      <a:r>
                        <a:rPr lang="en-US" sz="1800" dirty="0" err="1" smtClean="0"/>
                        <a:t>xPtr</a:t>
                      </a:r>
                      <a:r>
                        <a:rPr lang="en-US" sz="1800" dirty="0" smtClean="0"/>
                        <a:t>);</a:t>
                      </a:r>
                    </a:p>
                    <a:p>
                      <a:r>
                        <a:rPr lang="en-US" sz="1800" i="0" dirty="0" smtClean="0">
                          <a:latin typeface="Arabic Typesetting" pitchFamily="66" charset="-78"/>
                          <a:cs typeface="Arabic Typesetting" pitchFamily="66" charset="-78"/>
                        </a:rPr>
                        <a:t>15.   </a:t>
                      </a:r>
                      <a:r>
                        <a:rPr lang="en-US" sz="1800" dirty="0" smtClean="0"/>
                        <a:t>}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9E04A-45C7-4348-BCC9-0D799328330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Pointers are often passed to a function as an argument</a:t>
            </a:r>
          </a:p>
          <a:p>
            <a:r>
              <a:rPr lang="en-US" dirty="0" smtClean="0"/>
              <a:t>This is to allow data item can be accessed by the function and returned to the program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9E04A-45C7-4348-BCC9-0D799328330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dirty="0"/>
              <a:t>Arithmetic and Logical Operations on </a:t>
            </a:r>
            <a:r>
              <a:rPr lang="en-US" dirty="0" smtClean="0"/>
              <a:t>Pointers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>
              <a:lnSpc>
                <a:spcPct val="90000"/>
              </a:lnSpc>
              <a:defRPr/>
            </a:pPr>
            <a:r>
              <a:rPr lang="en-US" dirty="0"/>
              <a:t>A pointer may be incremented or decremented</a:t>
            </a:r>
          </a:p>
          <a:p>
            <a:pPr lvl="0">
              <a:lnSpc>
                <a:spcPct val="90000"/>
              </a:lnSpc>
              <a:defRPr/>
            </a:pPr>
            <a:endParaRPr lang="en-US" dirty="0"/>
          </a:p>
          <a:p>
            <a:pPr lvl="0">
              <a:lnSpc>
                <a:spcPct val="90000"/>
              </a:lnSpc>
              <a:defRPr/>
            </a:pPr>
            <a:r>
              <a:rPr lang="en-US" dirty="0"/>
              <a:t>An integer may be added to or subtracted from a pointer.</a:t>
            </a:r>
          </a:p>
          <a:p>
            <a:pPr lvl="0">
              <a:lnSpc>
                <a:spcPct val="90000"/>
              </a:lnSpc>
              <a:defRPr/>
            </a:pPr>
            <a:endParaRPr lang="en-US" dirty="0"/>
          </a:p>
          <a:p>
            <a:pPr lvl="0">
              <a:lnSpc>
                <a:spcPct val="90000"/>
              </a:lnSpc>
              <a:defRPr/>
            </a:pPr>
            <a:r>
              <a:rPr lang="en-US" dirty="0"/>
              <a:t>Pointer variables may be subtracted from one another.</a:t>
            </a:r>
          </a:p>
          <a:p>
            <a:pPr lvl="0">
              <a:lnSpc>
                <a:spcPct val="90000"/>
              </a:lnSpc>
              <a:defRPr/>
            </a:pPr>
            <a:endParaRPr lang="en-US" dirty="0"/>
          </a:p>
          <a:p>
            <a:pPr lvl="0">
              <a:lnSpc>
                <a:spcPct val="90000"/>
              </a:lnSpc>
              <a:defRPr/>
            </a:pPr>
            <a:r>
              <a:rPr lang="en-US" dirty="0"/>
              <a:t>Pointer variables can be used in comparisons, but usually only in a comparison to NULL.</a:t>
            </a:r>
          </a:p>
          <a:p>
            <a:endParaRPr lang="en-US" dirty="0"/>
          </a:p>
        </p:txBody>
      </p:sp>
      <p:sp>
        <p:nvSpPr>
          <p:cNvPr id="4" name="Rectangle 1026"/>
          <p:cNvSpPr txBox="1">
            <a:spLocks noChangeArrowheads="1"/>
          </p:cNvSpPr>
          <p:nvPr/>
        </p:nvSpPr>
        <p:spPr>
          <a:xfrm>
            <a:off x="762000" y="1066800"/>
            <a:ext cx="77724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Rectangle 1027"/>
          <p:cNvSpPr txBox="1">
            <a:spLocks noChangeArrowheads="1"/>
          </p:cNvSpPr>
          <p:nvPr/>
        </p:nvSpPr>
        <p:spPr>
          <a:xfrm>
            <a:off x="685800" y="1978025"/>
            <a:ext cx="7772400" cy="3943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9E04A-45C7-4348-BCC9-0D799328330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When an integer is added to or subtracted from a pointer, the new pointer value is changed by the integer times the number of bytes in the data variable the pointer is pointing to.</a:t>
            </a:r>
          </a:p>
          <a:p>
            <a:endParaRPr lang="en-US" dirty="0" smtClean="0"/>
          </a:p>
          <a:p>
            <a:r>
              <a:rPr lang="en-US" dirty="0" smtClean="0"/>
              <a:t>For example, if the pointer </a:t>
            </a:r>
            <a:r>
              <a:rPr lang="en-US" i="1" dirty="0" err="1" smtClean="0">
                <a:solidFill>
                  <a:srgbClr val="FF0000"/>
                </a:solidFill>
              </a:rPr>
              <a:t>valptr</a:t>
            </a:r>
            <a:r>
              <a:rPr lang="en-US" dirty="0" smtClean="0"/>
              <a:t> contains the address of a </a:t>
            </a:r>
            <a:r>
              <a:rPr lang="en-US" i="1" dirty="0" smtClean="0"/>
              <a:t>double precision variable </a:t>
            </a:r>
            <a:r>
              <a:rPr lang="en-US" dirty="0" smtClean="0"/>
              <a:t>and that address is 234567870, then the statement:</a:t>
            </a:r>
          </a:p>
          <a:p>
            <a:pPr>
              <a:buFontTx/>
              <a:buNone/>
            </a:pPr>
            <a:r>
              <a:rPr lang="en-US" dirty="0" smtClean="0"/>
              <a:t>		</a:t>
            </a:r>
            <a:r>
              <a:rPr lang="en-US" i="1" dirty="0" err="1" smtClean="0">
                <a:solidFill>
                  <a:srgbClr val="FF0000"/>
                </a:solidFill>
              </a:rPr>
              <a:t>valptr</a:t>
            </a:r>
            <a:r>
              <a:rPr lang="en-US" i="1" dirty="0" smtClean="0">
                <a:solidFill>
                  <a:srgbClr val="FF0000"/>
                </a:solidFill>
              </a:rPr>
              <a:t> = </a:t>
            </a:r>
            <a:r>
              <a:rPr lang="en-US" i="1" dirty="0" err="1" smtClean="0">
                <a:solidFill>
                  <a:srgbClr val="FF0000"/>
                </a:solidFill>
              </a:rPr>
              <a:t>valptr</a:t>
            </a:r>
            <a:r>
              <a:rPr lang="en-US" dirty="0" smtClean="0"/>
              <a:t> + 2;</a:t>
            </a:r>
          </a:p>
          <a:p>
            <a:pPr>
              <a:buFontTx/>
              <a:buNone/>
            </a:pPr>
            <a:r>
              <a:rPr lang="en-US" dirty="0" smtClean="0"/>
              <a:t>	would change </a:t>
            </a:r>
            <a:r>
              <a:rPr lang="en-US" i="1" dirty="0" err="1" smtClean="0">
                <a:solidFill>
                  <a:srgbClr val="FF0000"/>
                </a:solidFill>
              </a:rPr>
              <a:t>valptr</a:t>
            </a:r>
            <a:r>
              <a:rPr lang="en-US" dirty="0" smtClean="0"/>
              <a:t>  to 234567886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9E04A-45C7-4348-BCC9-0D799328330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457200" y="152400"/>
            <a:ext cx="4038600" cy="63246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1800" dirty="0"/>
              <a:t>#include &lt;</a:t>
            </a:r>
            <a:r>
              <a:rPr lang="en-US" sz="1800" dirty="0" err="1"/>
              <a:t>stdio.h</a:t>
            </a:r>
            <a:r>
              <a:rPr lang="en-US" sz="1800" dirty="0"/>
              <a:t>&gt;</a:t>
            </a:r>
          </a:p>
          <a:p>
            <a:pPr>
              <a:buNone/>
            </a:pPr>
            <a:r>
              <a:rPr lang="en-US" sz="1800" dirty="0"/>
              <a:t>#include &lt;</a:t>
            </a:r>
            <a:r>
              <a:rPr lang="en-US" sz="1800" dirty="0" err="1"/>
              <a:t>stdlib.h</a:t>
            </a:r>
            <a:r>
              <a:rPr lang="en-US" sz="1800" dirty="0"/>
              <a:t>&gt;</a:t>
            </a:r>
          </a:p>
          <a:p>
            <a:pPr>
              <a:buNone/>
            </a:pPr>
            <a:r>
              <a:rPr lang="en-US" sz="1800" dirty="0" err="1" smtClean="0"/>
              <a:t>int</a:t>
            </a:r>
            <a:r>
              <a:rPr lang="en-US" sz="1800" dirty="0" smtClean="0"/>
              <a:t> </a:t>
            </a:r>
            <a:r>
              <a:rPr lang="en-US" sz="1800" dirty="0"/>
              <a:t>main()</a:t>
            </a:r>
          </a:p>
          <a:p>
            <a:pPr>
              <a:buNone/>
            </a:pPr>
            <a:r>
              <a:rPr lang="en-US" sz="1800" dirty="0"/>
              <a:t>{</a:t>
            </a:r>
          </a:p>
          <a:p>
            <a:pPr>
              <a:buNone/>
            </a:pPr>
            <a:r>
              <a:rPr lang="en-US" sz="1800" dirty="0"/>
              <a:t>	</a:t>
            </a:r>
            <a:r>
              <a:rPr lang="en-US" sz="1800" dirty="0" err="1"/>
              <a:t>int</a:t>
            </a:r>
            <a:r>
              <a:rPr lang="en-US" sz="1800" dirty="0"/>
              <a:t> x;</a:t>
            </a:r>
          </a:p>
          <a:p>
            <a:pPr>
              <a:buNone/>
            </a:pPr>
            <a:r>
              <a:rPr lang="en-US" sz="1800" dirty="0"/>
              <a:t>	</a:t>
            </a:r>
            <a:r>
              <a:rPr lang="en-US" sz="1800" dirty="0" err="1"/>
              <a:t>int</a:t>
            </a:r>
            <a:r>
              <a:rPr lang="en-US" sz="1800" dirty="0"/>
              <a:t> *</a:t>
            </a:r>
            <a:r>
              <a:rPr lang="en-US" sz="1800" dirty="0" err="1"/>
              <a:t>ptr</a:t>
            </a:r>
            <a:r>
              <a:rPr lang="en-US" sz="1800" dirty="0"/>
              <a:t>;</a:t>
            </a:r>
          </a:p>
          <a:p>
            <a:pPr>
              <a:buNone/>
            </a:pPr>
            <a:endParaRPr lang="en-US" sz="1800" dirty="0"/>
          </a:p>
          <a:p>
            <a:pPr>
              <a:buNone/>
            </a:pPr>
            <a:r>
              <a:rPr lang="en-US" sz="1800" dirty="0"/>
              <a:t>	x = 10;</a:t>
            </a:r>
          </a:p>
          <a:p>
            <a:pPr>
              <a:buNone/>
            </a:pPr>
            <a:r>
              <a:rPr lang="en-US" sz="1800" dirty="0"/>
              <a:t>	</a:t>
            </a:r>
            <a:r>
              <a:rPr lang="en-US" sz="1800" dirty="0" err="1"/>
              <a:t>ptr</a:t>
            </a:r>
            <a:r>
              <a:rPr lang="en-US" sz="1800" dirty="0"/>
              <a:t> = &amp;x;</a:t>
            </a:r>
          </a:p>
          <a:p>
            <a:pPr>
              <a:buNone/>
            </a:pPr>
            <a:r>
              <a:rPr lang="en-US" sz="1800" dirty="0"/>
              <a:t>	*</a:t>
            </a:r>
            <a:r>
              <a:rPr lang="en-US" sz="1800" dirty="0" err="1"/>
              <a:t>ptr</a:t>
            </a:r>
            <a:r>
              <a:rPr lang="en-US" sz="1800" dirty="0"/>
              <a:t> = *</a:t>
            </a:r>
            <a:r>
              <a:rPr lang="en-US" sz="1800" dirty="0" err="1"/>
              <a:t>ptr</a:t>
            </a:r>
            <a:r>
              <a:rPr lang="en-US" sz="1800" dirty="0"/>
              <a:t> + 1;</a:t>
            </a:r>
          </a:p>
          <a:p>
            <a:pPr>
              <a:buNone/>
            </a:pPr>
            <a:endParaRPr lang="en-US" sz="1800" dirty="0"/>
          </a:p>
          <a:p>
            <a:pPr>
              <a:buNone/>
            </a:pPr>
            <a:r>
              <a:rPr lang="en-US" sz="1800" dirty="0"/>
              <a:t>	</a:t>
            </a:r>
            <a:r>
              <a:rPr lang="en-US" sz="1800" dirty="0" err="1"/>
              <a:t>printf</a:t>
            </a:r>
            <a:r>
              <a:rPr lang="en-US" sz="1800" dirty="0"/>
              <a:t>("before </a:t>
            </a:r>
            <a:r>
              <a:rPr lang="en-US" sz="1800" dirty="0" err="1"/>
              <a:t>ptr</a:t>
            </a:r>
            <a:r>
              <a:rPr lang="en-US" sz="1800" dirty="0"/>
              <a:t> increment\n");</a:t>
            </a:r>
          </a:p>
          <a:p>
            <a:pPr>
              <a:buNone/>
            </a:pPr>
            <a:r>
              <a:rPr lang="en-US" sz="1800" dirty="0"/>
              <a:t>	</a:t>
            </a:r>
            <a:r>
              <a:rPr lang="en-US" sz="1800" dirty="0" err="1"/>
              <a:t>printf</a:t>
            </a:r>
            <a:r>
              <a:rPr lang="en-US" sz="1800" dirty="0"/>
              <a:t>("--------------------\n");</a:t>
            </a:r>
          </a:p>
          <a:p>
            <a:pPr>
              <a:buNone/>
            </a:pPr>
            <a:r>
              <a:rPr lang="en-US" sz="1800" dirty="0"/>
              <a:t>	</a:t>
            </a:r>
            <a:r>
              <a:rPr lang="en-US" sz="1800" dirty="0" err="1"/>
              <a:t>printf</a:t>
            </a:r>
            <a:r>
              <a:rPr lang="en-US" sz="1800" dirty="0"/>
              <a:t>("x = %d\n", x);</a:t>
            </a:r>
          </a:p>
          <a:p>
            <a:pPr>
              <a:buNone/>
            </a:pPr>
            <a:r>
              <a:rPr lang="en-US" sz="1800" dirty="0"/>
              <a:t>	</a:t>
            </a:r>
            <a:r>
              <a:rPr lang="en-US" sz="1800" dirty="0" err="1"/>
              <a:t>printf</a:t>
            </a:r>
            <a:r>
              <a:rPr lang="en-US" sz="1800" dirty="0"/>
              <a:t>("&amp;x = %d\n", &amp;x);</a:t>
            </a:r>
          </a:p>
          <a:p>
            <a:pPr>
              <a:buNone/>
            </a:pPr>
            <a:r>
              <a:rPr lang="en-US" sz="1800" dirty="0"/>
              <a:t>	</a:t>
            </a:r>
            <a:r>
              <a:rPr lang="en-US" sz="1800" dirty="0" err="1"/>
              <a:t>printf</a:t>
            </a:r>
            <a:r>
              <a:rPr lang="en-US" sz="1800" dirty="0"/>
              <a:t>("</a:t>
            </a:r>
            <a:r>
              <a:rPr lang="en-US" sz="1800" dirty="0" err="1"/>
              <a:t>ptr</a:t>
            </a:r>
            <a:r>
              <a:rPr lang="en-US" sz="1800" dirty="0"/>
              <a:t> = %d\n", </a:t>
            </a:r>
            <a:r>
              <a:rPr lang="en-US" sz="1800" dirty="0" err="1"/>
              <a:t>ptr</a:t>
            </a:r>
            <a:r>
              <a:rPr lang="en-US" sz="1800" dirty="0"/>
              <a:t>);</a:t>
            </a:r>
          </a:p>
          <a:p>
            <a:pPr>
              <a:buNone/>
            </a:pPr>
            <a:r>
              <a:rPr lang="en-US" sz="1800" dirty="0"/>
              <a:t>	</a:t>
            </a:r>
            <a:r>
              <a:rPr lang="en-US" sz="1800" dirty="0" err="1"/>
              <a:t>printf</a:t>
            </a:r>
            <a:r>
              <a:rPr lang="en-US" sz="1800" dirty="0"/>
              <a:t>("*</a:t>
            </a:r>
            <a:r>
              <a:rPr lang="en-US" sz="1800" dirty="0" err="1"/>
              <a:t>ptr</a:t>
            </a:r>
            <a:r>
              <a:rPr lang="en-US" sz="1800" dirty="0"/>
              <a:t> = %d\n", *</a:t>
            </a:r>
            <a:r>
              <a:rPr lang="en-US" sz="1800" dirty="0" err="1"/>
              <a:t>ptr</a:t>
            </a:r>
            <a:r>
              <a:rPr lang="en-US" sz="1800" dirty="0"/>
              <a:t>);</a:t>
            </a:r>
          </a:p>
          <a:p>
            <a:pPr>
              <a:buNone/>
            </a:pPr>
            <a:r>
              <a:rPr lang="en-US" sz="1800" dirty="0"/>
              <a:t>	</a:t>
            </a:r>
            <a:r>
              <a:rPr lang="en-US" sz="1800" dirty="0" err="1"/>
              <a:t>printf</a:t>
            </a:r>
            <a:r>
              <a:rPr lang="en-US" sz="1800" dirty="0"/>
              <a:t>("&amp;*</a:t>
            </a:r>
            <a:r>
              <a:rPr lang="en-US" sz="1800" dirty="0" err="1"/>
              <a:t>ptr</a:t>
            </a:r>
            <a:r>
              <a:rPr lang="en-US" sz="1800" dirty="0"/>
              <a:t> = %d\n\n\n", &amp;*</a:t>
            </a:r>
            <a:r>
              <a:rPr lang="en-US" sz="1800" dirty="0" err="1"/>
              <a:t>ptr</a:t>
            </a:r>
            <a:r>
              <a:rPr lang="en-US" sz="1800" dirty="0" smtClean="0"/>
              <a:t>);</a:t>
            </a:r>
            <a:endParaRPr lang="en-US" sz="1800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4648200" y="152400"/>
            <a:ext cx="4038600" cy="63246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1800" dirty="0" smtClean="0"/>
              <a:t>	</a:t>
            </a:r>
            <a:r>
              <a:rPr lang="en-US" sz="1800" dirty="0" err="1" smtClean="0"/>
              <a:t>ptr</a:t>
            </a:r>
            <a:r>
              <a:rPr lang="en-US" sz="1800" dirty="0" smtClean="0"/>
              <a:t> = </a:t>
            </a:r>
            <a:r>
              <a:rPr lang="en-US" sz="1800" dirty="0" err="1" smtClean="0"/>
              <a:t>ptr</a:t>
            </a:r>
            <a:r>
              <a:rPr lang="en-US" sz="1800" dirty="0" smtClean="0"/>
              <a:t> +1;</a:t>
            </a:r>
          </a:p>
          <a:p>
            <a:pPr>
              <a:buNone/>
            </a:pPr>
            <a:r>
              <a:rPr lang="en-US" sz="1800" dirty="0" smtClean="0"/>
              <a:t>	</a:t>
            </a:r>
            <a:r>
              <a:rPr lang="en-US" sz="1800" dirty="0" err="1" smtClean="0"/>
              <a:t>printf</a:t>
            </a:r>
            <a:r>
              <a:rPr lang="en-US" sz="1800" dirty="0" smtClean="0"/>
              <a:t>("After </a:t>
            </a:r>
            <a:r>
              <a:rPr lang="en-US" sz="1800" dirty="0" err="1" smtClean="0"/>
              <a:t>ptr</a:t>
            </a:r>
            <a:r>
              <a:rPr lang="en-US" sz="1800" dirty="0" smtClean="0"/>
              <a:t> increment\n");</a:t>
            </a:r>
          </a:p>
          <a:p>
            <a:pPr>
              <a:buNone/>
            </a:pPr>
            <a:r>
              <a:rPr lang="en-US" sz="1800" dirty="0" smtClean="0"/>
              <a:t>	</a:t>
            </a:r>
            <a:r>
              <a:rPr lang="en-US" sz="1800" dirty="0" err="1" smtClean="0"/>
              <a:t>printf</a:t>
            </a:r>
            <a:r>
              <a:rPr lang="en-US" sz="1800" dirty="0" smtClean="0"/>
              <a:t>("-------------------\n");</a:t>
            </a:r>
          </a:p>
          <a:p>
            <a:pPr>
              <a:buNone/>
            </a:pPr>
            <a:r>
              <a:rPr lang="en-US" sz="1800" dirty="0" smtClean="0"/>
              <a:t>	</a:t>
            </a:r>
            <a:r>
              <a:rPr lang="en-US" sz="1800" dirty="0" err="1" smtClean="0"/>
              <a:t>printf</a:t>
            </a:r>
            <a:r>
              <a:rPr lang="en-US" sz="1800" dirty="0" smtClean="0"/>
              <a:t>("x = %d\n", x);</a:t>
            </a:r>
          </a:p>
          <a:p>
            <a:pPr>
              <a:buNone/>
            </a:pPr>
            <a:r>
              <a:rPr lang="en-US" sz="1800" dirty="0" smtClean="0"/>
              <a:t>	</a:t>
            </a:r>
            <a:r>
              <a:rPr lang="en-US" sz="1800" dirty="0" err="1" smtClean="0"/>
              <a:t>printf</a:t>
            </a:r>
            <a:r>
              <a:rPr lang="en-US" sz="1800" dirty="0" smtClean="0"/>
              <a:t>("&amp;x = %d\n", &amp;x);</a:t>
            </a:r>
          </a:p>
          <a:p>
            <a:pPr>
              <a:buNone/>
            </a:pPr>
            <a:r>
              <a:rPr lang="en-US" sz="1800" dirty="0" smtClean="0"/>
              <a:t>	</a:t>
            </a:r>
            <a:r>
              <a:rPr lang="en-US" sz="1800" dirty="0" err="1" smtClean="0"/>
              <a:t>printf</a:t>
            </a:r>
            <a:r>
              <a:rPr lang="en-US" sz="1800" dirty="0" smtClean="0"/>
              <a:t>("</a:t>
            </a:r>
            <a:r>
              <a:rPr lang="en-US" sz="1800" dirty="0" err="1" smtClean="0"/>
              <a:t>ptr</a:t>
            </a:r>
            <a:r>
              <a:rPr lang="en-US" sz="1800" dirty="0" smtClean="0"/>
              <a:t> = %d\n", </a:t>
            </a:r>
            <a:r>
              <a:rPr lang="en-US" sz="1800" dirty="0" err="1" smtClean="0"/>
              <a:t>ptr</a:t>
            </a:r>
            <a:r>
              <a:rPr lang="en-US" sz="1800" dirty="0" smtClean="0"/>
              <a:t>);</a:t>
            </a:r>
          </a:p>
          <a:p>
            <a:pPr>
              <a:buNone/>
            </a:pPr>
            <a:r>
              <a:rPr lang="en-US" sz="1800" dirty="0" smtClean="0"/>
              <a:t>	</a:t>
            </a:r>
            <a:r>
              <a:rPr lang="en-US" sz="1800" dirty="0" err="1" smtClean="0"/>
              <a:t>printf</a:t>
            </a:r>
            <a:r>
              <a:rPr lang="en-US" sz="1800" dirty="0" smtClean="0"/>
              <a:t>("*</a:t>
            </a:r>
            <a:r>
              <a:rPr lang="en-US" sz="1800" dirty="0" err="1" smtClean="0"/>
              <a:t>ptr</a:t>
            </a:r>
            <a:r>
              <a:rPr lang="en-US" sz="1800" dirty="0" smtClean="0"/>
              <a:t> = %d\n", *</a:t>
            </a:r>
            <a:r>
              <a:rPr lang="en-US" sz="1800" dirty="0" err="1" smtClean="0"/>
              <a:t>ptr</a:t>
            </a:r>
            <a:r>
              <a:rPr lang="en-US" sz="1800" dirty="0" smtClean="0"/>
              <a:t>);</a:t>
            </a:r>
          </a:p>
          <a:p>
            <a:pPr>
              <a:buNone/>
            </a:pPr>
            <a:r>
              <a:rPr lang="en-US" sz="1800" dirty="0" smtClean="0"/>
              <a:t>	</a:t>
            </a:r>
            <a:r>
              <a:rPr lang="en-US" sz="1800" dirty="0" err="1" smtClean="0"/>
              <a:t>printf</a:t>
            </a:r>
            <a:r>
              <a:rPr lang="en-US" sz="1800" dirty="0" smtClean="0"/>
              <a:t>("&amp;*</a:t>
            </a:r>
            <a:r>
              <a:rPr lang="en-US" sz="1800" dirty="0" err="1" smtClean="0"/>
              <a:t>ptr</a:t>
            </a:r>
            <a:r>
              <a:rPr lang="en-US" sz="1800" dirty="0" smtClean="0"/>
              <a:t> = %d\n", &amp;*</a:t>
            </a:r>
            <a:r>
              <a:rPr lang="en-US" sz="1800" dirty="0" err="1" smtClean="0"/>
              <a:t>ptr</a:t>
            </a:r>
            <a:r>
              <a:rPr lang="en-US" sz="1800" dirty="0" smtClean="0"/>
              <a:t>);</a:t>
            </a:r>
          </a:p>
          <a:p>
            <a:pPr>
              <a:buNone/>
            </a:pPr>
            <a:r>
              <a:rPr lang="en-US" sz="1800" dirty="0" smtClean="0"/>
              <a:t>	system("PAUSE");</a:t>
            </a:r>
          </a:p>
          <a:p>
            <a:pPr>
              <a:buNone/>
            </a:pPr>
            <a:r>
              <a:rPr lang="en-US" sz="1800" dirty="0" smtClean="0"/>
              <a:t>	return 0;</a:t>
            </a:r>
          </a:p>
          <a:p>
            <a:pPr>
              <a:buNone/>
            </a:pPr>
            <a:r>
              <a:rPr lang="en-US" sz="1800" dirty="0" smtClean="0"/>
              <a:t>}</a:t>
            </a:r>
          </a:p>
          <a:p>
            <a:endParaRPr lang="en-US" sz="1800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29200" y="3962400"/>
            <a:ext cx="37338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9E04A-45C7-4348-BCC9-0D799328330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8600"/>
            <a:ext cx="8095488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Pointers and One-Dimensional Array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371600"/>
            <a:ext cx="7498080" cy="4800600"/>
          </a:xfrm>
        </p:spPr>
        <p:txBody>
          <a:bodyPr/>
          <a:lstStyle/>
          <a:p>
            <a:r>
              <a:rPr lang="en-US" dirty="0" smtClean="0"/>
              <a:t>Array name is a pointer to the first element.</a:t>
            </a:r>
          </a:p>
          <a:p>
            <a:pPr lvl="1"/>
            <a:r>
              <a:rPr lang="en-US" dirty="0" smtClean="0"/>
              <a:t>Address of first array element is &amp;x[0] or x.</a:t>
            </a:r>
          </a:p>
          <a:p>
            <a:pPr lvl="1"/>
            <a:r>
              <a:rPr lang="en-US" dirty="0" smtClean="0"/>
              <a:t>Address of 2</a:t>
            </a:r>
            <a:r>
              <a:rPr lang="en-US" baseline="30000" dirty="0" smtClean="0"/>
              <a:t>nd</a:t>
            </a:r>
            <a:r>
              <a:rPr lang="en-US" dirty="0" smtClean="0"/>
              <a:t> element is &amp;x[1] or (x+1).</a:t>
            </a:r>
          </a:p>
          <a:p>
            <a:pPr lvl="1"/>
            <a:r>
              <a:rPr lang="en-US" dirty="0" smtClean="0"/>
              <a:t>So, address for </a:t>
            </a:r>
            <a:r>
              <a:rPr lang="en-US" dirty="0" err="1" smtClean="0"/>
              <a:t>i</a:t>
            </a:r>
            <a:r>
              <a:rPr lang="en-US" dirty="0" smtClean="0"/>
              <a:t> element is &amp;x[</a:t>
            </a:r>
            <a:r>
              <a:rPr lang="en-US" dirty="0" err="1" smtClean="0"/>
              <a:t>i</a:t>
            </a:r>
            <a:r>
              <a:rPr lang="en-US" dirty="0" smtClean="0"/>
              <a:t>] or (</a:t>
            </a:r>
            <a:r>
              <a:rPr lang="en-US" dirty="0" err="1" smtClean="0"/>
              <a:t>x+i</a:t>
            </a:r>
            <a:r>
              <a:rPr lang="en-US" dirty="0" smtClean="0"/>
              <a:t>).</a:t>
            </a:r>
          </a:p>
          <a:p>
            <a:r>
              <a:rPr lang="en-US" dirty="0" smtClean="0"/>
              <a:t>Then to retrieve the content of </a:t>
            </a:r>
            <a:r>
              <a:rPr lang="en-US" dirty="0" err="1" smtClean="0"/>
              <a:t>i</a:t>
            </a:r>
            <a:r>
              <a:rPr lang="en-US" dirty="0" smtClean="0"/>
              <a:t> element is x[</a:t>
            </a:r>
            <a:r>
              <a:rPr lang="en-US" dirty="0" err="1" smtClean="0"/>
              <a:t>i</a:t>
            </a:r>
            <a:r>
              <a:rPr lang="en-US" dirty="0" smtClean="0"/>
              <a:t>] or *(</a:t>
            </a:r>
            <a:r>
              <a:rPr lang="en-US" dirty="0" err="1" smtClean="0"/>
              <a:t>x+i</a:t>
            </a:r>
            <a:r>
              <a:rPr lang="en-US" dirty="0" smtClean="0"/>
              <a:t>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9E04A-45C7-4348-BCC9-0D799328330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457200" y="228600"/>
            <a:ext cx="4038600" cy="452596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400" dirty="0"/>
              <a:t>#include &lt;</a:t>
            </a:r>
            <a:r>
              <a:rPr lang="en-US" sz="1400" dirty="0" err="1"/>
              <a:t>stdio.h</a:t>
            </a:r>
            <a:r>
              <a:rPr lang="en-US" sz="1400" dirty="0"/>
              <a:t>&gt;</a:t>
            </a:r>
          </a:p>
          <a:p>
            <a:pPr>
              <a:buNone/>
            </a:pPr>
            <a:r>
              <a:rPr lang="en-US" sz="1400" dirty="0"/>
              <a:t>#include &lt;</a:t>
            </a:r>
            <a:r>
              <a:rPr lang="en-US" sz="1400" dirty="0" err="1"/>
              <a:t>stdlib.h</a:t>
            </a:r>
            <a:r>
              <a:rPr lang="en-US" sz="1400" dirty="0"/>
              <a:t>&gt;</a:t>
            </a:r>
          </a:p>
          <a:p>
            <a:pPr>
              <a:buNone/>
            </a:pPr>
            <a:endParaRPr lang="en-US" sz="1400" dirty="0"/>
          </a:p>
          <a:p>
            <a:pPr>
              <a:buNone/>
            </a:pPr>
            <a:r>
              <a:rPr lang="en-US" sz="1400" dirty="0" err="1"/>
              <a:t>int</a:t>
            </a:r>
            <a:r>
              <a:rPr lang="en-US" sz="1400" dirty="0"/>
              <a:t> main()</a:t>
            </a:r>
          </a:p>
          <a:p>
            <a:pPr>
              <a:buNone/>
            </a:pPr>
            <a:r>
              <a:rPr lang="en-US" sz="1400" dirty="0"/>
              <a:t>{</a:t>
            </a:r>
          </a:p>
          <a:p>
            <a:pPr>
              <a:buNone/>
            </a:pPr>
            <a:r>
              <a:rPr lang="en-US" sz="1400" dirty="0"/>
              <a:t>	static </a:t>
            </a:r>
            <a:r>
              <a:rPr lang="en-US" sz="1400" dirty="0" err="1"/>
              <a:t>int</a:t>
            </a:r>
            <a:r>
              <a:rPr lang="en-US" sz="1400" dirty="0"/>
              <a:t> x[10] = {10,11,12,13,14,15,16,17,18,19};</a:t>
            </a:r>
          </a:p>
          <a:p>
            <a:pPr>
              <a:buNone/>
            </a:pPr>
            <a:endParaRPr lang="en-US" sz="1400" dirty="0"/>
          </a:p>
          <a:p>
            <a:pPr>
              <a:buNone/>
            </a:pPr>
            <a:r>
              <a:rPr lang="en-US" sz="1400" dirty="0"/>
              <a:t>	</a:t>
            </a:r>
            <a:r>
              <a:rPr lang="en-US" sz="1400" dirty="0" err="1"/>
              <a:t>int</a:t>
            </a:r>
            <a:r>
              <a:rPr lang="en-US" sz="1400" dirty="0"/>
              <a:t> </a:t>
            </a:r>
            <a:r>
              <a:rPr lang="en-US" sz="1400" dirty="0" err="1"/>
              <a:t>i</a:t>
            </a:r>
            <a:r>
              <a:rPr lang="en-US" sz="1400" dirty="0"/>
              <a:t>;</a:t>
            </a:r>
          </a:p>
          <a:p>
            <a:pPr>
              <a:buNone/>
            </a:pPr>
            <a:endParaRPr lang="en-US" sz="1400" dirty="0"/>
          </a:p>
          <a:p>
            <a:pPr>
              <a:buNone/>
            </a:pPr>
            <a:r>
              <a:rPr lang="nn-NO" sz="1400" dirty="0"/>
              <a:t>	</a:t>
            </a:r>
            <a:endParaRPr lang="en-US" sz="1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09800" y="3505200"/>
            <a:ext cx="5381625" cy="310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Content Placeholder 4"/>
          <p:cNvSpPr>
            <a:spLocks noGrp="1"/>
          </p:cNvSpPr>
          <p:nvPr>
            <p:ph sz="half" idx="1"/>
          </p:nvPr>
        </p:nvSpPr>
        <p:spPr>
          <a:xfrm>
            <a:off x="3733800" y="381000"/>
            <a:ext cx="5181600" cy="29718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nn-NO" sz="1400" dirty="0"/>
              <a:t>	for (i = 0; i &lt;= 9; ++i)</a:t>
            </a:r>
          </a:p>
          <a:p>
            <a:pPr>
              <a:buNone/>
            </a:pPr>
            <a:r>
              <a:rPr lang="en-US" sz="1400" dirty="0"/>
              <a:t>	{</a:t>
            </a:r>
          </a:p>
          <a:p>
            <a:pPr>
              <a:buNone/>
            </a:pPr>
            <a:r>
              <a:rPr lang="nn-NO" sz="1400" dirty="0"/>
              <a:t>		printf("\n i = %d\tx[i] = %d\t*(x+i) = %d", i, x[i], *(x+i));</a:t>
            </a:r>
          </a:p>
          <a:p>
            <a:pPr>
              <a:buNone/>
            </a:pPr>
            <a:endParaRPr lang="en-US" sz="1400" dirty="0"/>
          </a:p>
          <a:p>
            <a:pPr>
              <a:buNone/>
            </a:pPr>
            <a:r>
              <a:rPr lang="nn-NO" sz="1400" dirty="0"/>
              <a:t>		printf("\t &amp;x[i] = %X\t x+i = %X\n", &amp;x[i], (x+i));</a:t>
            </a:r>
          </a:p>
          <a:p>
            <a:pPr>
              <a:buNone/>
            </a:pPr>
            <a:r>
              <a:rPr lang="en-US" sz="1400" dirty="0"/>
              <a:t>	}</a:t>
            </a:r>
          </a:p>
          <a:p>
            <a:pPr>
              <a:buNone/>
            </a:pPr>
            <a:r>
              <a:rPr lang="en-US" sz="1400" dirty="0"/>
              <a:t>	system("PAUSE");</a:t>
            </a:r>
          </a:p>
          <a:p>
            <a:pPr>
              <a:buNone/>
            </a:pPr>
            <a:endParaRPr lang="en-US" sz="1400" dirty="0"/>
          </a:p>
          <a:p>
            <a:pPr>
              <a:buNone/>
            </a:pPr>
            <a:r>
              <a:rPr lang="en-US" sz="1400" dirty="0"/>
              <a:t>	return 0;</a:t>
            </a:r>
          </a:p>
          <a:p>
            <a:pPr>
              <a:buNone/>
            </a:pPr>
            <a:r>
              <a:rPr lang="en-US" sz="1400" dirty="0"/>
              <a:t>}</a:t>
            </a:r>
          </a:p>
          <a:p>
            <a:pPr>
              <a:buNone/>
            </a:pPr>
            <a:endParaRPr lang="en-US" sz="1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9E04A-45C7-4348-BCC9-0D799328330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Pointer and Multidimensional Arrays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Since one dimensional array can be represented by pointer (the array name)</a:t>
            </a:r>
          </a:p>
          <a:p>
            <a:r>
              <a:rPr lang="en-US" dirty="0" smtClean="0"/>
              <a:t>Pointer can also used in representing multidimensional array.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9E04A-45C7-4348-BCC9-0D799328330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multidimensional array can be declare as below:</a:t>
            </a:r>
          </a:p>
          <a:p>
            <a:endParaRPr lang="en-US" dirty="0" smtClean="0"/>
          </a:p>
          <a:p>
            <a:endParaRPr lang="en-US" sz="3600" dirty="0" smtClean="0"/>
          </a:p>
          <a:p>
            <a:r>
              <a:rPr lang="en-US" dirty="0" smtClean="0"/>
              <a:t>Noted that for</a:t>
            </a:r>
          </a:p>
          <a:p>
            <a:pPr algn="ctr">
              <a:buNone/>
            </a:pPr>
            <a:r>
              <a:rPr lang="en-US" dirty="0" smtClean="0"/>
              <a:t>	</a:t>
            </a:r>
            <a:r>
              <a:rPr lang="en-US" dirty="0" err="1" smtClean="0"/>
              <a:t>int</a:t>
            </a:r>
            <a:r>
              <a:rPr lang="en-US" dirty="0" smtClean="0"/>
              <a:t> x[ ][20];</a:t>
            </a:r>
          </a:p>
          <a:p>
            <a:r>
              <a:rPr lang="en-US" dirty="0" smtClean="0"/>
              <a:t>It become</a:t>
            </a:r>
          </a:p>
          <a:p>
            <a:pPr algn="ctr">
              <a:buNone/>
            </a:pPr>
            <a:r>
              <a:rPr lang="en-US" dirty="0" err="1" smtClean="0"/>
              <a:t>int</a:t>
            </a:r>
            <a:r>
              <a:rPr lang="en-US" dirty="0" smtClean="0"/>
              <a:t> (*x)[20];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28600" y="2590800"/>
            <a:ext cx="86106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i="1" dirty="0" err="1" smtClean="0"/>
              <a:t>Datatype</a:t>
            </a:r>
            <a:r>
              <a:rPr lang="en-US" sz="2400" i="1" dirty="0" smtClean="0"/>
              <a:t> </a:t>
            </a:r>
            <a:r>
              <a:rPr lang="en-US" sz="2400" dirty="0" smtClean="0"/>
              <a:t>(*</a:t>
            </a:r>
            <a:r>
              <a:rPr lang="en-US" sz="2400" dirty="0" err="1" smtClean="0"/>
              <a:t>ptr</a:t>
            </a:r>
            <a:r>
              <a:rPr lang="en-US" sz="2400" dirty="0" smtClean="0"/>
              <a:t>)[</a:t>
            </a:r>
            <a:r>
              <a:rPr lang="en-US" sz="2400" i="1" dirty="0" smtClean="0"/>
              <a:t>expression1</a:t>
            </a:r>
            <a:r>
              <a:rPr lang="en-US" sz="2400" dirty="0" smtClean="0"/>
              <a:t>] [</a:t>
            </a:r>
            <a:r>
              <a:rPr lang="en-US" sz="2400" i="1" dirty="0" smtClean="0"/>
              <a:t>expression2</a:t>
            </a:r>
            <a:r>
              <a:rPr lang="en-US" sz="2400" dirty="0" smtClean="0"/>
              <a:t>]…[</a:t>
            </a:r>
            <a:r>
              <a:rPr lang="en-US" sz="2400" i="1" dirty="0" smtClean="0"/>
              <a:t>expression </a:t>
            </a:r>
            <a:r>
              <a:rPr lang="en-US" sz="2400" i="1" dirty="0" err="1" smtClean="0"/>
              <a:t>i</a:t>
            </a:r>
            <a:r>
              <a:rPr lang="en-US" sz="2400" dirty="0" smtClean="0"/>
              <a:t>]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9E04A-45C7-4348-BCC9-0D799328330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retrieve content of one dimensional array for array declared using pointer, it will be</a:t>
            </a:r>
          </a:p>
          <a:p>
            <a:pPr algn="ctr">
              <a:buNone/>
            </a:pPr>
            <a:r>
              <a:rPr lang="en-US" dirty="0" smtClean="0"/>
              <a:t>*(</a:t>
            </a:r>
            <a:r>
              <a:rPr lang="en-US" i="1" dirty="0" err="1" smtClean="0"/>
              <a:t>arrayname</a:t>
            </a:r>
            <a:r>
              <a:rPr lang="en-US" i="1" dirty="0" smtClean="0"/>
              <a:t> </a:t>
            </a:r>
            <a:r>
              <a:rPr lang="en-US" dirty="0" smtClean="0"/>
              <a:t>+</a:t>
            </a:r>
            <a:r>
              <a:rPr lang="en-US" i="1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)</a:t>
            </a:r>
          </a:p>
          <a:p>
            <a:r>
              <a:rPr lang="en-US" dirty="0" smtClean="0"/>
              <a:t>Example:</a:t>
            </a:r>
          </a:p>
          <a:p>
            <a:pPr lvl="1"/>
            <a:r>
              <a:rPr lang="en-US" dirty="0" smtClean="0"/>
              <a:t>to retrieve x[2][5] in array declared using pointer, the code will be</a:t>
            </a:r>
          </a:p>
          <a:p>
            <a:pPr algn="ctr">
              <a:buNone/>
            </a:pPr>
            <a:r>
              <a:rPr lang="en-US" dirty="0" smtClean="0"/>
              <a:t>*(*(x+2)+5)</a:t>
            </a:r>
          </a:p>
          <a:p>
            <a:endParaRPr lang="en-US" dirty="0" smtClean="0"/>
          </a:p>
          <a:p>
            <a:pPr algn="ctr">
              <a:buNone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9E04A-45C7-4348-BCC9-0D799328330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 and String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Since array name is the pointer to the first element,</a:t>
            </a:r>
          </a:p>
          <a:p>
            <a:r>
              <a:rPr lang="en-US" dirty="0" smtClean="0"/>
              <a:t>When dealing with strings, the retrieval of the strings can be done by calling the content pointer to the array</a:t>
            </a:r>
          </a:p>
          <a:p>
            <a:pPr algn="ctr">
              <a:buNone/>
            </a:pPr>
            <a:r>
              <a:rPr lang="en-US" dirty="0" smtClean="0"/>
              <a:t>* </a:t>
            </a:r>
            <a:r>
              <a:rPr lang="en-US" i="1" dirty="0" err="1" smtClean="0"/>
              <a:t>arrayname</a:t>
            </a:r>
            <a:endParaRPr lang="en-US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9E04A-45C7-4348-BCC9-0D799328330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28600"/>
            <a:ext cx="4038600" cy="4525963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>
              <a:buNone/>
            </a:pPr>
            <a:r>
              <a:rPr lang="en-US" dirty="0"/>
              <a:t>#include &lt;</a:t>
            </a:r>
            <a:r>
              <a:rPr lang="en-US" dirty="0" err="1"/>
              <a:t>stdlib.h</a:t>
            </a:r>
            <a:r>
              <a:rPr lang="en-US" dirty="0"/>
              <a:t>&gt;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char x[] = "Externally";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pPr>
              <a:buNone/>
            </a:pPr>
            <a:r>
              <a:rPr lang="en-US" dirty="0"/>
              <a:t>{</a:t>
            </a:r>
          </a:p>
          <a:p>
            <a:pPr>
              <a:buNone/>
            </a:pPr>
            <a:r>
              <a:rPr lang="en-US" dirty="0"/>
              <a:t>	static char y</a:t>
            </a:r>
            <a:r>
              <a:rPr lang="en-US" dirty="0" smtClean="0"/>
              <a:t>[ ] </a:t>
            </a:r>
            <a:r>
              <a:rPr lang="en-US" dirty="0"/>
              <a:t>= "Internally";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	</a:t>
            </a:r>
            <a:r>
              <a:rPr lang="en-US" dirty="0" err="1"/>
              <a:t>printf</a:t>
            </a:r>
            <a:r>
              <a:rPr lang="en-US" dirty="0"/>
              <a:t>("\</a:t>
            </a:r>
            <a:r>
              <a:rPr lang="en-US" dirty="0" err="1"/>
              <a:t>n%s</a:t>
            </a:r>
            <a:r>
              <a:rPr lang="en-US" dirty="0"/>
              <a:t>", x);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err="1"/>
              <a:t>printf</a:t>
            </a:r>
            <a:r>
              <a:rPr lang="en-US" dirty="0"/>
              <a:t>("\</a:t>
            </a:r>
            <a:r>
              <a:rPr lang="en-US" dirty="0" err="1"/>
              <a:t>n%s</a:t>
            </a:r>
            <a:r>
              <a:rPr lang="en-US" dirty="0"/>
              <a:t>\n", y);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	system("PAUSE");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	return 0;</a:t>
            </a:r>
          </a:p>
          <a:p>
            <a:pPr>
              <a:buNone/>
            </a:pPr>
            <a:r>
              <a:rPr lang="en-US" dirty="0"/>
              <a:t>}</a:t>
            </a:r>
          </a:p>
          <a:p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5486400"/>
            <a:ext cx="4114800" cy="9176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8200" y="5486400"/>
            <a:ext cx="44577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ontent Placeholder 3"/>
          <p:cNvSpPr txBox="1">
            <a:spLocks/>
          </p:cNvSpPr>
          <p:nvPr/>
        </p:nvSpPr>
        <p:spPr>
          <a:xfrm>
            <a:off x="4648200" y="228600"/>
            <a:ext cx="4038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#include &lt;</a:t>
            </a:r>
            <a:r>
              <a:rPr kumimoji="0" lang="en-US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stdio.h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&gt;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#include &lt;</a:t>
            </a:r>
            <a:r>
              <a:rPr kumimoji="0" lang="en-US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stdlib.h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&gt;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char *x = "Externally";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main()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static char *y = "Internally";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("\</a:t>
            </a:r>
            <a:r>
              <a:rPr kumimoji="0" lang="en-US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n%s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", x);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("\</a:t>
            </a:r>
            <a:r>
              <a:rPr kumimoji="0" lang="en-US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n%s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\n", y);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system("PAUSE");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return 0;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9E04A-45C7-4348-BCC9-0D799328330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Dynamic Memory Allocation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Previously, the number of elements already been defined when declaring the array</a:t>
            </a:r>
          </a:p>
          <a:p>
            <a:r>
              <a:rPr lang="en-US" dirty="0" smtClean="0"/>
              <a:t>But since a array name is actually a pointer to the first element, it is possible to define array as a pointer variable rather than as a conventional array.</a:t>
            </a:r>
          </a:p>
          <a:p>
            <a:r>
              <a:rPr lang="en-US" dirty="0" smtClean="0"/>
              <a:t>In other meaning, you may no need to fixed the number of elements within an array.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9E04A-45C7-4348-BCC9-0D799328330B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is called Dynamic Memory Allocation</a:t>
            </a:r>
          </a:p>
          <a:p>
            <a:r>
              <a:rPr lang="en-US" dirty="0" smtClean="0"/>
              <a:t>Generally it is done using a C function called </a:t>
            </a:r>
            <a:r>
              <a:rPr lang="en-US" dirty="0" err="1" smtClean="0"/>
              <a:t>malloc</a:t>
            </a:r>
            <a:r>
              <a:rPr lang="en-US" dirty="0" smtClean="0"/>
              <a:t> (under </a:t>
            </a:r>
            <a:r>
              <a:rPr lang="en-US" dirty="0" err="1" smtClean="0"/>
              <a:t>stdlib.h</a:t>
            </a:r>
            <a:r>
              <a:rPr lang="en-US" dirty="0" smtClean="0"/>
              <a:t>)</a:t>
            </a:r>
          </a:p>
          <a:p>
            <a:pPr>
              <a:buNone/>
            </a:pPr>
            <a:endParaRPr lang="en-US" dirty="0" smtClean="0"/>
          </a:p>
        </p:txBody>
      </p:sp>
      <p:sp>
        <p:nvSpPr>
          <p:cNvPr id="7" name="Rectangle 6"/>
          <p:cNvSpPr/>
          <p:nvPr/>
        </p:nvSpPr>
        <p:spPr>
          <a:xfrm>
            <a:off x="381000" y="3429000"/>
            <a:ext cx="845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i="1" dirty="0" err="1" smtClean="0"/>
              <a:t>arrayname</a:t>
            </a:r>
            <a:r>
              <a:rPr lang="en-US" sz="2400" dirty="0" smtClean="0"/>
              <a:t> = (</a:t>
            </a:r>
            <a:r>
              <a:rPr lang="en-US" sz="2400" i="1" dirty="0" err="1" smtClean="0"/>
              <a:t>datatype</a:t>
            </a:r>
            <a:r>
              <a:rPr lang="en-US" sz="2400" dirty="0" smtClean="0"/>
              <a:t> *) </a:t>
            </a:r>
            <a:r>
              <a:rPr lang="en-US" sz="2400" dirty="0" err="1" smtClean="0"/>
              <a:t>malloc</a:t>
            </a:r>
            <a:r>
              <a:rPr lang="en-US" sz="2400" dirty="0" smtClean="0"/>
              <a:t> (quantity * </a:t>
            </a:r>
            <a:r>
              <a:rPr lang="en-US" sz="2400" dirty="0" err="1" smtClean="0"/>
              <a:t>sizeof</a:t>
            </a:r>
            <a:r>
              <a:rPr lang="en-US" sz="2400" dirty="0" smtClean="0"/>
              <a:t>(</a:t>
            </a:r>
            <a:r>
              <a:rPr lang="en-US" sz="2400" i="1" dirty="0" err="1" smtClean="0"/>
              <a:t>datatype</a:t>
            </a:r>
            <a:r>
              <a:rPr lang="en-US" sz="2400" dirty="0" smtClean="0"/>
              <a:t>));</a:t>
            </a:r>
          </a:p>
          <a:p>
            <a:pPr algn="ctr"/>
            <a:endParaRPr lang="en-US" sz="24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9E04A-45C7-4348-BCC9-0D799328330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200" y="152400"/>
            <a:ext cx="7498080" cy="1143000"/>
          </a:xfrm>
        </p:spPr>
        <p:txBody>
          <a:bodyPr/>
          <a:lstStyle/>
          <a:p>
            <a:r>
              <a:rPr lang="en-US" dirty="0" smtClean="0"/>
              <a:t>Reordering the content of Array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990600" y="1371600"/>
            <a:ext cx="7498080" cy="48006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The content of the array is entered by user.</a:t>
            </a:r>
          </a:p>
          <a:p>
            <a:r>
              <a:rPr lang="en-US" dirty="0" smtClean="0"/>
              <a:t>Sometime an ordered list / content are required for further operation or output.</a:t>
            </a:r>
          </a:p>
          <a:p>
            <a:r>
              <a:rPr lang="en-US" dirty="0" smtClean="0"/>
              <a:t>The reordering can be done by comparing two elements in the array and swap their position if needed.</a:t>
            </a:r>
          </a:p>
          <a:p>
            <a:r>
              <a:rPr lang="en-US" dirty="0" smtClean="0"/>
              <a:t>The process need to carry out to compare and swap all the element to be in ordered.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9E04A-45C7-4348-BCC9-0D799328330B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76200"/>
            <a:ext cx="4038600" cy="6096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400" dirty="0"/>
              <a:t>#include &lt;</a:t>
            </a:r>
            <a:r>
              <a:rPr lang="en-US" sz="1400" dirty="0" err="1"/>
              <a:t>stdio.h</a:t>
            </a:r>
            <a:r>
              <a:rPr lang="en-US" sz="1400" dirty="0"/>
              <a:t>&gt;</a:t>
            </a:r>
          </a:p>
          <a:p>
            <a:pPr>
              <a:buNone/>
            </a:pPr>
            <a:r>
              <a:rPr lang="en-US" sz="1400" dirty="0"/>
              <a:t>#include &lt;</a:t>
            </a:r>
            <a:r>
              <a:rPr lang="en-US" sz="1400" dirty="0" err="1"/>
              <a:t>stdlib.h</a:t>
            </a:r>
            <a:r>
              <a:rPr lang="en-US" sz="1400" dirty="0"/>
              <a:t>&gt;</a:t>
            </a:r>
          </a:p>
          <a:p>
            <a:pPr>
              <a:buNone/>
            </a:pPr>
            <a:r>
              <a:rPr lang="en-US" sz="1400" dirty="0" smtClean="0"/>
              <a:t>void </a:t>
            </a:r>
            <a:r>
              <a:rPr lang="en-US" sz="1400" dirty="0"/>
              <a:t>reorder(</a:t>
            </a:r>
            <a:r>
              <a:rPr lang="en-US" sz="1400" dirty="0" err="1"/>
              <a:t>int</a:t>
            </a:r>
            <a:r>
              <a:rPr lang="en-US" sz="1400" dirty="0"/>
              <a:t> n, </a:t>
            </a:r>
            <a:r>
              <a:rPr lang="en-US" sz="1400" dirty="0" err="1"/>
              <a:t>int</a:t>
            </a:r>
            <a:r>
              <a:rPr lang="en-US" sz="1400" dirty="0"/>
              <a:t> *x);</a:t>
            </a:r>
          </a:p>
          <a:p>
            <a:pPr>
              <a:buNone/>
            </a:pPr>
            <a:r>
              <a:rPr lang="en-US" sz="1400" dirty="0" err="1" smtClean="0"/>
              <a:t>int</a:t>
            </a:r>
            <a:r>
              <a:rPr lang="en-US" sz="1400" dirty="0" smtClean="0"/>
              <a:t> </a:t>
            </a:r>
            <a:r>
              <a:rPr lang="en-US" sz="1400" dirty="0"/>
              <a:t>main()</a:t>
            </a:r>
          </a:p>
          <a:p>
            <a:pPr>
              <a:buNone/>
            </a:pPr>
            <a:r>
              <a:rPr lang="en-US" sz="1400" dirty="0"/>
              <a:t>{</a:t>
            </a:r>
          </a:p>
          <a:p>
            <a:pPr>
              <a:buNone/>
            </a:pPr>
            <a:r>
              <a:rPr lang="en-US" sz="1400" dirty="0"/>
              <a:t>	</a:t>
            </a:r>
            <a:r>
              <a:rPr lang="en-US" sz="1400" dirty="0" err="1"/>
              <a:t>int</a:t>
            </a:r>
            <a:r>
              <a:rPr lang="en-US" sz="1400" dirty="0"/>
              <a:t> </a:t>
            </a:r>
            <a:r>
              <a:rPr lang="en-US" sz="1400" dirty="0" err="1"/>
              <a:t>i</a:t>
            </a:r>
            <a:r>
              <a:rPr lang="en-US" sz="1400" dirty="0"/>
              <a:t>, n, *x;</a:t>
            </a:r>
          </a:p>
          <a:p>
            <a:pPr>
              <a:buNone/>
            </a:pPr>
            <a:r>
              <a:rPr lang="en-US" sz="1400" dirty="0"/>
              <a:t>	</a:t>
            </a:r>
            <a:r>
              <a:rPr lang="en-US" sz="1400" dirty="0" err="1" smtClean="0"/>
              <a:t>printf</a:t>
            </a:r>
            <a:r>
              <a:rPr lang="en-US" sz="1400" dirty="0"/>
              <a:t>("\</a:t>
            </a:r>
            <a:r>
              <a:rPr lang="en-US" sz="1400" dirty="0" err="1"/>
              <a:t>nHow</a:t>
            </a:r>
            <a:r>
              <a:rPr lang="en-US" sz="1400" dirty="0"/>
              <a:t> many numbers will be entered?");</a:t>
            </a:r>
          </a:p>
          <a:p>
            <a:pPr>
              <a:buNone/>
            </a:pPr>
            <a:r>
              <a:rPr lang="en-US" sz="1400" dirty="0"/>
              <a:t>	</a:t>
            </a:r>
            <a:r>
              <a:rPr lang="en-US" sz="1400" dirty="0" err="1"/>
              <a:t>scanf</a:t>
            </a:r>
            <a:r>
              <a:rPr lang="en-US" sz="1400" dirty="0"/>
              <a:t>("%d", &amp;n);</a:t>
            </a:r>
          </a:p>
          <a:p>
            <a:pPr>
              <a:buNone/>
            </a:pPr>
            <a:r>
              <a:rPr lang="en-US" sz="1400" dirty="0"/>
              <a:t>	</a:t>
            </a:r>
            <a:r>
              <a:rPr lang="en-US" sz="1400" dirty="0" err="1"/>
              <a:t>printf</a:t>
            </a:r>
            <a:r>
              <a:rPr lang="en-US" sz="1400" dirty="0"/>
              <a:t>("\n");</a:t>
            </a:r>
          </a:p>
          <a:p>
            <a:pPr>
              <a:buNone/>
            </a:pPr>
            <a:r>
              <a:rPr lang="en-US" sz="1400" dirty="0"/>
              <a:t>	</a:t>
            </a:r>
            <a:r>
              <a:rPr lang="en-US" sz="1400" dirty="0" smtClean="0"/>
              <a:t>x </a:t>
            </a:r>
            <a:r>
              <a:rPr lang="en-US" sz="1400" dirty="0"/>
              <a:t>= (</a:t>
            </a:r>
            <a:r>
              <a:rPr lang="en-US" sz="1400" dirty="0" err="1"/>
              <a:t>int</a:t>
            </a:r>
            <a:r>
              <a:rPr lang="en-US" sz="1400" dirty="0"/>
              <a:t>*)</a:t>
            </a:r>
            <a:r>
              <a:rPr lang="en-US" sz="1400" dirty="0" err="1"/>
              <a:t>malloc</a:t>
            </a:r>
            <a:r>
              <a:rPr lang="en-US" sz="1400" dirty="0"/>
              <a:t>(n * </a:t>
            </a:r>
            <a:r>
              <a:rPr lang="en-US" sz="1400" dirty="0" err="1"/>
              <a:t>sizeof</a:t>
            </a:r>
            <a:r>
              <a:rPr lang="en-US" sz="1400" dirty="0"/>
              <a:t>(</a:t>
            </a:r>
            <a:r>
              <a:rPr lang="en-US" sz="1400" dirty="0" err="1"/>
              <a:t>int</a:t>
            </a:r>
            <a:r>
              <a:rPr lang="en-US" sz="1400" dirty="0"/>
              <a:t>));</a:t>
            </a:r>
          </a:p>
          <a:p>
            <a:pPr>
              <a:buNone/>
            </a:pPr>
            <a:r>
              <a:rPr lang="nn-NO" sz="1400" dirty="0" smtClean="0"/>
              <a:t>	for(i = 0; i &lt; n; ++i)</a:t>
            </a:r>
          </a:p>
          <a:p>
            <a:pPr>
              <a:buNone/>
            </a:pPr>
            <a:r>
              <a:rPr lang="en-US" sz="1400" dirty="0" smtClean="0"/>
              <a:t>	{</a:t>
            </a:r>
            <a:r>
              <a:rPr lang="nn-NO" sz="1400" dirty="0" smtClean="0"/>
              <a:t>	printf("i = %d\t x = ", i+1);</a:t>
            </a:r>
          </a:p>
          <a:p>
            <a:pPr>
              <a:buNone/>
            </a:pPr>
            <a:r>
              <a:rPr lang="en-US" sz="1400" dirty="0" smtClean="0"/>
              <a:t>		</a:t>
            </a:r>
            <a:r>
              <a:rPr lang="en-US" sz="1400" dirty="0" err="1" smtClean="0"/>
              <a:t>scanf</a:t>
            </a:r>
            <a:r>
              <a:rPr lang="en-US" sz="1400" dirty="0" smtClean="0"/>
              <a:t>("%d", </a:t>
            </a:r>
            <a:r>
              <a:rPr lang="en-US" sz="1400" dirty="0" err="1" smtClean="0"/>
              <a:t>x+i</a:t>
            </a:r>
            <a:r>
              <a:rPr lang="en-US" sz="1400" dirty="0" smtClean="0"/>
              <a:t>);</a:t>
            </a:r>
          </a:p>
          <a:p>
            <a:pPr>
              <a:buNone/>
            </a:pPr>
            <a:r>
              <a:rPr lang="en-US" sz="1400" dirty="0" smtClean="0"/>
              <a:t>	}</a:t>
            </a:r>
          </a:p>
          <a:p>
            <a:pPr>
              <a:buNone/>
            </a:pPr>
            <a:r>
              <a:rPr lang="en-US" sz="1400" dirty="0" smtClean="0"/>
              <a:t>	reorder(n, x);</a:t>
            </a:r>
          </a:p>
          <a:p>
            <a:pPr>
              <a:buNone/>
            </a:pPr>
            <a:r>
              <a:rPr lang="en-US" sz="1400" dirty="0" smtClean="0"/>
              <a:t>	</a:t>
            </a:r>
            <a:r>
              <a:rPr lang="en-US" sz="1400" dirty="0" err="1" smtClean="0"/>
              <a:t>printf</a:t>
            </a:r>
            <a:r>
              <a:rPr lang="en-US" sz="1400" dirty="0" smtClean="0"/>
              <a:t>("\n\</a:t>
            </a:r>
            <a:r>
              <a:rPr lang="en-US" sz="1400" dirty="0" err="1" smtClean="0"/>
              <a:t>nReordered</a:t>
            </a:r>
            <a:r>
              <a:rPr lang="en-US" sz="1400" dirty="0" smtClean="0"/>
              <a:t> list of Numbers:\n\n");</a:t>
            </a:r>
          </a:p>
          <a:p>
            <a:pPr>
              <a:buNone/>
            </a:pPr>
            <a:r>
              <a:rPr lang="nn-NO" sz="1400" dirty="0" smtClean="0"/>
              <a:t>	for (i = 0; i &lt; n; ++i)</a:t>
            </a:r>
          </a:p>
          <a:p>
            <a:pPr>
              <a:buNone/>
            </a:pPr>
            <a:r>
              <a:rPr lang="en-US" sz="1400" dirty="0" smtClean="0"/>
              <a:t>	{</a:t>
            </a:r>
          </a:p>
          <a:p>
            <a:pPr>
              <a:buNone/>
            </a:pPr>
            <a:r>
              <a:rPr lang="nn-NO" sz="1400" dirty="0" smtClean="0"/>
              <a:t>		printf("i = %d\t x = %d\n", i+1, *(x+i));</a:t>
            </a:r>
          </a:p>
          <a:p>
            <a:pPr>
              <a:buNone/>
            </a:pPr>
            <a:r>
              <a:rPr lang="en-US" sz="1400" dirty="0" smtClean="0"/>
              <a:t>	}</a:t>
            </a:r>
          </a:p>
          <a:p>
            <a:pPr>
              <a:buNone/>
            </a:pPr>
            <a:r>
              <a:rPr lang="en-US" sz="1400" dirty="0" smtClean="0"/>
              <a:t>	system("PAUSE");</a:t>
            </a:r>
          </a:p>
          <a:p>
            <a:pPr>
              <a:buNone/>
            </a:pPr>
            <a:r>
              <a:rPr lang="en-US" sz="1400" dirty="0" smtClean="0"/>
              <a:t>	return 0;</a:t>
            </a:r>
          </a:p>
          <a:p>
            <a:pPr>
              <a:buNone/>
            </a:pPr>
            <a:r>
              <a:rPr lang="en-US" sz="1400" dirty="0" smtClean="0"/>
              <a:t>}</a:t>
            </a:r>
          </a:p>
          <a:p>
            <a:pPr>
              <a:buNone/>
            </a:pPr>
            <a:endParaRPr lang="en-US" sz="1400" dirty="0" smtClean="0"/>
          </a:p>
          <a:p>
            <a:pPr>
              <a:buNone/>
            </a:pPr>
            <a:endParaRPr lang="en-US" sz="14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76200"/>
            <a:ext cx="4495800" cy="64008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400" dirty="0" smtClean="0"/>
              <a:t>/*Display the ordered list of numbers*/</a:t>
            </a:r>
          </a:p>
          <a:p>
            <a:pPr>
              <a:buNone/>
            </a:pPr>
            <a:r>
              <a:rPr lang="en-US" sz="1400" dirty="0" smtClean="0"/>
              <a:t>/*</a:t>
            </a:r>
            <a:r>
              <a:rPr lang="en-US" sz="1400" dirty="0"/>
              <a:t>rearrange the list of numbers*/</a:t>
            </a:r>
          </a:p>
          <a:p>
            <a:pPr>
              <a:buNone/>
            </a:pPr>
            <a:r>
              <a:rPr lang="en-US" sz="1400" dirty="0"/>
              <a:t>void reorder(</a:t>
            </a:r>
            <a:r>
              <a:rPr lang="en-US" sz="1400" dirty="0" err="1"/>
              <a:t>int</a:t>
            </a:r>
            <a:r>
              <a:rPr lang="en-US" sz="1400" dirty="0"/>
              <a:t> n, </a:t>
            </a:r>
            <a:r>
              <a:rPr lang="en-US" sz="1400" dirty="0" err="1"/>
              <a:t>int</a:t>
            </a:r>
            <a:r>
              <a:rPr lang="en-US" sz="1400" dirty="0"/>
              <a:t> *x)</a:t>
            </a:r>
          </a:p>
          <a:p>
            <a:pPr>
              <a:buNone/>
            </a:pPr>
            <a:r>
              <a:rPr lang="en-US" sz="1400" dirty="0"/>
              <a:t>{</a:t>
            </a:r>
          </a:p>
          <a:p>
            <a:pPr>
              <a:buNone/>
            </a:pPr>
            <a:r>
              <a:rPr lang="en-US" sz="1400" dirty="0"/>
              <a:t>	</a:t>
            </a:r>
            <a:r>
              <a:rPr lang="en-US" sz="1400" dirty="0" err="1"/>
              <a:t>int</a:t>
            </a:r>
            <a:r>
              <a:rPr lang="en-US" sz="1400" dirty="0"/>
              <a:t> </a:t>
            </a:r>
            <a:r>
              <a:rPr lang="en-US" sz="1400" dirty="0" err="1"/>
              <a:t>i</a:t>
            </a:r>
            <a:r>
              <a:rPr lang="en-US" sz="1400" dirty="0"/>
              <a:t>, item, temp;</a:t>
            </a:r>
          </a:p>
          <a:p>
            <a:pPr>
              <a:buNone/>
            </a:pPr>
            <a:r>
              <a:rPr lang="en-US" sz="1400" dirty="0"/>
              <a:t>	/*find the smallest of al remaining elements*/</a:t>
            </a:r>
          </a:p>
          <a:p>
            <a:pPr>
              <a:buNone/>
            </a:pPr>
            <a:r>
              <a:rPr lang="pt-BR" sz="1400" dirty="0"/>
              <a:t>	for(item = 0; item &lt; n - 1; ++item)</a:t>
            </a:r>
          </a:p>
          <a:p>
            <a:pPr>
              <a:buNone/>
            </a:pPr>
            <a:r>
              <a:rPr lang="en-US" sz="1400" dirty="0"/>
              <a:t>	</a:t>
            </a:r>
            <a:r>
              <a:rPr lang="en-US" sz="1400" dirty="0" smtClean="0"/>
              <a:t>{</a:t>
            </a:r>
          </a:p>
          <a:p>
            <a:pPr>
              <a:buNone/>
            </a:pPr>
            <a:r>
              <a:rPr lang="nn-NO" sz="1400" dirty="0"/>
              <a:t>		for (i=item+1; i &lt; n; ++i)</a:t>
            </a:r>
          </a:p>
          <a:p>
            <a:pPr>
              <a:buNone/>
            </a:pPr>
            <a:r>
              <a:rPr lang="en-US" sz="1400" dirty="0"/>
              <a:t>		{</a:t>
            </a:r>
          </a:p>
          <a:p>
            <a:pPr>
              <a:buNone/>
            </a:pPr>
            <a:r>
              <a:rPr lang="en-US" sz="1400" dirty="0"/>
              <a:t>			if (*(</a:t>
            </a:r>
            <a:r>
              <a:rPr lang="en-US" sz="1400" dirty="0" err="1"/>
              <a:t>x+i</a:t>
            </a:r>
            <a:r>
              <a:rPr lang="en-US" sz="1400" dirty="0"/>
              <a:t>) &lt; *(</a:t>
            </a:r>
            <a:r>
              <a:rPr lang="en-US" sz="1400" dirty="0" err="1"/>
              <a:t>x+item</a:t>
            </a:r>
            <a:r>
              <a:rPr lang="en-US" sz="1400" dirty="0"/>
              <a:t>))</a:t>
            </a:r>
          </a:p>
          <a:p>
            <a:pPr>
              <a:buNone/>
            </a:pPr>
            <a:r>
              <a:rPr lang="en-US" sz="1400" dirty="0"/>
              <a:t>			{</a:t>
            </a:r>
          </a:p>
          <a:p>
            <a:pPr>
              <a:buNone/>
            </a:pPr>
            <a:r>
              <a:rPr lang="en-US" sz="1400" dirty="0"/>
              <a:t>		</a:t>
            </a:r>
            <a:r>
              <a:rPr lang="en-US" sz="1400" dirty="0" smtClean="0"/>
              <a:t>/*</a:t>
            </a:r>
            <a:r>
              <a:rPr lang="en-US" sz="1400" dirty="0"/>
              <a:t>interchange two elements*/</a:t>
            </a:r>
          </a:p>
          <a:p>
            <a:pPr>
              <a:buNone/>
            </a:pPr>
            <a:r>
              <a:rPr lang="en-US" sz="1400" dirty="0"/>
              <a:t>			</a:t>
            </a:r>
            <a:r>
              <a:rPr lang="en-US" sz="1400" dirty="0" smtClean="0"/>
              <a:t>temp </a:t>
            </a:r>
            <a:r>
              <a:rPr lang="en-US" sz="1400" dirty="0"/>
              <a:t>= *(</a:t>
            </a:r>
            <a:r>
              <a:rPr lang="en-US" sz="1400" dirty="0" err="1"/>
              <a:t>x+item</a:t>
            </a:r>
            <a:r>
              <a:rPr lang="en-US" sz="1400" dirty="0"/>
              <a:t>);</a:t>
            </a:r>
          </a:p>
          <a:p>
            <a:pPr>
              <a:buNone/>
            </a:pPr>
            <a:r>
              <a:rPr lang="en-US" sz="1400" dirty="0"/>
              <a:t>			</a:t>
            </a:r>
            <a:r>
              <a:rPr lang="en-US" sz="1400" dirty="0" smtClean="0"/>
              <a:t>*(</a:t>
            </a:r>
            <a:r>
              <a:rPr lang="en-US" sz="1400" dirty="0" err="1"/>
              <a:t>x+item</a:t>
            </a:r>
            <a:r>
              <a:rPr lang="en-US" sz="1400" dirty="0"/>
              <a:t>) = *(</a:t>
            </a:r>
            <a:r>
              <a:rPr lang="en-US" sz="1400" dirty="0" err="1"/>
              <a:t>x+i</a:t>
            </a:r>
            <a:r>
              <a:rPr lang="en-US" sz="1400" dirty="0"/>
              <a:t>);</a:t>
            </a:r>
          </a:p>
          <a:p>
            <a:pPr>
              <a:buNone/>
            </a:pPr>
            <a:r>
              <a:rPr lang="en-US" sz="1400" dirty="0"/>
              <a:t>				*(</a:t>
            </a:r>
            <a:r>
              <a:rPr lang="en-US" sz="1400" dirty="0" err="1"/>
              <a:t>x+i</a:t>
            </a:r>
            <a:r>
              <a:rPr lang="en-US" sz="1400" dirty="0"/>
              <a:t>) = temp;</a:t>
            </a:r>
          </a:p>
          <a:p>
            <a:pPr>
              <a:buNone/>
            </a:pPr>
            <a:r>
              <a:rPr lang="en-US" sz="1400" dirty="0"/>
              <a:t>			}</a:t>
            </a:r>
          </a:p>
          <a:p>
            <a:pPr>
              <a:buNone/>
            </a:pPr>
            <a:r>
              <a:rPr lang="en-US" sz="1400" dirty="0"/>
              <a:t>		}</a:t>
            </a:r>
          </a:p>
          <a:p>
            <a:pPr>
              <a:buNone/>
            </a:pPr>
            <a:r>
              <a:rPr lang="en-US" sz="1400" dirty="0"/>
              <a:t>	}</a:t>
            </a:r>
          </a:p>
          <a:p>
            <a:pPr>
              <a:buNone/>
            </a:pPr>
            <a:r>
              <a:rPr lang="en-US" sz="1400" dirty="0"/>
              <a:t>}</a:t>
            </a:r>
          </a:p>
          <a:p>
            <a:pPr>
              <a:buNone/>
            </a:pPr>
            <a:endParaRPr lang="en-US" sz="1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9E04A-45C7-4348-BCC9-0D799328330B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2200" y="609600"/>
            <a:ext cx="46482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9E04A-45C7-4348-BCC9-0D799328330B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Advance Reordering Algorithm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Beside the reordering technique shown, there are others more complicated technique to reordering the elements in a list / array.</a:t>
            </a:r>
          </a:p>
          <a:p>
            <a:r>
              <a:rPr lang="en-US" dirty="0" smtClean="0"/>
              <a:t>These techniques are called sorting algorithm</a:t>
            </a:r>
          </a:p>
          <a:p>
            <a:r>
              <a:rPr lang="en-US" dirty="0" smtClean="0"/>
              <a:t>Will be learn in Data Structure and Algorithm (Senior called it C++ class).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9E04A-45C7-4348-BCC9-0D799328330B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447800" y="1295400"/>
            <a:ext cx="7406640" cy="1472184"/>
          </a:xfrm>
        </p:spPr>
        <p:txBody>
          <a:bodyPr/>
          <a:lstStyle/>
          <a:p>
            <a:pPr algn="ctr"/>
            <a:r>
              <a:rPr lang="en-US" dirty="0" smtClean="0"/>
              <a:t>END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9E04A-45C7-4348-BCC9-0D799328330B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756</TotalTime>
  <Words>1278</Words>
  <Application>Microsoft Macintosh PowerPoint</Application>
  <PresentationFormat>On-screen Show (4:3)</PresentationFormat>
  <Paragraphs>361</Paragraphs>
  <Slides>30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Solstice</vt:lpstr>
      <vt:lpstr>PowerPoint Presentation</vt:lpstr>
      <vt:lpstr>Overview</vt:lpstr>
      <vt:lpstr>What is pointer?</vt:lpstr>
      <vt:lpstr>Concept of Address and Pointers</vt:lpstr>
      <vt:lpstr>PowerPoint Presentation</vt:lpstr>
      <vt:lpstr>Pointers are used in following variables</vt:lpstr>
      <vt:lpstr>Advantages of Pointers</vt:lpstr>
      <vt:lpstr>Declaring a Pointer Variable</vt:lpstr>
      <vt:lpstr>Declaring a Pointer Variable</vt:lpstr>
      <vt:lpstr>Use of &amp; and *</vt:lpstr>
      <vt:lpstr>PowerPoint Presentation</vt:lpstr>
      <vt:lpstr>Pointers in Functions</vt:lpstr>
      <vt:lpstr>PowerPoint Presentation</vt:lpstr>
      <vt:lpstr>Arithmetic and Logical Operations on Pointers</vt:lpstr>
      <vt:lpstr>PowerPoint Presentation</vt:lpstr>
      <vt:lpstr>PowerPoint Presentation</vt:lpstr>
      <vt:lpstr>Pointers and One-Dimensional Array</vt:lpstr>
      <vt:lpstr>PowerPoint Presentation</vt:lpstr>
      <vt:lpstr>Pointer and Multidimensional Arrays</vt:lpstr>
      <vt:lpstr>PowerPoint Presentation</vt:lpstr>
      <vt:lpstr>PowerPoint Presentation</vt:lpstr>
      <vt:lpstr>Array and String</vt:lpstr>
      <vt:lpstr>PowerPoint Presentation</vt:lpstr>
      <vt:lpstr>Dynamic Memory Allocation</vt:lpstr>
      <vt:lpstr>PowerPoint Presentation</vt:lpstr>
      <vt:lpstr>Reordering the content of Array</vt:lpstr>
      <vt:lpstr>PowerPoint Presentation</vt:lpstr>
      <vt:lpstr>PowerPoint Presentation</vt:lpstr>
      <vt:lpstr>Advance Reordering Algorithm</vt:lpstr>
      <vt:lpstr>END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TMC1413  Introduction To Programming</dc:title>
  <dc:creator>Lee Jun Choi</dc:creator>
  <cp:lastModifiedBy>MAMUN MAMUN</cp:lastModifiedBy>
  <cp:revision>44</cp:revision>
  <dcterms:created xsi:type="dcterms:W3CDTF">2009-09-14T03:02:29Z</dcterms:created>
  <dcterms:modified xsi:type="dcterms:W3CDTF">2014-06-02T15:52:20Z</dcterms:modified>
</cp:coreProperties>
</file>