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embeddedFontLs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q+LzkIgJ0TBUI0vLPGUH4xMbe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CenturyGothic-regular.fntdata"/><Relationship Id="rId21" Type="http://schemas.openxmlformats.org/officeDocument/2006/relationships/slide" Target="slides/slide17.xml"/><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CenturyGothic-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19"/>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9"/>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9"/>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2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0"/>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21"/>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1"/>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22"/>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2"/>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22"/>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3"/>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23"/>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23"/>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23"/>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2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2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2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26"/>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6"/>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26"/>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2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27"/>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7"/>
          <p:cNvSpPr/>
          <p:nvPr>
            <p:ph idx="2" type="pic"/>
          </p:nvPr>
        </p:nvSpPr>
        <p:spPr>
          <a:xfrm>
            <a:off x="2589212" y="634965"/>
            <a:ext cx="8915400" cy="3854970"/>
          </a:xfrm>
          <a:prstGeom prst="rect">
            <a:avLst/>
          </a:prstGeom>
          <a:noFill/>
          <a:ln>
            <a:noFill/>
          </a:ln>
        </p:spPr>
      </p:sp>
      <p:sp>
        <p:nvSpPr>
          <p:cNvPr id="99" name="Google Shape;99;p27"/>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2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7"/>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7"/>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28"/>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8"/>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2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8"/>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8"/>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1" name="Shape 111"/>
        <p:cNvGrpSpPr/>
        <p:nvPr/>
      </p:nvGrpSpPr>
      <p:grpSpPr>
        <a:xfrm>
          <a:off x="0" y="0"/>
          <a:ext cx="0" cy="0"/>
          <a:chOff x="0" y="0"/>
          <a:chExt cx="0" cy="0"/>
        </a:xfrm>
      </p:grpSpPr>
      <p:sp>
        <p:nvSpPr>
          <p:cNvPr id="112" name="Google Shape;112;p29"/>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9"/>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29"/>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2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19" name="Google Shape;119;p29"/>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
        <p:nvSpPr>
          <p:cNvPr id="120" name="Google Shape;120;p29"/>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1" name="Shape 121"/>
        <p:cNvGrpSpPr/>
        <p:nvPr/>
      </p:nvGrpSpPr>
      <p:grpSpPr>
        <a:xfrm>
          <a:off x="0" y="0"/>
          <a:ext cx="0" cy="0"/>
          <a:chOff x="0" y="0"/>
          <a:chExt cx="0" cy="0"/>
        </a:xfrm>
      </p:grpSpPr>
      <p:sp>
        <p:nvSpPr>
          <p:cNvPr id="122" name="Google Shape;122;p30"/>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30"/>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3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3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0"/>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0"/>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8" name="Shape 128"/>
        <p:cNvGrpSpPr/>
        <p:nvPr/>
      </p:nvGrpSpPr>
      <p:grpSpPr>
        <a:xfrm>
          <a:off x="0" y="0"/>
          <a:ext cx="0" cy="0"/>
          <a:chOff x="0" y="0"/>
          <a:chExt cx="0" cy="0"/>
        </a:xfrm>
      </p:grpSpPr>
      <p:sp>
        <p:nvSpPr>
          <p:cNvPr id="129" name="Google Shape;129;p31"/>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1"/>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31"/>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3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36" name="Google Shape;136;p31"/>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
        <p:nvSpPr>
          <p:cNvPr id="137" name="Google Shape;137;p31"/>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8" name="Shape 138"/>
        <p:cNvGrpSpPr/>
        <p:nvPr/>
      </p:nvGrpSpPr>
      <p:grpSpPr>
        <a:xfrm>
          <a:off x="0" y="0"/>
          <a:ext cx="0" cy="0"/>
          <a:chOff x="0" y="0"/>
          <a:chExt cx="0" cy="0"/>
        </a:xfrm>
      </p:grpSpPr>
      <p:sp>
        <p:nvSpPr>
          <p:cNvPr id="139" name="Google Shape;139;p32"/>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2"/>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32"/>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3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3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3"/>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3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34"/>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4"/>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3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 name="Shape 5"/>
        <p:cNvGrpSpPr/>
        <p:nvPr/>
      </p:nvGrpSpPr>
      <p:grpSpPr>
        <a:xfrm>
          <a:off x="0" y="0"/>
          <a:ext cx="0" cy="0"/>
          <a:chOff x="0" y="0"/>
          <a:chExt cx="0" cy="0"/>
        </a:xfrm>
      </p:grpSpPr>
      <p:grpSp>
        <p:nvGrpSpPr>
          <p:cNvPr id="6" name="Google Shape;6;p18"/>
          <p:cNvGrpSpPr/>
          <p:nvPr/>
        </p:nvGrpSpPr>
        <p:grpSpPr>
          <a:xfrm>
            <a:off x="1" y="228600"/>
            <a:ext cx="2851516" cy="6638628"/>
            <a:chOff x="2487613" y="285750"/>
            <a:chExt cx="2428875" cy="5654676"/>
          </a:xfrm>
        </p:grpSpPr>
        <p:sp>
          <p:nvSpPr>
            <p:cNvPr id="7" name="Google Shape;7;p18"/>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8"/>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8"/>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8"/>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8"/>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8"/>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8"/>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8"/>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8"/>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8"/>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8"/>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18"/>
          <p:cNvGrpSpPr/>
          <p:nvPr/>
        </p:nvGrpSpPr>
        <p:grpSpPr>
          <a:xfrm>
            <a:off x="27221" y="-786"/>
            <a:ext cx="2356674" cy="6854039"/>
            <a:chOff x="6627813" y="194833"/>
            <a:chExt cx="1952625" cy="5678918"/>
          </a:xfrm>
        </p:grpSpPr>
        <p:sp>
          <p:nvSpPr>
            <p:cNvPr id="20" name="Google Shape;20;p18"/>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8"/>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8"/>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8"/>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8"/>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8"/>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8"/>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8"/>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8"/>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8"/>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8"/>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8"/>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18"/>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8"/>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18"/>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62626"/>
              </a:buClr>
              <a:buSzPts val="5400"/>
              <a:buFont typeface="Century Gothic"/>
              <a:buNone/>
            </a:pPr>
            <a:r>
              <a:rPr lang="en-GB"/>
              <a:t>CSE 3105</a:t>
            </a:r>
            <a:br>
              <a:rPr lang="en-GB"/>
            </a:br>
            <a:r>
              <a:rPr lang="en-GB"/>
              <a:t>Software Engineering</a:t>
            </a:r>
            <a:endParaRPr/>
          </a:p>
        </p:txBody>
      </p:sp>
      <p:sp>
        <p:nvSpPr>
          <p:cNvPr id="165" name="Google Shape;165;p1"/>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GB"/>
              <a:t>Chapter 1: Software and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What is software</a:t>
            </a:r>
            <a:r>
              <a:rPr lang="en-GB">
                <a:latin typeface="Times New Roman"/>
                <a:ea typeface="Times New Roman"/>
                <a:cs typeface="Times New Roman"/>
                <a:sym typeface="Times New Roman"/>
              </a:rPr>
              <a:t>?</a:t>
            </a:r>
            <a:endParaRPr/>
          </a:p>
        </p:txBody>
      </p:sp>
      <p:sp>
        <p:nvSpPr>
          <p:cNvPr id="171" name="Google Shape;171;p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GB" sz="1800">
                <a:latin typeface="Arial"/>
                <a:ea typeface="Arial"/>
                <a:cs typeface="Arial"/>
                <a:sym typeface="Arial"/>
              </a:rPr>
              <a:t>Software is: (1) </a:t>
            </a:r>
            <a:r>
              <a:rPr lang="en-GB" sz="1800">
                <a:solidFill>
                  <a:srgbClr val="FF0000"/>
                </a:solidFill>
                <a:latin typeface="Arial"/>
                <a:ea typeface="Arial"/>
                <a:cs typeface="Arial"/>
                <a:sym typeface="Arial"/>
              </a:rPr>
              <a:t>instructions</a:t>
            </a:r>
            <a:r>
              <a:rPr lang="en-GB" sz="1800">
                <a:latin typeface="Arial"/>
                <a:ea typeface="Arial"/>
                <a:cs typeface="Arial"/>
                <a:sym typeface="Arial"/>
              </a:rPr>
              <a:t> (computer programs) that when executed provide desired features, function, and performance; (2) </a:t>
            </a:r>
            <a:r>
              <a:rPr lang="en-GB" sz="1800">
                <a:solidFill>
                  <a:srgbClr val="FF0000"/>
                </a:solidFill>
                <a:latin typeface="Arial"/>
                <a:ea typeface="Arial"/>
                <a:cs typeface="Arial"/>
                <a:sym typeface="Arial"/>
              </a:rPr>
              <a:t>data structures </a:t>
            </a:r>
            <a:r>
              <a:rPr lang="en-GB" sz="1800">
                <a:latin typeface="Arial"/>
                <a:ea typeface="Arial"/>
                <a:cs typeface="Arial"/>
                <a:sym typeface="Arial"/>
              </a:rPr>
              <a:t>that enable the programs to ad- equately manipulate information, and (3) </a:t>
            </a:r>
            <a:r>
              <a:rPr lang="en-GB" sz="1800">
                <a:solidFill>
                  <a:srgbClr val="FF0000"/>
                </a:solidFill>
                <a:latin typeface="Arial"/>
                <a:ea typeface="Arial"/>
                <a:cs typeface="Arial"/>
                <a:sym typeface="Arial"/>
              </a:rPr>
              <a:t>descriptive information </a:t>
            </a:r>
            <a:r>
              <a:rPr lang="en-GB" sz="1800">
                <a:latin typeface="Arial"/>
                <a:ea typeface="Arial"/>
                <a:cs typeface="Arial"/>
                <a:sym typeface="Arial"/>
              </a:rPr>
              <a:t>in both hard copy and virtual forms that describes the operation and use of the programs. </a:t>
            </a:r>
            <a:endParaRPr/>
          </a:p>
          <a:p>
            <a:pPr indent="-342900" lvl="0" marL="342900" rtl="0" algn="l">
              <a:spcBef>
                <a:spcPts val="1000"/>
              </a:spcBef>
              <a:spcAft>
                <a:spcPts val="0"/>
              </a:spcAft>
              <a:buSzPts val="1800"/>
              <a:buChar char="🠶"/>
            </a:pPr>
            <a:r>
              <a:rPr lang="en-GB"/>
              <a:t>Characteristics of software:</a:t>
            </a:r>
            <a:endParaRPr/>
          </a:p>
          <a:p>
            <a:pPr indent="-285750" lvl="1" marL="742950" rtl="0" algn="l">
              <a:spcBef>
                <a:spcPts val="1000"/>
              </a:spcBef>
              <a:spcAft>
                <a:spcPts val="0"/>
              </a:spcAft>
              <a:buSzPts val="1800"/>
              <a:buChar char="🠶"/>
            </a:pPr>
            <a:r>
              <a:rPr i="1" lang="en-GB" sz="1800">
                <a:latin typeface="Arial"/>
                <a:ea typeface="Arial"/>
                <a:cs typeface="Arial"/>
                <a:sym typeface="Arial"/>
              </a:rPr>
              <a:t>Software is developed or engineered; it is not manufactured in the classical sense. </a:t>
            </a:r>
            <a:endParaRPr/>
          </a:p>
          <a:p>
            <a:pPr indent="-285750" lvl="1" marL="742950" rtl="0" algn="l">
              <a:spcBef>
                <a:spcPts val="1000"/>
              </a:spcBef>
              <a:spcAft>
                <a:spcPts val="0"/>
              </a:spcAft>
              <a:buSzPts val="1800"/>
              <a:buChar char="🠶"/>
            </a:pPr>
            <a:r>
              <a:rPr i="1" lang="en-GB" sz="1800">
                <a:latin typeface="Arial"/>
                <a:ea typeface="Arial"/>
                <a:cs typeface="Arial"/>
                <a:sym typeface="Arial"/>
              </a:rPr>
              <a:t>Software doesn’t “wear out.” </a:t>
            </a:r>
            <a:endParaRPr/>
          </a:p>
          <a:p>
            <a:pPr indent="-285750" lvl="1" marL="742950" rtl="0" algn="l">
              <a:spcBef>
                <a:spcPts val="1000"/>
              </a:spcBef>
              <a:spcAft>
                <a:spcPts val="0"/>
              </a:spcAft>
              <a:buSzPts val="1800"/>
              <a:buChar char="🠶"/>
            </a:pPr>
            <a:r>
              <a:rPr i="1" lang="en-GB" sz="1800">
                <a:latin typeface="Arial"/>
                <a:ea typeface="Arial"/>
                <a:cs typeface="Arial"/>
                <a:sym typeface="Arial"/>
              </a:rPr>
              <a:t>Although the industry is moving toward component-based construction, most software continues to be custom built. </a:t>
            </a:r>
            <a:endParaRPr/>
          </a:p>
          <a:p>
            <a:pPr indent="-184150" lvl="1" marL="742950" rtl="0" algn="l">
              <a:spcBef>
                <a:spcPts val="1000"/>
              </a:spcBef>
              <a:spcAft>
                <a:spcPts val="0"/>
              </a:spcAft>
              <a:buSzPts val="16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Software Application Domain</a:t>
            </a:r>
            <a:endParaRPr/>
          </a:p>
        </p:txBody>
      </p:sp>
      <p:sp>
        <p:nvSpPr>
          <p:cNvPr id="177" name="Google Shape;177;p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GB"/>
              <a:t>System Software</a:t>
            </a:r>
            <a:endParaRPr/>
          </a:p>
          <a:p>
            <a:pPr indent="-342900" lvl="0" marL="342900" rtl="0" algn="l">
              <a:spcBef>
                <a:spcPts val="1000"/>
              </a:spcBef>
              <a:spcAft>
                <a:spcPts val="0"/>
              </a:spcAft>
              <a:buSzPts val="1800"/>
              <a:buChar char="🠶"/>
            </a:pPr>
            <a:r>
              <a:rPr lang="en-GB"/>
              <a:t>Application Software</a:t>
            </a:r>
            <a:endParaRPr/>
          </a:p>
          <a:p>
            <a:pPr indent="-342900" lvl="0" marL="342900" rtl="0" algn="l">
              <a:spcBef>
                <a:spcPts val="1000"/>
              </a:spcBef>
              <a:spcAft>
                <a:spcPts val="0"/>
              </a:spcAft>
              <a:buSzPts val="1800"/>
              <a:buChar char="🠶"/>
            </a:pPr>
            <a:r>
              <a:rPr lang="en-GB"/>
              <a:t>Engineering/Scientific Software</a:t>
            </a:r>
            <a:endParaRPr/>
          </a:p>
          <a:p>
            <a:pPr indent="-342900" lvl="0" marL="342900" rtl="0" algn="l">
              <a:spcBef>
                <a:spcPts val="1000"/>
              </a:spcBef>
              <a:spcAft>
                <a:spcPts val="0"/>
              </a:spcAft>
              <a:buSzPts val="1800"/>
              <a:buChar char="🠶"/>
            </a:pPr>
            <a:r>
              <a:rPr lang="en-GB"/>
              <a:t>Embedded Software</a:t>
            </a:r>
            <a:endParaRPr/>
          </a:p>
          <a:p>
            <a:pPr indent="-342900" lvl="0" marL="342900" rtl="0" algn="l">
              <a:spcBef>
                <a:spcPts val="1000"/>
              </a:spcBef>
              <a:spcAft>
                <a:spcPts val="0"/>
              </a:spcAft>
              <a:buSzPts val="1800"/>
              <a:buChar char="🠶"/>
            </a:pPr>
            <a:r>
              <a:rPr lang="en-GB"/>
              <a:t>Product-line Software</a:t>
            </a:r>
            <a:endParaRPr/>
          </a:p>
          <a:p>
            <a:pPr indent="-342900" lvl="0" marL="342900" rtl="0" algn="l">
              <a:spcBef>
                <a:spcPts val="1000"/>
              </a:spcBef>
              <a:spcAft>
                <a:spcPts val="0"/>
              </a:spcAft>
              <a:buSzPts val="1800"/>
              <a:buChar char="🠶"/>
            </a:pPr>
            <a:r>
              <a:rPr lang="en-GB"/>
              <a:t>Web Applications</a:t>
            </a:r>
            <a:endParaRPr/>
          </a:p>
          <a:p>
            <a:pPr indent="-342900" lvl="0" marL="342900" rtl="0" algn="l">
              <a:spcBef>
                <a:spcPts val="1000"/>
              </a:spcBef>
              <a:spcAft>
                <a:spcPts val="0"/>
              </a:spcAft>
              <a:buSzPts val="1800"/>
              <a:buChar char="🠶"/>
            </a:pPr>
            <a:r>
              <a:rPr lang="en-GB"/>
              <a:t>Artificial Intelligence Software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Challenges/ Realities of Software</a:t>
            </a:r>
            <a:endParaRPr/>
          </a:p>
        </p:txBody>
      </p:sp>
      <p:sp>
        <p:nvSpPr>
          <p:cNvPr id="183" name="Google Shape;183;p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GB"/>
              <a:t>a concerted effort should be made to understand the problem before a software solution is developed.</a:t>
            </a:r>
            <a:endParaRPr/>
          </a:p>
          <a:p>
            <a:pPr indent="-342900" lvl="0" marL="342900" rtl="0" algn="l">
              <a:spcBef>
                <a:spcPts val="1000"/>
              </a:spcBef>
              <a:spcAft>
                <a:spcPts val="0"/>
              </a:spcAft>
              <a:buSzPts val="1800"/>
              <a:buChar char="🠶"/>
            </a:pPr>
            <a:r>
              <a:rPr lang="en-GB"/>
              <a:t>design becomes a pivotal activity.</a:t>
            </a:r>
            <a:endParaRPr/>
          </a:p>
          <a:p>
            <a:pPr indent="-342900" lvl="0" marL="342900" rtl="0" algn="l">
              <a:spcBef>
                <a:spcPts val="1000"/>
              </a:spcBef>
              <a:spcAft>
                <a:spcPts val="0"/>
              </a:spcAft>
              <a:buSzPts val="1800"/>
              <a:buChar char="🠶"/>
            </a:pPr>
            <a:r>
              <a:rPr lang="en-GB"/>
              <a:t>software should exhibit high quality.</a:t>
            </a:r>
            <a:endParaRPr/>
          </a:p>
          <a:p>
            <a:pPr indent="-342900" lvl="0" marL="342900" rtl="0" algn="l">
              <a:spcBef>
                <a:spcPts val="1000"/>
              </a:spcBef>
              <a:spcAft>
                <a:spcPts val="0"/>
              </a:spcAft>
              <a:buSzPts val="1800"/>
              <a:buChar char="🠶"/>
            </a:pPr>
            <a:r>
              <a:rPr lang="en-GB"/>
              <a:t>software should be maintainable</a:t>
            </a:r>
            <a:endParaRPr/>
          </a:p>
          <a:p>
            <a:pPr indent="-228600" lvl="0" marL="342900" rtl="0" algn="l">
              <a:spcBef>
                <a:spcPts val="1000"/>
              </a:spcBef>
              <a:spcAft>
                <a:spcPts val="0"/>
              </a:spcAft>
              <a:buSzPts val="1800"/>
              <a:buNone/>
            </a:pPr>
            <a:r>
              <a:t/>
            </a:r>
            <a:endParaRPr/>
          </a:p>
          <a:p>
            <a:pPr indent="0" lvl="0" marL="0" rtl="0" algn="l">
              <a:spcBef>
                <a:spcPts val="1000"/>
              </a:spcBef>
              <a:spcAft>
                <a:spcPts val="0"/>
              </a:spcAft>
              <a:buSzPts val="1800"/>
              <a:buNone/>
            </a:pPr>
            <a:r>
              <a:rPr lang="en-GB"/>
              <a:t>Conclusion: </a:t>
            </a:r>
            <a:r>
              <a:rPr lang="en-GB">
                <a:solidFill>
                  <a:srgbClr val="0070C0"/>
                </a:solidFill>
              </a:rPr>
              <a:t>Software in all of its forms and across all of its application domains should be engineered.</a:t>
            </a:r>
            <a:endParaRPr>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The Software Process</a:t>
            </a:r>
            <a:endParaRPr/>
          </a:p>
        </p:txBody>
      </p:sp>
      <p:sp>
        <p:nvSpPr>
          <p:cNvPr id="189" name="Google Shape;189;p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GB"/>
              <a:t>A </a:t>
            </a:r>
            <a:r>
              <a:rPr lang="en-GB">
                <a:solidFill>
                  <a:srgbClr val="0070C0"/>
                </a:solidFill>
              </a:rPr>
              <a:t>process</a:t>
            </a:r>
            <a:r>
              <a:rPr lang="en-GB"/>
              <a:t> is a </a:t>
            </a:r>
            <a:r>
              <a:rPr lang="en-GB">
                <a:solidFill>
                  <a:srgbClr val="0070C0"/>
                </a:solidFill>
              </a:rPr>
              <a:t>collection of activities, actions, and tasks </a:t>
            </a:r>
            <a:r>
              <a:rPr lang="en-GB"/>
              <a:t>that are performed when some work product is to be created. </a:t>
            </a:r>
            <a:endParaRPr/>
          </a:p>
          <a:p>
            <a:pPr indent="-342900" lvl="0" marL="342900" rtl="0" algn="l">
              <a:spcBef>
                <a:spcPts val="1000"/>
              </a:spcBef>
              <a:spcAft>
                <a:spcPts val="0"/>
              </a:spcAft>
              <a:buSzPts val="1800"/>
              <a:buChar char="🠶"/>
            </a:pPr>
            <a:r>
              <a:rPr lang="en-GB"/>
              <a:t>An </a:t>
            </a:r>
            <a:r>
              <a:rPr lang="en-GB">
                <a:solidFill>
                  <a:srgbClr val="0070C0"/>
                </a:solidFill>
              </a:rPr>
              <a:t>activity</a:t>
            </a:r>
            <a:r>
              <a:rPr lang="en-GB"/>
              <a:t> strives </a:t>
            </a:r>
            <a:r>
              <a:rPr lang="en-GB">
                <a:solidFill>
                  <a:srgbClr val="0070C0"/>
                </a:solidFill>
              </a:rPr>
              <a:t>to achieve a broad objective </a:t>
            </a:r>
            <a:r>
              <a:rPr lang="en-GB"/>
              <a:t>(e.g., communication with stakeholders) and is applied regardless of the application domain, size of the project, complexity of the effort, or degree of rigor with which software engineering is to be applied. </a:t>
            </a:r>
            <a:endParaRPr/>
          </a:p>
          <a:p>
            <a:pPr indent="-342900" lvl="0" marL="342900" rtl="0" algn="l">
              <a:spcBef>
                <a:spcPts val="1000"/>
              </a:spcBef>
              <a:spcAft>
                <a:spcPts val="0"/>
              </a:spcAft>
              <a:buSzPts val="1800"/>
              <a:buChar char="🠶"/>
            </a:pPr>
            <a:r>
              <a:rPr lang="en-GB"/>
              <a:t>An </a:t>
            </a:r>
            <a:r>
              <a:rPr lang="en-GB">
                <a:solidFill>
                  <a:srgbClr val="0070C0"/>
                </a:solidFill>
              </a:rPr>
              <a:t>action</a:t>
            </a:r>
            <a:r>
              <a:rPr lang="en-GB"/>
              <a:t> (e.g., architectural design) encompasses </a:t>
            </a:r>
            <a:r>
              <a:rPr lang="en-GB">
                <a:solidFill>
                  <a:srgbClr val="0070C0"/>
                </a:solidFill>
              </a:rPr>
              <a:t>a set of tasks that produce a major work product </a:t>
            </a:r>
            <a:r>
              <a:rPr lang="en-GB"/>
              <a:t>(e.g., an architectural design model). </a:t>
            </a:r>
            <a:endParaRPr/>
          </a:p>
          <a:p>
            <a:pPr indent="-342900" lvl="0" marL="342900" rtl="0" algn="l">
              <a:spcBef>
                <a:spcPts val="1000"/>
              </a:spcBef>
              <a:spcAft>
                <a:spcPts val="0"/>
              </a:spcAft>
              <a:buSzPts val="1800"/>
              <a:buChar char="🠶"/>
            </a:pPr>
            <a:r>
              <a:rPr lang="en-GB"/>
              <a:t>A </a:t>
            </a:r>
            <a:r>
              <a:rPr lang="en-GB">
                <a:solidFill>
                  <a:srgbClr val="0070C0"/>
                </a:solidFill>
              </a:rPr>
              <a:t>task</a:t>
            </a:r>
            <a:r>
              <a:rPr lang="en-GB"/>
              <a:t> focuses on a small, but well-defined objective (e.g., conducting a unit test) </a:t>
            </a:r>
            <a:r>
              <a:rPr lang="en-GB">
                <a:solidFill>
                  <a:srgbClr val="0070C0"/>
                </a:solidFill>
              </a:rPr>
              <a:t>that produces a tangible outcome</a:t>
            </a:r>
            <a:r>
              <a:rPr lang="en-GB"/>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Process Framework Activities</a:t>
            </a:r>
            <a:endParaRPr/>
          </a:p>
        </p:txBody>
      </p:sp>
      <p:sp>
        <p:nvSpPr>
          <p:cNvPr id="195" name="Google Shape;195;p6"/>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100000"/>
              <a:buChar char="🠶"/>
            </a:pPr>
            <a:r>
              <a:rPr lang="en-GB"/>
              <a:t>Communication</a:t>
            </a:r>
            <a:br>
              <a:rPr lang="en-GB"/>
            </a:br>
            <a:r>
              <a:rPr lang="en-GB"/>
              <a:t>Before any technical work can commence, it is critically important to communicate and collaborate with the customer</a:t>
            </a:r>
            <a:endParaRPr/>
          </a:p>
          <a:p>
            <a:pPr indent="-342900" lvl="0" marL="342900" rtl="0" algn="l">
              <a:spcBef>
                <a:spcPts val="1000"/>
              </a:spcBef>
              <a:spcAft>
                <a:spcPts val="0"/>
              </a:spcAft>
              <a:buSzPct val="100000"/>
              <a:buChar char="🠶"/>
            </a:pPr>
            <a:r>
              <a:rPr lang="en-GB"/>
              <a:t>Planning</a:t>
            </a:r>
            <a:br>
              <a:rPr lang="en-GB"/>
            </a:br>
            <a:r>
              <a:rPr lang="en-GB"/>
              <a:t>A software project plan—defines the software engineering work by describing the technical tasks to be conducted, the risks that are likely, the resources that will be required, the work products to be produced, and a work schedule.</a:t>
            </a:r>
            <a:endParaRPr/>
          </a:p>
          <a:p>
            <a:pPr indent="-342900" lvl="0" marL="342900" rtl="0" algn="l">
              <a:spcBef>
                <a:spcPts val="1000"/>
              </a:spcBef>
              <a:spcAft>
                <a:spcPts val="0"/>
              </a:spcAft>
              <a:buSzPct val="100000"/>
              <a:buChar char="🠶"/>
            </a:pPr>
            <a:r>
              <a:rPr lang="en-GB"/>
              <a:t>Modeling</a:t>
            </a:r>
            <a:endParaRPr/>
          </a:p>
          <a:p>
            <a:pPr indent="-342900" lvl="0" marL="342900" rtl="0" algn="l">
              <a:spcBef>
                <a:spcPts val="1000"/>
              </a:spcBef>
              <a:spcAft>
                <a:spcPts val="0"/>
              </a:spcAft>
              <a:buSzPct val="100000"/>
              <a:buChar char="🠶"/>
            </a:pPr>
            <a:r>
              <a:rPr lang="en-GB"/>
              <a:t>Construction</a:t>
            </a:r>
            <a:br>
              <a:rPr lang="en-GB"/>
            </a:br>
            <a:r>
              <a:rPr lang="en-GB"/>
              <a:t>This activity combines code generation (either manual or automated) and the testing that is required to uncover errors in the code.</a:t>
            </a:r>
            <a:endParaRPr/>
          </a:p>
          <a:p>
            <a:pPr indent="-342900" lvl="0" marL="342900" rtl="0" algn="l">
              <a:spcBef>
                <a:spcPts val="1000"/>
              </a:spcBef>
              <a:spcAft>
                <a:spcPts val="0"/>
              </a:spcAft>
              <a:buSzPct val="100000"/>
              <a:buChar char="🠶"/>
            </a:pPr>
            <a:r>
              <a:rPr lang="en-GB"/>
              <a:t>Deployment</a:t>
            </a:r>
            <a:endParaRPr/>
          </a:p>
          <a:p>
            <a:pPr indent="-237172" lvl="0" marL="342900" rtl="0" algn="l">
              <a:spcBef>
                <a:spcPts val="1000"/>
              </a:spcBef>
              <a:spcAft>
                <a:spcPts val="0"/>
              </a:spcAft>
              <a:buSzPct val="100000"/>
              <a:buNone/>
            </a:pPr>
            <a:r>
              <a:t/>
            </a:r>
            <a:endParaRPr/>
          </a:p>
          <a:p>
            <a:pPr indent="-237172" lvl="0" marL="342900" rtl="0" algn="l">
              <a:spcBef>
                <a:spcPts val="1000"/>
              </a:spcBef>
              <a:spcAft>
                <a:spcPts val="0"/>
              </a:spcAft>
              <a:buSzPct val="10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Umbrella Activities </a:t>
            </a:r>
            <a:endParaRPr/>
          </a:p>
        </p:txBody>
      </p:sp>
      <p:sp>
        <p:nvSpPr>
          <p:cNvPr id="201" name="Google Shape;201;p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GB" sz="2400"/>
              <a:t>Software project tracking and control</a:t>
            </a:r>
            <a:endParaRPr/>
          </a:p>
          <a:p>
            <a:pPr indent="-342900" lvl="0" marL="342900" rtl="0" algn="l">
              <a:spcBef>
                <a:spcPts val="1000"/>
              </a:spcBef>
              <a:spcAft>
                <a:spcPts val="0"/>
              </a:spcAft>
              <a:buSzPts val="2400"/>
              <a:buChar char="🠶"/>
            </a:pPr>
            <a:r>
              <a:rPr lang="en-GB" sz="2400"/>
              <a:t>Risk management</a:t>
            </a:r>
            <a:endParaRPr/>
          </a:p>
          <a:p>
            <a:pPr indent="-342900" lvl="0" marL="342900" rtl="0" algn="l">
              <a:spcBef>
                <a:spcPts val="1000"/>
              </a:spcBef>
              <a:spcAft>
                <a:spcPts val="0"/>
              </a:spcAft>
              <a:buSzPts val="2400"/>
              <a:buChar char="🠶"/>
            </a:pPr>
            <a:r>
              <a:rPr lang="en-GB" sz="2400"/>
              <a:t>Software quality assurance</a:t>
            </a:r>
            <a:endParaRPr/>
          </a:p>
          <a:p>
            <a:pPr indent="-342900" lvl="0" marL="342900" rtl="0" algn="l">
              <a:spcBef>
                <a:spcPts val="1000"/>
              </a:spcBef>
              <a:spcAft>
                <a:spcPts val="0"/>
              </a:spcAft>
              <a:buSzPts val="2400"/>
              <a:buChar char="🠶"/>
            </a:pPr>
            <a:r>
              <a:rPr lang="en-GB" sz="2400"/>
              <a:t>Technical reviews</a:t>
            </a:r>
            <a:endParaRPr/>
          </a:p>
          <a:p>
            <a:pPr indent="-342900" lvl="0" marL="342900" rtl="0" algn="l">
              <a:spcBef>
                <a:spcPts val="1000"/>
              </a:spcBef>
              <a:spcAft>
                <a:spcPts val="0"/>
              </a:spcAft>
              <a:buSzPts val="2400"/>
              <a:buChar char="🠶"/>
            </a:pPr>
            <a:r>
              <a:rPr lang="en-GB" sz="2400"/>
              <a:t>Measurement</a:t>
            </a:r>
            <a:endParaRPr/>
          </a:p>
          <a:p>
            <a:pPr indent="-342900" lvl="0" marL="342900" rtl="0" algn="l">
              <a:spcBef>
                <a:spcPts val="1000"/>
              </a:spcBef>
              <a:spcAft>
                <a:spcPts val="0"/>
              </a:spcAft>
              <a:buSzPts val="2400"/>
              <a:buChar char="🠶"/>
            </a:pPr>
            <a:r>
              <a:rPr lang="en-GB" sz="2400"/>
              <a:t>Software configuration management</a:t>
            </a:r>
            <a:endParaRPr/>
          </a:p>
          <a:p>
            <a:pPr indent="-342900" lvl="0" marL="342900" rtl="0" algn="l">
              <a:spcBef>
                <a:spcPts val="1000"/>
              </a:spcBef>
              <a:spcAft>
                <a:spcPts val="0"/>
              </a:spcAft>
              <a:buSzPts val="2400"/>
              <a:buChar char="🠶"/>
            </a:pPr>
            <a:r>
              <a:rPr lang="en-GB" sz="2400"/>
              <a:t>Reusability management</a:t>
            </a:r>
            <a:endParaRPr/>
          </a:p>
          <a:p>
            <a:pPr indent="-342900" lvl="0" marL="342900" rtl="0" algn="l">
              <a:spcBef>
                <a:spcPts val="1000"/>
              </a:spcBef>
              <a:spcAft>
                <a:spcPts val="0"/>
              </a:spcAft>
              <a:buSzPts val="2400"/>
              <a:buChar char="🠶"/>
            </a:pPr>
            <a:r>
              <a:rPr lang="en-GB" sz="2400"/>
              <a:t>Work product preparation and production</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Software Engineering Practice</a:t>
            </a:r>
            <a:endParaRPr/>
          </a:p>
        </p:txBody>
      </p:sp>
      <p:sp>
        <p:nvSpPr>
          <p:cNvPr id="207" name="Google Shape;207;p8"/>
          <p:cNvSpPr txBox="1"/>
          <p:nvPr>
            <p:ph idx="1" type="body"/>
          </p:nvPr>
        </p:nvSpPr>
        <p:spPr>
          <a:xfrm>
            <a:off x="2589212" y="2209800"/>
            <a:ext cx="8915400" cy="3777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GB"/>
              <a:t>Understand the problem (communication and analysis). </a:t>
            </a:r>
            <a:endParaRPr/>
          </a:p>
          <a:p>
            <a:pPr indent="-342900" lvl="0" marL="342900" rtl="0" algn="l">
              <a:spcBef>
                <a:spcPts val="1000"/>
              </a:spcBef>
              <a:spcAft>
                <a:spcPts val="0"/>
              </a:spcAft>
              <a:buSzPts val="1800"/>
              <a:buChar char="🠶"/>
            </a:pPr>
            <a:r>
              <a:rPr lang="en-GB"/>
              <a:t>Plan a solution (modeling and software design).</a:t>
            </a:r>
            <a:endParaRPr/>
          </a:p>
          <a:p>
            <a:pPr indent="-342900" lvl="0" marL="342900" rtl="0" algn="l">
              <a:spcBef>
                <a:spcPts val="1000"/>
              </a:spcBef>
              <a:spcAft>
                <a:spcPts val="0"/>
              </a:spcAft>
              <a:buSzPts val="1800"/>
              <a:buChar char="🠶"/>
            </a:pPr>
            <a:r>
              <a:rPr lang="en-GB"/>
              <a:t>Carry out the plan (code generation). </a:t>
            </a:r>
            <a:endParaRPr/>
          </a:p>
          <a:p>
            <a:pPr indent="-342900" lvl="0" marL="342900" rtl="0" algn="l">
              <a:spcBef>
                <a:spcPts val="1000"/>
              </a:spcBef>
              <a:spcAft>
                <a:spcPts val="0"/>
              </a:spcAft>
              <a:buSzPts val="1800"/>
              <a:buChar char="🠶"/>
            </a:pPr>
            <a:r>
              <a:rPr lang="en-GB"/>
              <a:t>Examine the result for accuracy (testing and quality assurance).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Understand the problem</a:t>
            </a:r>
            <a:endParaRPr/>
          </a:p>
        </p:txBody>
      </p:sp>
      <p:sp>
        <p:nvSpPr>
          <p:cNvPr id="213" name="Google Shape;213;p9"/>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GB" sz="2400"/>
              <a:t>Who has a stake in the solution to the problem? That is, who are the stake- holders? </a:t>
            </a:r>
            <a:endParaRPr/>
          </a:p>
          <a:p>
            <a:pPr indent="-342900" lvl="0" marL="342900" rtl="0" algn="l">
              <a:spcBef>
                <a:spcPts val="1000"/>
              </a:spcBef>
              <a:spcAft>
                <a:spcPts val="0"/>
              </a:spcAft>
              <a:buSzPts val="2400"/>
              <a:buChar char="🠶"/>
            </a:pPr>
            <a:r>
              <a:rPr lang="en-GB" sz="2400"/>
              <a:t>What are the unknowns? What data, functions, and features are required to properly solve the problem? </a:t>
            </a:r>
            <a:endParaRPr/>
          </a:p>
          <a:p>
            <a:pPr indent="-342900" lvl="0" marL="342900" rtl="0" algn="l">
              <a:spcBef>
                <a:spcPts val="1000"/>
              </a:spcBef>
              <a:spcAft>
                <a:spcPts val="0"/>
              </a:spcAft>
              <a:buSzPts val="2400"/>
              <a:buChar char="🠶"/>
            </a:pPr>
            <a:r>
              <a:rPr lang="en-GB" sz="2400"/>
              <a:t>Can the problem be compartmentalized? Is it possible to represent smaller problems that may be easier to understand? </a:t>
            </a:r>
            <a:endParaRPr/>
          </a:p>
          <a:p>
            <a:pPr indent="-342900" lvl="0" marL="342900" rtl="0" algn="l">
              <a:spcBef>
                <a:spcPts val="1000"/>
              </a:spcBef>
              <a:spcAft>
                <a:spcPts val="0"/>
              </a:spcAft>
              <a:buSzPts val="2400"/>
              <a:buChar char="🠶"/>
            </a:pPr>
            <a:r>
              <a:rPr lang="en-GB" sz="2400"/>
              <a:t>Can the problem be represented graphically? Can an analysis model be created?</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Plan the solution</a:t>
            </a:r>
            <a:endParaRPr/>
          </a:p>
        </p:txBody>
      </p:sp>
      <p:sp>
        <p:nvSpPr>
          <p:cNvPr id="219" name="Google Shape;219;p10"/>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GB" sz="2400"/>
              <a:t>Have you seen similar problems before? Are there patterns that are recognizable in a potential solution? Is there existing software that implements the data, functions, and features that are required? </a:t>
            </a:r>
            <a:endParaRPr/>
          </a:p>
          <a:p>
            <a:pPr indent="-342900" lvl="0" marL="342900" rtl="0" algn="l">
              <a:spcBef>
                <a:spcPts val="1000"/>
              </a:spcBef>
              <a:spcAft>
                <a:spcPts val="0"/>
              </a:spcAft>
              <a:buSzPts val="2400"/>
              <a:buChar char="🠶"/>
            </a:pPr>
            <a:r>
              <a:rPr lang="en-GB" sz="2400"/>
              <a:t>Has a similar problem been solved? If so, are elements of the solution reusable? </a:t>
            </a:r>
            <a:endParaRPr/>
          </a:p>
          <a:p>
            <a:pPr indent="-342900" lvl="0" marL="342900" rtl="0" algn="l">
              <a:spcBef>
                <a:spcPts val="1000"/>
              </a:spcBef>
              <a:spcAft>
                <a:spcPts val="0"/>
              </a:spcAft>
              <a:buSzPts val="2400"/>
              <a:buChar char="🠶"/>
            </a:pPr>
            <a:r>
              <a:rPr lang="en-GB" sz="2400"/>
              <a:t>Can subproblems be defined? If so, are solutions readily apparent for the subproblems? </a:t>
            </a:r>
            <a:endParaRPr/>
          </a:p>
          <a:p>
            <a:pPr indent="-342900" lvl="0" marL="342900" rtl="0" algn="l">
              <a:spcBef>
                <a:spcPts val="1000"/>
              </a:spcBef>
              <a:spcAft>
                <a:spcPts val="0"/>
              </a:spcAft>
              <a:buSzPts val="2400"/>
              <a:buChar char="🠶"/>
            </a:pPr>
            <a:r>
              <a:rPr lang="en-GB" sz="2400"/>
              <a:t>Can you represent a solution in a manner that leads to effective implementation? Can a design model be created?</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Carry out the plan</a:t>
            </a:r>
            <a:endParaRPr/>
          </a:p>
        </p:txBody>
      </p:sp>
      <p:sp>
        <p:nvSpPr>
          <p:cNvPr id="225" name="Google Shape;225;p1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GB" sz="2400"/>
              <a:t>Does the solution conform to the plan? Is source code traceable to the design model? </a:t>
            </a:r>
            <a:endParaRPr/>
          </a:p>
          <a:p>
            <a:pPr indent="-342900" lvl="0" marL="342900" rtl="0" algn="l">
              <a:spcBef>
                <a:spcPts val="1000"/>
              </a:spcBef>
              <a:spcAft>
                <a:spcPts val="0"/>
              </a:spcAft>
              <a:buSzPts val="2400"/>
              <a:buChar char="🠶"/>
            </a:pPr>
            <a:r>
              <a:rPr lang="en-GB" sz="2400"/>
              <a:t>Is each component part of the solution provably correct? Have the design and code been reviewed, or better, have correctness proofs been applied to the algorithm?</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Examine the result</a:t>
            </a:r>
            <a:endParaRPr/>
          </a:p>
        </p:txBody>
      </p:sp>
      <p:sp>
        <p:nvSpPr>
          <p:cNvPr id="231" name="Google Shape;231;p1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GB" sz="2400"/>
              <a:t>Is it possible to test each component part of the solution? Has a reasonable testing strategy been implemented? </a:t>
            </a:r>
            <a:endParaRPr/>
          </a:p>
          <a:p>
            <a:pPr indent="-342900" lvl="0" marL="342900" rtl="0" algn="l">
              <a:spcBef>
                <a:spcPts val="1000"/>
              </a:spcBef>
              <a:spcAft>
                <a:spcPts val="0"/>
              </a:spcAft>
              <a:buSzPts val="2400"/>
              <a:buChar char="🠶"/>
            </a:pPr>
            <a:r>
              <a:rPr lang="en-GB" sz="2400"/>
              <a:t>Does the solution produce results that conform to the data, functions, and features that are required? Has the software been validated against all stakeholder requirements?</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General Principles</a:t>
            </a:r>
            <a:endParaRPr/>
          </a:p>
        </p:txBody>
      </p:sp>
      <p:sp>
        <p:nvSpPr>
          <p:cNvPr id="237" name="Google Shape;237;p1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GB" sz="2400"/>
              <a:t>The reason it all exists </a:t>
            </a:r>
            <a:endParaRPr/>
          </a:p>
          <a:p>
            <a:pPr indent="-342900" lvl="0" marL="342900" rtl="0" algn="l">
              <a:spcBef>
                <a:spcPts val="1000"/>
              </a:spcBef>
              <a:spcAft>
                <a:spcPts val="0"/>
              </a:spcAft>
              <a:buSzPts val="2400"/>
              <a:buChar char="🠶"/>
            </a:pPr>
            <a:r>
              <a:rPr lang="en-GB" sz="2400"/>
              <a:t>KISS (Keep It Simple, Stupid!)</a:t>
            </a:r>
            <a:endParaRPr/>
          </a:p>
          <a:p>
            <a:pPr indent="-342900" lvl="0" marL="342900" rtl="0" algn="l">
              <a:spcBef>
                <a:spcPts val="1000"/>
              </a:spcBef>
              <a:spcAft>
                <a:spcPts val="0"/>
              </a:spcAft>
              <a:buSzPts val="2400"/>
              <a:buChar char="🠶"/>
            </a:pPr>
            <a:r>
              <a:rPr lang="en-GB" sz="2400"/>
              <a:t>Maintain the Vision</a:t>
            </a:r>
            <a:endParaRPr/>
          </a:p>
          <a:p>
            <a:pPr indent="-342900" lvl="0" marL="342900" rtl="0" algn="l">
              <a:spcBef>
                <a:spcPts val="1000"/>
              </a:spcBef>
              <a:spcAft>
                <a:spcPts val="0"/>
              </a:spcAft>
              <a:buSzPts val="2400"/>
              <a:buChar char="🠶"/>
            </a:pPr>
            <a:r>
              <a:rPr lang="en-GB" sz="2400"/>
              <a:t>What You Produce, Others Will Consume</a:t>
            </a:r>
            <a:endParaRPr/>
          </a:p>
          <a:p>
            <a:pPr indent="-342900" lvl="0" marL="342900" rtl="0" algn="l">
              <a:spcBef>
                <a:spcPts val="1000"/>
              </a:spcBef>
              <a:spcAft>
                <a:spcPts val="0"/>
              </a:spcAft>
              <a:buSzPts val="2400"/>
              <a:buChar char="🠶"/>
            </a:pPr>
            <a:r>
              <a:rPr lang="en-GB" sz="2400"/>
              <a:t>Be Open to the Future</a:t>
            </a:r>
            <a:endParaRPr/>
          </a:p>
          <a:p>
            <a:pPr indent="-342900" lvl="0" marL="342900" rtl="0" algn="l">
              <a:spcBef>
                <a:spcPts val="1000"/>
              </a:spcBef>
              <a:spcAft>
                <a:spcPts val="0"/>
              </a:spcAft>
              <a:buSzPts val="2400"/>
              <a:buChar char="🠶"/>
            </a:pPr>
            <a:r>
              <a:rPr lang="en-GB" sz="2400"/>
              <a:t>Plan Ahead for Reuse</a:t>
            </a:r>
            <a:endParaRPr/>
          </a:p>
          <a:p>
            <a:pPr indent="-342900" lvl="0" marL="342900" rtl="0" algn="l">
              <a:spcBef>
                <a:spcPts val="1000"/>
              </a:spcBef>
              <a:spcAft>
                <a:spcPts val="0"/>
              </a:spcAft>
              <a:buSzPts val="2400"/>
              <a:buChar char="🠶"/>
            </a:pPr>
            <a:r>
              <a:rPr lang="en-GB" sz="2400"/>
              <a:t>Think!</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Software Myths</a:t>
            </a:r>
            <a:endParaRPr/>
          </a:p>
        </p:txBody>
      </p:sp>
      <p:sp>
        <p:nvSpPr>
          <p:cNvPr id="243" name="Google Shape;243;p1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00"/>
              <a:buNone/>
            </a:pPr>
            <a:r>
              <a:rPr b="1" lang="en-GB" sz="2400"/>
              <a:t>Management Myths:</a:t>
            </a:r>
            <a:endParaRPr/>
          </a:p>
          <a:p>
            <a:pPr indent="-342900" lvl="0" marL="342900" rtl="0" algn="l">
              <a:spcBef>
                <a:spcPts val="1000"/>
              </a:spcBef>
              <a:spcAft>
                <a:spcPts val="0"/>
              </a:spcAft>
              <a:buSzPts val="2400"/>
              <a:buChar char="🠶"/>
            </a:pPr>
            <a:r>
              <a:rPr lang="en-GB" sz="2400"/>
              <a:t>We already have a book that’s full of standards and procedures for building software. Won’t that provide my people with everything they need to know?</a:t>
            </a:r>
            <a:endParaRPr/>
          </a:p>
          <a:p>
            <a:pPr indent="-342900" lvl="0" marL="342900" rtl="0" algn="l">
              <a:spcBef>
                <a:spcPts val="1000"/>
              </a:spcBef>
              <a:spcAft>
                <a:spcPts val="0"/>
              </a:spcAft>
              <a:buSzPts val="2400"/>
              <a:buChar char="🠶"/>
            </a:pPr>
            <a:r>
              <a:rPr lang="en-GB" sz="2400"/>
              <a:t>If we get behind schedule, we can add more programmers and catch up (sometimes called the “Mongolian horde” concept).</a:t>
            </a:r>
            <a:endParaRPr/>
          </a:p>
          <a:p>
            <a:pPr indent="-342900" lvl="0" marL="342900" rtl="0" algn="l">
              <a:spcBef>
                <a:spcPts val="1000"/>
              </a:spcBef>
              <a:spcAft>
                <a:spcPts val="0"/>
              </a:spcAft>
              <a:buSzPts val="2400"/>
              <a:buChar char="🠶"/>
            </a:pPr>
            <a:r>
              <a:rPr lang="en-GB" sz="2400"/>
              <a:t>If I decide to outsource the software project to a third party, I can just relax and let that firm build it.</a:t>
            </a:r>
            <a:endParaRPr/>
          </a:p>
          <a:p>
            <a:pPr indent="-190500" lvl="0" marL="342900" rtl="0" algn="l">
              <a:spcBef>
                <a:spcPts val="1000"/>
              </a:spcBef>
              <a:spcAft>
                <a:spcPts val="0"/>
              </a:spcAft>
              <a:buSzPts val="2400"/>
              <a:buNone/>
            </a:pPr>
            <a:r>
              <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Software Myths</a:t>
            </a:r>
            <a:endParaRPr/>
          </a:p>
        </p:txBody>
      </p:sp>
      <p:sp>
        <p:nvSpPr>
          <p:cNvPr id="249" name="Google Shape;249;p1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00"/>
              <a:buNone/>
            </a:pPr>
            <a:r>
              <a:rPr b="1" lang="en-GB" sz="2400"/>
              <a:t>Customer Myths:</a:t>
            </a:r>
            <a:endParaRPr/>
          </a:p>
          <a:p>
            <a:pPr indent="-342900" lvl="0" marL="342900" rtl="0" algn="l">
              <a:spcBef>
                <a:spcPts val="1000"/>
              </a:spcBef>
              <a:spcAft>
                <a:spcPts val="0"/>
              </a:spcAft>
              <a:buSzPts val="2400"/>
              <a:buChar char="🠶"/>
            </a:pPr>
            <a:r>
              <a:rPr lang="en-GB" sz="2400"/>
              <a:t>A general statement of objectives is sufficient to begin writing programs—we can fill in the details later.</a:t>
            </a:r>
            <a:endParaRPr/>
          </a:p>
          <a:p>
            <a:pPr indent="-342900" lvl="0" marL="342900" rtl="0" algn="l">
              <a:spcBef>
                <a:spcPts val="1000"/>
              </a:spcBef>
              <a:spcAft>
                <a:spcPts val="0"/>
              </a:spcAft>
              <a:buSzPts val="2400"/>
              <a:buChar char="🠶"/>
            </a:pPr>
            <a:r>
              <a:rPr lang="en-GB" sz="2400"/>
              <a:t>Software requirements continually change, but change can be easily accommodated because software is flexible.</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Software Myths</a:t>
            </a:r>
            <a:endParaRPr/>
          </a:p>
        </p:txBody>
      </p:sp>
      <p:sp>
        <p:nvSpPr>
          <p:cNvPr id="255" name="Google Shape;255;p16"/>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rPr b="1" lang="en-GB" sz="2400"/>
              <a:t>Practitioner’s Myths:</a:t>
            </a:r>
            <a:endParaRPr/>
          </a:p>
          <a:p>
            <a:pPr indent="-342900" lvl="0" marL="342900" rtl="0" algn="l">
              <a:spcBef>
                <a:spcPts val="1000"/>
              </a:spcBef>
              <a:spcAft>
                <a:spcPts val="0"/>
              </a:spcAft>
              <a:buSzPts val="2400"/>
              <a:buChar char="🠶"/>
            </a:pPr>
            <a:r>
              <a:rPr lang="en-GB" sz="2400"/>
              <a:t>Once we write the program and get it to work, our job is done.</a:t>
            </a:r>
            <a:endParaRPr/>
          </a:p>
          <a:p>
            <a:pPr indent="-342900" lvl="0" marL="342900" rtl="0" algn="l">
              <a:spcBef>
                <a:spcPts val="1000"/>
              </a:spcBef>
              <a:spcAft>
                <a:spcPts val="0"/>
              </a:spcAft>
              <a:buSzPts val="2400"/>
              <a:buChar char="🠶"/>
            </a:pPr>
            <a:r>
              <a:rPr lang="en-GB" sz="2400"/>
              <a:t>Until I get the program “running” I have no way of assessing its quality.</a:t>
            </a:r>
            <a:endParaRPr/>
          </a:p>
          <a:p>
            <a:pPr indent="-342900" lvl="0" marL="342900" rtl="0" algn="l">
              <a:spcBef>
                <a:spcPts val="1000"/>
              </a:spcBef>
              <a:spcAft>
                <a:spcPts val="0"/>
              </a:spcAft>
              <a:buSzPts val="2400"/>
              <a:buChar char="🠶"/>
            </a:pPr>
            <a:r>
              <a:rPr lang="en-GB" sz="2400"/>
              <a:t>The only deliverable work product for a successful project is the working program.</a:t>
            </a:r>
            <a:endParaRPr/>
          </a:p>
          <a:p>
            <a:pPr indent="-342900" lvl="0" marL="342900" rtl="0" algn="l">
              <a:spcBef>
                <a:spcPts val="1000"/>
              </a:spcBef>
              <a:spcAft>
                <a:spcPts val="0"/>
              </a:spcAft>
              <a:buSzPts val="2400"/>
              <a:buChar char="🠶"/>
            </a:pPr>
            <a:r>
              <a:rPr lang="en-GB" sz="2400"/>
              <a:t>Software engineering will make us create voluminous and unnecessary documentation and will invariably slow us down.</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4749103" y="3085088"/>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2023-02-27T01:15:00Z</dcterms:created>
  <dc:creator>Suhrid Shakhar Ghosh</dc:creator>
</cp:coreProperties>
</file>