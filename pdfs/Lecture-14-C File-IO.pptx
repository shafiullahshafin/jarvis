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theme/theme1.xml" ContentType="application/vnd.openxmlformats-officedocument.theme+xml"/>
  <Default Extension="jpeg" ContentType="image/jpeg"/>
  <Override PartName="/ppt/slideLayouts/slideLayout2.xml" ContentType="application/vnd.openxmlformats-officedocument.presentationml.slideLayout+xml"/>
  <Override PartName="/ppt/slideLayouts/slideLayout3.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264" r:id="rId10"/>
    <p:sldId id="266" r:id="rId11"/>
    <p:sldId id="268" r:id="rId12"/>
    <p:sldId id="269" r:id="rId13"/>
    <p:sldId id="270" r:id="rId14"/>
    <p:sldId id="265" r:id="rId15"/>
    <p:sldId id="267" r:id="rId1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 xmlns:p14="http://schemas.microsoft.com/office/powerpoint/2010/main" val="0"/>
    </p:ext>
    <p:ext uri="{D31A062A-798A-4329-ABDD-BBA856620510}">
      <p14:defaultImageDpi xmlns=""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varScale="1">
        <p:scale>
          <a:sx n="110" d="100"/>
          <a:sy n="110" d="100"/>
        </p:scale>
        <p:origin x="-1608" y="-90"/>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1">
        <a:schemeClr val="bg1"/>
      </p:bgRef>
    </p:bg>
    <p:spTree>
      <p:nvGrpSpPr>
        <p:cNvPr id="1" name=""/>
        <p:cNvGrpSpPr/>
        <p:nvPr/>
      </p:nvGrpSpPr>
      <p:grpSpPr>
        <a:xfrm>
          <a:off x="0" y="0"/>
          <a:ext cx="0" cy="0"/>
          <a:chOff x="0" y="0"/>
          <a:chExt cx="0" cy="0"/>
        </a:xfrm>
      </p:grpSpPr>
      <p:sp>
        <p:nvSpPr>
          <p:cNvPr id="8" name="Title 7"/>
          <p:cNvSpPr>
            <a:spLocks noGrp="1"/>
          </p:cNvSpPr>
          <p:nvPr>
            <p:ph type="ctrTitle"/>
          </p:nvPr>
        </p:nvSpPr>
        <p:spPr>
          <a:xfrm>
            <a:off x="2286000" y="3124200"/>
            <a:ext cx="6172200" cy="1894362"/>
          </a:xfrm>
        </p:spPr>
        <p:txBody>
          <a:bodyPr/>
          <a:lstStyle>
            <a:lvl1pPr>
              <a:defRPr b="1"/>
            </a:lvl1pPr>
          </a:lstStyle>
          <a:p>
            <a:r>
              <a:rPr kumimoji="0" lang="en-US" smtClean="0"/>
              <a:t>Click to edit Master title style</a:t>
            </a:r>
            <a:endParaRPr kumimoji="0" lang="en-US"/>
          </a:p>
        </p:txBody>
      </p:sp>
      <p:sp>
        <p:nvSpPr>
          <p:cNvPr id="9" name="Subtitle 8"/>
          <p:cNvSpPr>
            <a:spLocks noGrp="1"/>
          </p:cNvSpPr>
          <p:nvPr>
            <p:ph type="subTitle" idx="1"/>
          </p:nvPr>
        </p:nvSpPr>
        <p:spPr>
          <a:xfrm>
            <a:off x="2286000" y="5003322"/>
            <a:ext cx="6172200" cy="1371600"/>
          </a:xfrm>
        </p:spPr>
        <p:txBody>
          <a:bodyPr/>
          <a:lstStyle>
            <a:lvl1pPr marL="0" indent="0" algn="l">
              <a:buNone/>
              <a:defRPr sz="1800" b="1">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28" name="Date Placeholder 27"/>
          <p:cNvSpPr>
            <a:spLocks noGrp="1"/>
          </p:cNvSpPr>
          <p:nvPr>
            <p:ph type="dt" sz="half" idx="10"/>
          </p:nvPr>
        </p:nvSpPr>
        <p:spPr bwMode="auto">
          <a:xfrm rot="5400000">
            <a:off x="7764621" y="1174097"/>
            <a:ext cx="2286000" cy="381000"/>
          </a:xfrm>
        </p:spPr>
        <p:txBody>
          <a:bodyPr/>
          <a:lstStyle/>
          <a:p>
            <a:fld id="{1D8BD707-D9CF-40AE-B4C6-C98DA3205C09}" type="datetimeFigureOut">
              <a:rPr lang="en-US" smtClean="0"/>
              <a:pPr/>
              <a:t>2/25/2019</a:t>
            </a:fld>
            <a:endParaRPr lang="en-US"/>
          </a:p>
        </p:txBody>
      </p:sp>
      <p:sp>
        <p:nvSpPr>
          <p:cNvPr id="17" name="Footer Placeholder 16"/>
          <p:cNvSpPr>
            <a:spLocks noGrp="1"/>
          </p:cNvSpPr>
          <p:nvPr>
            <p:ph type="ftr" sz="quarter" idx="11"/>
          </p:nvPr>
        </p:nvSpPr>
        <p:spPr bwMode="auto">
          <a:xfrm rot="5400000">
            <a:off x="7077269" y="4181669"/>
            <a:ext cx="3657600" cy="384048"/>
          </a:xfrm>
        </p:spPr>
        <p:txBody>
          <a:bodyPr/>
          <a:lstStyle/>
          <a:p>
            <a:endParaRPr lang="en-US"/>
          </a:p>
        </p:txBody>
      </p:sp>
      <p:sp>
        <p:nvSpPr>
          <p:cNvPr id="10" name="Rectangle 9"/>
          <p:cNvSpPr/>
          <p:nvPr/>
        </p:nvSpPr>
        <p:spPr bwMode="auto">
          <a:xfrm>
            <a:off x="381000" y="0"/>
            <a:ext cx="609600" cy="6858000"/>
          </a:xfrm>
          <a:prstGeom prst="rect">
            <a:avLst/>
          </a:prstGeom>
          <a:solidFill>
            <a:schemeClr val="accent1">
              <a:tint val="60000"/>
              <a:alpha val="54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bwMode="auto">
          <a:xfrm>
            <a:off x="276336" y="0"/>
            <a:ext cx="104664" cy="6858000"/>
          </a:xfrm>
          <a:prstGeom prst="rect">
            <a:avLst/>
          </a:prstGeom>
          <a:solidFill>
            <a:schemeClr val="accent1">
              <a:tint val="40000"/>
              <a:alpha val="36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4" name="Rectangle 13"/>
          <p:cNvSpPr/>
          <p:nvPr/>
        </p:nvSpPr>
        <p:spPr bwMode="auto">
          <a:xfrm>
            <a:off x="990600" y="0"/>
            <a:ext cx="181872" cy="6858000"/>
          </a:xfrm>
          <a:prstGeom prst="rect">
            <a:avLst/>
          </a:prstGeom>
          <a:solidFill>
            <a:schemeClr val="accent1">
              <a:tint val="40000"/>
              <a:alpha val="7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9" name="Rectangle 18"/>
          <p:cNvSpPr/>
          <p:nvPr/>
        </p:nvSpPr>
        <p:spPr bwMode="auto">
          <a:xfrm>
            <a:off x="1141320" y="0"/>
            <a:ext cx="230280" cy="6858000"/>
          </a:xfrm>
          <a:prstGeom prst="rect">
            <a:avLst/>
          </a:prstGeom>
          <a:solidFill>
            <a:schemeClr val="accent1">
              <a:tint val="20000"/>
              <a:alpha val="7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Straight Connector 10"/>
          <p:cNvSpPr>
            <a:spLocks noChangeShapeType="1"/>
          </p:cNvSpPr>
          <p:nvPr/>
        </p:nvSpPr>
        <p:spPr bwMode="auto">
          <a:xfrm>
            <a:off x="106344" y="0"/>
            <a:ext cx="0" cy="6858000"/>
          </a:xfrm>
          <a:prstGeom prst="line">
            <a:avLst/>
          </a:prstGeom>
          <a:noFill/>
          <a:ln w="57150" cap="flat" cmpd="sng" algn="ctr">
            <a:solidFill>
              <a:schemeClr val="accent1">
                <a:tint val="60000"/>
                <a:alpha val="7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8" name="Straight Connector 17"/>
          <p:cNvSpPr>
            <a:spLocks noChangeShapeType="1"/>
          </p:cNvSpPr>
          <p:nvPr/>
        </p:nvSpPr>
        <p:spPr bwMode="auto">
          <a:xfrm>
            <a:off x="914400" y="0"/>
            <a:ext cx="0" cy="6858000"/>
          </a:xfrm>
          <a:prstGeom prst="line">
            <a:avLst/>
          </a:prstGeom>
          <a:noFill/>
          <a:ln w="57150" cap="flat" cmpd="sng" algn="ctr">
            <a:solidFill>
              <a:schemeClr val="accent1">
                <a:tint val="20000"/>
                <a:alpha val="8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0" name="Straight Connector 19"/>
          <p:cNvSpPr>
            <a:spLocks noChangeShapeType="1"/>
          </p:cNvSpPr>
          <p:nvPr/>
        </p:nvSpPr>
        <p:spPr bwMode="auto">
          <a:xfrm>
            <a:off x="854112" y="0"/>
            <a:ext cx="0" cy="6858000"/>
          </a:xfrm>
          <a:prstGeom prst="line">
            <a:avLst/>
          </a:prstGeom>
          <a:noFill/>
          <a:ln w="5715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6" name="Straight Connector 15"/>
          <p:cNvSpPr>
            <a:spLocks noChangeShapeType="1"/>
          </p:cNvSpPr>
          <p:nvPr/>
        </p:nvSpPr>
        <p:spPr bwMode="auto">
          <a:xfrm>
            <a:off x="1726640" y="0"/>
            <a:ext cx="0" cy="6858000"/>
          </a:xfrm>
          <a:prstGeom prst="line">
            <a:avLst/>
          </a:prstGeom>
          <a:noFill/>
          <a:ln w="28575" cap="flat" cmpd="sng" algn="ctr">
            <a:solidFill>
              <a:schemeClr val="accent1">
                <a:tint val="60000"/>
                <a:alpha val="82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5" name="Straight Connector 14"/>
          <p:cNvSpPr>
            <a:spLocks noChangeShapeType="1"/>
          </p:cNvSpPr>
          <p:nvPr/>
        </p:nvSpPr>
        <p:spPr bwMode="auto">
          <a:xfrm>
            <a:off x="1066800" y="0"/>
            <a:ext cx="0" cy="6858000"/>
          </a:xfrm>
          <a:prstGeom prst="line">
            <a:avLst/>
          </a:prstGeom>
          <a:noFill/>
          <a:ln w="9525"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2" name="Straight Connector 21"/>
          <p:cNvSpPr>
            <a:spLocks noChangeShapeType="1"/>
          </p:cNvSpPr>
          <p:nvPr/>
        </p:nvSpPr>
        <p:spPr bwMode="auto">
          <a:xfrm>
            <a:off x="9113856"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7" name="Rectangle 26"/>
          <p:cNvSpPr/>
          <p:nvPr/>
        </p:nvSpPr>
        <p:spPr bwMode="auto">
          <a:xfrm>
            <a:off x="1219200" y="0"/>
            <a:ext cx="76200" cy="6858000"/>
          </a:xfrm>
          <a:prstGeom prst="rect">
            <a:avLst/>
          </a:prstGeom>
          <a:solidFill>
            <a:schemeClr val="accent1">
              <a:tint val="60000"/>
              <a:alpha val="5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1" name="Oval 20"/>
          <p:cNvSpPr/>
          <p:nvPr/>
        </p:nvSpPr>
        <p:spPr bwMode="auto">
          <a:xfrm>
            <a:off x="609600" y="3429000"/>
            <a:ext cx="1295400" cy="1295400"/>
          </a:xfrm>
          <a:prstGeom prst="ellipse">
            <a:avLst/>
          </a:prstGeom>
          <a:solidFill>
            <a:schemeClr val="accent1"/>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3" name="Oval 22"/>
          <p:cNvSpPr/>
          <p:nvPr/>
        </p:nvSpPr>
        <p:spPr bwMode="auto">
          <a:xfrm>
            <a:off x="1309632" y="4866752"/>
            <a:ext cx="641424" cy="641424"/>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4" name="Oval 23"/>
          <p:cNvSpPr/>
          <p:nvPr/>
        </p:nvSpPr>
        <p:spPr bwMode="auto">
          <a:xfrm>
            <a:off x="1091080" y="5500632"/>
            <a:ext cx="137160" cy="13716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6" name="Oval 25"/>
          <p:cNvSpPr/>
          <p:nvPr/>
        </p:nvSpPr>
        <p:spPr bwMode="auto">
          <a:xfrm>
            <a:off x="1664208" y="5788152"/>
            <a:ext cx="274320" cy="27432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5" name="Oval 24"/>
          <p:cNvSpPr/>
          <p:nvPr/>
        </p:nvSpPr>
        <p:spPr>
          <a:xfrm>
            <a:off x="1905000" y="4495800"/>
            <a:ext cx="365760" cy="365760"/>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9" name="Slide Number Placeholder 28"/>
          <p:cNvSpPr>
            <a:spLocks noGrp="1"/>
          </p:cNvSpPr>
          <p:nvPr>
            <p:ph type="sldNum" sz="quarter" idx="12"/>
          </p:nvPr>
        </p:nvSpPr>
        <p:spPr bwMode="auto">
          <a:xfrm>
            <a:off x="1325544" y="4928702"/>
            <a:ext cx="609600" cy="517524"/>
          </a:xfrm>
        </p:spPr>
        <p:txBody>
          <a:bodyPr/>
          <a:lstStyle/>
          <a:p>
            <a:fld id="{B6F15528-21DE-4FAA-801E-634DDDAF4B2B}"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8" name="Content Placeholder 7"/>
          <p:cNvSpPr>
            <a:spLocks noGrp="1"/>
          </p:cNvSpPr>
          <p:nvPr>
            <p:ph sz="quarter" idx="1"/>
          </p:nvPr>
        </p:nvSpPr>
        <p:spPr>
          <a:xfrm>
            <a:off x="457200" y="1600200"/>
            <a:ext cx="7467600" cy="4873752"/>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4"/>
          </p:nvPr>
        </p:nvSpPr>
        <p:spPr/>
        <p:txBody>
          <a:bodyPr rtlCol="0"/>
          <a:lstStyle/>
          <a:p>
            <a:fld id="{1D8BD707-D9CF-40AE-B4C6-C98DA3205C09}" type="datetimeFigureOut">
              <a:rPr lang="en-US" smtClean="0"/>
              <a:pPr/>
              <a:t>2/25/2019</a:t>
            </a:fld>
            <a:endParaRPr lang="en-US"/>
          </a:p>
        </p:txBody>
      </p:sp>
      <p:sp>
        <p:nvSpPr>
          <p:cNvPr id="9" name="Slide Number Placeholder 8"/>
          <p:cNvSpPr>
            <a:spLocks noGrp="1"/>
          </p:cNvSpPr>
          <p:nvPr>
            <p:ph type="sldNum" sz="quarter" idx="15"/>
          </p:nvPr>
        </p:nvSpPr>
        <p:spPr/>
        <p:txBody>
          <a:bodyPr rtlCol="0"/>
          <a:lstStyle/>
          <a:p>
            <a:fld id="{B6F15528-21DE-4FAA-801E-634DDDAF4B2B}" type="slidenum">
              <a:rPr lang="en-US" smtClean="0"/>
              <a:pPr/>
              <a:t>‹#›</a:t>
            </a:fld>
            <a:endParaRPr lang="en-US"/>
          </a:p>
        </p:txBody>
      </p:sp>
      <p:sp>
        <p:nvSpPr>
          <p:cNvPr id="10" name="Footer Placeholder 9"/>
          <p:cNvSpPr>
            <a:spLocks noGrp="1"/>
          </p:cNvSpPr>
          <p:nvPr>
            <p:ph type="ftr" sz="quarter" idx="16"/>
          </p:nvPr>
        </p:nvSpPr>
        <p:spPr/>
        <p:txBody>
          <a:bodyPr rtlCol="0"/>
          <a:lstStyle/>
          <a:p>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2286000" y="2895600"/>
            <a:ext cx="6172200" cy="2053590"/>
          </a:xfrm>
        </p:spPr>
        <p:txBody>
          <a:bodyPr/>
          <a:lstStyle>
            <a:lvl1pPr algn="l">
              <a:buNone/>
              <a:defRPr sz="3000" b="1" cap="small" baseline="0"/>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2286000" y="5010150"/>
            <a:ext cx="6172200" cy="1371600"/>
          </a:xfrm>
        </p:spPr>
        <p:txBody>
          <a:bodyPr anchor="t"/>
          <a:lstStyle>
            <a:lvl1pPr marL="0" indent="0">
              <a:buNone/>
              <a:defRPr sz="1800" b="1">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bwMode="auto">
          <a:xfrm rot="5400000">
            <a:off x="7763256" y="1170432"/>
            <a:ext cx="2286000" cy="381000"/>
          </a:xfrm>
        </p:spPr>
        <p:txBody>
          <a:bodyPr/>
          <a:lstStyle/>
          <a:p>
            <a:fld id="{1D8BD707-D9CF-40AE-B4C6-C98DA3205C09}" type="datetimeFigureOut">
              <a:rPr lang="en-US" smtClean="0"/>
              <a:pPr/>
              <a:t>2/25/2019</a:t>
            </a:fld>
            <a:endParaRPr lang="en-US"/>
          </a:p>
        </p:txBody>
      </p:sp>
      <p:sp>
        <p:nvSpPr>
          <p:cNvPr id="5" name="Footer Placeholder 4"/>
          <p:cNvSpPr>
            <a:spLocks noGrp="1"/>
          </p:cNvSpPr>
          <p:nvPr>
            <p:ph type="ftr" sz="quarter" idx="11"/>
          </p:nvPr>
        </p:nvSpPr>
        <p:spPr bwMode="auto">
          <a:xfrm rot="5400000">
            <a:off x="7077456" y="4178808"/>
            <a:ext cx="3657600" cy="384048"/>
          </a:xfrm>
        </p:spPr>
        <p:txBody>
          <a:bodyPr/>
          <a:lstStyle/>
          <a:p>
            <a:endParaRPr lang="en-US"/>
          </a:p>
        </p:txBody>
      </p:sp>
      <p:sp>
        <p:nvSpPr>
          <p:cNvPr id="9" name="Rectangle 8"/>
          <p:cNvSpPr/>
          <p:nvPr/>
        </p:nvSpPr>
        <p:spPr bwMode="auto">
          <a:xfrm>
            <a:off x="381000" y="0"/>
            <a:ext cx="609600" cy="6858000"/>
          </a:xfrm>
          <a:prstGeom prst="rect">
            <a:avLst/>
          </a:prstGeom>
          <a:solidFill>
            <a:schemeClr val="accent1">
              <a:tint val="60000"/>
              <a:alpha val="54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bwMode="auto">
          <a:xfrm>
            <a:off x="276336" y="0"/>
            <a:ext cx="104664" cy="6858000"/>
          </a:xfrm>
          <a:prstGeom prst="rect">
            <a:avLst/>
          </a:prstGeom>
          <a:solidFill>
            <a:schemeClr val="accent1">
              <a:tint val="40000"/>
              <a:alpha val="36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bwMode="auto">
          <a:xfrm>
            <a:off x="990600" y="0"/>
            <a:ext cx="181872" cy="6858000"/>
          </a:xfrm>
          <a:prstGeom prst="rect">
            <a:avLst/>
          </a:prstGeom>
          <a:solidFill>
            <a:schemeClr val="accent1">
              <a:tint val="40000"/>
              <a:alpha val="7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bwMode="auto">
          <a:xfrm>
            <a:off x="1141320" y="0"/>
            <a:ext cx="230280" cy="6858000"/>
          </a:xfrm>
          <a:prstGeom prst="rect">
            <a:avLst/>
          </a:prstGeom>
          <a:solidFill>
            <a:schemeClr val="accent1">
              <a:tint val="20000"/>
              <a:alpha val="7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Straight Connector 12"/>
          <p:cNvSpPr>
            <a:spLocks noChangeShapeType="1"/>
          </p:cNvSpPr>
          <p:nvPr/>
        </p:nvSpPr>
        <p:spPr bwMode="auto">
          <a:xfrm>
            <a:off x="106344" y="0"/>
            <a:ext cx="0" cy="6858000"/>
          </a:xfrm>
          <a:prstGeom prst="line">
            <a:avLst/>
          </a:prstGeom>
          <a:noFill/>
          <a:ln w="57150" cap="flat" cmpd="sng" algn="ctr">
            <a:solidFill>
              <a:schemeClr val="accent1">
                <a:tint val="60000"/>
                <a:alpha val="7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4" name="Straight Connector 13"/>
          <p:cNvSpPr>
            <a:spLocks noChangeShapeType="1"/>
          </p:cNvSpPr>
          <p:nvPr/>
        </p:nvSpPr>
        <p:spPr bwMode="auto">
          <a:xfrm>
            <a:off x="914400" y="0"/>
            <a:ext cx="0" cy="6858000"/>
          </a:xfrm>
          <a:prstGeom prst="line">
            <a:avLst/>
          </a:prstGeom>
          <a:noFill/>
          <a:ln w="57150" cap="flat" cmpd="sng" algn="ctr">
            <a:solidFill>
              <a:schemeClr val="accent1">
                <a:tint val="20000"/>
                <a:alpha val="8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5" name="Straight Connector 14"/>
          <p:cNvSpPr>
            <a:spLocks noChangeShapeType="1"/>
          </p:cNvSpPr>
          <p:nvPr/>
        </p:nvSpPr>
        <p:spPr bwMode="auto">
          <a:xfrm>
            <a:off x="854112" y="0"/>
            <a:ext cx="0" cy="6858000"/>
          </a:xfrm>
          <a:prstGeom prst="line">
            <a:avLst/>
          </a:prstGeom>
          <a:noFill/>
          <a:ln w="5715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6" name="Straight Connector 15"/>
          <p:cNvSpPr>
            <a:spLocks noChangeShapeType="1"/>
          </p:cNvSpPr>
          <p:nvPr/>
        </p:nvSpPr>
        <p:spPr bwMode="auto">
          <a:xfrm>
            <a:off x="1726640" y="0"/>
            <a:ext cx="0" cy="6858000"/>
          </a:xfrm>
          <a:prstGeom prst="line">
            <a:avLst/>
          </a:prstGeom>
          <a:noFill/>
          <a:ln w="28575" cap="flat" cmpd="sng" algn="ctr">
            <a:solidFill>
              <a:schemeClr val="accent1">
                <a:tint val="60000"/>
                <a:alpha val="82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7" name="Straight Connector 16"/>
          <p:cNvSpPr>
            <a:spLocks noChangeShapeType="1"/>
          </p:cNvSpPr>
          <p:nvPr/>
        </p:nvSpPr>
        <p:spPr bwMode="auto">
          <a:xfrm>
            <a:off x="1066800" y="0"/>
            <a:ext cx="0" cy="6858000"/>
          </a:xfrm>
          <a:prstGeom prst="line">
            <a:avLst/>
          </a:prstGeom>
          <a:noFill/>
          <a:ln w="9525"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8" name="Rectangle 17"/>
          <p:cNvSpPr/>
          <p:nvPr/>
        </p:nvSpPr>
        <p:spPr bwMode="auto">
          <a:xfrm>
            <a:off x="1219200" y="0"/>
            <a:ext cx="76200" cy="6858000"/>
          </a:xfrm>
          <a:prstGeom prst="rect">
            <a:avLst/>
          </a:prstGeom>
          <a:solidFill>
            <a:schemeClr val="accent1">
              <a:tint val="60000"/>
              <a:alpha val="5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9" name="Oval 18"/>
          <p:cNvSpPr/>
          <p:nvPr/>
        </p:nvSpPr>
        <p:spPr bwMode="auto">
          <a:xfrm>
            <a:off x="609600" y="3429000"/>
            <a:ext cx="1295400" cy="129540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0" name="Oval 19"/>
          <p:cNvSpPr/>
          <p:nvPr/>
        </p:nvSpPr>
        <p:spPr bwMode="auto">
          <a:xfrm>
            <a:off x="1324704" y="4866752"/>
            <a:ext cx="641424" cy="641424"/>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1" name="Oval 20"/>
          <p:cNvSpPr/>
          <p:nvPr/>
        </p:nvSpPr>
        <p:spPr bwMode="auto">
          <a:xfrm>
            <a:off x="1091080" y="5500632"/>
            <a:ext cx="137160" cy="13716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2" name="Oval 21"/>
          <p:cNvSpPr/>
          <p:nvPr/>
        </p:nvSpPr>
        <p:spPr bwMode="auto">
          <a:xfrm>
            <a:off x="1664208" y="5791200"/>
            <a:ext cx="274320" cy="27432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3" name="Oval 22"/>
          <p:cNvSpPr/>
          <p:nvPr/>
        </p:nvSpPr>
        <p:spPr bwMode="auto">
          <a:xfrm>
            <a:off x="1879040" y="4479888"/>
            <a:ext cx="365760" cy="365760"/>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6" name="Straight Connector 25"/>
          <p:cNvSpPr>
            <a:spLocks noChangeShapeType="1"/>
          </p:cNvSpPr>
          <p:nvPr/>
        </p:nvSpPr>
        <p:spPr bwMode="auto">
          <a:xfrm>
            <a:off x="9097944"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6" name="Slide Number Placeholder 5"/>
          <p:cNvSpPr>
            <a:spLocks noGrp="1"/>
          </p:cNvSpPr>
          <p:nvPr>
            <p:ph type="sldNum" sz="quarter" idx="12"/>
          </p:nvPr>
        </p:nvSpPr>
        <p:spPr bwMode="auto">
          <a:xfrm>
            <a:off x="1340616" y="4928702"/>
            <a:ext cx="609600" cy="517524"/>
          </a:xfrm>
        </p:spPr>
        <p:txBody>
          <a:bodyPr/>
          <a:lstStyle/>
          <a:p>
            <a:fld id="{B6F15528-21DE-4FAA-801E-634DDDAF4B2B}"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5" name="Date Placeholder 4"/>
          <p:cNvSpPr>
            <a:spLocks noGrp="1"/>
          </p:cNvSpPr>
          <p:nvPr>
            <p:ph type="dt" sz="half" idx="10"/>
          </p:nvPr>
        </p:nvSpPr>
        <p:spPr/>
        <p:txBody>
          <a:bodyPr/>
          <a:lstStyle/>
          <a:p>
            <a:fld id="{1D8BD707-D9CF-40AE-B4C6-C98DA3205C09}" type="datetimeFigureOut">
              <a:rPr lang="en-US" smtClean="0"/>
              <a:pPr/>
              <a:t>2/25/2019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
        <p:nvSpPr>
          <p:cNvPr id="9" name="Content Placeholder 8"/>
          <p:cNvSpPr>
            <a:spLocks noGrp="1"/>
          </p:cNvSpPr>
          <p:nvPr>
            <p:ph sz="quarter" idx="1"/>
          </p:nvPr>
        </p:nvSpPr>
        <p:spPr>
          <a:xfrm>
            <a:off x="457200" y="1600200"/>
            <a:ext cx="3657600" cy="45720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1" name="Content Placeholder 10"/>
          <p:cNvSpPr>
            <a:spLocks noGrp="1"/>
          </p:cNvSpPr>
          <p:nvPr>
            <p:ph sz="quarter" idx="2"/>
          </p:nvPr>
        </p:nvSpPr>
        <p:spPr>
          <a:xfrm>
            <a:off x="4270248" y="1600200"/>
            <a:ext cx="3657600" cy="45720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7543800" cy="1143000"/>
          </a:xfrm>
        </p:spPr>
        <p:txBody>
          <a:bodyPr anchor="b"/>
          <a:lstStyle>
            <a:lvl1pPr>
              <a:defRPr/>
            </a:lvl1pPr>
          </a:lstStyle>
          <a:p>
            <a:r>
              <a:rPr kumimoji="0" lang="en-US" smtClean="0"/>
              <a:t>Click to edit Master title style</a:t>
            </a:r>
            <a:endParaRPr kumimoji="0" lang="en-US"/>
          </a:p>
        </p:txBody>
      </p:sp>
      <p:sp>
        <p:nvSpPr>
          <p:cNvPr id="7" name="Date Placeholder 6"/>
          <p:cNvSpPr>
            <a:spLocks noGrp="1"/>
          </p:cNvSpPr>
          <p:nvPr>
            <p:ph type="dt" sz="half" idx="10"/>
          </p:nvPr>
        </p:nvSpPr>
        <p:spPr/>
        <p:txBody>
          <a:bodyPr/>
          <a:lstStyle/>
          <a:p>
            <a:fld id="{1D8BD707-D9CF-40AE-B4C6-C98DA3205C09}" type="datetimeFigureOut">
              <a:rPr lang="en-US" smtClean="0"/>
              <a:pPr/>
              <a:t>2/25/2019</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
        <p:nvSpPr>
          <p:cNvPr id="11" name="Content Placeholder 10"/>
          <p:cNvSpPr>
            <a:spLocks noGrp="1"/>
          </p:cNvSpPr>
          <p:nvPr>
            <p:ph sz="quarter" idx="2"/>
          </p:nvPr>
        </p:nvSpPr>
        <p:spPr>
          <a:xfrm>
            <a:off x="457200" y="2362200"/>
            <a:ext cx="3657600" cy="38862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3" name="Content Placeholder 12"/>
          <p:cNvSpPr>
            <a:spLocks noGrp="1"/>
          </p:cNvSpPr>
          <p:nvPr>
            <p:ph sz="quarter" idx="4"/>
          </p:nvPr>
        </p:nvSpPr>
        <p:spPr>
          <a:xfrm>
            <a:off x="4371975" y="2362200"/>
            <a:ext cx="3657600" cy="38862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2" name="Text Placeholder 11"/>
          <p:cNvSpPr>
            <a:spLocks noGrp="1"/>
          </p:cNvSpPr>
          <p:nvPr>
            <p:ph type="body" sz="quarter" idx="1"/>
          </p:nvPr>
        </p:nvSpPr>
        <p:spPr>
          <a:xfrm>
            <a:off x="457200" y="1569720"/>
            <a:ext cx="3657600" cy="658368"/>
          </a:xfrm>
          <a:prstGeom prst="roundRect">
            <a:avLst>
              <a:gd name="adj" fmla="val 16667"/>
            </a:avLst>
          </a:prstGeom>
          <a:solidFill>
            <a:schemeClr val="accent1"/>
          </a:solidFill>
        </p:spPr>
        <p:txBody>
          <a:bodyPr rtlCol="0" anchor="ctr">
            <a:noAutofit/>
          </a:bodyPr>
          <a:lstStyle>
            <a:lvl1pPr marL="0" indent="0">
              <a:buFontTx/>
              <a:buNone/>
              <a:defRPr sz="2000" b="1">
                <a:solidFill>
                  <a:srgbClr val="FFFFFF"/>
                </a:solidFill>
              </a:defRPr>
            </a:lvl1pPr>
          </a:lstStyle>
          <a:p>
            <a:pPr lvl="0" eaLnBrk="1" latinLnBrk="0" hangingPunct="1"/>
            <a:r>
              <a:rPr kumimoji="0" lang="en-US" smtClean="0"/>
              <a:t>Click to edit Master text styles</a:t>
            </a:r>
          </a:p>
        </p:txBody>
      </p:sp>
      <p:sp>
        <p:nvSpPr>
          <p:cNvPr id="14" name="Text Placeholder 13"/>
          <p:cNvSpPr>
            <a:spLocks noGrp="1"/>
          </p:cNvSpPr>
          <p:nvPr>
            <p:ph type="body" sz="quarter" idx="3"/>
          </p:nvPr>
        </p:nvSpPr>
        <p:spPr>
          <a:xfrm>
            <a:off x="4343400" y="1569720"/>
            <a:ext cx="3657600" cy="658368"/>
          </a:xfrm>
          <a:prstGeom prst="roundRect">
            <a:avLst>
              <a:gd name="adj" fmla="val 16667"/>
            </a:avLst>
          </a:prstGeom>
          <a:solidFill>
            <a:schemeClr val="accent1"/>
          </a:solidFill>
        </p:spPr>
        <p:txBody>
          <a:bodyPr rtlCol="0" anchor="ctr">
            <a:noAutofit/>
          </a:bodyPr>
          <a:lstStyle>
            <a:lvl1pPr marL="0" indent="0">
              <a:buFontTx/>
              <a:buNone/>
              <a:defRPr sz="2000" b="1">
                <a:solidFill>
                  <a:srgbClr val="FFFFFF"/>
                </a:solidFill>
              </a:defRPr>
            </a:lvl1pPr>
          </a:lstStyle>
          <a:p>
            <a:pPr lvl="0" eaLnBrk="1" latinLnBrk="0" hangingPunct="1"/>
            <a:r>
              <a:rPr kumimoji="0" lang="en-US" smtClean="0"/>
              <a:t>Click to edit Master text styles</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6" name="Date Placeholder 5"/>
          <p:cNvSpPr>
            <a:spLocks noGrp="1"/>
          </p:cNvSpPr>
          <p:nvPr>
            <p:ph type="dt" sz="half" idx="10"/>
          </p:nvPr>
        </p:nvSpPr>
        <p:spPr/>
        <p:txBody>
          <a:bodyPr rtlCol="0"/>
          <a:lstStyle/>
          <a:p>
            <a:fld id="{1D8BD707-D9CF-40AE-B4C6-C98DA3205C09}" type="datetimeFigureOut">
              <a:rPr lang="en-US" smtClean="0"/>
              <a:pPr/>
              <a:t>2/25/2019</a:t>
            </a:fld>
            <a:endParaRPr lang="en-US"/>
          </a:p>
        </p:txBody>
      </p:sp>
      <p:sp>
        <p:nvSpPr>
          <p:cNvPr id="7" name="Slide Number Placeholder 6"/>
          <p:cNvSpPr>
            <a:spLocks noGrp="1"/>
          </p:cNvSpPr>
          <p:nvPr>
            <p:ph type="sldNum" sz="quarter" idx="11"/>
          </p:nvPr>
        </p:nvSpPr>
        <p:spPr/>
        <p:txBody>
          <a:bodyPr rtlCol="0"/>
          <a:lstStyle/>
          <a:p>
            <a:fld id="{B6F15528-21DE-4FAA-801E-634DDDAF4B2B}" type="slidenum">
              <a:rPr lang="en-US" smtClean="0"/>
              <a:pPr/>
              <a:t>‹#›</a:t>
            </a:fld>
            <a:endParaRPr lang="en-US"/>
          </a:p>
        </p:txBody>
      </p:sp>
      <p:sp>
        <p:nvSpPr>
          <p:cNvPr id="8" name="Footer Placeholder 7"/>
          <p:cNvSpPr>
            <a:spLocks noGrp="1"/>
          </p:cNvSpPr>
          <p:nvPr>
            <p:ph type="ftr" sz="quarter" idx="12"/>
          </p:nvPr>
        </p:nvSpPr>
        <p:spPr/>
        <p:txBody>
          <a:bodyPr rtlCol="0"/>
          <a:lstStyle/>
          <a:p>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2/25/2019</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Ref idx="1001">
        <a:schemeClr val="bg1"/>
      </p:bgRef>
    </p:bg>
    <p:spTree>
      <p:nvGrpSpPr>
        <p:cNvPr id="1" name=""/>
        <p:cNvGrpSpPr/>
        <p:nvPr/>
      </p:nvGrpSpPr>
      <p:grpSpPr>
        <a:xfrm>
          <a:off x="0" y="0"/>
          <a:ext cx="0" cy="0"/>
          <a:chOff x="0" y="0"/>
          <a:chExt cx="0" cy="0"/>
        </a:xfrm>
      </p:grpSpPr>
      <p:sp>
        <p:nvSpPr>
          <p:cNvPr id="10" name="Straight Connector 9"/>
          <p:cNvSpPr>
            <a:spLocks noChangeShapeType="1"/>
          </p:cNvSpPr>
          <p:nvPr/>
        </p:nvSpPr>
        <p:spPr bwMode="auto">
          <a:xfrm>
            <a:off x="8763000" y="0"/>
            <a:ext cx="0" cy="6858000"/>
          </a:xfrm>
          <a:prstGeom prst="line">
            <a:avLst/>
          </a:prstGeom>
          <a:noFill/>
          <a:ln w="38100" cap="flat" cmpd="sng" algn="ctr">
            <a:solidFill>
              <a:schemeClr val="accent1">
                <a:tint val="60000"/>
                <a:alpha val="93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 name="Title 1"/>
          <p:cNvSpPr>
            <a:spLocks noGrp="1"/>
          </p:cNvSpPr>
          <p:nvPr>
            <p:ph type="title"/>
          </p:nvPr>
        </p:nvSpPr>
        <p:spPr>
          <a:xfrm rot="5400000">
            <a:off x="3371850" y="3200400"/>
            <a:ext cx="6309360" cy="457200"/>
          </a:xfrm>
        </p:spPr>
        <p:txBody>
          <a:bodyPr anchor="b"/>
          <a:lstStyle>
            <a:lvl1pPr algn="l">
              <a:buNone/>
              <a:defRPr sz="2000" b="1" cap="small" baseline="0"/>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6812280" y="274320"/>
            <a:ext cx="1527048" cy="4983480"/>
          </a:xfrm>
        </p:spPr>
        <p:txBody>
          <a:bodyPr/>
          <a:lstStyle>
            <a:lvl1pPr marL="0" indent="0">
              <a:spcBef>
                <a:spcPts val="400"/>
              </a:spcBef>
              <a:spcAft>
                <a:spcPts val="1000"/>
              </a:spcAft>
              <a:buNone/>
              <a:defRPr sz="1200"/>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8" name="Straight Connector 7"/>
          <p:cNvSpPr>
            <a:spLocks noChangeShapeType="1"/>
          </p:cNvSpPr>
          <p:nvPr/>
        </p:nvSpPr>
        <p:spPr bwMode="auto">
          <a:xfrm>
            <a:off x="62484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9" name="Straight Connector 8"/>
          <p:cNvSpPr>
            <a:spLocks noChangeShapeType="1"/>
          </p:cNvSpPr>
          <p:nvPr/>
        </p:nvSpPr>
        <p:spPr bwMode="auto">
          <a:xfrm>
            <a:off x="6192296" y="0"/>
            <a:ext cx="0" cy="6858000"/>
          </a:xfrm>
          <a:prstGeom prst="line">
            <a:avLst/>
          </a:prstGeom>
          <a:noFill/>
          <a:ln w="1270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1" name="Straight Connector 10"/>
          <p:cNvSpPr>
            <a:spLocks noChangeShapeType="1"/>
          </p:cNvSpPr>
          <p:nvPr/>
        </p:nvSpPr>
        <p:spPr bwMode="auto">
          <a:xfrm>
            <a:off x="8991600" y="0"/>
            <a:ext cx="0" cy="6858000"/>
          </a:xfrm>
          <a:prstGeom prst="line">
            <a:avLst/>
          </a:prstGeom>
          <a:noFill/>
          <a:ln w="1905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Rectangle 11"/>
          <p:cNvSpPr/>
          <p:nvPr/>
        </p:nvSpPr>
        <p:spPr bwMode="auto">
          <a:xfrm>
            <a:off x="8839200" y="0"/>
            <a:ext cx="304800" cy="6858000"/>
          </a:xfrm>
          <a:prstGeom prst="rect">
            <a:avLst/>
          </a:prstGeom>
          <a:solidFill>
            <a:schemeClr val="accent1">
              <a:tint val="60000"/>
              <a:alpha val="87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Straight Connector 12"/>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4" name="Oval 13"/>
          <p:cNvSpPr/>
          <p:nvPr/>
        </p:nvSpPr>
        <p:spPr>
          <a:xfrm>
            <a:off x="8156448" y="5715000"/>
            <a:ext cx="54864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8" name="Content Placeholder 17"/>
          <p:cNvSpPr>
            <a:spLocks noGrp="1"/>
          </p:cNvSpPr>
          <p:nvPr>
            <p:ph sz="quarter" idx="1"/>
          </p:nvPr>
        </p:nvSpPr>
        <p:spPr>
          <a:xfrm>
            <a:off x="304800" y="274320"/>
            <a:ext cx="5638800" cy="6327648"/>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21" name="Date Placeholder 20"/>
          <p:cNvSpPr>
            <a:spLocks noGrp="1"/>
          </p:cNvSpPr>
          <p:nvPr>
            <p:ph type="dt" sz="half" idx="14"/>
          </p:nvPr>
        </p:nvSpPr>
        <p:spPr/>
        <p:txBody>
          <a:bodyPr rtlCol="0"/>
          <a:lstStyle/>
          <a:p>
            <a:fld id="{1D8BD707-D9CF-40AE-B4C6-C98DA3205C09}" type="datetimeFigureOut">
              <a:rPr lang="en-US" smtClean="0"/>
              <a:pPr/>
              <a:t>2/25/2019</a:t>
            </a:fld>
            <a:endParaRPr lang="en-US"/>
          </a:p>
        </p:txBody>
      </p:sp>
      <p:sp>
        <p:nvSpPr>
          <p:cNvPr id="22" name="Slide Number Placeholder 21"/>
          <p:cNvSpPr>
            <a:spLocks noGrp="1"/>
          </p:cNvSpPr>
          <p:nvPr>
            <p:ph type="sldNum" sz="quarter" idx="15"/>
          </p:nvPr>
        </p:nvSpPr>
        <p:spPr/>
        <p:txBody>
          <a:bodyPr rtlCol="0"/>
          <a:lstStyle/>
          <a:p>
            <a:fld id="{B6F15528-21DE-4FAA-801E-634DDDAF4B2B}" type="slidenum">
              <a:rPr lang="en-US" smtClean="0"/>
              <a:pPr/>
              <a:t>‹#›</a:t>
            </a:fld>
            <a:endParaRPr lang="en-US"/>
          </a:p>
        </p:txBody>
      </p:sp>
      <p:sp>
        <p:nvSpPr>
          <p:cNvPr id="23" name="Footer Placeholder 22"/>
          <p:cNvSpPr>
            <a:spLocks noGrp="1"/>
          </p:cNvSpPr>
          <p:nvPr>
            <p:ph type="ftr" sz="quarter" idx="16"/>
          </p:nvPr>
        </p:nvSpPr>
        <p:spPr/>
        <p:txBody>
          <a:bodyPr rtlCol="0"/>
          <a:lstStyle/>
          <a:p>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Straight Connector 8"/>
          <p:cNvSpPr>
            <a:spLocks noChangeShapeType="1"/>
          </p:cNvSpPr>
          <p:nvPr/>
        </p:nvSpPr>
        <p:spPr bwMode="auto">
          <a:xfrm>
            <a:off x="87630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Oval 12"/>
          <p:cNvSpPr/>
          <p:nvPr/>
        </p:nvSpPr>
        <p:spPr>
          <a:xfrm>
            <a:off x="8156448" y="5715000"/>
            <a:ext cx="54864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 name="Title 1"/>
          <p:cNvSpPr>
            <a:spLocks noGrp="1"/>
          </p:cNvSpPr>
          <p:nvPr>
            <p:ph type="title"/>
          </p:nvPr>
        </p:nvSpPr>
        <p:spPr>
          <a:xfrm rot="5400000">
            <a:off x="3350133" y="3200400"/>
            <a:ext cx="6309360" cy="457200"/>
          </a:xfrm>
        </p:spPr>
        <p:txBody>
          <a:bodyPr anchor="b"/>
          <a:lstStyle>
            <a:lvl1pPr algn="l">
              <a:buNone/>
              <a:defRPr sz="2000" b="1"/>
            </a:lvl1pPr>
          </a:lstStyle>
          <a:p>
            <a:r>
              <a:rPr kumimoji="0" lang="en-US" smtClean="0"/>
              <a:t>Click to edit Master title style</a:t>
            </a:r>
            <a:endParaRPr kumimoji="0" lang="en-US"/>
          </a:p>
        </p:txBody>
      </p:sp>
      <p:sp>
        <p:nvSpPr>
          <p:cNvPr id="3" name="Picture Placeholder 2"/>
          <p:cNvSpPr>
            <a:spLocks noGrp="1"/>
          </p:cNvSpPr>
          <p:nvPr>
            <p:ph type="pic" idx="1"/>
          </p:nvPr>
        </p:nvSpPr>
        <p:spPr>
          <a:xfrm>
            <a:off x="0" y="0"/>
            <a:ext cx="6172200" cy="6858000"/>
          </a:xfrm>
          <a:solidFill>
            <a:schemeClr val="bg2"/>
          </a:solidFill>
          <a:ln w="1270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lstStyle>
            <a:lvl1pPr marL="0" indent="0">
              <a:buNone/>
              <a:defRPr sz="3200"/>
            </a:lvl1pPr>
          </a:lstStyle>
          <a:p>
            <a:pPr algn="ctr" eaLnBrk="1" latinLnBrk="0" hangingPunct="1">
              <a:buFontTx/>
              <a:buNone/>
            </a:pPr>
            <a:r>
              <a:rPr kumimoji="0" lang="en-US" smtClean="0"/>
              <a:t>Click icon to add picture</a:t>
            </a:r>
            <a:endParaRPr kumimoji="0" lang="en-US" dirty="0"/>
          </a:p>
        </p:txBody>
      </p:sp>
      <p:sp>
        <p:nvSpPr>
          <p:cNvPr id="4" name="Text Placeholder 3"/>
          <p:cNvSpPr>
            <a:spLocks noGrp="1"/>
          </p:cNvSpPr>
          <p:nvPr>
            <p:ph type="body" sz="half" idx="2"/>
          </p:nvPr>
        </p:nvSpPr>
        <p:spPr>
          <a:xfrm>
            <a:off x="6765798" y="264795"/>
            <a:ext cx="1524000" cy="4956048"/>
          </a:xfrm>
        </p:spPr>
        <p:txBody>
          <a:bodyPr rot="0" spcFirstLastPara="0" vertOverflow="overflow" horzOverflow="overflow" vert="horz" wrap="square" lIns="91440" tIns="45720" rIns="91440" bIns="45720" numCol="1" spcCol="274320" rtlCol="0" fromWordArt="0" anchor="t" anchorCtr="0" forceAA="0" compatLnSpc="1">
            <a:normAutofit/>
          </a:bodyPr>
          <a:lstStyle>
            <a:lvl1pPr marL="0" indent="0">
              <a:spcBef>
                <a:spcPts val="100"/>
              </a:spcBef>
              <a:spcAft>
                <a:spcPts val="400"/>
              </a:spcAft>
              <a:buFontTx/>
              <a:buNone/>
              <a:defRPr sz="1200"/>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10" name="Straight Connector 9"/>
          <p:cNvSpPr>
            <a:spLocks noChangeShapeType="1"/>
          </p:cNvSpPr>
          <p:nvPr/>
        </p:nvSpPr>
        <p:spPr bwMode="auto">
          <a:xfrm>
            <a:off x="8991600" y="0"/>
            <a:ext cx="0" cy="6858000"/>
          </a:xfrm>
          <a:prstGeom prst="line">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1" name="Rectangle 10"/>
          <p:cNvSpPr/>
          <p:nvPr/>
        </p:nvSpPr>
        <p:spPr bwMode="auto">
          <a:xfrm>
            <a:off x="8839200" y="0"/>
            <a:ext cx="304800" cy="6858000"/>
          </a:xfrm>
          <a:prstGeom prst="rect">
            <a:avLst/>
          </a:prstGeom>
          <a:solidFill>
            <a:schemeClr val="accent1">
              <a:tint val="6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Straight Connector 11"/>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9" name="Straight Connector 18"/>
          <p:cNvSpPr>
            <a:spLocks noChangeShapeType="1"/>
          </p:cNvSpPr>
          <p:nvPr/>
        </p:nvSpPr>
        <p:spPr bwMode="auto">
          <a:xfrm>
            <a:off x="62484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0" name="Straight Connector 19"/>
          <p:cNvSpPr>
            <a:spLocks noChangeShapeType="1"/>
          </p:cNvSpPr>
          <p:nvPr/>
        </p:nvSpPr>
        <p:spPr bwMode="auto">
          <a:xfrm>
            <a:off x="6192296" y="0"/>
            <a:ext cx="0" cy="6858000"/>
          </a:xfrm>
          <a:prstGeom prst="line">
            <a:avLst/>
          </a:prstGeom>
          <a:noFill/>
          <a:ln w="1270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7" name="Date Placeholder 16"/>
          <p:cNvSpPr>
            <a:spLocks noGrp="1"/>
          </p:cNvSpPr>
          <p:nvPr>
            <p:ph type="dt" sz="half" idx="10"/>
          </p:nvPr>
        </p:nvSpPr>
        <p:spPr/>
        <p:txBody>
          <a:bodyPr rtlCol="0"/>
          <a:lstStyle/>
          <a:p>
            <a:fld id="{1D8BD707-D9CF-40AE-B4C6-C98DA3205C09}" type="datetimeFigureOut">
              <a:rPr lang="en-US" smtClean="0"/>
              <a:pPr/>
              <a:t>2/25/2019</a:t>
            </a:fld>
            <a:endParaRPr lang="en-US"/>
          </a:p>
        </p:txBody>
      </p:sp>
      <p:sp>
        <p:nvSpPr>
          <p:cNvPr id="18" name="Slide Number Placeholder 17"/>
          <p:cNvSpPr>
            <a:spLocks noGrp="1"/>
          </p:cNvSpPr>
          <p:nvPr>
            <p:ph type="sldNum" sz="quarter" idx="11"/>
          </p:nvPr>
        </p:nvSpPr>
        <p:spPr/>
        <p:txBody>
          <a:bodyPr rtlCol="0"/>
          <a:lstStyle/>
          <a:p>
            <a:fld id="{B6F15528-21DE-4FAA-801E-634DDDAF4B2B}" type="slidenum">
              <a:rPr lang="en-US" smtClean="0"/>
              <a:pPr/>
              <a:t>‹#›</a:t>
            </a:fld>
            <a:endParaRPr lang="en-US"/>
          </a:p>
        </p:txBody>
      </p:sp>
      <p:sp>
        <p:nvSpPr>
          <p:cNvPr id="21" name="Footer Placeholder 20"/>
          <p:cNvSpPr>
            <a:spLocks noGrp="1"/>
          </p:cNvSpPr>
          <p:nvPr>
            <p:ph type="ftr" sz="quarter" idx="12"/>
          </p:nvPr>
        </p:nvSpPr>
        <p:spPr/>
        <p:txBody>
          <a:bodyPr rtlCol="0"/>
          <a:lstStyle/>
          <a:p>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pPr/>
              <a:t>2/25/2019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9"/>
            <a:ext cx="1676400" cy="5851525"/>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pPr/>
              <a:t>2/25/2019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6" name="Straight Connector 15"/>
          <p:cNvSpPr>
            <a:spLocks noChangeShapeType="1"/>
          </p:cNvSpPr>
          <p:nvPr/>
        </p:nvSpPr>
        <p:spPr bwMode="auto">
          <a:xfrm>
            <a:off x="8763000" y="0"/>
            <a:ext cx="0" cy="6858000"/>
          </a:xfrm>
          <a:prstGeom prst="line">
            <a:avLst/>
          </a:prstGeom>
          <a:noFill/>
          <a:ln w="38100" cap="flat" cmpd="sng" algn="ctr">
            <a:solidFill>
              <a:schemeClr val="accent1">
                <a:tint val="60000"/>
                <a:alpha val="93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2" name="Title Placeholder 21"/>
          <p:cNvSpPr>
            <a:spLocks noGrp="1"/>
          </p:cNvSpPr>
          <p:nvPr>
            <p:ph type="title"/>
          </p:nvPr>
        </p:nvSpPr>
        <p:spPr>
          <a:xfrm>
            <a:off x="457200" y="274638"/>
            <a:ext cx="7467600" cy="1143000"/>
          </a:xfrm>
          <a:prstGeom prst="rect">
            <a:avLst/>
          </a:prstGeom>
        </p:spPr>
        <p:txBody>
          <a:bodyPr vert="horz" anchor="b">
            <a:normAutofit/>
          </a:bodyPr>
          <a:lstStyle/>
          <a:p>
            <a:r>
              <a:rPr kumimoji="0" lang="en-US" smtClean="0"/>
              <a:t>Click to edit Master title style</a:t>
            </a:r>
            <a:endParaRPr kumimoji="0" lang="en-US"/>
          </a:p>
        </p:txBody>
      </p:sp>
      <p:sp>
        <p:nvSpPr>
          <p:cNvPr id="13" name="Text Placeholder 12"/>
          <p:cNvSpPr>
            <a:spLocks noGrp="1"/>
          </p:cNvSpPr>
          <p:nvPr>
            <p:ph type="body" idx="1"/>
          </p:nvPr>
        </p:nvSpPr>
        <p:spPr>
          <a:xfrm>
            <a:off x="457200" y="1600200"/>
            <a:ext cx="7467600" cy="4873752"/>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4" name="Date Placeholder 13"/>
          <p:cNvSpPr>
            <a:spLocks noGrp="1"/>
          </p:cNvSpPr>
          <p:nvPr>
            <p:ph type="dt" sz="half" idx="2"/>
          </p:nvPr>
        </p:nvSpPr>
        <p:spPr>
          <a:xfrm rot="5400000">
            <a:off x="7589520" y="1081851"/>
            <a:ext cx="2011680" cy="384048"/>
          </a:xfrm>
          <a:prstGeom prst="rect">
            <a:avLst/>
          </a:prstGeom>
        </p:spPr>
        <p:txBody>
          <a:bodyPr vert="horz" anchor="ctr" anchorCtr="0"/>
          <a:lstStyle>
            <a:lvl1pPr algn="r" eaLnBrk="1" latinLnBrk="0" hangingPunct="1">
              <a:defRPr kumimoji="0" sz="1200">
                <a:solidFill>
                  <a:schemeClr val="tx2"/>
                </a:solidFill>
              </a:defRPr>
            </a:lvl1pPr>
          </a:lstStyle>
          <a:p>
            <a:fld id="{1D8BD707-D9CF-40AE-B4C6-C98DA3205C09}" type="datetimeFigureOut">
              <a:rPr lang="en-US" smtClean="0"/>
              <a:pPr/>
              <a:t>2/25/2019</a:t>
            </a:fld>
            <a:endParaRPr lang="en-US"/>
          </a:p>
        </p:txBody>
      </p:sp>
      <p:sp>
        <p:nvSpPr>
          <p:cNvPr id="3" name="Footer Placeholder 2"/>
          <p:cNvSpPr>
            <a:spLocks noGrp="1"/>
          </p:cNvSpPr>
          <p:nvPr>
            <p:ph type="ftr" sz="quarter" idx="3"/>
          </p:nvPr>
        </p:nvSpPr>
        <p:spPr>
          <a:xfrm rot="5400000">
            <a:off x="6990186" y="3737240"/>
            <a:ext cx="3200400" cy="365760"/>
          </a:xfrm>
          <a:prstGeom prst="rect">
            <a:avLst/>
          </a:prstGeom>
        </p:spPr>
        <p:txBody>
          <a:bodyPr vert="horz" anchor="ctr" anchorCtr="0"/>
          <a:lstStyle>
            <a:lvl1pPr algn="l" eaLnBrk="1" latinLnBrk="0" hangingPunct="1">
              <a:defRPr kumimoji="0" sz="1200">
                <a:solidFill>
                  <a:schemeClr val="tx2"/>
                </a:solidFill>
              </a:defRPr>
            </a:lvl1pPr>
          </a:lstStyle>
          <a:p>
            <a:endParaRPr lang="en-US"/>
          </a:p>
        </p:txBody>
      </p:sp>
      <p:sp>
        <p:nvSpPr>
          <p:cNvPr id="7" name="Straight Connector 6"/>
          <p:cNvSpPr>
            <a:spLocks noChangeShapeType="1"/>
          </p:cNvSpPr>
          <p:nvPr/>
        </p:nvSpPr>
        <p:spPr bwMode="auto">
          <a:xfrm>
            <a:off x="76200"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9" name="Straight Connector 8"/>
          <p:cNvSpPr>
            <a:spLocks noChangeShapeType="1"/>
          </p:cNvSpPr>
          <p:nvPr/>
        </p:nvSpPr>
        <p:spPr bwMode="auto">
          <a:xfrm>
            <a:off x="8991600" y="0"/>
            <a:ext cx="0" cy="6858000"/>
          </a:xfrm>
          <a:prstGeom prst="line">
            <a:avLst/>
          </a:prstGeom>
          <a:noFill/>
          <a:ln w="1905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0" name="Rectangle 9"/>
          <p:cNvSpPr/>
          <p:nvPr/>
        </p:nvSpPr>
        <p:spPr bwMode="auto">
          <a:xfrm>
            <a:off x="8839200" y="0"/>
            <a:ext cx="304800" cy="6858000"/>
          </a:xfrm>
          <a:prstGeom prst="rect">
            <a:avLst/>
          </a:prstGeom>
          <a:solidFill>
            <a:schemeClr val="accent1">
              <a:tint val="60000"/>
              <a:alpha val="87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Straight Connector 10"/>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Oval 11"/>
          <p:cNvSpPr/>
          <p:nvPr/>
        </p:nvSpPr>
        <p:spPr>
          <a:xfrm>
            <a:off x="8156448" y="5715000"/>
            <a:ext cx="54864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3" name="Slide Number Placeholder 22"/>
          <p:cNvSpPr>
            <a:spLocks noGrp="1"/>
          </p:cNvSpPr>
          <p:nvPr>
            <p:ph type="sldNum" sz="quarter" idx="4"/>
          </p:nvPr>
        </p:nvSpPr>
        <p:spPr>
          <a:xfrm>
            <a:off x="8129016" y="5734050"/>
            <a:ext cx="609600" cy="521208"/>
          </a:xfrm>
          <a:prstGeom prst="rect">
            <a:avLst/>
          </a:prstGeom>
        </p:spPr>
        <p:txBody>
          <a:bodyPr vert="horz" anchor="ctr"/>
          <a:lstStyle>
            <a:lvl1pPr algn="ctr" eaLnBrk="1" latinLnBrk="0" hangingPunct="1">
              <a:defRPr kumimoji="0" sz="1400" b="1">
                <a:solidFill>
                  <a:srgbClr val="FFFFFF"/>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3000" b="0" kern="1200" cap="small" baseline="0">
          <a:solidFill>
            <a:schemeClr val="tx2"/>
          </a:solidFill>
          <a:latin typeface="+mj-lt"/>
          <a:ea typeface="+mj-ea"/>
          <a:cs typeface="+mj-cs"/>
        </a:defRPr>
      </a:lvl1pPr>
    </p:titleStyle>
    <p:bodyStyle>
      <a:lvl1pPr marL="274320" indent="-274320" algn="l" rtl="0" eaLnBrk="1" latinLnBrk="0" hangingPunct="1">
        <a:spcBef>
          <a:spcPts val="600"/>
        </a:spcBef>
        <a:buClr>
          <a:schemeClr val="accent1"/>
        </a:buClr>
        <a:buSzPct val="70000"/>
        <a:buFont typeface="Wingdings"/>
        <a:buChar char=""/>
        <a:defRPr kumimoji="0" sz="2400" kern="1200">
          <a:solidFill>
            <a:schemeClr val="tx1"/>
          </a:solidFill>
          <a:latin typeface="+mn-lt"/>
          <a:ea typeface="+mn-ea"/>
          <a:cs typeface="+mn-cs"/>
        </a:defRPr>
      </a:lvl1pPr>
      <a:lvl2pPr marL="640080" indent="-274320" algn="l" rtl="0" eaLnBrk="1" latinLnBrk="0" hangingPunct="1">
        <a:spcBef>
          <a:spcPct val="20000"/>
        </a:spcBef>
        <a:buClr>
          <a:schemeClr val="accent1"/>
        </a:buClr>
        <a:buSzPct val="80000"/>
        <a:buFont typeface="Wingdings 2"/>
        <a:buChar char=""/>
        <a:defRPr kumimoji="0" sz="2100" kern="1200">
          <a:solidFill>
            <a:schemeClr val="tx1"/>
          </a:solidFill>
          <a:latin typeface="+mn-lt"/>
          <a:ea typeface="+mn-ea"/>
          <a:cs typeface="+mn-cs"/>
        </a:defRPr>
      </a:lvl2pPr>
      <a:lvl3pPr marL="914400" indent="-182880" algn="l" rtl="0" eaLnBrk="1" latinLnBrk="0" hangingPunct="1">
        <a:spcBef>
          <a:spcPct val="20000"/>
        </a:spcBef>
        <a:buClr>
          <a:schemeClr val="accent1">
            <a:shade val="75000"/>
          </a:schemeClr>
        </a:buClr>
        <a:buSzPct val="60000"/>
        <a:buFont typeface="Wingdings"/>
        <a:buChar char=""/>
        <a:defRPr kumimoji="0" sz="1800" kern="1200">
          <a:solidFill>
            <a:schemeClr val="tx1"/>
          </a:solidFill>
          <a:latin typeface="+mn-lt"/>
          <a:ea typeface="+mn-ea"/>
          <a:cs typeface="+mn-cs"/>
        </a:defRPr>
      </a:lvl3pPr>
      <a:lvl4pPr marL="1188720" indent="-182880" algn="l" rtl="0" eaLnBrk="1" latinLnBrk="0" hangingPunct="1">
        <a:spcBef>
          <a:spcPct val="20000"/>
        </a:spcBef>
        <a:buClr>
          <a:schemeClr val="accent1">
            <a:tint val="60000"/>
          </a:schemeClr>
        </a:buClr>
        <a:buSzPct val="60000"/>
        <a:buFont typeface="Wingdings"/>
        <a:buChar char=""/>
        <a:defRPr kumimoji="0" sz="1800" kern="1200">
          <a:solidFill>
            <a:schemeClr val="tx1"/>
          </a:solidFill>
          <a:latin typeface="+mn-lt"/>
          <a:ea typeface="+mn-ea"/>
          <a:cs typeface="+mn-cs"/>
        </a:defRPr>
      </a:lvl4pPr>
      <a:lvl5pPr marL="1463040" indent="-182880" algn="l" rtl="0" eaLnBrk="1" latinLnBrk="0" hangingPunct="1">
        <a:spcBef>
          <a:spcPct val="20000"/>
        </a:spcBef>
        <a:buClr>
          <a:schemeClr val="accent2">
            <a:tint val="60000"/>
          </a:schemeClr>
        </a:buClr>
        <a:buSzPct val="68000"/>
        <a:buFont typeface="Wingdings 2"/>
        <a:buChar char=""/>
        <a:defRPr kumimoji="0" sz="1600" kern="1200">
          <a:solidFill>
            <a:schemeClr val="tx1"/>
          </a:solidFill>
          <a:latin typeface="+mn-lt"/>
          <a:ea typeface="+mn-ea"/>
          <a:cs typeface="+mn-cs"/>
        </a:defRPr>
      </a:lvl5pPr>
      <a:lvl6pPr marL="1737360" indent="-182880" algn="l" rtl="0" eaLnBrk="1" latinLnBrk="0" hangingPunct="1">
        <a:spcBef>
          <a:spcPct val="20000"/>
        </a:spcBef>
        <a:buClr>
          <a:schemeClr val="accent1"/>
        </a:buClr>
        <a:buChar char="•"/>
        <a:defRPr kumimoji="0" sz="1600" kern="1200">
          <a:solidFill>
            <a:schemeClr val="tx2"/>
          </a:solidFill>
          <a:latin typeface="+mn-lt"/>
          <a:ea typeface="+mn-ea"/>
          <a:cs typeface="+mn-cs"/>
        </a:defRPr>
      </a:lvl6pPr>
      <a:lvl7pPr marL="2011680" indent="-182880" algn="l" rtl="0" eaLnBrk="1" latinLnBrk="0" hangingPunct="1">
        <a:spcBef>
          <a:spcPct val="20000"/>
        </a:spcBef>
        <a:buClr>
          <a:schemeClr val="accent1">
            <a:tint val="60000"/>
          </a:schemeClr>
        </a:buClr>
        <a:buSzPct val="60000"/>
        <a:buFont typeface="Wingdings"/>
        <a:buChar char=""/>
        <a:defRPr kumimoji="0" sz="1400" kern="1200" baseline="0">
          <a:solidFill>
            <a:schemeClr val="tx2"/>
          </a:solidFill>
          <a:latin typeface="+mn-lt"/>
          <a:ea typeface="+mn-ea"/>
          <a:cs typeface="+mn-cs"/>
        </a:defRPr>
      </a:lvl7pPr>
      <a:lvl8pPr marL="2286000" indent="-182880" algn="l" rtl="0" eaLnBrk="1" latinLnBrk="0" hangingPunct="1">
        <a:spcBef>
          <a:spcPct val="20000"/>
        </a:spcBef>
        <a:buClr>
          <a:schemeClr val="accent2"/>
        </a:buClr>
        <a:buChar char="•"/>
        <a:defRPr kumimoji="0" sz="1400" kern="1200" cap="small" baseline="0">
          <a:solidFill>
            <a:schemeClr val="tx2"/>
          </a:solidFill>
          <a:latin typeface="+mn-lt"/>
          <a:ea typeface="+mn-ea"/>
          <a:cs typeface="+mn-cs"/>
        </a:defRPr>
      </a:lvl8pPr>
      <a:lvl9pPr marL="2560320" indent="-182880" algn="l" rtl="0" eaLnBrk="1" latinLnBrk="0" hangingPunct="1">
        <a:spcBef>
          <a:spcPct val="20000"/>
        </a:spcBef>
        <a:buClr>
          <a:schemeClr val="accent1">
            <a:shade val="75000"/>
          </a:schemeClr>
        </a:buClr>
        <a:buChar char="•"/>
        <a:defRPr kumimoji="0" sz="1400" kern="1200" baseline="0">
          <a:solidFill>
            <a:schemeClr val="tx2"/>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C – File-IO</a:t>
            </a:r>
            <a:endParaRPr lang="en-US" dirty="0"/>
          </a:p>
        </p:txBody>
      </p:sp>
      <p:sp>
        <p:nvSpPr>
          <p:cNvPr id="3" name="Subtitle 2"/>
          <p:cNvSpPr>
            <a:spLocks noGrp="1"/>
          </p:cNvSpPr>
          <p:nvPr>
            <p:ph type="subTitle" idx="1"/>
          </p:nvPr>
        </p:nvSpPr>
        <p:spPr/>
        <p:txBody>
          <a:bodyPr/>
          <a:lstStyle/>
          <a:p>
            <a:r>
              <a:rPr lang="en-US" dirty="0" smtClean="0"/>
              <a:t>Abu Sayeed</a:t>
            </a:r>
          </a:p>
          <a:p>
            <a:r>
              <a:rPr lang="en-US" dirty="0" smtClean="0"/>
              <a:t>Assistant Professor</a:t>
            </a:r>
          </a:p>
          <a:p>
            <a:r>
              <a:rPr lang="en-US" smtClean="0"/>
              <a:t>Department of Computer Science &amp; Engineering</a:t>
            </a:r>
          </a:p>
          <a:p>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4777" y="27609"/>
            <a:ext cx="7467600" cy="715962"/>
          </a:xfrm>
        </p:spPr>
        <p:txBody>
          <a:bodyPr/>
          <a:lstStyle/>
          <a:p>
            <a:pPr algn="ctr"/>
            <a:r>
              <a:rPr lang="en-US" dirty="0" smtClean="0"/>
              <a:t>C - FILE</a:t>
            </a:r>
            <a:endParaRPr lang="en-US" dirty="0"/>
          </a:p>
        </p:txBody>
      </p:sp>
      <p:sp>
        <p:nvSpPr>
          <p:cNvPr id="3" name="Content Placeholder 2"/>
          <p:cNvSpPr>
            <a:spLocks noGrp="1"/>
          </p:cNvSpPr>
          <p:nvPr>
            <p:ph sz="quarter" idx="1"/>
          </p:nvPr>
        </p:nvSpPr>
        <p:spPr>
          <a:xfrm>
            <a:off x="152400" y="990600"/>
            <a:ext cx="8610600" cy="5410200"/>
          </a:xfrm>
        </p:spPr>
        <p:txBody>
          <a:bodyPr>
            <a:normAutofit/>
          </a:bodyPr>
          <a:lstStyle/>
          <a:p>
            <a:r>
              <a:rPr lang="en-US" dirty="0"/>
              <a:t>A file represents a sequence of bytes, does not matter if it is a text file or binary file. </a:t>
            </a:r>
            <a:endParaRPr lang="en-US" dirty="0" smtClean="0"/>
          </a:p>
          <a:p>
            <a:r>
              <a:rPr lang="en-US" dirty="0" smtClean="0"/>
              <a:t>C </a:t>
            </a:r>
            <a:r>
              <a:rPr lang="en-US" dirty="0"/>
              <a:t>programming language provides access on high </a:t>
            </a:r>
            <a:r>
              <a:rPr lang="en-US" dirty="0" smtClean="0"/>
              <a:t>level </a:t>
            </a:r>
            <a:r>
              <a:rPr lang="en-US" dirty="0"/>
              <a:t>functions as well as low level (OS level) calls to handle file on your storage devices. </a:t>
            </a:r>
            <a:endParaRPr lang="en-US" dirty="0" smtClean="0"/>
          </a:p>
          <a:p>
            <a:r>
              <a:rPr lang="en-US" dirty="0" smtClean="0"/>
              <a:t>This lesson </a:t>
            </a:r>
            <a:r>
              <a:rPr lang="en-US" dirty="0"/>
              <a:t>will take you through important calls for the file management.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13472" y="198077"/>
            <a:ext cx="7467600" cy="563562"/>
          </a:xfrm>
        </p:spPr>
        <p:txBody>
          <a:bodyPr/>
          <a:lstStyle/>
          <a:p>
            <a:pPr algn="ctr"/>
            <a:r>
              <a:rPr lang="en-US" dirty="0"/>
              <a:t>Opening </a:t>
            </a:r>
            <a:r>
              <a:rPr lang="en-US" dirty="0" smtClean="0"/>
              <a:t>Files</a:t>
            </a:r>
            <a:endParaRPr lang="en-US" dirty="0"/>
          </a:p>
        </p:txBody>
      </p:sp>
      <p:sp>
        <p:nvSpPr>
          <p:cNvPr id="3" name="Content Placeholder 2"/>
          <p:cNvSpPr>
            <a:spLocks noGrp="1"/>
          </p:cNvSpPr>
          <p:nvPr>
            <p:ph sz="quarter" idx="1"/>
          </p:nvPr>
        </p:nvSpPr>
        <p:spPr>
          <a:xfrm>
            <a:off x="138954" y="990600"/>
            <a:ext cx="8534400" cy="2362200"/>
          </a:xfrm>
        </p:spPr>
        <p:txBody>
          <a:bodyPr/>
          <a:lstStyle/>
          <a:p>
            <a:pPr algn="just"/>
            <a:r>
              <a:rPr lang="en-US" dirty="0"/>
              <a:t>You can use the </a:t>
            </a:r>
            <a:r>
              <a:rPr lang="en-US" b="1" dirty="0" err="1"/>
              <a:t>fopen</a:t>
            </a:r>
            <a:r>
              <a:rPr lang="en-US" b="1" dirty="0"/>
              <a:t>( )</a:t>
            </a:r>
            <a:r>
              <a:rPr lang="en-US" dirty="0"/>
              <a:t> function to create a new file or to open an existing file, this call will initialize an object of the type </a:t>
            </a:r>
            <a:r>
              <a:rPr lang="en-US" b="1" dirty="0"/>
              <a:t>FILE</a:t>
            </a:r>
            <a:r>
              <a:rPr lang="en-US" dirty="0"/>
              <a:t>, which contains all the information necessary to control the stream. </a:t>
            </a:r>
            <a:endParaRPr lang="en-US" dirty="0" smtClean="0"/>
          </a:p>
          <a:p>
            <a:pPr algn="just"/>
            <a:r>
              <a:rPr lang="en-US" dirty="0" smtClean="0"/>
              <a:t>Following </a:t>
            </a:r>
            <a:r>
              <a:rPr lang="en-US" dirty="0"/>
              <a:t>is the prototype of this function call:</a:t>
            </a:r>
          </a:p>
        </p:txBody>
      </p:sp>
      <p:pic>
        <p:nvPicPr>
          <p:cNvPr id="6" name="Picture 5"/>
          <p:cNvPicPr>
            <a:picLocks noChangeAspect="1"/>
          </p:cNvPicPr>
          <p:nvPr/>
        </p:nvPicPr>
        <p:blipFill rotWithShape="1">
          <a:blip r:embed="rId2" cstate="print"/>
          <a:srcRect l="1015" t="4156" r="2329" b="-1"/>
          <a:stretch/>
        </p:blipFill>
        <p:spPr>
          <a:xfrm>
            <a:off x="366059" y="3452911"/>
            <a:ext cx="8277850" cy="457200"/>
          </a:xfrm>
          <a:prstGeom prst="rect">
            <a:avLst/>
          </a:prstGeom>
          <a:ln>
            <a:solidFill>
              <a:schemeClr val="accent1"/>
            </a:solidFill>
          </a:ln>
        </p:spPr>
      </p:pic>
      <p:sp>
        <p:nvSpPr>
          <p:cNvPr id="8" name="Content Placeholder 2"/>
          <p:cNvSpPr txBox="1">
            <a:spLocks/>
          </p:cNvSpPr>
          <p:nvPr/>
        </p:nvSpPr>
        <p:spPr>
          <a:xfrm>
            <a:off x="141944" y="4310492"/>
            <a:ext cx="8534400" cy="2362200"/>
          </a:xfrm>
          <a:prstGeom prst="rect">
            <a:avLst/>
          </a:prstGeom>
        </p:spPr>
        <p:txBody>
          <a:bodyPr vert="horz">
            <a:normAutofit/>
          </a:bodyPr>
          <a:lstStyle>
            <a:lvl1pPr marL="274320" indent="-274320" algn="l" rtl="0" eaLnBrk="1" latinLnBrk="0" hangingPunct="1">
              <a:spcBef>
                <a:spcPts val="600"/>
              </a:spcBef>
              <a:buClr>
                <a:schemeClr val="accent1"/>
              </a:buClr>
              <a:buSzPct val="70000"/>
              <a:buFont typeface="Wingdings"/>
              <a:buChar char=""/>
              <a:defRPr kumimoji="0" sz="2400" kern="1200">
                <a:solidFill>
                  <a:schemeClr val="tx1"/>
                </a:solidFill>
                <a:latin typeface="+mn-lt"/>
                <a:ea typeface="+mn-ea"/>
                <a:cs typeface="+mn-cs"/>
              </a:defRPr>
            </a:lvl1pPr>
            <a:lvl2pPr marL="640080" indent="-274320" algn="l" rtl="0" eaLnBrk="1" latinLnBrk="0" hangingPunct="1">
              <a:spcBef>
                <a:spcPct val="20000"/>
              </a:spcBef>
              <a:buClr>
                <a:schemeClr val="accent1"/>
              </a:buClr>
              <a:buSzPct val="80000"/>
              <a:buFont typeface="Wingdings 2"/>
              <a:buChar char=""/>
              <a:defRPr kumimoji="0" sz="2100" kern="1200">
                <a:solidFill>
                  <a:schemeClr val="tx1"/>
                </a:solidFill>
                <a:latin typeface="+mn-lt"/>
                <a:ea typeface="+mn-ea"/>
                <a:cs typeface="+mn-cs"/>
              </a:defRPr>
            </a:lvl2pPr>
            <a:lvl3pPr marL="914400" indent="-182880" algn="l" rtl="0" eaLnBrk="1" latinLnBrk="0" hangingPunct="1">
              <a:spcBef>
                <a:spcPct val="20000"/>
              </a:spcBef>
              <a:buClr>
                <a:schemeClr val="accent1">
                  <a:shade val="75000"/>
                </a:schemeClr>
              </a:buClr>
              <a:buSzPct val="60000"/>
              <a:buFont typeface="Wingdings"/>
              <a:buChar char=""/>
              <a:defRPr kumimoji="0" sz="1800" kern="1200">
                <a:solidFill>
                  <a:schemeClr val="tx1"/>
                </a:solidFill>
                <a:latin typeface="+mn-lt"/>
                <a:ea typeface="+mn-ea"/>
                <a:cs typeface="+mn-cs"/>
              </a:defRPr>
            </a:lvl3pPr>
            <a:lvl4pPr marL="1188720" indent="-182880" algn="l" rtl="0" eaLnBrk="1" latinLnBrk="0" hangingPunct="1">
              <a:spcBef>
                <a:spcPct val="20000"/>
              </a:spcBef>
              <a:buClr>
                <a:schemeClr val="accent1">
                  <a:tint val="60000"/>
                </a:schemeClr>
              </a:buClr>
              <a:buSzPct val="60000"/>
              <a:buFont typeface="Wingdings"/>
              <a:buChar char=""/>
              <a:defRPr kumimoji="0" sz="1800" kern="1200">
                <a:solidFill>
                  <a:schemeClr val="tx1"/>
                </a:solidFill>
                <a:latin typeface="+mn-lt"/>
                <a:ea typeface="+mn-ea"/>
                <a:cs typeface="+mn-cs"/>
              </a:defRPr>
            </a:lvl4pPr>
            <a:lvl5pPr marL="1463040" indent="-182880" algn="l" rtl="0" eaLnBrk="1" latinLnBrk="0" hangingPunct="1">
              <a:spcBef>
                <a:spcPct val="20000"/>
              </a:spcBef>
              <a:buClr>
                <a:schemeClr val="accent2">
                  <a:tint val="60000"/>
                </a:schemeClr>
              </a:buClr>
              <a:buSzPct val="68000"/>
              <a:buFont typeface="Wingdings 2"/>
              <a:buChar char=""/>
              <a:defRPr kumimoji="0" sz="1600" kern="1200">
                <a:solidFill>
                  <a:schemeClr val="tx1"/>
                </a:solidFill>
                <a:latin typeface="+mn-lt"/>
                <a:ea typeface="+mn-ea"/>
                <a:cs typeface="+mn-cs"/>
              </a:defRPr>
            </a:lvl5pPr>
            <a:lvl6pPr marL="1737360" indent="-182880" algn="l" rtl="0" eaLnBrk="1" latinLnBrk="0" hangingPunct="1">
              <a:spcBef>
                <a:spcPct val="20000"/>
              </a:spcBef>
              <a:buClr>
                <a:schemeClr val="accent1"/>
              </a:buClr>
              <a:buChar char="•"/>
              <a:defRPr kumimoji="0" sz="1600" kern="1200">
                <a:solidFill>
                  <a:schemeClr val="tx2"/>
                </a:solidFill>
                <a:latin typeface="+mn-lt"/>
                <a:ea typeface="+mn-ea"/>
                <a:cs typeface="+mn-cs"/>
              </a:defRPr>
            </a:lvl6pPr>
            <a:lvl7pPr marL="2011680" indent="-182880" algn="l" rtl="0" eaLnBrk="1" latinLnBrk="0" hangingPunct="1">
              <a:spcBef>
                <a:spcPct val="20000"/>
              </a:spcBef>
              <a:buClr>
                <a:schemeClr val="accent1">
                  <a:tint val="60000"/>
                </a:schemeClr>
              </a:buClr>
              <a:buSzPct val="60000"/>
              <a:buFont typeface="Wingdings"/>
              <a:buChar char=""/>
              <a:defRPr kumimoji="0" sz="1400" kern="1200" baseline="0">
                <a:solidFill>
                  <a:schemeClr val="tx2"/>
                </a:solidFill>
                <a:latin typeface="+mn-lt"/>
                <a:ea typeface="+mn-ea"/>
                <a:cs typeface="+mn-cs"/>
              </a:defRPr>
            </a:lvl7pPr>
            <a:lvl8pPr marL="2286000" indent="-182880" algn="l" rtl="0" eaLnBrk="1" latinLnBrk="0" hangingPunct="1">
              <a:spcBef>
                <a:spcPct val="20000"/>
              </a:spcBef>
              <a:buClr>
                <a:schemeClr val="accent2"/>
              </a:buClr>
              <a:buChar char="•"/>
              <a:defRPr kumimoji="0" sz="1400" kern="1200" cap="small" baseline="0">
                <a:solidFill>
                  <a:schemeClr val="tx2"/>
                </a:solidFill>
                <a:latin typeface="+mn-lt"/>
                <a:ea typeface="+mn-ea"/>
                <a:cs typeface="+mn-cs"/>
              </a:defRPr>
            </a:lvl8pPr>
            <a:lvl9pPr marL="2560320" indent="-182880" algn="l" rtl="0" eaLnBrk="1" latinLnBrk="0" hangingPunct="1">
              <a:spcBef>
                <a:spcPct val="20000"/>
              </a:spcBef>
              <a:buClr>
                <a:schemeClr val="accent1">
                  <a:shade val="75000"/>
                </a:schemeClr>
              </a:buClr>
              <a:buChar char="•"/>
              <a:defRPr kumimoji="0" sz="1400" kern="1200" baseline="0">
                <a:solidFill>
                  <a:schemeClr val="tx2"/>
                </a:solidFill>
                <a:latin typeface="+mn-lt"/>
                <a:ea typeface="+mn-ea"/>
                <a:cs typeface="+mn-cs"/>
              </a:defRPr>
            </a:lvl9pPr>
          </a:lstStyle>
          <a:p>
            <a:r>
              <a:rPr lang="en-US" dirty="0"/>
              <a:t>Here, </a:t>
            </a:r>
            <a:endParaRPr lang="en-US" dirty="0" smtClean="0"/>
          </a:p>
          <a:p>
            <a:pPr lvl="1"/>
            <a:r>
              <a:rPr lang="en-US" b="1" dirty="0" smtClean="0"/>
              <a:t>filename</a:t>
            </a:r>
            <a:r>
              <a:rPr lang="en-US" dirty="0" smtClean="0"/>
              <a:t> </a:t>
            </a:r>
            <a:r>
              <a:rPr lang="en-US" dirty="0"/>
              <a:t>is string literal, which you will use to name your file </a:t>
            </a:r>
            <a:r>
              <a:rPr lang="en-US" dirty="0" smtClean="0"/>
              <a:t>and</a:t>
            </a:r>
          </a:p>
          <a:p>
            <a:pPr lvl="1"/>
            <a:r>
              <a:rPr lang="en-US" b="1" dirty="0" smtClean="0"/>
              <a:t>mode</a:t>
            </a:r>
            <a:r>
              <a:rPr lang="en-US" dirty="0" smtClean="0"/>
              <a:t> </a:t>
            </a:r>
            <a:r>
              <a:rPr lang="en-US" b="1" dirty="0" smtClean="0"/>
              <a:t> </a:t>
            </a:r>
            <a:r>
              <a:rPr lang="en-US" dirty="0"/>
              <a:t>represent the access, which can have one of the following values(see </a:t>
            </a:r>
            <a:r>
              <a:rPr lang="en-US" dirty="0" smtClean="0"/>
              <a:t>the next </a:t>
            </a:r>
            <a:r>
              <a:rPr lang="en-US" dirty="0"/>
              <a:t>slide).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8839200" cy="533400"/>
          </a:xfrm>
        </p:spPr>
        <p:txBody>
          <a:bodyPr>
            <a:normAutofit/>
          </a:bodyPr>
          <a:lstStyle/>
          <a:p>
            <a:pPr algn="ctr"/>
            <a:r>
              <a:rPr lang="en-US" sz="2800" dirty="0" smtClean="0"/>
              <a:t>File access </a:t>
            </a:r>
            <a:r>
              <a:rPr lang="en-US" sz="2800" b="1" dirty="0"/>
              <a:t>mode</a:t>
            </a:r>
            <a:r>
              <a:rPr lang="en-US" sz="2800" dirty="0"/>
              <a:t> </a:t>
            </a:r>
          </a:p>
        </p:txBody>
      </p:sp>
      <p:pic>
        <p:nvPicPr>
          <p:cNvPr id="1026" name="Picture 2"/>
          <p:cNvPicPr>
            <a:picLocks noChangeAspect="1" noChangeArrowheads="1"/>
          </p:cNvPicPr>
          <p:nvPr/>
        </p:nvPicPr>
        <p:blipFill>
          <a:blip r:embed="rId2" cstate="print"/>
          <a:srcRect/>
          <a:stretch>
            <a:fillRect/>
          </a:stretch>
        </p:blipFill>
        <p:spPr bwMode="auto">
          <a:xfrm>
            <a:off x="268456" y="443132"/>
            <a:ext cx="8443610" cy="6400800"/>
          </a:xfrm>
          <a:prstGeom prst="rect">
            <a:avLst/>
          </a:prstGeom>
          <a:noFill/>
          <a:ln w="9525">
            <a:noFill/>
            <a:miter lim="800000"/>
            <a:headEnd/>
            <a:tailEnd/>
          </a:ln>
        </p:spPr>
      </p:pic>
    </p:spTree>
    <p:extLst>
      <p:ext uri="{BB962C8B-B14F-4D97-AF65-F5344CB8AC3E}">
        <p14:creationId xmlns="" xmlns:p14="http://schemas.microsoft.com/office/powerpoint/2010/main" val="320085491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467600" cy="639762"/>
          </a:xfrm>
        </p:spPr>
        <p:txBody>
          <a:bodyPr>
            <a:normAutofit/>
          </a:bodyPr>
          <a:lstStyle/>
          <a:p>
            <a:pPr algn="ctr"/>
            <a:r>
              <a:rPr lang="en-US" dirty="0"/>
              <a:t>Closing a </a:t>
            </a:r>
            <a:r>
              <a:rPr lang="en-US" dirty="0" smtClean="0"/>
              <a:t>File</a:t>
            </a:r>
            <a:endParaRPr lang="en-US" dirty="0"/>
          </a:p>
        </p:txBody>
      </p:sp>
      <p:sp>
        <p:nvSpPr>
          <p:cNvPr id="3" name="Content Placeholder 2"/>
          <p:cNvSpPr>
            <a:spLocks noGrp="1"/>
          </p:cNvSpPr>
          <p:nvPr>
            <p:ph sz="quarter" idx="1"/>
          </p:nvPr>
        </p:nvSpPr>
        <p:spPr>
          <a:xfrm>
            <a:off x="133015" y="1066800"/>
            <a:ext cx="8610600" cy="5562600"/>
          </a:xfrm>
        </p:spPr>
        <p:txBody>
          <a:bodyPr>
            <a:normAutofit lnSpcReduction="10000"/>
          </a:bodyPr>
          <a:lstStyle/>
          <a:p>
            <a:pPr algn="just"/>
            <a:r>
              <a:rPr lang="en-US" dirty="0"/>
              <a:t>To close a file, use the </a:t>
            </a:r>
            <a:r>
              <a:rPr lang="en-US" b="1" dirty="0" err="1"/>
              <a:t>fclose</a:t>
            </a:r>
            <a:r>
              <a:rPr lang="en-US" b="1" dirty="0"/>
              <a:t>( )</a:t>
            </a:r>
            <a:r>
              <a:rPr lang="en-US" dirty="0"/>
              <a:t> function. The prototype of this function is</a:t>
            </a:r>
            <a:r>
              <a:rPr lang="en-US" dirty="0" smtClean="0"/>
              <a:t>:</a:t>
            </a:r>
          </a:p>
          <a:p>
            <a:pPr algn="just"/>
            <a:endParaRPr lang="en-US" dirty="0" smtClean="0"/>
          </a:p>
          <a:p>
            <a:pPr algn="just"/>
            <a:endParaRPr lang="en-US" dirty="0" smtClean="0"/>
          </a:p>
          <a:p>
            <a:pPr algn="just"/>
            <a:r>
              <a:rPr lang="en-US" dirty="0"/>
              <a:t>The </a:t>
            </a:r>
            <a:r>
              <a:rPr lang="en-US" b="1" dirty="0" err="1"/>
              <a:t>fclose</a:t>
            </a:r>
            <a:r>
              <a:rPr lang="en-US" b="1" dirty="0"/>
              <a:t>( )</a:t>
            </a:r>
            <a:r>
              <a:rPr lang="en-US" dirty="0"/>
              <a:t> function returns </a:t>
            </a:r>
            <a:r>
              <a:rPr lang="en-US" i="1" dirty="0"/>
              <a:t>zero</a:t>
            </a:r>
            <a:r>
              <a:rPr lang="en-US" dirty="0"/>
              <a:t> on success, or </a:t>
            </a:r>
            <a:r>
              <a:rPr lang="en-US" b="1" dirty="0"/>
              <a:t>EOF</a:t>
            </a:r>
            <a:r>
              <a:rPr lang="en-US" dirty="0"/>
              <a:t> if there is an error in closing the file. </a:t>
            </a:r>
            <a:endParaRPr lang="en-US" dirty="0" smtClean="0"/>
          </a:p>
          <a:p>
            <a:pPr algn="just"/>
            <a:r>
              <a:rPr lang="en-US" dirty="0" smtClean="0"/>
              <a:t>This </a:t>
            </a:r>
            <a:r>
              <a:rPr lang="en-US" dirty="0"/>
              <a:t>function actually, flushes any data still pending in the buffer to the file, closes the file, and releases any memory used for the file. </a:t>
            </a:r>
            <a:endParaRPr lang="en-US" dirty="0" smtClean="0"/>
          </a:p>
          <a:p>
            <a:pPr algn="just"/>
            <a:r>
              <a:rPr lang="en-US" dirty="0" smtClean="0"/>
              <a:t>The </a:t>
            </a:r>
            <a:r>
              <a:rPr lang="en-US" b="1" dirty="0"/>
              <a:t>EOF</a:t>
            </a:r>
            <a:r>
              <a:rPr lang="en-US" dirty="0"/>
              <a:t> is a constant defined in the header file </a:t>
            </a:r>
            <a:r>
              <a:rPr lang="en-US" b="1" dirty="0" err="1"/>
              <a:t>stdio.h</a:t>
            </a:r>
            <a:r>
              <a:rPr lang="en-US" dirty="0"/>
              <a:t>.</a:t>
            </a:r>
          </a:p>
          <a:p>
            <a:pPr algn="just"/>
            <a:r>
              <a:rPr lang="en-US" dirty="0"/>
              <a:t>There are various functions provide by C standard library to read and write a file character by character or in the form of a fixed length string. Let us see few of the in the next </a:t>
            </a:r>
            <a:r>
              <a:rPr lang="en-US" dirty="0" smtClean="0"/>
              <a:t>section.</a:t>
            </a:r>
          </a:p>
          <a:p>
            <a:pPr marL="0" indent="0" algn="just">
              <a:buNone/>
            </a:pPr>
            <a:endParaRPr lang="en-US" dirty="0"/>
          </a:p>
        </p:txBody>
      </p:sp>
      <p:pic>
        <p:nvPicPr>
          <p:cNvPr id="5" name="Picture 4"/>
          <p:cNvPicPr>
            <a:picLocks noChangeAspect="1"/>
          </p:cNvPicPr>
          <p:nvPr/>
        </p:nvPicPr>
        <p:blipFill>
          <a:blip r:embed="rId2" cstate="print"/>
          <a:stretch>
            <a:fillRect/>
          </a:stretch>
        </p:blipFill>
        <p:spPr>
          <a:xfrm>
            <a:off x="2295420" y="1963896"/>
            <a:ext cx="4507230" cy="533400"/>
          </a:xfrm>
          <a:prstGeom prst="rect">
            <a:avLst/>
          </a:prstGeom>
          <a:ln>
            <a:solidFill>
              <a:schemeClr val="accent1"/>
            </a:solidFill>
          </a:ln>
        </p:spPr>
      </p:pic>
    </p:spTree>
    <p:extLst>
      <p:ext uri="{BB962C8B-B14F-4D97-AF65-F5344CB8AC3E}">
        <p14:creationId xmlns="" xmlns:p14="http://schemas.microsoft.com/office/powerpoint/2010/main" val="184225820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98165" y="28848"/>
            <a:ext cx="7467600" cy="563562"/>
          </a:xfrm>
        </p:spPr>
        <p:txBody>
          <a:bodyPr/>
          <a:lstStyle/>
          <a:p>
            <a:pPr algn="ctr"/>
            <a:r>
              <a:rPr lang="en-US" dirty="0"/>
              <a:t>Writing a </a:t>
            </a:r>
            <a:r>
              <a:rPr lang="en-US" dirty="0" smtClean="0"/>
              <a:t>File</a:t>
            </a:r>
            <a:endParaRPr lang="en-US" dirty="0"/>
          </a:p>
        </p:txBody>
      </p:sp>
      <p:sp>
        <p:nvSpPr>
          <p:cNvPr id="3" name="Content Placeholder 2"/>
          <p:cNvSpPr>
            <a:spLocks noGrp="1"/>
          </p:cNvSpPr>
          <p:nvPr>
            <p:ph sz="quarter" idx="1"/>
          </p:nvPr>
        </p:nvSpPr>
        <p:spPr>
          <a:xfrm>
            <a:off x="152400" y="783580"/>
            <a:ext cx="8763000" cy="5867399"/>
          </a:xfrm>
        </p:spPr>
        <p:txBody>
          <a:bodyPr>
            <a:normAutofit lnSpcReduction="10000"/>
          </a:bodyPr>
          <a:lstStyle/>
          <a:p>
            <a:r>
              <a:rPr lang="en-US" dirty="0"/>
              <a:t>Following is the simplest function to write individual characters to a stream</a:t>
            </a:r>
            <a:r>
              <a:rPr lang="en-US" dirty="0" smtClean="0"/>
              <a:t>:</a:t>
            </a:r>
          </a:p>
          <a:p>
            <a:endParaRPr lang="en-US" dirty="0" smtClean="0"/>
          </a:p>
          <a:p>
            <a:r>
              <a:rPr lang="en-US" dirty="0"/>
              <a:t>The function </a:t>
            </a:r>
            <a:r>
              <a:rPr lang="en-US" b="1" dirty="0" err="1"/>
              <a:t>fputc</a:t>
            </a:r>
            <a:r>
              <a:rPr lang="en-US" b="1" dirty="0"/>
              <a:t>()</a:t>
            </a:r>
            <a:r>
              <a:rPr lang="en-US" dirty="0"/>
              <a:t> writes the character value of the argument c to the output stream referenced by fp. It returns the written character written on success otherwise </a:t>
            </a:r>
            <a:r>
              <a:rPr lang="en-US" b="1" dirty="0"/>
              <a:t>EOF</a:t>
            </a:r>
            <a:r>
              <a:rPr lang="en-US" dirty="0"/>
              <a:t> if there is an error. </a:t>
            </a:r>
            <a:endParaRPr lang="en-US" dirty="0" smtClean="0"/>
          </a:p>
          <a:p>
            <a:r>
              <a:rPr lang="en-US" dirty="0" smtClean="0"/>
              <a:t>You </a:t>
            </a:r>
            <a:r>
              <a:rPr lang="en-US" dirty="0"/>
              <a:t>can use the following functions to write a null-terminated string to a stream</a:t>
            </a:r>
            <a:r>
              <a:rPr lang="en-US" dirty="0" smtClean="0"/>
              <a:t>:</a:t>
            </a:r>
          </a:p>
          <a:p>
            <a:endParaRPr lang="en-US" dirty="0"/>
          </a:p>
          <a:p>
            <a:r>
              <a:rPr lang="en-US" dirty="0"/>
              <a:t>The function </a:t>
            </a:r>
            <a:r>
              <a:rPr lang="en-US" b="1" dirty="0" err="1"/>
              <a:t>fputs</a:t>
            </a:r>
            <a:r>
              <a:rPr lang="en-US" b="1" dirty="0"/>
              <a:t>()</a:t>
            </a:r>
            <a:r>
              <a:rPr lang="en-US" dirty="0"/>
              <a:t> writes the string </a:t>
            </a:r>
            <a:r>
              <a:rPr lang="en-US" b="1" dirty="0"/>
              <a:t>s</a:t>
            </a:r>
            <a:r>
              <a:rPr lang="en-US" dirty="0"/>
              <a:t> to the output stream referenced by fp. It returns a non-negative value on success, otherwise </a:t>
            </a:r>
            <a:r>
              <a:rPr lang="en-US" b="1" dirty="0"/>
              <a:t>EOF</a:t>
            </a:r>
            <a:r>
              <a:rPr lang="en-US" dirty="0"/>
              <a:t> is returned in case of any error. </a:t>
            </a:r>
            <a:endParaRPr lang="en-US" dirty="0" smtClean="0"/>
          </a:p>
          <a:p>
            <a:r>
              <a:rPr lang="en-US" dirty="0" smtClean="0"/>
              <a:t>You </a:t>
            </a:r>
            <a:r>
              <a:rPr lang="en-US" dirty="0"/>
              <a:t>can use </a:t>
            </a:r>
            <a:r>
              <a:rPr lang="en-US" b="1" dirty="0" err="1"/>
              <a:t>int</a:t>
            </a:r>
            <a:r>
              <a:rPr lang="en-US" b="1" dirty="0"/>
              <a:t> </a:t>
            </a:r>
            <a:r>
              <a:rPr lang="en-US" b="1" dirty="0" err="1"/>
              <a:t>fprintf</a:t>
            </a:r>
            <a:r>
              <a:rPr lang="en-US" b="1" dirty="0"/>
              <a:t>(FILE *</a:t>
            </a:r>
            <a:r>
              <a:rPr lang="en-US" b="1" dirty="0" err="1"/>
              <a:t>fp</a:t>
            </a:r>
            <a:r>
              <a:rPr lang="en-US" b="1" dirty="0" smtClean="0"/>
              <a:t>, </a:t>
            </a:r>
            <a:r>
              <a:rPr lang="en-US" b="1" dirty="0" err="1" smtClean="0"/>
              <a:t>const</a:t>
            </a:r>
            <a:r>
              <a:rPr lang="en-US" b="1" dirty="0" smtClean="0"/>
              <a:t> </a:t>
            </a:r>
            <a:r>
              <a:rPr lang="en-US" b="1" dirty="0"/>
              <a:t>char *format, ...)</a:t>
            </a:r>
            <a:r>
              <a:rPr lang="en-US" dirty="0"/>
              <a:t> function as well to write a string into a file. </a:t>
            </a:r>
          </a:p>
        </p:txBody>
      </p:sp>
      <p:pic>
        <p:nvPicPr>
          <p:cNvPr id="4" name="Picture 3"/>
          <p:cNvPicPr>
            <a:picLocks noChangeAspect="1"/>
          </p:cNvPicPr>
          <p:nvPr/>
        </p:nvPicPr>
        <p:blipFill rotWithShape="1">
          <a:blip r:embed="rId2" cstate="print"/>
          <a:srcRect b="13116"/>
          <a:stretch/>
        </p:blipFill>
        <p:spPr>
          <a:xfrm>
            <a:off x="2438399" y="1502790"/>
            <a:ext cx="4308231" cy="463436"/>
          </a:xfrm>
          <a:prstGeom prst="rect">
            <a:avLst/>
          </a:prstGeom>
          <a:ln>
            <a:solidFill>
              <a:schemeClr val="accent1"/>
            </a:solidFill>
          </a:ln>
        </p:spPr>
      </p:pic>
      <p:pic>
        <p:nvPicPr>
          <p:cNvPr id="5" name="Picture 4"/>
          <p:cNvPicPr>
            <a:picLocks noChangeAspect="1"/>
          </p:cNvPicPr>
          <p:nvPr/>
        </p:nvPicPr>
        <p:blipFill>
          <a:blip r:embed="rId3" cstate="print"/>
          <a:stretch>
            <a:fillRect/>
          </a:stretch>
        </p:blipFill>
        <p:spPr>
          <a:xfrm>
            <a:off x="2056060" y="4063230"/>
            <a:ext cx="5067300" cy="457200"/>
          </a:xfrm>
          <a:prstGeom prst="rect">
            <a:avLst/>
          </a:prstGeom>
          <a:ln>
            <a:solidFill>
              <a:schemeClr val="accent1"/>
            </a:solidFill>
          </a:ln>
        </p:spPr>
      </p:pic>
    </p:spTree>
    <p:extLst>
      <p:ext uri="{BB962C8B-B14F-4D97-AF65-F5344CB8AC3E}">
        <p14:creationId xmlns="" xmlns:p14="http://schemas.microsoft.com/office/powerpoint/2010/main" val="14477157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467600" cy="563562"/>
          </a:xfrm>
        </p:spPr>
        <p:txBody>
          <a:bodyPr/>
          <a:lstStyle/>
          <a:p>
            <a:pPr algn="ctr"/>
            <a:r>
              <a:rPr lang="en-US" dirty="0"/>
              <a:t>Writing a File</a:t>
            </a:r>
          </a:p>
        </p:txBody>
      </p:sp>
      <p:sp>
        <p:nvSpPr>
          <p:cNvPr id="3" name="Content Placeholder 2"/>
          <p:cNvSpPr>
            <a:spLocks noGrp="1"/>
          </p:cNvSpPr>
          <p:nvPr>
            <p:ph sz="quarter" idx="1"/>
          </p:nvPr>
        </p:nvSpPr>
        <p:spPr>
          <a:xfrm>
            <a:off x="115824" y="999380"/>
            <a:ext cx="8647175" cy="609600"/>
          </a:xfrm>
        </p:spPr>
        <p:txBody>
          <a:bodyPr/>
          <a:lstStyle/>
          <a:p>
            <a:r>
              <a:rPr lang="en-US" dirty="0"/>
              <a:t>Try the following example:</a:t>
            </a:r>
          </a:p>
          <a:p>
            <a:endParaRPr lang="en-US" dirty="0"/>
          </a:p>
        </p:txBody>
      </p:sp>
      <p:pic>
        <p:nvPicPr>
          <p:cNvPr id="4" name="Picture 3"/>
          <p:cNvPicPr>
            <a:picLocks noChangeAspect="1"/>
          </p:cNvPicPr>
          <p:nvPr/>
        </p:nvPicPr>
        <p:blipFill>
          <a:blip r:embed="rId2" cstate="print"/>
          <a:stretch>
            <a:fillRect/>
          </a:stretch>
        </p:blipFill>
        <p:spPr>
          <a:xfrm>
            <a:off x="165586" y="1638484"/>
            <a:ext cx="8591339" cy="3390715"/>
          </a:xfrm>
          <a:prstGeom prst="rect">
            <a:avLst/>
          </a:prstGeom>
        </p:spPr>
      </p:pic>
      <p:sp>
        <p:nvSpPr>
          <p:cNvPr id="5" name="Rectangle 4"/>
          <p:cNvSpPr/>
          <p:nvPr/>
        </p:nvSpPr>
        <p:spPr>
          <a:xfrm>
            <a:off x="113630" y="5289500"/>
            <a:ext cx="8649370" cy="1200328"/>
          </a:xfrm>
          <a:prstGeom prst="rect">
            <a:avLst/>
          </a:prstGeom>
        </p:spPr>
        <p:txBody>
          <a:bodyPr wrap="square">
            <a:spAutoFit/>
          </a:bodyPr>
          <a:lstStyle/>
          <a:p>
            <a:r>
              <a:rPr lang="en-US" sz="2400" dirty="0"/>
              <a:t>When the above code is compiled and executed, it creates a new file </a:t>
            </a:r>
            <a:r>
              <a:rPr lang="en-US" sz="2400" i="1" dirty="0" err="1"/>
              <a:t>test.txt</a:t>
            </a:r>
            <a:r>
              <a:rPr lang="en-US" sz="2400" dirty="0"/>
              <a:t> in </a:t>
            </a:r>
            <a:r>
              <a:rPr lang="en-US" sz="2400" i="1" dirty="0"/>
              <a:t>/</a:t>
            </a:r>
            <a:r>
              <a:rPr lang="en-US" sz="2400" i="1" dirty="0" err="1"/>
              <a:t>tmp</a:t>
            </a:r>
            <a:r>
              <a:rPr lang="en-US" sz="2400" dirty="0"/>
              <a:t> directory and writes two lines using two different functions. Let us read this file in next section.</a:t>
            </a:r>
          </a:p>
        </p:txBody>
      </p:sp>
    </p:spTree>
    <p:extLst>
      <p:ext uri="{BB962C8B-B14F-4D97-AF65-F5344CB8AC3E}">
        <p14:creationId xmlns="" xmlns:p14="http://schemas.microsoft.com/office/powerpoint/2010/main" val="22453406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467600" cy="487362"/>
          </a:xfrm>
        </p:spPr>
        <p:txBody>
          <a:bodyPr>
            <a:normAutofit fontScale="90000"/>
          </a:bodyPr>
          <a:lstStyle/>
          <a:p>
            <a:pPr algn="ctr"/>
            <a:r>
              <a:rPr lang="en-US" dirty="0"/>
              <a:t>Reading a </a:t>
            </a:r>
            <a:r>
              <a:rPr lang="en-US" dirty="0" smtClean="0"/>
              <a:t>File</a:t>
            </a:r>
            <a:endParaRPr lang="en-US" dirty="0"/>
          </a:p>
        </p:txBody>
      </p:sp>
      <p:sp>
        <p:nvSpPr>
          <p:cNvPr id="3" name="Content Placeholder 2"/>
          <p:cNvSpPr>
            <a:spLocks noGrp="1"/>
          </p:cNvSpPr>
          <p:nvPr>
            <p:ph sz="quarter" idx="1"/>
          </p:nvPr>
        </p:nvSpPr>
        <p:spPr>
          <a:xfrm>
            <a:off x="29505" y="914400"/>
            <a:ext cx="8839200" cy="5943600"/>
          </a:xfrm>
        </p:spPr>
        <p:txBody>
          <a:bodyPr>
            <a:normAutofit fontScale="85000" lnSpcReduction="20000"/>
          </a:bodyPr>
          <a:lstStyle/>
          <a:p>
            <a:r>
              <a:rPr lang="en-US" dirty="0"/>
              <a:t>Following is the simplest function to read a single character from a file</a:t>
            </a:r>
            <a:r>
              <a:rPr lang="en-US" dirty="0" smtClean="0"/>
              <a:t>:</a:t>
            </a:r>
          </a:p>
          <a:p>
            <a:endParaRPr lang="en-US" dirty="0"/>
          </a:p>
          <a:p>
            <a:endParaRPr lang="en-US" dirty="0" smtClean="0"/>
          </a:p>
          <a:p>
            <a:r>
              <a:rPr lang="en-US" dirty="0"/>
              <a:t>The </a:t>
            </a:r>
            <a:r>
              <a:rPr lang="en-US" b="1" dirty="0" err="1"/>
              <a:t>fgetc</a:t>
            </a:r>
            <a:r>
              <a:rPr lang="en-US" b="1" dirty="0"/>
              <a:t>()</a:t>
            </a:r>
            <a:r>
              <a:rPr lang="en-US" dirty="0"/>
              <a:t> function reads a character from the input file referenced by fp. The return value is the character read, or in case of any error it returns </a:t>
            </a:r>
            <a:r>
              <a:rPr lang="en-US" b="1" dirty="0"/>
              <a:t>EOF</a:t>
            </a:r>
            <a:r>
              <a:rPr lang="en-US" dirty="0"/>
              <a:t>. </a:t>
            </a:r>
            <a:endParaRPr lang="en-US" dirty="0" smtClean="0"/>
          </a:p>
          <a:p>
            <a:r>
              <a:rPr lang="en-US" dirty="0" smtClean="0"/>
              <a:t>The </a:t>
            </a:r>
            <a:r>
              <a:rPr lang="en-US" dirty="0"/>
              <a:t>following functions allow you to read a string from a stream</a:t>
            </a:r>
            <a:r>
              <a:rPr lang="en-US" dirty="0" smtClean="0"/>
              <a:t>:</a:t>
            </a:r>
          </a:p>
          <a:p>
            <a:endParaRPr lang="en-US" dirty="0" smtClean="0"/>
          </a:p>
          <a:p>
            <a:endParaRPr lang="en-US" dirty="0"/>
          </a:p>
          <a:p>
            <a:r>
              <a:rPr lang="en-US" dirty="0"/>
              <a:t>The functions </a:t>
            </a:r>
            <a:r>
              <a:rPr lang="en-US" b="1" dirty="0" err="1"/>
              <a:t>fgets</a:t>
            </a:r>
            <a:r>
              <a:rPr lang="en-US" b="1" dirty="0"/>
              <a:t>()</a:t>
            </a:r>
            <a:r>
              <a:rPr lang="en-US" dirty="0"/>
              <a:t> reads up to n - 1 characters from the input stream referenced by </a:t>
            </a:r>
            <a:r>
              <a:rPr lang="en-US" b="1" dirty="0"/>
              <a:t>fp</a:t>
            </a:r>
            <a:r>
              <a:rPr lang="en-US" dirty="0"/>
              <a:t>. It copies the read string into the buffer </a:t>
            </a:r>
            <a:r>
              <a:rPr lang="en-US" b="1" dirty="0" err="1"/>
              <a:t>buf</a:t>
            </a:r>
            <a:r>
              <a:rPr lang="en-US" dirty="0"/>
              <a:t>, appending a </a:t>
            </a:r>
            <a:r>
              <a:rPr lang="en-US" b="1" dirty="0"/>
              <a:t>null</a:t>
            </a:r>
            <a:r>
              <a:rPr lang="en-US" dirty="0"/>
              <a:t> character to terminate the string</a:t>
            </a:r>
            <a:r>
              <a:rPr lang="en-US" dirty="0" smtClean="0"/>
              <a:t>.</a:t>
            </a:r>
          </a:p>
          <a:p>
            <a:r>
              <a:rPr lang="en-US" dirty="0"/>
              <a:t>If this function encounters a newline character '\n' or the end of the file EOF before they have read the maximum number of characters, then it returns only the characters read up to that point including new line character. </a:t>
            </a:r>
            <a:endParaRPr lang="en-US" dirty="0" smtClean="0"/>
          </a:p>
          <a:p>
            <a:r>
              <a:rPr lang="en-US" dirty="0" smtClean="0"/>
              <a:t>You </a:t>
            </a:r>
            <a:r>
              <a:rPr lang="en-US" dirty="0"/>
              <a:t>can also use </a:t>
            </a:r>
            <a:r>
              <a:rPr lang="en-US" b="1" dirty="0" err="1"/>
              <a:t>int</a:t>
            </a:r>
            <a:r>
              <a:rPr lang="en-US" b="1" dirty="0"/>
              <a:t> </a:t>
            </a:r>
            <a:r>
              <a:rPr lang="en-US" b="1" dirty="0" err="1"/>
              <a:t>fscanf</a:t>
            </a:r>
            <a:r>
              <a:rPr lang="en-US" b="1" dirty="0"/>
              <a:t>(FILE *</a:t>
            </a:r>
            <a:r>
              <a:rPr lang="en-US" b="1" dirty="0" err="1"/>
              <a:t>fp</a:t>
            </a:r>
            <a:r>
              <a:rPr lang="en-US" b="1" dirty="0"/>
              <a:t>, </a:t>
            </a:r>
            <a:r>
              <a:rPr lang="en-US" b="1" dirty="0" err="1"/>
              <a:t>const</a:t>
            </a:r>
            <a:r>
              <a:rPr lang="en-US" b="1" dirty="0"/>
              <a:t> char *format, ...)</a:t>
            </a:r>
            <a:r>
              <a:rPr lang="en-US" dirty="0"/>
              <a:t> function to read strings from a file but it stops reading after the first space character encounters.</a:t>
            </a:r>
          </a:p>
        </p:txBody>
      </p:sp>
      <p:pic>
        <p:nvPicPr>
          <p:cNvPr id="4" name="Picture 3"/>
          <p:cNvPicPr>
            <a:picLocks noChangeAspect="1"/>
          </p:cNvPicPr>
          <p:nvPr/>
        </p:nvPicPr>
        <p:blipFill>
          <a:blip r:embed="rId2" cstate="print"/>
          <a:stretch>
            <a:fillRect/>
          </a:stretch>
        </p:blipFill>
        <p:spPr>
          <a:xfrm>
            <a:off x="2567025" y="1316980"/>
            <a:ext cx="3592286" cy="457200"/>
          </a:xfrm>
          <a:prstGeom prst="rect">
            <a:avLst/>
          </a:prstGeom>
          <a:ln>
            <a:solidFill>
              <a:schemeClr val="accent1"/>
            </a:solidFill>
          </a:ln>
        </p:spPr>
      </p:pic>
      <p:pic>
        <p:nvPicPr>
          <p:cNvPr id="5" name="Picture 4"/>
          <p:cNvPicPr>
            <a:picLocks noChangeAspect="1"/>
          </p:cNvPicPr>
          <p:nvPr/>
        </p:nvPicPr>
        <p:blipFill>
          <a:blip r:embed="rId3" cstate="print"/>
          <a:stretch>
            <a:fillRect/>
          </a:stretch>
        </p:blipFill>
        <p:spPr>
          <a:xfrm>
            <a:off x="1287475" y="3110545"/>
            <a:ext cx="6317673" cy="457200"/>
          </a:xfrm>
          <a:prstGeom prst="rect">
            <a:avLst/>
          </a:prstGeom>
          <a:ln>
            <a:solidFill>
              <a:schemeClr val="accent1"/>
            </a:solidFill>
          </a:ln>
        </p:spPr>
      </p:pic>
    </p:spTree>
    <p:extLst>
      <p:ext uri="{BB962C8B-B14F-4D97-AF65-F5344CB8AC3E}">
        <p14:creationId xmlns="" xmlns:p14="http://schemas.microsoft.com/office/powerpoint/2010/main" val="31996703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11820" y="69813"/>
            <a:ext cx="7467600" cy="411162"/>
          </a:xfrm>
        </p:spPr>
        <p:txBody>
          <a:bodyPr>
            <a:normAutofit fontScale="90000"/>
          </a:bodyPr>
          <a:lstStyle/>
          <a:p>
            <a:pPr algn="ctr"/>
            <a:r>
              <a:rPr lang="en-US" dirty="0"/>
              <a:t>Reading a File</a:t>
            </a:r>
          </a:p>
        </p:txBody>
      </p:sp>
      <p:pic>
        <p:nvPicPr>
          <p:cNvPr id="4" name="Picture 3"/>
          <p:cNvPicPr>
            <a:picLocks noChangeAspect="1"/>
          </p:cNvPicPr>
          <p:nvPr/>
        </p:nvPicPr>
        <p:blipFill>
          <a:blip r:embed="rId2" cstate="print"/>
          <a:stretch>
            <a:fillRect/>
          </a:stretch>
        </p:blipFill>
        <p:spPr>
          <a:xfrm>
            <a:off x="181904" y="514870"/>
            <a:ext cx="4923495" cy="4663386"/>
          </a:xfrm>
          <a:prstGeom prst="rect">
            <a:avLst/>
          </a:prstGeom>
          <a:ln>
            <a:solidFill>
              <a:schemeClr val="accent1"/>
            </a:solidFill>
          </a:ln>
        </p:spPr>
      </p:pic>
      <p:sp>
        <p:nvSpPr>
          <p:cNvPr id="5" name="Rectangle 4"/>
          <p:cNvSpPr/>
          <p:nvPr/>
        </p:nvSpPr>
        <p:spPr>
          <a:xfrm>
            <a:off x="111435" y="5259995"/>
            <a:ext cx="8610600" cy="1631216"/>
          </a:xfrm>
          <a:prstGeom prst="rect">
            <a:avLst/>
          </a:prstGeom>
        </p:spPr>
        <p:txBody>
          <a:bodyPr wrap="square">
            <a:spAutoFit/>
          </a:bodyPr>
          <a:lstStyle/>
          <a:p>
            <a:r>
              <a:rPr lang="en-US" sz="2000" dirty="0"/>
              <a:t>Let's see a little more detail about what happened here. First </a:t>
            </a:r>
            <a:r>
              <a:rPr lang="en-US" sz="2000" dirty="0" err="1"/>
              <a:t>fscanf</a:t>
            </a:r>
            <a:r>
              <a:rPr lang="en-US" sz="2000" dirty="0"/>
              <a:t>() method read just </a:t>
            </a:r>
            <a:r>
              <a:rPr lang="en-US" sz="2000" b="1" dirty="0"/>
              <a:t>This</a:t>
            </a:r>
            <a:r>
              <a:rPr lang="en-US" sz="2000" dirty="0"/>
              <a:t> because after that it encountered a space, second call is for </a:t>
            </a:r>
            <a:r>
              <a:rPr lang="en-US" sz="2000" dirty="0" err="1"/>
              <a:t>fgets</a:t>
            </a:r>
            <a:r>
              <a:rPr lang="en-US" sz="2000" dirty="0"/>
              <a:t>() which read the remaining line till it encountered end of line. Finally last call </a:t>
            </a:r>
            <a:r>
              <a:rPr lang="en-US" sz="2000" dirty="0" err="1"/>
              <a:t>fgets</a:t>
            </a:r>
            <a:r>
              <a:rPr lang="en-US" sz="2000" dirty="0"/>
              <a:t>() read second line completely.</a:t>
            </a:r>
          </a:p>
        </p:txBody>
      </p:sp>
      <p:sp>
        <p:nvSpPr>
          <p:cNvPr id="6" name="Rectangle 5"/>
          <p:cNvSpPr/>
          <p:nvPr/>
        </p:nvSpPr>
        <p:spPr>
          <a:xfrm>
            <a:off x="5334000" y="533400"/>
            <a:ext cx="3276600" cy="1477328"/>
          </a:xfrm>
          <a:prstGeom prst="rect">
            <a:avLst/>
          </a:prstGeom>
        </p:spPr>
        <p:txBody>
          <a:bodyPr wrap="square">
            <a:spAutoFit/>
          </a:bodyPr>
          <a:lstStyle/>
          <a:p>
            <a:pPr algn="just"/>
            <a:r>
              <a:rPr lang="en-US" dirty="0"/>
              <a:t>When </a:t>
            </a:r>
            <a:r>
              <a:rPr lang="en-US" dirty="0" smtClean="0"/>
              <a:t>this </a:t>
            </a:r>
            <a:r>
              <a:rPr lang="en-US" dirty="0"/>
              <a:t>code is compiled and executed, it reads the file created in previous section and produces the following result:</a:t>
            </a:r>
          </a:p>
        </p:txBody>
      </p:sp>
      <p:pic>
        <p:nvPicPr>
          <p:cNvPr id="7" name="Picture 6"/>
          <p:cNvPicPr>
            <a:picLocks noChangeAspect="1"/>
          </p:cNvPicPr>
          <p:nvPr/>
        </p:nvPicPr>
        <p:blipFill>
          <a:blip r:embed="rId3" cstate="print"/>
          <a:stretch>
            <a:fillRect/>
          </a:stretch>
        </p:blipFill>
        <p:spPr>
          <a:xfrm>
            <a:off x="5334000" y="2209800"/>
            <a:ext cx="3295973" cy="838200"/>
          </a:xfrm>
          <a:prstGeom prst="rect">
            <a:avLst/>
          </a:prstGeom>
        </p:spPr>
      </p:pic>
    </p:spTree>
    <p:extLst>
      <p:ext uri="{BB962C8B-B14F-4D97-AF65-F5344CB8AC3E}">
        <p14:creationId xmlns="" xmlns:p14="http://schemas.microsoft.com/office/powerpoint/2010/main" val="13169987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1538"/>
            <a:ext cx="8382000" cy="455662"/>
          </a:xfrm>
        </p:spPr>
        <p:txBody>
          <a:bodyPr>
            <a:normAutofit fontScale="90000"/>
          </a:bodyPr>
          <a:lstStyle/>
          <a:p>
            <a:pPr algn="ctr"/>
            <a:r>
              <a:rPr lang="en-US" dirty="0"/>
              <a:t>Reading a File</a:t>
            </a:r>
          </a:p>
        </p:txBody>
      </p:sp>
      <p:sp>
        <p:nvSpPr>
          <p:cNvPr id="5" name="Rectangle 4"/>
          <p:cNvSpPr/>
          <p:nvPr/>
        </p:nvSpPr>
        <p:spPr>
          <a:xfrm>
            <a:off x="152400" y="368986"/>
            <a:ext cx="8991600" cy="6494085"/>
          </a:xfrm>
          <a:prstGeom prst="rect">
            <a:avLst/>
          </a:prstGeom>
        </p:spPr>
        <p:txBody>
          <a:bodyPr wrap="square">
            <a:spAutoFit/>
          </a:bodyPr>
          <a:lstStyle/>
          <a:p>
            <a:r>
              <a:rPr lang="en-US" sz="2000" dirty="0" smtClean="0"/>
              <a:t>Suppose </a:t>
            </a:r>
            <a:r>
              <a:rPr lang="en-US" sz="2000" dirty="0"/>
              <a:t>the input file consists of lines with a </a:t>
            </a:r>
            <a:r>
              <a:rPr lang="en-US" sz="2000" i="1" dirty="0"/>
              <a:t>username</a:t>
            </a:r>
            <a:r>
              <a:rPr lang="en-US" sz="2000" dirty="0"/>
              <a:t> and an </a:t>
            </a:r>
            <a:r>
              <a:rPr lang="en-US" sz="2000" i="1" dirty="0"/>
              <a:t>integer test score</a:t>
            </a:r>
            <a:r>
              <a:rPr lang="en-US" sz="2000" dirty="0"/>
              <a:t>, e.g.: </a:t>
            </a:r>
            <a:endParaRPr lang="nl-NL" sz="2000" dirty="0" smtClean="0"/>
          </a:p>
          <a:p>
            <a:pPr lvl="3"/>
            <a:r>
              <a:rPr lang="nl-NL" dirty="0" smtClean="0"/>
              <a:t>list.txt</a:t>
            </a:r>
            <a:endParaRPr lang="nl-NL" dirty="0"/>
          </a:p>
          <a:p>
            <a:pPr lvl="3"/>
            <a:r>
              <a:rPr lang="nl-NL" dirty="0"/>
              <a:t>------</a:t>
            </a:r>
          </a:p>
          <a:p>
            <a:pPr lvl="3"/>
            <a:r>
              <a:rPr lang="nl-NL" dirty="0"/>
              <a:t>F</a:t>
            </a:r>
            <a:r>
              <a:rPr lang="nl-NL" dirty="0" smtClean="0"/>
              <a:t>oo  70</a:t>
            </a:r>
            <a:endParaRPr lang="nl-NL" dirty="0"/>
          </a:p>
          <a:p>
            <a:pPr lvl="3"/>
            <a:r>
              <a:rPr lang="nl-NL" dirty="0" smtClean="0"/>
              <a:t>Bar  98</a:t>
            </a:r>
          </a:p>
          <a:p>
            <a:r>
              <a:rPr lang="nl-NL" sz="2000" dirty="0" err="1"/>
              <a:t>and</a:t>
            </a:r>
            <a:r>
              <a:rPr lang="nl-NL" sz="2000" dirty="0"/>
              <a:t> </a:t>
            </a:r>
            <a:r>
              <a:rPr lang="nl-NL" sz="2000" dirty="0" err="1"/>
              <a:t>that</a:t>
            </a:r>
            <a:r>
              <a:rPr lang="nl-NL" sz="2000" dirty="0"/>
              <a:t> </a:t>
            </a:r>
            <a:r>
              <a:rPr lang="nl-NL" sz="2000" dirty="0" err="1"/>
              <a:t>each</a:t>
            </a:r>
            <a:r>
              <a:rPr lang="nl-NL" sz="2000" dirty="0"/>
              <a:t> username is no more </a:t>
            </a:r>
            <a:r>
              <a:rPr lang="nl-NL" sz="2000" dirty="0" err="1"/>
              <a:t>than</a:t>
            </a:r>
            <a:r>
              <a:rPr lang="nl-NL" sz="2000" dirty="0"/>
              <a:t> 8 </a:t>
            </a:r>
            <a:r>
              <a:rPr lang="nl-NL" sz="2000" dirty="0" err="1"/>
              <a:t>characters</a:t>
            </a:r>
            <a:r>
              <a:rPr lang="nl-NL" sz="2000" dirty="0"/>
              <a:t> long. We </a:t>
            </a:r>
            <a:r>
              <a:rPr lang="nl-NL" sz="2000" dirty="0" err="1"/>
              <a:t>might</a:t>
            </a:r>
            <a:r>
              <a:rPr lang="nl-NL" sz="2000" dirty="0"/>
              <a:t> </a:t>
            </a:r>
            <a:r>
              <a:rPr lang="nl-NL" sz="2000" dirty="0" err="1"/>
              <a:t>use</a:t>
            </a:r>
            <a:r>
              <a:rPr lang="nl-NL" sz="2000" dirty="0"/>
              <a:t> the files we </a:t>
            </a:r>
            <a:r>
              <a:rPr lang="nl-NL" sz="2000" dirty="0" err="1"/>
              <a:t>opened</a:t>
            </a:r>
            <a:r>
              <a:rPr lang="nl-NL" sz="2000" dirty="0"/>
              <a:t> </a:t>
            </a:r>
            <a:r>
              <a:rPr lang="nl-NL" sz="2000" dirty="0" err="1" smtClean="0"/>
              <a:t>above</a:t>
            </a:r>
            <a:r>
              <a:rPr lang="nl-NL" sz="2000" dirty="0" smtClean="0"/>
              <a:t> </a:t>
            </a:r>
            <a:r>
              <a:rPr lang="nl-NL" sz="2000" dirty="0" err="1"/>
              <a:t>by</a:t>
            </a:r>
            <a:r>
              <a:rPr lang="nl-NL" sz="2000" dirty="0"/>
              <a:t> </a:t>
            </a:r>
            <a:r>
              <a:rPr lang="nl-NL" sz="2000" dirty="0" err="1"/>
              <a:t>copying</a:t>
            </a:r>
            <a:r>
              <a:rPr lang="nl-NL" sz="2000" dirty="0"/>
              <a:t> </a:t>
            </a:r>
            <a:r>
              <a:rPr lang="nl-NL" sz="2000" dirty="0" err="1"/>
              <a:t>each</a:t>
            </a:r>
            <a:r>
              <a:rPr lang="nl-NL" sz="2000" dirty="0"/>
              <a:t> username </a:t>
            </a:r>
            <a:r>
              <a:rPr lang="nl-NL" sz="2000" dirty="0" err="1"/>
              <a:t>and</a:t>
            </a:r>
            <a:r>
              <a:rPr lang="nl-NL" sz="2000" dirty="0"/>
              <a:t> score </a:t>
            </a:r>
            <a:r>
              <a:rPr lang="nl-NL" sz="2000" dirty="0" err="1"/>
              <a:t>from</a:t>
            </a:r>
            <a:r>
              <a:rPr lang="nl-NL" sz="2000" dirty="0"/>
              <a:t> the input file </a:t>
            </a:r>
            <a:r>
              <a:rPr lang="nl-NL" sz="2000" dirty="0" err="1"/>
              <a:t>to</a:t>
            </a:r>
            <a:r>
              <a:rPr lang="nl-NL" sz="2000" dirty="0"/>
              <a:t> the output file. </a:t>
            </a:r>
            <a:endParaRPr lang="nl-NL" sz="2000" dirty="0" smtClean="0"/>
          </a:p>
          <a:p>
            <a:r>
              <a:rPr lang="nl-NL" sz="2000" dirty="0" smtClean="0"/>
              <a:t>In </a:t>
            </a:r>
            <a:r>
              <a:rPr lang="nl-NL" sz="2000" dirty="0"/>
              <a:t>the </a:t>
            </a:r>
            <a:r>
              <a:rPr lang="nl-NL" sz="2000" dirty="0" err="1"/>
              <a:t>process</a:t>
            </a:r>
            <a:r>
              <a:rPr lang="nl-NL" sz="2000" dirty="0"/>
              <a:t>, </a:t>
            </a:r>
            <a:r>
              <a:rPr lang="nl-NL" sz="2000" dirty="0" err="1"/>
              <a:t>we'll</a:t>
            </a:r>
            <a:r>
              <a:rPr lang="nl-NL" sz="2000" dirty="0"/>
              <a:t> </a:t>
            </a:r>
            <a:r>
              <a:rPr lang="nl-NL" sz="2000" dirty="0" err="1"/>
              <a:t>increase</a:t>
            </a:r>
            <a:r>
              <a:rPr lang="nl-NL" sz="2000" dirty="0"/>
              <a:t> </a:t>
            </a:r>
            <a:r>
              <a:rPr lang="nl-NL" sz="2000" dirty="0" err="1"/>
              <a:t>each</a:t>
            </a:r>
            <a:r>
              <a:rPr lang="nl-NL" sz="2000" dirty="0"/>
              <a:t> score </a:t>
            </a:r>
            <a:r>
              <a:rPr lang="nl-NL" sz="2000" dirty="0" err="1"/>
              <a:t>by</a:t>
            </a:r>
            <a:r>
              <a:rPr lang="nl-NL" sz="2000" dirty="0"/>
              <a:t> 10 points </a:t>
            </a:r>
            <a:r>
              <a:rPr lang="nl-NL" sz="2000" dirty="0" err="1"/>
              <a:t>for</a:t>
            </a:r>
            <a:r>
              <a:rPr lang="nl-NL" sz="2000" dirty="0"/>
              <a:t> the output file: </a:t>
            </a:r>
          </a:p>
          <a:p>
            <a:endParaRPr lang="nl-NL" dirty="0" smtClean="0"/>
          </a:p>
          <a:p>
            <a:pPr lvl="3"/>
            <a:r>
              <a:rPr lang="nl-NL" dirty="0" err="1" smtClean="0">
                <a:solidFill>
                  <a:srgbClr val="002060"/>
                </a:solidFill>
              </a:rPr>
              <a:t>char</a:t>
            </a:r>
            <a:r>
              <a:rPr lang="nl-NL" dirty="0" smtClean="0">
                <a:solidFill>
                  <a:srgbClr val="002060"/>
                </a:solidFill>
              </a:rPr>
              <a:t> </a:t>
            </a:r>
            <a:r>
              <a:rPr lang="nl-NL" dirty="0">
                <a:solidFill>
                  <a:srgbClr val="002060"/>
                </a:solidFill>
              </a:rPr>
              <a:t>username[9]; /* </a:t>
            </a:r>
            <a:r>
              <a:rPr lang="nl-NL" dirty="0" err="1">
                <a:solidFill>
                  <a:srgbClr val="002060"/>
                </a:solidFill>
              </a:rPr>
              <a:t>One</a:t>
            </a:r>
            <a:r>
              <a:rPr lang="nl-NL" dirty="0">
                <a:solidFill>
                  <a:srgbClr val="002060"/>
                </a:solidFill>
              </a:rPr>
              <a:t> extra </a:t>
            </a:r>
            <a:r>
              <a:rPr lang="nl-NL" dirty="0" err="1">
                <a:solidFill>
                  <a:srgbClr val="002060"/>
                </a:solidFill>
              </a:rPr>
              <a:t>for</a:t>
            </a:r>
            <a:r>
              <a:rPr lang="nl-NL" dirty="0">
                <a:solidFill>
                  <a:srgbClr val="002060"/>
                </a:solidFill>
              </a:rPr>
              <a:t> nul </a:t>
            </a:r>
            <a:r>
              <a:rPr lang="nl-NL" dirty="0" err="1">
                <a:solidFill>
                  <a:srgbClr val="002060"/>
                </a:solidFill>
              </a:rPr>
              <a:t>char</a:t>
            </a:r>
            <a:r>
              <a:rPr lang="nl-NL" dirty="0">
                <a:solidFill>
                  <a:srgbClr val="002060"/>
                </a:solidFill>
              </a:rPr>
              <a:t>. */ </a:t>
            </a:r>
            <a:endParaRPr lang="nl-NL" dirty="0" smtClean="0">
              <a:solidFill>
                <a:srgbClr val="002060"/>
              </a:solidFill>
            </a:endParaRPr>
          </a:p>
          <a:p>
            <a:pPr lvl="3"/>
            <a:r>
              <a:rPr lang="nl-NL" dirty="0" smtClean="0">
                <a:solidFill>
                  <a:srgbClr val="002060"/>
                </a:solidFill>
              </a:rPr>
              <a:t>int </a:t>
            </a:r>
            <a:r>
              <a:rPr lang="nl-NL" dirty="0">
                <a:solidFill>
                  <a:srgbClr val="002060"/>
                </a:solidFill>
              </a:rPr>
              <a:t>score; </a:t>
            </a:r>
            <a:endParaRPr lang="nl-NL" dirty="0" smtClean="0">
              <a:solidFill>
                <a:srgbClr val="002060"/>
              </a:solidFill>
            </a:endParaRPr>
          </a:p>
          <a:p>
            <a:pPr lvl="3"/>
            <a:r>
              <a:rPr lang="nl-NL" b="1" dirty="0" smtClean="0">
                <a:solidFill>
                  <a:srgbClr val="002060"/>
                </a:solidFill>
              </a:rPr>
              <a:t>.</a:t>
            </a:r>
            <a:r>
              <a:rPr lang="nl-NL" b="1" dirty="0">
                <a:solidFill>
                  <a:srgbClr val="002060"/>
                </a:solidFill>
              </a:rPr>
              <a:t>..</a:t>
            </a:r>
            <a:r>
              <a:rPr lang="nl-NL" dirty="0">
                <a:solidFill>
                  <a:srgbClr val="002060"/>
                </a:solidFill>
              </a:rPr>
              <a:t> </a:t>
            </a:r>
            <a:endParaRPr lang="nl-NL" dirty="0" smtClean="0">
              <a:solidFill>
                <a:srgbClr val="002060"/>
              </a:solidFill>
            </a:endParaRPr>
          </a:p>
          <a:p>
            <a:pPr lvl="3"/>
            <a:r>
              <a:rPr lang="nl-NL" dirty="0" err="1" smtClean="0">
                <a:solidFill>
                  <a:srgbClr val="002060"/>
                </a:solidFill>
              </a:rPr>
              <a:t>while</a:t>
            </a:r>
            <a:r>
              <a:rPr lang="nl-NL" dirty="0" smtClean="0">
                <a:solidFill>
                  <a:srgbClr val="002060"/>
                </a:solidFill>
              </a:rPr>
              <a:t> </a:t>
            </a:r>
            <a:r>
              <a:rPr lang="nl-NL" dirty="0">
                <a:solidFill>
                  <a:srgbClr val="002060"/>
                </a:solidFill>
              </a:rPr>
              <a:t>(</a:t>
            </a:r>
            <a:r>
              <a:rPr lang="nl-NL" dirty="0" err="1">
                <a:solidFill>
                  <a:srgbClr val="002060"/>
                </a:solidFill>
              </a:rPr>
              <a:t>fscanf</a:t>
            </a:r>
            <a:r>
              <a:rPr lang="nl-NL" dirty="0">
                <a:solidFill>
                  <a:srgbClr val="002060"/>
                </a:solidFill>
              </a:rPr>
              <a:t>(</a:t>
            </a:r>
            <a:r>
              <a:rPr lang="nl-NL" dirty="0" err="1">
                <a:solidFill>
                  <a:srgbClr val="002060"/>
                </a:solidFill>
              </a:rPr>
              <a:t>ifp</a:t>
            </a:r>
            <a:r>
              <a:rPr lang="nl-NL" dirty="0">
                <a:solidFill>
                  <a:srgbClr val="002060"/>
                </a:solidFill>
              </a:rPr>
              <a:t>, "%s %d", username, &amp;score) != EOF) { </a:t>
            </a:r>
            <a:endParaRPr lang="nl-NL" dirty="0" smtClean="0">
              <a:solidFill>
                <a:srgbClr val="002060"/>
              </a:solidFill>
            </a:endParaRPr>
          </a:p>
          <a:p>
            <a:pPr lvl="3"/>
            <a:r>
              <a:rPr lang="nl-NL" dirty="0" smtClean="0">
                <a:solidFill>
                  <a:srgbClr val="002060"/>
                </a:solidFill>
              </a:rPr>
              <a:t>           </a:t>
            </a:r>
            <a:r>
              <a:rPr lang="nl-NL" dirty="0" err="1" smtClean="0">
                <a:solidFill>
                  <a:srgbClr val="002060"/>
                </a:solidFill>
              </a:rPr>
              <a:t>fprintf</a:t>
            </a:r>
            <a:r>
              <a:rPr lang="nl-NL" dirty="0">
                <a:solidFill>
                  <a:srgbClr val="002060"/>
                </a:solidFill>
              </a:rPr>
              <a:t>(</a:t>
            </a:r>
            <a:r>
              <a:rPr lang="nl-NL" dirty="0" err="1">
                <a:solidFill>
                  <a:srgbClr val="002060"/>
                </a:solidFill>
              </a:rPr>
              <a:t>ofp</a:t>
            </a:r>
            <a:r>
              <a:rPr lang="nl-NL" dirty="0">
                <a:solidFill>
                  <a:srgbClr val="002060"/>
                </a:solidFill>
              </a:rPr>
              <a:t>, "%s %d\n", username, score+10); </a:t>
            </a:r>
            <a:endParaRPr lang="nl-NL" dirty="0" smtClean="0">
              <a:solidFill>
                <a:srgbClr val="002060"/>
              </a:solidFill>
            </a:endParaRPr>
          </a:p>
          <a:p>
            <a:pPr lvl="3"/>
            <a:r>
              <a:rPr lang="nl-NL" dirty="0" smtClean="0">
                <a:solidFill>
                  <a:srgbClr val="002060"/>
                </a:solidFill>
              </a:rPr>
              <a:t>}  </a:t>
            </a:r>
          </a:p>
          <a:p>
            <a:r>
              <a:rPr lang="nl-NL" sz="2000" dirty="0" smtClean="0"/>
              <a:t>The </a:t>
            </a:r>
            <a:r>
              <a:rPr lang="nl-NL" sz="2000" dirty="0" err="1"/>
              <a:t>function</a:t>
            </a:r>
            <a:r>
              <a:rPr lang="nl-NL" sz="2000" dirty="0"/>
              <a:t> </a:t>
            </a:r>
            <a:r>
              <a:rPr lang="nl-NL" sz="2000" dirty="0" err="1"/>
              <a:t>fscanf</a:t>
            </a:r>
            <a:r>
              <a:rPr lang="nl-NL" sz="2000" dirty="0"/>
              <a:t>(), </a:t>
            </a:r>
            <a:r>
              <a:rPr lang="nl-NL" sz="2000" dirty="0" err="1"/>
              <a:t>like</a:t>
            </a:r>
            <a:r>
              <a:rPr lang="nl-NL" sz="2000" dirty="0"/>
              <a:t> </a:t>
            </a:r>
            <a:r>
              <a:rPr lang="nl-NL" sz="2000" dirty="0" err="1"/>
              <a:t>scanf</a:t>
            </a:r>
            <a:r>
              <a:rPr lang="nl-NL" sz="2000" dirty="0"/>
              <a:t>(), </a:t>
            </a:r>
            <a:r>
              <a:rPr lang="nl-NL" sz="2000" dirty="0" err="1"/>
              <a:t>normally</a:t>
            </a:r>
            <a:r>
              <a:rPr lang="nl-NL" sz="2000" dirty="0"/>
              <a:t> returns the </a:t>
            </a:r>
            <a:r>
              <a:rPr lang="nl-NL" sz="2000" dirty="0" err="1"/>
              <a:t>number</a:t>
            </a:r>
            <a:r>
              <a:rPr lang="nl-NL" sz="2000" dirty="0"/>
              <a:t> of </a:t>
            </a:r>
            <a:r>
              <a:rPr lang="nl-NL" sz="2000" dirty="0" err="1"/>
              <a:t>values</a:t>
            </a:r>
            <a:r>
              <a:rPr lang="nl-NL" sz="2000" dirty="0"/>
              <a:t> </a:t>
            </a:r>
            <a:r>
              <a:rPr lang="nl-NL" sz="2000" dirty="0" err="1"/>
              <a:t>it</a:t>
            </a:r>
            <a:r>
              <a:rPr lang="nl-NL" sz="2000" dirty="0"/>
              <a:t> was </a:t>
            </a:r>
            <a:r>
              <a:rPr lang="nl-NL" sz="2000" dirty="0" err="1"/>
              <a:t>able</a:t>
            </a:r>
            <a:r>
              <a:rPr lang="nl-NL" sz="2000" dirty="0"/>
              <a:t> </a:t>
            </a:r>
            <a:r>
              <a:rPr lang="nl-NL" sz="2000" dirty="0" err="1"/>
              <a:t>to</a:t>
            </a:r>
            <a:r>
              <a:rPr lang="nl-NL" sz="2000" dirty="0"/>
              <a:t> </a:t>
            </a:r>
            <a:r>
              <a:rPr lang="nl-NL" sz="2000" dirty="0" err="1"/>
              <a:t>read</a:t>
            </a:r>
            <a:r>
              <a:rPr lang="nl-NL" sz="2000" dirty="0"/>
              <a:t> in. </a:t>
            </a:r>
            <a:r>
              <a:rPr lang="nl-NL" sz="2000" dirty="0" err="1" smtClean="0"/>
              <a:t>However</a:t>
            </a:r>
            <a:r>
              <a:rPr lang="nl-NL" sz="2000" dirty="0"/>
              <a:t>, </a:t>
            </a:r>
            <a:r>
              <a:rPr lang="nl-NL" sz="2000" dirty="0" err="1"/>
              <a:t>when</a:t>
            </a:r>
            <a:r>
              <a:rPr lang="nl-NL" sz="2000" dirty="0"/>
              <a:t> </a:t>
            </a:r>
            <a:r>
              <a:rPr lang="nl-NL" sz="2000" dirty="0" err="1"/>
              <a:t>it</a:t>
            </a:r>
            <a:r>
              <a:rPr lang="nl-NL" sz="2000" dirty="0"/>
              <a:t> hits the end of the file, </a:t>
            </a:r>
            <a:r>
              <a:rPr lang="nl-NL" sz="2000" dirty="0" err="1"/>
              <a:t>it</a:t>
            </a:r>
            <a:r>
              <a:rPr lang="nl-NL" sz="2000" dirty="0"/>
              <a:t> returns the special </a:t>
            </a:r>
            <a:r>
              <a:rPr lang="nl-NL" sz="2000" dirty="0" err="1"/>
              <a:t>value</a:t>
            </a:r>
            <a:r>
              <a:rPr lang="nl-NL" sz="2000" dirty="0"/>
              <a:t> EOF. </a:t>
            </a:r>
            <a:endParaRPr lang="nl-NL" sz="2000" dirty="0" smtClean="0"/>
          </a:p>
          <a:p>
            <a:r>
              <a:rPr lang="nl-NL" sz="2000" dirty="0" err="1" smtClean="0"/>
              <a:t>So</a:t>
            </a:r>
            <a:r>
              <a:rPr lang="nl-NL" sz="2000" dirty="0"/>
              <a:t>, </a:t>
            </a:r>
            <a:r>
              <a:rPr lang="nl-NL" sz="2000" dirty="0" err="1"/>
              <a:t>testing</a:t>
            </a:r>
            <a:r>
              <a:rPr lang="nl-NL" sz="2000" dirty="0"/>
              <a:t> the return </a:t>
            </a:r>
            <a:r>
              <a:rPr lang="nl-NL" sz="2000" dirty="0" err="1"/>
              <a:t>value</a:t>
            </a:r>
            <a:r>
              <a:rPr lang="nl-NL" sz="2000" dirty="0"/>
              <a:t> </a:t>
            </a:r>
            <a:r>
              <a:rPr lang="nl-NL" sz="2000" dirty="0" err="1"/>
              <a:t>against</a:t>
            </a:r>
            <a:r>
              <a:rPr lang="nl-NL" sz="2000" dirty="0"/>
              <a:t> EOF is </a:t>
            </a:r>
            <a:r>
              <a:rPr lang="nl-NL" sz="2000" dirty="0" err="1"/>
              <a:t>one</a:t>
            </a:r>
            <a:r>
              <a:rPr lang="nl-NL" sz="2000" dirty="0"/>
              <a:t> way </a:t>
            </a:r>
            <a:r>
              <a:rPr lang="nl-NL" sz="2000" dirty="0" err="1"/>
              <a:t>to</a:t>
            </a:r>
            <a:r>
              <a:rPr lang="nl-NL" sz="2000" dirty="0"/>
              <a:t> stop the loop. </a:t>
            </a:r>
          </a:p>
          <a:p>
            <a:endParaRPr lang="en-US" dirty="0"/>
          </a:p>
        </p:txBody>
      </p:sp>
    </p:spTree>
    <p:extLst>
      <p:ext uri="{BB962C8B-B14F-4D97-AF65-F5344CB8AC3E}">
        <p14:creationId xmlns="" xmlns:p14="http://schemas.microsoft.com/office/powerpoint/2010/main" val="296134194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266108" y="1233248"/>
            <a:ext cx="8420692" cy="5201424"/>
          </a:xfrm>
          <a:prstGeom prst="rect">
            <a:avLst/>
          </a:prstGeom>
        </p:spPr>
        <p:txBody>
          <a:bodyPr wrap="square">
            <a:spAutoFit/>
          </a:bodyPr>
          <a:lstStyle/>
          <a:p>
            <a:r>
              <a:rPr lang="en-US" sz="2400" dirty="0" smtClean="0"/>
              <a:t>The bad thing about testing against EOF is that if the file is not in the right format (e.g., a letter is found when a number is expected):</a:t>
            </a:r>
          </a:p>
          <a:p>
            <a:endParaRPr lang="en-US" dirty="0" smtClean="0"/>
          </a:p>
          <a:p>
            <a:pPr lvl="2"/>
            <a:r>
              <a:rPr lang="en-US" dirty="0" smtClean="0"/>
              <a:t>    list.txt</a:t>
            </a:r>
          </a:p>
          <a:p>
            <a:pPr lvl="2"/>
            <a:r>
              <a:rPr lang="en-US" dirty="0" smtClean="0"/>
              <a:t>    ------</a:t>
            </a:r>
          </a:p>
          <a:p>
            <a:pPr lvl="2"/>
            <a:r>
              <a:rPr lang="en-US" dirty="0" smtClean="0"/>
              <a:t>    </a:t>
            </a:r>
            <a:r>
              <a:rPr lang="en-US" dirty="0" err="1" smtClean="0"/>
              <a:t>foo</a:t>
            </a:r>
            <a:r>
              <a:rPr lang="en-US" dirty="0" smtClean="0"/>
              <a:t> 70</a:t>
            </a:r>
          </a:p>
          <a:p>
            <a:pPr lvl="2"/>
            <a:r>
              <a:rPr lang="en-US" dirty="0" smtClean="0"/>
              <a:t>    bar 98</a:t>
            </a:r>
          </a:p>
          <a:p>
            <a:pPr lvl="2"/>
            <a:r>
              <a:rPr lang="en-US" dirty="0" smtClean="0"/>
              <a:t>    biz A+</a:t>
            </a:r>
          </a:p>
          <a:p>
            <a:pPr lvl="2"/>
            <a:r>
              <a:rPr lang="en-US" dirty="0" smtClean="0"/>
              <a:t>    ...</a:t>
            </a:r>
          </a:p>
          <a:p>
            <a:endParaRPr lang="en-US" dirty="0" smtClean="0"/>
          </a:p>
          <a:p>
            <a:r>
              <a:rPr lang="en-US" sz="2400" dirty="0" smtClean="0"/>
              <a:t>then </a:t>
            </a:r>
            <a:r>
              <a:rPr lang="en-US" sz="2400" dirty="0" err="1" smtClean="0"/>
              <a:t>fscanf</a:t>
            </a:r>
            <a:r>
              <a:rPr lang="en-US" sz="2400" dirty="0" smtClean="0"/>
              <a:t>() will not be able to read that line (since there is no integer to read) and it won't advance to the next line in the file. For this error, </a:t>
            </a:r>
            <a:r>
              <a:rPr lang="en-US" sz="2400" dirty="0" err="1" smtClean="0"/>
              <a:t>fscanf</a:t>
            </a:r>
            <a:r>
              <a:rPr lang="en-US" sz="2400" dirty="0" smtClean="0"/>
              <a:t>() will not return EOF (it's not at the end of the file)</a:t>
            </a:r>
          </a:p>
          <a:p>
            <a:endParaRPr lang="en-US" sz="2000" dirty="0" smtClean="0"/>
          </a:p>
        </p:txBody>
      </p:sp>
      <p:sp>
        <p:nvSpPr>
          <p:cNvPr id="6" name="Title 1"/>
          <p:cNvSpPr>
            <a:spLocks noGrp="1"/>
          </p:cNvSpPr>
          <p:nvPr>
            <p:ph type="title"/>
          </p:nvPr>
        </p:nvSpPr>
        <p:spPr>
          <a:xfrm>
            <a:off x="533400" y="304800"/>
            <a:ext cx="7467600" cy="455662"/>
          </a:xfrm>
        </p:spPr>
        <p:txBody>
          <a:bodyPr>
            <a:normAutofit fontScale="90000"/>
          </a:bodyPr>
          <a:lstStyle/>
          <a:p>
            <a:pPr algn="ctr"/>
            <a:r>
              <a:rPr lang="en-US" dirty="0"/>
              <a:t>Reading a </a:t>
            </a:r>
            <a:r>
              <a:rPr lang="en-US" dirty="0" smtClean="0"/>
              <a:t>File cont.</a:t>
            </a:r>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66932" y="1056244"/>
            <a:ext cx="8167468" cy="5170646"/>
          </a:xfrm>
          <a:prstGeom prst="rect">
            <a:avLst/>
          </a:prstGeom>
        </p:spPr>
        <p:txBody>
          <a:bodyPr wrap="square">
            <a:spAutoFit/>
          </a:bodyPr>
          <a:lstStyle/>
          <a:p>
            <a:pPr algn="just"/>
            <a:r>
              <a:rPr lang="en-US" sz="2200" dirty="0" smtClean="0"/>
              <a:t>Errors like that will at least mess up how the rest of the file is read. In some cases, they will cause an infinite loop.</a:t>
            </a:r>
          </a:p>
          <a:p>
            <a:pPr algn="just"/>
            <a:endParaRPr lang="en-US" sz="2200" dirty="0" smtClean="0"/>
          </a:p>
          <a:p>
            <a:pPr algn="just"/>
            <a:r>
              <a:rPr lang="en-US" sz="2200" dirty="0" smtClean="0"/>
              <a:t>One solution is to test against the number of values we expect to be read by </a:t>
            </a:r>
            <a:r>
              <a:rPr lang="en-US" sz="2200" dirty="0" err="1" smtClean="0"/>
              <a:t>fscanf</a:t>
            </a:r>
            <a:r>
              <a:rPr lang="en-US" sz="2200" dirty="0" smtClean="0"/>
              <a:t>() each time. Since our format is "%s %d", we expect it to read in 2 values, so our condition could be:</a:t>
            </a:r>
          </a:p>
          <a:p>
            <a:endParaRPr lang="en-US" sz="2200" dirty="0" smtClean="0"/>
          </a:p>
          <a:p>
            <a:r>
              <a:rPr lang="en-US" sz="2200" dirty="0" smtClean="0"/>
              <a:t>    </a:t>
            </a:r>
            <a:r>
              <a:rPr lang="en-US" sz="2200" dirty="0" smtClean="0">
                <a:solidFill>
                  <a:srgbClr val="002060"/>
                </a:solidFill>
              </a:rPr>
              <a:t>while (</a:t>
            </a:r>
            <a:r>
              <a:rPr lang="en-US" sz="2200" dirty="0" err="1" smtClean="0">
                <a:solidFill>
                  <a:srgbClr val="002060"/>
                </a:solidFill>
              </a:rPr>
              <a:t>fscanf</a:t>
            </a:r>
            <a:r>
              <a:rPr lang="en-US" sz="2200" dirty="0" smtClean="0">
                <a:solidFill>
                  <a:srgbClr val="002060"/>
                </a:solidFill>
              </a:rPr>
              <a:t>(</a:t>
            </a:r>
            <a:r>
              <a:rPr lang="en-US" sz="2200" dirty="0" err="1" smtClean="0">
                <a:solidFill>
                  <a:srgbClr val="002060"/>
                </a:solidFill>
              </a:rPr>
              <a:t>ifp</a:t>
            </a:r>
            <a:r>
              <a:rPr lang="en-US" sz="2200" dirty="0" smtClean="0">
                <a:solidFill>
                  <a:srgbClr val="002060"/>
                </a:solidFill>
              </a:rPr>
              <a:t>, "%s %d", username, &amp;score) == 2) {</a:t>
            </a:r>
          </a:p>
          <a:p>
            <a:r>
              <a:rPr lang="en-US" sz="2200" dirty="0" smtClean="0">
                <a:solidFill>
                  <a:srgbClr val="002060"/>
                </a:solidFill>
              </a:rPr>
              <a:t>      ...	</a:t>
            </a:r>
          </a:p>
          <a:p>
            <a:endParaRPr lang="en-US" sz="2200" dirty="0" smtClean="0"/>
          </a:p>
          <a:p>
            <a:pPr algn="just"/>
            <a:r>
              <a:rPr lang="en-US" sz="2200" dirty="0" smtClean="0"/>
              <a:t>Now, if we get 2 values, the loop continues. If we don't get 2 values, either because we are at the end of the file or some other problem occurred (e.g., it sees a letter when it is trying to read in a number with %d), then the loop will end. </a:t>
            </a:r>
            <a:endParaRPr lang="en-US" sz="2200" dirty="0"/>
          </a:p>
        </p:txBody>
      </p:sp>
      <p:sp>
        <p:nvSpPr>
          <p:cNvPr id="5" name="Title 1"/>
          <p:cNvSpPr>
            <a:spLocks noGrp="1"/>
          </p:cNvSpPr>
          <p:nvPr>
            <p:ph type="title"/>
          </p:nvPr>
        </p:nvSpPr>
        <p:spPr>
          <a:xfrm>
            <a:off x="533400" y="304800"/>
            <a:ext cx="7467600" cy="455662"/>
          </a:xfrm>
        </p:spPr>
        <p:txBody>
          <a:bodyPr>
            <a:normAutofit fontScale="90000"/>
          </a:bodyPr>
          <a:lstStyle/>
          <a:p>
            <a:pPr algn="ctr"/>
            <a:r>
              <a:rPr lang="en-US" dirty="0"/>
              <a:t>Reading a </a:t>
            </a:r>
            <a:r>
              <a:rPr lang="en-US" dirty="0" smtClean="0"/>
              <a:t>File cont.</a:t>
            </a:r>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304800" y="953072"/>
            <a:ext cx="8458200" cy="5509200"/>
          </a:xfrm>
          <a:prstGeom prst="rect">
            <a:avLst/>
          </a:prstGeom>
        </p:spPr>
        <p:txBody>
          <a:bodyPr wrap="square">
            <a:spAutoFit/>
          </a:bodyPr>
          <a:lstStyle/>
          <a:p>
            <a:r>
              <a:rPr lang="en-US" sz="2200" dirty="0" smtClean="0"/>
              <a:t>Another way to test for end of file is with the library function </a:t>
            </a:r>
            <a:r>
              <a:rPr lang="en-US" sz="2200" dirty="0" err="1" smtClean="0"/>
              <a:t>feof</a:t>
            </a:r>
            <a:r>
              <a:rPr lang="en-US" sz="2200" dirty="0" smtClean="0"/>
              <a:t>(). It just takes a file pointer and returns a true/false value based on whether we are at the end of the file.</a:t>
            </a:r>
          </a:p>
          <a:p>
            <a:endParaRPr lang="en-US" sz="2200" dirty="0" smtClean="0"/>
          </a:p>
          <a:p>
            <a:r>
              <a:rPr lang="en-US" sz="2200" dirty="0" smtClean="0"/>
              <a:t>To use it in the above example, you would do:</a:t>
            </a:r>
          </a:p>
          <a:p>
            <a:endParaRPr lang="en-US" sz="2200" dirty="0" smtClean="0"/>
          </a:p>
          <a:p>
            <a:pPr lvl="1"/>
            <a:r>
              <a:rPr lang="en-US" sz="2200" dirty="0" smtClean="0">
                <a:solidFill>
                  <a:srgbClr val="002060"/>
                </a:solidFill>
              </a:rPr>
              <a:t>    while (!</a:t>
            </a:r>
            <a:r>
              <a:rPr lang="en-US" sz="2200" dirty="0" err="1" smtClean="0">
                <a:solidFill>
                  <a:srgbClr val="002060"/>
                </a:solidFill>
              </a:rPr>
              <a:t>feof</a:t>
            </a:r>
            <a:r>
              <a:rPr lang="en-US" sz="2200" dirty="0" smtClean="0">
                <a:solidFill>
                  <a:srgbClr val="002060"/>
                </a:solidFill>
              </a:rPr>
              <a:t>(</a:t>
            </a:r>
            <a:r>
              <a:rPr lang="en-US" sz="2200" dirty="0" err="1" smtClean="0">
                <a:solidFill>
                  <a:srgbClr val="002060"/>
                </a:solidFill>
              </a:rPr>
              <a:t>ifp</a:t>
            </a:r>
            <a:r>
              <a:rPr lang="en-US" sz="2200" dirty="0" smtClean="0">
                <a:solidFill>
                  <a:srgbClr val="002060"/>
                </a:solidFill>
              </a:rPr>
              <a:t>)) {</a:t>
            </a:r>
          </a:p>
          <a:p>
            <a:pPr lvl="1"/>
            <a:r>
              <a:rPr lang="en-US" sz="2200" dirty="0" smtClean="0">
                <a:solidFill>
                  <a:srgbClr val="002060"/>
                </a:solidFill>
              </a:rPr>
              <a:t>              if (</a:t>
            </a:r>
            <a:r>
              <a:rPr lang="en-US" sz="2200" dirty="0" err="1" smtClean="0">
                <a:solidFill>
                  <a:srgbClr val="002060"/>
                </a:solidFill>
              </a:rPr>
              <a:t>fscanf</a:t>
            </a:r>
            <a:r>
              <a:rPr lang="en-US" sz="2200" dirty="0" smtClean="0">
                <a:solidFill>
                  <a:srgbClr val="002060"/>
                </a:solidFill>
              </a:rPr>
              <a:t>(</a:t>
            </a:r>
            <a:r>
              <a:rPr lang="en-US" sz="2200" dirty="0" err="1" smtClean="0">
                <a:solidFill>
                  <a:srgbClr val="002060"/>
                </a:solidFill>
              </a:rPr>
              <a:t>ifp</a:t>
            </a:r>
            <a:r>
              <a:rPr lang="en-US" sz="2200" dirty="0" smtClean="0">
                <a:solidFill>
                  <a:srgbClr val="002060"/>
                </a:solidFill>
              </a:rPr>
              <a:t>, "%s %d", username, &amp;score) != 2)</a:t>
            </a:r>
          </a:p>
          <a:p>
            <a:pPr lvl="1"/>
            <a:r>
              <a:rPr lang="en-US" sz="2200" dirty="0" smtClean="0">
                <a:solidFill>
                  <a:srgbClr val="002060"/>
                </a:solidFill>
              </a:rPr>
              <a:t>                  break;</a:t>
            </a:r>
          </a:p>
          <a:p>
            <a:pPr lvl="1"/>
            <a:r>
              <a:rPr lang="en-US" sz="2200" dirty="0" smtClean="0">
                <a:solidFill>
                  <a:srgbClr val="002060"/>
                </a:solidFill>
              </a:rPr>
              <a:t>              </a:t>
            </a:r>
            <a:r>
              <a:rPr lang="en-US" sz="2200" dirty="0" err="1" smtClean="0">
                <a:solidFill>
                  <a:srgbClr val="002060"/>
                </a:solidFill>
              </a:rPr>
              <a:t>fprintf</a:t>
            </a:r>
            <a:r>
              <a:rPr lang="en-US" sz="2200" dirty="0" smtClean="0">
                <a:solidFill>
                  <a:srgbClr val="002060"/>
                </a:solidFill>
              </a:rPr>
              <a:t>(</a:t>
            </a:r>
            <a:r>
              <a:rPr lang="en-US" sz="2200" dirty="0" err="1" smtClean="0">
                <a:solidFill>
                  <a:srgbClr val="002060"/>
                </a:solidFill>
              </a:rPr>
              <a:t>ofp</a:t>
            </a:r>
            <a:r>
              <a:rPr lang="en-US" sz="2200" dirty="0" smtClean="0">
                <a:solidFill>
                  <a:srgbClr val="002060"/>
                </a:solidFill>
              </a:rPr>
              <a:t>, "%s %d", username, score+10);</a:t>
            </a:r>
          </a:p>
          <a:p>
            <a:pPr lvl="1"/>
            <a:r>
              <a:rPr lang="en-US" sz="2200" dirty="0" smtClean="0">
                <a:solidFill>
                  <a:srgbClr val="002060"/>
                </a:solidFill>
              </a:rPr>
              <a:t>    }</a:t>
            </a:r>
          </a:p>
          <a:p>
            <a:endParaRPr lang="en-US" sz="2200" dirty="0" smtClean="0"/>
          </a:p>
          <a:p>
            <a:r>
              <a:rPr lang="en-US" sz="2200" dirty="0" smtClean="0"/>
              <a:t>Note that, like testing != EOF, it might cause an infinite loop if the format of the input file was not as expected. However, we can add code to make sure it reads in 2 values (as we've done above). </a:t>
            </a:r>
            <a:endParaRPr lang="en-US" sz="2200" dirty="0"/>
          </a:p>
        </p:txBody>
      </p:sp>
      <p:sp>
        <p:nvSpPr>
          <p:cNvPr id="6" name="Title 1"/>
          <p:cNvSpPr>
            <a:spLocks noGrp="1"/>
          </p:cNvSpPr>
          <p:nvPr>
            <p:ph type="title"/>
          </p:nvPr>
        </p:nvSpPr>
        <p:spPr>
          <a:xfrm>
            <a:off x="533400" y="304800"/>
            <a:ext cx="7467600" cy="455662"/>
          </a:xfrm>
        </p:spPr>
        <p:txBody>
          <a:bodyPr>
            <a:normAutofit fontScale="90000"/>
          </a:bodyPr>
          <a:lstStyle/>
          <a:p>
            <a:pPr algn="ctr"/>
            <a:r>
              <a:rPr lang="en-US" dirty="0"/>
              <a:t>Reading a </a:t>
            </a:r>
            <a:r>
              <a:rPr lang="en-US" dirty="0" smtClean="0"/>
              <a:t>File cont.</a:t>
            </a:r>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274638"/>
            <a:ext cx="8382000" cy="563562"/>
          </a:xfrm>
        </p:spPr>
        <p:txBody>
          <a:bodyPr>
            <a:normAutofit/>
          </a:bodyPr>
          <a:lstStyle/>
          <a:p>
            <a:pPr algn="ctr"/>
            <a:r>
              <a:rPr lang="en-US" dirty="0"/>
              <a:t>Binary I/O </a:t>
            </a:r>
            <a:r>
              <a:rPr lang="en-US" dirty="0" smtClean="0"/>
              <a:t>Functions</a:t>
            </a:r>
            <a:endParaRPr lang="en-US" dirty="0"/>
          </a:p>
        </p:txBody>
      </p:sp>
      <p:sp>
        <p:nvSpPr>
          <p:cNvPr id="3" name="Content Placeholder 2"/>
          <p:cNvSpPr>
            <a:spLocks noGrp="1"/>
          </p:cNvSpPr>
          <p:nvPr>
            <p:ph sz="quarter" idx="1"/>
          </p:nvPr>
        </p:nvSpPr>
        <p:spPr>
          <a:xfrm>
            <a:off x="152400" y="1135930"/>
            <a:ext cx="8610600" cy="4873752"/>
          </a:xfrm>
        </p:spPr>
        <p:txBody>
          <a:bodyPr>
            <a:normAutofit lnSpcReduction="10000"/>
          </a:bodyPr>
          <a:lstStyle/>
          <a:p>
            <a:r>
              <a:rPr lang="en-US" dirty="0"/>
              <a:t>There are following two functions, which can be used for binary input and output</a:t>
            </a:r>
            <a:r>
              <a:rPr lang="en-US" dirty="0" smtClean="0"/>
              <a:t>:</a:t>
            </a:r>
          </a:p>
          <a:p>
            <a:endParaRPr lang="en-US" dirty="0" smtClean="0"/>
          </a:p>
          <a:p>
            <a:endParaRPr lang="en-US" dirty="0"/>
          </a:p>
          <a:p>
            <a:endParaRPr lang="en-US" dirty="0" smtClean="0"/>
          </a:p>
          <a:p>
            <a:endParaRPr lang="en-US" dirty="0"/>
          </a:p>
          <a:p>
            <a:pPr>
              <a:buNone/>
            </a:pPr>
            <a:endParaRPr lang="en-US" dirty="0"/>
          </a:p>
          <a:p>
            <a:r>
              <a:rPr lang="en-US" dirty="0"/>
              <a:t>Both of these functions should be used to read or write blocks of memories - usually arrays or structures</a:t>
            </a:r>
            <a:r>
              <a:rPr lang="en-US" dirty="0" smtClean="0"/>
              <a:t>.</a:t>
            </a:r>
          </a:p>
          <a:p>
            <a:r>
              <a:rPr lang="en-US" dirty="0" smtClean="0"/>
              <a:t>If you are going to handle binary files then you will use below mentioned access modes instead of the above mentioned:</a:t>
            </a:r>
            <a:endParaRPr lang="en-US" dirty="0"/>
          </a:p>
        </p:txBody>
      </p:sp>
      <p:pic>
        <p:nvPicPr>
          <p:cNvPr id="4" name="Picture 3"/>
          <p:cNvPicPr>
            <a:picLocks noChangeAspect="1"/>
          </p:cNvPicPr>
          <p:nvPr/>
        </p:nvPicPr>
        <p:blipFill>
          <a:blip r:embed="rId2" cstate="print"/>
          <a:stretch>
            <a:fillRect/>
          </a:stretch>
        </p:blipFill>
        <p:spPr>
          <a:xfrm>
            <a:off x="428985" y="2120022"/>
            <a:ext cx="8181615" cy="1448615"/>
          </a:xfrm>
          <a:prstGeom prst="rect">
            <a:avLst/>
          </a:prstGeom>
          <a:ln>
            <a:solidFill>
              <a:schemeClr val="accent1"/>
            </a:solidFill>
          </a:ln>
        </p:spPr>
      </p:pic>
      <p:pic>
        <p:nvPicPr>
          <p:cNvPr id="2050" name="Picture 2"/>
          <p:cNvPicPr>
            <a:picLocks noChangeAspect="1" noChangeArrowheads="1"/>
          </p:cNvPicPr>
          <p:nvPr/>
        </p:nvPicPr>
        <p:blipFill>
          <a:blip r:embed="rId3" cstate="print"/>
          <a:srcRect/>
          <a:stretch>
            <a:fillRect/>
          </a:stretch>
        </p:blipFill>
        <p:spPr bwMode="auto">
          <a:xfrm>
            <a:off x="457200" y="5720860"/>
            <a:ext cx="8229600" cy="609600"/>
          </a:xfrm>
          <a:prstGeom prst="rect">
            <a:avLst/>
          </a:prstGeom>
          <a:noFill/>
          <a:ln w="9525">
            <a:solidFill>
              <a:schemeClr val="accent1"/>
            </a:solidFill>
            <a:miter lim="800000"/>
            <a:headEnd/>
            <a:tailEnd/>
          </a:ln>
        </p:spPr>
      </p:pic>
    </p:spTree>
    <p:extLst>
      <p:ext uri="{BB962C8B-B14F-4D97-AF65-F5344CB8AC3E}">
        <p14:creationId xmlns="" xmlns:p14="http://schemas.microsoft.com/office/powerpoint/2010/main" val="73801369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See also</a:t>
            </a:r>
            <a:endParaRPr lang="en-US"/>
          </a:p>
        </p:txBody>
      </p:sp>
      <p:sp>
        <p:nvSpPr>
          <p:cNvPr id="3" name="Content Placeholder 2"/>
          <p:cNvSpPr>
            <a:spLocks noGrp="1"/>
          </p:cNvSpPr>
          <p:nvPr>
            <p:ph sz="quarter" idx="1"/>
          </p:nvPr>
        </p:nvSpPr>
        <p:spPr/>
        <p:txBody>
          <a:bodyPr/>
          <a:lstStyle/>
          <a:p>
            <a:r>
              <a:rPr lang="en-US" dirty="0" err="1" smtClean="0"/>
              <a:t>www.cs.bu.edu</a:t>
            </a:r>
            <a:r>
              <a:rPr lang="en-US" dirty="0"/>
              <a:t>/teaching/c/file-</a:t>
            </a:r>
            <a:r>
              <a:rPr lang="en-US" dirty="0" err="1"/>
              <a:t>io</a:t>
            </a:r>
            <a:r>
              <a:rPr lang="en-US" dirty="0"/>
              <a:t>/intro</a:t>
            </a:r>
            <a:r>
              <a:rPr lang="en-US" dirty="0" smtClean="0"/>
              <a:t>/</a:t>
            </a:r>
          </a:p>
          <a:p>
            <a:r>
              <a:rPr lang="en-US" dirty="0" err="1" smtClean="0"/>
              <a:t>www.codingunit.com</a:t>
            </a:r>
            <a:r>
              <a:rPr lang="en-US" dirty="0"/>
              <a:t>/c-tutorial-file-</a:t>
            </a:r>
            <a:r>
              <a:rPr lang="en-US" dirty="0" err="1"/>
              <a:t>io</a:t>
            </a:r>
            <a:r>
              <a:rPr lang="en-US" dirty="0"/>
              <a:t>-using-text-</a:t>
            </a:r>
            <a:r>
              <a:rPr lang="en-US" dirty="0" smtClean="0"/>
              <a:t>files</a:t>
            </a:r>
          </a:p>
          <a:p>
            <a:r>
              <a:rPr lang="en-US" dirty="0" err="1" smtClean="0"/>
              <a:t>en.wikibooks.org</a:t>
            </a:r>
            <a:r>
              <a:rPr lang="en-US" dirty="0"/>
              <a:t>/wiki/</a:t>
            </a:r>
            <a:r>
              <a:rPr lang="en-US" dirty="0" err="1"/>
              <a:t>A_Little_C_Primer</a:t>
            </a:r>
            <a:r>
              <a:rPr lang="en-US" dirty="0"/>
              <a:t>/</a:t>
            </a:r>
            <a:r>
              <a:rPr lang="en-US" dirty="0" err="1"/>
              <a:t>C_File-IO_Through_Library_Functions</a:t>
            </a:r>
            <a:endParaRPr lang="en-US" dirty="0"/>
          </a:p>
        </p:txBody>
      </p:sp>
    </p:spTree>
    <p:extLst>
      <p:ext uri="{BB962C8B-B14F-4D97-AF65-F5344CB8AC3E}">
        <p14:creationId xmlns="" xmlns:p14="http://schemas.microsoft.com/office/powerpoint/2010/main" val="1561374195"/>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riel">
  <a:themeElements>
    <a:clrScheme name="Oriel">
      <a:dk1>
        <a:sysClr val="windowText" lastClr="000000"/>
      </a:dk1>
      <a:lt1>
        <a:sysClr val="window" lastClr="FFFFFF"/>
      </a:lt1>
      <a:dk2>
        <a:srgbClr val="575F6D"/>
      </a:dk2>
      <a:lt2>
        <a:srgbClr val="FFF39D"/>
      </a:lt2>
      <a:accent1>
        <a:srgbClr val="FE8637"/>
      </a:accent1>
      <a:accent2>
        <a:srgbClr val="7598D9"/>
      </a:accent2>
      <a:accent3>
        <a:srgbClr val="B32C16"/>
      </a:accent3>
      <a:accent4>
        <a:srgbClr val="F5CD2D"/>
      </a:accent4>
      <a:accent5>
        <a:srgbClr val="AEBAD5"/>
      </a:accent5>
      <a:accent6>
        <a:srgbClr val="777C84"/>
      </a:accent6>
      <a:hlink>
        <a:srgbClr val="D2611C"/>
      </a:hlink>
      <a:folHlink>
        <a:srgbClr val="3B435B"/>
      </a:folHlink>
    </a:clrScheme>
    <a:fontScheme name="Oriel">
      <a:majorFont>
        <a:latin typeface="Century Schoolbook"/>
        <a:ea typeface=""/>
        <a:cs typeface=""/>
        <a:font script="Jpan" typeface="ＭＳ Ｐ明朝"/>
        <a:font script="Hang" typeface="휴먼매직체"/>
        <a:font script="Hans" typeface="华文楷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entury Schoolbook"/>
        <a:ea typeface=""/>
        <a:cs typeface=""/>
        <a:font script="Jpan" typeface="ＭＳ Ｐ明朝"/>
        <a:font script="Hang" typeface="휴먼매직체"/>
        <a:font script="Hans" typeface="宋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Oriel">
      <a:fillStyleLst>
        <a:solidFill>
          <a:schemeClr val="phClr"/>
        </a:solidFill>
        <a:gradFill rotWithShape="1">
          <a:gsLst>
            <a:gs pos="0">
              <a:schemeClr val="phClr">
                <a:tint val="35000"/>
                <a:satMod val="260000"/>
              </a:schemeClr>
            </a:gs>
            <a:gs pos="30000">
              <a:schemeClr val="phClr">
                <a:tint val="38000"/>
                <a:satMod val="260000"/>
              </a:schemeClr>
            </a:gs>
            <a:gs pos="75000">
              <a:schemeClr val="phClr">
                <a:tint val="55000"/>
                <a:satMod val="255000"/>
              </a:schemeClr>
            </a:gs>
            <a:gs pos="100000">
              <a:schemeClr val="phClr">
                <a:tint val="70000"/>
                <a:satMod val="255000"/>
              </a:schemeClr>
            </a:gs>
          </a:gsLst>
          <a:path path="circle">
            <a:fillToRect l="5000" t="100000" r="120000" b="10000"/>
          </a:path>
        </a:gradFill>
        <a:gradFill rotWithShape="1">
          <a:gsLst>
            <a:gs pos="0">
              <a:schemeClr val="phClr">
                <a:shade val="63000"/>
                <a:satMod val="165000"/>
              </a:schemeClr>
            </a:gs>
            <a:gs pos="30000">
              <a:schemeClr val="phClr">
                <a:shade val="58000"/>
                <a:satMod val="165000"/>
              </a:schemeClr>
            </a:gs>
            <a:gs pos="75000">
              <a:schemeClr val="phClr">
                <a:shade val="30000"/>
                <a:satMod val="175000"/>
              </a:schemeClr>
            </a:gs>
            <a:gs pos="100000">
              <a:schemeClr val="phClr">
                <a:shade val="15000"/>
                <a:satMod val="175000"/>
              </a:schemeClr>
            </a:gs>
          </a:gsLst>
          <a:path path="circle">
            <a:fillToRect l="5000" t="100000" r="120000" b="10000"/>
          </a:path>
        </a:gradFill>
      </a:fillStyleLst>
      <a:lnStyleLst>
        <a:ln w="12700" cap="flat" cmpd="sng" algn="ctr">
          <a:solidFill>
            <a:schemeClr val="phClr">
              <a:shade val="70000"/>
              <a:satMod val="150000"/>
            </a:schemeClr>
          </a:solidFill>
          <a:prstDash val="solid"/>
        </a:ln>
        <a:ln w="25400" cap="flat" cmpd="sng" algn="ctr">
          <a:solidFill>
            <a:schemeClr val="phClr"/>
          </a:solidFill>
          <a:prstDash val="solid"/>
        </a:ln>
        <a:ln w="34925" cap="flat" cmpd="sng" algn="ctr">
          <a:solidFill>
            <a:schemeClr val="phClr"/>
          </a:solidFill>
          <a:prstDash val="solid"/>
        </a:ln>
      </a:lnStyleLst>
      <a:effectStyleLst>
        <a:effectStyle>
          <a:effectLst>
            <a:outerShdw blurRad="50800" dist="25000" dir="5400000" rotWithShape="0">
              <a:srgbClr val="000000">
                <a:alpha val="40000"/>
              </a:srgbClr>
            </a:outerShdw>
          </a:effectLst>
        </a:effectStyle>
        <a:effectStyle>
          <a:effectLst>
            <a:outerShdw blurRad="50800" dist="20000" dir="5400000" rotWithShape="0">
              <a:srgbClr val="000000">
                <a:alpha val="42000"/>
              </a:srgbClr>
            </a:outerShdw>
          </a:effectLst>
        </a:effectStyle>
        <a:effectStyle>
          <a:effectLst>
            <a:outerShdw blurRad="50800" dist="20000" dir="5400000" rotWithShape="0">
              <a:srgbClr val="000000">
                <a:alpha val="42000"/>
              </a:srgbClr>
            </a:outerShdw>
          </a:effectLst>
          <a:scene3d>
            <a:camera prst="orthographicFront">
              <a:rot lat="0" lon="0" rev="0"/>
            </a:camera>
            <a:lightRig rig="balanced" dir="t">
              <a:rot lat="0" lon="0" rev="0"/>
            </a:lightRig>
          </a:scene3d>
          <a:sp3d>
            <a:bevelT w="47625" h="69850"/>
            <a:contourClr>
              <a:schemeClr val="lt1"/>
            </a:contourClr>
          </a:sp3d>
        </a:effectStyle>
      </a:effectStyleLst>
      <a:bgFillStyleLst>
        <a:solidFill>
          <a:schemeClr val="phClr"/>
        </a:solidFill>
        <a:gradFill rotWithShape="1">
          <a:gsLst>
            <a:gs pos="0">
              <a:schemeClr val="phClr">
                <a:shade val="58000"/>
                <a:satMod val="125000"/>
              </a:schemeClr>
            </a:gs>
            <a:gs pos="40000">
              <a:schemeClr val="phClr">
                <a:tint val="90000"/>
                <a:shade val="90000"/>
                <a:satMod val="120000"/>
              </a:schemeClr>
            </a:gs>
            <a:gs pos="100000">
              <a:schemeClr val="phClr">
                <a:tint val="50000"/>
              </a:schemeClr>
            </a:gs>
          </a:gsLst>
          <a:lin ang="16200000" scaled="1"/>
        </a:gradFill>
        <a:blipFill>
          <a:blip xmlns:r="http://schemas.openxmlformats.org/officeDocument/2006/relationships" r:embed="rId1">
            <a:duotone>
              <a:schemeClr val="phClr">
                <a:shade val="80000"/>
              </a:schemeClr>
              <a:schemeClr val="phClr">
                <a:tint val="91000"/>
              </a:schemeClr>
            </a:duotone>
          </a:blip>
          <a:tile tx="0" ty="0" sx="40000" sy="50000" flip="y"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Oriel</Template>
  <TotalTime>817</TotalTime>
  <Words>1307</Words>
  <Application>Microsoft Macintosh PowerPoint</Application>
  <PresentationFormat>On-screen Show (4:3)</PresentationFormat>
  <Paragraphs>110</Paragraphs>
  <Slides>15</Slides>
  <Notes>0</Notes>
  <HiddenSlides>0</HiddenSlides>
  <MMClips>0</MMClips>
  <ScaleCrop>false</ScaleCrop>
  <HeadingPairs>
    <vt:vector size="4" baseType="variant">
      <vt:variant>
        <vt:lpstr>Theme</vt:lpstr>
      </vt:variant>
      <vt:variant>
        <vt:i4>1</vt:i4>
      </vt:variant>
      <vt:variant>
        <vt:lpstr>Slide Titles</vt:lpstr>
      </vt:variant>
      <vt:variant>
        <vt:i4>15</vt:i4>
      </vt:variant>
    </vt:vector>
  </HeadingPairs>
  <TitlesOfParts>
    <vt:vector size="16" baseType="lpstr">
      <vt:lpstr>Oriel</vt:lpstr>
      <vt:lpstr>C – File-IO</vt:lpstr>
      <vt:lpstr>C - FILE</vt:lpstr>
      <vt:lpstr>Opening Files</vt:lpstr>
      <vt:lpstr>File access mode </vt:lpstr>
      <vt:lpstr>Closing a File</vt:lpstr>
      <vt:lpstr>Writing a File</vt:lpstr>
      <vt:lpstr>Writing a File</vt:lpstr>
      <vt:lpstr>Reading a File</vt:lpstr>
      <vt:lpstr>Reading a File</vt:lpstr>
      <vt:lpstr>Reading a File</vt:lpstr>
      <vt:lpstr>Reading a File cont.</vt:lpstr>
      <vt:lpstr>Reading a File cont.</vt:lpstr>
      <vt:lpstr>Reading a File cont.</vt:lpstr>
      <vt:lpstr>Binary I/O Functions</vt:lpstr>
      <vt:lpstr>See also</vt:lpstr>
    </vt:vector>
  </TitlesOfParts>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 - Function</dc:title>
  <dc:creator>new teacher</dc:creator>
  <cp:lastModifiedBy>Abu Sayeed</cp:lastModifiedBy>
  <cp:revision>721</cp:revision>
  <dcterms:created xsi:type="dcterms:W3CDTF">2006-08-16T00:00:00Z</dcterms:created>
  <dcterms:modified xsi:type="dcterms:W3CDTF">2019-02-25T02:56:00Z</dcterms:modified>
</cp:coreProperties>
</file>