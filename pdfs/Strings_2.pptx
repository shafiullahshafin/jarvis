
<file path=[Content_Types].xml><?xml version="1.0" encoding="utf-8"?>
<Types xmlns="http://schemas.openxmlformats.org/package/2006/content-types">
  <Default Extension="xml" ContentType="application/xml"/>
  <Default Extension="doc" ContentType="application/msword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embeddings/oleObject1.bin" ContentType="application/vnd.openxmlformats-officedocument.oleObject"/>
  <Override PartName="/ppt/notesSlides/notesSlide7.xml" ContentType="application/vnd.openxmlformats-officedocument.presentationml.notesSlide+xml"/>
  <Override PartName="/ppt/embeddings/oleObject2.bin" ContentType="application/vnd.openxmlformats-officedocument.oleObject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embeddings/oleObject3.bin" ContentType="application/vnd.openxmlformats-officedocument.oleObject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embeddings/oleObject4.bin" ContentType="application/vnd.openxmlformats-officedocument.oleObject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embeddings/oleObject5.bin" ContentType="application/vnd.openxmlformats-officedocument.oleObject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embeddings/oleObject6.bin" ContentType="application/vnd.openxmlformats-officedocument.oleObject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embeddings/oleObject7.bin" ContentType="application/vnd.openxmlformats-officedocument.oleObject"/>
  <Override PartName="/ppt/notesSlides/notesSlide30.xml" ContentType="application/vnd.openxmlformats-officedocument.presentationml.notesSlide+xml"/>
  <Override PartName="/ppt/embeddings/oleObject8.bin" ContentType="application/vnd.openxmlformats-officedocument.oleObject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embeddings/oleObject9.bin" ContentType="application/vnd.openxmlformats-officedocument.oleObject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embeddings/oleObject10.bin" ContentType="application/vnd.openxmlformats-officedocument.oleObject"/>
  <Override PartName="/ppt/notesSlides/notesSlide44.xml" ContentType="application/vnd.openxmlformats-officedocument.presentationml.notesSlide+xml"/>
  <Override PartName="/ppt/embeddings/oleObject11.bin" ContentType="application/vnd.openxmlformats-officedocument.oleObject"/>
  <Override PartName="/ppt/notesSlides/notesSlide45.xml" ContentType="application/vnd.openxmlformats-officedocument.presentationml.notesSlide+xml"/>
  <Override PartName="/ppt/embeddings/oleObject12.bin" ContentType="application/vnd.openxmlformats-officedocument.oleObject"/>
  <Override PartName="/ppt/notesSlides/notesSlide46.xml" ContentType="application/vnd.openxmlformats-officedocument.presentationml.notesSlide+xml"/>
  <Override PartName="/ppt/embeddings/oleObject13.bin" ContentType="application/vnd.openxmlformats-officedocument.oleObject"/>
  <Override PartName="/ppt/notesSlides/notesSlide47.xml" ContentType="application/vnd.openxmlformats-officedocument.presentationml.notesSlide+xml"/>
  <Override PartName="/ppt/embeddings/oleObject14.bin" ContentType="application/vnd.openxmlformats-officedocument.oleObject"/>
  <Override PartName="/ppt/notesSlides/notesSlide48.xml" ContentType="application/vnd.openxmlformats-officedocument.presentationml.notesSlide+xml"/>
  <Override PartName="/ppt/embeddings/oleObject15.bin" ContentType="application/vnd.openxmlformats-officedocument.oleObject"/>
  <Override PartName="/ppt/notesSlides/notesSlide49.xml" ContentType="application/vnd.openxmlformats-officedocument.presentationml.notesSlide+xml"/>
  <Override PartName="/ppt/embeddings/oleObject16.bin" ContentType="application/vnd.openxmlformats-officedocument.oleObject"/>
  <Override PartName="/ppt/notesSlides/notesSlide50.xml" ContentType="application/vnd.openxmlformats-officedocument.presentationml.notesSlide+xml"/>
  <Override PartName="/ppt/embeddings/oleObject17.bin" ContentType="application/vnd.openxmlformats-officedocument.oleObject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embeddings/oleObject18.bin" ContentType="application/vnd.openxmlformats-officedocument.oleObject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56"/>
  </p:notesMasterIdLst>
  <p:handoutMasterIdLst>
    <p:handoutMasterId r:id="rId57"/>
  </p:handoutMasterIdLst>
  <p:sldIdLst>
    <p:sldId id="341" r:id="rId2"/>
    <p:sldId id="257" r:id="rId3"/>
    <p:sldId id="258" r:id="rId4"/>
    <p:sldId id="259" r:id="rId5"/>
    <p:sldId id="260" r:id="rId6"/>
    <p:sldId id="261" r:id="rId7"/>
    <p:sldId id="262" r:id="rId8"/>
    <p:sldId id="311" r:id="rId9"/>
    <p:sldId id="312" r:id="rId10"/>
    <p:sldId id="313" r:id="rId11"/>
    <p:sldId id="314" r:id="rId12"/>
    <p:sldId id="315" r:id="rId13"/>
    <p:sldId id="316" r:id="rId14"/>
    <p:sldId id="263" r:id="rId15"/>
    <p:sldId id="264" r:id="rId16"/>
    <p:sldId id="265" r:id="rId17"/>
    <p:sldId id="266" r:id="rId18"/>
    <p:sldId id="342" r:id="rId19"/>
    <p:sldId id="270" r:id="rId20"/>
    <p:sldId id="271" r:id="rId21"/>
    <p:sldId id="272" r:id="rId22"/>
    <p:sldId id="318" r:id="rId23"/>
    <p:sldId id="274" r:id="rId24"/>
    <p:sldId id="319" r:id="rId25"/>
    <p:sldId id="277" r:id="rId26"/>
    <p:sldId id="278" r:id="rId27"/>
    <p:sldId id="279" r:id="rId28"/>
    <p:sldId id="320" r:id="rId29"/>
    <p:sldId id="282" r:id="rId30"/>
    <p:sldId id="283" r:id="rId31"/>
    <p:sldId id="284" r:id="rId32"/>
    <p:sldId id="321" r:id="rId33"/>
    <p:sldId id="287" r:id="rId34"/>
    <p:sldId id="322" r:id="rId35"/>
    <p:sldId id="289" r:id="rId36"/>
    <p:sldId id="323" r:id="rId37"/>
    <p:sldId id="291" r:id="rId38"/>
    <p:sldId id="324" r:id="rId39"/>
    <p:sldId id="325" r:id="rId40"/>
    <p:sldId id="326" r:id="rId41"/>
    <p:sldId id="327" r:id="rId42"/>
    <p:sldId id="329" r:id="rId43"/>
    <p:sldId id="330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09" r:id="rId54"/>
    <p:sldId id="310" r:id="rId55"/>
  </p:sldIdLst>
  <p:sldSz cx="9144000" cy="6858000" type="screen4x3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0" autoAdjust="0"/>
    <p:restoredTop sz="94706" autoAdjust="0"/>
  </p:normalViewPr>
  <p:slideViewPr>
    <p:cSldViewPr>
      <p:cViewPr>
        <p:scale>
          <a:sx n="80" d="100"/>
          <a:sy n="80" d="100"/>
        </p:scale>
        <p:origin x="-512" y="-3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99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printerSettings" Target="printerSettings/printerSettings1.bin"/><Relationship Id="rId59" Type="http://schemas.openxmlformats.org/officeDocument/2006/relationships/presProps" Target="presProp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475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34BCA00-E3E8-4F94-9334-AEBE7CBC1589}" type="datetimeFigureOut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2BC682F-E0D5-46FC-8AEA-608C229D9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245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475" y="0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5B636F7-D94D-4E2C-B1D6-984BF96B06D9}" type="datetimeFigureOut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92150"/>
            <a:ext cx="4606925" cy="3455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048F5091-F848-4B2D-BB73-1ECF8388C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71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5090B50-582A-4FB3-B06C-624D9E41CA8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C6FF41-9D83-4AD3-9D2C-BF864969652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16F7172-3A6F-4F31-803C-A23CF8C0C21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4884ADE-ECB1-40A6-8588-B62C54FE23B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161D99B-C799-4DA6-9473-A933166696F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81648C3-CCC9-447A-9DDE-8A3E4FEC790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7030731-C5B7-475C-8C55-A31D5BCF3CE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1C4920F-F863-4EB6-8794-CFDB75D78FE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FBCB7F-CC51-4A27-94D3-3433166DBE6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6B167B4-C05C-439C-A1D1-BBEF299181B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8369B2D-167F-4824-B2D9-9FC397B964D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6AB44DC-2CEA-40D2-8950-A49DAEC05C1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CC4A16-8251-401C-837C-B2760C96005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93FC20-C942-45BC-804E-69055B39438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7B7F-2ECD-4A8E-A5F0-54FDD1C7F83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029E036-17B5-4529-860A-3D7C3EF6ACF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FD9CC6A-2431-494A-84CA-0D338C5ADB6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4774ABF-EF31-44FC-92D2-B7A1BAB4CEB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A9970DA-AC92-4C84-BCF8-44E30453C8B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AC2E499-8184-453E-9256-6E6EEC7F51A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1C86AF1-5E8B-4269-A702-77511400AA8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C144967-5A22-4CF1-A21D-D316B7F4E70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858A37D-FB51-4400-9DA4-6F774A77702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914D32F-8E25-438C-AA41-760CDBBF523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D32FAA8-2BE6-4748-BFFC-77F9920C6F0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F544E36-3AE6-451D-A594-36667C16C23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A683827-4BDE-439D-8BE2-3A4B3AAF17E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826178-611F-4160-9FF4-FD3B3F8FCA5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0C9BDFA-E6D6-411A-8032-9D3101974C2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C863C8-C6C5-46F0-9039-0DCF7CF0DDD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FF0D3BC-9280-4DAA-886A-DAA7DD8B2DB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F5032E-B7E2-4D21-A1A4-B1030F1AA31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9826A4C-1EB9-48CB-8FF9-47AA674E1E3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254C80D-E4C8-4900-8B87-B3EF07744E5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0EAC97-D0C5-4A57-A397-FE59B3DC5D9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BC0C9E2-5E03-45E0-9322-A2EF2223E22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1A6E7A1-2080-40DF-8BD9-7592C672BD7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34DFDF1-E9CB-43F0-A615-E974E573C22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5B8806C-5E51-4772-822B-561875D9C39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288C47-EC17-4A63-8FB6-FF97E988199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AE3D8E2-2C9F-467D-BF78-3B37E36EBFD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F4434B4-03AA-4E34-B889-8980C431410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F559839-0690-48E9-927C-A17A5B2146D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91BDF35-69EA-49FC-AA12-0AE2162C31F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DFED28-01B6-43BF-AB83-3F1793A722E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0692C84-6DB0-474C-B2E8-6C7D1266843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2172A3F-88AF-4774-B7CC-FEDC2E4A197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8956A23-DB6C-4D30-9690-749044DD935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6171E2A-0ED2-4567-8AC5-DB06CE1F0D1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3227599-B064-42E4-B770-9391733F91A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BDEE43F-FE15-4D03-8541-B7856D95D73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26C936-1A3F-4D90-9857-C980CA8FCFC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3738" y="4379913"/>
            <a:ext cx="5546725" cy="41497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90493" tIns="45247" rIns="90493" bIns="45247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1800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594BE94-7A0D-40C9-A720-FAC3E5AE410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MY" smtClean="0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452372-AFFB-4A17-87BF-5549602C9D2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8BCC24F-2ABC-48D8-8C1C-385D516D708C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31FD60A-8920-46A4-838F-7D31CB0415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D219B-2C21-465A-8706-AD3F1A866AF7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B5D04-758C-4F8F-A460-264BFE506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EC803F7-EF3A-4A00-B66E-84A6A03F570B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94AB9A4-4845-4ED0-83D3-8BBB31BB72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946BE-CDA7-4865-B7F7-AFEA29D60C63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8DFEB-8E7C-4DB6-8546-754C86E232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BD1F130-BF0D-4B34-A3EA-B5D8224EA002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C2B81ED-E9EA-4AD5-980B-DE18A8B1A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65B40-F928-4F58-8450-2E6CCFA2021F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FC075-6C74-4C5E-82E4-0E2F67383F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6843A9E-A4C5-4954-9643-6225432CCB35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ACFA0F7-CA65-434C-B912-519D22B1E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B1D1D88-3F1A-4560-B0AC-00ECBD092208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370BB17-00E8-4DDB-A44C-FF27E50B01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374DC3B-34FE-430F-A20C-F6833E900223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F5C6624-19E0-4A0A-AD59-ED2738E42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96C07-4B80-4C19-82B9-0D3AC0841A8E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B0639-FBB2-4E10-A8FC-5DBBE34E17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91DC6-E4D3-4924-BEF5-4790D0D39524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1DA70-10C1-467E-A096-7059EB8C5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26A5F22-6255-45A8-A4F1-7B08762CE060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5CC3A-1969-4091-BC18-CDB20C2EFE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946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600AB37F-C610-456E-841E-B9105544AB96}" type="datetime1">
              <a:rPr lang="en-US"/>
              <a:pPr>
                <a:defRPr/>
              </a:pPr>
              <a:t>4/21/17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DB9A10AF-A19B-4582-A69E-B089137049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07" r:id="rId2"/>
    <p:sldLayoutId id="2147483713" r:id="rId3"/>
    <p:sldLayoutId id="2147483708" r:id="rId4"/>
    <p:sldLayoutId id="2147483714" r:id="rId5"/>
    <p:sldLayoutId id="2147483709" r:id="rId6"/>
    <p:sldLayoutId id="2147483715" r:id="rId7"/>
    <p:sldLayoutId id="2147483716" r:id="rId8"/>
    <p:sldLayoutId id="2147483717" r:id="rId9"/>
    <p:sldLayoutId id="2147483710" r:id="rId10"/>
    <p:sldLayoutId id="2147483711" r:id="rId11"/>
    <p:sldLayoutId id="2147483718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300" kern="1200">
          <a:solidFill>
            <a:srgbClr val="11488B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11488B"/>
          </a:solidFill>
          <a:latin typeface="Gill Sans MT" pitchFamily="34" charset="0"/>
        </a:defRPr>
      </a:lvl9pPr>
      <a:extLst/>
    </p:titleStyle>
    <p:bodyStyle>
      <a:lvl1pPr marL="365125" indent="-282575" algn="l" rtl="0" fontAlgn="base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fontAlgn="base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fontAlgn="base">
        <a:spcBef>
          <a:spcPct val="20000"/>
        </a:spcBef>
        <a:spcAft>
          <a:spcPct val="0"/>
        </a:spcAft>
        <a:buClr>
          <a:srgbClr val="9BBB59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fontAlgn="base">
        <a:spcBef>
          <a:spcPct val="20000"/>
        </a:spcBef>
        <a:spcAft>
          <a:spcPct val="0"/>
        </a:spcAft>
        <a:buClr>
          <a:srgbClr val="8064A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Microsoft_Word_97_-_2004_Document1.doc"/><Relationship Id="rId6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Microsoft_Word_97_-_2004_Document2.doc"/><Relationship Id="rId6" Type="http://schemas.openxmlformats.org/officeDocument/2006/relationships/image" Target="../media/image3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Microsoft_Word_97_-_2004_Document3.doc"/><Relationship Id="rId6" Type="http://schemas.openxmlformats.org/officeDocument/2006/relationships/image" Target="../media/image10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5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Microsoft_Word_97_-_2004_Document4.doc"/><Relationship Id="rId6" Type="http://schemas.openxmlformats.org/officeDocument/2006/relationships/image" Target="../media/image16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Microsoft_Word_97_-_2004_Document5.doc"/><Relationship Id="rId6" Type="http://schemas.openxmlformats.org/officeDocument/2006/relationships/image" Target="../media/image19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Microsoft_Word_97_-_2004_Document6.doc"/><Relationship Id="rId6" Type="http://schemas.openxmlformats.org/officeDocument/2006/relationships/image" Target="../media/image21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Microsoft_Word_97_-_2004_Document7.doc"/><Relationship Id="rId6" Type="http://schemas.openxmlformats.org/officeDocument/2006/relationships/image" Target="../media/image22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4" Type="http://schemas.openxmlformats.org/officeDocument/2006/relationships/oleObject" Target="../embeddings/oleObject9.bin"/><Relationship Id="rId5" Type="http://schemas.openxmlformats.org/officeDocument/2006/relationships/oleObject" Target="../embeddings/Microsoft_Word_97_-_2004_Document8.doc"/><Relationship Id="rId6" Type="http://schemas.openxmlformats.org/officeDocument/2006/relationships/image" Target="../media/image27.e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4" Type="http://schemas.openxmlformats.org/officeDocument/2006/relationships/oleObject" Target="../embeddings/oleObject10.bin"/><Relationship Id="rId5" Type="http://schemas.openxmlformats.org/officeDocument/2006/relationships/oleObject" Target="../embeddings/Microsoft_Word_97_-_2004_Document9.doc"/><Relationship Id="rId6" Type="http://schemas.openxmlformats.org/officeDocument/2006/relationships/image" Target="../media/image28.emf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4" Type="http://schemas.openxmlformats.org/officeDocument/2006/relationships/oleObject" Target="../embeddings/oleObject11.bin"/><Relationship Id="rId5" Type="http://schemas.openxmlformats.org/officeDocument/2006/relationships/oleObject" Target="../embeddings/Microsoft_Word_97_-_2004_Document10.doc"/><Relationship Id="rId6" Type="http://schemas.openxmlformats.org/officeDocument/2006/relationships/image" Target="../media/image31.e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4" Type="http://schemas.openxmlformats.org/officeDocument/2006/relationships/oleObject" Target="../embeddings/oleObject12.bin"/><Relationship Id="rId5" Type="http://schemas.openxmlformats.org/officeDocument/2006/relationships/oleObject" Target="../embeddings/Microsoft_Word_97_-_2004_Document11.doc"/><Relationship Id="rId6" Type="http://schemas.openxmlformats.org/officeDocument/2006/relationships/image" Target="../media/image32.e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4" Type="http://schemas.openxmlformats.org/officeDocument/2006/relationships/oleObject" Target="../embeddings/oleObject13.bin"/><Relationship Id="rId5" Type="http://schemas.openxmlformats.org/officeDocument/2006/relationships/oleObject" Target="../embeddings/Microsoft_Word_97_-_2004_Document12.doc"/><Relationship Id="rId6" Type="http://schemas.openxmlformats.org/officeDocument/2006/relationships/image" Target="../media/image33.emf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4" Type="http://schemas.openxmlformats.org/officeDocument/2006/relationships/oleObject" Target="../embeddings/oleObject14.bin"/><Relationship Id="rId5" Type="http://schemas.openxmlformats.org/officeDocument/2006/relationships/oleObject" Target="../embeddings/Microsoft_Word_97_-_2004_Document13.doc"/><Relationship Id="rId6" Type="http://schemas.openxmlformats.org/officeDocument/2006/relationships/image" Target="../media/image34.e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4" Type="http://schemas.openxmlformats.org/officeDocument/2006/relationships/oleObject" Target="../embeddings/oleObject15.bin"/><Relationship Id="rId5" Type="http://schemas.openxmlformats.org/officeDocument/2006/relationships/oleObject" Target="../embeddings/Microsoft_Word_97_-_2004_Document14.doc"/><Relationship Id="rId6" Type="http://schemas.openxmlformats.org/officeDocument/2006/relationships/image" Target="../media/image35.e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4" Type="http://schemas.openxmlformats.org/officeDocument/2006/relationships/oleObject" Target="../embeddings/oleObject16.bin"/><Relationship Id="rId5" Type="http://schemas.openxmlformats.org/officeDocument/2006/relationships/oleObject" Target="../embeddings/Microsoft_Word_97_-_2004_Document15.doc"/><Relationship Id="rId6" Type="http://schemas.openxmlformats.org/officeDocument/2006/relationships/image" Target="../media/image36.e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4" Type="http://schemas.openxmlformats.org/officeDocument/2006/relationships/oleObject" Target="../embeddings/oleObject17.bin"/><Relationship Id="rId5" Type="http://schemas.openxmlformats.org/officeDocument/2006/relationships/oleObject" Target="../embeddings/Microsoft_Word_97_-_2004_Document16.doc"/><Relationship Id="rId6" Type="http://schemas.openxmlformats.org/officeDocument/2006/relationships/image" Target="../media/image37.emf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4" Type="http://schemas.openxmlformats.org/officeDocument/2006/relationships/oleObject" Target="../embeddings/oleObject18.bin"/><Relationship Id="rId5" Type="http://schemas.openxmlformats.org/officeDocument/2006/relationships/oleObject" Target="../embeddings/Microsoft_Word_97_-_2004_Document17.doc"/><Relationship Id="rId6" Type="http://schemas.openxmlformats.org/officeDocument/2006/relationships/image" Target="../media/image39.emf"/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2800"/>
            <a:ext cx="7407275" cy="17526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200" b="1" dirty="0" smtClean="0"/>
              <a:t>Character and Strings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DD1460-8AF6-4E9C-B2B9-29492A8ABC00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Overview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Fundamentals of Strings and Characters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Character Handling Library</a:t>
            </a:r>
          </a:p>
          <a:p>
            <a:pPr marL="363538" indent="-269875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String Conversion Function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Standard </a:t>
            </a:r>
            <a:r>
              <a:rPr lang="en-US" dirty="0" err="1" smtClean="0"/>
              <a:t>Input/Output</a:t>
            </a:r>
            <a:r>
              <a:rPr lang="en-US" dirty="0" smtClean="0"/>
              <a:t> Library Functions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String Manipulation Functions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Comparison Functions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Search Functions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Memory Functions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F94CA2-295E-494A-96A6-1E6492404BF8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2296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tx2">
                    <a:satMod val="130000"/>
                  </a:schemeClr>
                </a:solidFill>
              </a:rPr>
              <a:t>A. Fundamentals </a:t>
            </a:r>
            <a:r>
              <a:rPr lang="en-US" sz="3200" dirty="0">
                <a:solidFill>
                  <a:schemeClr val="tx2">
                    <a:satMod val="130000"/>
                  </a:schemeClr>
                </a:solidFill>
              </a:rPr>
              <a:t>of Strings and Characters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219200"/>
            <a:ext cx="8077200" cy="4525963"/>
          </a:xfrm>
        </p:spPr>
        <p:txBody>
          <a:bodyPr/>
          <a:lstStyle/>
          <a:p>
            <a:pPr marL="228600" indent="-228600">
              <a:lnSpc>
                <a:spcPct val="80000"/>
              </a:lnSpc>
            </a:pPr>
            <a:r>
              <a:rPr lang="en-US" sz="2000" smtClean="0"/>
              <a:t>Characters</a:t>
            </a:r>
          </a:p>
          <a:p>
            <a:pPr marL="747713" lvl="1" indent="-290513">
              <a:lnSpc>
                <a:spcPct val="80000"/>
              </a:lnSpc>
            </a:pPr>
            <a:r>
              <a:rPr lang="en-US" sz="2000" smtClean="0"/>
              <a:t>Building blocks of programs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Every program is a sequence of meaningfully grouped characters</a:t>
            </a:r>
          </a:p>
          <a:p>
            <a:pPr marL="747713" lvl="1" indent="-290513">
              <a:lnSpc>
                <a:spcPct val="80000"/>
              </a:lnSpc>
            </a:pPr>
            <a:r>
              <a:rPr lang="en-US" sz="2000" smtClean="0"/>
              <a:t>Character constant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An </a:t>
            </a:r>
            <a:r>
              <a:rPr lang="en-US" sz="2000" smtClean="0">
                <a:latin typeface="Lucida Console" pitchFamily="49" charset="0"/>
              </a:rPr>
              <a:t>int</a:t>
            </a:r>
            <a:r>
              <a:rPr lang="en-US" sz="2000" smtClean="0"/>
              <a:t> value represented as a character in single quotes</a:t>
            </a:r>
          </a:p>
          <a:p>
            <a:pPr lvl="2">
              <a:lnSpc>
                <a:spcPct val="80000"/>
              </a:lnSpc>
            </a:pPr>
            <a:r>
              <a:rPr lang="en-US" sz="2000" smtClean="0">
                <a:latin typeface="Lucida Console" pitchFamily="49" charset="0"/>
              </a:rPr>
              <a:t>'z'</a:t>
            </a:r>
            <a:r>
              <a:rPr lang="en-US" sz="2000" smtClean="0"/>
              <a:t> represents the integer value of </a:t>
            </a:r>
            <a:r>
              <a:rPr lang="en-US" sz="2000" smtClean="0">
                <a:latin typeface="Lucida Console" pitchFamily="49" charset="0"/>
              </a:rPr>
              <a:t>z</a:t>
            </a:r>
          </a:p>
          <a:p>
            <a:pPr marL="228600" indent="-228600">
              <a:lnSpc>
                <a:spcPct val="80000"/>
              </a:lnSpc>
            </a:pPr>
            <a:r>
              <a:rPr lang="en-US" sz="2000" smtClean="0"/>
              <a:t>Strings</a:t>
            </a:r>
          </a:p>
          <a:p>
            <a:pPr marL="747713" lvl="1" indent="-290513">
              <a:lnSpc>
                <a:spcPct val="80000"/>
              </a:lnSpc>
            </a:pPr>
            <a:r>
              <a:rPr lang="en-US" sz="2000" smtClean="0"/>
              <a:t>Series of characters treated as a single unit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Can include letters, digits and special characters </a:t>
            </a:r>
            <a:r>
              <a:rPr lang="en-US" sz="2000" smtClean="0">
                <a:latin typeface="Lucida Console" pitchFamily="49" charset="0"/>
              </a:rPr>
              <a:t>(*, /, $)</a:t>
            </a:r>
          </a:p>
          <a:p>
            <a:pPr marL="747713" lvl="1" indent="-290513">
              <a:lnSpc>
                <a:spcPct val="80000"/>
              </a:lnSpc>
            </a:pPr>
            <a:r>
              <a:rPr lang="en-US" sz="2000" smtClean="0"/>
              <a:t>String literal (string constant) - written in double quotes</a:t>
            </a:r>
          </a:p>
          <a:p>
            <a:pPr lvl="2">
              <a:lnSpc>
                <a:spcPct val="80000"/>
              </a:lnSpc>
            </a:pPr>
            <a:r>
              <a:rPr lang="en-US" sz="2000" smtClean="0">
                <a:latin typeface="Lucida Console" pitchFamily="49" charset="0"/>
              </a:rPr>
              <a:t>"Hello"</a:t>
            </a:r>
          </a:p>
          <a:p>
            <a:pPr marL="747713" lvl="1" indent="-290513">
              <a:lnSpc>
                <a:spcPct val="80000"/>
              </a:lnSpc>
            </a:pPr>
            <a:r>
              <a:rPr lang="en-US" sz="2000" smtClean="0"/>
              <a:t>Strings are arrays of characters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String a pointer to first character</a:t>
            </a:r>
          </a:p>
          <a:p>
            <a:pPr lvl="2">
              <a:lnSpc>
                <a:spcPct val="80000"/>
              </a:lnSpc>
            </a:pPr>
            <a:r>
              <a:rPr lang="en-US" sz="2000" smtClean="0"/>
              <a:t>Value of string is the address of first character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2A92F-1FC8-49C0-8630-5BF68DC0A1EE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7763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</a:rPr>
              <a:t>Fundamentals 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of Strings and Characters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219200"/>
            <a:ext cx="7497763" cy="4800600"/>
          </a:xfrm>
        </p:spPr>
        <p:txBody>
          <a:bodyPr/>
          <a:lstStyle/>
          <a:p>
            <a:pPr marL="228600" indent="-228600">
              <a:lnSpc>
                <a:spcPct val="90000"/>
              </a:lnSpc>
            </a:pPr>
            <a:r>
              <a:rPr lang="en-US" sz="2000" smtClean="0"/>
              <a:t>String definitions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000" smtClean="0"/>
              <a:t>Define as a character array or a variable of type </a:t>
            </a:r>
            <a:r>
              <a:rPr lang="en-US" sz="2000" smtClean="0">
                <a:latin typeface="Lucida Console" pitchFamily="49" charset="0"/>
              </a:rPr>
              <a:t>char *</a:t>
            </a:r>
          </a:p>
          <a:p>
            <a:pPr marL="1662113" lvl="3" indent="-290513">
              <a:lnSpc>
                <a:spcPct val="90000"/>
              </a:lnSpc>
            </a:pPr>
            <a:r>
              <a:rPr lang="en-US" smtClean="0">
                <a:latin typeface="Lucida Console" pitchFamily="49" charset="0"/>
              </a:rPr>
              <a:t>char color[] = "blue";</a:t>
            </a:r>
          </a:p>
          <a:p>
            <a:pPr marL="1662113" lvl="3" indent="-290513">
              <a:lnSpc>
                <a:spcPct val="90000"/>
              </a:lnSpc>
            </a:pPr>
            <a:r>
              <a:rPr lang="en-US" smtClean="0">
                <a:latin typeface="Lucida Console" pitchFamily="49" charset="0"/>
              </a:rPr>
              <a:t>char *colorPtr = "blue";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000" smtClean="0"/>
              <a:t>Remember that strings represented as character arrays end with </a:t>
            </a:r>
            <a:r>
              <a:rPr lang="en-US" sz="2000" smtClean="0">
                <a:latin typeface="Lucida Console" pitchFamily="49" charset="0"/>
              </a:rPr>
              <a:t>'\0'</a:t>
            </a:r>
          </a:p>
          <a:p>
            <a:pPr lvl="2">
              <a:lnSpc>
                <a:spcPct val="90000"/>
              </a:lnSpc>
            </a:pPr>
            <a:r>
              <a:rPr lang="en-US" sz="2000" smtClean="0">
                <a:latin typeface="Lucida Console" pitchFamily="49" charset="0"/>
              </a:rPr>
              <a:t>color</a:t>
            </a:r>
            <a:r>
              <a:rPr lang="en-US" sz="2000" smtClean="0"/>
              <a:t> has </a:t>
            </a:r>
            <a:r>
              <a:rPr lang="en-US" sz="2000" smtClean="0">
                <a:latin typeface="Lucida Console" pitchFamily="49" charset="0"/>
              </a:rPr>
              <a:t>5 elements</a:t>
            </a:r>
          </a:p>
          <a:p>
            <a:pPr marL="228600" indent="-228600">
              <a:lnSpc>
                <a:spcPct val="90000"/>
              </a:lnSpc>
            </a:pPr>
            <a:r>
              <a:rPr lang="en-US" sz="2000" smtClean="0"/>
              <a:t>Inputting strings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000" smtClean="0"/>
              <a:t>Use </a:t>
            </a:r>
            <a:r>
              <a:rPr lang="en-US" sz="2000" smtClean="0">
                <a:latin typeface="Lucida Console" pitchFamily="49" charset="0"/>
              </a:rPr>
              <a:t>scanf</a:t>
            </a:r>
          </a:p>
          <a:p>
            <a:pPr marL="1662113" lvl="3" indent="-290513">
              <a:lnSpc>
                <a:spcPct val="90000"/>
              </a:lnSpc>
            </a:pPr>
            <a:r>
              <a:rPr lang="en-US" smtClean="0">
                <a:latin typeface="Lucida Console" pitchFamily="49" charset="0"/>
              </a:rPr>
              <a:t>scanf("%s", word);</a:t>
            </a:r>
          </a:p>
          <a:p>
            <a:pPr lvl="2">
              <a:lnSpc>
                <a:spcPct val="90000"/>
              </a:lnSpc>
            </a:pPr>
            <a:r>
              <a:rPr lang="en-US" sz="2000" smtClean="0"/>
              <a:t>Copies input into </a:t>
            </a:r>
            <a:r>
              <a:rPr lang="en-US" sz="2000" smtClean="0">
                <a:latin typeface="Lucida Console" pitchFamily="49" charset="0"/>
              </a:rPr>
              <a:t>word[]</a:t>
            </a:r>
          </a:p>
          <a:p>
            <a:pPr lvl="2">
              <a:lnSpc>
                <a:spcPct val="90000"/>
              </a:lnSpc>
            </a:pPr>
            <a:r>
              <a:rPr lang="en-US" sz="2000" smtClean="0"/>
              <a:t>Do not need </a:t>
            </a:r>
            <a:r>
              <a:rPr lang="en-US" sz="2000" smtClean="0">
                <a:latin typeface="Lucida Console" pitchFamily="49" charset="0"/>
              </a:rPr>
              <a:t>&amp;</a:t>
            </a:r>
            <a:r>
              <a:rPr lang="en-US" sz="2000" smtClean="0"/>
              <a:t> (because a string is a pointer)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000" smtClean="0"/>
              <a:t>Remember to leave room in the array for </a:t>
            </a:r>
            <a:r>
              <a:rPr lang="en-US" sz="2000" smtClean="0">
                <a:latin typeface="Lucida Console" pitchFamily="49" charset="0"/>
              </a:rPr>
              <a:t>'\0'</a:t>
            </a:r>
            <a:endParaRPr lang="en-US" sz="2000" smtClean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7453F9-9077-4561-948E-8A9EFC6FE93C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7763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</a:rPr>
              <a:t>B. Character 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Handling Library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371600"/>
            <a:ext cx="7497763" cy="4800600"/>
          </a:xfrm>
        </p:spPr>
        <p:txBody>
          <a:bodyPr/>
          <a:lstStyle/>
          <a:p>
            <a:r>
              <a:rPr lang="en-US" sz="2000" smtClean="0"/>
              <a:t>Character handling library </a:t>
            </a:r>
          </a:p>
          <a:p>
            <a:pPr lvl="1"/>
            <a:r>
              <a:rPr lang="en-US" sz="2000" smtClean="0"/>
              <a:t>Includes functions to perform useful tests and manipulations of character data</a:t>
            </a:r>
          </a:p>
          <a:p>
            <a:pPr lvl="1"/>
            <a:r>
              <a:rPr lang="en-US" sz="2000" smtClean="0"/>
              <a:t>Each function receives a character (an </a:t>
            </a:r>
            <a:r>
              <a:rPr lang="en-US" sz="2000" smtClean="0">
                <a:latin typeface="Lucida Console" pitchFamily="49" charset="0"/>
              </a:rPr>
              <a:t>int</a:t>
            </a:r>
            <a:r>
              <a:rPr lang="en-US" sz="2000" smtClean="0"/>
              <a:t>) or </a:t>
            </a:r>
            <a:r>
              <a:rPr lang="en-US" sz="2000" smtClean="0">
                <a:latin typeface="Lucida Console" pitchFamily="49" charset="0"/>
              </a:rPr>
              <a:t>EOF</a:t>
            </a:r>
            <a:r>
              <a:rPr lang="en-US" sz="2000" smtClean="0"/>
              <a:t> as an argument</a:t>
            </a:r>
          </a:p>
          <a:p>
            <a:r>
              <a:rPr lang="en-US" sz="2000" smtClean="0"/>
              <a:t>The following slides contain a table of all the functions in </a:t>
            </a:r>
            <a:r>
              <a:rPr lang="en-US" sz="2000" smtClean="0">
                <a:latin typeface="Lucida Console" pitchFamily="49" charset="0"/>
              </a:rPr>
              <a:t>&lt;ctype.h&gt;</a:t>
            </a:r>
            <a:endParaRPr lang="en-US" sz="200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80D3FB-DBDC-4032-AB6D-E5AA7AA0A3B0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914400" y="4495800"/>
            <a:ext cx="716438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Aft>
                <a:spcPct val="25000"/>
              </a:spcAft>
              <a:buClr>
                <a:srgbClr val="4F87C6"/>
              </a:buClr>
              <a:buFont typeface="Wingdings" pitchFamily="2" charset="2"/>
              <a:buChar char="§"/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When using functions from the character-handling library, include the </a:t>
            </a:r>
            <a:r>
              <a:rPr lang="en-US" sz="2400" b="1">
                <a:solidFill>
                  <a:srgbClr val="000000"/>
                </a:solidFill>
                <a:latin typeface="Lucida Console" pitchFamily="49" charset="0"/>
              </a:rPr>
              <a:t>&lt;ctype.h&gt;</a:t>
            </a: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 header.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Grp="1" noChangeAspect="1"/>
          </p:cNvGraphicFramePr>
          <p:nvPr>
            <p:ph/>
          </p:nvPr>
        </p:nvGraphicFramePr>
        <p:xfrm>
          <a:off x="1066800" y="1209675"/>
          <a:ext cx="7313613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ument" r:id="rId5" imgW="6143217" imgH="3024895" progId="Word.Document.8">
                  <p:embed/>
                </p:oleObj>
              </mc:Choice>
              <mc:Fallback>
                <p:oleObj name="Document" r:id="rId5" imgW="6143217" imgH="3024895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209675"/>
                        <a:ext cx="7313613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2E79E9-2ECE-4F10-A54D-CB0C6EDAC457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400">
                <a:solidFill>
                  <a:schemeClr val="tx2"/>
                </a:solidFill>
              </a:rPr>
              <a:t>Character-handling library functions. (Part 1 of 2.)</a:t>
            </a:r>
            <a:r>
              <a:rPr lang="en-US" sz="44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Grp="1" noChangeAspect="1"/>
          </p:cNvGraphicFramePr>
          <p:nvPr>
            <p:ph/>
          </p:nvPr>
        </p:nvGraphicFramePr>
        <p:xfrm>
          <a:off x="1295400" y="838200"/>
          <a:ext cx="7086600" cy="361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Document" r:id="rId5" imgW="6074075" imgH="3102559" progId="Word.Document.8">
                  <p:embed/>
                </p:oleObj>
              </mc:Choice>
              <mc:Fallback>
                <p:oleObj name="Document" r:id="rId5" imgW="6074075" imgH="3102559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838200"/>
                        <a:ext cx="7086600" cy="361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6B6E95-5B52-4B56-BE27-5DBB93C64118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400">
                <a:solidFill>
                  <a:schemeClr val="tx2"/>
                </a:solidFill>
              </a:rPr>
              <a:t>Character-handling library functions. (Part 2 of 2.)</a:t>
            </a:r>
            <a:r>
              <a:rPr lang="en-US" sz="44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sdigit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 &amp;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isalpha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3795" name="Content Placeholder 3"/>
          <p:cNvSpPr>
            <a:spLocks noGrp="1"/>
          </p:cNvSpPr>
          <p:nvPr>
            <p:ph idx="1"/>
          </p:nvPr>
        </p:nvSpPr>
        <p:spPr>
          <a:xfrm>
            <a:off x="1066800" y="1219200"/>
            <a:ext cx="7467600" cy="4525963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1.   </a:t>
            </a:r>
            <a:r>
              <a:rPr lang="en-US" sz="1400" smtClean="0"/>
              <a:t>#include &lt;stdio.h&gt;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2.   </a:t>
            </a:r>
            <a:r>
              <a:rPr lang="en-US" sz="1400" smtClean="0"/>
              <a:t>#include &lt;stdlib.h&gt;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3.   </a:t>
            </a:r>
            <a:r>
              <a:rPr lang="en-US" sz="1400" smtClean="0"/>
              <a:t>#include &lt;ctype.h&gt;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4.   </a:t>
            </a:r>
            <a:r>
              <a:rPr lang="en-US" sz="1400" smtClean="0"/>
              <a:t>int main()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5.  </a:t>
            </a:r>
            <a:r>
              <a:rPr lang="en-US" sz="1400" smtClean="0"/>
              <a:t>{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6. </a:t>
            </a:r>
            <a:r>
              <a:rPr lang="en-US" sz="1400" smtClean="0"/>
              <a:t>	   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7. </a:t>
            </a:r>
            <a:r>
              <a:rPr lang="en-US" sz="1400" smtClean="0"/>
              <a:t>	   printf("according to isdigit()\n %s digit \n\n",  isdigit( '8' ) ? "8 is a " : "8 is not a 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8. </a:t>
            </a:r>
            <a:r>
              <a:rPr lang="en-US" sz="1400" smtClean="0"/>
              <a:t>		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9. </a:t>
            </a:r>
            <a:r>
              <a:rPr lang="en-US" sz="1400" smtClean="0"/>
              <a:t>	   printf("according to isalpha()\n %s letter \n\n",  isalpha( 'A' ) ? "A is a " : "A is not a 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10.</a:t>
            </a:r>
            <a:endParaRPr lang="en-US" sz="1400" smtClean="0"/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11.  </a:t>
            </a:r>
            <a:r>
              <a:rPr lang="en-US" sz="1400" smtClean="0"/>
              <a:t> system("PAUSE");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12.</a:t>
            </a:r>
            <a:endParaRPr lang="en-US" sz="1400" smtClean="0"/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13.   </a:t>
            </a:r>
            <a:r>
              <a:rPr lang="en-US" sz="1400" smtClean="0"/>
              <a:t>return 0;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14. </a:t>
            </a:r>
            <a:r>
              <a:rPr lang="en-US" sz="1400" smtClean="0"/>
              <a:t>	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15.  </a:t>
            </a:r>
            <a:r>
              <a:rPr lang="en-US" sz="1400" smtClean="0"/>
              <a:t>}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5029200"/>
            <a:ext cx="488473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DB79BE-632A-4330-8684-5EBFDDA212FC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990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salnum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 &amp;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isxdigit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990600" y="838200"/>
            <a:ext cx="7848600" cy="3886200"/>
          </a:xfrm>
        </p:spPr>
        <p:txBody>
          <a:bodyPr>
            <a:normAutofit fontScale="925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1.   </a:t>
            </a:r>
            <a:r>
              <a:rPr lang="en-US" sz="1400" dirty="0" smtClean="0"/>
              <a:t>#</a:t>
            </a:r>
            <a:r>
              <a:rPr lang="en-US" sz="1400" dirty="0"/>
              <a:t>include &lt;</a:t>
            </a:r>
            <a:r>
              <a:rPr lang="en-US" sz="1400" dirty="0" err="1"/>
              <a:t>stdio.h</a:t>
            </a:r>
            <a:r>
              <a:rPr lang="en-US" sz="1400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2.   </a:t>
            </a:r>
            <a:r>
              <a:rPr lang="en-US" sz="1400" dirty="0" smtClean="0"/>
              <a:t>#</a:t>
            </a:r>
            <a:r>
              <a:rPr lang="en-US" sz="1400" dirty="0"/>
              <a:t>include &lt;</a:t>
            </a:r>
            <a:r>
              <a:rPr lang="en-US" sz="1400" dirty="0" err="1"/>
              <a:t>stdlib.h</a:t>
            </a:r>
            <a:r>
              <a:rPr lang="en-US" sz="1400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3.   </a:t>
            </a:r>
            <a:r>
              <a:rPr lang="en-US" sz="1400" dirty="0" smtClean="0"/>
              <a:t>#</a:t>
            </a:r>
            <a:r>
              <a:rPr lang="en-US" sz="1400" dirty="0"/>
              <a:t>include &lt;</a:t>
            </a:r>
            <a:r>
              <a:rPr lang="en-US" sz="1400" dirty="0" err="1"/>
              <a:t>ctype.h</a:t>
            </a:r>
            <a:r>
              <a:rPr lang="en-US" sz="1400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4.   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/>
              <a:t>main()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5.   </a:t>
            </a:r>
            <a:r>
              <a:rPr lang="en-US" sz="1400" dirty="0" smtClean="0"/>
              <a:t>{</a:t>
            </a:r>
            <a:endParaRPr lang="en-US" sz="1400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6. </a:t>
            </a:r>
            <a:r>
              <a:rPr lang="en-US" sz="1400" dirty="0"/>
              <a:t>	</a:t>
            </a:r>
            <a:r>
              <a:rPr lang="en-US" sz="1400" dirty="0" smtClean="0"/>
              <a:t>    </a:t>
            </a:r>
            <a:r>
              <a:rPr lang="en-US" sz="1400" dirty="0" err="1" smtClean="0"/>
              <a:t>printf</a:t>
            </a:r>
            <a:r>
              <a:rPr lang="en-US" sz="1400" dirty="0"/>
              <a:t>("according to </a:t>
            </a:r>
            <a:r>
              <a:rPr lang="en-US" sz="1400" dirty="0" err="1"/>
              <a:t>isalnum</a:t>
            </a:r>
            <a:r>
              <a:rPr lang="en-US" sz="1400" dirty="0"/>
              <a:t>()");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7. </a:t>
            </a:r>
            <a:r>
              <a:rPr lang="en-US" sz="1400" dirty="0"/>
              <a:t>	</a:t>
            </a:r>
            <a:r>
              <a:rPr lang="en-US" sz="1400" dirty="0" smtClean="0"/>
              <a:t>    </a:t>
            </a:r>
            <a:r>
              <a:rPr lang="en-US" sz="1400" dirty="0" err="1" smtClean="0"/>
              <a:t>printf</a:t>
            </a:r>
            <a:r>
              <a:rPr lang="en-US" sz="1400" dirty="0"/>
              <a:t>("\n----------------------");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8. </a:t>
            </a:r>
            <a:r>
              <a:rPr lang="en-US" sz="1400" dirty="0"/>
              <a:t>	</a:t>
            </a:r>
            <a:r>
              <a:rPr lang="en-US" sz="1400" dirty="0" smtClean="0"/>
              <a:t>    </a:t>
            </a:r>
            <a:r>
              <a:rPr lang="en-US" sz="1400" dirty="0" err="1" smtClean="0"/>
              <a:t>printf</a:t>
            </a:r>
            <a:r>
              <a:rPr lang="en-US" sz="1400" dirty="0"/>
              <a:t>("\n %s letter ", </a:t>
            </a:r>
            <a:r>
              <a:rPr lang="en-US" sz="1400" dirty="0" err="1"/>
              <a:t>isalnum</a:t>
            </a:r>
            <a:r>
              <a:rPr lang="en-US" sz="1400" dirty="0"/>
              <a:t>( 'A' ) ? "A is a" : "A is not a");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9. </a:t>
            </a:r>
            <a:r>
              <a:rPr lang="en-US" sz="1400" dirty="0"/>
              <a:t>	</a:t>
            </a:r>
            <a:r>
              <a:rPr lang="en-US" sz="1400" dirty="0" smtClean="0"/>
              <a:t>    </a:t>
            </a:r>
            <a:r>
              <a:rPr lang="en-US" sz="1400" dirty="0" err="1" smtClean="0"/>
              <a:t>printf</a:t>
            </a:r>
            <a:r>
              <a:rPr lang="en-US" sz="1400" dirty="0"/>
              <a:t>("\n %s letter ", </a:t>
            </a:r>
            <a:r>
              <a:rPr lang="en-US" sz="1400" dirty="0" err="1"/>
              <a:t>isalnum</a:t>
            </a:r>
            <a:r>
              <a:rPr lang="en-US" sz="1400" dirty="0"/>
              <a:t>( '8' ) ? "8 is a" : "8 is not a");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10. </a:t>
            </a:r>
            <a:r>
              <a:rPr lang="en-US" sz="1400" dirty="0">
                <a:latin typeface="Batang" pitchFamily="18" charset="-127"/>
                <a:ea typeface="Batang" pitchFamily="18" charset="-127"/>
              </a:rPr>
              <a:t> </a:t>
            </a: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  </a:t>
            </a:r>
            <a:r>
              <a:rPr lang="en-US" sz="1400" dirty="0" err="1" smtClean="0"/>
              <a:t>printf</a:t>
            </a:r>
            <a:r>
              <a:rPr lang="en-US" sz="1400" dirty="0"/>
              <a:t>("\n %s letter ", </a:t>
            </a:r>
            <a:r>
              <a:rPr lang="en-US" sz="1400" dirty="0" err="1"/>
              <a:t>isalnum</a:t>
            </a:r>
            <a:r>
              <a:rPr lang="en-US" sz="1400" dirty="0"/>
              <a:t>( '#' ) ? "# is a" : "# is not a</a:t>
            </a:r>
            <a:r>
              <a:rPr lang="en-US" sz="1400" dirty="0" smtClean="0"/>
              <a:t>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11.</a:t>
            </a:r>
            <a:endParaRPr lang="en-US" sz="1400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12.    </a:t>
            </a:r>
            <a:r>
              <a:rPr lang="en-US" sz="1400" dirty="0" err="1" smtClean="0"/>
              <a:t>printf</a:t>
            </a:r>
            <a:r>
              <a:rPr lang="en-US" sz="1400" dirty="0" smtClean="0"/>
              <a:t>("\n\</a:t>
            </a:r>
            <a:r>
              <a:rPr lang="en-US" sz="1400" dirty="0" err="1" smtClean="0"/>
              <a:t>naccording</a:t>
            </a:r>
            <a:r>
              <a:rPr lang="en-US" sz="1400" dirty="0" smtClean="0"/>
              <a:t> to </a:t>
            </a:r>
            <a:r>
              <a:rPr lang="en-US" sz="1400" dirty="0" err="1" smtClean="0"/>
              <a:t>isxdigit</a:t>
            </a:r>
            <a:r>
              <a:rPr lang="en-US" sz="1400" dirty="0" smtClean="0"/>
              <a:t>()");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13.    </a:t>
            </a:r>
            <a:r>
              <a:rPr lang="en-US" sz="1400" dirty="0" err="1" smtClean="0"/>
              <a:t>printf</a:t>
            </a:r>
            <a:r>
              <a:rPr lang="en-US" sz="1400" dirty="0" smtClean="0"/>
              <a:t>("\n-----------------------");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14.    </a:t>
            </a:r>
            <a:r>
              <a:rPr lang="en-US" sz="1400" dirty="0" err="1" smtClean="0"/>
              <a:t>printf</a:t>
            </a:r>
            <a:r>
              <a:rPr lang="en-US" sz="1400" dirty="0" smtClean="0"/>
              <a:t>("\n %s hexadecimal digit ", </a:t>
            </a:r>
            <a:r>
              <a:rPr lang="en-US" sz="1400" dirty="0" err="1" smtClean="0"/>
              <a:t>isxdigit</a:t>
            </a:r>
            <a:r>
              <a:rPr lang="en-US" sz="1400" dirty="0" smtClean="0"/>
              <a:t>( 'F' ) ? "F is a" : "F is nota 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 smtClean="0">
                <a:latin typeface="Batang" pitchFamily="18" charset="-127"/>
                <a:ea typeface="Batang" pitchFamily="18" charset="-127"/>
              </a:rPr>
              <a:t>15.    </a:t>
            </a:r>
            <a:r>
              <a:rPr lang="en-US" sz="1400" dirty="0" err="1" smtClean="0"/>
              <a:t>printf</a:t>
            </a:r>
            <a:r>
              <a:rPr lang="en-US" sz="1400" dirty="0" smtClean="0"/>
              <a:t>("\n %s hexadecimal digit ", </a:t>
            </a:r>
            <a:r>
              <a:rPr lang="en-US" sz="1400" dirty="0" err="1" smtClean="0"/>
              <a:t>isxdigit</a:t>
            </a:r>
            <a:r>
              <a:rPr lang="en-US" sz="1400" dirty="0" smtClean="0"/>
              <a:t>( 'J' ) ? "J is a" : "J is nota 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1400" dirty="0"/>
              <a:t>			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sz="1400" dirty="0"/>
          </a:p>
        </p:txBody>
      </p:sp>
      <p:sp>
        <p:nvSpPr>
          <p:cNvPr id="34820" name="Content Placeholder 4"/>
          <p:cNvSpPr>
            <a:spLocks noGrp="1"/>
          </p:cNvSpPr>
          <p:nvPr>
            <p:ph sz="half" idx="2"/>
          </p:nvPr>
        </p:nvSpPr>
        <p:spPr>
          <a:xfrm>
            <a:off x="990600" y="4419600"/>
            <a:ext cx="7391400" cy="1935163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300" smtClean="0">
                <a:latin typeface="Batang"/>
                <a:ea typeface="Batang"/>
                <a:cs typeface="Batang"/>
              </a:rPr>
              <a:t>16.    </a:t>
            </a:r>
            <a:r>
              <a:rPr lang="en-US" sz="1300" smtClean="0"/>
              <a:t>printf("\n %s hexadecimal digit ", isxdigit( '7' ) ? "7 is a" : "7 is nota ");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17.     </a:t>
            </a:r>
            <a:r>
              <a:rPr lang="en-US" sz="1300" smtClean="0"/>
              <a:t>printf("\n %s hexadecimal digit ", isxdigit( '$' ) ? "$ is a" : "$ is nota ");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18.</a:t>
            </a:r>
            <a:endParaRPr lang="en-US" sz="1300" smtClean="0"/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19. </a:t>
            </a:r>
            <a:r>
              <a:rPr lang="en-US" sz="1300" smtClean="0"/>
              <a:t>	    printf("\n");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20. </a:t>
            </a:r>
            <a:r>
              <a:rPr lang="en-US" sz="1300" smtClean="0"/>
              <a:t>	    system("PAUSE");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21.</a:t>
            </a:r>
            <a:endParaRPr lang="en-US" sz="1300" smtClean="0"/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22. </a:t>
            </a:r>
            <a:r>
              <a:rPr lang="en-US" sz="1300" smtClean="0"/>
              <a:t>	return 0;	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23.  </a:t>
            </a:r>
            <a:r>
              <a:rPr lang="en-US" sz="1300" smtClean="0"/>
              <a:t>}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1219200"/>
            <a:ext cx="3116263" cy="25796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E9382B-A0DB-4A01-8511-F8E36805C673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762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islower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 &amp;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isupper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584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762000"/>
            <a:ext cx="7543800" cy="3352800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1.  </a:t>
            </a:r>
            <a:r>
              <a:rPr lang="en-US" sz="1400" smtClean="0"/>
              <a:t>#include &lt;stdio.h&gt;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2.  </a:t>
            </a:r>
            <a:r>
              <a:rPr lang="en-US" sz="1400" smtClean="0"/>
              <a:t>#include &lt;stdlib.h&gt;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3.  </a:t>
            </a:r>
            <a:r>
              <a:rPr lang="en-US" sz="1400" smtClean="0"/>
              <a:t>#include &lt;ctype.h&gt;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4.  </a:t>
            </a:r>
            <a:r>
              <a:rPr lang="en-US" sz="1400" smtClean="0"/>
              <a:t>int main()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5. </a:t>
            </a:r>
            <a:r>
              <a:rPr lang="en-US" sz="1400" smtClean="0"/>
              <a:t>{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6. </a:t>
            </a:r>
            <a:r>
              <a:rPr lang="en-US" sz="1400" smtClean="0"/>
              <a:t>	  printf("according to islower()");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7. </a:t>
            </a:r>
            <a:r>
              <a:rPr lang="en-US" sz="1400" smtClean="0"/>
              <a:t>	  printf("\n----------------------");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8. </a:t>
            </a:r>
            <a:r>
              <a:rPr lang="en-US" sz="1400" smtClean="0"/>
              <a:t>	  printf("\n %s lowercase letter ", islower( 'A' ) ?  "A is a" : "A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9. </a:t>
            </a:r>
            <a:r>
              <a:rPr lang="en-US" sz="1400" smtClean="0"/>
              <a:t>	  printf("\n %s lowercase letter ", islower( 'a' ) ?   "a is a" : "a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10.  </a:t>
            </a:r>
            <a:r>
              <a:rPr lang="en-US" sz="1400" smtClean="0"/>
              <a:t>printf("\n %s lowercase letter ", islower( '8' ) ?   "8 is a" : "8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11.  </a:t>
            </a:r>
            <a:r>
              <a:rPr lang="en-US" sz="1400" smtClean="0"/>
              <a:t>printf("\n %s lowercase letter ", islower( '!' ) ? "!  is a" : "!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/>
              <a:t>		</a:t>
            </a:r>
          </a:p>
          <a:p>
            <a:pPr>
              <a:buFont typeface="Wingdings 2" pitchFamily="18" charset="2"/>
              <a:buNone/>
            </a:pPr>
            <a:r>
              <a:rPr lang="en-US" sz="1400" smtClean="0"/>
              <a:t>	</a:t>
            </a:r>
          </a:p>
        </p:txBody>
      </p:sp>
      <p:sp>
        <p:nvSpPr>
          <p:cNvPr id="35844" name="Content Placeholder 3"/>
          <p:cNvSpPr>
            <a:spLocks noGrp="1"/>
          </p:cNvSpPr>
          <p:nvPr>
            <p:ph sz="half" idx="2"/>
          </p:nvPr>
        </p:nvSpPr>
        <p:spPr>
          <a:xfrm>
            <a:off x="990600" y="3962400"/>
            <a:ext cx="8153400" cy="4525963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12.  </a:t>
            </a:r>
            <a:r>
              <a:rPr lang="en-US" sz="1400" smtClean="0"/>
              <a:t>printf("\n\naccording to isupper()");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13.  </a:t>
            </a:r>
            <a:r>
              <a:rPr lang="en-US" sz="1400" smtClean="0"/>
              <a:t>printf("\n-----------------------");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14.  </a:t>
            </a:r>
            <a:r>
              <a:rPr lang="en-US" sz="1400" smtClean="0"/>
              <a:t>printf("\n %s uppercase letter ", isupper( 'F' ) ? "F is a" : "F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15.  </a:t>
            </a:r>
            <a:r>
              <a:rPr lang="en-US" sz="1400" smtClean="0"/>
              <a:t>printf("\n %s uppercase letter ", isupper( 'j' ) ? "j is a" : "j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16.  </a:t>
            </a:r>
            <a:r>
              <a:rPr lang="en-US" sz="1400" smtClean="0"/>
              <a:t>printf("\n %s uppercase letter ", isupper( '7' ) ? "7 is a" : "7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17.  </a:t>
            </a:r>
            <a:r>
              <a:rPr lang="en-US" sz="1400" smtClean="0"/>
              <a:t>printf("\n %s uppercase letter ", isupper( '$' ) ? "$ is a" : "$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18.  </a:t>
            </a:r>
            <a:r>
              <a:rPr lang="en-US" sz="1400" smtClean="0"/>
              <a:t>printf("\n");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19.  </a:t>
            </a:r>
            <a:r>
              <a:rPr lang="en-US" sz="1400" smtClean="0"/>
              <a:t>system("PAUSE");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20.  </a:t>
            </a:r>
            <a:r>
              <a:rPr lang="en-US" sz="1400" smtClean="0"/>
              <a:t>return 0;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21. </a:t>
            </a:r>
            <a:r>
              <a:rPr lang="en-US" sz="1400" smtClean="0"/>
              <a:t>}</a:t>
            </a:r>
          </a:p>
          <a:p>
            <a:endParaRPr lang="en-US" sz="1400" smtClean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9613" y="152400"/>
            <a:ext cx="3354387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BD960B-53FF-4365-9211-B2617BDC5321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990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tolower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 &amp;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toupper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914400"/>
            <a:ext cx="7467600" cy="4664075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1.   </a:t>
            </a:r>
            <a:r>
              <a:rPr lang="en-US" sz="1400" smtClean="0"/>
              <a:t>#include &lt;stdio.h&gt;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2.   </a:t>
            </a:r>
            <a:r>
              <a:rPr lang="en-US" sz="1400" smtClean="0"/>
              <a:t>#include &lt;stdlib.h&gt;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3.   </a:t>
            </a:r>
            <a:r>
              <a:rPr lang="en-US" sz="1400" smtClean="0"/>
              <a:t>#include &lt;ctype.h&gt;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4.   </a:t>
            </a:r>
            <a:r>
              <a:rPr lang="en-US" sz="1400" smtClean="0"/>
              <a:t>int main()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5.   </a:t>
            </a:r>
            <a:r>
              <a:rPr lang="en-US" sz="1400" smtClean="0"/>
              <a:t>{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6. </a:t>
            </a:r>
            <a:r>
              <a:rPr lang="en-US" sz="1400" smtClean="0"/>
              <a:t>	     printf("\nConverting uppercase to lowercase");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7. </a:t>
            </a:r>
            <a:r>
              <a:rPr lang="en-US" sz="1400" smtClean="0"/>
              <a:t>	     printf("\n-----------------------------------");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8. </a:t>
            </a:r>
            <a:r>
              <a:rPr lang="en-US" sz="1400" smtClean="0"/>
              <a:t>	     printf("\n  A converted to lowercase letter is %c", tolower( 'A' ));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9. </a:t>
            </a:r>
            <a:r>
              <a:rPr lang="en-US" sz="1400" smtClean="0"/>
              <a:t>	     printf("\n\nConverting lowercase to uppercase");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10.    </a:t>
            </a:r>
            <a:r>
              <a:rPr lang="en-US" sz="1400" smtClean="0"/>
              <a:t>printf("\n---------------------------------");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11.    </a:t>
            </a:r>
            <a:r>
              <a:rPr lang="en-US" sz="1400" smtClean="0"/>
              <a:t>printf("\n  a converted to uppercase letter is %c", toupper( 'a' ));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12.</a:t>
            </a:r>
            <a:endParaRPr lang="en-US" sz="1400" smtClean="0"/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13.    </a:t>
            </a:r>
            <a:r>
              <a:rPr lang="en-US" sz="1400" smtClean="0"/>
              <a:t>printf("\n");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14.    </a:t>
            </a:r>
            <a:r>
              <a:rPr lang="en-US" sz="1400" smtClean="0"/>
              <a:t>system("PAUSE");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15.</a:t>
            </a:r>
            <a:r>
              <a:rPr lang="en-US" sz="1400" smtClean="0"/>
              <a:t>	    return 0;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16.   </a:t>
            </a:r>
            <a:r>
              <a:rPr lang="en-US" sz="1400" smtClean="0"/>
              <a:t>}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4191000"/>
            <a:ext cx="4467225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5A1B66-6E00-4C14-9183-33B4DA9660F1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497763" cy="990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isspace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 &amp;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iscntrl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sz="half" idx="1"/>
          </p:nvPr>
        </p:nvSpPr>
        <p:spPr>
          <a:xfrm>
            <a:off x="990600" y="838200"/>
            <a:ext cx="7772400" cy="4525963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1.  </a:t>
            </a:r>
            <a:r>
              <a:rPr lang="en-US" sz="1300" smtClean="0"/>
              <a:t>#include &lt;stdio.h&gt;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2.  </a:t>
            </a:r>
            <a:r>
              <a:rPr lang="en-US" sz="1300" smtClean="0"/>
              <a:t>#include &lt;stdlib.h&gt;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3.  </a:t>
            </a:r>
            <a:r>
              <a:rPr lang="en-US" sz="1300" smtClean="0"/>
              <a:t>#include &lt;ctype.h&gt;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4.  </a:t>
            </a:r>
            <a:r>
              <a:rPr lang="en-US" sz="1300" smtClean="0"/>
              <a:t>int main()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5.  </a:t>
            </a:r>
            <a:r>
              <a:rPr lang="en-US" sz="1300" smtClean="0"/>
              <a:t>{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6. </a:t>
            </a:r>
            <a:r>
              <a:rPr lang="en-US" sz="1300" smtClean="0"/>
              <a:t>	  printf("\nAccording to isspace()");</a:t>
            </a:r>
          </a:p>
          <a:p>
            <a:pPr>
              <a:buFont typeface="Wingdings 2" pitchFamily="18" charset="2"/>
              <a:buNone/>
            </a:pPr>
            <a:r>
              <a:rPr lang="en-US" sz="1200" smtClean="0">
                <a:latin typeface="Batang"/>
                <a:ea typeface="Batang"/>
                <a:cs typeface="Batang"/>
              </a:rPr>
              <a:t>7. </a:t>
            </a:r>
            <a:r>
              <a:rPr lang="en-US" sz="1300" smtClean="0"/>
              <a:t>	  printf("\n----------------------");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8.  </a:t>
            </a:r>
            <a:r>
              <a:rPr lang="en-US" sz="1300" smtClean="0"/>
              <a:t>	  printf("\n %s whitespace character ", isspace( ' ' ) ? "\' \' is a" : "\' \'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9. </a:t>
            </a:r>
            <a:r>
              <a:rPr lang="en-US" sz="1600" smtClean="0"/>
              <a:t>	  </a:t>
            </a:r>
            <a:r>
              <a:rPr lang="en-US" sz="1300" smtClean="0"/>
              <a:t>printf("\n %s whitespace character ", isspace( '\n' ) ? "Newline (\n) is a" : "Newline (\n)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10. </a:t>
            </a:r>
            <a:r>
              <a:rPr lang="en-US" sz="1600" smtClean="0">
                <a:latin typeface="Batang"/>
                <a:ea typeface="Batang"/>
                <a:cs typeface="Batang"/>
              </a:rPr>
              <a:t> </a:t>
            </a:r>
            <a:r>
              <a:rPr lang="en-US" sz="1300" smtClean="0"/>
              <a:t>printf("\n %s whitespace character ", isspace( '\t' ) ? "Horizontal tab is a" : "Horizontal tab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11. </a:t>
            </a:r>
            <a:r>
              <a:rPr lang="en-US" sz="1600" smtClean="0">
                <a:latin typeface="Batang"/>
                <a:ea typeface="Batang"/>
                <a:cs typeface="Batang"/>
              </a:rPr>
              <a:t> </a:t>
            </a:r>
            <a:r>
              <a:rPr lang="en-US" sz="1300" smtClean="0"/>
              <a:t>printf("\n %s whitespace character ", isspace( '!' ) ? "! is a" : "! is not a");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	</a:t>
            </a:r>
          </a:p>
        </p:txBody>
      </p:sp>
      <p:sp>
        <p:nvSpPr>
          <p:cNvPr id="37892" name="Content Placeholder 3"/>
          <p:cNvSpPr>
            <a:spLocks noGrp="1"/>
          </p:cNvSpPr>
          <p:nvPr>
            <p:ph sz="half" idx="2"/>
          </p:nvPr>
        </p:nvSpPr>
        <p:spPr>
          <a:xfrm>
            <a:off x="990600" y="4008438"/>
            <a:ext cx="7543800" cy="2925762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12.  </a:t>
            </a:r>
            <a:r>
              <a:rPr lang="en-US" sz="1300" smtClean="0"/>
              <a:t>printf("\n\nAccording to iscntrl()");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13.  </a:t>
            </a:r>
            <a:r>
              <a:rPr lang="en-US" sz="1300" smtClean="0"/>
              <a:t>printf("\n-----------------------");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14.  </a:t>
            </a:r>
            <a:r>
              <a:rPr lang="en-US" sz="1300" smtClean="0"/>
              <a:t>printf("\n %s control character ", iscntrl( ' ' ) ? "\' \' is a" : "\' \'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15.  </a:t>
            </a:r>
            <a:r>
              <a:rPr lang="en-US" sz="1300" smtClean="0"/>
              <a:t>printf("\n %s control character ", iscntrl( '\n' ) ? "Newline (\n) is a" : "Newline (\n)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16.  </a:t>
            </a:r>
            <a:r>
              <a:rPr lang="en-US" sz="1300" smtClean="0"/>
              <a:t>printf("\n %s control character ", iscntrl( '\t' ) ? "Horizontal tab is a" : "Horizontal tab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17.  </a:t>
            </a:r>
            <a:r>
              <a:rPr lang="en-US" sz="1300" smtClean="0"/>
              <a:t>printf("\n %s control character ", iscntrl( '$' ) ? "$ is a" : "$ is not a");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18.  </a:t>
            </a:r>
            <a:r>
              <a:rPr lang="en-US" sz="1300" smtClean="0"/>
              <a:t>printf("\n");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19.  </a:t>
            </a:r>
            <a:r>
              <a:rPr lang="en-US" sz="1300" smtClean="0"/>
              <a:t>system("PAUSE");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20.  </a:t>
            </a:r>
            <a:r>
              <a:rPr lang="en-US" sz="1300" smtClean="0"/>
              <a:t>return 0;</a:t>
            </a:r>
          </a:p>
          <a:p>
            <a:pPr>
              <a:buFont typeface="Wingdings 2" pitchFamily="18" charset="2"/>
              <a:buNone/>
            </a:pPr>
            <a:r>
              <a:rPr lang="en-US" sz="1400" smtClean="0">
                <a:latin typeface="Batang"/>
                <a:ea typeface="Batang"/>
                <a:cs typeface="Batang"/>
              </a:rPr>
              <a:t>21. </a:t>
            </a:r>
            <a:r>
              <a:rPr lang="en-US" sz="1300" smtClean="0"/>
              <a:t>}</a:t>
            </a:r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76200"/>
            <a:ext cx="36576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3E4B7B-336C-42E4-A9A0-D36D25E73211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762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ispunct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 &amp;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isprint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914400"/>
            <a:ext cx="7315200" cy="5410200"/>
          </a:xfrm>
        </p:spPr>
        <p:txBody>
          <a:bodyPr>
            <a:normAutofit fontScale="475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1.  </a:t>
            </a:r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2.  </a:t>
            </a:r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3.  </a:t>
            </a:r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ctype.h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4. </a:t>
            </a: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5.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main()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6. </a:t>
            </a:r>
            <a:r>
              <a:rPr lang="en-US" dirty="0" smtClean="0"/>
              <a:t>{</a:t>
            </a:r>
            <a:endParaRPr lang="en-US" dirty="0"/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7.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nAccording</a:t>
            </a:r>
            <a:r>
              <a:rPr lang="en-US" dirty="0"/>
              <a:t> to </a:t>
            </a:r>
            <a:r>
              <a:rPr lang="en-US" dirty="0" err="1"/>
              <a:t>ispunct</a:t>
            </a:r>
            <a:r>
              <a:rPr lang="en-US" dirty="0"/>
              <a:t>()");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8.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("\n----------------------");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9.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 %s punctuation character ", </a:t>
            </a:r>
            <a:r>
              <a:rPr lang="en-US" dirty="0" err="1"/>
              <a:t>ispunct</a:t>
            </a:r>
            <a:r>
              <a:rPr lang="en-US" dirty="0"/>
              <a:t>( ';' ) ? "; is a" : "; is not a");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10.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 %s punctuation character ", </a:t>
            </a:r>
            <a:r>
              <a:rPr lang="en-US" dirty="0" err="1"/>
              <a:t>ispunct</a:t>
            </a:r>
            <a:r>
              <a:rPr lang="en-US" dirty="0"/>
              <a:t>( 'Y' ) ? "Y is a" : "Y is not a");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11.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 %s punctuation character ", </a:t>
            </a:r>
            <a:r>
              <a:rPr lang="en-US" dirty="0" err="1"/>
              <a:t>ispunct</a:t>
            </a:r>
            <a:r>
              <a:rPr lang="en-US" dirty="0"/>
              <a:t>( '#' ) ? "# is a" : "# is not a");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12. </a:t>
            </a:r>
            <a:r>
              <a:rPr lang="en-US" dirty="0"/>
              <a:t>		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13.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("\n\</a:t>
            </a:r>
            <a:r>
              <a:rPr lang="en-US" dirty="0" err="1"/>
              <a:t>nAccording</a:t>
            </a:r>
            <a:r>
              <a:rPr lang="en-US" dirty="0"/>
              <a:t> to </a:t>
            </a:r>
            <a:r>
              <a:rPr lang="en-US" dirty="0" err="1"/>
              <a:t>isprint</a:t>
            </a:r>
            <a:r>
              <a:rPr lang="en-US" dirty="0"/>
              <a:t>()");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14.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("\n-----------------------");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15.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 %s printing character ", </a:t>
            </a:r>
            <a:r>
              <a:rPr lang="en-US" dirty="0" err="1"/>
              <a:t>isprint</a:t>
            </a:r>
            <a:r>
              <a:rPr lang="en-US" dirty="0"/>
              <a:t>( '$' ) ? "$ is a" : "$ is not a");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16. </a:t>
            </a: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 %s printing character ", </a:t>
            </a:r>
            <a:r>
              <a:rPr lang="en-US" dirty="0" err="1"/>
              <a:t>isprint</a:t>
            </a:r>
            <a:r>
              <a:rPr lang="en-US" dirty="0"/>
              <a:t>( '\a' ) ? "Alert (\a) is a" : "Alert (\a) is not a");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17. </a:t>
            </a:r>
            <a:r>
              <a:rPr lang="en-US" dirty="0"/>
              <a:t>	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18. </a:t>
            </a:r>
            <a:r>
              <a:rPr lang="en-US" dirty="0">
                <a:latin typeface="Batang" pitchFamily="18" charset="-127"/>
                <a:ea typeface="Batang" pitchFamily="18" charset="-127"/>
              </a:rPr>
              <a:t> </a:t>
            </a:r>
            <a:r>
              <a:rPr lang="en-US" dirty="0" smtClean="0">
                <a:latin typeface="Batang" pitchFamily="18" charset="-127"/>
                <a:ea typeface="Batang" pitchFamily="18" charset="-127"/>
              </a:rPr>
              <a:t> </a:t>
            </a:r>
            <a:r>
              <a:rPr lang="en-US" dirty="0" err="1" smtClean="0"/>
              <a:t>printf</a:t>
            </a:r>
            <a:r>
              <a:rPr lang="en-US" dirty="0"/>
              <a:t>("\n");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19. </a:t>
            </a:r>
            <a:r>
              <a:rPr lang="en-US" dirty="0"/>
              <a:t>	system("PAUSE");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20.</a:t>
            </a:r>
            <a:endParaRPr lang="en-US" dirty="0"/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21. </a:t>
            </a:r>
            <a:r>
              <a:rPr lang="en-US" dirty="0" smtClean="0"/>
              <a:t>	return 0;</a:t>
            </a:r>
          </a:p>
          <a:p>
            <a:pPr marL="512763" indent="-430213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22.  </a:t>
            </a:r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533400"/>
            <a:ext cx="3000375" cy="1885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B864C8-7E5E-42B2-8D2C-AAA81BC827E9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7763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</a:rPr>
              <a:t>C. Standard </a:t>
            </a:r>
            <a:r>
              <a:rPr lang="en-US" sz="3600" dirty="0" err="1">
                <a:solidFill>
                  <a:schemeClr val="tx2">
                    <a:satMod val="130000"/>
                  </a:schemeClr>
                </a:solidFill>
              </a:rPr>
              <a:t>Input/Output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 Library Functions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219200"/>
            <a:ext cx="7497763" cy="4800600"/>
          </a:xfrm>
        </p:spPr>
        <p:txBody>
          <a:bodyPr/>
          <a:lstStyle/>
          <a:p>
            <a:r>
              <a:rPr lang="en-US" smtClean="0"/>
              <a:t>Functions in </a:t>
            </a:r>
            <a:r>
              <a:rPr lang="en-US" sz="3000" smtClean="0">
                <a:latin typeface="Lucida Console" pitchFamily="49" charset="0"/>
              </a:rPr>
              <a:t>&lt;stdio.h&gt;</a:t>
            </a:r>
          </a:p>
          <a:p>
            <a:r>
              <a:rPr lang="en-US" smtClean="0"/>
              <a:t>Used to manipulate character and string data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24B0A5-A2B1-4EC1-A2F5-B8D67E48517A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Grp="1" noChangeAspect="1"/>
          </p:cNvGraphicFramePr>
          <p:nvPr>
            <p:ph/>
          </p:nvPr>
        </p:nvGraphicFramePr>
        <p:xfrm>
          <a:off x="1639888" y="530225"/>
          <a:ext cx="6172200" cy="493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Document" r:id="rId5" imgW="6163574" imgH="4932828" progId="Word.Document.8">
                  <p:embed/>
                </p:oleObj>
              </mc:Choice>
              <mc:Fallback>
                <p:oleObj name="Document" r:id="rId5" imgW="6163574" imgH="4932828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888" y="530225"/>
                        <a:ext cx="6172200" cy="493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0EAFF6-7FC5-46CB-87D2-8F704A4F29E4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3076" name="Rectangle 2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000">
                <a:solidFill>
                  <a:schemeClr val="tx2"/>
                </a:solidFill>
              </a:rPr>
              <a:t>Standard input/output library character and string functions.</a:t>
            </a:r>
            <a:r>
              <a:rPr lang="en-US" sz="44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724D4B-C0E0-4878-904F-7D4B5F96793F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990600" y="0"/>
            <a:ext cx="46831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>
                <a:latin typeface="Gill Sans MT" pitchFamily="34" charset="0"/>
              </a:rPr>
              <a:t> getchar() &amp; putchar()</a:t>
            </a:r>
          </a:p>
        </p:txBody>
      </p:sp>
      <p:pic>
        <p:nvPicPr>
          <p:cNvPr id="4198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838200"/>
            <a:ext cx="40386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9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7200" y="2209800"/>
            <a:ext cx="40957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0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66800" y="3657600"/>
            <a:ext cx="35814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91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43400" y="5257800"/>
            <a:ext cx="42100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Grp="1" noChangeAspect="1"/>
          </p:cNvGraphicFramePr>
          <p:nvPr>
            <p:ph/>
          </p:nvPr>
        </p:nvGraphicFramePr>
        <p:xfrm>
          <a:off x="1066800" y="838200"/>
          <a:ext cx="67818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Bitmap Image" r:id="rId4" imgW="4791744" imgH="2876190" progId="PBrush">
                  <p:embed/>
                </p:oleObj>
              </mc:Choice>
              <mc:Fallback>
                <p:oleObj name="Bitmap Image" r:id="rId4" imgW="4791744" imgH="287619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838200"/>
                        <a:ext cx="67818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D6F813-12A2-4780-8CAF-DFAAAD2EC96C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990600" y="0"/>
            <a:ext cx="32750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>
                <a:latin typeface="Gill Sans MT" pitchFamily="34" charset="0"/>
              </a:rPr>
              <a:t> gets() &amp; puts()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80E2D2A-A1F3-4D44-BF4F-B9DEDE38D521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3011" name="TextBox 3"/>
          <p:cNvSpPr txBox="1">
            <a:spLocks noChangeArrowheads="1"/>
          </p:cNvSpPr>
          <p:nvPr/>
        </p:nvSpPr>
        <p:spPr bwMode="auto">
          <a:xfrm>
            <a:off x="990600" y="0"/>
            <a:ext cx="41417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>
                <a:latin typeface="Gill Sans MT" pitchFamily="34" charset="0"/>
              </a:rPr>
              <a:t> sprintf() &amp; sscanf()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914400" y="914400"/>
            <a:ext cx="7772400" cy="4449763"/>
          </a:xfrm>
        </p:spPr>
        <p:txBody>
          <a:bodyPr>
            <a:normAutofit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smtClean="0">
                <a:solidFill>
                  <a:srgbClr val="7030A0"/>
                </a:solidFill>
              </a:rPr>
              <a:t>  char *box;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smtClean="0">
                <a:solidFill>
                  <a:srgbClr val="7030A0"/>
                </a:solidFill>
              </a:rPr>
              <a:t>  </a:t>
            </a:r>
            <a:r>
              <a:rPr lang="en-US" sz="2400" dirty="0" err="1" smtClean="0">
                <a:solidFill>
                  <a:srgbClr val="7030A0"/>
                </a:solidFill>
              </a:rPr>
              <a:t>sprintf</a:t>
            </a:r>
            <a:r>
              <a:rPr lang="en-US" sz="2400" dirty="0" smtClean="0">
                <a:solidFill>
                  <a:srgbClr val="7030A0"/>
                </a:solidFill>
              </a:rPr>
              <a:t>(</a:t>
            </a:r>
            <a:r>
              <a:rPr lang="en-US" sz="2400" dirty="0" err="1" smtClean="0">
                <a:solidFill>
                  <a:srgbClr val="7030A0"/>
                </a:solidFill>
              </a:rPr>
              <a:t>box,”This</a:t>
            </a:r>
            <a:r>
              <a:rPr lang="en-US" sz="2400" dirty="0" smtClean="0">
                <a:solidFill>
                  <a:srgbClr val="7030A0"/>
                </a:solidFill>
              </a:rPr>
              <a:t> is a </a:t>
            </a:r>
            <a:r>
              <a:rPr lang="en-US" sz="2400" dirty="0" err="1" smtClean="0">
                <a:solidFill>
                  <a:srgbClr val="7030A0"/>
                </a:solidFill>
              </a:rPr>
              <a:t>sprintf</a:t>
            </a:r>
            <a:r>
              <a:rPr lang="en-US" sz="2400" dirty="0" smtClean="0">
                <a:solidFill>
                  <a:srgbClr val="7030A0"/>
                </a:solidFill>
              </a:rPr>
              <a:t>”);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smtClean="0">
                <a:solidFill>
                  <a:srgbClr val="7030A0"/>
                </a:solidFill>
              </a:rPr>
              <a:t>  puts(box);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sz="2400" dirty="0" smtClean="0">
              <a:solidFill>
                <a:srgbClr val="7030A0"/>
              </a:solidFill>
            </a:endParaRP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char *box=“This is a 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sscanf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”;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char *fox;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sscanf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(box,”%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s”,fox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puts(fox);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638" y="76200"/>
            <a:ext cx="7497762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</a:rPr>
              <a:t>D. String 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Manipulation Functions of the String Handling Library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371600"/>
            <a:ext cx="7497763" cy="4800600"/>
          </a:xfrm>
        </p:spPr>
        <p:txBody>
          <a:bodyPr/>
          <a:lstStyle/>
          <a:p>
            <a:r>
              <a:rPr lang="en-US" smtClean="0"/>
              <a:t>String handling library has functions to</a:t>
            </a:r>
          </a:p>
          <a:p>
            <a:pPr lvl="1"/>
            <a:r>
              <a:rPr lang="en-US" smtClean="0"/>
              <a:t>Manipulate string data </a:t>
            </a:r>
          </a:p>
          <a:p>
            <a:pPr lvl="1"/>
            <a:r>
              <a:rPr lang="en-US" smtClean="0"/>
              <a:t>Search strings</a:t>
            </a:r>
          </a:p>
          <a:p>
            <a:pPr lvl="1"/>
            <a:r>
              <a:rPr lang="en-US" smtClean="0"/>
              <a:t>Tokenize strings</a:t>
            </a:r>
          </a:p>
          <a:p>
            <a:pPr lvl="1"/>
            <a:r>
              <a:rPr lang="en-US" smtClean="0"/>
              <a:t>Determine string length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2E154D-0033-4A66-8014-96783FB9BA36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Grp="1" noChangeAspect="1"/>
          </p:cNvGraphicFramePr>
          <p:nvPr>
            <p:ph/>
          </p:nvPr>
        </p:nvGraphicFramePr>
        <p:xfrm>
          <a:off x="1301750" y="1522413"/>
          <a:ext cx="6538913" cy="335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Document" r:id="rId5" imgW="6538613" imgH="3355675" progId="Word.Document.8">
                  <p:embed/>
                </p:oleObj>
              </mc:Choice>
              <mc:Fallback>
                <p:oleObj name="Document" r:id="rId5" imgW="6538613" imgH="3355675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1522413"/>
                        <a:ext cx="6538913" cy="335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CF3D06-E685-4061-BC80-AC1E5A9BB874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000">
                <a:solidFill>
                  <a:schemeClr val="tx2"/>
                </a:solidFill>
              </a:rPr>
              <a:t>String-manipulation functions of the string-handling library.</a:t>
            </a:r>
            <a:r>
              <a:rPr lang="en-US" sz="44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7763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strcpy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 &amp;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strncpy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7686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219200"/>
            <a:ext cx="7497763" cy="4800600"/>
          </a:xfrm>
        </p:spPr>
        <p:txBody>
          <a:bodyPr>
            <a:normAutofit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err="1"/>
              <a:t>strcpy</a:t>
            </a:r>
            <a:endParaRPr lang="en-US" dirty="0"/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/>
              <a:t>Copies its second argument ( a string ) into its first argument ( a </a:t>
            </a:r>
            <a:r>
              <a:rPr lang="en-US" dirty="0" smtClean="0"/>
              <a:t>char </a:t>
            </a:r>
            <a:r>
              <a:rPr lang="en-US" dirty="0"/>
              <a:t>array that must be large enough to store the string and its terminating null </a:t>
            </a:r>
            <a:r>
              <a:rPr lang="en-US" dirty="0" smtClean="0"/>
              <a:t>char </a:t>
            </a:r>
            <a:r>
              <a:rPr lang="en-US" dirty="0"/>
              <a:t>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err="1"/>
              <a:t>strncpy</a:t>
            </a:r>
            <a:endParaRPr lang="en-US" dirty="0"/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/>
              <a:t>Equivalent to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strcpy</a:t>
            </a:r>
            <a:r>
              <a:rPr lang="en-US" dirty="0"/>
              <a:t>, except that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strncpy</a:t>
            </a:r>
            <a:r>
              <a:rPr lang="en-US" dirty="0"/>
              <a:t> specifies the number of </a:t>
            </a:r>
            <a:r>
              <a:rPr lang="en-US" dirty="0" smtClean="0"/>
              <a:t>char </a:t>
            </a:r>
            <a:r>
              <a:rPr lang="en-US" dirty="0"/>
              <a:t>to be copied from the string into the array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B790EE-D65A-43A9-AFA3-EA28FE8A43B8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8382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143000" y="838200"/>
            <a:ext cx="8229600" cy="6019800"/>
          </a:xfrm>
        </p:spPr>
        <p:txBody>
          <a:bodyPr>
            <a:normAutofit fontScale="550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{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char x[] = "Happy Birthday to You";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char y[25];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char z[15];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nThe</a:t>
            </a:r>
            <a:r>
              <a:rPr lang="en-US" dirty="0"/>
              <a:t> string in array x is: %s", x);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nThe</a:t>
            </a:r>
            <a:r>
              <a:rPr lang="en-US" dirty="0"/>
              <a:t> string in array y is: %s", </a:t>
            </a:r>
            <a:r>
              <a:rPr lang="en-US" dirty="0" err="1"/>
              <a:t>strcpy</a:t>
            </a:r>
            <a:r>
              <a:rPr lang="en-US" dirty="0"/>
              <a:t>(</a:t>
            </a:r>
            <a:r>
              <a:rPr lang="en-US" dirty="0" err="1"/>
              <a:t>y,x</a:t>
            </a:r>
            <a:r>
              <a:rPr lang="en-US" dirty="0"/>
              <a:t>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strncpy</a:t>
            </a:r>
            <a:r>
              <a:rPr lang="en-US" dirty="0"/>
              <a:t>(z,x,14);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z[14] = '\0';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nThe</a:t>
            </a:r>
            <a:r>
              <a:rPr lang="en-US" dirty="0"/>
              <a:t> string in array z is: %s", z);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system("PAUSE");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return 0;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}</a:t>
            </a:r>
          </a:p>
        </p:txBody>
      </p:sp>
      <p:pic>
        <p:nvPicPr>
          <p:cNvPr id="4608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124200" y="1143000"/>
            <a:ext cx="5715000" cy="914400"/>
          </a:xfrm>
          <a:ln>
            <a:solidFill>
              <a:schemeClr val="tx1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3BD057-4CFC-411F-9436-77BBB013A49F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7763" cy="990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strcat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 &amp;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strncat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219200"/>
            <a:ext cx="7497763" cy="4800600"/>
          </a:xfrm>
        </p:spPr>
        <p:txBody>
          <a:bodyPr/>
          <a:lstStyle/>
          <a:p>
            <a:r>
              <a:rPr lang="en-US" smtClean="0"/>
              <a:t>strcat</a:t>
            </a:r>
          </a:p>
          <a:p>
            <a:pPr lvl="1"/>
            <a:r>
              <a:rPr lang="en-US" smtClean="0"/>
              <a:t>Appends its second argument ( a string) to its first argument ( a char array containing a string).</a:t>
            </a:r>
          </a:p>
          <a:p>
            <a:r>
              <a:rPr lang="en-US" smtClean="0"/>
              <a:t>strncat</a:t>
            </a:r>
          </a:p>
          <a:p>
            <a:pPr lvl="1"/>
            <a:r>
              <a:rPr lang="en-US" smtClean="0"/>
              <a:t>Appends a specified number of characters from the second string to the first string.</a:t>
            </a:r>
          </a:p>
          <a:p>
            <a:pPr lvl="1"/>
            <a:endParaRPr lang="en-US" smtClean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35FEA-A2A6-46C8-9F4A-D53DFF6858FD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8131" name="Content Placeholder 4"/>
          <p:cNvSpPr>
            <a:spLocks noGrp="1"/>
          </p:cNvSpPr>
          <p:nvPr>
            <p:ph sz="half" idx="1"/>
          </p:nvPr>
        </p:nvSpPr>
        <p:spPr>
          <a:xfrm>
            <a:off x="1066800" y="990600"/>
            <a:ext cx="5105400" cy="4525963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300" smtClean="0"/>
              <a:t>#include &lt;stdio.h&gt;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#include &lt;stdlib.h&gt;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#include &lt;string.h&gt;</a:t>
            </a:r>
          </a:p>
          <a:p>
            <a:pPr>
              <a:buFont typeface="Wingdings 2" pitchFamily="18" charset="2"/>
              <a:buNone/>
            </a:pPr>
            <a:endParaRPr lang="en-US" sz="1300" smtClean="0"/>
          </a:p>
          <a:p>
            <a:pPr>
              <a:buFont typeface="Wingdings 2" pitchFamily="18" charset="2"/>
              <a:buNone/>
            </a:pPr>
            <a:r>
              <a:rPr lang="en-US" sz="1300" smtClean="0"/>
              <a:t>int main()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{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char s1[] = "Happy ";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char s2[] = "New Year ";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char s3[40] = "";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printf("\ns1 = %s", s1);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printf("\ns2 = %s", s2);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printf("\nstrcat(s1,s2) = %s\n", strcat(s1,s2));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printf("\nstrncat(s3,s1,6) = %s\n", strncat(s3,s1,6));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printf("\nstrcat(s3,s1) = %s \n", strcat(s3,s1));</a:t>
            </a:r>
          </a:p>
          <a:p>
            <a:endParaRPr lang="en-US" sz="1300" smtClean="0"/>
          </a:p>
          <a:p>
            <a:pPr>
              <a:buFont typeface="Wingdings 2" pitchFamily="18" charset="2"/>
              <a:buNone/>
            </a:pPr>
            <a:r>
              <a:rPr lang="en-US" sz="1300" smtClean="0"/>
              <a:t>	printf("\n");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system("PAUSE");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return 0;</a:t>
            </a:r>
          </a:p>
          <a:p>
            <a:pPr>
              <a:buFont typeface="Wingdings 2" pitchFamily="18" charset="2"/>
              <a:buNone/>
            </a:pPr>
            <a:r>
              <a:rPr lang="en-US" sz="1200" smtClean="0"/>
              <a:t>}</a:t>
            </a:r>
          </a:p>
        </p:txBody>
      </p:sp>
      <p:pic>
        <p:nvPicPr>
          <p:cNvPr id="4813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48200" y="2057400"/>
            <a:ext cx="4138613" cy="2014538"/>
          </a:xfrm>
          <a:ln>
            <a:solidFill>
              <a:schemeClr val="tx1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A241D7-C9FD-45E5-A72A-F99CE701F9E0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791450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satMod val="130000"/>
                  </a:schemeClr>
                </a:solidFill>
              </a:rPr>
              <a:t>E. Comparison 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Functions of the String-Handling Library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371600"/>
            <a:ext cx="7497763" cy="4800600"/>
          </a:xfrm>
        </p:spPr>
        <p:txBody>
          <a:bodyPr/>
          <a:lstStyle/>
          <a:p>
            <a:r>
              <a:rPr lang="en-US" smtClean="0"/>
              <a:t>Comparing strings</a:t>
            </a:r>
          </a:p>
          <a:p>
            <a:pPr lvl="1"/>
            <a:r>
              <a:rPr lang="en-US" smtClean="0"/>
              <a:t>Computer compares numeric ASCII codes of characters in string</a:t>
            </a:r>
          </a:p>
          <a:p>
            <a:pPr lvl="1"/>
            <a:r>
              <a:rPr lang="en-US" smtClean="0"/>
              <a:t>Appendix D has a list of character codes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1287DA-5F50-4EC7-B9EF-065EE6237394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Grp="1" noChangeAspect="1"/>
          </p:cNvGraphicFramePr>
          <p:nvPr>
            <p:ph/>
          </p:nvPr>
        </p:nvGraphicFramePr>
        <p:xfrm>
          <a:off x="1250950" y="1055688"/>
          <a:ext cx="7359650" cy="279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Document" r:id="rId5" imgW="5870635" imgH="2232272" progId="Word.Document.8">
                  <p:embed/>
                </p:oleObj>
              </mc:Choice>
              <mc:Fallback>
                <p:oleObj name="Document" r:id="rId5" imgW="5870635" imgH="2232272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1055688"/>
                        <a:ext cx="7359650" cy="279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33547D-422C-43B4-97C4-3C18AF3D81B0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000">
                <a:solidFill>
                  <a:schemeClr val="tx2"/>
                </a:solidFill>
              </a:rPr>
              <a:t>String-comparison functions of the string-handling library.</a:t>
            </a:r>
            <a:r>
              <a:rPr lang="en-US" sz="44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strcmp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Compares its first string argument with its second string argument, character by char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Return 0 if string are equal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Return –ve value if the first string is &lt; second string and +ve value if the first string &gt; second string</a:t>
            </a:r>
          </a:p>
          <a:p>
            <a:pPr>
              <a:lnSpc>
                <a:spcPct val="90000"/>
              </a:lnSpc>
            </a:pPr>
            <a:r>
              <a:rPr lang="en-US" smtClean="0"/>
              <a:t>strncmp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Equivalent to strcmp, except compares up to a specified numbers of char.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3D6318-7A05-4E88-BB2C-47BAB7526290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990600" y="762000"/>
            <a:ext cx="7315200" cy="6553200"/>
          </a:xfrm>
        </p:spPr>
        <p:txBody>
          <a:bodyPr>
            <a:normAutofit fontScale="400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{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const char *s1 = "Happy New Year";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const char *s2 = "Happy New Year";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const char *s3 = "Happy Holidays";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("\ns1 = %s",s1);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("\ns2 = %s",s2);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("\ns3 = %s",s3);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("\n\</a:t>
            </a:r>
            <a:r>
              <a:rPr lang="en-US" dirty="0" err="1"/>
              <a:t>nAccording</a:t>
            </a:r>
            <a:r>
              <a:rPr lang="en-US" dirty="0"/>
              <a:t> to </a:t>
            </a:r>
            <a:r>
              <a:rPr lang="en-US" dirty="0" err="1"/>
              <a:t>strcmp</a:t>
            </a:r>
            <a:r>
              <a:rPr lang="en-US" dirty="0"/>
              <a:t>()");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("\n\n-------------------");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nstrcmp</a:t>
            </a:r>
            <a:r>
              <a:rPr lang="en-US" dirty="0"/>
              <a:t>(s1,s2) = %2d", </a:t>
            </a:r>
            <a:r>
              <a:rPr lang="en-US" dirty="0" err="1"/>
              <a:t>strcmp</a:t>
            </a:r>
            <a:r>
              <a:rPr lang="en-US" dirty="0"/>
              <a:t>(s1,s2));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nstrcmp</a:t>
            </a:r>
            <a:r>
              <a:rPr lang="en-US" dirty="0"/>
              <a:t>(s1,s3) = %2d", </a:t>
            </a:r>
            <a:r>
              <a:rPr lang="en-US" dirty="0" err="1"/>
              <a:t>strcmp</a:t>
            </a:r>
            <a:r>
              <a:rPr lang="en-US" dirty="0"/>
              <a:t>(s1,s3));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nstrcmp</a:t>
            </a:r>
            <a:r>
              <a:rPr lang="en-US" dirty="0"/>
              <a:t>(s3,s1) = %2d", </a:t>
            </a:r>
            <a:r>
              <a:rPr lang="en-US" dirty="0" err="1"/>
              <a:t>strcmp</a:t>
            </a:r>
            <a:r>
              <a:rPr lang="en-US" dirty="0"/>
              <a:t>(s3,s1));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("\n\</a:t>
            </a:r>
            <a:r>
              <a:rPr lang="en-US" dirty="0" err="1"/>
              <a:t>nAccording</a:t>
            </a:r>
            <a:r>
              <a:rPr lang="en-US" dirty="0"/>
              <a:t> to </a:t>
            </a:r>
            <a:r>
              <a:rPr lang="en-US" dirty="0" err="1"/>
              <a:t>strncmp</a:t>
            </a:r>
            <a:r>
              <a:rPr lang="en-US" dirty="0"/>
              <a:t>()");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("\n\n-------------------");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nstrncmp</a:t>
            </a:r>
            <a:r>
              <a:rPr lang="en-US" dirty="0"/>
              <a:t>(s1,s3,6) = %d", </a:t>
            </a:r>
            <a:r>
              <a:rPr lang="en-US" dirty="0" err="1"/>
              <a:t>strncmp</a:t>
            </a:r>
            <a:r>
              <a:rPr lang="en-US" dirty="0"/>
              <a:t>(s1,s3,3));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nstrncmp</a:t>
            </a:r>
            <a:r>
              <a:rPr lang="en-US" dirty="0"/>
              <a:t>(s1,s3,7) = %d", </a:t>
            </a:r>
            <a:r>
              <a:rPr lang="en-US" dirty="0" err="1"/>
              <a:t>strncmp</a:t>
            </a:r>
            <a:r>
              <a:rPr lang="en-US" dirty="0"/>
              <a:t>(s1,s3,9));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nstrncmp</a:t>
            </a:r>
            <a:r>
              <a:rPr lang="en-US" dirty="0"/>
              <a:t>(s3,s1,7) = %d", </a:t>
            </a:r>
            <a:r>
              <a:rPr lang="en-US" dirty="0" err="1"/>
              <a:t>strncmp</a:t>
            </a:r>
            <a:r>
              <a:rPr lang="en-US" dirty="0"/>
              <a:t>(s3,s1,9));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system("PAUSE");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return 0;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}</a:t>
            </a:r>
          </a:p>
        </p:txBody>
      </p:sp>
      <p:pic>
        <p:nvPicPr>
          <p:cNvPr id="51204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181600" y="1295400"/>
            <a:ext cx="3379788" cy="3429000"/>
          </a:xfrm>
          <a:ln>
            <a:solidFill>
              <a:schemeClr val="tx1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DE02F-C4E5-4CD8-9BA2-4F509D3FA1E0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Grp="1" noChangeAspect="1"/>
          </p:cNvGraphicFramePr>
          <p:nvPr>
            <p:ph/>
          </p:nvPr>
        </p:nvGraphicFramePr>
        <p:xfrm>
          <a:off x="1549400" y="1449388"/>
          <a:ext cx="6043613" cy="350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Document" r:id="rId5" imgW="6043523" imgH="3503122" progId="Word.Document.8">
                  <p:embed/>
                </p:oleObj>
              </mc:Choice>
              <mc:Fallback>
                <p:oleObj name="Document" r:id="rId5" imgW="6043523" imgH="3503122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1449388"/>
                        <a:ext cx="6043613" cy="350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7BD629-E37B-4FCE-99D1-1378C8EFFE5B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295400" y="5638800"/>
            <a:ext cx="7615238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000">
                <a:solidFill>
                  <a:schemeClr val="tx2"/>
                </a:solidFill>
              </a:rPr>
              <a:t>String-manipulation functions of the string-handling library. (Part 1 of 2.)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Grp="1" noChangeAspect="1"/>
          </p:cNvGraphicFramePr>
          <p:nvPr>
            <p:ph/>
          </p:nvPr>
        </p:nvGraphicFramePr>
        <p:xfrm>
          <a:off x="1600200" y="1173163"/>
          <a:ext cx="6324600" cy="379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Document" r:id="rId5" imgW="6043523" imgH="3623795" progId="Word.Document.8">
                  <p:embed/>
                </p:oleObj>
              </mc:Choice>
              <mc:Fallback>
                <p:oleObj name="Document" r:id="rId5" imgW="6043523" imgH="3623795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173163"/>
                        <a:ext cx="6324600" cy="379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312975-ECB5-48DC-A0DB-345EB1FAF9F0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000">
                <a:solidFill>
                  <a:schemeClr val="tx2"/>
                </a:solidFill>
              </a:rPr>
              <a:t>String-manipulation functions of the string-handling library. (Part 2 of 2.)</a:t>
            </a:r>
            <a:r>
              <a:rPr lang="en-US" sz="44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strchr</a:t>
            </a:r>
          </a:p>
          <a:p>
            <a:pPr lvl="1"/>
            <a:r>
              <a:rPr lang="en-US" smtClean="0"/>
              <a:t>Searches for the first occurrence of a character in a string. If the char is found, strchr returns a pointer to the char in the string, otherwise, return NULL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31AAF-0C82-4886-A983-BF50B690E2B4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3251" name="Content Placeholder 4"/>
          <p:cNvSpPr>
            <a:spLocks noGrp="1"/>
          </p:cNvSpPr>
          <p:nvPr>
            <p:ph sz="half" idx="1"/>
          </p:nvPr>
        </p:nvSpPr>
        <p:spPr>
          <a:xfrm>
            <a:off x="990600" y="914400"/>
            <a:ext cx="8839200" cy="4525963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300" smtClean="0"/>
              <a:t>#include &lt;stdio.h&gt;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#include &lt;stdlib.h&gt;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#include &lt;string.h&gt;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int main()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{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const char *string = "This is a test";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char character1 = 'a';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char character2 = 'z';</a:t>
            </a:r>
          </a:p>
          <a:p>
            <a:pPr>
              <a:buFont typeface="Wingdings 2" pitchFamily="18" charset="2"/>
              <a:buNone/>
            </a:pPr>
            <a:endParaRPr lang="en-US" sz="1300" smtClean="0"/>
          </a:p>
          <a:p>
            <a:pPr>
              <a:buFont typeface="Wingdings 2" pitchFamily="18" charset="2"/>
              <a:buNone/>
            </a:pPr>
            <a:r>
              <a:rPr lang="en-US" sz="1300" smtClean="0"/>
              <a:t>	if (strchr(string, character1)!= NULL)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	printf("\"%c\" was found in \"%s\".\n", character1, string);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else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	printf("\"%c\" was not found in \"%s\".\n", character1, string);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</a:t>
            </a:r>
          </a:p>
          <a:p>
            <a:pPr>
              <a:buFont typeface="Wingdings 2" pitchFamily="18" charset="2"/>
              <a:buNone/>
            </a:pPr>
            <a:r>
              <a:rPr lang="en-US" sz="1300" smtClean="0"/>
              <a:t>	</a:t>
            </a:r>
          </a:p>
        </p:txBody>
      </p:sp>
      <p:pic>
        <p:nvPicPr>
          <p:cNvPr id="5325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410200" y="533400"/>
            <a:ext cx="2962275" cy="657225"/>
          </a:xfrm>
          <a:ln>
            <a:solidFill>
              <a:schemeClr val="tx1"/>
            </a:solidFill>
          </a:ln>
        </p:spPr>
      </p:pic>
      <p:sp>
        <p:nvSpPr>
          <p:cNvPr id="53253" name="Rectangle 7"/>
          <p:cNvSpPr>
            <a:spLocks noChangeArrowheads="1"/>
          </p:cNvSpPr>
          <p:nvPr/>
        </p:nvSpPr>
        <p:spPr bwMode="auto">
          <a:xfrm>
            <a:off x="1219200" y="4584700"/>
            <a:ext cx="7924800" cy="189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00">
                <a:latin typeface="Gill Sans MT" pitchFamily="34" charset="0"/>
              </a:rPr>
              <a:t>    if (strchr(string, character2)!= NULL)</a:t>
            </a:r>
          </a:p>
          <a:p>
            <a:r>
              <a:rPr lang="en-US" sz="1300">
                <a:latin typeface="Gill Sans MT" pitchFamily="34" charset="0"/>
              </a:rPr>
              <a:t>               printf("\"%c\" was found in \"%s\".\n", character2, string);</a:t>
            </a:r>
          </a:p>
          <a:p>
            <a:r>
              <a:rPr lang="en-US" sz="1300">
                <a:latin typeface="Gill Sans MT" pitchFamily="34" charset="0"/>
              </a:rPr>
              <a:t>    else</a:t>
            </a:r>
          </a:p>
          <a:p>
            <a:r>
              <a:rPr lang="en-US" sz="1300">
                <a:latin typeface="Gill Sans MT" pitchFamily="34" charset="0"/>
              </a:rPr>
              <a:t>               printf("\"%c\" was not found in \"%s\".\n", character2, string);</a:t>
            </a:r>
          </a:p>
          <a:p>
            <a:r>
              <a:rPr lang="en-US" sz="1300">
                <a:latin typeface="Gill Sans MT" pitchFamily="34" charset="0"/>
              </a:rPr>
              <a:t>	</a:t>
            </a:r>
          </a:p>
          <a:p>
            <a:r>
              <a:rPr lang="en-US" sz="1300">
                <a:latin typeface="Gill Sans MT" pitchFamily="34" charset="0"/>
              </a:rPr>
              <a:t>	printf("\n");</a:t>
            </a:r>
          </a:p>
          <a:p>
            <a:r>
              <a:rPr lang="en-US" sz="1300">
                <a:latin typeface="Gill Sans MT" pitchFamily="34" charset="0"/>
              </a:rPr>
              <a:t>	system("PAUSE");</a:t>
            </a:r>
          </a:p>
          <a:p>
            <a:r>
              <a:rPr lang="en-US" sz="1300">
                <a:latin typeface="Gill Sans MT" pitchFamily="34" charset="0"/>
              </a:rPr>
              <a:t>	return 0;</a:t>
            </a:r>
          </a:p>
          <a:p>
            <a:r>
              <a:rPr lang="en-US" sz="1300">
                <a:latin typeface="Gill Sans MT" pitchFamily="34" charset="0"/>
              </a:rPr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BF1B49-F39F-4208-8276-149CA43D2C09}" type="slidenum">
              <a:rPr lang="en-US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mtClean="0"/>
          </a:p>
          <a:p>
            <a:r>
              <a:rPr lang="en-US" smtClean="0"/>
              <a:t>strcspn</a:t>
            </a:r>
          </a:p>
          <a:p>
            <a:pPr lvl="1"/>
            <a:r>
              <a:rPr lang="en-US" smtClean="0"/>
              <a:t>Determines the length of the initial part of the string in its first argument that does not contain any character from the string in its second arguments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722E41-3CF1-4D54-977B-229D4C261453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8382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990600" y="1371600"/>
            <a:ext cx="8153400" cy="4525963"/>
          </a:xfrm>
        </p:spPr>
        <p:txBody>
          <a:bodyPr>
            <a:normAutofit fontScale="475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stdlib.h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string.h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{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const char *string1 = "The value is 3.14159";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const char *string2 = "1234567890";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("\nString1 = %s", string1);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("\nString2 = %s", string2);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</a:t>
            </a:r>
            <a:r>
              <a:rPr lang="en-US" dirty="0" err="1" smtClean="0"/>
              <a:t>nThe</a:t>
            </a:r>
            <a:r>
              <a:rPr lang="en-US" dirty="0" smtClean="0"/>
              <a:t> length of the initial segment of string1 \n containing no characters from string2 = %u", </a:t>
            </a:r>
            <a:r>
              <a:rPr lang="en-US" dirty="0" err="1" smtClean="0"/>
              <a:t>strcspn</a:t>
            </a:r>
            <a:r>
              <a:rPr lang="en-US" dirty="0" smtClean="0"/>
              <a:t>(string1, string2));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system("PAUSE");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return 0;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5530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5175" y="685800"/>
            <a:ext cx="5838825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107F6A-B2B7-4C1A-A8EC-B50E6072D1C7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strpbrk</a:t>
            </a:r>
          </a:p>
          <a:p>
            <a:pPr lvl="1"/>
            <a:r>
              <a:rPr lang="en-US" smtClean="0"/>
              <a:t>Searches its first string argument for the first occurrence of any char in its second string argument</a:t>
            </a:r>
          </a:p>
          <a:p>
            <a:pPr lvl="1"/>
            <a:r>
              <a:rPr lang="en-US" smtClean="0"/>
              <a:t>If a char from the second argument is found, strpbrk returns a pointer to the char in the first argument, otherwise return NULL</a:t>
            </a:r>
          </a:p>
          <a:p>
            <a:pPr>
              <a:buFontTx/>
              <a:buNone/>
            </a:pPr>
            <a:endParaRPr lang="en-US" smtClean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53408-22DF-4474-99C4-C35E14E9493C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80300" cy="4800600"/>
          </a:xfrm>
        </p:spPr>
        <p:txBody>
          <a:bodyPr>
            <a:normAutofit fontScale="550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stdlib.h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string.h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{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const char *string1 = "This is a test";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const char *string2 = "beware";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 of the characters in \"%s\"", string2);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 \'%c\'appear earliest in \"%s\"",*</a:t>
            </a:r>
            <a:r>
              <a:rPr lang="en-US" dirty="0" err="1" smtClean="0"/>
              <a:t>strpbrk</a:t>
            </a:r>
            <a:r>
              <a:rPr lang="en-US" dirty="0" smtClean="0"/>
              <a:t>(string1,string2), string1);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system("PAUSE");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return 0;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5734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990600"/>
            <a:ext cx="5381625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AC55CC-1426-49DB-9A1D-E3CDD72D724C}" type="slidenum">
              <a:rPr lang="en-US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strrchr</a:t>
            </a:r>
          </a:p>
          <a:p>
            <a:pPr lvl="1"/>
            <a:r>
              <a:rPr lang="en-US" smtClean="0"/>
              <a:t>Searches for the last occurrence of the specified char in string.</a:t>
            </a:r>
          </a:p>
          <a:p>
            <a:pPr lvl="1"/>
            <a:r>
              <a:rPr lang="en-US" smtClean="0"/>
              <a:t>If the char is found, strrchr returns a pointer to the char in the string, otherwise, return NULL</a:t>
            </a:r>
          </a:p>
          <a:p>
            <a:pPr lvl="1">
              <a:buFontTx/>
              <a:buNone/>
            </a:pPr>
            <a:endParaRPr lang="en-US" smtClean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5A7194-7863-4D03-8EF4-7027719DFDCF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7763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Example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7497763" cy="4800600"/>
          </a:xfrm>
        </p:spPr>
        <p:txBody>
          <a:bodyPr>
            <a:normAutofit fontScale="475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stdlib.h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string.h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{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const char *string1 = "A zoo has many animals including zebras";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c = 'z';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</a:t>
            </a:r>
            <a:r>
              <a:rPr lang="en-US" dirty="0" err="1" smtClean="0"/>
              <a:t>nThe</a:t>
            </a:r>
            <a:r>
              <a:rPr lang="en-US" dirty="0" smtClean="0"/>
              <a:t> remainder of string1 </a:t>
            </a:r>
            <a:r>
              <a:rPr lang="en-US" dirty="0" err="1" smtClean="0"/>
              <a:t>beggining</a:t>
            </a:r>
            <a:r>
              <a:rPr lang="en-US" dirty="0" smtClean="0"/>
              <a:t> with the");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</a:t>
            </a:r>
            <a:r>
              <a:rPr lang="en-US" dirty="0" err="1" smtClean="0"/>
              <a:t>nlast</a:t>
            </a:r>
            <a:r>
              <a:rPr lang="en-US" dirty="0" smtClean="0"/>
              <a:t> occurrence of character %c is: %s", c, </a:t>
            </a:r>
            <a:r>
              <a:rPr lang="en-US" dirty="0" err="1" smtClean="0"/>
              <a:t>strrchr</a:t>
            </a:r>
            <a:r>
              <a:rPr lang="en-US" dirty="0" smtClean="0"/>
              <a:t>(string1,c));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system("PAUSE");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return 0;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9263" y="990600"/>
            <a:ext cx="6154737" cy="857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737231-603C-4A9B-BA0D-9F5E10BC1666}" type="slidenum">
              <a:rPr lang="en-US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strspn</a:t>
            </a:r>
          </a:p>
          <a:p>
            <a:pPr lvl="1"/>
            <a:r>
              <a:rPr lang="en-US" smtClean="0"/>
              <a:t>Determines the length of the initial part of the string in its first argument that contains only char from the string in its second argument.</a:t>
            </a:r>
          </a:p>
          <a:p>
            <a:pPr lvl="1"/>
            <a:r>
              <a:rPr lang="en-US" smtClean="0"/>
              <a:t>The function returns the length of the segment.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6B08-BBBA-4405-A807-FB1C71DB6BF3}" type="slidenum">
              <a:rPr lang="en-US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CC9EE8-C17F-476C-9875-831CFB03FFC1}" type="slidenum">
              <a:rPr lang="en-US"/>
              <a:pPr>
                <a:defRPr/>
              </a:pPr>
              <a:t>40</a:t>
            </a:fld>
            <a:endParaRPr lang="en-US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1066800" y="304800"/>
          <a:ext cx="7696200" cy="547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Document" r:id="rId5" imgW="7160643" imgH="5478558" progId="Word.Document.8">
                  <p:embed/>
                </p:oleObj>
              </mc:Choice>
              <mc:Fallback>
                <p:oleObj name="Document" r:id="rId5" imgW="7160643" imgH="547855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04800"/>
                        <a:ext cx="7696200" cy="547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077" name="Text Box 5"/>
          <p:cNvSpPr txBox="1">
            <a:spLocks noChangeArrowheads="1"/>
          </p:cNvSpPr>
          <p:nvPr/>
        </p:nvSpPr>
        <p:spPr bwMode="auto">
          <a:xfrm>
            <a:off x="5410200" y="4191000"/>
            <a:ext cx="3581400" cy="121920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strspn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returns the length of the initial segment of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string1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that contains only characters from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string2</a:t>
            </a: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 flipH="1" flipV="1">
            <a:off x="2438400" y="3657600"/>
            <a:ext cx="2971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7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871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err="1"/>
              <a:t>strstr</a:t>
            </a:r>
            <a:endParaRPr lang="en-US" dirty="0"/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/>
              <a:t>Searches for the first occurrence of its second string argument in its first string argument.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/>
              <a:t>If the second string is found in the first string, a pointer to the location of the string in the first argument is returned</a:t>
            </a:r>
            <a:r>
              <a:rPr lang="en-US" dirty="0" smtClean="0"/>
              <a:t>.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None/>
              <a:defRPr/>
            </a:pPr>
            <a:endParaRPr lang="en-US" dirty="0" smtClean="0"/>
          </a:p>
          <a:p>
            <a:pPr marL="640080" lvl="1" indent="-237744" fontAlgn="auto">
              <a:spcAft>
                <a:spcPts val="0"/>
              </a:spcAft>
              <a:buFont typeface="Verdana"/>
              <a:buNone/>
              <a:defRPr/>
            </a:pPr>
            <a:r>
              <a:rPr lang="en-US" dirty="0" smtClean="0">
                <a:solidFill>
                  <a:schemeClr val="accent2"/>
                </a:solidFill>
              </a:rPr>
              <a:t>char *str1 = “</a:t>
            </a:r>
            <a:r>
              <a:rPr lang="en-US" dirty="0" err="1" smtClean="0">
                <a:solidFill>
                  <a:schemeClr val="accent2"/>
                </a:solidFill>
              </a:rPr>
              <a:t>borland</a:t>
            </a:r>
            <a:r>
              <a:rPr lang="en-US" dirty="0" smtClean="0">
                <a:solidFill>
                  <a:schemeClr val="accent2"/>
                </a:solidFill>
              </a:rPr>
              <a:t> International”;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None/>
              <a:defRPr/>
            </a:pPr>
            <a:r>
              <a:rPr lang="en-US" dirty="0" smtClean="0">
                <a:solidFill>
                  <a:schemeClr val="accent2"/>
                </a:solidFill>
              </a:rPr>
              <a:t>char *str2=“Inter”;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None/>
              <a:defRPr/>
            </a:pPr>
            <a:r>
              <a:rPr lang="en-US" dirty="0" err="1" smtClean="0">
                <a:solidFill>
                  <a:schemeClr val="accent2"/>
                </a:solidFill>
              </a:rPr>
              <a:t>printf</a:t>
            </a:r>
            <a:r>
              <a:rPr lang="en-US" dirty="0" smtClean="0">
                <a:solidFill>
                  <a:schemeClr val="accent2"/>
                </a:solidFill>
              </a:rPr>
              <a:t>(“%</a:t>
            </a:r>
            <a:r>
              <a:rPr lang="en-US" dirty="0" err="1" smtClean="0">
                <a:solidFill>
                  <a:schemeClr val="accent2"/>
                </a:solidFill>
              </a:rPr>
              <a:t>s”,strstr</a:t>
            </a:r>
            <a:r>
              <a:rPr lang="en-US" dirty="0" smtClean="0">
                <a:solidFill>
                  <a:schemeClr val="accent2"/>
                </a:solidFill>
              </a:rPr>
              <a:t>(str1,str2));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A4616A-ACDE-4494-A0B9-81373F061C79}" type="slidenum">
              <a:rPr lang="en-US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strtok</a:t>
            </a:r>
          </a:p>
          <a:p>
            <a:pPr lvl="1"/>
            <a:r>
              <a:rPr lang="en-US" smtClean="0"/>
              <a:t>To break a string into a series of tokens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C7FB8C-DA82-48CC-B2CC-3CDC4BC313F4}" type="slidenum">
              <a:rPr lang="en-US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74EED-6634-42C5-9AC2-F71BD0ADCF7D}" type="slidenum">
              <a:rPr lang="en-US"/>
              <a:pPr>
                <a:defRPr/>
              </a:pPr>
              <a:t>43</a:t>
            </a:fld>
            <a:endParaRPr lang="en-US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838200" y="228600"/>
          <a:ext cx="7053263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Document" r:id="rId5" imgW="7056048" imgH="4801708" progId="Word.Document.8">
                  <p:embed/>
                </p:oleObj>
              </mc:Choice>
              <mc:Fallback>
                <p:oleObj name="Document" r:id="rId5" imgW="7056048" imgH="480170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"/>
                        <a:ext cx="7053263" cy="480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7173" name="Text Box 5"/>
          <p:cNvSpPr txBox="1">
            <a:spLocks noChangeArrowheads="1"/>
          </p:cNvSpPr>
          <p:nvPr/>
        </p:nvSpPr>
        <p:spPr bwMode="auto">
          <a:xfrm>
            <a:off x="5486400" y="2514600"/>
            <a:ext cx="3429000" cy="91440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strtok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“tokenizes”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string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by breaking it into tokens at each space</a:t>
            </a:r>
            <a:endParaRPr lang="en-US" b="1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10245" name="Line 6"/>
          <p:cNvSpPr>
            <a:spLocks noChangeShapeType="1"/>
          </p:cNvSpPr>
          <p:nvPr/>
        </p:nvSpPr>
        <p:spPr bwMode="auto">
          <a:xfrm flipH="1">
            <a:off x="2209800" y="3048000"/>
            <a:ext cx="3276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46" name="Line 8"/>
          <p:cNvSpPr>
            <a:spLocks noChangeShapeType="1"/>
          </p:cNvSpPr>
          <p:nvPr/>
        </p:nvSpPr>
        <p:spPr bwMode="auto">
          <a:xfrm flipH="1" flipV="1">
            <a:off x="3048000" y="4648200"/>
            <a:ext cx="2743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10247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90600" y="4953000"/>
            <a:ext cx="70199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7175" name="Text Box 7"/>
          <p:cNvSpPr txBox="1">
            <a:spLocks noChangeArrowheads="1"/>
          </p:cNvSpPr>
          <p:nvPr/>
        </p:nvSpPr>
        <p:spPr bwMode="auto">
          <a:xfrm>
            <a:off x="5867400" y="4724400"/>
            <a:ext cx="3124200" cy="12001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Calling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strtok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again and passing it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continues the tokenizing of the previous string</a:t>
            </a:r>
            <a:endParaRPr lang="en-US" b="1">
              <a:latin typeface="Courier New" pitchFamily="49" charset="0"/>
              <a:cs typeface="Times New Roman" pitchFamily="18" charset="0"/>
            </a:endParaRPr>
          </a:p>
        </p:txBody>
      </p:sp>
      <p:pic>
        <p:nvPicPr>
          <p:cNvPr id="1024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67400" y="152400"/>
            <a:ext cx="30384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3" grpId="0" animBg="1" autoUpdateAnimBg="0"/>
      <p:bldP spid="647175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Grp="1" noChangeAspect="1"/>
          </p:cNvGraphicFramePr>
          <p:nvPr>
            <p:ph/>
          </p:nvPr>
        </p:nvGraphicFramePr>
        <p:xfrm>
          <a:off x="1536700" y="366713"/>
          <a:ext cx="62357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Document" r:id="rId5" imgW="6049992" imgH="5256664" progId="Word.Document.8">
                  <p:embed/>
                </p:oleObj>
              </mc:Choice>
              <mc:Fallback>
                <p:oleObj name="Document" r:id="rId5" imgW="6049992" imgH="5256664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366713"/>
                        <a:ext cx="6235700" cy="541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C642D94-60AB-4659-B97B-5AE89EBB57B9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000">
                <a:solidFill>
                  <a:schemeClr val="tx2"/>
                </a:solidFill>
              </a:rPr>
              <a:t>Memory functions of the string-handling library.</a:t>
            </a:r>
            <a:r>
              <a:rPr lang="en-US" sz="44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5A6813-8AD7-4461-88F6-1385EB88FB98}" type="slidenum">
              <a:rPr lang="en-US"/>
              <a:pPr>
                <a:defRPr/>
              </a:pPr>
              <a:t>45</a:t>
            </a:fld>
            <a:endParaRPr lang="en-US"/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1143000" y="1066800"/>
          <a:ext cx="7053263" cy="456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Document" r:id="rId5" imgW="7056048" imgH="4562163" progId="Word.Document.8">
                  <p:embed/>
                </p:oleObj>
              </mc:Choice>
              <mc:Fallback>
                <p:oleObj name="Document" r:id="rId5" imgW="7056048" imgH="456216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066800"/>
                        <a:ext cx="7053263" cy="456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65" name="Text Box 5"/>
          <p:cNvSpPr txBox="1">
            <a:spLocks noChangeArrowheads="1"/>
          </p:cNvSpPr>
          <p:nvPr/>
        </p:nvSpPr>
        <p:spPr bwMode="auto">
          <a:xfrm>
            <a:off x="5715000" y="762000"/>
            <a:ext cx="3352800" cy="923925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memcpy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copies the first 17 characters from object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into object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s1</a:t>
            </a:r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 flipH="1">
            <a:off x="3429000" y="1371600"/>
            <a:ext cx="22860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5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11602D-6F4E-41DD-BEFA-9CEDB1302CC2}" type="slidenum">
              <a:rPr lang="en-US"/>
              <a:pPr>
                <a:defRPr/>
              </a:pPr>
              <a:t>46</a:t>
            </a:fld>
            <a:endParaRPr lang="en-US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1143000" y="1143000"/>
          <a:ext cx="7053263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Document" r:id="rId5" imgW="7056048" imgH="4141789" progId="Word.Document.8">
                  <p:embed/>
                </p:oleObj>
              </mc:Choice>
              <mc:Fallback>
                <p:oleObj name="Document" r:id="rId5" imgW="7056048" imgH="414178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143000"/>
                        <a:ext cx="7053263" cy="414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7413" name="Text Box 5"/>
          <p:cNvSpPr txBox="1">
            <a:spLocks noChangeArrowheads="1"/>
          </p:cNvSpPr>
          <p:nvPr/>
        </p:nvSpPr>
        <p:spPr bwMode="auto">
          <a:xfrm>
            <a:off x="6477000" y="3505200"/>
            <a:ext cx="2514600" cy="1477963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memmove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copies the first 10 characters from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x[5]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into object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x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by means of a temporary array</a:t>
            </a:r>
            <a:endParaRPr lang="en-US" b="1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13317" name="Line 6"/>
          <p:cNvSpPr>
            <a:spLocks noChangeShapeType="1"/>
          </p:cNvSpPr>
          <p:nvPr/>
        </p:nvSpPr>
        <p:spPr bwMode="auto">
          <a:xfrm flipH="1">
            <a:off x="4343400" y="2362200"/>
            <a:ext cx="2209800" cy="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318" name="Line 7"/>
          <p:cNvSpPr>
            <a:spLocks noChangeShapeType="1"/>
          </p:cNvSpPr>
          <p:nvPr/>
        </p:nvSpPr>
        <p:spPr bwMode="auto">
          <a:xfrm flipH="1" flipV="1">
            <a:off x="4419600" y="3581400"/>
            <a:ext cx="2057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3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9BFE3E-75FC-446B-9ED2-7D3BED1A18DC}" type="slidenum">
              <a:rPr lang="en-US"/>
              <a:pPr>
                <a:defRPr/>
              </a:pPr>
              <a:t>47</a:t>
            </a:fld>
            <a:endParaRPr lang="en-US"/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1066800" y="685800"/>
          <a:ext cx="7053263" cy="546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Document" r:id="rId5" imgW="7056048" imgH="5469193" progId="Word.Document.8">
                  <p:embed/>
                </p:oleObj>
              </mc:Choice>
              <mc:Fallback>
                <p:oleObj name="Document" r:id="rId5" imgW="7056048" imgH="546919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685800"/>
                        <a:ext cx="7053263" cy="546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9461" name="Text Box 5"/>
          <p:cNvSpPr txBox="1">
            <a:spLocks noChangeArrowheads="1"/>
          </p:cNvSpPr>
          <p:nvPr/>
        </p:nvSpPr>
        <p:spPr bwMode="auto">
          <a:xfrm>
            <a:off x="6781800" y="4191000"/>
            <a:ext cx="2133600" cy="12001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memcmp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compares the first 4 characters of objects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s1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s2</a:t>
            </a:r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 flipH="1" flipV="1">
            <a:off x="5943600" y="3733800"/>
            <a:ext cx="838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61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6072-7905-4506-93FD-B51152E06CB4}" type="slidenum">
              <a:rPr lang="en-US"/>
              <a:pPr>
                <a:defRPr/>
              </a:pPr>
              <a:t>48</a:t>
            </a:fld>
            <a:endParaRPr lang="en-US"/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990600" y="609600"/>
          <a:ext cx="7053263" cy="397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Document" r:id="rId5" imgW="7056048" imgH="3976449" progId="Word.Document.8">
                  <p:embed/>
                </p:oleObj>
              </mc:Choice>
              <mc:Fallback>
                <p:oleObj name="Document" r:id="rId5" imgW="7056048" imgH="397644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609600"/>
                        <a:ext cx="7053263" cy="397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09" name="Text Box 5"/>
          <p:cNvSpPr txBox="1">
            <a:spLocks noChangeArrowheads="1"/>
          </p:cNvSpPr>
          <p:nvPr/>
        </p:nvSpPr>
        <p:spPr bwMode="auto">
          <a:xfrm>
            <a:off x="6553200" y="3124200"/>
            <a:ext cx="2133600" cy="1754188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memchr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locates the first occurrence of the character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r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inside the first 16 characters of object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</a:t>
            </a:r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 flipH="1" flipV="1">
            <a:off x="5334000" y="30480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9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C224E3-BF70-4F28-8AD6-380285057018}" type="slidenum">
              <a:rPr lang="en-US"/>
              <a:pPr>
                <a:defRPr/>
              </a:pPr>
              <a:t>49</a:t>
            </a:fld>
            <a:endParaRPr lang="en-US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990600" y="685800"/>
          <a:ext cx="7053263" cy="393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Document" r:id="rId5" imgW="7056048" imgH="3931421" progId="Word.Document.8">
                  <p:embed/>
                </p:oleObj>
              </mc:Choice>
              <mc:Fallback>
                <p:oleObj name="Document" r:id="rId5" imgW="7056048" imgH="393142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685800"/>
                        <a:ext cx="7053263" cy="393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57" name="Text Box 5"/>
          <p:cNvSpPr txBox="1">
            <a:spLocks noChangeArrowheads="1"/>
          </p:cNvSpPr>
          <p:nvPr/>
        </p:nvSpPr>
        <p:spPr bwMode="auto">
          <a:xfrm>
            <a:off x="6172200" y="4267200"/>
            <a:ext cx="2743200" cy="12001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memset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copies the character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b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into the first 7 characters of object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string1</a:t>
            </a:r>
          </a:p>
        </p:txBody>
      </p:sp>
      <p:sp>
        <p:nvSpPr>
          <p:cNvPr id="16389" name="Line 6"/>
          <p:cNvSpPr>
            <a:spLocks noChangeShapeType="1"/>
          </p:cNvSpPr>
          <p:nvPr/>
        </p:nvSpPr>
        <p:spPr bwMode="auto">
          <a:xfrm flipH="1" flipV="1">
            <a:off x="6172200" y="2971800"/>
            <a:ext cx="228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7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Grp="1" noChangeAspect="1"/>
          </p:cNvGraphicFramePr>
          <p:nvPr>
            <p:ph/>
          </p:nvPr>
        </p:nvGraphicFramePr>
        <p:xfrm>
          <a:off x="304800" y="1136650"/>
          <a:ext cx="8566150" cy="281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Document" r:id="rId5" imgW="6349042" imgH="2086384" progId="Word.Document.8">
                  <p:embed/>
                </p:oleObj>
              </mc:Choice>
              <mc:Fallback>
                <p:oleObj name="Document" r:id="rId5" imgW="6349042" imgH="2086384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136650"/>
                        <a:ext cx="8566150" cy="281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0A0C5A-3D6F-45E3-99C2-1EE239D529B2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anchor="ctr"/>
          <a:lstStyle/>
          <a:p>
            <a:pPr algn="ctr"/>
            <a:r>
              <a:rPr lang="en-US" sz="2000">
                <a:solidFill>
                  <a:schemeClr val="tx2"/>
                </a:solidFill>
              </a:rPr>
              <a:t>Other functions of the string-handling library.</a:t>
            </a:r>
            <a:r>
              <a:rPr lang="en-US" sz="44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satMod val="130000"/>
                  </a:schemeClr>
                </a:solidFill>
              </a:rPr>
              <a:t>strerror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()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5651500" cy="4664075"/>
          </a:xfrm>
        </p:spPr>
        <p:txBody>
          <a:bodyPr>
            <a:normAutofit fontScale="550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stdlib.h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string.h</a:t>
            </a:r>
            <a:r>
              <a:rPr lang="en-US" dirty="0" smtClean="0"/>
              <a:t>&gt;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{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pt-BR" dirty="0" smtClean="0"/>
              <a:t>	printf("\n Error 1 = \"%s\"", strerror(1));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pt-BR" dirty="0" smtClean="0"/>
              <a:t>	printf("\n Error 2 = \"%s\"", strerror(2));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pt-BR" dirty="0" smtClean="0"/>
              <a:t>	printf("\n Error 3 = \"%s\"", strerror(3));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pt-BR" dirty="0" smtClean="0"/>
              <a:t>      printf("\n Error 4 = \"%s\"", strerror(4));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pt-BR" dirty="0" smtClean="0"/>
              <a:t>	printf("\n Error 5 = \"%s\"", strerror(5));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pt-BR" dirty="0" smtClean="0"/>
              <a:t>	printf("\n Error 6 = \"%s\"", strerror(6));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("\n");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system("PAUSE");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return 0;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5276850" y="1524000"/>
            <a:ext cx="3657600" cy="4664075"/>
          </a:xfrm>
        </p:spPr>
        <p:txBody>
          <a:bodyPr>
            <a:normAutofit fontScale="550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endParaRPr lang="en-US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02DA1F-13BF-42ED-923D-8F9A97C49CD9}" type="slidenum">
              <a:rPr lang="en-US"/>
              <a:pPr>
                <a:defRPr/>
              </a:pPr>
              <a:t>51</a:t>
            </a:fld>
            <a:endParaRPr lang="en-US"/>
          </a:p>
        </p:txBody>
      </p:sp>
      <p:sp>
        <p:nvSpPr>
          <p:cNvPr id="667653" name="Text Box 5"/>
          <p:cNvSpPr txBox="1">
            <a:spLocks noChangeArrowheads="1"/>
          </p:cNvSpPr>
          <p:nvPr/>
        </p:nvSpPr>
        <p:spPr bwMode="auto">
          <a:xfrm>
            <a:off x="4724400" y="2057400"/>
            <a:ext cx="3352800" cy="91440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strerror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returns an error message based on the number passed to it</a:t>
            </a:r>
            <a:endParaRPr lang="en-US" b="1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63495" name="Line 6"/>
          <p:cNvSpPr>
            <a:spLocks noChangeShapeType="1"/>
          </p:cNvSpPr>
          <p:nvPr/>
        </p:nvSpPr>
        <p:spPr bwMode="auto">
          <a:xfrm flipH="1">
            <a:off x="3429000" y="2286000"/>
            <a:ext cx="1295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6349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4800600"/>
            <a:ext cx="4913313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53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D54E81-7276-45C3-AB57-302D39813ACB}" type="slidenum">
              <a:rPr lang="en-US"/>
              <a:pPr>
                <a:defRPr/>
              </a:pPr>
              <a:t>52</a:t>
            </a:fld>
            <a:endParaRPr lang="en-US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914400" y="762000"/>
          <a:ext cx="7053263" cy="577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Document" r:id="rId5" imgW="7056048" imgH="5778980" progId="Word.Document.8">
                  <p:embed/>
                </p:oleObj>
              </mc:Choice>
              <mc:Fallback>
                <p:oleObj name="Document" r:id="rId5" imgW="7056048" imgH="577898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762000"/>
                        <a:ext cx="7053263" cy="577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01" name="Text Box 5"/>
          <p:cNvSpPr txBox="1">
            <a:spLocks noChangeArrowheads="1"/>
          </p:cNvSpPr>
          <p:nvPr/>
        </p:nvSpPr>
        <p:spPr bwMode="auto">
          <a:xfrm>
            <a:off x="5334000" y="3581400"/>
            <a:ext cx="3657600" cy="646113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b="1">
                <a:latin typeface="Courier New" pitchFamily="49" charset="0"/>
                <a:cs typeface="Times New Roman" pitchFamily="18" charset="0"/>
              </a:rPr>
              <a:t>strlen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returns the length of </a:t>
            </a:r>
            <a:r>
              <a:rPr lang="en-US" b="1">
                <a:latin typeface="Courier New" pitchFamily="49" charset="0"/>
                <a:cs typeface="Times New Roman" pitchFamily="18" charset="0"/>
              </a:rPr>
              <a:t>string1</a:t>
            </a:r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 flipH="1" flipV="1">
            <a:off x="4648200" y="3810000"/>
            <a:ext cx="685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1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>
                <a:solidFill>
                  <a:schemeClr val="accent2"/>
                </a:solidFill>
                <a:latin typeface="Verdana" pitchFamily="34" charset="0"/>
              </a:rPr>
              <a:t>References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 smtClean="0">
                <a:latin typeface="Verdana" pitchFamily="34" charset="0"/>
                <a:cs typeface="Times New Roman" pitchFamily="18" charset="0"/>
              </a:rPr>
              <a:t>Problem Solving using C, Uckan, Yuksel, Mc Graw Hill, 1999.</a:t>
            </a:r>
            <a:r>
              <a:rPr lang="en-US" sz="2400" smtClean="0">
                <a:latin typeface="Verdana" pitchFamily="34" charset="0"/>
              </a:rPr>
              <a:t> </a:t>
            </a:r>
          </a:p>
          <a:p>
            <a:pPr>
              <a:buFontTx/>
              <a:buNone/>
            </a:pPr>
            <a:endParaRPr lang="en-US" sz="2400" smtClean="0">
              <a:latin typeface="Verdana" pitchFamily="34" charset="0"/>
            </a:endParaRPr>
          </a:p>
          <a:p>
            <a:pPr>
              <a:buFontTx/>
              <a:buNone/>
            </a:pPr>
            <a:r>
              <a:rPr lang="en-US" sz="2400" smtClean="0">
                <a:latin typeface="Verdana" pitchFamily="34" charset="0"/>
                <a:cs typeface="Times New Roman" pitchFamily="18" charset="0"/>
              </a:rPr>
              <a:t>C How to Program, Deitel&amp;Deitel, Prentice-Hall, 5</a:t>
            </a:r>
            <a:r>
              <a:rPr lang="en-US" sz="2400" baseline="30000" smtClean="0">
                <a:latin typeface="Verdana" pitchFamily="34" charset="0"/>
                <a:cs typeface="Times New Roman" pitchFamily="18" charset="0"/>
              </a:rPr>
              <a:t>th</a:t>
            </a:r>
            <a:r>
              <a:rPr lang="en-US" sz="2400" smtClean="0">
                <a:latin typeface="Verdana" pitchFamily="34" charset="0"/>
                <a:cs typeface="Times New Roman" pitchFamily="18" charset="0"/>
              </a:rPr>
              <a:t> Edition, 2007.</a:t>
            </a:r>
            <a:r>
              <a:rPr lang="en-US" sz="2400" smtClean="0">
                <a:latin typeface="Verdana" pitchFamily="34" charset="0"/>
              </a:rPr>
              <a:t> 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55A274-9B36-4675-967D-1B6FEA1EA2D6}" type="slidenum">
              <a:rPr lang="en-US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447800" y="1600200"/>
            <a:ext cx="7407275" cy="1471613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END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31925" y="1849438"/>
            <a:ext cx="7407275" cy="17526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07C1B1-5220-49D6-838C-771A15A0F77E}" type="slidenum">
              <a:rPr lang="en-US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6058</TotalTime>
  <Words>2258</Words>
  <Application>Microsoft Macintosh PowerPoint</Application>
  <PresentationFormat>On-screen Show (4:3)</PresentationFormat>
  <Paragraphs>539</Paragraphs>
  <Slides>54</Slides>
  <Notes>54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Solstice</vt:lpstr>
      <vt:lpstr>Document</vt:lpstr>
      <vt:lpstr>Bitmap Image</vt:lpstr>
      <vt:lpstr>PowerPoint Presentation</vt:lpstr>
      <vt:lpstr>Overview</vt:lpstr>
      <vt:lpstr>A. Fundamentals of Strings and Characters</vt:lpstr>
      <vt:lpstr>Fundamentals of Strings and Characters</vt:lpstr>
      <vt:lpstr>B. Character Handling Library</vt:lpstr>
      <vt:lpstr>PowerPoint Presentation</vt:lpstr>
      <vt:lpstr>PowerPoint Presentation</vt:lpstr>
      <vt:lpstr>isdigit() &amp; isalpha()</vt:lpstr>
      <vt:lpstr>isalnum() &amp; isxdigit()</vt:lpstr>
      <vt:lpstr> islower() &amp; isupper()</vt:lpstr>
      <vt:lpstr> tolower() &amp; toupper()</vt:lpstr>
      <vt:lpstr> isspace() &amp; iscntrl()</vt:lpstr>
      <vt:lpstr> ispunct() &amp; isprint()</vt:lpstr>
      <vt:lpstr>C. Standard Input/Output Library Functions</vt:lpstr>
      <vt:lpstr>PowerPoint Presentation</vt:lpstr>
      <vt:lpstr>PowerPoint Presentation</vt:lpstr>
      <vt:lpstr>PowerPoint Presentation</vt:lpstr>
      <vt:lpstr>PowerPoint Presentation</vt:lpstr>
      <vt:lpstr>D. String Manipulation Functions of the String Handling Library</vt:lpstr>
      <vt:lpstr>PowerPoint Presentation</vt:lpstr>
      <vt:lpstr> strcpy() &amp; strncpy()</vt:lpstr>
      <vt:lpstr>Example</vt:lpstr>
      <vt:lpstr> strcat() &amp; strncat()</vt:lpstr>
      <vt:lpstr>Example</vt:lpstr>
      <vt:lpstr>E. Comparison Functions of the String-Handling Library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strerror()</vt:lpstr>
      <vt:lpstr>PowerPoint Presentation</vt:lpstr>
      <vt:lpstr>References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TMC1413 Introduction to Programming</dc:title>
  <dc:creator>Lee Jun Choi</dc:creator>
  <cp:lastModifiedBy>MAMUN MAMUN</cp:lastModifiedBy>
  <cp:revision>97</cp:revision>
  <dcterms:created xsi:type="dcterms:W3CDTF">2009-09-25T10:14:55Z</dcterms:created>
  <dcterms:modified xsi:type="dcterms:W3CDTF">2017-04-21T15:15:18Z</dcterms:modified>
</cp:coreProperties>
</file>